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1"/>
    <p:sldMasterId id="2147484003" r:id="rId2"/>
    <p:sldMasterId id="2147484005" r:id="rId3"/>
  </p:sldMasterIdLst>
  <p:notesMasterIdLst>
    <p:notesMasterId r:id="rId71"/>
  </p:notesMasterIdLst>
  <p:handoutMasterIdLst>
    <p:handoutMasterId r:id="rId72"/>
  </p:handoutMasterIdLst>
  <p:sldIdLst>
    <p:sldId id="258" r:id="rId4"/>
    <p:sldId id="257" r:id="rId5"/>
    <p:sldId id="433" r:id="rId6"/>
    <p:sldId id="435" r:id="rId7"/>
    <p:sldId id="436" r:id="rId8"/>
    <p:sldId id="434" r:id="rId9"/>
    <p:sldId id="437" r:id="rId10"/>
    <p:sldId id="514" r:id="rId11"/>
    <p:sldId id="438" r:id="rId12"/>
    <p:sldId id="345" r:id="rId13"/>
    <p:sldId id="421" r:id="rId14"/>
    <p:sldId id="346" r:id="rId15"/>
    <p:sldId id="441" r:id="rId16"/>
    <p:sldId id="439" r:id="rId17"/>
    <p:sldId id="440" r:id="rId18"/>
    <p:sldId id="391" r:id="rId19"/>
    <p:sldId id="442" r:id="rId20"/>
    <p:sldId id="405" r:id="rId21"/>
    <p:sldId id="422" r:id="rId22"/>
    <p:sldId id="406" r:id="rId23"/>
    <p:sldId id="407" r:id="rId24"/>
    <p:sldId id="408" r:id="rId25"/>
    <p:sldId id="409" r:id="rId26"/>
    <p:sldId id="410" r:id="rId27"/>
    <p:sldId id="411" r:id="rId28"/>
    <p:sldId id="412" r:id="rId29"/>
    <p:sldId id="512" r:id="rId30"/>
    <p:sldId id="513" r:id="rId31"/>
    <p:sldId id="432" r:id="rId32"/>
    <p:sldId id="413" r:id="rId33"/>
    <p:sldId id="445" r:id="rId34"/>
    <p:sldId id="493" r:id="rId35"/>
    <p:sldId id="494" r:id="rId36"/>
    <p:sldId id="495" r:id="rId37"/>
    <p:sldId id="496" r:id="rId38"/>
    <p:sldId id="482" r:id="rId39"/>
    <p:sldId id="477" r:id="rId40"/>
    <p:sldId id="484" r:id="rId41"/>
    <p:sldId id="516" r:id="rId42"/>
    <p:sldId id="452" r:id="rId43"/>
    <p:sldId id="515" r:id="rId44"/>
    <p:sldId id="456" r:id="rId45"/>
    <p:sldId id="485" r:id="rId46"/>
    <p:sldId id="510" r:id="rId47"/>
    <p:sldId id="457" r:id="rId48"/>
    <p:sldId id="455" r:id="rId49"/>
    <p:sldId id="458" r:id="rId50"/>
    <p:sldId id="459" r:id="rId51"/>
    <p:sldId id="461" r:id="rId52"/>
    <p:sldId id="462" r:id="rId53"/>
    <p:sldId id="491" r:id="rId54"/>
    <p:sldId id="476" r:id="rId55"/>
    <p:sldId id="486" r:id="rId56"/>
    <p:sldId id="487" r:id="rId57"/>
    <p:sldId id="480" r:id="rId58"/>
    <p:sldId id="465" r:id="rId59"/>
    <p:sldId id="466" r:id="rId60"/>
    <p:sldId id="467" r:id="rId61"/>
    <p:sldId id="468" r:id="rId62"/>
    <p:sldId id="451" r:id="rId63"/>
    <p:sldId id="470" r:id="rId64"/>
    <p:sldId id="471" r:id="rId65"/>
    <p:sldId id="472" r:id="rId66"/>
    <p:sldId id="473" r:id="rId67"/>
    <p:sldId id="474" r:id="rId68"/>
    <p:sldId id="511" r:id="rId69"/>
    <p:sldId id="357" r:id="rId70"/>
  </p:sldIdLst>
  <p:sldSz cx="12192000" cy="6858000"/>
  <p:notesSz cx="7315200" cy="9601200"/>
  <p:custDataLst>
    <p:tags r:id="rId73"/>
  </p:custDataLst>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华文琥珀" panose="02010800040101010101" pitchFamily="2" charset="-122"/>
        <a:cs typeface="+mn-cs"/>
      </a:defRPr>
    </a:lvl9pPr>
  </p:defaultTextStyle>
  <p:extLst>
    <p:ext uri="{EFAFB233-063F-42B5-8137-9DF3F51BA10A}">
      <p15:sldGuideLst xmlns:p15="http://schemas.microsoft.com/office/powerpoint/2012/main">
        <p15:guide id="1" orient="horz" pos="324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0000"/>
    <a:srgbClr val="006699"/>
    <a:srgbClr val="009999"/>
    <a:srgbClr val="FF99CC"/>
    <a:srgbClr val="000000"/>
    <a:srgbClr val="0039AA"/>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79085" autoAdjust="0"/>
  </p:normalViewPr>
  <p:slideViewPr>
    <p:cSldViewPr>
      <p:cViewPr varScale="1">
        <p:scale>
          <a:sx n="51" d="100"/>
          <a:sy n="51" d="100"/>
        </p:scale>
        <p:origin x="120" y="32"/>
      </p:cViewPr>
      <p:guideLst>
        <p:guide orient="horz" pos="3249"/>
        <p:guide pos="3840"/>
      </p:guideLst>
    </p:cSldViewPr>
  </p:slideViewPr>
  <p:outlineViewPr>
    <p:cViewPr>
      <p:scale>
        <a:sx n="33" d="100"/>
        <a:sy n="33" d="100"/>
      </p:scale>
      <p:origin x="0" y="-338"/>
    </p:cViewPr>
  </p:outlineViewPr>
  <p:notesTextViewPr>
    <p:cViewPr>
      <p:scale>
        <a:sx n="3" d="2"/>
        <a:sy n="3" d="2"/>
      </p:scale>
      <p:origin x="0" y="0"/>
    </p:cViewPr>
  </p:notesTextViewPr>
  <p:sorterViewPr>
    <p:cViewPr>
      <p:scale>
        <a:sx n="70" d="100"/>
        <a:sy n="70" d="100"/>
      </p:scale>
      <p:origin x="0" y="2934"/>
    </p:cViewPr>
  </p:sorterViewPr>
  <p:notesViewPr>
    <p:cSldViewPr>
      <p:cViewPr varScale="1">
        <p:scale>
          <a:sx n="50" d="100"/>
          <a:sy n="50" d="100"/>
        </p:scale>
        <p:origin x="2636" y="2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EB77227-7C43-4912-A5DC-2B985968CFF7}"/>
              </a:ext>
            </a:extLst>
          </p:cNvPr>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96503" tIns="48252" rIns="96503" bIns="48252" numCol="1" anchor="t" anchorCtr="0" compatLnSpc="1">
            <a:prstTxWarp prst="textNoShape">
              <a:avLst/>
            </a:prstTxWarp>
          </a:bodyPr>
          <a:lstStyle>
            <a:lvl1pPr defTabSz="965200" eaLnBrk="0" hangingPunct="0">
              <a:spcBef>
                <a:spcPct val="0"/>
              </a:spcBef>
              <a:buClrTx/>
              <a:defRPr sz="1200" b="1">
                <a:latin typeface="Times New Roman" pitchFamily="18" charset="0"/>
                <a:ea typeface="+mn-ea"/>
                <a:cs typeface="+mn-cs"/>
              </a:defRPr>
            </a:lvl1pPr>
          </a:lstStyle>
          <a:p>
            <a:pPr>
              <a:defRPr/>
            </a:pPr>
            <a:endParaRPr lang="en-US" altLang="zh-CN"/>
          </a:p>
        </p:txBody>
      </p:sp>
      <p:sp>
        <p:nvSpPr>
          <p:cNvPr id="8195" name="Rectangle 3">
            <a:extLst>
              <a:ext uri="{FF2B5EF4-FFF2-40B4-BE49-F238E27FC236}">
                <a16:creationId xmlns:a16="http://schemas.microsoft.com/office/drawing/2014/main" id="{C0330E74-1716-4B1D-9B6D-811332AFA068}"/>
              </a:ext>
            </a:extLst>
          </p:cNvPr>
          <p:cNvSpPr>
            <a:spLocks noGrp="1" noChangeArrowheads="1"/>
          </p:cNvSpPr>
          <p:nvPr>
            <p:ph type="dt" sz="quarter" idx="1"/>
          </p:nvPr>
        </p:nvSpPr>
        <p:spPr bwMode="auto">
          <a:xfrm>
            <a:off x="4143375" y="0"/>
            <a:ext cx="3171825" cy="479425"/>
          </a:xfrm>
          <a:prstGeom prst="rect">
            <a:avLst/>
          </a:prstGeom>
          <a:noFill/>
          <a:ln w="9525">
            <a:noFill/>
            <a:miter lim="800000"/>
            <a:headEnd/>
            <a:tailEnd/>
          </a:ln>
          <a:effectLst/>
        </p:spPr>
        <p:txBody>
          <a:bodyPr vert="horz" wrap="square" lIns="96503" tIns="48252" rIns="96503" bIns="48252" numCol="1" anchor="t" anchorCtr="0" compatLnSpc="1">
            <a:prstTxWarp prst="textNoShape">
              <a:avLst/>
            </a:prstTxWarp>
          </a:bodyPr>
          <a:lstStyle>
            <a:lvl1pPr algn="r" defTabSz="965200" eaLnBrk="0" hangingPunct="0">
              <a:spcBef>
                <a:spcPct val="0"/>
              </a:spcBef>
              <a:buClrTx/>
              <a:defRPr sz="1200" b="1">
                <a:latin typeface="Times New Roman" pitchFamily="18" charset="0"/>
                <a:ea typeface="+mn-ea"/>
                <a:cs typeface="+mn-cs"/>
              </a:defRPr>
            </a:lvl1pPr>
          </a:lstStyle>
          <a:p>
            <a:pPr>
              <a:defRPr/>
            </a:pPr>
            <a:endParaRPr lang="en-US" altLang="zh-CN"/>
          </a:p>
        </p:txBody>
      </p:sp>
      <p:sp>
        <p:nvSpPr>
          <p:cNvPr id="8196" name="Rectangle 4">
            <a:extLst>
              <a:ext uri="{FF2B5EF4-FFF2-40B4-BE49-F238E27FC236}">
                <a16:creationId xmlns:a16="http://schemas.microsoft.com/office/drawing/2014/main" id="{1422C3C4-FDD8-4F1F-880C-1213B7AF5E52}"/>
              </a:ext>
            </a:extLst>
          </p:cNvPr>
          <p:cNvSpPr>
            <a:spLocks noGrp="1" noChangeArrowheads="1"/>
          </p:cNvSpPr>
          <p:nvPr>
            <p:ph type="ftr" sz="quarter" idx="2"/>
          </p:nvPr>
        </p:nvSpPr>
        <p:spPr bwMode="auto">
          <a:xfrm>
            <a:off x="0" y="9121775"/>
            <a:ext cx="3171825" cy="479425"/>
          </a:xfrm>
          <a:prstGeom prst="rect">
            <a:avLst/>
          </a:prstGeom>
          <a:noFill/>
          <a:ln w="9525">
            <a:noFill/>
            <a:miter lim="800000"/>
            <a:headEnd/>
            <a:tailEnd/>
          </a:ln>
          <a:effectLst/>
        </p:spPr>
        <p:txBody>
          <a:bodyPr vert="horz" wrap="square" lIns="96503" tIns="48252" rIns="96503" bIns="48252" numCol="1" anchor="b" anchorCtr="0" compatLnSpc="1">
            <a:prstTxWarp prst="textNoShape">
              <a:avLst/>
            </a:prstTxWarp>
          </a:bodyPr>
          <a:lstStyle>
            <a:lvl1pPr defTabSz="965200" eaLnBrk="0" hangingPunct="0">
              <a:spcBef>
                <a:spcPct val="0"/>
              </a:spcBef>
              <a:buClrTx/>
              <a:defRPr sz="1200" b="1">
                <a:latin typeface="Times New Roman" pitchFamily="18" charset="0"/>
                <a:ea typeface="+mn-ea"/>
                <a:cs typeface="+mn-cs"/>
              </a:defRPr>
            </a:lvl1pPr>
          </a:lstStyle>
          <a:p>
            <a:pPr>
              <a:defRPr/>
            </a:pPr>
            <a:endParaRPr lang="en-US" altLang="zh-CN"/>
          </a:p>
        </p:txBody>
      </p:sp>
      <p:sp>
        <p:nvSpPr>
          <p:cNvPr id="8197" name="Rectangle 5">
            <a:extLst>
              <a:ext uri="{FF2B5EF4-FFF2-40B4-BE49-F238E27FC236}">
                <a16:creationId xmlns:a16="http://schemas.microsoft.com/office/drawing/2014/main" id="{5041C0F0-23E2-4704-909C-512B711F1E59}"/>
              </a:ext>
            </a:extLst>
          </p:cNvPr>
          <p:cNvSpPr>
            <a:spLocks noGrp="1" noChangeArrowheads="1"/>
          </p:cNvSpPr>
          <p:nvPr>
            <p:ph type="sldNum" sz="quarter" idx="3"/>
          </p:nvPr>
        </p:nvSpPr>
        <p:spPr bwMode="auto">
          <a:xfrm>
            <a:off x="4143375" y="9121775"/>
            <a:ext cx="3171825" cy="479425"/>
          </a:xfrm>
          <a:prstGeom prst="rect">
            <a:avLst/>
          </a:prstGeom>
          <a:noFill/>
          <a:ln w="9525">
            <a:noFill/>
            <a:miter lim="800000"/>
            <a:headEnd/>
            <a:tailEnd/>
          </a:ln>
          <a:effectLst/>
        </p:spPr>
        <p:txBody>
          <a:bodyPr vert="horz" wrap="square" lIns="96503" tIns="48252" rIns="96503" bIns="48252" numCol="1" anchor="b" anchorCtr="0" compatLnSpc="1">
            <a:prstTxWarp prst="textNoShape">
              <a:avLst/>
            </a:prstTxWarp>
          </a:bodyPr>
          <a:lstStyle>
            <a:lvl1pPr algn="r" defTabSz="965200" eaLnBrk="0" hangingPunct="0">
              <a:defRPr sz="1200" b="1">
                <a:latin typeface="Times New Roman" panose="02020603050405020304" pitchFamily="18" charset="0"/>
                <a:ea typeface="宋体" panose="02010600030101010101" pitchFamily="2" charset="-122"/>
              </a:defRPr>
            </a:lvl1pPr>
          </a:lstStyle>
          <a:p>
            <a:fld id="{E2FBAA22-79FE-4190-B451-A6B205947F5C}"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B97E0DBF-54EF-4ABC-993B-50DE9C77CB3A}"/>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spcBef>
                <a:spcPct val="0"/>
              </a:spcBef>
              <a:buClrTx/>
              <a:defRPr sz="1200">
                <a:latin typeface="Times New Roman" pitchFamily="18" charset="0"/>
                <a:ea typeface="+mn-ea"/>
                <a:cs typeface="+mn-cs"/>
              </a:defRPr>
            </a:lvl1pPr>
          </a:lstStyle>
          <a:p>
            <a:pPr>
              <a:defRPr/>
            </a:pPr>
            <a:endParaRPr lang="en-US" altLang="zh-CN"/>
          </a:p>
        </p:txBody>
      </p:sp>
      <p:sp>
        <p:nvSpPr>
          <p:cNvPr id="199683" name="Rectangle 3">
            <a:extLst>
              <a:ext uri="{FF2B5EF4-FFF2-40B4-BE49-F238E27FC236}">
                <a16:creationId xmlns:a16="http://schemas.microsoft.com/office/drawing/2014/main" id="{3CD1A4D7-0286-4582-B664-DD1EACC77DD2}"/>
              </a:ext>
            </a:extLst>
          </p:cNvPr>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defRPr sz="1200">
                <a:latin typeface="Times New Roman" pitchFamily="18" charset="0"/>
                <a:ea typeface="+mn-ea"/>
                <a:cs typeface="+mn-cs"/>
              </a:defRPr>
            </a:lvl1pPr>
          </a:lstStyle>
          <a:p>
            <a:pPr>
              <a:defRPr/>
            </a:pPr>
            <a:endParaRPr lang="en-US" altLang="zh-CN"/>
          </a:p>
        </p:txBody>
      </p:sp>
      <p:sp>
        <p:nvSpPr>
          <p:cNvPr id="72708" name="Rectangle 4">
            <a:extLst>
              <a:ext uri="{FF2B5EF4-FFF2-40B4-BE49-F238E27FC236}">
                <a16:creationId xmlns:a16="http://schemas.microsoft.com/office/drawing/2014/main" id="{F2A89643-CD5E-47D2-851D-7493076F681A}"/>
              </a:ext>
            </a:extLst>
          </p:cNvPr>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5" name="Rectangle 5">
            <a:extLst>
              <a:ext uri="{FF2B5EF4-FFF2-40B4-BE49-F238E27FC236}">
                <a16:creationId xmlns:a16="http://schemas.microsoft.com/office/drawing/2014/main" id="{55441C05-F965-4980-B0EB-EBE630E58455}"/>
              </a:ext>
            </a:extLst>
          </p:cNvPr>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99686" name="Rectangle 6">
            <a:extLst>
              <a:ext uri="{FF2B5EF4-FFF2-40B4-BE49-F238E27FC236}">
                <a16:creationId xmlns:a16="http://schemas.microsoft.com/office/drawing/2014/main" id="{571F6933-35C4-4949-9EB1-22ADA83C8428}"/>
              </a:ext>
            </a:extLst>
          </p:cNvPr>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spcBef>
                <a:spcPct val="0"/>
              </a:spcBef>
              <a:buClrTx/>
              <a:defRPr sz="1200">
                <a:latin typeface="Times New Roman" pitchFamily="18" charset="0"/>
                <a:ea typeface="+mn-ea"/>
                <a:cs typeface="+mn-cs"/>
              </a:defRPr>
            </a:lvl1pPr>
          </a:lstStyle>
          <a:p>
            <a:pPr>
              <a:defRPr/>
            </a:pPr>
            <a:endParaRPr lang="en-US" altLang="zh-CN"/>
          </a:p>
        </p:txBody>
      </p:sp>
      <p:sp>
        <p:nvSpPr>
          <p:cNvPr id="199687" name="Rectangle 7">
            <a:extLst>
              <a:ext uri="{FF2B5EF4-FFF2-40B4-BE49-F238E27FC236}">
                <a16:creationId xmlns:a16="http://schemas.microsoft.com/office/drawing/2014/main" id="{1BD0F41C-8FCB-499B-9CA1-E9A402F84B87}"/>
              </a:ext>
            </a:extLst>
          </p:cNvPr>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ea typeface="宋体" panose="02010600030101010101" pitchFamily="2" charset="-122"/>
              </a:defRPr>
            </a:lvl1pPr>
          </a:lstStyle>
          <a:p>
            <a:fld id="{FB395BC4-2B77-409E-9CF9-DA016A33B20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r>
              <a:rPr lang="zh-CN" altLang="en-US" dirty="0"/>
              <a:t>对应教材第</a:t>
            </a:r>
            <a:r>
              <a:rPr lang="en-US" altLang="zh-CN" dirty="0"/>
              <a:t>3</a:t>
            </a:r>
            <a:r>
              <a:rPr lang="zh-CN" altLang="en-US" dirty="0"/>
              <a:t>章（</a:t>
            </a:r>
            <a:r>
              <a:rPr lang="en-US" altLang="zh-CN" dirty="0"/>
              <a:t>3.5</a:t>
            </a:r>
            <a:r>
              <a:rPr lang="zh-CN" altLang="en-US" dirty="0"/>
              <a:t>节）、第</a:t>
            </a:r>
            <a:r>
              <a:rPr lang="en-US" altLang="zh-CN" dirty="0"/>
              <a:t>20</a:t>
            </a:r>
            <a:r>
              <a:rPr lang="zh-CN" altLang="en-US" dirty="0"/>
              <a:t>章（</a:t>
            </a:r>
            <a:r>
              <a:rPr lang="en-US" altLang="zh-CN" dirty="0"/>
              <a:t>20.6</a:t>
            </a:r>
            <a:r>
              <a:rPr lang="zh-CN" altLang="en-US" dirty="0"/>
              <a:t>节）</a:t>
            </a:r>
          </a:p>
        </p:txBody>
      </p:sp>
      <p:sp>
        <p:nvSpPr>
          <p:cNvPr id="4" name="灯片编号占位符 3"/>
          <p:cNvSpPr>
            <a:spLocks noGrp="1"/>
          </p:cNvSpPr>
          <p:nvPr>
            <p:ph type="sldNum" sz="quarter" idx="5"/>
          </p:nvPr>
        </p:nvSpPr>
        <p:spPr/>
        <p:txBody>
          <a:bodyPr/>
          <a:lstStyle/>
          <a:p>
            <a:fld id="{FB395BC4-2B77-409E-9CF9-DA016A33B206}" type="slidenum">
              <a:rPr lang="en-US" altLang="zh-CN" smtClean="0"/>
              <a:pPr/>
              <a:t>1</a:t>
            </a:fld>
            <a:endParaRPr lang="en-US" altLang="zh-CN"/>
          </a:p>
        </p:txBody>
      </p:sp>
    </p:spTree>
    <p:extLst>
      <p:ext uri="{BB962C8B-B14F-4D97-AF65-F5344CB8AC3E}">
        <p14:creationId xmlns:p14="http://schemas.microsoft.com/office/powerpoint/2010/main" val="1477494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r>
              <a:rPr lang="zh-CN" altLang="en-US" sz="1200" kern="0" dirty="0">
                <a:ea typeface="黑体" pitchFamily="49" charset="-122"/>
              </a:rPr>
              <a:t>教材</a:t>
            </a:r>
            <a:endParaRPr lang="en-US" altLang="zh-CN" sz="1200" kern="0" dirty="0">
              <a:ea typeface="黑体" pitchFamily="49" charset="-122"/>
            </a:endParaRPr>
          </a:p>
          <a:p>
            <a:r>
              <a:rPr lang="en-US" altLang="zh-CN" sz="1200" kern="0" dirty="0">
                <a:ea typeface="黑体" pitchFamily="49" charset="-122"/>
              </a:rPr>
              <a:t>    20.4.5 </a:t>
            </a:r>
            <a:r>
              <a:rPr lang="zh-CN" altLang="en-US" sz="1200" kern="0" dirty="0">
                <a:ea typeface="黑体" pitchFamily="49" charset="-122"/>
              </a:rPr>
              <a:t>橡皮条方法</a:t>
            </a:r>
            <a:endParaRPr lang="en-US" altLang="zh-CN" sz="1200" kern="0" dirty="0">
              <a:ea typeface="黑体" pitchFamily="49" charset="-122"/>
            </a:endParaRPr>
          </a:p>
          <a:p>
            <a:r>
              <a:rPr lang="en-US" altLang="zh-CN" sz="1200" kern="0" dirty="0">
                <a:ea typeface="黑体" pitchFamily="49" charset="-122"/>
              </a:rPr>
              <a:t>    20.7 </a:t>
            </a:r>
            <a:r>
              <a:rPr lang="zh-CN" altLang="en-US" sz="1200" kern="0" dirty="0">
                <a:ea typeface="黑体" pitchFamily="49" charset="-122"/>
              </a:rPr>
              <a:t>菜单</a:t>
            </a:r>
            <a:endParaRPr lang="zh-CN" altLang="en-US" dirty="0"/>
          </a:p>
        </p:txBody>
      </p:sp>
      <p:sp>
        <p:nvSpPr>
          <p:cNvPr id="4" name="灯片编号占位符 3"/>
          <p:cNvSpPr>
            <a:spLocks noGrp="1"/>
          </p:cNvSpPr>
          <p:nvPr>
            <p:ph type="sldNum" sz="quarter" idx="5"/>
          </p:nvPr>
        </p:nvSpPr>
        <p:spPr/>
        <p:txBody>
          <a:bodyPr/>
          <a:lstStyle/>
          <a:p>
            <a:fld id="{FB395BC4-2B77-409E-9CF9-DA016A33B206}" type="slidenum">
              <a:rPr lang="en-US" altLang="zh-CN" smtClean="0"/>
              <a:pPr/>
              <a:t>66</a:t>
            </a:fld>
            <a:endParaRPr lang="en-US" altLang="zh-CN"/>
          </a:p>
        </p:txBody>
      </p:sp>
    </p:spTree>
    <p:extLst>
      <p:ext uri="{BB962C8B-B14F-4D97-AF65-F5344CB8AC3E}">
        <p14:creationId xmlns:p14="http://schemas.microsoft.com/office/powerpoint/2010/main" val="70574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37811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880534" y="1162052"/>
            <a:ext cx="10866967" cy="298542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title"/>
          </p:nvPr>
        </p:nvSpPr>
        <p:spPr bwMode="auto">
          <a:xfrm>
            <a:off x="1064195" y="50802"/>
            <a:ext cx="11017739" cy="701675"/>
          </a:xfrm>
          <a:prstGeom prst="rect">
            <a:avLst/>
          </a:prstGeom>
          <a:noFill/>
          <a:ln w="9525">
            <a:noFill/>
            <a:miter lim="800000"/>
            <a:headEnd/>
            <a:tailEnd/>
          </a:ln>
        </p:spPr>
        <p:txBody>
          <a:bodyPr/>
          <a:lstStyle/>
          <a:p>
            <a:pPr lvl="0"/>
            <a:r>
              <a:rPr lang="zh-CN" altLang="en-US"/>
              <a:t>单击此处编辑母版标题样式</a:t>
            </a:r>
            <a:endParaRPr lang="en-GB" altLang="zh-CN" dirty="0"/>
          </a:p>
        </p:txBody>
      </p:sp>
    </p:spTree>
    <p:extLst>
      <p:ext uri="{BB962C8B-B14F-4D97-AF65-F5344CB8AC3E}">
        <p14:creationId xmlns:p14="http://schemas.microsoft.com/office/powerpoint/2010/main" val="423980943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a:xfrm>
            <a:off x="912285" y="1341438"/>
            <a:ext cx="10593916" cy="2941627"/>
          </a:xfrm>
        </p:spPr>
        <p:txBody>
          <a:bodyPr>
            <a:spAutoFit/>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80826035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880534" y="1162052"/>
            <a:ext cx="10866967" cy="298542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5"/>
          <p:cNvSpPr>
            <a:spLocks noGrp="1" noChangeArrowheads="1"/>
          </p:cNvSpPr>
          <p:nvPr>
            <p:ph type="title"/>
          </p:nvPr>
        </p:nvSpPr>
        <p:spPr bwMode="auto">
          <a:xfrm>
            <a:off x="1064195" y="50802"/>
            <a:ext cx="11017739" cy="701675"/>
          </a:xfrm>
          <a:prstGeom prst="rect">
            <a:avLst/>
          </a:prstGeom>
          <a:noFill/>
          <a:ln w="9525">
            <a:noFill/>
            <a:miter lim="800000"/>
            <a:headEnd/>
            <a:tailEnd/>
          </a:ln>
        </p:spPr>
        <p:txBody>
          <a:bodyPr/>
          <a:lstStyle/>
          <a:p>
            <a:pPr lvl="0"/>
            <a:r>
              <a:rPr lang="zh-CN" altLang="en-US"/>
              <a:t>单击此处编辑母版标题样式</a:t>
            </a:r>
            <a:endParaRPr lang="en-GB" altLang="zh-CN" dirty="0"/>
          </a:p>
        </p:txBody>
      </p:sp>
    </p:spTree>
    <p:extLst>
      <p:ext uri="{BB962C8B-B14F-4D97-AF65-F5344CB8AC3E}">
        <p14:creationId xmlns:p14="http://schemas.microsoft.com/office/powerpoint/2010/main" val="1639109396"/>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4" name="Rectangle 20">
            <a:extLst>
              <a:ext uri="{FF2B5EF4-FFF2-40B4-BE49-F238E27FC236}">
                <a16:creationId xmlns:a16="http://schemas.microsoft.com/office/drawing/2014/main" id="{82AC8A9E-D3EE-4E4F-A317-3CBB3282FB63}"/>
              </a:ext>
            </a:extLst>
          </p:cNvPr>
          <p:cNvSpPr>
            <a:spLocks noChangeArrowheads="1"/>
          </p:cNvSpPr>
          <p:nvPr/>
        </p:nvSpPr>
        <p:spPr bwMode="auto">
          <a:xfrm>
            <a:off x="0" y="6366414"/>
            <a:ext cx="12192000" cy="492125"/>
          </a:xfrm>
          <a:prstGeom prst="rect">
            <a:avLst/>
          </a:prstGeom>
          <a:gradFill rotWithShape="1">
            <a:gsLst>
              <a:gs pos="0">
                <a:srgbClr val="7889FB"/>
              </a:gs>
              <a:gs pos="100000">
                <a:srgbClr val="383F74"/>
              </a:gs>
            </a:gsLst>
            <a:lin ang="0" scaled="1"/>
          </a:gradFill>
          <a:ln w="9525">
            <a:noFill/>
            <a:miter lim="800000"/>
            <a:headEnd/>
            <a:tailEnd/>
          </a:ln>
        </p:spPr>
        <p:txBody>
          <a:bodyPr wrap="none" lIns="91429" tIns="45714" rIns="91429" bIns="45714" anchor="ctr"/>
          <a:lstStyle/>
          <a:p>
            <a:pPr>
              <a:defRPr/>
            </a:pPr>
            <a:r>
              <a:rPr lang="zh-CN" altLang="en-US" sz="2000" b="1" dirty="0">
                <a:solidFill>
                  <a:schemeClr val="bg1"/>
                </a:solidFill>
                <a:latin typeface="华文新魏" pitchFamily="2" charset="-122"/>
                <a:ea typeface="华文新魏" pitchFamily="2" charset="-122"/>
              </a:rPr>
              <a:t>电子科技大学</a:t>
            </a:r>
          </a:p>
        </p:txBody>
      </p:sp>
      <p:sp>
        <p:nvSpPr>
          <p:cNvPr id="2050" name="Rectangle 2">
            <a:extLst>
              <a:ext uri="{FF2B5EF4-FFF2-40B4-BE49-F238E27FC236}">
                <a16:creationId xmlns:a16="http://schemas.microsoft.com/office/drawing/2014/main" id="{7A6AEEDB-A218-431B-A1B9-F5B413B1776B}"/>
              </a:ext>
            </a:extLst>
          </p:cNvPr>
          <p:cNvSpPr>
            <a:spLocks noChangeArrowheads="1"/>
          </p:cNvSpPr>
          <p:nvPr/>
        </p:nvSpPr>
        <p:spPr bwMode="auto">
          <a:xfrm>
            <a:off x="3945467" y="6016626"/>
            <a:ext cx="4773084" cy="555625"/>
          </a:xfrm>
          <a:prstGeom prst="rect">
            <a:avLst/>
          </a:prstGeom>
          <a:noFill/>
          <a:ln w="9525">
            <a:noFill/>
            <a:miter lim="800000"/>
            <a:headEnd/>
            <a:tailEnd/>
          </a:ln>
        </p:spPr>
        <p:txBody>
          <a:bodyPr lIns="91429" tIns="45714" rIns="91429" bIns="45714"/>
          <a:lstStyle/>
          <a:p>
            <a:pPr eaLnBrk="0" hangingPunct="0">
              <a:defRPr/>
            </a:pPr>
            <a:endParaRPr lang="en-US" altLang="zh-CN" sz="1600">
              <a:latin typeface="Times New Roman" pitchFamily="18" charset="0"/>
            </a:endParaRPr>
          </a:p>
        </p:txBody>
      </p:sp>
      <p:sp>
        <p:nvSpPr>
          <p:cNvPr id="139266" name="AutoShape 2" descr="http://t11.baidu.com/it/u=975435960,157200472&amp;fm=21&amp;gp=0.jpg">
            <a:extLst>
              <a:ext uri="{FF2B5EF4-FFF2-40B4-BE49-F238E27FC236}">
                <a16:creationId xmlns:a16="http://schemas.microsoft.com/office/drawing/2014/main" id="{17A1FF9F-8B16-4FF8-89C6-EE525A8D10A7}"/>
              </a:ext>
            </a:extLst>
          </p:cNvPr>
          <p:cNvSpPr>
            <a:spLocks noChangeAspect="1" noChangeArrowheads="1"/>
          </p:cNvSpPr>
          <p:nvPr/>
        </p:nvSpPr>
        <p:spPr bwMode="auto">
          <a:xfrm>
            <a:off x="218017" y="-144463"/>
            <a:ext cx="406400" cy="304801"/>
          </a:xfrm>
          <a:prstGeom prst="rect">
            <a:avLst/>
          </a:prstGeom>
          <a:noFill/>
        </p:spPr>
        <p:txBody>
          <a:bodyPr lIns="91429" tIns="45714" rIns="91429" bIns="45714"/>
          <a:lstStyle/>
          <a:p>
            <a:pPr>
              <a:defRPr/>
            </a:pPr>
            <a:endParaRPr lang="zh-CN" altLang="en-US" sz="1600"/>
          </a:p>
        </p:txBody>
      </p:sp>
      <p:pic>
        <p:nvPicPr>
          <p:cNvPr id="1026" name="Picture 2" descr="http://t13.baidu.com/it/u=1814656950,1493058970&amp;fm=224&amp;app=112&amp;f=JPEG?w=500&amp;h=500">
            <a:extLst>
              <a:ext uri="{FF2B5EF4-FFF2-40B4-BE49-F238E27FC236}">
                <a16:creationId xmlns:a16="http://schemas.microsoft.com/office/drawing/2014/main" id="{2ED4CD40-7817-4634-AA1E-5F8765822A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00" t="10689" r="21272" b="9176"/>
          <a:stretch/>
        </p:blipFill>
        <p:spPr bwMode="auto">
          <a:xfrm>
            <a:off x="5507710" y="152776"/>
            <a:ext cx="1199756" cy="126000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F44A2DB1-B297-4062-9648-DC005C16DF0E}"/>
              </a:ext>
            </a:extLst>
          </p:cNvPr>
          <p:cNvPicPr>
            <a:picLocks noChangeAspect="1"/>
          </p:cNvPicPr>
          <p:nvPr/>
        </p:nvPicPr>
        <p:blipFill rotWithShape="1">
          <a:blip r:embed="rId4">
            <a:extLst>
              <a:ext uri="{28A0092B-C50C-407E-A947-70E740481C1C}">
                <a14:useLocalDpi xmlns:a14="http://schemas.microsoft.com/office/drawing/2010/main" val="0"/>
              </a:ext>
            </a:extLst>
          </a:blip>
          <a:srcRect l="11235" r="11644"/>
          <a:stretch/>
        </p:blipFill>
        <p:spPr>
          <a:xfrm>
            <a:off x="2846970" y="152776"/>
            <a:ext cx="2291785" cy="1260000"/>
          </a:xfrm>
          <a:prstGeom prst="rect">
            <a:avLst/>
          </a:prstGeom>
        </p:spPr>
      </p:pic>
      <p:pic>
        <p:nvPicPr>
          <p:cNvPr id="21" name="图片 20">
            <a:extLst>
              <a:ext uri="{FF2B5EF4-FFF2-40B4-BE49-F238E27FC236}">
                <a16:creationId xmlns:a16="http://schemas.microsoft.com/office/drawing/2014/main" id="{35E3252F-1C7D-4D00-AD04-B79C5E2AE058}"/>
              </a:ext>
            </a:extLst>
          </p:cNvPr>
          <p:cNvPicPr>
            <a:picLocks noChangeAspect="1"/>
          </p:cNvPicPr>
          <p:nvPr/>
        </p:nvPicPr>
        <p:blipFill rotWithShape="1">
          <a:blip r:embed="rId5"/>
          <a:srcRect l="49891" r="-1" b="49796"/>
          <a:stretch/>
        </p:blipFill>
        <p:spPr>
          <a:xfrm>
            <a:off x="239350" y="152776"/>
            <a:ext cx="2238665" cy="1260000"/>
          </a:xfrm>
          <a:prstGeom prst="rect">
            <a:avLst/>
          </a:prstGeom>
        </p:spPr>
      </p:pic>
      <p:pic>
        <p:nvPicPr>
          <p:cNvPr id="22" name="图片 21">
            <a:extLst>
              <a:ext uri="{FF2B5EF4-FFF2-40B4-BE49-F238E27FC236}">
                <a16:creationId xmlns:a16="http://schemas.microsoft.com/office/drawing/2014/main" id="{E5CC1C3E-381E-4CE6-8E4B-CB87EDE9907C}"/>
              </a:ext>
            </a:extLst>
          </p:cNvPr>
          <p:cNvPicPr>
            <a:picLocks noChangeAspect="1"/>
          </p:cNvPicPr>
          <p:nvPr/>
        </p:nvPicPr>
        <p:blipFill rotWithShape="1">
          <a:blip r:embed="rId5"/>
          <a:srcRect t="49796" r="49890"/>
          <a:stretch/>
        </p:blipFill>
        <p:spPr>
          <a:xfrm>
            <a:off x="7076420" y="152776"/>
            <a:ext cx="2238667" cy="1260000"/>
          </a:xfrm>
          <a:prstGeom prst="rect">
            <a:avLst/>
          </a:prstGeom>
        </p:spPr>
      </p:pic>
      <p:pic>
        <p:nvPicPr>
          <p:cNvPr id="23" name="图片 22">
            <a:extLst>
              <a:ext uri="{FF2B5EF4-FFF2-40B4-BE49-F238E27FC236}">
                <a16:creationId xmlns:a16="http://schemas.microsoft.com/office/drawing/2014/main" id="{59726EE5-F41E-4A75-82F2-3B895A90CCA8}"/>
              </a:ext>
            </a:extLst>
          </p:cNvPr>
          <p:cNvPicPr>
            <a:picLocks noChangeAspect="1"/>
          </p:cNvPicPr>
          <p:nvPr/>
        </p:nvPicPr>
        <p:blipFill rotWithShape="1">
          <a:blip r:embed="rId5"/>
          <a:srcRect l="49621" t="50192"/>
          <a:stretch/>
        </p:blipFill>
        <p:spPr>
          <a:xfrm>
            <a:off x="9684043" y="152776"/>
            <a:ext cx="2268608" cy="1260000"/>
          </a:xfrm>
          <a:prstGeom prst="rect">
            <a:avLst/>
          </a:prstGeom>
        </p:spPr>
      </p:pic>
      <p:pic>
        <p:nvPicPr>
          <p:cNvPr id="24" name="图片 23">
            <a:extLst>
              <a:ext uri="{FF2B5EF4-FFF2-40B4-BE49-F238E27FC236}">
                <a16:creationId xmlns:a16="http://schemas.microsoft.com/office/drawing/2014/main" id="{8567F5C1-B9AD-4F30-B5C2-2342C7046E50}"/>
              </a:ext>
            </a:extLst>
          </p:cNvPr>
          <p:cNvPicPr>
            <a:picLocks/>
          </p:cNvPicPr>
          <p:nvPr/>
        </p:nvPicPr>
        <p:blipFill>
          <a:blip r:embed="rId6"/>
          <a:stretch>
            <a:fillRect/>
          </a:stretch>
        </p:blipFill>
        <p:spPr>
          <a:xfrm>
            <a:off x="11651472" y="6365875"/>
            <a:ext cx="493200" cy="493200"/>
          </a:xfrm>
          <a:prstGeom prst="rect">
            <a:avLst/>
          </a:prstGeom>
        </p:spPr>
      </p:pic>
    </p:spTree>
    <p:extLst>
      <p:ext uri="{BB962C8B-B14F-4D97-AF65-F5344CB8AC3E}">
        <p14:creationId xmlns:p14="http://schemas.microsoft.com/office/powerpoint/2010/main" val="1251974289"/>
      </p:ext>
    </p:extLst>
  </p:cSld>
  <p:clrMap bg1="lt1" tx1="dk1" bg2="lt2" tx2="dk2" accent1="accent1" accent2="accent2" accent3="accent3" accent4="accent4" accent5="accent5" accent6="accent6" hlink="hlink" folHlink="folHlink"/>
  <p:sldLayoutIdLst>
    <p:sldLayoutId id="2147483999" r:id="rId1"/>
  </p:sldLayoutIdLst>
  <p:transition/>
  <p:hf hdr="0"/>
  <p:txStyles>
    <p:titleStyle>
      <a:lvl1pPr algn="l" rtl="0" eaLnBrk="1" fontAlgn="base" hangingPunct="1">
        <a:spcBef>
          <a:spcPct val="0"/>
        </a:spcBef>
        <a:spcAft>
          <a:spcPct val="0"/>
        </a:spcAft>
        <a:defRPr sz="4000" b="1">
          <a:solidFill>
            <a:schemeClr val="tx1"/>
          </a:solidFill>
          <a:latin typeface="+mj-lt"/>
          <a:ea typeface="+mj-ea"/>
          <a:cs typeface="+mj-cs"/>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ct val="20000"/>
        </a:spcBef>
        <a:spcAft>
          <a:spcPct val="0"/>
        </a:spcAft>
        <a:buClr>
          <a:schemeClr val="tx1"/>
        </a:buClr>
        <a:buSzPct val="90000"/>
        <a:buFont typeface="Wingdings" panose="05000000000000000000" pitchFamily="2" charset="2"/>
        <a:buChar char="Ø"/>
        <a:defRPr sz="2800">
          <a:solidFill>
            <a:schemeClr val="tx1"/>
          </a:solidFill>
          <a:latin typeface="+mn-lt"/>
          <a:ea typeface="+mn-ea"/>
          <a:cs typeface="+mn-cs"/>
        </a:defRPr>
      </a:lvl1pPr>
      <a:lvl2pPr marL="898525" indent="-363538" algn="l" rtl="0" eaLnBrk="1" fontAlgn="base" hangingPunct="1">
        <a:lnSpc>
          <a:spcPct val="120000"/>
        </a:lnSpc>
        <a:spcBef>
          <a:spcPct val="20000"/>
        </a:spcBef>
        <a:spcAft>
          <a:spcPct val="0"/>
        </a:spcAft>
        <a:buClr>
          <a:srgbClr val="000066"/>
        </a:buClr>
        <a:buSzPct val="70000"/>
        <a:buFont typeface="Wingdings" panose="05000000000000000000" pitchFamily="2" charset="2"/>
        <a:buChar char="u"/>
        <a:defRPr sz="2800">
          <a:solidFill>
            <a:schemeClr val="tx1"/>
          </a:solidFill>
          <a:latin typeface="+mn-lt"/>
          <a:ea typeface="+mn-ea"/>
        </a:defRPr>
      </a:lvl2pPr>
      <a:lvl3pPr marL="1249363"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3pPr>
      <a:lvl4pPr marL="1600200" indent="-169863" algn="l" rtl="0" eaLnBrk="1" fontAlgn="base" hangingPunct="1">
        <a:lnSpc>
          <a:spcPct val="120000"/>
        </a:lnSpc>
        <a:spcBef>
          <a:spcPct val="20000"/>
        </a:spcBef>
        <a:spcAft>
          <a:spcPct val="0"/>
        </a:spcAft>
        <a:buClr>
          <a:schemeClr val="tx2"/>
        </a:buClr>
        <a:buFont typeface="Wingdings" panose="05000000000000000000" pitchFamily="2" charset="2"/>
        <a:buChar char="§"/>
        <a:defRPr sz="2800">
          <a:solidFill>
            <a:schemeClr val="tx1"/>
          </a:solidFill>
          <a:latin typeface="+mn-lt"/>
          <a:ea typeface="+mn-ea"/>
        </a:defRPr>
      </a:lvl4pPr>
      <a:lvl5pPr marL="1951038" indent="-169863" algn="l" rtl="0" eaLnBrk="1" fontAlgn="base" hangingPunct="1">
        <a:lnSpc>
          <a:spcPct val="120000"/>
        </a:lnSpc>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1A12E8C-66A6-42B7-A1BE-9738155CDA3E}"/>
              </a:ext>
            </a:extLst>
          </p:cNvPr>
          <p:cNvSpPr>
            <a:spLocks noGrp="1" noChangeArrowheads="1"/>
          </p:cNvSpPr>
          <p:nvPr>
            <p:ph type="body" idx="1"/>
          </p:nvPr>
        </p:nvSpPr>
        <p:spPr bwMode="auto">
          <a:xfrm>
            <a:off x="666751" y="1357314"/>
            <a:ext cx="11049000"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sp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ltLang="zh-CN"/>
          </a:p>
        </p:txBody>
      </p:sp>
      <p:sp>
        <p:nvSpPr>
          <p:cNvPr id="1028" name="Line 4">
            <a:extLst>
              <a:ext uri="{FF2B5EF4-FFF2-40B4-BE49-F238E27FC236}">
                <a16:creationId xmlns:a16="http://schemas.microsoft.com/office/drawing/2014/main" id="{5E710E63-936A-4B88-9A86-69503832E9E6}"/>
              </a:ext>
            </a:extLst>
          </p:cNvPr>
          <p:cNvSpPr>
            <a:spLocks noChangeShapeType="1"/>
          </p:cNvSpPr>
          <p:nvPr/>
        </p:nvSpPr>
        <p:spPr bwMode="auto">
          <a:xfrm rot="16200000">
            <a:off x="6220884" y="-4660900"/>
            <a:ext cx="0" cy="10934700"/>
          </a:xfrm>
          <a:prstGeom prst="line">
            <a:avLst/>
          </a:prstGeom>
          <a:noFill/>
          <a:ln w="28575">
            <a:solidFill>
              <a:srgbClr val="C00000"/>
            </a:solidFill>
            <a:round/>
            <a:headEnd/>
            <a:tailEnd/>
          </a:ln>
        </p:spPr>
        <p:txBody>
          <a:bodyPr lIns="91429" tIns="45714" rIns="91429" bIns="45714" anchor="ctr"/>
          <a:lstStyle/>
          <a:p>
            <a:pPr>
              <a:defRPr/>
            </a:pPr>
            <a:endParaRPr lang="zh-CN" altLang="en-US" sz="1600"/>
          </a:p>
        </p:txBody>
      </p:sp>
      <p:sp>
        <p:nvSpPr>
          <p:cNvPr id="5124" name="Rectangle 5">
            <a:extLst>
              <a:ext uri="{FF2B5EF4-FFF2-40B4-BE49-F238E27FC236}">
                <a16:creationId xmlns:a16="http://schemas.microsoft.com/office/drawing/2014/main" id="{E4C51550-117B-4787-8984-F095893D6A60}"/>
              </a:ext>
            </a:extLst>
          </p:cNvPr>
          <p:cNvSpPr>
            <a:spLocks noGrp="1" noChangeArrowheads="1"/>
          </p:cNvSpPr>
          <p:nvPr>
            <p:ph type="title"/>
          </p:nvPr>
        </p:nvSpPr>
        <p:spPr bwMode="auto">
          <a:xfrm>
            <a:off x="839416" y="60326"/>
            <a:ext cx="10844584"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b" anchorCtr="0" compatLnSpc="1">
            <a:prstTxWarp prst="textNoShape">
              <a:avLst/>
            </a:prstTxWarp>
            <a:spAutoFit/>
          </a:bodyPr>
          <a:lstStyle/>
          <a:p>
            <a:pPr lvl="0"/>
            <a:r>
              <a:rPr lang="zh-CN" altLang="en-US" dirty="0"/>
              <a:t>单击此处编辑母版标题样式</a:t>
            </a:r>
            <a:endParaRPr lang="en-GB" altLang="zh-CN" dirty="0"/>
          </a:p>
        </p:txBody>
      </p:sp>
      <p:sp>
        <p:nvSpPr>
          <p:cNvPr id="1030" name="Text Box 7">
            <a:extLst>
              <a:ext uri="{FF2B5EF4-FFF2-40B4-BE49-F238E27FC236}">
                <a16:creationId xmlns:a16="http://schemas.microsoft.com/office/drawing/2014/main" id="{66768A21-2C50-484A-906D-7E9ED8140836}"/>
              </a:ext>
            </a:extLst>
          </p:cNvPr>
          <p:cNvSpPr txBox="1">
            <a:spLocks noChangeArrowheads="1"/>
          </p:cNvSpPr>
          <p:nvPr/>
        </p:nvSpPr>
        <p:spPr bwMode="auto">
          <a:xfrm>
            <a:off x="11495618" y="6419850"/>
            <a:ext cx="560916" cy="336550"/>
          </a:xfrm>
          <a:prstGeom prst="rect">
            <a:avLst/>
          </a:prstGeom>
          <a:noFill/>
          <a:ln w="9525">
            <a:noFill/>
            <a:miter lim="800000"/>
            <a:headEnd/>
            <a:tailEnd/>
          </a:ln>
        </p:spPr>
        <p:txBody>
          <a:bodyPr lIns="91429" tIns="45714" rIns="91429" bIns="45714">
            <a:spAutoFit/>
          </a:bodyPr>
          <a:lstStyle/>
          <a:p>
            <a:pPr>
              <a:spcBef>
                <a:spcPct val="50000"/>
              </a:spcBef>
              <a:defRPr/>
            </a:pPr>
            <a:endParaRPr lang="en-US" altLang="zh-CN" sz="1600" dirty="0">
              <a:latin typeface="Arial" charset="0"/>
            </a:endParaRPr>
          </a:p>
        </p:txBody>
      </p:sp>
      <p:sp>
        <p:nvSpPr>
          <p:cNvPr id="1031" name="Rectangle 20">
            <a:extLst>
              <a:ext uri="{FF2B5EF4-FFF2-40B4-BE49-F238E27FC236}">
                <a16:creationId xmlns:a16="http://schemas.microsoft.com/office/drawing/2014/main" id="{A256FC3B-4A92-4A7E-B387-2FCDC38090D3}"/>
              </a:ext>
            </a:extLst>
          </p:cNvPr>
          <p:cNvSpPr>
            <a:spLocks noChangeArrowheads="1"/>
          </p:cNvSpPr>
          <p:nvPr/>
        </p:nvSpPr>
        <p:spPr bwMode="auto">
          <a:xfrm>
            <a:off x="0" y="6365876"/>
            <a:ext cx="12192000" cy="492125"/>
          </a:xfrm>
          <a:prstGeom prst="rect">
            <a:avLst/>
          </a:prstGeom>
          <a:gradFill rotWithShape="1">
            <a:gsLst>
              <a:gs pos="0">
                <a:srgbClr val="7889FB"/>
              </a:gs>
              <a:gs pos="100000">
                <a:srgbClr val="383F74"/>
              </a:gs>
            </a:gsLst>
            <a:lin ang="0" scaled="1"/>
          </a:gradFill>
          <a:ln w="9525">
            <a:noFill/>
            <a:miter lim="800000"/>
            <a:headEnd/>
            <a:tailEnd/>
          </a:ln>
        </p:spPr>
        <p:txBody>
          <a:bodyPr wrap="none" lIns="91429" tIns="45714" rIns="91429" bIns="45714" anchor="ctr"/>
          <a:lstStyle/>
          <a:p>
            <a:pPr>
              <a:defRPr/>
            </a:pPr>
            <a:r>
              <a:rPr lang="zh-CN" altLang="en-US" sz="2000" b="1" dirty="0">
                <a:solidFill>
                  <a:schemeClr val="bg1"/>
                </a:solidFill>
                <a:latin typeface="华文新魏" pitchFamily="2" charset="-122"/>
                <a:ea typeface="华文新魏" pitchFamily="2" charset="-122"/>
              </a:rPr>
              <a:t>高级计算机图形学</a:t>
            </a:r>
          </a:p>
        </p:txBody>
      </p:sp>
      <p:sp>
        <p:nvSpPr>
          <p:cNvPr id="10" name="矩形 9">
            <a:extLst>
              <a:ext uri="{FF2B5EF4-FFF2-40B4-BE49-F238E27FC236}">
                <a16:creationId xmlns:a16="http://schemas.microsoft.com/office/drawing/2014/main" id="{689C7DBC-50B4-43AB-9597-C4A540A76212}"/>
              </a:ext>
            </a:extLst>
          </p:cNvPr>
          <p:cNvSpPr/>
          <p:nvPr/>
        </p:nvSpPr>
        <p:spPr>
          <a:xfrm>
            <a:off x="11006369" y="6451600"/>
            <a:ext cx="1066295" cy="338542"/>
          </a:xfrm>
          <a:prstGeom prst="rect">
            <a:avLst/>
          </a:prstGeom>
        </p:spPr>
        <p:txBody>
          <a:bodyPr wrap="none" lIns="91429" tIns="45714" rIns="91429" bIns="45714">
            <a:spAutoFit/>
          </a:bodyPr>
          <a:lstStyle/>
          <a:p>
            <a:pPr>
              <a:defRPr/>
            </a:pPr>
            <a:r>
              <a:rPr lang="en-US" altLang="zh-CN" sz="1600" b="1" i="1" dirty="0">
                <a:solidFill>
                  <a:schemeClr val="bg1"/>
                </a:solidFill>
                <a:latin typeface="华文新魏" pitchFamily="2" charset="-122"/>
                <a:ea typeface="华文新魏" pitchFamily="2" charset="-122"/>
              </a:rPr>
              <a:t>2025</a:t>
            </a:r>
            <a:r>
              <a:rPr lang="zh-CN" altLang="en-US" sz="1600" b="1" i="1" dirty="0">
                <a:solidFill>
                  <a:schemeClr val="bg1"/>
                </a:solidFill>
                <a:latin typeface="华文新魏" pitchFamily="2" charset="-122"/>
                <a:ea typeface="华文新魏" pitchFamily="2" charset="-122"/>
              </a:rPr>
              <a:t>年秋</a:t>
            </a:r>
          </a:p>
        </p:txBody>
      </p:sp>
      <p:pic>
        <p:nvPicPr>
          <p:cNvPr id="5128" name="Picture 21" descr="uestc">
            <a:extLst>
              <a:ext uri="{FF2B5EF4-FFF2-40B4-BE49-F238E27FC236}">
                <a16:creationId xmlns:a16="http://schemas.microsoft.com/office/drawing/2014/main" id="{F68C6BB5-95AD-4FD4-BA61-512A5A6AAF5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748800" cy="749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649725"/>
      </p:ext>
    </p:extLst>
  </p:cSld>
  <p:clrMap bg1="lt1" tx1="dk1" bg2="lt2" tx2="dk2" accent1="accent1" accent2="accent2" accent3="accent3" accent4="accent4" accent5="accent5" accent6="accent6" hlink="hlink" folHlink="folHlink"/>
  <p:sldLayoutIdLst>
    <p:sldLayoutId id="2147484004" r:id="rId1"/>
    <p:sldLayoutId id="2147484008" r:id="rId2"/>
  </p:sldLayoutIdLst>
  <p:transition/>
  <p:txStyles>
    <p:titleStyle>
      <a:lvl1pPr algn="l" rtl="0" eaLnBrk="1" fontAlgn="base" hangingPunct="1">
        <a:spcBef>
          <a:spcPct val="0"/>
        </a:spcBef>
        <a:spcAft>
          <a:spcPct val="0"/>
        </a:spcAft>
        <a:defRPr sz="4000" b="1">
          <a:solidFill>
            <a:srgbClr val="C00000"/>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1A12E8C-66A6-42B7-A1BE-9738155CDA3E}"/>
              </a:ext>
            </a:extLst>
          </p:cNvPr>
          <p:cNvSpPr>
            <a:spLocks noGrp="1" noChangeArrowheads="1"/>
          </p:cNvSpPr>
          <p:nvPr>
            <p:ph type="body" idx="1"/>
          </p:nvPr>
        </p:nvSpPr>
        <p:spPr bwMode="auto">
          <a:xfrm>
            <a:off x="666751" y="1357314"/>
            <a:ext cx="11049000"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sp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ltLang="zh-CN"/>
          </a:p>
        </p:txBody>
      </p:sp>
      <p:sp>
        <p:nvSpPr>
          <p:cNvPr id="1028" name="Line 4">
            <a:extLst>
              <a:ext uri="{FF2B5EF4-FFF2-40B4-BE49-F238E27FC236}">
                <a16:creationId xmlns:a16="http://schemas.microsoft.com/office/drawing/2014/main" id="{5E710E63-936A-4B88-9A86-69503832E9E6}"/>
              </a:ext>
            </a:extLst>
          </p:cNvPr>
          <p:cNvSpPr>
            <a:spLocks noChangeShapeType="1"/>
          </p:cNvSpPr>
          <p:nvPr/>
        </p:nvSpPr>
        <p:spPr bwMode="auto">
          <a:xfrm rot="16200000">
            <a:off x="6220884" y="-4660900"/>
            <a:ext cx="0" cy="10934700"/>
          </a:xfrm>
          <a:prstGeom prst="line">
            <a:avLst/>
          </a:prstGeom>
          <a:noFill/>
          <a:ln w="28575">
            <a:solidFill>
              <a:srgbClr val="C00000"/>
            </a:solidFill>
            <a:round/>
            <a:headEnd/>
            <a:tailEnd/>
          </a:ln>
        </p:spPr>
        <p:txBody>
          <a:bodyPr lIns="91429" tIns="45714" rIns="91429" bIns="45714" anchor="ctr"/>
          <a:lstStyle/>
          <a:p>
            <a:pPr>
              <a:defRPr/>
            </a:pPr>
            <a:endParaRPr lang="zh-CN" altLang="en-US" sz="1600"/>
          </a:p>
        </p:txBody>
      </p:sp>
      <p:sp>
        <p:nvSpPr>
          <p:cNvPr id="5124" name="Rectangle 5">
            <a:extLst>
              <a:ext uri="{FF2B5EF4-FFF2-40B4-BE49-F238E27FC236}">
                <a16:creationId xmlns:a16="http://schemas.microsoft.com/office/drawing/2014/main" id="{E4C51550-117B-4787-8984-F095893D6A60}"/>
              </a:ext>
            </a:extLst>
          </p:cNvPr>
          <p:cNvSpPr>
            <a:spLocks noGrp="1" noChangeArrowheads="1"/>
          </p:cNvSpPr>
          <p:nvPr>
            <p:ph type="title"/>
          </p:nvPr>
        </p:nvSpPr>
        <p:spPr bwMode="auto">
          <a:xfrm>
            <a:off x="839416" y="60326"/>
            <a:ext cx="10844584"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b" anchorCtr="0" compatLnSpc="1">
            <a:prstTxWarp prst="textNoShape">
              <a:avLst/>
            </a:prstTxWarp>
            <a:spAutoFit/>
          </a:bodyPr>
          <a:lstStyle/>
          <a:p>
            <a:pPr lvl="0"/>
            <a:r>
              <a:rPr lang="zh-CN" altLang="en-US"/>
              <a:t>单击此处编辑母版标题样式</a:t>
            </a:r>
            <a:endParaRPr lang="en-GB" altLang="zh-CN"/>
          </a:p>
        </p:txBody>
      </p:sp>
      <p:sp>
        <p:nvSpPr>
          <p:cNvPr id="1030" name="Text Box 7">
            <a:extLst>
              <a:ext uri="{FF2B5EF4-FFF2-40B4-BE49-F238E27FC236}">
                <a16:creationId xmlns:a16="http://schemas.microsoft.com/office/drawing/2014/main" id="{66768A21-2C50-484A-906D-7E9ED8140836}"/>
              </a:ext>
            </a:extLst>
          </p:cNvPr>
          <p:cNvSpPr txBox="1">
            <a:spLocks noChangeArrowheads="1"/>
          </p:cNvSpPr>
          <p:nvPr/>
        </p:nvSpPr>
        <p:spPr bwMode="auto">
          <a:xfrm>
            <a:off x="11495618" y="6419850"/>
            <a:ext cx="560916" cy="336550"/>
          </a:xfrm>
          <a:prstGeom prst="rect">
            <a:avLst/>
          </a:prstGeom>
          <a:noFill/>
          <a:ln w="9525">
            <a:noFill/>
            <a:miter lim="800000"/>
            <a:headEnd/>
            <a:tailEnd/>
          </a:ln>
        </p:spPr>
        <p:txBody>
          <a:bodyPr lIns="91429" tIns="45714" rIns="91429" bIns="45714">
            <a:spAutoFit/>
          </a:bodyPr>
          <a:lstStyle/>
          <a:p>
            <a:pPr>
              <a:spcBef>
                <a:spcPct val="50000"/>
              </a:spcBef>
              <a:defRPr/>
            </a:pPr>
            <a:endParaRPr lang="en-US" altLang="zh-CN" sz="1600" dirty="0">
              <a:latin typeface="Arial" charset="0"/>
            </a:endParaRPr>
          </a:p>
        </p:txBody>
      </p:sp>
      <p:sp>
        <p:nvSpPr>
          <p:cNvPr id="10" name="矩形 9">
            <a:extLst>
              <a:ext uri="{FF2B5EF4-FFF2-40B4-BE49-F238E27FC236}">
                <a16:creationId xmlns:a16="http://schemas.microsoft.com/office/drawing/2014/main" id="{689C7DBC-50B4-43AB-9597-C4A540A76212}"/>
              </a:ext>
            </a:extLst>
          </p:cNvPr>
          <p:cNvSpPr/>
          <p:nvPr/>
        </p:nvSpPr>
        <p:spPr>
          <a:xfrm>
            <a:off x="10581218" y="6451600"/>
            <a:ext cx="1069501" cy="338542"/>
          </a:xfrm>
          <a:prstGeom prst="rect">
            <a:avLst/>
          </a:prstGeom>
        </p:spPr>
        <p:txBody>
          <a:bodyPr wrap="none" lIns="91429" tIns="45714" rIns="91429" bIns="45714">
            <a:spAutoFit/>
          </a:bodyPr>
          <a:lstStyle/>
          <a:p>
            <a:pPr>
              <a:defRPr/>
            </a:pPr>
            <a:r>
              <a:rPr lang="en-US" altLang="zh-CN" sz="1600" b="1" i="1" dirty="0">
                <a:solidFill>
                  <a:schemeClr val="bg1"/>
                </a:solidFill>
                <a:latin typeface="华文新魏" pitchFamily="2" charset="-122"/>
                <a:ea typeface="华文新魏" pitchFamily="2" charset="-122"/>
              </a:rPr>
              <a:t>2020</a:t>
            </a:r>
            <a:r>
              <a:rPr lang="zh-CN" altLang="en-US" sz="1600" b="1" i="1" dirty="0">
                <a:solidFill>
                  <a:schemeClr val="bg1"/>
                </a:solidFill>
                <a:latin typeface="华文新魏" pitchFamily="2" charset="-122"/>
                <a:ea typeface="华文新魏" pitchFamily="2" charset="-122"/>
              </a:rPr>
              <a:t>年春</a:t>
            </a:r>
          </a:p>
        </p:txBody>
      </p:sp>
      <p:pic>
        <p:nvPicPr>
          <p:cNvPr id="8" name="Picture 21" descr="uestc">
            <a:extLst>
              <a:ext uri="{FF2B5EF4-FFF2-40B4-BE49-F238E27FC236}">
                <a16:creationId xmlns:a16="http://schemas.microsoft.com/office/drawing/2014/main" id="{03C4DFC7-9BE5-4D3F-80A3-D79ED8422566}"/>
              </a:ext>
            </a:extLst>
          </p:cNvPr>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748800" cy="749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65196"/>
      </p:ext>
    </p:extLst>
  </p:cSld>
  <p:clrMap bg1="lt1" tx1="dk1" bg2="lt2" tx2="dk2" accent1="accent1" accent2="accent2" accent3="accent3" accent4="accent4" accent5="accent5" accent6="accent6" hlink="hlink" folHlink="folHlink"/>
  <p:sldLayoutIdLst>
    <p:sldLayoutId id="2147484006" r:id="rId1"/>
  </p:sldLayoutIdLst>
  <p:transition/>
  <p:txStyles>
    <p:titleStyle>
      <a:lvl1pPr algn="l" rtl="0" eaLnBrk="1" fontAlgn="base" hangingPunct="1">
        <a:spcBef>
          <a:spcPct val="0"/>
        </a:spcBef>
        <a:spcAft>
          <a:spcPct val="0"/>
        </a:spcAft>
        <a:defRPr sz="4000" b="1">
          <a:solidFill>
            <a:srgbClr val="C00000"/>
          </a:solidFill>
          <a:latin typeface="Times New Roman" panose="02020603050405020304" pitchFamily="18" charset="0"/>
          <a:ea typeface="+mj-ea"/>
          <a:cs typeface="Times New Roman" panose="02020603050405020304" pitchFamily="18" charset="0"/>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p:titleStyle>
    <p:body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p:bodyStyle>
    <p:otherStyle>
      <a:defPPr>
        <a:defRPr lang="zh-CN"/>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1">
            <a:extLst>
              <a:ext uri="{FF2B5EF4-FFF2-40B4-BE49-F238E27FC236}">
                <a16:creationId xmlns:a16="http://schemas.microsoft.com/office/drawing/2014/main" id="{E91FBC94-C305-45FA-AA87-FC7CAFA2DCE2}"/>
              </a:ext>
            </a:extLst>
          </p:cNvPr>
          <p:cNvSpPr>
            <a:spLocks noGrp="1" noChangeArrowheads="1"/>
          </p:cNvSpPr>
          <p:nvPr>
            <p:ph type="ftr"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r>
              <a:rPr lang="en-US" altLang="zh-CN">
                <a:solidFill>
                  <a:schemeClr val="bg1"/>
                </a:solidFill>
                <a:latin typeface="华文新魏" panose="02010800040101010101" pitchFamily="2" charset="-122"/>
                <a:ea typeface="华文新魏" panose="02010800040101010101" pitchFamily="2" charset="-122"/>
              </a:rPr>
              <a:t>三维图形程序设计</a:t>
            </a:r>
          </a:p>
        </p:txBody>
      </p:sp>
      <p:sp>
        <p:nvSpPr>
          <p:cNvPr id="6" name="Rectangle 4">
            <a:extLst>
              <a:ext uri="{FF2B5EF4-FFF2-40B4-BE49-F238E27FC236}">
                <a16:creationId xmlns:a16="http://schemas.microsoft.com/office/drawing/2014/main" id="{B23F9EBA-CD45-4938-87D6-05F46B8189B8}"/>
              </a:ext>
            </a:extLst>
          </p:cNvPr>
          <p:cNvSpPr txBox="1">
            <a:spLocks noChangeArrowheads="1"/>
          </p:cNvSpPr>
          <p:nvPr/>
        </p:nvSpPr>
        <p:spPr>
          <a:xfrm>
            <a:off x="0" y="1988840"/>
            <a:ext cx="12192000" cy="1016000"/>
          </a:xfrm>
          <a:prstGeom prst="rect">
            <a:avLst/>
          </a:prstGeom>
          <a:solidFill>
            <a:schemeClr val="tx2">
              <a:lumMod val="20000"/>
              <a:lumOff val="80000"/>
            </a:schemeClr>
          </a:solidFill>
        </p:spPr>
        <p:txBody>
          <a:bodyPr wrap="square" lIns="91429" tIns="45714" rIns="91429" bIns="45714">
            <a:spAutoFit/>
          </a:bodyPr>
          <a:lstStyle>
            <a:lvl1pPr algn="l" rtl="0" eaLnBrk="1" fontAlgn="base" hangingPunct="1">
              <a:spcBef>
                <a:spcPct val="0"/>
              </a:spcBef>
              <a:spcAft>
                <a:spcPct val="0"/>
              </a:spcAft>
              <a:defRPr sz="4000" b="1">
                <a:solidFill>
                  <a:schemeClr val="tx1"/>
                </a:solidFill>
                <a:latin typeface="+mj-lt"/>
                <a:ea typeface="+mj-ea"/>
                <a:cs typeface="+mj-cs"/>
              </a:defRPr>
            </a:lvl1pPr>
            <a:lvl2pPr algn="l" rtl="0" eaLnBrk="1" fontAlgn="base" hangingPunct="1">
              <a:spcBef>
                <a:spcPct val="0"/>
              </a:spcBef>
              <a:spcAft>
                <a:spcPct val="0"/>
              </a:spcAft>
              <a:defRPr sz="4000" b="1">
                <a:solidFill>
                  <a:schemeClr val="tx1"/>
                </a:solidFill>
                <a:latin typeface="隶书" pitchFamily="49" charset="-122"/>
                <a:ea typeface="隶书" pitchFamily="49" charset="-122"/>
              </a:defRPr>
            </a:lvl2pPr>
            <a:lvl3pPr algn="l" rtl="0" eaLnBrk="1" fontAlgn="base" hangingPunct="1">
              <a:spcBef>
                <a:spcPct val="0"/>
              </a:spcBef>
              <a:spcAft>
                <a:spcPct val="0"/>
              </a:spcAft>
              <a:defRPr sz="4000" b="1">
                <a:solidFill>
                  <a:schemeClr val="tx1"/>
                </a:solidFill>
                <a:latin typeface="隶书" pitchFamily="49" charset="-122"/>
                <a:ea typeface="隶书" pitchFamily="49" charset="-122"/>
              </a:defRPr>
            </a:lvl3pPr>
            <a:lvl4pPr algn="l" rtl="0" eaLnBrk="1" fontAlgn="base" hangingPunct="1">
              <a:spcBef>
                <a:spcPct val="0"/>
              </a:spcBef>
              <a:spcAft>
                <a:spcPct val="0"/>
              </a:spcAft>
              <a:defRPr sz="4000" b="1">
                <a:solidFill>
                  <a:schemeClr val="tx1"/>
                </a:solidFill>
                <a:latin typeface="隶书" pitchFamily="49" charset="-122"/>
                <a:ea typeface="隶书" pitchFamily="49" charset="-122"/>
              </a:defRPr>
            </a:lvl4pPr>
            <a:lvl5pPr algn="l" rtl="0" eaLnBrk="1" fontAlgn="base" hangingPunct="1">
              <a:spcBef>
                <a:spcPct val="0"/>
              </a:spcBef>
              <a:spcAft>
                <a:spcPct val="0"/>
              </a:spcAft>
              <a:defRPr sz="4000" b="1">
                <a:solidFill>
                  <a:schemeClr val="tx1"/>
                </a:solidFill>
                <a:latin typeface="隶书" pitchFamily="49" charset="-122"/>
                <a:ea typeface="隶书" pitchFamily="49" charset="-122"/>
              </a:defRPr>
            </a:lvl5pPr>
            <a:lvl6pPr marL="457146" algn="l" rtl="0" eaLnBrk="1" fontAlgn="base" hangingPunct="1">
              <a:spcBef>
                <a:spcPct val="0"/>
              </a:spcBef>
              <a:spcAft>
                <a:spcPct val="0"/>
              </a:spcAft>
              <a:defRPr sz="4000" b="1">
                <a:solidFill>
                  <a:schemeClr val="tx1"/>
                </a:solidFill>
                <a:latin typeface="隶书" pitchFamily="49" charset="-122"/>
                <a:ea typeface="隶书" pitchFamily="49" charset="-122"/>
              </a:defRPr>
            </a:lvl6pPr>
            <a:lvl7pPr marL="914293" algn="l" rtl="0" eaLnBrk="1" fontAlgn="base" hangingPunct="1">
              <a:spcBef>
                <a:spcPct val="0"/>
              </a:spcBef>
              <a:spcAft>
                <a:spcPct val="0"/>
              </a:spcAft>
              <a:defRPr sz="4000" b="1">
                <a:solidFill>
                  <a:schemeClr val="tx1"/>
                </a:solidFill>
                <a:latin typeface="隶书" pitchFamily="49" charset="-122"/>
                <a:ea typeface="隶书" pitchFamily="49" charset="-122"/>
              </a:defRPr>
            </a:lvl7pPr>
            <a:lvl8pPr marL="1371440" algn="l" rtl="0" eaLnBrk="1" fontAlgn="base" hangingPunct="1">
              <a:spcBef>
                <a:spcPct val="0"/>
              </a:spcBef>
              <a:spcAft>
                <a:spcPct val="0"/>
              </a:spcAft>
              <a:defRPr sz="4000" b="1">
                <a:solidFill>
                  <a:schemeClr val="tx1"/>
                </a:solidFill>
                <a:latin typeface="隶书" pitchFamily="49" charset="-122"/>
                <a:ea typeface="隶书" pitchFamily="49" charset="-122"/>
              </a:defRPr>
            </a:lvl8pPr>
            <a:lvl9pPr marL="1828586" algn="l" rtl="0" eaLnBrk="1" fontAlgn="base" hangingPunct="1">
              <a:spcBef>
                <a:spcPct val="0"/>
              </a:spcBef>
              <a:spcAft>
                <a:spcPct val="0"/>
              </a:spcAft>
              <a:defRPr sz="4000" b="1">
                <a:solidFill>
                  <a:schemeClr val="tx1"/>
                </a:solidFill>
                <a:latin typeface="隶书" pitchFamily="49" charset="-122"/>
                <a:ea typeface="隶书" pitchFamily="49" charset="-122"/>
              </a:defRPr>
            </a:lvl9pPr>
          </a:lstStyle>
          <a:p>
            <a:pPr algn="ctr">
              <a:defRPr/>
            </a:pPr>
            <a:r>
              <a:rPr lang="zh-CN" altLang="en-US" sz="6000" kern="0" dirty="0">
                <a:solidFill>
                  <a:srgbClr val="C00000"/>
                </a:solidFill>
                <a:latin typeface="Times New Roman" panose="02020603050405020304" pitchFamily="18" charset="0"/>
                <a:cs typeface="Times New Roman" panose="02020603050405020304" pitchFamily="18" charset="0"/>
              </a:rPr>
              <a:t>第二章 </a:t>
            </a:r>
            <a:r>
              <a:rPr lang="en-US" altLang="zh-CN" sz="6000" kern="0" dirty="0">
                <a:solidFill>
                  <a:srgbClr val="C00000"/>
                </a:solidFill>
                <a:latin typeface="Times New Roman" panose="02020603050405020304" pitchFamily="18" charset="0"/>
                <a:cs typeface="Times New Roman" panose="02020603050405020304" pitchFamily="18" charset="0"/>
              </a:rPr>
              <a:t>OpenGL</a:t>
            </a:r>
            <a:r>
              <a:rPr lang="zh-CN" altLang="en-US" sz="6000" kern="0" dirty="0">
                <a:solidFill>
                  <a:srgbClr val="C00000"/>
                </a:solidFill>
                <a:latin typeface="Times New Roman" panose="02020603050405020304" pitchFamily="18" charset="0"/>
                <a:cs typeface="Times New Roman" panose="02020603050405020304" pitchFamily="18" charset="0"/>
              </a:rPr>
              <a:t>编程技术</a:t>
            </a:r>
          </a:p>
        </p:txBody>
      </p:sp>
      <p:pic>
        <p:nvPicPr>
          <p:cNvPr id="2" name="图片 1">
            <a:extLst>
              <a:ext uri="{FF2B5EF4-FFF2-40B4-BE49-F238E27FC236}">
                <a16:creationId xmlns:a16="http://schemas.microsoft.com/office/drawing/2014/main" id="{BFB91983-5103-4FBB-9383-C0F130DFB98E}"/>
              </a:ext>
            </a:extLst>
          </p:cNvPr>
          <p:cNvPicPr>
            <a:picLocks noChangeAspect="1"/>
          </p:cNvPicPr>
          <p:nvPr/>
        </p:nvPicPr>
        <p:blipFill rotWithShape="1">
          <a:blip r:embed="rId3"/>
          <a:srcRect l="3423" t="13713" r="65525" b="48942"/>
          <a:stretch/>
        </p:blipFill>
        <p:spPr>
          <a:xfrm>
            <a:off x="954825" y="3877707"/>
            <a:ext cx="1440160" cy="1368152"/>
          </a:xfrm>
          <a:prstGeom prst="rect">
            <a:avLst/>
          </a:prstGeom>
        </p:spPr>
      </p:pic>
      <p:pic>
        <p:nvPicPr>
          <p:cNvPr id="5" name="图片 4">
            <a:extLst>
              <a:ext uri="{FF2B5EF4-FFF2-40B4-BE49-F238E27FC236}">
                <a16:creationId xmlns:a16="http://schemas.microsoft.com/office/drawing/2014/main" id="{9CF5B495-4C41-4E32-BC0D-8C24E25F5792}"/>
              </a:ext>
            </a:extLst>
          </p:cNvPr>
          <p:cNvPicPr>
            <a:picLocks noChangeAspect="1"/>
          </p:cNvPicPr>
          <p:nvPr/>
        </p:nvPicPr>
        <p:blipFill rotWithShape="1">
          <a:blip r:embed="rId3"/>
          <a:srcRect l="36027" t="13713" r="36026" b="46976"/>
          <a:stretch/>
        </p:blipFill>
        <p:spPr>
          <a:xfrm>
            <a:off x="4906047" y="3877707"/>
            <a:ext cx="1296144" cy="1440160"/>
          </a:xfrm>
          <a:prstGeom prst="rect">
            <a:avLst/>
          </a:prstGeom>
        </p:spPr>
      </p:pic>
      <p:pic>
        <p:nvPicPr>
          <p:cNvPr id="7" name="图片 6">
            <a:extLst>
              <a:ext uri="{FF2B5EF4-FFF2-40B4-BE49-F238E27FC236}">
                <a16:creationId xmlns:a16="http://schemas.microsoft.com/office/drawing/2014/main" id="{382BF083-1D24-48BE-9380-72340AB917E9}"/>
              </a:ext>
            </a:extLst>
          </p:cNvPr>
          <p:cNvPicPr>
            <a:picLocks noChangeAspect="1"/>
          </p:cNvPicPr>
          <p:nvPr/>
        </p:nvPicPr>
        <p:blipFill rotWithShape="1">
          <a:blip r:embed="rId3"/>
          <a:srcRect l="66463" t="13713" r="3422" b="48942"/>
          <a:stretch/>
        </p:blipFill>
        <p:spPr>
          <a:xfrm>
            <a:off x="8569237" y="3877707"/>
            <a:ext cx="1396759" cy="1368152"/>
          </a:xfrm>
          <a:prstGeom prst="rect">
            <a:avLst/>
          </a:prstGeom>
        </p:spPr>
      </p:pic>
      <p:pic>
        <p:nvPicPr>
          <p:cNvPr id="8" name="图片 7">
            <a:extLst>
              <a:ext uri="{FF2B5EF4-FFF2-40B4-BE49-F238E27FC236}">
                <a16:creationId xmlns:a16="http://schemas.microsoft.com/office/drawing/2014/main" id="{1303CAD7-7ADB-49C1-9D63-D275D7534286}"/>
              </a:ext>
            </a:extLst>
          </p:cNvPr>
          <p:cNvPicPr>
            <a:picLocks noChangeAspect="1"/>
          </p:cNvPicPr>
          <p:nvPr/>
        </p:nvPicPr>
        <p:blipFill rotWithShape="1">
          <a:blip r:embed="rId3"/>
          <a:srcRect l="3423" t="53024" r="65525" b="10689"/>
          <a:stretch/>
        </p:blipFill>
        <p:spPr>
          <a:xfrm>
            <a:off x="2930436" y="3877707"/>
            <a:ext cx="1440160" cy="1329378"/>
          </a:xfrm>
          <a:prstGeom prst="rect">
            <a:avLst/>
          </a:prstGeom>
        </p:spPr>
      </p:pic>
      <p:pic>
        <p:nvPicPr>
          <p:cNvPr id="9" name="图片 8">
            <a:extLst>
              <a:ext uri="{FF2B5EF4-FFF2-40B4-BE49-F238E27FC236}">
                <a16:creationId xmlns:a16="http://schemas.microsoft.com/office/drawing/2014/main" id="{380DDCC2-91DA-48C9-84DA-C3C9A767FC34}"/>
              </a:ext>
            </a:extLst>
          </p:cNvPr>
          <p:cNvPicPr>
            <a:picLocks noChangeAspect="1"/>
          </p:cNvPicPr>
          <p:nvPr/>
        </p:nvPicPr>
        <p:blipFill rotWithShape="1">
          <a:blip r:embed="rId3"/>
          <a:srcRect l="36027" t="53024" r="36026" b="10689"/>
          <a:stretch/>
        </p:blipFill>
        <p:spPr>
          <a:xfrm>
            <a:off x="6737642" y="3877707"/>
            <a:ext cx="1296144" cy="1329378"/>
          </a:xfrm>
          <a:prstGeom prst="rect">
            <a:avLst/>
          </a:prstGeom>
        </p:spPr>
      </p:pic>
      <p:pic>
        <p:nvPicPr>
          <p:cNvPr id="11" name="图片 10">
            <a:extLst>
              <a:ext uri="{FF2B5EF4-FFF2-40B4-BE49-F238E27FC236}">
                <a16:creationId xmlns:a16="http://schemas.microsoft.com/office/drawing/2014/main" id="{0CAB1E8D-6C23-438F-9FE6-EC8A59002D71}"/>
              </a:ext>
            </a:extLst>
          </p:cNvPr>
          <p:cNvPicPr>
            <a:picLocks noChangeAspect="1"/>
          </p:cNvPicPr>
          <p:nvPr/>
        </p:nvPicPr>
        <p:blipFill rotWithShape="1">
          <a:blip r:embed="rId3"/>
          <a:srcRect l="66463" t="53024" r="3422" b="10689"/>
          <a:stretch/>
        </p:blipFill>
        <p:spPr>
          <a:xfrm>
            <a:off x="10501445" y="3933098"/>
            <a:ext cx="1396759" cy="1329378"/>
          </a:xfrm>
          <a:prstGeom prst="rect">
            <a:avLst/>
          </a:prstGeom>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zh-CN" altLang="en-US">
                <a:cs typeface="+mj-cs"/>
              </a:rPr>
              <a:t>内容提要</a:t>
            </a:r>
          </a:p>
        </p:txBody>
      </p:sp>
      <p:sp>
        <p:nvSpPr>
          <p:cNvPr id="226307" name="Rectangle 3">
            <a:extLst>
              <a:ext uri="{FF2B5EF4-FFF2-40B4-BE49-F238E27FC236}">
                <a16:creationId xmlns:a16="http://schemas.microsoft.com/office/drawing/2014/main" id="{5891AF65-0976-49E1-8E23-D6D369B39622}"/>
              </a:ext>
            </a:extLst>
          </p:cNvPr>
          <p:cNvSpPr>
            <a:spLocks noGrp="1" noChangeArrowheads="1"/>
          </p:cNvSpPr>
          <p:nvPr>
            <p:ph idx="4294967295"/>
          </p:nvPr>
        </p:nvSpPr>
        <p:spPr>
          <a:xfrm>
            <a:off x="2063552" y="980728"/>
            <a:ext cx="8286750" cy="5185510"/>
          </a:xfrm>
        </p:spPr>
        <p:txBody>
          <a:bodyPr/>
          <a:lstStyle/>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什么是</a:t>
            </a:r>
            <a:r>
              <a:rPr lang="en-US" altLang="zh-CN" dirty="0">
                <a:latin typeface="Times New Roman" panose="02020603050405020304" pitchFamily="18" charset="0"/>
                <a:ea typeface="黑体" pitchFamily="49" charset="-122"/>
                <a:cs typeface="Times New Roman" panose="02020603050405020304" pitchFamily="18" charset="0"/>
              </a:rPr>
              <a:t>OpenGL</a:t>
            </a:r>
            <a:r>
              <a:rPr lang="zh-CN" altLang="en-US" dirty="0">
                <a:latin typeface="Times New Roman" panose="02020603050405020304" pitchFamily="18" charset="0"/>
                <a:ea typeface="黑体" pitchFamily="49" charset="-122"/>
                <a:cs typeface="Times New Roman" panose="02020603050405020304" pitchFamily="18" charset="0"/>
              </a:rPr>
              <a:t>？</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OpenGL</a:t>
            </a:r>
            <a:r>
              <a:rPr lang="zh-CN" altLang="en-US" dirty="0">
                <a:latin typeface="Times New Roman" panose="02020603050405020304" pitchFamily="18" charset="0"/>
                <a:ea typeface="黑体" pitchFamily="49" charset="-122"/>
                <a:cs typeface="Times New Roman" panose="02020603050405020304" pitchFamily="18" charset="0"/>
              </a:rPr>
              <a:t>函数库</a:t>
            </a: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OpenGL</a:t>
            </a:r>
            <a:r>
              <a:rPr lang="zh-CN" altLang="en-US" dirty="0">
                <a:latin typeface="Times New Roman" panose="02020603050405020304" pitchFamily="18" charset="0"/>
                <a:ea typeface="黑体" pitchFamily="49" charset="-122"/>
                <a:cs typeface="Times New Roman" panose="02020603050405020304" pitchFamily="18" charset="0"/>
              </a:rPr>
              <a:t>编程规范</a:t>
            </a:r>
          </a:p>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二维图元绘制</a:t>
            </a:r>
          </a:p>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一个简单的</a:t>
            </a:r>
            <a:r>
              <a:rPr lang="en-US" altLang="zh-CN" dirty="0">
                <a:latin typeface="Times New Roman" panose="02020603050405020304" pitchFamily="18" charset="0"/>
                <a:ea typeface="黑体" pitchFamily="49" charset="-122"/>
                <a:cs typeface="Times New Roman" panose="02020603050405020304" pitchFamily="18" charset="0"/>
              </a:rPr>
              <a:t>OpenGL</a:t>
            </a:r>
            <a:r>
              <a:rPr lang="zh-CN" altLang="en-US" dirty="0">
                <a:latin typeface="Times New Roman" panose="02020603050405020304" pitchFamily="18" charset="0"/>
                <a:ea typeface="黑体" pitchFamily="49" charset="-122"/>
                <a:cs typeface="Times New Roman" panose="02020603050405020304" pitchFamily="18" charset="0"/>
              </a:rPr>
              <a:t>例子</a:t>
            </a:r>
            <a:endParaRPr lang="en-US" altLang="zh-CN" dirty="0">
              <a:latin typeface="Times New Roman" panose="02020603050405020304" pitchFamily="18" charset="0"/>
              <a:ea typeface="黑体" pitchFamily="49" charset="-122"/>
              <a:cs typeface="Times New Roman" panose="02020603050405020304" pitchFamily="18" charset="0"/>
            </a:endParaRPr>
          </a:p>
          <a:p>
            <a:pPr marL="514350" indent="-514350">
              <a:lnSpc>
                <a:spcPct val="150000"/>
              </a:lnSpc>
              <a:spcBef>
                <a:spcPts val="0"/>
              </a:spcBef>
              <a:buFont typeface="+mj-lt"/>
              <a:buAutoNum type="arabicPeriod"/>
              <a:defRPr/>
            </a:pPr>
            <a:r>
              <a:rPr lang="en-US" altLang="zh-CN" dirty="0">
                <a:latin typeface="Times New Roman" panose="02020603050405020304" pitchFamily="18" charset="0"/>
                <a:ea typeface="黑体" pitchFamily="49" charset="-122"/>
                <a:cs typeface="Times New Roman" panose="02020603050405020304" pitchFamily="18" charset="0"/>
              </a:rPr>
              <a:t>GLUT</a:t>
            </a:r>
            <a:r>
              <a:rPr lang="zh-CN" altLang="en-US" dirty="0">
                <a:latin typeface="Times New Roman" panose="02020603050405020304" pitchFamily="18" charset="0"/>
                <a:ea typeface="黑体" pitchFamily="49" charset="-122"/>
                <a:cs typeface="Times New Roman" panose="02020603050405020304" pitchFamily="18" charset="0"/>
              </a:rPr>
              <a:t>库与程序框架</a:t>
            </a:r>
            <a:endParaRPr lang="en-US" altLang="zh-CN" dirty="0">
              <a:latin typeface="Times New Roman" panose="02020603050405020304" pitchFamily="18" charset="0"/>
              <a:ea typeface="黑体" pitchFamily="49" charset="-122"/>
              <a:cs typeface="Times New Roman" panose="02020603050405020304" pitchFamily="18" charset="0"/>
            </a:endParaRPr>
          </a:p>
          <a:p>
            <a:pPr marL="514350" indent="-514350">
              <a:lnSpc>
                <a:spcPct val="150000"/>
              </a:lnSpc>
              <a:spcBef>
                <a:spcPts val="0"/>
              </a:spcBef>
              <a:buFont typeface="+mj-lt"/>
              <a:buAutoNum type="arabicPeriod"/>
              <a:defRPr/>
            </a:pPr>
            <a:r>
              <a:rPr lang="zh-CN" altLang="en-US" dirty="0">
                <a:ea typeface="黑体" pitchFamily="49" charset="-122"/>
              </a:rPr>
              <a:t>事件处理方法</a:t>
            </a:r>
            <a:r>
              <a:rPr lang="en-US" altLang="zh-CN" dirty="0">
                <a:ea typeface="黑体" pitchFamily="49" charset="-122"/>
              </a:rPr>
              <a:t>—</a:t>
            </a:r>
            <a:r>
              <a:rPr lang="zh-CN" altLang="en-US" dirty="0">
                <a:ea typeface="黑体" pitchFamily="49" charset="-122"/>
              </a:rPr>
              <a:t>回调函数</a:t>
            </a:r>
            <a:endParaRPr lang="en-US" altLang="zh-CN" dirty="0">
              <a:ea typeface="黑体" pitchFamily="49" charset="-122"/>
            </a:endParaRPr>
          </a:p>
          <a:p>
            <a:pPr marL="514350" indent="-514350">
              <a:lnSpc>
                <a:spcPct val="150000"/>
              </a:lnSpc>
              <a:spcBef>
                <a:spcPts val="0"/>
              </a:spcBef>
              <a:buFont typeface="+mj-lt"/>
              <a:buAutoNum type="arabicPeriod"/>
              <a:defRPr/>
            </a:pPr>
            <a:r>
              <a:rPr lang="zh-CN" altLang="en-US" dirty="0">
                <a:latin typeface="Times New Roman" panose="02020603050405020304" pitchFamily="18" charset="0"/>
                <a:ea typeface="黑体" pitchFamily="49" charset="-122"/>
                <a:cs typeface="Times New Roman" panose="02020603050405020304" pitchFamily="18" charset="0"/>
              </a:rPr>
              <a:t>选择与拾取</a:t>
            </a:r>
            <a:endParaRPr lang="en-US" altLang="zh-CN" dirty="0">
              <a:latin typeface="Times New Roman" panose="02020603050405020304" pitchFamily="18" charset="0"/>
              <a:ea typeface="黑体" pitchFamily="49" charset="-122"/>
              <a:cs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en-US" altLang="zh-CN" dirty="0">
                <a:latin typeface="Arial" pitchFamily="34" charset="0"/>
              </a:rPr>
              <a:t>1. </a:t>
            </a:r>
            <a:r>
              <a:rPr lang="zh-CN" altLang="en-US" dirty="0">
                <a:latin typeface="Arial" pitchFamily="34" charset="0"/>
              </a:rPr>
              <a:t>什么是</a:t>
            </a:r>
            <a:r>
              <a:rPr lang="en-US" altLang="zh-CN" dirty="0">
                <a:latin typeface="Arial" pitchFamily="34" charset="0"/>
              </a:rPr>
              <a:t>OpenGL</a:t>
            </a:r>
            <a:r>
              <a:rPr lang="zh-CN" altLang="en-US" dirty="0">
                <a:latin typeface="Arial" pitchFamily="34" charset="0"/>
              </a:rPr>
              <a:t>？</a:t>
            </a:r>
            <a:r>
              <a:rPr lang="en-US" altLang="zh-CN" dirty="0">
                <a:latin typeface="Arial" pitchFamily="34" charset="0"/>
              </a:rPr>
              <a:t>——</a:t>
            </a:r>
            <a:r>
              <a:rPr lang="zh-CN" altLang="en-US" dirty="0">
                <a:latin typeface="Arial" pitchFamily="34" charset="0"/>
              </a:rPr>
              <a:t>多种理解</a:t>
            </a:r>
            <a:endParaRPr lang="zh-CN" altLang="en-US" dirty="0">
              <a:cs typeface="+mj-cs"/>
            </a:endParaRPr>
          </a:p>
        </p:txBody>
      </p:sp>
      <p:sp>
        <p:nvSpPr>
          <p:cNvPr id="13" name="Rectangle 3">
            <a:extLst>
              <a:ext uri="{FF2B5EF4-FFF2-40B4-BE49-F238E27FC236}">
                <a16:creationId xmlns:a16="http://schemas.microsoft.com/office/drawing/2014/main" id="{3DF25C44-D71E-4078-95EF-670F11E99063}"/>
              </a:ext>
            </a:extLst>
          </p:cNvPr>
          <p:cNvSpPr txBox="1">
            <a:spLocks noChangeArrowheads="1"/>
          </p:cNvSpPr>
          <p:nvPr/>
        </p:nvSpPr>
        <p:spPr bwMode="auto">
          <a:xfrm>
            <a:off x="571334" y="1042517"/>
            <a:ext cx="7945437" cy="4914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buClr>
                <a:srgbClr val="5B0DAA"/>
              </a:buClr>
              <a:defRPr/>
            </a:pPr>
            <a:r>
              <a:rPr lang="zh-CN" altLang="en-US" kern="0" dirty="0">
                <a:solidFill>
                  <a:srgbClr val="000000"/>
                </a:solidFill>
                <a:latin typeface="Arial"/>
                <a:cs typeface="+mn-cs"/>
              </a:rPr>
              <a:t>如何理解</a:t>
            </a:r>
            <a:r>
              <a:rPr lang="en-US" altLang="zh-CN" kern="0" dirty="0">
                <a:solidFill>
                  <a:srgbClr val="000000"/>
                </a:solidFill>
                <a:latin typeface="Arial"/>
                <a:cs typeface="+mn-cs"/>
              </a:rPr>
              <a:t>OpenGL</a:t>
            </a:r>
            <a:r>
              <a:rPr lang="zh-CN" altLang="en-US" kern="0" dirty="0">
                <a:solidFill>
                  <a:srgbClr val="000000"/>
                </a:solidFill>
                <a:latin typeface="Arial"/>
                <a:cs typeface="+mn-cs"/>
              </a:rPr>
              <a:t>？</a:t>
            </a:r>
          </a:p>
        </p:txBody>
      </p:sp>
      <p:sp>
        <p:nvSpPr>
          <p:cNvPr id="14" name="Rectangle 4">
            <a:extLst>
              <a:ext uri="{FF2B5EF4-FFF2-40B4-BE49-F238E27FC236}">
                <a16:creationId xmlns:a16="http://schemas.microsoft.com/office/drawing/2014/main" id="{65BD0584-167A-40A4-99CC-CAB168A1BBFE}"/>
              </a:ext>
            </a:extLst>
          </p:cNvPr>
          <p:cNvSpPr>
            <a:spLocks noChangeArrowheads="1"/>
          </p:cNvSpPr>
          <p:nvPr/>
        </p:nvSpPr>
        <p:spPr bwMode="auto">
          <a:xfrm>
            <a:off x="839416" y="1824038"/>
            <a:ext cx="3240088" cy="576262"/>
          </a:xfrm>
          <a:prstGeom prst="rect">
            <a:avLst/>
          </a:prstGeom>
          <a:solidFill>
            <a:srgbClr val="FFD96D"/>
          </a:solidFill>
          <a:ln w="9525">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开放的图形程序库</a:t>
            </a:r>
          </a:p>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a:t>
            </a:r>
            <a:r>
              <a:rPr lang="en-US" altLang="zh-CN" sz="1800" b="1" kern="0">
                <a:solidFill>
                  <a:srgbClr val="000000"/>
                </a:solidFill>
                <a:effectLst>
                  <a:outerShdw blurRad="38100" dist="38100" dir="2700000" algn="tl">
                    <a:srgbClr val="FFFFFF"/>
                  </a:outerShdw>
                </a:effectLst>
                <a:latin typeface="黑体" pitchFamily="49" charset="-122"/>
                <a:ea typeface="黑体" pitchFamily="49" charset="-122"/>
              </a:rPr>
              <a:t>Open Graphics Library</a:t>
            </a: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a:t>
            </a:r>
          </a:p>
        </p:txBody>
      </p:sp>
      <p:sp>
        <p:nvSpPr>
          <p:cNvPr id="15" name="Rectangle 5">
            <a:extLst>
              <a:ext uri="{FF2B5EF4-FFF2-40B4-BE49-F238E27FC236}">
                <a16:creationId xmlns:a16="http://schemas.microsoft.com/office/drawing/2014/main" id="{587387A0-1E67-43E1-B3A9-BAFD45F3A44F}"/>
              </a:ext>
            </a:extLst>
          </p:cNvPr>
          <p:cNvSpPr>
            <a:spLocks noChangeArrowheads="1"/>
          </p:cNvSpPr>
          <p:nvPr/>
        </p:nvSpPr>
        <p:spPr bwMode="auto">
          <a:xfrm>
            <a:off x="839416" y="3841751"/>
            <a:ext cx="3240088" cy="576263"/>
          </a:xfrm>
          <a:prstGeom prst="rect">
            <a:avLst/>
          </a:prstGeom>
          <a:solidFill>
            <a:srgbClr val="FFD96D"/>
          </a:solidFill>
          <a:ln w="9525">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图形硬件的软件接口</a:t>
            </a:r>
          </a:p>
        </p:txBody>
      </p:sp>
      <p:sp>
        <p:nvSpPr>
          <p:cNvPr id="16" name="Rectangle 6">
            <a:extLst>
              <a:ext uri="{FF2B5EF4-FFF2-40B4-BE49-F238E27FC236}">
                <a16:creationId xmlns:a16="http://schemas.microsoft.com/office/drawing/2014/main" id="{4608BD38-415B-4D8D-81D8-9DA3394B9CCF}"/>
              </a:ext>
            </a:extLst>
          </p:cNvPr>
          <p:cNvSpPr>
            <a:spLocks noChangeArrowheads="1"/>
          </p:cNvSpPr>
          <p:nvPr/>
        </p:nvSpPr>
        <p:spPr bwMode="auto">
          <a:xfrm>
            <a:off x="839416" y="2832101"/>
            <a:ext cx="3240088" cy="576263"/>
          </a:xfrm>
          <a:prstGeom prst="rect">
            <a:avLst/>
          </a:prstGeom>
          <a:solidFill>
            <a:srgbClr val="FFD96D"/>
          </a:solidFill>
          <a:ln w="9525">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图形应用程序编程接口</a:t>
            </a:r>
          </a:p>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（图形</a:t>
            </a:r>
            <a:r>
              <a:rPr lang="en-US" altLang="zh-CN" sz="1800" b="1" kern="0">
                <a:solidFill>
                  <a:srgbClr val="000000"/>
                </a:solidFill>
                <a:effectLst>
                  <a:outerShdw blurRad="38100" dist="38100" dir="2700000" algn="tl">
                    <a:srgbClr val="FFFFFF"/>
                  </a:outerShdw>
                </a:effectLst>
                <a:latin typeface="黑体" pitchFamily="49" charset="-122"/>
                <a:ea typeface="黑体" pitchFamily="49" charset="-122"/>
              </a:rPr>
              <a:t>API</a:t>
            </a:r>
            <a:r>
              <a:rPr lang="zh-CN" altLang="en-US" sz="1800" b="1" kern="0">
                <a:solidFill>
                  <a:srgbClr val="000000"/>
                </a:solidFill>
                <a:effectLst>
                  <a:outerShdw blurRad="38100" dist="38100" dir="2700000" algn="tl">
                    <a:srgbClr val="FFFFFF"/>
                  </a:outerShdw>
                </a:effectLst>
                <a:latin typeface="黑体" pitchFamily="49" charset="-122"/>
                <a:ea typeface="黑体" pitchFamily="49" charset="-122"/>
              </a:rPr>
              <a:t>）</a:t>
            </a:r>
          </a:p>
        </p:txBody>
      </p:sp>
      <p:sp>
        <p:nvSpPr>
          <p:cNvPr id="17" name="AutoShape 10">
            <a:extLst>
              <a:ext uri="{FF2B5EF4-FFF2-40B4-BE49-F238E27FC236}">
                <a16:creationId xmlns:a16="http://schemas.microsoft.com/office/drawing/2014/main" id="{C368B6C3-CC9C-43B4-B5D9-55E0D9A0A8D4}"/>
              </a:ext>
            </a:extLst>
          </p:cNvPr>
          <p:cNvSpPr>
            <a:spLocks noChangeArrowheads="1"/>
          </p:cNvSpPr>
          <p:nvPr/>
        </p:nvSpPr>
        <p:spPr bwMode="auto">
          <a:xfrm>
            <a:off x="6375445" y="2484275"/>
            <a:ext cx="5435177" cy="1804749"/>
          </a:xfrm>
          <a:prstGeom prst="wedgeRoundRectCallout">
            <a:avLst>
              <a:gd name="adj1" fmla="val -92675"/>
              <a:gd name="adj2" fmla="val -18635"/>
              <a:gd name="adj3" fmla="val 16667"/>
            </a:avLst>
          </a:prstGeom>
          <a:solidFill>
            <a:srgbClr val="FFD96D"/>
          </a:solidFill>
          <a:ln w="9525" algn="ctr">
            <a:solidFill>
              <a:srgbClr val="000000"/>
            </a:solidFill>
            <a:miter lim="800000"/>
            <a:headEnd/>
            <a:tailEnd/>
          </a:ln>
          <a:effectLst/>
        </p:spPr>
        <p:txBody>
          <a:bodyPr>
            <a:spAutoFit/>
          </a:bodyPr>
          <a:lstStyle/>
          <a:p>
            <a:pPr marL="304800" indent="-304800" eaLnBrk="1" fontAlgn="auto" hangingPunct="1">
              <a:spcBef>
                <a:spcPts val="600"/>
              </a:spcBef>
              <a:spcAft>
                <a:spcPts val="0"/>
              </a:spcAft>
              <a:buFontTx/>
              <a:buAutoNum type="arabicPeriod"/>
              <a:defRPr/>
            </a:pPr>
            <a:r>
              <a:rPr lang="zh-CN" altLang="en-US" sz="1800" b="1" kern="0" dirty="0">
                <a:solidFill>
                  <a:srgbClr val="000000"/>
                </a:solidFill>
                <a:effectLst>
                  <a:outerShdw blurRad="38100" dist="38100" dir="2700000" algn="tl">
                    <a:srgbClr val="FFFFFF"/>
                  </a:outerShdw>
                </a:effectLst>
                <a:ea typeface="黑体" pitchFamily="49" charset="-122"/>
              </a:rPr>
              <a:t>图形接口与实现分离；</a:t>
            </a:r>
          </a:p>
          <a:p>
            <a:pPr marL="304800" indent="-304800" eaLnBrk="1" fontAlgn="auto" hangingPunct="1">
              <a:spcBef>
                <a:spcPts val="600"/>
              </a:spcBef>
              <a:spcAft>
                <a:spcPts val="0"/>
              </a:spcAft>
              <a:defRPr/>
            </a:pPr>
            <a:r>
              <a:rPr lang="en-US" altLang="zh-CN" sz="1800" b="1" kern="0" dirty="0">
                <a:solidFill>
                  <a:srgbClr val="000000"/>
                </a:solidFill>
                <a:effectLst>
                  <a:outerShdw blurRad="38100" dist="38100" dir="2700000" algn="tl">
                    <a:srgbClr val="FFFFFF"/>
                  </a:outerShdw>
                </a:effectLst>
                <a:ea typeface="黑体" pitchFamily="49" charset="-122"/>
              </a:rPr>
              <a:t>2. </a:t>
            </a:r>
            <a:r>
              <a:rPr lang="zh-CN" altLang="en-US" sz="1800" b="1" kern="0" dirty="0">
                <a:solidFill>
                  <a:srgbClr val="000000"/>
                </a:solidFill>
                <a:effectLst>
                  <a:outerShdw blurRad="38100" dist="38100" dir="2700000" algn="tl">
                    <a:srgbClr val="FFFFFF"/>
                  </a:outerShdw>
                </a:effectLst>
                <a:ea typeface="黑体" pitchFamily="49" charset="-122"/>
              </a:rPr>
              <a:t>由</a:t>
            </a:r>
            <a:r>
              <a:rPr lang="en-US" altLang="zh-CN" sz="1800" b="1" kern="0" dirty="0">
                <a:solidFill>
                  <a:srgbClr val="000000"/>
                </a:solidFill>
                <a:effectLst>
                  <a:outerShdw blurRad="38100" dist="38100" dir="2700000" algn="tl">
                    <a:srgbClr val="FFFFFF"/>
                  </a:outerShdw>
                </a:effectLst>
                <a:ea typeface="黑体" pitchFamily="49" charset="-122"/>
              </a:rPr>
              <a:t>OpenGL ARB</a:t>
            </a:r>
            <a:r>
              <a:rPr lang="zh-CN" altLang="en-US" sz="1800" b="1" kern="0" dirty="0">
                <a:solidFill>
                  <a:srgbClr val="000000"/>
                </a:solidFill>
                <a:effectLst>
                  <a:outerShdw blurRad="38100" dist="38100" dir="2700000" algn="tl">
                    <a:srgbClr val="FFFFFF"/>
                  </a:outerShdw>
                </a:effectLst>
                <a:ea typeface="黑体" pitchFamily="49" charset="-122"/>
              </a:rPr>
              <a:t>制定</a:t>
            </a:r>
            <a:r>
              <a:rPr lang="en-US" altLang="zh-CN" sz="1800" b="1" kern="0" dirty="0">
                <a:solidFill>
                  <a:srgbClr val="000000"/>
                </a:solidFill>
                <a:effectLst>
                  <a:outerShdw blurRad="38100" dist="38100" dir="2700000" algn="tl">
                    <a:srgbClr val="FFFFFF"/>
                  </a:outerShdw>
                </a:effectLst>
                <a:ea typeface="黑体" pitchFamily="49" charset="-122"/>
              </a:rPr>
              <a:t>OpenGL API</a:t>
            </a:r>
            <a:r>
              <a:rPr lang="zh-CN" altLang="en-US" sz="1800" b="1" kern="0" dirty="0">
                <a:solidFill>
                  <a:srgbClr val="000000"/>
                </a:solidFill>
                <a:effectLst>
                  <a:outerShdw blurRad="38100" dist="38100" dir="2700000" algn="tl">
                    <a:srgbClr val="FFFFFF"/>
                  </a:outerShdw>
                </a:effectLst>
                <a:ea typeface="黑体" pitchFamily="49" charset="-122"/>
              </a:rPr>
              <a:t>标准；</a:t>
            </a:r>
          </a:p>
          <a:p>
            <a:pPr marL="304800" indent="-304800" eaLnBrk="1" fontAlgn="auto" hangingPunct="1">
              <a:spcBef>
                <a:spcPts val="600"/>
              </a:spcBef>
              <a:spcAft>
                <a:spcPts val="0"/>
              </a:spcAft>
              <a:defRPr/>
            </a:pPr>
            <a:r>
              <a:rPr lang="en-US" altLang="zh-CN" sz="1800" b="1" kern="0" dirty="0">
                <a:solidFill>
                  <a:srgbClr val="000000"/>
                </a:solidFill>
                <a:effectLst>
                  <a:outerShdw blurRad="38100" dist="38100" dir="2700000" algn="tl">
                    <a:srgbClr val="FFFFFF"/>
                  </a:outerShdw>
                </a:effectLst>
                <a:ea typeface="黑体" pitchFamily="49" charset="-122"/>
              </a:rPr>
              <a:t>3. </a:t>
            </a:r>
            <a:r>
              <a:rPr lang="zh-CN" altLang="en-US" sz="1800" b="1" kern="0" dirty="0">
                <a:solidFill>
                  <a:srgbClr val="000000"/>
                </a:solidFill>
                <a:effectLst>
                  <a:outerShdw blurRad="38100" dist="38100" dir="2700000" algn="tl">
                    <a:srgbClr val="FFFFFF"/>
                  </a:outerShdw>
                </a:effectLst>
                <a:ea typeface="黑体" pitchFamily="49" charset="-122"/>
              </a:rPr>
              <a:t>允许程序员开发包含交互式计算机图形操作的应用，而不必关注图形操作细节或任务系统细节（比如窗口处理和交互）</a:t>
            </a:r>
          </a:p>
        </p:txBody>
      </p:sp>
      <p:sp>
        <p:nvSpPr>
          <p:cNvPr id="18" name="AutoShape 11">
            <a:extLst>
              <a:ext uri="{FF2B5EF4-FFF2-40B4-BE49-F238E27FC236}">
                <a16:creationId xmlns:a16="http://schemas.microsoft.com/office/drawing/2014/main" id="{CA3EE077-1035-4238-901B-CEEF276B33F4}"/>
              </a:ext>
            </a:extLst>
          </p:cNvPr>
          <p:cNvSpPr>
            <a:spLocks noChangeArrowheads="1"/>
          </p:cNvSpPr>
          <p:nvPr/>
        </p:nvSpPr>
        <p:spPr bwMode="auto">
          <a:xfrm>
            <a:off x="6322241" y="4404812"/>
            <a:ext cx="5435177" cy="1413153"/>
          </a:xfrm>
          <a:prstGeom prst="wedgeRoundRectCallout">
            <a:avLst>
              <a:gd name="adj1" fmla="val -91287"/>
              <a:gd name="adj2" fmla="val -64581"/>
              <a:gd name="adj3" fmla="val 16667"/>
            </a:avLst>
          </a:prstGeom>
          <a:solidFill>
            <a:srgbClr val="FFD96D"/>
          </a:solidFill>
          <a:ln w="9525">
            <a:solidFill>
              <a:srgbClr val="000000"/>
            </a:solidFill>
            <a:miter lim="800000"/>
            <a:headEnd/>
            <a:tailEnd/>
          </a:ln>
          <a:effectLst/>
        </p:spPr>
        <p:txBody>
          <a:bodyPr>
            <a:spAutoFit/>
          </a:bodyPr>
          <a:lstStyle/>
          <a:p>
            <a:pPr marL="304800" indent="-304800" eaLnBrk="1" fontAlgn="auto" hangingPunct="1">
              <a:spcBef>
                <a:spcPts val="600"/>
              </a:spcBef>
              <a:spcAft>
                <a:spcPts val="0"/>
              </a:spcAft>
              <a:buFontTx/>
              <a:buAutoNum type="arabicPeriod"/>
              <a:defRPr/>
            </a:pPr>
            <a:r>
              <a:rPr lang="en-US" altLang="zh-CN" sz="1800" b="1" kern="0" dirty="0">
                <a:solidFill>
                  <a:srgbClr val="000000"/>
                </a:solidFill>
                <a:effectLst>
                  <a:outerShdw blurRad="38100" dist="38100" dir="2700000" algn="tl">
                    <a:srgbClr val="FFFFFF"/>
                  </a:outerShdw>
                </a:effectLst>
                <a:ea typeface="黑体" pitchFamily="49" charset="-122"/>
              </a:rPr>
              <a:t>OpenGL</a:t>
            </a:r>
            <a:r>
              <a:rPr lang="zh-CN" altLang="en-US" sz="1800" b="1" kern="0" dirty="0">
                <a:solidFill>
                  <a:srgbClr val="000000"/>
                </a:solidFill>
                <a:effectLst>
                  <a:outerShdw blurRad="38100" dist="38100" dir="2700000" algn="tl">
                    <a:srgbClr val="FFFFFF"/>
                  </a:outerShdw>
                </a:effectLst>
                <a:ea typeface="黑体" pitchFamily="49" charset="-122"/>
              </a:rPr>
              <a:t>非常接近于底层硬件，</a:t>
            </a:r>
            <a:r>
              <a:rPr lang="en-US" altLang="zh-CN" sz="1800" b="1" kern="0" dirty="0">
                <a:solidFill>
                  <a:srgbClr val="000000"/>
                </a:solidFill>
                <a:effectLst>
                  <a:outerShdw blurRad="38100" dist="38100" dir="2700000" algn="tl">
                    <a:srgbClr val="FFFFFF"/>
                  </a:outerShdw>
                </a:effectLst>
                <a:ea typeface="黑体" pitchFamily="49" charset="-122"/>
              </a:rPr>
              <a:t>OpenGL</a:t>
            </a:r>
            <a:r>
              <a:rPr lang="zh-CN" altLang="en-US" sz="1800" b="1" kern="0" dirty="0">
                <a:solidFill>
                  <a:srgbClr val="000000"/>
                </a:solidFill>
                <a:effectLst>
                  <a:outerShdw blurRad="38100" dist="38100" dir="2700000" algn="tl">
                    <a:srgbClr val="FFFFFF"/>
                  </a:outerShdw>
                </a:effectLst>
                <a:ea typeface="黑体" pitchFamily="49" charset="-122"/>
              </a:rPr>
              <a:t>的应用程序运行效率高；</a:t>
            </a:r>
          </a:p>
          <a:p>
            <a:pPr marL="304800" indent="-304800" eaLnBrk="1" fontAlgn="auto" hangingPunct="1">
              <a:spcBef>
                <a:spcPts val="600"/>
              </a:spcBef>
              <a:spcAft>
                <a:spcPts val="0"/>
              </a:spcAft>
              <a:defRPr/>
            </a:pPr>
            <a:r>
              <a:rPr lang="en-US" altLang="zh-CN" sz="1800" b="1" kern="0" dirty="0">
                <a:solidFill>
                  <a:srgbClr val="000000"/>
                </a:solidFill>
                <a:effectLst>
                  <a:outerShdw blurRad="38100" dist="38100" dir="2700000" algn="tl">
                    <a:srgbClr val="FFFFFF"/>
                  </a:outerShdw>
                </a:effectLst>
                <a:ea typeface="黑体" pitchFamily="49" charset="-122"/>
              </a:rPr>
              <a:t>2. </a:t>
            </a:r>
            <a:r>
              <a:rPr lang="zh-CN" altLang="en-US" sz="1800" b="1" kern="0" dirty="0">
                <a:solidFill>
                  <a:srgbClr val="000000"/>
                </a:solidFill>
                <a:effectLst>
                  <a:outerShdw blurRad="38100" dist="38100" dir="2700000" algn="tl">
                    <a:srgbClr val="FFFFFF"/>
                  </a:outerShdw>
                </a:effectLst>
                <a:ea typeface="黑体" pitchFamily="49" charset="-122"/>
              </a:rPr>
              <a:t>作为标准的图形软件接口，</a:t>
            </a:r>
            <a:r>
              <a:rPr lang="en-US" altLang="zh-CN" sz="1800" b="1" kern="0" dirty="0">
                <a:solidFill>
                  <a:srgbClr val="000000"/>
                </a:solidFill>
                <a:effectLst>
                  <a:outerShdw blurRad="38100" dist="38100" dir="2700000" algn="tl">
                    <a:srgbClr val="FFFFFF"/>
                  </a:outerShdw>
                </a:effectLst>
                <a:ea typeface="黑体" pitchFamily="49" charset="-122"/>
              </a:rPr>
              <a:t>OpenGL</a:t>
            </a:r>
            <a:r>
              <a:rPr lang="zh-CN" altLang="en-US" sz="1800" b="1" kern="0" dirty="0">
                <a:solidFill>
                  <a:srgbClr val="000000"/>
                </a:solidFill>
                <a:effectLst>
                  <a:outerShdw blurRad="38100" dist="38100" dir="2700000" algn="tl">
                    <a:srgbClr val="FFFFFF"/>
                  </a:outerShdw>
                </a:effectLst>
                <a:ea typeface="黑体" pitchFamily="49" charset="-122"/>
              </a:rPr>
              <a:t>屏蔽了与不同图形硬件交互的复杂性，易于掌握和使用。</a:t>
            </a:r>
          </a:p>
        </p:txBody>
      </p:sp>
      <p:sp>
        <p:nvSpPr>
          <p:cNvPr id="19" name="AutoShape 9">
            <a:extLst>
              <a:ext uri="{FF2B5EF4-FFF2-40B4-BE49-F238E27FC236}">
                <a16:creationId xmlns:a16="http://schemas.microsoft.com/office/drawing/2014/main" id="{7C520018-9431-43A8-84C5-5CDFBA9DA347}"/>
              </a:ext>
            </a:extLst>
          </p:cNvPr>
          <p:cNvSpPr>
            <a:spLocks noChangeArrowheads="1"/>
          </p:cNvSpPr>
          <p:nvPr/>
        </p:nvSpPr>
        <p:spPr bwMode="auto">
          <a:xfrm>
            <a:off x="6375445" y="1193603"/>
            <a:ext cx="5435177" cy="1106686"/>
          </a:xfrm>
          <a:prstGeom prst="wedgeRoundRectCallout">
            <a:avLst>
              <a:gd name="adj1" fmla="val -91832"/>
              <a:gd name="adj2" fmla="val 18055"/>
              <a:gd name="adj3" fmla="val 16667"/>
            </a:avLst>
          </a:prstGeom>
          <a:solidFill>
            <a:srgbClr val="FFD96D"/>
          </a:solidFill>
          <a:ln w="9525" algn="ctr">
            <a:solidFill>
              <a:srgbClr val="000000"/>
            </a:solidFill>
            <a:miter lim="800000"/>
            <a:headEnd/>
            <a:tailEnd/>
          </a:ln>
          <a:effectLst/>
        </p:spPr>
        <p:txBody>
          <a:bodyPr wrap="square">
            <a:spAutoFit/>
          </a:bodyPr>
          <a:lstStyle/>
          <a:p>
            <a:pPr marL="261938" indent="-261938" eaLnBrk="1" fontAlgn="auto" hangingPunct="1">
              <a:spcBef>
                <a:spcPts val="600"/>
              </a:spcBef>
              <a:spcAft>
                <a:spcPts val="0"/>
              </a:spcAft>
              <a:defRPr/>
            </a:pPr>
            <a:r>
              <a:rPr lang="en-US" altLang="zh-CN" sz="1800" b="1" kern="0" dirty="0">
                <a:solidFill>
                  <a:srgbClr val="000000"/>
                </a:solidFill>
                <a:effectLst>
                  <a:outerShdw blurRad="38100" dist="38100" dir="2700000" algn="tl">
                    <a:srgbClr val="FFFFFF"/>
                  </a:outerShdw>
                </a:effectLst>
                <a:ea typeface="黑体" pitchFamily="49" charset="-122"/>
              </a:rPr>
              <a:t>1.</a:t>
            </a:r>
            <a:r>
              <a:rPr lang="zh-CN" altLang="en-US" sz="1800" b="1" kern="0" dirty="0">
                <a:solidFill>
                  <a:srgbClr val="000000"/>
                </a:solidFill>
                <a:effectLst>
                  <a:outerShdw blurRad="38100" dist="38100" dir="2700000" algn="tl">
                    <a:srgbClr val="FFFFFF"/>
                  </a:outerShdw>
                </a:effectLst>
                <a:ea typeface="黑体" pitchFamily="49" charset="-122"/>
              </a:rPr>
              <a:t>图形软件工具包</a:t>
            </a:r>
            <a:r>
              <a:rPr lang="en-US" altLang="zh-CN" sz="1800" b="1" kern="0" dirty="0">
                <a:solidFill>
                  <a:srgbClr val="000000"/>
                </a:solidFill>
                <a:effectLst>
                  <a:outerShdw blurRad="38100" dist="38100" dir="2700000" algn="tl">
                    <a:srgbClr val="FFFFFF"/>
                  </a:outerShdw>
                </a:effectLst>
                <a:ea typeface="黑体" pitchFamily="49" charset="-122"/>
              </a:rPr>
              <a:t>—— OpenGL</a:t>
            </a:r>
            <a:r>
              <a:rPr lang="zh-CN" altLang="en-US" sz="1800" b="1" kern="0" dirty="0">
                <a:solidFill>
                  <a:srgbClr val="000000"/>
                </a:solidFill>
                <a:effectLst>
                  <a:outerShdw blurRad="38100" dist="38100" dir="2700000" algn="tl">
                    <a:srgbClr val="FFFFFF"/>
                  </a:outerShdw>
                </a:effectLst>
                <a:ea typeface="黑体" pitchFamily="49" charset="-122"/>
              </a:rPr>
              <a:t>由</a:t>
            </a:r>
            <a:r>
              <a:rPr lang="en-US" altLang="zh-CN" sz="1800" b="1" kern="0" dirty="0">
                <a:solidFill>
                  <a:srgbClr val="000000"/>
                </a:solidFill>
                <a:effectLst>
                  <a:outerShdw blurRad="38100" dist="38100" dir="2700000" algn="tl">
                    <a:srgbClr val="FFFFFF"/>
                  </a:outerShdw>
                </a:effectLst>
                <a:ea typeface="黑体" pitchFamily="49" charset="-122"/>
              </a:rPr>
              <a:t>SGI</a:t>
            </a:r>
            <a:r>
              <a:rPr lang="zh-CN" altLang="en-US" sz="1800" b="1" kern="0" dirty="0">
                <a:solidFill>
                  <a:srgbClr val="000000"/>
                </a:solidFill>
                <a:effectLst>
                  <a:outerShdw blurRad="38100" dist="38100" dir="2700000" algn="tl">
                    <a:srgbClr val="FFFFFF"/>
                  </a:outerShdw>
                </a:effectLst>
                <a:ea typeface="黑体" pitchFamily="49" charset="-122"/>
              </a:rPr>
              <a:t>的</a:t>
            </a:r>
            <a:r>
              <a:rPr lang="en-US" altLang="zh-CN" sz="1800" b="1" kern="0" dirty="0">
                <a:solidFill>
                  <a:srgbClr val="000000"/>
                </a:solidFill>
                <a:effectLst>
                  <a:outerShdw blurRad="38100" dist="38100" dir="2700000" algn="tl">
                    <a:srgbClr val="FFFFFF"/>
                  </a:outerShdw>
                </a:effectLst>
                <a:ea typeface="黑体" pitchFamily="49" charset="-122"/>
              </a:rPr>
              <a:t>IRIS GL</a:t>
            </a:r>
            <a:r>
              <a:rPr lang="zh-CN" altLang="en-US" sz="1800" b="1" kern="0" dirty="0">
                <a:solidFill>
                  <a:srgbClr val="000000"/>
                </a:solidFill>
                <a:effectLst>
                  <a:outerShdw blurRad="38100" dist="38100" dir="2700000" algn="tl">
                    <a:srgbClr val="FFFFFF"/>
                  </a:outerShdw>
                </a:effectLst>
                <a:ea typeface="黑体" pitchFamily="49" charset="-122"/>
              </a:rPr>
              <a:t>发展而来；</a:t>
            </a:r>
          </a:p>
          <a:p>
            <a:pPr marL="261938" indent="-261938" eaLnBrk="1" fontAlgn="auto" hangingPunct="1">
              <a:spcBef>
                <a:spcPts val="600"/>
              </a:spcBef>
              <a:spcAft>
                <a:spcPts val="0"/>
              </a:spcAft>
              <a:defRPr/>
            </a:pPr>
            <a:r>
              <a:rPr lang="en-US" altLang="zh-CN" sz="1800" b="1" kern="0" dirty="0">
                <a:solidFill>
                  <a:srgbClr val="000000"/>
                </a:solidFill>
                <a:effectLst>
                  <a:outerShdw blurRad="38100" dist="38100" dir="2700000" algn="tl">
                    <a:srgbClr val="FFFFFF"/>
                  </a:outerShdw>
                </a:effectLst>
                <a:ea typeface="黑体" pitchFamily="49" charset="-122"/>
              </a:rPr>
              <a:t>2. </a:t>
            </a:r>
            <a:r>
              <a:rPr lang="zh-CN" altLang="en-US" sz="1800" b="1" kern="0" dirty="0">
                <a:solidFill>
                  <a:srgbClr val="000000"/>
                </a:solidFill>
                <a:effectLst>
                  <a:outerShdw blurRad="38100" dist="38100" dir="2700000" algn="tl">
                    <a:srgbClr val="FFFFFF"/>
                  </a:outerShdw>
                </a:effectLst>
                <a:ea typeface="黑体" pitchFamily="49" charset="-122"/>
              </a:rPr>
              <a:t>“开放” </a:t>
            </a:r>
            <a:r>
              <a:rPr lang="en-US" altLang="zh-CN" sz="1800" b="1" kern="0" dirty="0">
                <a:solidFill>
                  <a:srgbClr val="000000"/>
                </a:solidFill>
                <a:effectLst>
                  <a:outerShdw blurRad="38100" dist="38100" dir="2700000" algn="tl">
                    <a:srgbClr val="FFFFFF"/>
                  </a:outerShdw>
                </a:effectLst>
                <a:ea typeface="黑体" pitchFamily="49" charset="-122"/>
              </a:rPr>
              <a:t>——</a:t>
            </a:r>
            <a:r>
              <a:rPr lang="zh-CN" altLang="en-US" sz="1800" b="1" kern="0" dirty="0">
                <a:solidFill>
                  <a:srgbClr val="000000"/>
                </a:solidFill>
                <a:effectLst>
                  <a:outerShdw blurRad="38100" dist="38100" dir="2700000" algn="tl">
                    <a:srgbClr val="FFFFFF"/>
                  </a:outerShdw>
                </a:effectLst>
                <a:ea typeface="黑体" pitchFamily="49" charset="-122"/>
              </a:rPr>
              <a:t>可移植性（跨平台、跨语言）</a:t>
            </a:r>
          </a:p>
        </p:txBody>
      </p:sp>
      <p:pic>
        <p:nvPicPr>
          <p:cNvPr id="20" name="Picture 2" descr="http://pic.baike.soso.com/p/20130610/bki-20130610190513-436988104.jpg">
            <a:extLst>
              <a:ext uri="{FF2B5EF4-FFF2-40B4-BE49-F238E27FC236}">
                <a16:creationId xmlns:a16="http://schemas.microsoft.com/office/drawing/2014/main" id="{B8D68103-0FBA-4935-8956-68B444620317}"/>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1334" y="4955830"/>
            <a:ext cx="11525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7">
            <a:extLst>
              <a:ext uri="{FF2B5EF4-FFF2-40B4-BE49-F238E27FC236}">
                <a16:creationId xmlns:a16="http://schemas.microsoft.com/office/drawing/2014/main" id="{EF2185BD-7AF5-423C-8292-87D43E1BED2E}"/>
              </a:ext>
            </a:extLst>
          </p:cNvPr>
          <p:cNvSpPr>
            <a:spLocks noChangeArrowheads="1"/>
          </p:cNvSpPr>
          <p:nvPr/>
        </p:nvSpPr>
        <p:spPr bwMode="auto">
          <a:xfrm>
            <a:off x="2346552" y="5243960"/>
            <a:ext cx="3240088" cy="576263"/>
          </a:xfrm>
          <a:prstGeom prst="rect">
            <a:avLst/>
          </a:prstGeom>
          <a:solidFill>
            <a:srgbClr val="FFD96D"/>
          </a:solidFill>
          <a:ln w="9525">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800" b="1" kern="0" dirty="0">
                <a:solidFill>
                  <a:srgbClr val="000000"/>
                </a:solidFill>
                <a:effectLst>
                  <a:outerShdw blurRad="38100" dist="38100" dir="2700000" algn="tl">
                    <a:srgbClr val="FFFFFF"/>
                  </a:outerShdw>
                </a:effectLst>
                <a:latin typeface="黑体" pitchFamily="49" charset="-122"/>
                <a:ea typeface="黑体" pitchFamily="49" charset="-122"/>
              </a:rPr>
              <a:t>一种编程语言吗？</a:t>
            </a:r>
          </a:p>
        </p:txBody>
      </p:sp>
    </p:spTree>
    <p:extLst>
      <p:ext uri="{BB962C8B-B14F-4D97-AF65-F5344CB8AC3E}">
        <p14:creationId xmlns:p14="http://schemas.microsoft.com/office/powerpoint/2010/main" val="40178229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4"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heel(4)">
                                      <p:cBhvr>
                                        <p:cTn id="39" dur="2000"/>
                                        <p:tgtEl>
                                          <p:spTgt spid="20"/>
                                        </p:tgtEl>
                                      </p:cBhvr>
                                    </p:animEffect>
                                  </p:childTnLst>
                                </p:cTn>
                              </p:par>
                            </p:childTnLst>
                          </p:cTn>
                        </p:par>
                        <p:par>
                          <p:cTn id="40" fill="hold">
                            <p:stCondLst>
                              <p:cond delay="2000"/>
                            </p:stCondLst>
                            <p:childTnLst>
                              <p:par>
                                <p:cTn id="41" presetID="2" presetClass="entr" presetSubtype="4"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zh-CN" altLang="en-US" dirty="0">
                <a:latin typeface="Arial" pitchFamily="34" charset="0"/>
              </a:rPr>
              <a:t>什么是</a:t>
            </a:r>
            <a:r>
              <a:rPr lang="en-US" altLang="zh-CN" dirty="0">
                <a:latin typeface="Arial" pitchFamily="34" charset="0"/>
              </a:rPr>
              <a:t>OpenGL</a:t>
            </a:r>
            <a:r>
              <a:rPr lang="zh-CN" altLang="en-US" dirty="0">
                <a:latin typeface="Arial" pitchFamily="34" charset="0"/>
              </a:rPr>
              <a:t>？</a:t>
            </a:r>
            <a:r>
              <a:rPr lang="en-US" altLang="zh-CN" dirty="0">
                <a:latin typeface="Arial" pitchFamily="34" charset="0"/>
              </a:rPr>
              <a:t>——</a:t>
            </a:r>
            <a:r>
              <a:rPr lang="zh-CN" altLang="en-US" dirty="0">
                <a:latin typeface="Arial" pitchFamily="34" charset="0"/>
              </a:rPr>
              <a:t>多种理解</a:t>
            </a:r>
            <a:endParaRPr lang="zh-CN" altLang="en-US" dirty="0">
              <a:cs typeface="+mj-cs"/>
            </a:endParaRPr>
          </a:p>
        </p:txBody>
      </p:sp>
      <p:sp>
        <p:nvSpPr>
          <p:cNvPr id="12" name="Rectangle 3">
            <a:extLst>
              <a:ext uri="{FF2B5EF4-FFF2-40B4-BE49-F238E27FC236}">
                <a16:creationId xmlns:a16="http://schemas.microsoft.com/office/drawing/2014/main" id="{08E2B636-B9F4-4D57-9961-5A00539262DF}"/>
              </a:ext>
            </a:extLst>
          </p:cNvPr>
          <p:cNvSpPr txBox="1">
            <a:spLocks noChangeArrowheads="1"/>
          </p:cNvSpPr>
          <p:nvPr/>
        </p:nvSpPr>
        <p:spPr>
          <a:xfrm>
            <a:off x="767408" y="1172369"/>
            <a:ext cx="11017739" cy="4513262"/>
          </a:xfrm>
          <a:prstGeom prst="rect">
            <a:avLst/>
          </a:prstGeom>
        </p:spPr>
        <p:txBody>
          <a:bodyPr/>
          <a:lst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a:lstStyle>
          <a:p>
            <a:pPr>
              <a:defRPr/>
            </a:pPr>
            <a:r>
              <a:rPr lang="en-US" altLang="zh-CN" kern="0" dirty="0">
                <a:ea typeface="黑体" pitchFamily="49" charset="-122"/>
              </a:rPr>
              <a:t>OpenGL</a:t>
            </a:r>
            <a:r>
              <a:rPr lang="zh-CN" altLang="en-US" kern="0" dirty="0">
                <a:ea typeface="黑体" pitchFamily="49" charset="-122"/>
              </a:rPr>
              <a:t>是</a:t>
            </a:r>
            <a:r>
              <a:rPr lang="en-US" altLang="zh-CN" kern="0" dirty="0">
                <a:solidFill>
                  <a:srgbClr val="FF0000"/>
                </a:solidFill>
                <a:ea typeface="黑体" pitchFamily="49" charset="-122"/>
              </a:rPr>
              <a:t>API</a:t>
            </a:r>
            <a:r>
              <a:rPr lang="zh-CN" altLang="en-US" kern="0" dirty="0">
                <a:ea typeface="黑体" pitchFamily="49" charset="-122"/>
              </a:rPr>
              <a:t>，而</a:t>
            </a:r>
            <a:r>
              <a:rPr lang="zh-CN" altLang="en-US" kern="0" dirty="0">
                <a:solidFill>
                  <a:srgbClr val="FF0000"/>
                </a:solidFill>
                <a:ea typeface="黑体" pitchFamily="49" charset="-122"/>
              </a:rPr>
              <a:t>不是编程语言</a:t>
            </a:r>
            <a:r>
              <a:rPr lang="zh-CN" altLang="en-US" kern="0" dirty="0">
                <a:ea typeface="黑体" pitchFamily="49" charset="-122"/>
              </a:rPr>
              <a:t>！</a:t>
            </a:r>
          </a:p>
          <a:p>
            <a:pPr lvl="1">
              <a:defRPr/>
            </a:pPr>
            <a:r>
              <a:rPr lang="zh-CN" altLang="en-US" sz="2200" kern="0" dirty="0">
                <a:ea typeface="黑体" pitchFamily="49" charset="-122"/>
              </a:rPr>
              <a:t>标准的编程函数库</a:t>
            </a:r>
          </a:p>
          <a:p>
            <a:pPr lvl="1">
              <a:defRPr/>
            </a:pPr>
            <a:r>
              <a:rPr lang="zh-CN" altLang="en-US" sz="2200" kern="0" dirty="0">
                <a:ea typeface="黑体" pitchFamily="49" charset="-122"/>
              </a:rPr>
              <a:t>遵循</a:t>
            </a:r>
            <a:r>
              <a:rPr lang="en-US" altLang="zh-CN" sz="2200" kern="0" dirty="0">
                <a:ea typeface="黑体" pitchFamily="49" charset="-122"/>
              </a:rPr>
              <a:t>C</a:t>
            </a:r>
            <a:r>
              <a:rPr lang="zh-CN" altLang="en-US" sz="2200" kern="0" dirty="0">
                <a:ea typeface="黑体" pitchFamily="49" charset="-122"/>
              </a:rPr>
              <a:t>语言调用约定</a:t>
            </a:r>
          </a:p>
          <a:p>
            <a:pPr lvl="1">
              <a:defRPr/>
            </a:pPr>
            <a:r>
              <a:rPr lang="zh-CN" altLang="en-US" sz="2200" kern="0" dirty="0">
                <a:ea typeface="黑体" pitchFamily="49" charset="-122"/>
              </a:rPr>
              <a:t>官方绑定语言</a:t>
            </a:r>
            <a:r>
              <a:rPr lang="en-US" altLang="zh-CN" sz="2200" kern="0" dirty="0">
                <a:ea typeface="黑体" pitchFamily="49" charset="-122"/>
              </a:rPr>
              <a:t>C/C++</a:t>
            </a:r>
            <a:r>
              <a:rPr lang="zh-CN" altLang="en-US" sz="2200" kern="0" dirty="0">
                <a:ea typeface="黑体" pitchFamily="49" charset="-122"/>
              </a:rPr>
              <a:t>、</a:t>
            </a:r>
            <a:r>
              <a:rPr lang="en-US" altLang="zh-CN" sz="2200" kern="0" dirty="0">
                <a:ea typeface="黑体" pitchFamily="49" charset="-122"/>
              </a:rPr>
              <a:t>Fortran</a:t>
            </a:r>
            <a:r>
              <a:rPr lang="zh-CN" altLang="en-US" sz="2200" kern="0" dirty="0">
                <a:ea typeface="黑体" pitchFamily="49" charset="-122"/>
              </a:rPr>
              <a:t>，非官方绑定有</a:t>
            </a:r>
            <a:r>
              <a:rPr lang="en-US" altLang="zh-CN" sz="2200" kern="0" dirty="0">
                <a:ea typeface="黑体" pitchFamily="49" charset="-122"/>
              </a:rPr>
              <a:t>Java</a:t>
            </a:r>
            <a:r>
              <a:rPr lang="zh-CN" altLang="en-US" sz="2200" kern="0" dirty="0">
                <a:ea typeface="黑体" pitchFamily="49" charset="-122"/>
              </a:rPr>
              <a:t>、</a:t>
            </a:r>
            <a:r>
              <a:rPr lang="en-US" altLang="zh-CN" sz="2200" kern="0" dirty="0">
                <a:ea typeface="黑体" pitchFamily="49" charset="-122"/>
              </a:rPr>
              <a:t>C#</a:t>
            </a:r>
            <a:r>
              <a:rPr lang="zh-CN" altLang="en-US" sz="2200" kern="0" dirty="0">
                <a:ea typeface="黑体" pitchFamily="49" charset="-122"/>
              </a:rPr>
              <a:t>、</a:t>
            </a:r>
            <a:r>
              <a:rPr lang="en-US" altLang="zh-CN" sz="2200" kern="0" dirty="0">
                <a:ea typeface="黑体" pitchFamily="49" charset="-122"/>
              </a:rPr>
              <a:t>Perl</a:t>
            </a:r>
            <a:r>
              <a:rPr lang="zh-CN" altLang="en-US" sz="2200" kern="0" dirty="0">
                <a:ea typeface="黑体" pitchFamily="49" charset="-122"/>
              </a:rPr>
              <a:t>、</a:t>
            </a:r>
            <a:r>
              <a:rPr lang="en-US" altLang="zh-CN" sz="2200" kern="0" dirty="0">
                <a:ea typeface="黑体" pitchFamily="49" charset="-122"/>
              </a:rPr>
              <a:t>Python</a:t>
            </a:r>
            <a:r>
              <a:rPr lang="zh-CN" altLang="en-US" sz="2200" kern="0" dirty="0">
                <a:ea typeface="黑体" pitchFamily="49" charset="-122"/>
              </a:rPr>
              <a:t>等</a:t>
            </a:r>
          </a:p>
          <a:p>
            <a:pPr>
              <a:defRPr/>
            </a:pPr>
            <a:r>
              <a:rPr lang="zh-CN" altLang="en-US" kern="0" dirty="0">
                <a:ea typeface="黑体" pitchFamily="49" charset="-122"/>
              </a:rPr>
              <a:t>使用</a:t>
            </a:r>
            <a:r>
              <a:rPr lang="en-US" altLang="zh-CN" kern="0" dirty="0">
                <a:ea typeface="黑体" pitchFamily="49" charset="-122"/>
              </a:rPr>
              <a:t>OpenGL</a:t>
            </a:r>
            <a:r>
              <a:rPr lang="zh-CN" altLang="en-US" kern="0" dirty="0">
                <a:ea typeface="黑体" pitchFamily="49" charset="-122"/>
              </a:rPr>
              <a:t>编写</a:t>
            </a:r>
            <a:r>
              <a:rPr lang="zh-CN" altLang="en-US" kern="0" dirty="0">
                <a:solidFill>
                  <a:srgbClr val="FF0000"/>
                </a:solidFill>
                <a:ea typeface="黑体" pitchFamily="49" charset="-122"/>
              </a:rPr>
              <a:t>图形</a:t>
            </a:r>
            <a:r>
              <a:rPr lang="zh-CN" altLang="en-US" kern="0" dirty="0">
                <a:ea typeface="黑体" pitchFamily="49" charset="-122"/>
              </a:rPr>
              <a:t>应用程序</a:t>
            </a:r>
          </a:p>
          <a:p>
            <a:pPr lvl="1">
              <a:defRPr/>
            </a:pPr>
            <a:r>
              <a:rPr lang="zh-CN" altLang="en-US" sz="2200" kern="0" dirty="0">
                <a:ea typeface="黑体" pitchFamily="49" charset="-122"/>
              </a:rPr>
              <a:t>宿主语言编写基本程序</a:t>
            </a:r>
          </a:p>
          <a:p>
            <a:pPr lvl="1">
              <a:defRPr/>
            </a:pPr>
            <a:r>
              <a:rPr lang="zh-CN" altLang="en-US" sz="2200" kern="0" dirty="0">
                <a:ea typeface="黑体" pitchFamily="49" charset="-122"/>
              </a:rPr>
              <a:t>调用</a:t>
            </a:r>
            <a:r>
              <a:rPr lang="en-US" altLang="zh-CN" sz="2200" kern="0" dirty="0">
                <a:ea typeface="黑体" pitchFamily="49" charset="-122"/>
              </a:rPr>
              <a:t>OpenGL </a:t>
            </a:r>
            <a:r>
              <a:rPr lang="zh-CN" altLang="en-US" sz="2200" kern="0" dirty="0">
                <a:ea typeface="黑体" pitchFamily="49" charset="-122"/>
              </a:rPr>
              <a:t>函数库进行图形绘制</a:t>
            </a:r>
          </a:p>
          <a:p>
            <a:pPr lvl="1">
              <a:defRPr/>
            </a:pPr>
            <a:r>
              <a:rPr lang="zh-CN" altLang="en-US" sz="2200" kern="0" dirty="0">
                <a:ea typeface="黑体" pitchFamily="49" charset="-122"/>
              </a:rPr>
              <a:t>调用其它图形程序包（</a:t>
            </a:r>
            <a:r>
              <a:rPr lang="en-US" altLang="zh-CN" sz="2200" kern="0" dirty="0">
                <a:ea typeface="黑体" pitchFamily="49" charset="-122"/>
              </a:rPr>
              <a:t>Windows GDI</a:t>
            </a:r>
            <a:r>
              <a:rPr lang="zh-CN" altLang="en-US" sz="2200" kern="0" dirty="0">
                <a:ea typeface="黑体" pitchFamily="49" charset="-122"/>
              </a:rPr>
              <a:t>等）</a:t>
            </a:r>
          </a:p>
        </p:txBody>
      </p:sp>
      <p:pic>
        <p:nvPicPr>
          <p:cNvPr id="22" name="Picture 2" descr="http://pic.baike.soso.com/p/20130610/bki-20130610190513-436988104.jpg">
            <a:extLst>
              <a:ext uri="{FF2B5EF4-FFF2-40B4-BE49-F238E27FC236}">
                <a16:creationId xmlns:a16="http://schemas.microsoft.com/office/drawing/2014/main" id="{D03566A8-7D6A-4018-A4EA-224F714CDCD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05851" y="1358901"/>
            <a:ext cx="11525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11367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heel(4)">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en-US" altLang="zh-CN" dirty="0">
                <a:solidFill>
                  <a:srgbClr val="C00000"/>
                </a:solidFill>
                <a:latin typeface="Arial" pitchFamily="34" charset="0"/>
              </a:rPr>
              <a:t>2. OpenGL</a:t>
            </a:r>
            <a:r>
              <a:rPr lang="zh-CN" altLang="en-US" dirty="0">
                <a:solidFill>
                  <a:srgbClr val="C00000"/>
                </a:solidFill>
                <a:latin typeface="Arial" pitchFamily="34" charset="0"/>
              </a:rPr>
              <a:t>函数库</a:t>
            </a:r>
            <a:endParaRPr lang="zh-CN" altLang="en-US" dirty="0">
              <a:solidFill>
                <a:srgbClr val="C00000"/>
              </a:solidFill>
            </a:endParaRPr>
          </a:p>
        </p:txBody>
      </p:sp>
      <p:sp>
        <p:nvSpPr>
          <p:cNvPr id="30" name="Freeform 43">
            <a:extLst>
              <a:ext uri="{FF2B5EF4-FFF2-40B4-BE49-F238E27FC236}">
                <a16:creationId xmlns:a16="http://schemas.microsoft.com/office/drawing/2014/main" id="{66F67A53-1308-430E-A627-2C7ACBBEB60E}"/>
              </a:ext>
            </a:extLst>
          </p:cNvPr>
          <p:cNvSpPr>
            <a:spLocks/>
          </p:cNvSpPr>
          <p:nvPr/>
        </p:nvSpPr>
        <p:spPr bwMode="gray">
          <a:xfrm>
            <a:off x="6597650" y="1219200"/>
            <a:ext cx="1466850" cy="1155700"/>
          </a:xfrm>
          <a:custGeom>
            <a:avLst/>
            <a:gdLst/>
            <a:ahLst/>
            <a:cxnLst>
              <a:cxn ang="0">
                <a:pos x="0" y="774"/>
              </a:cxn>
              <a:cxn ang="0">
                <a:pos x="2" y="770"/>
              </a:cxn>
              <a:cxn ang="0">
                <a:pos x="8" y="754"/>
              </a:cxn>
              <a:cxn ang="0">
                <a:pos x="16" y="730"/>
              </a:cxn>
              <a:cxn ang="0">
                <a:pos x="32" y="698"/>
              </a:cxn>
              <a:cxn ang="0">
                <a:pos x="50" y="660"/>
              </a:cxn>
              <a:cxn ang="0">
                <a:pos x="76" y="618"/>
              </a:cxn>
              <a:cxn ang="0">
                <a:pos x="106" y="574"/>
              </a:cxn>
              <a:cxn ang="0">
                <a:pos x="142" y="528"/>
              </a:cxn>
              <a:cxn ang="0">
                <a:pos x="186" y="482"/>
              </a:cxn>
              <a:cxn ang="0">
                <a:pos x="236" y="438"/>
              </a:cxn>
              <a:cxn ang="0">
                <a:pos x="294" y="398"/>
              </a:cxn>
              <a:cxn ang="0">
                <a:pos x="360" y="360"/>
              </a:cxn>
              <a:cxn ang="0">
                <a:pos x="426" y="332"/>
              </a:cxn>
              <a:cxn ang="0">
                <a:pos x="488" y="314"/>
              </a:cxn>
              <a:cxn ang="0">
                <a:pos x="544" y="304"/>
              </a:cxn>
              <a:cxn ang="0">
                <a:pos x="594" y="300"/>
              </a:cxn>
              <a:cxn ang="0">
                <a:pos x="638" y="300"/>
              </a:cxn>
              <a:cxn ang="0">
                <a:pos x="678" y="304"/>
              </a:cxn>
              <a:cxn ang="0">
                <a:pos x="710" y="312"/>
              </a:cxn>
              <a:cxn ang="0">
                <a:pos x="736" y="320"/>
              </a:cxn>
              <a:cxn ang="0">
                <a:pos x="754" y="326"/>
              </a:cxn>
              <a:cxn ang="0">
                <a:pos x="766" y="332"/>
              </a:cxn>
              <a:cxn ang="0">
                <a:pos x="770" y="334"/>
              </a:cxn>
              <a:cxn ang="0">
                <a:pos x="680" y="476"/>
              </a:cxn>
              <a:cxn ang="0">
                <a:pos x="982" y="370"/>
              </a:cxn>
              <a:cxn ang="0">
                <a:pos x="912" y="0"/>
              </a:cxn>
              <a:cxn ang="0">
                <a:pos x="854" y="150"/>
              </a:cxn>
              <a:cxn ang="0">
                <a:pos x="850" y="148"/>
              </a:cxn>
              <a:cxn ang="0">
                <a:pos x="838" y="142"/>
              </a:cxn>
              <a:cxn ang="0">
                <a:pos x="822" y="134"/>
              </a:cxn>
              <a:cxn ang="0">
                <a:pos x="798" y="126"/>
              </a:cxn>
              <a:cxn ang="0">
                <a:pos x="768" y="120"/>
              </a:cxn>
              <a:cxn ang="0">
                <a:pos x="732" y="114"/>
              </a:cxn>
              <a:cxn ang="0">
                <a:pos x="692" y="110"/>
              </a:cxn>
              <a:cxn ang="0">
                <a:pos x="646" y="110"/>
              </a:cxn>
              <a:cxn ang="0">
                <a:pos x="596" y="116"/>
              </a:cxn>
              <a:cxn ang="0">
                <a:pos x="540" y="126"/>
              </a:cxn>
              <a:cxn ang="0">
                <a:pos x="482" y="146"/>
              </a:cxn>
              <a:cxn ang="0">
                <a:pos x="422" y="172"/>
              </a:cxn>
              <a:cxn ang="0">
                <a:pos x="356" y="210"/>
              </a:cxn>
              <a:cxn ang="0">
                <a:pos x="290" y="258"/>
              </a:cxn>
              <a:cxn ang="0">
                <a:pos x="230" y="310"/>
              </a:cxn>
              <a:cxn ang="0">
                <a:pos x="178" y="364"/>
              </a:cxn>
              <a:cxn ang="0">
                <a:pos x="136" y="422"/>
              </a:cxn>
              <a:cxn ang="0">
                <a:pos x="100" y="480"/>
              </a:cxn>
              <a:cxn ang="0">
                <a:pos x="72" y="536"/>
              </a:cxn>
              <a:cxn ang="0">
                <a:pos x="48" y="590"/>
              </a:cxn>
              <a:cxn ang="0">
                <a:pos x="30" y="640"/>
              </a:cxn>
              <a:cxn ang="0">
                <a:pos x="18" y="684"/>
              </a:cxn>
              <a:cxn ang="0">
                <a:pos x="8" y="722"/>
              </a:cxn>
              <a:cxn ang="0">
                <a:pos x="4" y="750"/>
              </a:cxn>
              <a:cxn ang="0">
                <a:pos x="0" y="768"/>
              </a:cxn>
              <a:cxn ang="0">
                <a:pos x="0" y="774"/>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CC0000">
                  <a:gamma/>
                  <a:tint val="90980"/>
                  <a:invGamma/>
                  <a:alpha val="32001"/>
                </a:srgbClr>
              </a:gs>
              <a:gs pos="100000">
                <a:srgbClr val="CC0000"/>
              </a:gs>
            </a:gsLst>
            <a:lin ang="0" scaled="1"/>
          </a:gradFill>
          <a:ln w="12700">
            <a:noFill/>
            <a:prstDash val="solid"/>
            <a:round/>
            <a:headEnd/>
            <a:tailEnd/>
          </a:ln>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31" name="Freeform 52">
            <a:extLst>
              <a:ext uri="{FF2B5EF4-FFF2-40B4-BE49-F238E27FC236}">
                <a16:creationId xmlns:a16="http://schemas.microsoft.com/office/drawing/2014/main" id="{4C8F8E80-FBE6-4CB9-A6AB-38AA90949CA4}"/>
              </a:ext>
            </a:extLst>
          </p:cNvPr>
          <p:cNvSpPr>
            <a:spLocks/>
          </p:cNvSpPr>
          <p:nvPr/>
        </p:nvSpPr>
        <p:spPr bwMode="gray">
          <a:xfrm>
            <a:off x="4016375" y="1720850"/>
            <a:ext cx="1466850" cy="1157288"/>
          </a:xfrm>
          <a:custGeom>
            <a:avLst/>
            <a:gdLst/>
            <a:ahLst/>
            <a:cxnLst>
              <a:cxn ang="0">
                <a:pos x="0" y="774"/>
              </a:cxn>
              <a:cxn ang="0">
                <a:pos x="2" y="770"/>
              </a:cxn>
              <a:cxn ang="0">
                <a:pos x="8" y="754"/>
              </a:cxn>
              <a:cxn ang="0">
                <a:pos x="16" y="730"/>
              </a:cxn>
              <a:cxn ang="0">
                <a:pos x="32" y="698"/>
              </a:cxn>
              <a:cxn ang="0">
                <a:pos x="50" y="660"/>
              </a:cxn>
              <a:cxn ang="0">
                <a:pos x="76" y="618"/>
              </a:cxn>
              <a:cxn ang="0">
                <a:pos x="106" y="574"/>
              </a:cxn>
              <a:cxn ang="0">
                <a:pos x="142" y="528"/>
              </a:cxn>
              <a:cxn ang="0">
                <a:pos x="186" y="482"/>
              </a:cxn>
              <a:cxn ang="0">
                <a:pos x="236" y="438"/>
              </a:cxn>
              <a:cxn ang="0">
                <a:pos x="294" y="398"/>
              </a:cxn>
              <a:cxn ang="0">
                <a:pos x="360" y="360"/>
              </a:cxn>
              <a:cxn ang="0">
                <a:pos x="426" y="332"/>
              </a:cxn>
              <a:cxn ang="0">
                <a:pos x="488" y="314"/>
              </a:cxn>
              <a:cxn ang="0">
                <a:pos x="544" y="304"/>
              </a:cxn>
              <a:cxn ang="0">
                <a:pos x="594" y="300"/>
              </a:cxn>
              <a:cxn ang="0">
                <a:pos x="638" y="300"/>
              </a:cxn>
              <a:cxn ang="0">
                <a:pos x="678" y="304"/>
              </a:cxn>
              <a:cxn ang="0">
                <a:pos x="710" y="312"/>
              </a:cxn>
              <a:cxn ang="0">
                <a:pos x="736" y="320"/>
              </a:cxn>
              <a:cxn ang="0">
                <a:pos x="754" y="326"/>
              </a:cxn>
              <a:cxn ang="0">
                <a:pos x="766" y="332"/>
              </a:cxn>
              <a:cxn ang="0">
                <a:pos x="770" y="334"/>
              </a:cxn>
              <a:cxn ang="0">
                <a:pos x="680" y="476"/>
              </a:cxn>
              <a:cxn ang="0">
                <a:pos x="982" y="370"/>
              </a:cxn>
              <a:cxn ang="0">
                <a:pos x="912" y="0"/>
              </a:cxn>
              <a:cxn ang="0">
                <a:pos x="854" y="150"/>
              </a:cxn>
              <a:cxn ang="0">
                <a:pos x="850" y="148"/>
              </a:cxn>
              <a:cxn ang="0">
                <a:pos x="838" y="142"/>
              </a:cxn>
              <a:cxn ang="0">
                <a:pos x="822" y="134"/>
              </a:cxn>
              <a:cxn ang="0">
                <a:pos x="798" y="126"/>
              </a:cxn>
              <a:cxn ang="0">
                <a:pos x="768" y="120"/>
              </a:cxn>
              <a:cxn ang="0">
                <a:pos x="732" y="114"/>
              </a:cxn>
              <a:cxn ang="0">
                <a:pos x="692" y="110"/>
              </a:cxn>
              <a:cxn ang="0">
                <a:pos x="646" y="110"/>
              </a:cxn>
              <a:cxn ang="0">
                <a:pos x="596" y="116"/>
              </a:cxn>
              <a:cxn ang="0">
                <a:pos x="540" y="126"/>
              </a:cxn>
              <a:cxn ang="0">
                <a:pos x="482" y="146"/>
              </a:cxn>
              <a:cxn ang="0">
                <a:pos x="422" y="172"/>
              </a:cxn>
              <a:cxn ang="0">
                <a:pos x="356" y="210"/>
              </a:cxn>
              <a:cxn ang="0">
                <a:pos x="290" y="258"/>
              </a:cxn>
              <a:cxn ang="0">
                <a:pos x="230" y="310"/>
              </a:cxn>
              <a:cxn ang="0">
                <a:pos x="178" y="364"/>
              </a:cxn>
              <a:cxn ang="0">
                <a:pos x="136" y="422"/>
              </a:cxn>
              <a:cxn ang="0">
                <a:pos x="100" y="480"/>
              </a:cxn>
              <a:cxn ang="0">
                <a:pos x="72" y="536"/>
              </a:cxn>
              <a:cxn ang="0">
                <a:pos x="48" y="590"/>
              </a:cxn>
              <a:cxn ang="0">
                <a:pos x="30" y="640"/>
              </a:cxn>
              <a:cxn ang="0">
                <a:pos x="18" y="684"/>
              </a:cxn>
              <a:cxn ang="0">
                <a:pos x="8" y="722"/>
              </a:cxn>
              <a:cxn ang="0">
                <a:pos x="4" y="750"/>
              </a:cxn>
              <a:cxn ang="0">
                <a:pos x="0" y="768"/>
              </a:cxn>
              <a:cxn ang="0">
                <a:pos x="0" y="774"/>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rgbClr val="002060">
                  <a:gamma/>
                  <a:tint val="57647"/>
                  <a:invGamma/>
                  <a:alpha val="32001"/>
                </a:srgbClr>
              </a:gs>
              <a:gs pos="100000">
                <a:srgbClr val="002060"/>
              </a:gs>
            </a:gsLst>
            <a:lin ang="0" scaled="1"/>
          </a:gradFill>
          <a:ln w="12700">
            <a:noFill/>
            <a:prstDash val="solid"/>
            <a:round/>
            <a:headEnd/>
            <a:tailEnd/>
          </a:ln>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grpSp>
        <p:nvGrpSpPr>
          <p:cNvPr id="32" name="组合 31">
            <a:extLst>
              <a:ext uri="{FF2B5EF4-FFF2-40B4-BE49-F238E27FC236}">
                <a16:creationId xmlns:a16="http://schemas.microsoft.com/office/drawing/2014/main" id="{8032FD04-7608-4CAA-A28B-D437E0E2FCA0}"/>
              </a:ext>
            </a:extLst>
          </p:cNvPr>
          <p:cNvGrpSpPr/>
          <p:nvPr/>
        </p:nvGrpSpPr>
        <p:grpSpPr>
          <a:xfrm>
            <a:off x="8345929" y="1916832"/>
            <a:ext cx="2646615" cy="3867498"/>
            <a:chOff x="6245865" y="2009774"/>
            <a:chExt cx="2519363" cy="3324225"/>
          </a:xfrm>
        </p:grpSpPr>
        <p:sp>
          <p:nvSpPr>
            <p:cNvPr id="33" name="AutoShape 56">
              <a:extLst>
                <a:ext uri="{FF2B5EF4-FFF2-40B4-BE49-F238E27FC236}">
                  <a16:creationId xmlns:a16="http://schemas.microsoft.com/office/drawing/2014/main" id="{63E76D0F-49A6-4767-A9A5-D1355BFB0CAD}"/>
                </a:ext>
              </a:extLst>
            </p:cNvPr>
            <p:cNvSpPr>
              <a:spLocks noChangeArrowheads="1"/>
            </p:cNvSpPr>
            <p:nvPr/>
          </p:nvSpPr>
          <p:spPr bwMode="auto">
            <a:xfrm>
              <a:off x="6245865" y="2178049"/>
              <a:ext cx="2519363" cy="3155950"/>
            </a:xfrm>
            <a:prstGeom prst="roundRect">
              <a:avLst>
                <a:gd name="adj" fmla="val 4690"/>
              </a:avLst>
            </a:prstGeom>
            <a:noFill/>
            <a:ln w="57150">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34" name="AutoShape 57">
              <a:extLst>
                <a:ext uri="{FF2B5EF4-FFF2-40B4-BE49-F238E27FC236}">
                  <a16:creationId xmlns:a16="http://schemas.microsoft.com/office/drawing/2014/main" id="{1941B6E5-934D-48CB-8039-9AAE6C14F4F4}"/>
                </a:ext>
              </a:extLst>
            </p:cNvPr>
            <p:cNvSpPr>
              <a:spLocks noChangeArrowheads="1"/>
            </p:cNvSpPr>
            <p:nvPr/>
          </p:nvSpPr>
          <p:spPr bwMode="gray">
            <a:xfrm>
              <a:off x="6549077" y="2035174"/>
              <a:ext cx="1863725" cy="287338"/>
            </a:xfrm>
            <a:prstGeom prst="roundRect">
              <a:avLst>
                <a:gd name="adj" fmla="val 50000"/>
              </a:avLst>
            </a:prstGeom>
            <a:gradFill rotWithShape="1">
              <a:gsLst>
                <a:gs pos="0">
                  <a:srgbClr val="002060">
                    <a:gamma/>
                    <a:shade val="38824"/>
                    <a:invGamma/>
                  </a:srgbClr>
                </a:gs>
                <a:gs pos="50000">
                  <a:srgbClr val="002060"/>
                </a:gs>
                <a:gs pos="100000">
                  <a:srgbClr val="002060">
                    <a:gamma/>
                    <a:shade val="38824"/>
                    <a:invGamma/>
                  </a:srgbClr>
                </a:gs>
              </a:gsLst>
              <a:lin ang="5400000" scaled="1"/>
            </a:gradFill>
            <a:ln w="9525">
              <a:noFill/>
              <a:round/>
              <a:headEnd/>
              <a:tailEnd/>
            </a:ln>
            <a:effectLst/>
          </p:spPr>
          <p:txBody>
            <a:bodyPr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35" name="AutoShape 58">
              <a:extLst>
                <a:ext uri="{FF2B5EF4-FFF2-40B4-BE49-F238E27FC236}">
                  <a16:creationId xmlns:a16="http://schemas.microsoft.com/office/drawing/2014/main" id="{BE848851-1E61-4866-B57B-805F89DD1759}"/>
                </a:ext>
              </a:extLst>
            </p:cNvPr>
            <p:cNvSpPr>
              <a:spLocks noChangeArrowheads="1"/>
            </p:cNvSpPr>
            <p:nvPr/>
          </p:nvSpPr>
          <p:spPr bwMode="auto">
            <a:xfrm flipH="1">
              <a:off x="8233415" y="2106612"/>
              <a:ext cx="71437" cy="144462"/>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36" name="AutoShape 59">
              <a:extLst>
                <a:ext uri="{FF2B5EF4-FFF2-40B4-BE49-F238E27FC236}">
                  <a16:creationId xmlns:a16="http://schemas.microsoft.com/office/drawing/2014/main" id="{C7867A8D-DA06-4BF7-93CE-BD3F6C764845}"/>
                </a:ext>
              </a:extLst>
            </p:cNvPr>
            <p:cNvSpPr>
              <a:spLocks noChangeArrowheads="1"/>
            </p:cNvSpPr>
            <p:nvPr/>
          </p:nvSpPr>
          <p:spPr bwMode="auto">
            <a:xfrm flipH="1">
              <a:off x="6650677" y="2106612"/>
              <a:ext cx="73025" cy="144462"/>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37" name="Text Box 60">
              <a:extLst>
                <a:ext uri="{FF2B5EF4-FFF2-40B4-BE49-F238E27FC236}">
                  <a16:creationId xmlns:a16="http://schemas.microsoft.com/office/drawing/2014/main" id="{6A7A205C-C7ED-420E-AA0B-537B73A7E26B}"/>
                </a:ext>
              </a:extLst>
            </p:cNvPr>
            <p:cNvSpPr txBox="1">
              <a:spLocks noChangeArrowheads="1"/>
            </p:cNvSpPr>
            <p:nvPr/>
          </p:nvSpPr>
          <p:spPr bwMode="gray">
            <a:xfrm>
              <a:off x="6618969" y="2009774"/>
              <a:ext cx="1701716" cy="264543"/>
            </a:xfrm>
            <a:prstGeom prst="rect">
              <a:avLst/>
            </a:prstGeom>
            <a:noFill/>
            <a:ln w="9525" algn="ctr">
              <a:noFill/>
              <a:miter lim="800000"/>
              <a:headEnd/>
              <a:tailEnd/>
            </a:ln>
            <a:effectLst/>
          </p:spPr>
          <p:txBody>
            <a:bodyPr wrap="none">
              <a:spAutoFit/>
            </a:bodyPr>
            <a:lstStyle/>
            <a:p>
              <a:pPr algn="ctr" eaLnBrk="1" fontAlgn="auto" hangingPunct="1">
                <a:spcBef>
                  <a:spcPts val="0"/>
                </a:spcBef>
                <a:spcAft>
                  <a:spcPts val="0"/>
                </a:spcAft>
                <a:defRPr/>
              </a:pPr>
              <a:r>
                <a:rPr lang="en-US" altLang="zh-CN" sz="1400" b="1" kern="0">
                  <a:solidFill>
                    <a:srgbClr val="FFFFFF"/>
                  </a:solidFill>
                  <a:effectLst>
                    <a:outerShdw blurRad="38100" dist="38100" dir="2700000" algn="tl">
                      <a:srgbClr val="C0C0C0"/>
                    </a:outerShdw>
                  </a:effectLst>
                  <a:ea typeface="宋体" pitchFamily="2" charset="-122"/>
                </a:rPr>
                <a:t>OpenGL</a:t>
              </a:r>
              <a:r>
                <a:rPr lang="zh-CN" altLang="en-US" sz="1400" b="1" kern="0">
                  <a:solidFill>
                    <a:srgbClr val="FFFFFF"/>
                  </a:solidFill>
                  <a:effectLst>
                    <a:outerShdw blurRad="38100" dist="38100" dir="2700000" algn="tl">
                      <a:srgbClr val="C0C0C0"/>
                    </a:outerShdw>
                  </a:effectLst>
                  <a:ea typeface="宋体" pitchFamily="2" charset="-122"/>
                </a:rPr>
                <a:t>实用工具包</a:t>
              </a:r>
            </a:p>
          </p:txBody>
        </p:sp>
        <p:sp>
          <p:nvSpPr>
            <p:cNvPr id="38" name="Text Box 61">
              <a:extLst>
                <a:ext uri="{FF2B5EF4-FFF2-40B4-BE49-F238E27FC236}">
                  <a16:creationId xmlns:a16="http://schemas.microsoft.com/office/drawing/2014/main" id="{F65AB3D4-E7EB-4FDA-A14C-AB780F45E6CF}"/>
                </a:ext>
              </a:extLst>
            </p:cNvPr>
            <p:cNvSpPr txBox="1">
              <a:spLocks noChangeArrowheads="1"/>
            </p:cNvSpPr>
            <p:nvPr/>
          </p:nvSpPr>
          <p:spPr bwMode="auto">
            <a:xfrm>
              <a:off x="6390327" y="2549500"/>
              <a:ext cx="2339975" cy="2546279"/>
            </a:xfrm>
            <a:prstGeom prst="rect">
              <a:avLst/>
            </a:prstGeom>
            <a:noFill/>
            <a:ln w="9525" algn="ctr">
              <a:noFill/>
              <a:miter lim="800000"/>
              <a:headEnd/>
              <a:tailEnd/>
            </a:ln>
            <a:effectLst/>
          </p:spPr>
          <p:txBody>
            <a:bodyPr>
              <a:spAutoFit/>
            </a:bodyPr>
            <a:lstStyle/>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函数以“</a:t>
              </a:r>
              <a:r>
                <a:rPr lang="en-US" altLang="zh-CN" sz="1800" b="1" kern="0" dirty="0">
                  <a:solidFill>
                    <a:srgbClr val="FF0000"/>
                  </a:solidFill>
                  <a:effectLst>
                    <a:outerShdw blurRad="38100" dist="38100" dir="2700000" algn="tl">
                      <a:srgbClr val="C0C0C0"/>
                    </a:outerShdw>
                  </a:effectLst>
                  <a:ea typeface="宋体" pitchFamily="2" charset="-122"/>
                </a:rPr>
                <a:t>glut</a:t>
              </a:r>
              <a:r>
                <a:rPr lang="en-US" altLang="zh-CN" sz="1800" b="1" kern="0" dirty="0">
                  <a:solidFill>
                    <a:srgbClr val="000000"/>
                  </a:solidFill>
                  <a:effectLst>
                    <a:outerShdw blurRad="38100" dist="38100" dir="2700000" algn="tl">
                      <a:srgbClr val="C0C0C0"/>
                    </a:outerShdw>
                  </a:effectLst>
                  <a:ea typeface="宋体" pitchFamily="2" charset="-122"/>
                </a:rPr>
                <a:t>”</a:t>
              </a:r>
              <a:r>
                <a:rPr lang="zh-CN" altLang="en-US" sz="1800" b="1" kern="0" dirty="0">
                  <a:solidFill>
                    <a:srgbClr val="000000"/>
                  </a:solidFill>
                  <a:effectLst>
                    <a:outerShdw blurRad="38100" dist="38100" dir="2700000" algn="tl">
                      <a:srgbClr val="C0C0C0"/>
                    </a:outerShdw>
                  </a:effectLst>
                  <a:ea typeface="宋体" pitchFamily="2" charset="-122"/>
                </a:rPr>
                <a:t>为前缀</a:t>
              </a:r>
            </a:p>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主要功能</a:t>
              </a:r>
              <a:r>
                <a:rPr lang="zh-CN" altLang="zh-CN" sz="1800" b="1" kern="0" dirty="0">
                  <a:solidFill>
                    <a:srgbClr val="000000"/>
                  </a:solidFill>
                  <a:effectLst>
                    <a:outerShdw blurRad="38100" dist="38100" dir="2700000" algn="tl">
                      <a:srgbClr val="C0C0C0"/>
                    </a:outerShdw>
                  </a:effectLst>
                  <a:ea typeface="宋体" pitchFamily="2" charset="-122"/>
                </a:rPr>
                <a:t>：</a:t>
              </a:r>
              <a:r>
                <a:rPr lang="zh-CN" altLang="en-US" sz="1800" b="1" kern="0" dirty="0">
                  <a:solidFill>
                    <a:srgbClr val="000000"/>
                  </a:solidFill>
                  <a:effectLst>
                    <a:outerShdw blurRad="38100" dist="38100" dir="2700000" algn="tl">
                      <a:srgbClr val="C0C0C0"/>
                    </a:outerShdw>
                  </a:effectLst>
                  <a:ea typeface="宋体" pitchFamily="2" charset="-122"/>
                </a:rPr>
                <a:t>窗口创建与管理、用户交互（鼠标、键盘等），并提供基于事件驱动的窗口程序运行架构</a:t>
              </a:r>
              <a:endParaRPr lang="en-US" altLang="zh-CN" sz="1800" b="1" kern="0" dirty="0">
                <a:solidFill>
                  <a:srgbClr val="000000"/>
                </a:solidFill>
                <a:effectLst>
                  <a:outerShdw blurRad="38100" dist="38100" dir="2700000" algn="tl">
                    <a:srgbClr val="C0C0C0"/>
                  </a:outerShdw>
                </a:effectLst>
                <a:ea typeface="宋体" pitchFamily="2" charset="-122"/>
              </a:endParaRPr>
            </a:p>
            <a:p>
              <a:pPr marL="185738" indent="-185738" eaLnBrk="1" fontAlgn="auto" hangingPunct="1">
                <a:lnSpc>
                  <a:spcPct val="110000"/>
                </a:lnSpc>
                <a:spcBef>
                  <a:spcPts val="600"/>
                </a:spcBef>
                <a:spcAft>
                  <a:spcPts val="0"/>
                </a:spcAft>
                <a:buFont typeface="Wingdings" pitchFamily="2" charset="2"/>
                <a:buChar char="l"/>
                <a:defRPr/>
              </a:pPr>
              <a:r>
                <a:rPr lang="en-US" altLang="zh-CN" sz="1800" b="1" kern="0" dirty="0">
                  <a:solidFill>
                    <a:srgbClr val="000000"/>
                  </a:solidFill>
                  <a:effectLst>
                    <a:outerShdw blurRad="38100" dist="38100" dir="2700000" algn="tl">
                      <a:srgbClr val="C0C0C0"/>
                    </a:outerShdw>
                  </a:effectLst>
                  <a:ea typeface="宋体" pitchFamily="2" charset="-122"/>
                </a:rPr>
                <a:t>GLUT</a:t>
              </a:r>
              <a:r>
                <a:rPr lang="zh-CN" altLang="en-US" sz="1800" b="1" kern="0" dirty="0">
                  <a:solidFill>
                    <a:srgbClr val="000000"/>
                  </a:solidFill>
                  <a:effectLst>
                    <a:outerShdw blurRad="38100" dist="38100" dir="2700000" algn="tl">
                      <a:srgbClr val="C0C0C0"/>
                    </a:outerShdw>
                  </a:effectLst>
                  <a:ea typeface="宋体" pitchFamily="2" charset="-122"/>
                </a:rPr>
                <a:t>库独立于操作系统和窗口系统</a:t>
              </a:r>
            </a:p>
          </p:txBody>
        </p:sp>
      </p:grpSp>
      <p:grpSp>
        <p:nvGrpSpPr>
          <p:cNvPr id="39" name="组合 38">
            <a:extLst>
              <a:ext uri="{FF2B5EF4-FFF2-40B4-BE49-F238E27FC236}">
                <a16:creationId xmlns:a16="http://schemas.microsoft.com/office/drawing/2014/main" id="{1874B71B-3E32-4F80-8370-C34DFA863B4F}"/>
              </a:ext>
            </a:extLst>
          </p:cNvPr>
          <p:cNvGrpSpPr/>
          <p:nvPr/>
        </p:nvGrpSpPr>
        <p:grpSpPr>
          <a:xfrm>
            <a:off x="4843310" y="2486025"/>
            <a:ext cx="2674467" cy="3722930"/>
            <a:chOff x="3319309" y="2486025"/>
            <a:chExt cx="2519363" cy="3536353"/>
          </a:xfrm>
        </p:grpSpPr>
        <p:sp>
          <p:nvSpPr>
            <p:cNvPr id="40" name="AutoShape 44">
              <a:extLst>
                <a:ext uri="{FF2B5EF4-FFF2-40B4-BE49-F238E27FC236}">
                  <a16:creationId xmlns:a16="http://schemas.microsoft.com/office/drawing/2014/main" id="{BFBA232A-7A09-475B-B3AB-233AB56201E8}"/>
                </a:ext>
              </a:extLst>
            </p:cNvPr>
            <p:cNvSpPr>
              <a:spLocks noChangeArrowheads="1"/>
            </p:cNvSpPr>
            <p:nvPr/>
          </p:nvSpPr>
          <p:spPr bwMode="auto">
            <a:xfrm>
              <a:off x="3319309" y="2652712"/>
              <a:ext cx="2519363" cy="3359149"/>
            </a:xfrm>
            <a:prstGeom prst="roundRect">
              <a:avLst>
                <a:gd name="adj" fmla="val 4690"/>
              </a:avLst>
            </a:prstGeom>
            <a:noFill/>
            <a:ln w="57150">
              <a:solidFill>
                <a:srgbClr val="5B0DAA"/>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1" name="AutoShape 45">
              <a:extLst>
                <a:ext uri="{FF2B5EF4-FFF2-40B4-BE49-F238E27FC236}">
                  <a16:creationId xmlns:a16="http://schemas.microsoft.com/office/drawing/2014/main" id="{BB26C7F0-F0B9-4FD6-9C6F-848AF156108A}"/>
                </a:ext>
              </a:extLst>
            </p:cNvPr>
            <p:cNvSpPr>
              <a:spLocks noChangeArrowheads="1"/>
            </p:cNvSpPr>
            <p:nvPr/>
          </p:nvSpPr>
          <p:spPr bwMode="gray">
            <a:xfrm>
              <a:off x="3657600" y="2514600"/>
              <a:ext cx="1863725" cy="287338"/>
            </a:xfrm>
            <a:prstGeom prst="roundRect">
              <a:avLst>
                <a:gd name="adj" fmla="val 50000"/>
              </a:avLst>
            </a:prstGeom>
            <a:gradFill rotWithShape="1">
              <a:gsLst>
                <a:gs pos="0">
                  <a:srgbClr val="5B0DAA">
                    <a:gamma/>
                    <a:shade val="46275"/>
                    <a:invGamma/>
                  </a:srgbClr>
                </a:gs>
                <a:gs pos="50000">
                  <a:srgbClr val="5B0DAA"/>
                </a:gs>
                <a:gs pos="100000">
                  <a:srgbClr val="5B0DAA">
                    <a:gamma/>
                    <a:shade val="46275"/>
                    <a:invGamma/>
                  </a:srgbClr>
                </a:gs>
              </a:gsLst>
              <a:lin ang="5400000" scaled="1"/>
            </a:gradFill>
            <a:ln w="9525">
              <a:noFill/>
              <a:round/>
              <a:headEnd/>
              <a:tailEnd/>
            </a:ln>
            <a:effectLst/>
          </p:spPr>
          <p:txBody>
            <a:bodyPr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42" name="AutoShape 46">
              <a:extLst>
                <a:ext uri="{FF2B5EF4-FFF2-40B4-BE49-F238E27FC236}">
                  <a16:creationId xmlns:a16="http://schemas.microsoft.com/office/drawing/2014/main" id="{5B01DD4E-28C8-481F-A175-27D0AC4D93E1}"/>
                </a:ext>
              </a:extLst>
            </p:cNvPr>
            <p:cNvSpPr>
              <a:spLocks noChangeArrowheads="1"/>
            </p:cNvSpPr>
            <p:nvPr/>
          </p:nvSpPr>
          <p:spPr bwMode="auto">
            <a:xfrm flipH="1">
              <a:off x="5334000" y="2590800"/>
              <a:ext cx="73025" cy="144463"/>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3" name="AutoShape 47">
              <a:extLst>
                <a:ext uri="{FF2B5EF4-FFF2-40B4-BE49-F238E27FC236}">
                  <a16:creationId xmlns:a16="http://schemas.microsoft.com/office/drawing/2014/main" id="{85457913-AC5B-4B22-9870-8D5F8DCAEBBC}"/>
                </a:ext>
              </a:extLst>
            </p:cNvPr>
            <p:cNvSpPr>
              <a:spLocks noChangeArrowheads="1"/>
            </p:cNvSpPr>
            <p:nvPr/>
          </p:nvSpPr>
          <p:spPr bwMode="auto">
            <a:xfrm flipH="1">
              <a:off x="3743325" y="2581275"/>
              <a:ext cx="71438" cy="144463"/>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4" name="Text Box 53">
              <a:extLst>
                <a:ext uri="{FF2B5EF4-FFF2-40B4-BE49-F238E27FC236}">
                  <a16:creationId xmlns:a16="http://schemas.microsoft.com/office/drawing/2014/main" id="{00A05860-DBB5-46F6-ABE1-7E90C685D1B4}"/>
                </a:ext>
              </a:extLst>
            </p:cNvPr>
            <p:cNvSpPr txBox="1">
              <a:spLocks noChangeArrowheads="1"/>
            </p:cNvSpPr>
            <p:nvPr/>
          </p:nvSpPr>
          <p:spPr bwMode="gray">
            <a:xfrm>
              <a:off x="3895952" y="2486025"/>
              <a:ext cx="1345745" cy="292353"/>
            </a:xfrm>
            <a:prstGeom prst="rect">
              <a:avLst/>
            </a:prstGeom>
            <a:noFill/>
            <a:ln w="9525" algn="ctr">
              <a:noFill/>
              <a:miter lim="800000"/>
              <a:headEnd/>
              <a:tailEnd/>
            </a:ln>
            <a:effectLst/>
          </p:spPr>
          <p:txBody>
            <a:bodyPr wrap="none">
              <a:spAutoFit/>
            </a:bodyPr>
            <a:lstStyle/>
            <a:p>
              <a:pPr algn="ctr" eaLnBrk="1" fontAlgn="auto" hangingPunct="1">
                <a:spcBef>
                  <a:spcPts val="0"/>
                </a:spcBef>
                <a:spcAft>
                  <a:spcPts val="0"/>
                </a:spcAft>
                <a:defRPr/>
              </a:pPr>
              <a:r>
                <a:rPr lang="en-US" altLang="zh-CN" sz="1400" b="1" kern="0">
                  <a:solidFill>
                    <a:srgbClr val="FFFFFF"/>
                  </a:solidFill>
                  <a:effectLst>
                    <a:outerShdw blurRad="38100" dist="38100" dir="2700000" algn="tl">
                      <a:srgbClr val="C0C0C0"/>
                    </a:outerShdw>
                  </a:effectLst>
                  <a:ea typeface="宋体" pitchFamily="2" charset="-122"/>
                </a:rPr>
                <a:t>OpenGL</a:t>
              </a:r>
              <a:r>
                <a:rPr lang="zh-CN" altLang="en-US" sz="1400" b="1" kern="0">
                  <a:solidFill>
                    <a:srgbClr val="FFFFFF"/>
                  </a:solidFill>
                  <a:effectLst>
                    <a:outerShdw blurRad="38100" dist="38100" dir="2700000" algn="tl">
                      <a:srgbClr val="C0C0C0"/>
                    </a:outerShdw>
                  </a:effectLst>
                  <a:ea typeface="宋体" pitchFamily="2" charset="-122"/>
                </a:rPr>
                <a:t>实用库</a:t>
              </a:r>
            </a:p>
          </p:txBody>
        </p:sp>
        <p:sp>
          <p:nvSpPr>
            <p:cNvPr id="45" name="Text Box 62">
              <a:extLst>
                <a:ext uri="{FF2B5EF4-FFF2-40B4-BE49-F238E27FC236}">
                  <a16:creationId xmlns:a16="http://schemas.microsoft.com/office/drawing/2014/main" id="{7BD7AAA2-ED01-4AAB-92EA-8C914489FDC0}"/>
                </a:ext>
              </a:extLst>
            </p:cNvPr>
            <p:cNvSpPr txBox="1">
              <a:spLocks noChangeArrowheads="1"/>
            </p:cNvSpPr>
            <p:nvPr/>
          </p:nvSpPr>
          <p:spPr bwMode="auto">
            <a:xfrm>
              <a:off x="3397517" y="2918999"/>
              <a:ext cx="2322809" cy="3103379"/>
            </a:xfrm>
            <a:prstGeom prst="rect">
              <a:avLst/>
            </a:prstGeom>
            <a:noFill/>
            <a:ln w="9525" algn="ctr">
              <a:noFill/>
              <a:miter lim="800000"/>
              <a:headEnd/>
              <a:tailEnd/>
            </a:ln>
            <a:effectLst/>
          </p:spPr>
          <p:txBody>
            <a:bodyPr wrap="square">
              <a:spAutoFit/>
            </a:bodyPr>
            <a:lstStyle/>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函数以“</a:t>
              </a:r>
              <a:r>
                <a:rPr lang="en-US" altLang="zh-CN" sz="1800" b="1" kern="0" dirty="0" err="1">
                  <a:solidFill>
                    <a:srgbClr val="FF0000"/>
                  </a:solidFill>
                  <a:effectLst>
                    <a:outerShdw blurRad="38100" dist="38100" dir="2700000" algn="tl">
                      <a:srgbClr val="C0C0C0"/>
                    </a:outerShdw>
                  </a:effectLst>
                  <a:ea typeface="宋体" pitchFamily="2" charset="-122"/>
                </a:rPr>
                <a:t>glu</a:t>
              </a:r>
              <a:r>
                <a:rPr lang="en-US" altLang="zh-CN" sz="1800" b="1" kern="0" dirty="0">
                  <a:solidFill>
                    <a:srgbClr val="000000"/>
                  </a:solidFill>
                  <a:effectLst>
                    <a:outerShdw blurRad="38100" dist="38100" dir="2700000" algn="tl">
                      <a:srgbClr val="C0C0C0"/>
                    </a:outerShdw>
                  </a:effectLst>
                  <a:ea typeface="宋体" pitchFamily="2" charset="-122"/>
                </a:rPr>
                <a:t>”</a:t>
              </a:r>
              <a:r>
                <a:rPr lang="zh-CN" altLang="en-US" sz="1800" b="1" kern="0" dirty="0">
                  <a:solidFill>
                    <a:srgbClr val="000000"/>
                  </a:solidFill>
                  <a:effectLst>
                    <a:outerShdw blurRad="38100" dist="38100" dir="2700000" algn="tl">
                      <a:srgbClr val="C0C0C0"/>
                    </a:outerShdw>
                  </a:effectLst>
                  <a:ea typeface="宋体" pitchFamily="2" charset="-122"/>
                </a:rPr>
                <a:t>为前缀</a:t>
              </a:r>
            </a:p>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主要功能：绘制二次曲面、</a:t>
              </a:r>
              <a:r>
                <a:rPr lang="en-US" altLang="zh-CN" sz="1800" b="1" kern="0" dirty="0">
                  <a:solidFill>
                    <a:srgbClr val="000000"/>
                  </a:solidFill>
                  <a:effectLst>
                    <a:outerShdw blurRad="38100" dist="38100" dir="2700000" algn="tl">
                      <a:srgbClr val="C0C0C0"/>
                    </a:outerShdw>
                  </a:effectLst>
                  <a:ea typeface="宋体" pitchFamily="2" charset="-122"/>
                </a:rPr>
                <a:t>NURBS</a:t>
              </a:r>
              <a:r>
                <a:rPr lang="zh-CN" altLang="en-US" sz="1800" b="1" kern="0" dirty="0">
                  <a:solidFill>
                    <a:srgbClr val="000000"/>
                  </a:solidFill>
                  <a:effectLst>
                    <a:outerShdw blurRad="38100" dist="38100" dir="2700000" algn="tl">
                      <a:srgbClr val="C0C0C0"/>
                    </a:outerShdw>
                  </a:effectLst>
                  <a:ea typeface="宋体" pitchFamily="2" charset="-122"/>
                </a:rPr>
                <a:t>曲线曲面、复杂多边形以及纹理、矩阵管理等</a:t>
              </a:r>
            </a:p>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实用库中的所有函数全都使用</a:t>
              </a:r>
              <a:r>
                <a:rPr lang="en-US" altLang="zh-CN" sz="1800" b="1" kern="0" dirty="0">
                  <a:solidFill>
                    <a:srgbClr val="000000"/>
                  </a:solidFill>
                  <a:effectLst>
                    <a:outerShdw blurRad="38100" dist="38100" dir="2700000" algn="tl">
                      <a:srgbClr val="C0C0C0"/>
                    </a:outerShdw>
                  </a:effectLst>
                  <a:ea typeface="宋体" pitchFamily="2" charset="-122"/>
                </a:rPr>
                <a:t>OpenGL</a:t>
              </a:r>
              <a:r>
                <a:rPr lang="zh-CN" altLang="en-US" sz="1800" b="1" kern="0" dirty="0">
                  <a:solidFill>
                    <a:srgbClr val="000000"/>
                  </a:solidFill>
                  <a:effectLst>
                    <a:outerShdw blurRad="38100" dist="38100" dir="2700000" algn="tl">
                      <a:srgbClr val="C0C0C0"/>
                    </a:outerShdw>
                  </a:effectLst>
                  <a:ea typeface="宋体" pitchFamily="2" charset="-122"/>
                </a:rPr>
                <a:t>核心库函数来编写，使用上和</a:t>
              </a:r>
              <a:r>
                <a:rPr lang="en-US" altLang="zh-CN" sz="1800" b="1" kern="0" dirty="0">
                  <a:solidFill>
                    <a:srgbClr val="000000"/>
                  </a:solidFill>
                  <a:effectLst>
                    <a:outerShdw blurRad="38100" dist="38100" dir="2700000" algn="tl">
                      <a:srgbClr val="C0C0C0"/>
                    </a:outerShdw>
                  </a:effectLst>
                  <a:ea typeface="宋体" pitchFamily="2" charset="-122"/>
                </a:rPr>
                <a:t>OpenGL</a:t>
              </a:r>
              <a:r>
                <a:rPr lang="zh-CN" altLang="en-US" sz="1800" b="1" kern="0" dirty="0">
                  <a:solidFill>
                    <a:srgbClr val="000000"/>
                  </a:solidFill>
                  <a:effectLst>
                    <a:outerShdw blurRad="38100" dist="38100" dir="2700000" algn="tl">
                      <a:srgbClr val="C0C0C0"/>
                    </a:outerShdw>
                  </a:effectLst>
                  <a:ea typeface="宋体" pitchFamily="2" charset="-122"/>
                </a:rPr>
                <a:t>核心库完全相同</a:t>
              </a:r>
              <a:endParaRPr lang="en-US" altLang="zh-CN" sz="1800" b="1" kern="0" dirty="0">
                <a:solidFill>
                  <a:srgbClr val="000000"/>
                </a:solidFill>
                <a:effectLst>
                  <a:outerShdw blurRad="38100" dist="38100" dir="2700000" algn="tl">
                    <a:srgbClr val="C0C0C0"/>
                  </a:outerShdw>
                </a:effectLst>
                <a:ea typeface="宋体" pitchFamily="2" charset="-122"/>
              </a:endParaRPr>
            </a:p>
          </p:txBody>
        </p:sp>
      </p:grpSp>
      <p:grpSp>
        <p:nvGrpSpPr>
          <p:cNvPr id="46" name="组合 45">
            <a:extLst>
              <a:ext uri="{FF2B5EF4-FFF2-40B4-BE49-F238E27FC236}">
                <a16:creationId xmlns:a16="http://schemas.microsoft.com/office/drawing/2014/main" id="{D1271593-EC98-40D5-86C7-D1DE407407D5}"/>
              </a:ext>
            </a:extLst>
          </p:cNvPr>
          <p:cNvGrpSpPr/>
          <p:nvPr/>
        </p:nvGrpSpPr>
        <p:grpSpPr>
          <a:xfrm>
            <a:off x="1271464" y="2976683"/>
            <a:ext cx="2674467" cy="3548661"/>
            <a:chOff x="541338" y="2859420"/>
            <a:chExt cx="2456657" cy="3548661"/>
          </a:xfrm>
        </p:grpSpPr>
        <p:sp>
          <p:nvSpPr>
            <p:cNvPr id="47" name="AutoShape 48">
              <a:extLst>
                <a:ext uri="{FF2B5EF4-FFF2-40B4-BE49-F238E27FC236}">
                  <a16:creationId xmlns:a16="http://schemas.microsoft.com/office/drawing/2014/main" id="{3EA907A3-FDF8-4251-A45A-95D50FE24A09}"/>
                </a:ext>
              </a:extLst>
            </p:cNvPr>
            <p:cNvSpPr>
              <a:spLocks noChangeArrowheads="1"/>
            </p:cNvSpPr>
            <p:nvPr/>
          </p:nvSpPr>
          <p:spPr bwMode="auto">
            <a:xfrm>
              <a:off x="541338" y="3002294"/>
              <a:ext cx="2456657" cy="3359149"/>
            </a:xfrm>
            <a:prstGeom prst="roundRect">
              <a:avLst>
                <a:gd name="adj" fmla="val 4690"/>
              </a:avLst>
            </a:prstGeom>
            <a:noFill/>
            <a:ln w="5715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8" name="AutoShape 49">
              <a:extLst>
                <a:ext uri="{FF2B5EF4-FFF2-40B4-BE49-F238E27FC236}">
                  <a16:creationId xmlns:a16="http://schemas.microsoft.com/office/drawing/2014/main" id="{A69294E3-CE03-42DB-81F4-C35674D6C5FF}"/>
                </a:ext>
              </a:extLst>
            </p:cNvPr>
            <p:cNvSpPr>
              <a:spLocks noChangeArrowheads="1"/>
            </p:cNvSpPr>
            <p:nvPr/>
          </p:nvSpPr>
          <p:spPr bwMode="gray">
            <a:xfrm>
              <a:off x="832643" y="2876883"/>
              <a:ext cx="1863725" cy="287337"/>
            </a:xfrm>
            <a:prstGeom prst="roundRect">
              <a:avLst>
                <a:gd name="adj" fmla="val 50000"/>
              </a:avLst>
            </a:prstGeom>
            <a:gradFill rotWithShape="1">
              <a:gsLst>
                <a:gs pos="0">
                  <a:srgbClr val="CC0000">
                    <a:gamma/>
                    <a:shade val="46275"/>
                    <a:invGamma/>
                  </a:srgbClr>
                </a:gs>
                <a:gs pos="50000">
                  <a:srgbClr val="CC0000"/>
                </a:gs>
                <a:gs pos="100000">
                  <a:srgbClr val="CC0000">
                    <a:gamma/>
                    <a:shade val="46275"/>
                    <a:invGamma/>
                  </a:srgbClr>
                </a:gs>
              </a:gsLst>
              <a:lin ang="5400000" scaled="1"/>
            </a:gradFill>
            <a:ln w="9525">
              <a:noFill/>
              <a:round/>
              <a:headEnd/>
              <a:tailEnd/>
            </a:ln>
            <a:effectLst/>
          </p:spPr>
          <p:txBody>
            <a:bodyPr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49" name="AutoShape 50">
              <a:extLst>
                <a:ext uri="{FF2B5EF4-FFF2-40B4-BE49-F238E27FC236}">
                  <a16:creationId xmlns:a16="http://schemas.microsoft.com/office/drawing/2014/main" id="{92CF2187-5A25-43C3-9DA4-41CA04E4C021}"/>
                </a:ext>
              </a:extLst>
            </p:cNvPr>
            <p:cNvSpPr>
              <a:spLocks noChangeArrowheads="1"/>
            </p:cNvSpPr>
            <p:nvPr/>
          </p:nvSpPr>
          <p:spPr bwMode="auto">
            <a:xfrm flipH="1">
              <a:off x="2518568" y="2948320"/>
              <a:ext cx="71438" cy="142875"/>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50" name="AutoShape 51">
              <a:extLst>
                <a:ext uri="{FF2B5EF4-FFF2-40B4-BE49-F238E27FC236}">
                  <a16:creationId xmlns:a16="http://schemas.microsoft.com/office/drawing/2014/main" id="{A6E9CDCB-F002-448A-AD80-499E1EB2FF2B}"/>
                </a:ext>
              </a:extLst>
            </p:cNvPr>
            <p:cNvSpPr>
              <a:spLocks noChangeArrowheads="1"/>
            </p:cNvSpPr>
            <p:nvPr/>
          </p:nvSpPr>
          <p:spPr bwMode="auto">
            <a:xfrm flipH="1">
              <a:off x="935831" y="2948320"/>
              <a:ext cx="71437" cy="142875"/>
            </a:xfrm>
            <a:prstGeom prst="octagon">
              <a:avLst>
                <a:gd name="adj" fmla="val 29287"/>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51" name="Text Box 54">
              <a:extLst>
                <a:ext uri="{FF2B5EF4-FFF2-40B4-BE49-F238E27FC236}">
                  <a16:creationId xmlns:a16="http://schemas.microsoft.com/office/drawing/2014/main" id="{29D202BD-5EB1-4CA5-AF7E-62584540A9B3}"/>
                </a:ext>
              </a:extLst>
            </p:cNvPr>
            <p:cNvSpPr txBox="1">
              <a:spLocks noChangeArrowheads="1"/>
            </p:cNvSpPr>
            <p:nvPr/>
          </p:nvSpPr>
          <p:spPr bwMode="gray">
            <a:xfrm>
              <a:off x="1109968" y="2859420"/>
              <a:ext cx="1312250" cy="307777"/>
            </a:xfrm>
            <a:prstGeom prst="rect">
              <a:avLst/>
            </a:prstGeom>
            <a:noFill/>
            <a:ln w="9525" algn="ctr">
              <a:noFill/>
              <a:miter lim="800000"/>
              <a:headEnd/>
              <a:tailEnd/>
            </a:ln>
            <a:effectLst/>
          </p:spPr>
          <p:txBody>
            <a:bodyPr wrap="none">
              <a:spAutoFit/>
            </a:bodyPr>
            <a:lstStyle/>
            <a:p>
              <a:pPr algn="ctr" eaLnBrk="1" fontAlgn="auto" hangingPunct="1">
                <a:spcBef>
                  <a:spcPts val="0"/>
                </a:spcBef>
                <a:spcAft>
                  <a:spcPts val="0"/>
                </a:spcAft>
                <a:defRPr/>
              </a:pPr>
              <a:r>
                <a:rPr lang="en-US" altLang="zh-CN" sz="1400" b="1" kern="0">
                  <a:solidFill>
                    <a:srgbClr val="FFFFFF"/>
                  </a:solidFill>
                  <a:effectLst>
                    <a:outerShdw blurRad="38100" dist="38100" dir="2700000" algn="tl">
                      <a:srgbClr val="C0C0C0"/>
                    </a:outerShdw>
                  </a:effectLst>
                  <a:ea typeface="宋体" pitchFamily="2" charset="-122"/>
                </a:rPr>
                <a:t>OpenGL</a:t>
              </a:r>
              <a:r>
                <a:rPr lang="zh-CN" altLang="en-US" sz="1400" b="1" kern="0">
                  <a:solidFill>
                    <a:srgbClr val="FFFFFF"/>
                  </a:solidFill>
                  <a:effectLst>
                    <a:outerShdw blurRad="38100" dist="38100" dir="2700000" algn="tl">
                      <a:srgbClr val="C0C0C0"/>
                    </a:outerShdw>
                  </a:effectLst>
                  <a:ea typeface="宋体" pitchFamily="2" charset="-122"/>
                </a:rPr>
                <a:t>核心库</a:t>
              </a:r>
            </a:p>
          </p:txBody>
        </p:sp>
        <p:sp>
          <p:nvSpPr>
            <p:cNvPr id="52" name="Text Box 63">
              <a:extLst>
                <a:ext uri="{FF2B5EF4-FFF2-40B4-BE49-F238E27FC236}">
                  <a16:creationId xmlns:a16="http://schemas.microsoft.com/office/drawing/2014/main" id="{CCCF4075-A280-462D-8AA7-D1D55CEFC99F}"/>
                </a:ext>
              </a:extLst>
            </p:cNvPr>
            <p:cNvSpPr txBox="1">
              <a:spLocks noChangeArrowheads="1"/>
            </p:cNvSpPr>
            <p:nvPr/>
          </p:nvSpPr>
          <p:spPr bwMode="auto">
            <a:xfrm>
              <a:off x="611560" y="3140968"/>
              <a:ext cx="2295526" cy="3267113"/>
            </a:xfrm>
            <a:prstGeom prst="rect">
              <a:avLst/>
            </a:prstGeom>
            <a:noFill/>
            <a:ln w="9525" algn="ctr">
              <a:noFill/>
              <a:miter lim="800000"/>
              <a:headEnd/>
              <a:tailEnd/>
            </a:ln>
            <a:effectLst/>
          </p:spPr>
          <p:txBody>
            <a:bodyPr wrap="square">
              <a:spAutoFit/>
            </a:bodyPr>
            <a:lstStyle/>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函数以“</a:t>
              </a:r>
              <a:r>
                <a:rPr lang="en-US" altLang="zh-CN" sz="1800" b="1" kern="0" dirty="0" err="1">
                  <a:solidFill>
                    <a:srgbClr val="FF0000"/>
                  </a:solidFill>
                  <a:effectLst>
                    <a:outerShdw blurRad="38100" dist="38100" dir="2700000" algn="tl">
                      <a:srgbClr val="C0C0C0"/>
                    </a:outerShdw>
                  </a:effectLst>
                  <a:ea typeface="宋体" pitchFamily="2" charset="-122"/>
                </a:rPr>
                <a:t>gl</a:t>
              </a:r>
              <a:r>
                <a:rPr lang="en-US" altLang="zh-CN" sz="1800" b="1" kern="0" dirty="0">
                  <a:solidFill>
                    <a:srgbClr val="000000"/>
                  </a:solidFill>
                  <a:effectLst>
                    <a:outerShdw blurRad="38100" dist="38100" dir="2700000" algn="tl">
                      <a:srgbClr val="C0C0C0"/>
                    </a:outerShdw>
                  </a:effectLst>
                  <a:ea typeface="宋体" pitchFamily="2" charset="-122"/>
                </a:rPr>
                <a:t>”</a:t>
              </a:r>
              <a:r>
                <a:rPr lang="zh-CN" altLang="en-US" sz="1800" b="1" kern="0" dirty="0">
                  <a:solidFill>
                    <a:srgbClr val="000000"/>
                  </a:solidFill>
                  <a:effectLst>
                    <a:outerShdw blurRad="38100" dist="38100" dir="2700000" algn="tl">
                      <a:srgbClr val="C0C0C0"/>
                    </a:outerShdw>
                  </a:effectLst>
                  <a:ea typeface="宋体" pitchFamily="2" charset="-122"/>
                </a:rPr>
                <a:t>为前缀</a:t>
              </a:r>
            </a:p>
            <a:p>
              <a:pPr marL="185738" indent="-185738" eaLnBrk="1" fontAlgn="auto" hangingPunct="1">
                <a:lnSpc>
                  <a:spcPct val="110000"/>
                </a:lnSpc>
                <a:spcBef>
                  <a:spcPts val="600"/>
                </a:spcBef>
                <a:spcAft>
                  <a:spcPts val="0"/>
                </a:spcAft>
                <a:buFont typeface="Wingdings" pitchFamily="2" charset="2"/>
                <a:buChar char="l"/>
                <a:defRPr/>
              </a:pPr>
              <a:r>
                <a:rPr lang="zh-CN" altLang="en-US" sz="1800" b="1" kern="0" dirty="0">
                  <a:solidFill>
                    <a:srgbClr val="000000"/>
                  </a:solidFill>
                  <a:effectLst>
                    <a:outerShdw blurRad="38100" dist="38100" dir="2700000" algn="tl">
                      <a:srgbClr val="C0C0C0"/>
                    </a:outerShdw>
                  </a:effectLst>
                  <a:ea typeface="宋体" pitchFamily="2" charset="-122"/>
                </a:rPr>
                <a:t>主要功能：三维物体描述、几何变换、光照、纹理、材质、像素、位图等</a:t>
              </a:r>
            </a:p>
            <a:p>
              <a:pPr marL="185738" indent="-185738" eaLnBrk="1" fontAlgn="auto" hangingPunct="1">
                <a:lnSpc>
                  <a:spcPct val="110000"/>
                </a:lnSpc>
                <a:spcBef>
                  <a:spcPts val="600"/>
                </a:spcBef>
                <a:spcAft>
                  <a:spcPts val="0"/>
                </a:spcAft>
                <a:buFont typeface="Wingdings" pitchFamily="2" charset="2"/>
                <a:buChar char="l"/>
                <a:defRPr/>
              </a:pPr>
              <a:r>
                <a:rPr lang="en-US" altLang="zh-CN" sz="1800" b="1" kern="0" dirty="0">
                  <a:solidFill>
                    <a:srgbClr val="000000"/>
                  </a:solidFill>
                  <a:effectLst>
                    <a:outerShdw blurRad="38100" dist="38100" dir="2700000" algn="tl">
                      <a:srgbClr val="C0C0C0"/>
                    </a:outerShdw>
                  </a:effectLst>
                  <a:ea typeface="宋体" pitchFamily="2" charset="-122"/>
                </a:rPr>
                <a:t>OpenGL </a:t>
              </a:r>
              <a:r>
                <a:rPr lang="zh-CN" altLang="en-US" sz="1800" b="1" kern="0" dirty="0">
                  <a:solidFill>
                    <a:srgbClr val="000000"/>
                  </a:solidFill>
                  <a:effectLst>
                    <a:outerShdw blurRad="38100" dist="38100" dir="2700000" algn="tl">
                      <a:srgbClr val="C0C0C0"/>
                    </a:outerShdw>
                  </a:effectLst>
                  <a:ea typeface="宋体" pitchFamily="2" charset="-122"/>
                </a:rPr>
                <a:t>提供的所有功能都可使用核心库函数实现，并对不同软件和硬件平台，使用方法完全相同</a:t>
              </a:r>
              <a:endParaRPr lang="en-US" altLang="zh-CN" sz="1800" b="1" kern="0" dirty="0">
                <a:solidFill>
                  <a:srgbClr val="000000"/>
                </a:solidFill>
                <a:effectLst>
                  <a:outerShdw blurRad="38100" dist="38100" dir="2700000" algn="tl">
                    <a:srgbClr val="C0C0C0"/>
                  </a:outerShdw>
                </a:effectLst>
                <a:ea typeface="宋体" pitchFamily="2" charset="-122"/>
              </a:endParaRPr>
            </a:p>
          </p:txBody>
        </p:sp>
      </p:grpSp>
    </p:spTree>
    <p:extLst>
      <p:ext uri="{BB962C8B-B14F-4D97-AF65-F5344CB8AC3E}">
        <p14:creationId xmlns:p14="http://schemas.microsoft.com/office/powerpoint/2010/main" val="6103133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up)">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up)">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3">
            <a:extLst>
              <a:ext uri="{FF2B5EF4-FFF2-40B4-BE49-F238E27FC236}">
                <a16:creationId xmlns:a16="http://schemas.microsoft.com/office/drawing/2014/main" id="{4318BC2B-9FC6-4F0A-B830-E4E6277058BC}"/>
              </a:ext>
            </a:extLst>
          </p:cNvPr>
          <p:cNvSpPr txBox="1">
            <a:spLocks noChangeArrowheads="1"/>
          </p:cNvSpPr>
          <p:nvPr/>
        </p:nvSpPr>
        <p:spPr bwMode="auto">
          <a:xfrm>
            <a:off x="1055440" y="989118"/>
            <a:ext cx="7945437" cy="52990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dirty="0">
                <a:ea typeface="黑体" pitchFamily="49" charset="-122"/>
              </a:rPr>
              <a:t>扩展库</a:t>
            </a:r>
          </a:p>
          <a:p>
            <a:pPr lvl="1">
              <a:defRPr/>
            </a:pPr>
            <a:r>
              <a:rPr lang="en-US" altLang="zh-CN" kern="0" dirty="0">
                <a:solidFill>
                  <a:schemeClr val="tx1"/>
                </a:solidFill>
                <a:ea typeface="黑体" pitchFamily="49" charset="-122"/>
              </a:rPr>
              <a:t>GLU</a:t>
            </a:r>
          </a:p>
          <a:p>
            <a:pPr lvl="1">
              <a:defRPr/>
            </a:pPr>
            <a:r>
              <a:rPr lang="en-US" altLang="zh-CN" kern="0" dirty="0">
                <a:solidFill>
                  <a:schemeClr val="tx1"/>
                </a:solidFill>
                <a:ea typeface="黑体" pitchFamily="49" charset="-122"/>
              </a:rPr>
              <a:t>GLUT</a:t>
            </a:r>
          </a:p>
          <a:p>
            <a:pPr lvl="1">
              <a:defRPr/>
            </a:pPr>
            <a:r>
              <a:rPr lang="en-US" altLang="zh-CN" kern="0" dirty="0">
                <a:solidFill>
                  <a:schemeClr val="tx1"/>
                </a:solidFill>
                <a:ea typeface="黑体" pitchFamily="49" charset="-122"/>
              </a:rPr>
              <a:t>GLUI</a:t>
            </a:r>
          </a:p>
          <a:p>
            <a:pPr lvl="1">
              <a:defRPr/>
            </a:pPr>
            <a:r>
              <a:rPr lang="en-US" altLang="zh-CN" kern="0" dirty="0">
                <a:solidFill>
                  <a:schemeClr val="tx1"/>
                </a:solidFill>
                <a:ea typeface="黑体" pitchFamily="49" charset="-122"/>
              </a:rPr>
              <a:t>GLEW</a:t>
            </a:r>
          </a:p>
          <a:p>
            <a:pPr lvl="1">
              <a:defRPr/>
            </a:pPr>
            <a:r>
              <a:rPr lang="en-US" altLang="zh-CN" kern="0" dirty="0">
                <a:solidFill>
                  <a:schemeClr val="tx1"/>
                </a:solidFill>
                <a:ea typeface="黑体" pitchFamily="49" charset="-122"/>
              </a:rPr>
              <a:t>GLEE</a:t>
            </a:r>
          </a:p>
          <a:p>
            <a:pPr>
              <a:defRPr/>
            </a:pPr>
            <a:r>
              <a:rPr lang="zh-CN" altLang="en-US" kern="0" dirty="0">
                <a:ea typeface="黑体" pitchFamily="49" charset="-122"/>
              </a:rPr>
              <a:t>与窗口系统相关</a:t>
            </a:r>
          </a:p>
          <a:p>
            <a:pPr lvl="1">
              <a:defRPr/>
            </a:pPr>
            <a:r>
              <a:rPr lang="en-US" altLang="zh-CN" kern="0" dirty="0">
                <a:solidFill>
                  <a:schemeClr val="tx1"/>
                </a:solidFill>
                <a:ea typeface="黑体" pitchFamily="49" charset="-122"/>
              </a:rPr>
              <a:t>WGL - Microsoft Windows </a:t>
            </a:r>
          </a:p>
          <a:p>
            <a:pPr lvl="1">
              <a:defRPr/>
            </a:pPr>
            <a:r>
              <a:rPr lang="en-US" altLang="zh-CN" kern="0" dirty="0">
                <a:solidFill>
                  <a:schemeClr val="tx1"/>
                </a:solidFill>
                <a:ea typeface="黑体" pitchFamily="49" charset="-122"/>
              </a:rPr>
              <a:t>GLX - X11</a:t>
            </a:r>
            <a:r>
              <a:rPr lang="zh-CN" altLang="en-US" kern="0" dirty="0">
                <a:solidFill>
                  <a:schemeClr val="tx1"/>
                </a:solidFill>
                <a:ea typeface="黑体" pitchFamily="49" charset="-122"/>
              </a:rPr>
              <a:t>（包括透明的网络） </a:t>
            </a:r>
          </a:p>
          <a:p>
            <a:pPr lvl="1">
              <a:defRPr/>
            </a:pPr>
            <a:r>
              <a:rPr lang="en-US" altLang="zh-CN" kern="0" dirty="0">
                <a:solidFill>
                  <a:schemeClr val="tx1"/>
                </a:solidFill>
                <a:ea typeface="黑体" pitchFamily="49" charset="-122"/>
              </a:rPr>
              <a:t>AGL - Apple MacOS</a:t>
            </a:r>
          </a:p>
          <a:p>
            <a:pPr>
              <a:defRPr/>
            </a:pPr>
            <a:r>
              <a:rPr lang="zh-CN" altLang="en-US" kern="0" dirty="0">
                <a:ea typeface="黑体" pitchFamily="49" charset="-122"/>
              </a:rPr>
              <a:t>与硬件厂商有关</a:t>
            </a:r>
            <a:endParaRPr lang="en-US" altLang="zh-CN" kern="0" dirty="0">
              <a:ea typeface="黑体" pitchFamily="49" charset="-122"/>
            </a:endParaRPr>
          </a:p>
        </p:txBody>
      </p:sp>
      <p:sp>
        <p:nvSpPr>
          <p:cNvPr id="49" name="AutoShape 42">
            <a:extLst>
              <a:ext uri="{FF2B5EF4-FFF2-40B4-BE49-F238E27FC236}">
                <a16:creationId xmlns:a16="http://schemas.microsoft.com/office/drawing/2014/main" id="{78AF92C0-E658-47AB-8928-91E85DF2E472}"/>
              </a:ext>
            </a:extLst>
          </p:cNvPr>
          <p:cNvSpPr>
            <a:spLocks noChangeArrowheads="1"/>
          </p:cNvSpPr>
          <p:nvPr/>
        </p:nvSpPr>
        <p:spPr bwMode="auto">
          <a:xfrm>
            <a:off x="6096000" y="1988840"/>
            <a:ext cx="6019178" cy="878822"/>
          </a:xfrm>
          <a:prstGeom prst="wedgeRoundRectCallout">
            <a:avLst>
              <a:gd name="adj1" fmla="val -97525"/>
              <a:gd name="adj2" fmla="val -25296"/>
              <a:gd name="adj3" fmla="val 16667"/>
            </a:avLst>
          </a:prstGeom>
          <a:solidFill>
            <a:srgbClr val="FFD96D"/>
          </a:solidFill>
          <a:ln w="9525">
            <a:solidFill>
              <a:srgbClr val="000000"/>
            </a:solidFill>
            <a:miter lim="800000"/>
            <a:headEnd/>
            <a:tailEnd/>
          </a:ln>
          <a:effectLst/>
        </p:spPr>
        <p:txBody>
          <a:bodyPr wrap="square">
            <a:spAutoFit/>
          </a:bodyPr>
          <a:lstStyle/>
          <a:p>
            <a:pPr eaLnBrk="1" fontAlgn="auto" hangingPunct="1">
              <a:lnSpc>
                <a:spcPct val="120000"/>
              </a:lnSpc>
              <a:spcBef>
                <a:spcPts val="0"/>
              </a:spcBef>
              <a:spcAft>
                <a:spcPts val="0"/>
              </a:spcAft>
              <a:defRPr/>
            </a:pPr>
            <a:r>
              <a:rPr lang="zh-CN" altLang="en-US" sz="2000" b="1" kern="0" dirty="0">
                <a:solidFill>
                  <a:srgbClr val="000000"/>
                </a:solidFill>
                <a:effectLst>
                  <a:outerShdw blurRad="38100" dist="38100" dir="2700000" algn="tl">
                    <a:srgbClr val="FFFFFF"/>
                  </a:outerShdw>
                </a:effectLst>
                <a:ea typeface="黑体" pitchFamily="49" charset="-122"/>
              </a:rPr>
              <a:t>提供独立于窗口系统和操作系统的窗口管理、键盘</a:t>
            </a:r>
            <a:r>
              <a:rPr lang="en-US" altLang="zh-CN" sz="2000" b="1" kern="0" dirty="0">
                <a:solidFill>
                  <a:srgbClr val="000000"/>
                </a:solidFill>
                <a:effectLst>
                  <a:outerShdw blurRad="38100" dist="38100" dir="2700000" algn="tl">
                    <a:srgbClr val="FFFFFF"/>
                  </a:outerShdw>
                </a:effectLst>
                <a:ea typeface="黑体" pitchFamily="49" charset="-122"/>
              </a:rPr>
              <a:t>/</a:t>
            </a:r>
            <a:r>
              <a:rPr lang="zh-CN" altLang="en-US" sz="2000" b="1" kern="0" dirty="0">
                <a:solidFill>
                  <a:srgbClr val="000000"/>
                </a:solidFill>
                <a:effectLst>
                  <a:outerShdw blurRad="38100" dist="38100" dir="2700000" algn="tl">
                    <a:srgbClr val="FFFFFF"/>
                  </a:outerShdw>
                </a:effectLst>
                <a:ea typeface="黑体" pitchFamily="49" charset="-122"/>
              </a:rPr>
              <a:t>鼠标输入管理等操作，绘制部分采用</a:t>
            </a:r>
            <a:r>
              <a:rPr lang="en-US" altLang="zh-CN" sz="2000" b="1" kern="0" dirty="0">
                <a:solidFill>
                  <a:srgbClr val="000000"/>
                </a:solidFill>
                <a:effectLst>
                  <a:outerShdw blurRad="38100" dist="38100" dir="2700000" algn="tl">
                    <a:srgbClr val="FFFFFF"/>
                  </a:outerShdw>
                </a:effectLst>
                <a:ea typeface="黑体" pitchFamily="49" charset="-122"/>
              </a:rPr>
              <a:t>OpenGL</a:t>
            </a:r>
            <a:r>
              <a:rPr lang="zh-CN" altLang="en-US" sz="2000" b="1" kern="0" dirty="0">
                <a:solidFill>
                  <a:srgbClr val="000000"/>
                </a:solidFill>
                <a:effectLst>
                  <a:outerShdw blurRad="38100" dist="38100" dir="2700000" algn="tl">
                    <a:srgbClr val="FFFFFF"/>
                  </a:outerShdw>
                </a:effectLst>
                <a:ea typeface="黑体" pitchFamily="49" charset="-122"/>
              </a:rPr>
              <a:t>。</a:t>
            </a:r>
          </a:p>
        </p:txBody>
      </p:sp>
      <p:sp>
        <p:nvSpPr>
          <p:cNvPr id="50" name="AutoShape 43">
            <a:extLst>
              <a:ext uri="{FF2B5EF4-FFF2-40B4-BE49-F238E27FC236}">
                <a16:creationId xmlns:a16="http://schemas.microsoft.com/office/drawing/2014/main" id="{33661B0E-9FFA-49FD-B8D6-81A0317D0F66}"/>
              </a:ext>
            </a:extLst>
          </p:cNvPr>
          <p:cNvSpPr>
            <a:spLocks noChangeArrowheads="1"/>
          </p:cNvSpPr>
          <p:nvPr/>
        </p:nvSpPr>
        <p:spPr bwMode="auto">
          <a:xfrm>
            <a:off x="5951984" y="3198250"/>
            <a:ext cx="6019178" cy="878822"/>
          </a:xfrm>
          <a:prstGeom prst="wedgeRoundRectCallout">
            <a:avLst>
              <a:gd name="adj1" fmla="val -95755"/>
              <a:gd name="adj2" fmla="val -104476"/>
              <a:gd name="adj3" fmla="val 16667"/>
            </a:avLst>
          </a:prstGeom>
          <a:solidFill>
            <a:srgbClr val="FFD96D"/>
          </a:solidFill>
          <a:ln w="9525">
            <a:solidFill>
              <a:srgbClr val="000000"/>
            </a:solidFill>
            <a:miter lim="800000"/>
            <a:headEnd/>
            <a:tailEnd/>
          </a:ln>
          <a:effectLst/>
        </p:spPr>
        <p:txBody>
          <a:bodyPr>
            <a:spAutoFit/>
          </a:bodyPr>
          <a:lstStyle/>
          <a:p>
            <a:pPr eaLnBrk="1" fontAlgn="auto" hangingPunct="1">
              <a:lnSpc>
                <a:spcPct val="120000"/>
              </a:lnSpc>
              <a:spcBef>
                <a:spcPts val="0"/>
              </a:spcBef>
              <a:spcAft>
                <a:spcPts val="0"/>
              </a:spcAft>
              <a:defRPr/>
            </a:pPr>
            <a:r>
              <a:rPr lang="en-US" altLang="zh-CN" sz="2000" b="1" kern="0" dirty="0">
                <a:solidFill>
                  <a:srgbClr val="000000"/>
                </a:solidFill>
                <a:effectLst>
                  <a:outerShdw blurRad="38100" dist="38100" dir="2700000" algn="tl">
                    <a:srgbClr val="FFFFFF"/>
                  </a:outerShdw>
                </a:effectLst>
                <a:ea typeface="黑体" pitchFamily="49" charset="-122"/>
              </a:rPr>
              <a:t>C++</a:t>
            </a:r>
            <a:r>
              <a:rPr lang="zh-CN" altLang="en-US" sz="2000" b="1" kern="0" dirty="0">
                <a:solidFill>
                  <a:srgbClr val="000000"/>
                </a:solidFill>
                <a:effectLst>
                  <a:outerShdw blurRad="38100" dist="38100" dir="2700000" algn="tl">
                    <a:srgbClr val="FFFFFF"/>
                  </a:outerShdw>
                </a:effectLst>
                <a:ea typeface="黑体" pitchFamily="49" charset="-122"/>
              </a:rPr>
              <a:t>界面库，在</a:t>
            </a:r>
            <a:r>
              <a:rPr lang="en-US" altLang="zh-CN" sz="2000" b="1" kern="0" dirty="0">
                <a:solidFill>
                  <a:srgbClr val="000000"/>
                </a:solidFill>
                <a:effectLst>
                  <a:outerShdw blurRad="38100" dist="38100" dir="2700000" algn="tl">
                    <a:srgbClr val="FFFFFF"/>
                  </a:outerShdw>
                </a:effectLst>
                <a:ea typeface="黑体" pitchFamily="49" charset="-122"/>
              </a:rPr>
              <a:t>GLUT</a:t>
            </a:r>
            <a:r>
              <a:rPr lang="zh-CN" altLang="en-US" sz="2000" b="1" kern="0" dirty="0">
                <a:solidFill>
                  <a:srgbClr val="000000"/>
                </a:solidFill>
                <a:effectLst>
                  <a:outerShdw blurRad="38100" dist="38100" dir="2700000" algn="tl">
                    <a:srgbClr val="FFFFFF"/>
                  </a:outerShdw>
                </a:effectLst>
                <a:ea typeface="黑体" pitchFamily="49" charset="-122"/>
              </a:rPr>
              <a:t>基础上提供了</a:t>
            </a:r>
            <a:r>
              <a:rPr lang="en-US" altLang="zh-CN" sz="2000" b="1" kern="0" dirty="0">
                <a:solidFill>
                  <a:srgbClr val="000000"/>
                </a:solidFill>
                <a:effectLst>
                  <a:outerShdw blurRad="38100" dist="38100" dir="2700000" algn="tl">
                    <a:srgbClr val="FFFFFF"/>
                  </a:outerShdw>
                </a:effectLst>
                <a:ea typeface="黑体" pitchFamily="49" charset="-122"/>
              </a:rPr>
              <a:t>buttons, checkboxes, radio buttons</a:t>
            </a:r>
            <a:r>
              <a:rPr lang="zh-CN" altLang="en-US" sz="2000" b="1" kern="0" dirty="0">
                <a:solidFill>
                  <a:srgbClr val="000000"/>
                </a:solidFill>
                <a:effectLst>
                  <a:outerShdw blurRad="38100" dist="38100" dir="2700000" algn="tl">
                    <a:srgbClr val="FFFFFF"/>
                  </a:outerShdw>
                </a:effectLst>
                <a:ea typeface="黑体" pitchFamily="49" charset="-122"/>
              </a:rPr>
              <a:t>等常用控件。</a:t>
            </a:r>
            <a:endParaRPr lang="en-US" altLang="zh-CN" sz="2000" b="1" kern="0" dirty="0">
              <a:solidFill>
                <a:srgbClr val="000000"/>
              </a:solidFill>
              <a:effectLst>
                <a:outerShdw blurRad="38100" dist="38100" dir="2700000" algn="tl">
                  <a:srgbClr val="FFFFFF"/>
                </a:outerShdw>
              </a:effectLst>
              <a:ea typeface="黑体" pitchFamily="49" charset="-122"/>
            </a:endParaRPr>
          </a:p>
        </p:txBody>
      </p:sp>
      <p:sp>
        <p:nvSpPr>
          <p:cNvPr id="51" name="AutoShape 44">
            <a:extLst>
              <a:ext uri="{FF2B5EF4-FFF2-40B4-BE49-F238E27FC236}">
                <a16:creationId xmlns:a16="http://schemas.microsoft.com/office/drawing/2014/main" id="{936BBDF4-C54D-4E8E-9F44-65A9F430F96A}"/>
              </a:ext>
            </a:extLst>
          </p:cNvPr>
          <p:cNvSpPr>
            <a:spLocks noChangeArrowheads="1"/>
          </p:cNvSpPr>
          <p:nvPr/>
        </p:nvSpPr>
        <p:spPr bwMode="auto">
          <a:xfrm>
            <a:off x="5663952" y="4588728"/>
            <a:ext cx="5997746" cy="1696067"/>
          </a:xfrm>
          <a:prstGeom prst="wedgeRoundRectCallout">
            <a:avLst>
              <a:gd name="adj1" fmla="val -93590"/>
              <a:gd name="adj2" fmla="val -111840"/>
              <a:gd name="adj3" fmla="val 16667"/>
            </a:avLst>
          </a:prstGeom>
          <a:solidFill>
            <a:srgbClr val="FFD96D"/>
          </a:solidFill>
          <a:ln w="9525">
            <a:solidFill>
              <a:srgbClr val="000000"/>
            </a:solidFill>
            <a:miter lim="800000"/>
            <a:headEnd/>
            <a:tailEnd/>
          </a:ln>
          <a:effectLst/>
        </p:spPr>
        <p:txBody>
          <a:bodyPr wrap="square">
            <a:spAutoFit/>
          </a:bodyPr>
          <a:lstStyle/>
          <a:p>
            <a:pPr eaLnBrk="1" fontAlgn="auto" hangingPunct="1">
              <a:lnSpc>
                <a:spcPct val="120000"/>
              </a:lnSpc>
              <a:spcBef>
                <a:spcPts val="0"/>
              </a:spcBef>
              <a:spcAft>
                <a:spcPts val="0"/>
              </a:spcAft>
              <a:defRPr/>
            </a:pPr>
            <a:r>
              <a:rPr lang="zh-CN" altLang="en-US" sz="2000" b="1" kern="0" dirty="0">
                <a:solidFill>
                  <a:srgbClr val="000000"/>
                </a:solidFill>
                <a:effectLst>
                  <a:outerShdw blurRad="38100" dist="38100" dir="2700000" algn="tl">
                    <a:srgbClr val="FFFFFF"/>
                  </a:outerShdw>
                </a:effectLst>
                <a:ea typeface="黑体" pitchFamily="49" charset="-122"/>
              </a:rPr>
              <a:t>当开发者需要使用最新的</a:t>
            </a:r>
            <a:r>
              <a:rPr lang="en-US" altLang="zh-CN" sz="2000" b="1" kern="0" dirty="0">
                <a:solidFill>
                  <a:srgbClr val="000000"/>
                </a:solidFill>
                <a:effectLst>
                  <a:outerShdw blurRad="38100" dist="38100" dir="2700000" algn="tl">
                    <a:srgbClr val="FFFFFF"/>
                  </a:outerShdw>
                </a:effectLst>
                <a:ea typeface="黑体" pitchFamily="49" charset="-122"/>
              </a:rPr>
              <a:t>OpenGL</a:t>
            </a:r>
            <a:r>
              <a:rPr lang="zh-CN" altLang="en-US" sz="2000" b="1" kern="0" dirty="0">
                <a:solidFill>
                  <a:srgbClr val="000000"/>
                </a:solidFill>
                <a:effectLst>
                  <a:outerShdw blurRad="38100" dist="38100" dir="2700000" algn="tl">
                    <a:srgbClr val="FFFFFF"/>
                  </a:outerShdw>
                </a:effectLst>
                <a:ea typeface="黑体" pitchFamily="49" charset="-122"/>
              </a:rPr>
              <a:t>扩展时，可以利用</a:t>
            </a:r>
            <a:r>
              <a:rPr lang="en-US" altLang="zh-CN" sz="2000" b="1" kern="0" dirty="0">
                <a:solidFill>
                  <a:srgbClr val="000000"/>
                </a:solidFill>
                <a:effectLst>
                  <a:outerShdw blurRad="38100" dist="38100" dir="2700000" algn="tl">
                    <a:srgbClr val="FFFFFF"/>
                  </a:outerShdw>
                </a:effectLst>
                <a:ea typeface="黑体" pitchFamily="49" charset="-122"/>
              </a:rPr>
              <a:t>GLEW</a:t>
            </a:r>
            <a:r>
              <a:rPr lang="zh-CN" altLang="en-US" sz="2000" b="1" kern="0" dirty="0">
                <a:solidFill>
                  <a:srgbClr val="000000"/>
                </a:solidFill>
                <a:effectLst>
                  <a:outerShdw blurRad="38100" dist="38100" dir="2700000" algn="tl">
                    <a:srgbClr val="FFFFFF"/>
                  </a:outerShdw>
                </a:effectLst>
                <a:ea typeface="黑体" pitchFamily="49" charset="-122"/>
              </a:rPr>
              <a:t>或者</a:t>
            </a:r>
            <a:r>
              <a:rPr lang="en-US" altLang="zh-CN" sz="2000" b="1" kern="0" dirty="0">
                <a:solidFill>
                  <a:srgbClr val="000000"/>
                </a:solidFill>
                <a:effectLst>
                  <a:outerShdw blurRad="38100" dist="38100" dir="2700000" algn="tl">
                    <a:srgbClr val="FFFFFF"/>
                  </a:outerShdw>
                </a:effectLst>
                <a:ea typeface="黑体" pitchFamily="49" charset="-122"/>
              </a:rPr>
              <a:t>GLEE</a:t>
            </a:r>
            <a:r>
              <a:rPr lang="zh-CN" altLang="en-US" sz="2000" b="1" kern="0" dirty="0">
                <a:solidFill>
                  <a:srgbClr val="000000"/>
                </a:solidFill>
                <a:effectLst>
                  <a:outerShdw blurRad="38100" dist="38100" dir="2700000" algn="tl">
                    <a:srgbClr val="FFFFFF"/>
                  </a:outerShdw>
                </a:effectLst>
                <a:ea typeface="黑体" pitchFamily="49" charset="-122"/>
              </a:rPr>
              <a:t>库提供的功能，在程序的</a:t>
            </a:r>
            <a:r>
              <a:rPr lang="zh-CN" altLang="en-US" sz="2000" b="1" kern="0" dirty="0">
                <a:solidFill>
                  <a:srgbClr val="CC0000"/>
                </a:solidFill>
                <a:effectLst>
                  <a:outerShdw blurRad="38100" dist="38100" dir="2700000" algn="tl">
                    <a:srgbClr val="000000"/>
                  </a:outerShdw>
                </a:effectLst>
                <a:ea typeface="黑体" pitchFamily="49" charset="-122"/>
              </a:rPr>
              <a:t>运行期</a:t>
            </a:r>
            <a:r>
              <a:rPr lang="zh-CN" altLang="en-US" sz="2000" b="1" kern="0" dirty="0">
                <a:solidFill>
                  <a:srgbClr val="000000"/>
                </a:solidFill>
                <a:effectLst>
                  <a:outerShdw blurRad="38100" dist="38100" dir="2700000" algn="tl">
                    <a:srgbClr val="FFFFFF"/>
                  </a:outerShdw>
                </a:effectLst>
                <a:ea typeface="黑体" pitchFamily="49" charset="-122"/>
              </a:rPr>
              <a:t>判断当前硬件是否支持相关的扩展，防止程序崩溃甚至造成硬件损坏。</a:t>
            </a:r>
            <a:endParaRPr lang="en-US" altLang="zh-CN" sz="2000" b="1" kern="0" dirty="0">
              <a:solidFill>
                <a:srgbClr val="000000"/>
              </a:solidFill>
              <a:effectLst>
                <a:outerShdw blurRad="38100" dist="38100" dir="2700000" algn="tl">
                  <a:srgbClr val="FFFFFF"/>
                </a:outerShdw>
              </a:effectLst>
              <a:ea typeface="黑体" pitchFamily="49" charset="-122"/>
            </a:endParaRPr>
          </a:p>
        </p:txBody>
      </p:sp>
      <p:sp>
        <p:nvSpPr>
          <p:cNvPr id="52" name="AutoShape 42">
            <a:extLst>
              <a:ext uri="{FF2B5EF4-FFF2-40B4-BE49-F238E27FC236}">
                <a16:creationId xmlns:a16="http://schemas.microsoft.com/office/drawing/2014/main" id="{8C25F03B-E557-4C77-9C1A-48578D28B4F3}"/>
              </a:ext>
            </a:extLst>
          </p:cNvPr>
          <p:cNvSpPr>
            <a:spLocks noChangeArrowheads="1"/>
          </p:cNvSpPr>
          <p:nvPr/>
        </p:nvSpPr>
        <p:spPr bwMode="auto">
          <a:xfrm>
            <a:off x="5663952" y="964989"/>
            <a:ext cx="6019178" cy="878822"/>
          </a:xfrm>
          <a:prstGeom prst="wedgeRoundRectCallout">
            <a:avLst>
              <a:gd name="adj1" fmla="val -90230"/>
              <a:gd name="adj2" fmla="val 35163"/>
              <a:gd name="adj3" fmla="val 16667"/>
            </a:avLst>
          </a:prstGeom>
          <a:solidFill>
            <a:srgbClr val="FFD96D"/>
          </a:solidFill>
          <a:ln w="9525">
            <a:solidFill>
              <a:srgbClr val="000000"/>
            </a:solidFill>
            <a:miter lim="800000"/>
            <a:headEnd/>
            <a:tailEnd/>
          </a:ln>
          <a:effectLst/>
        </p:spPr>
        <p:txBody>
          <a:bodyPr wrap="square">
            <a:spAutoFit/>
          </a:bodyPr>
          <a:lstStyle/>
          <a:p>
            <a:pPr eaLnBrk="1" fontAlgn="auto" hangingPunct="1">
              <a:lnSpc>
                <a:spcPct val="120000"/>
              </a:lnSpc>
              <a:spcBef>
                <a:spcPts val="0"/>
              </a:spcBef>
              <a:spcAft>
                <a:spcPts val="0"/>
              </a:spcAft>
              <a:defRPr/>
            </a:pPr>
            <a:r>
              <a:rPr lang="en-US" altLang="zh-CN" sz="2000" b="1" kern="0" dirty="0">
                <a:solidFill>
                  <a:srgbClr val="000000"/>
                </a:solidFill>
                <a:effectLst>
                  <a:outerShdw blurRad="38100" dist="38100" dir="2700000" algn="tl">
                    <a:srgbClr val="FFFFFF"/>
                  </a:outerShdw>
                </a:effectLst>
                <a:ea typeface="黑体" pitchFamily="49" charset="-122"/>
              </a:rPr>
              <a:t>OpenGL</a:t>
            </a:r>
            <a:r>
              <a:rPr lang="zh-CN" altLang="en-US" sz="2000" b="1" kern="0" dirty="0">
                <a:solidFill>
                  <a:srgbClr val="000000"/>
                </a:solidFill>
                <a:effectLst>
                  <a:outerShdw blurRad="38100" dist="38100" dir="2700000" algn="tl">
                    <a:srgbClr val="FFFFFF"/>
                  </a:outerShdw>
                </a:effectLst>
                <a:ea typeface="黑体" pitchFamily="49" charset="-122"/>
              </a:rPr>
              <a:t>实用库，提供了一些高级功能，比如，绘制二次曲线等。</a:t>
            </a:r>
          </a:p>
        </p:txBody>
      </p:sp>
      <p:sp>
        <p:nvSpPr>
          <p:cNvPr id="53" name="椭圆 52">
            <a:extLst>
              <a:ext uri="{FF2B5EF4-FFF2-40B4-BE49-F238E27FC236}">
                <a16:creationId xmlns:a16="http://schemas.microsoft.com/office/drawing/2014/main" id="{8D612B0B-F16B-4AC7-8B80-0C8EC3102A66}"/>
              </a:ext>
            </a:extLst>
          </p:cNvPr>
          <p:cNvSpPr/>
          <p:nvPr/>
        </p:nvSpPr>
        <p:spPr bwMode="auto">
          <a:xfrm>
            <a:off x="1633736" y="1456884"/>
            <a:ext cx="1581299" cy="486474"/>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fontAlgn="auto" hangingPunct="1">
              <a:spcBef>
                <a:spcPct val="20000"/>
              </a:spcBef>
              <a:spcAft>
                <a:spcPts val="0"/>
              </a:spcAft>
              <a:buClr>
                <a:srgbClr val="FFFFFF"/>
              </a:buClr>
              <a:defRPr/>
            </a:pPr>
            <a:endParaRPr lang="zh-CN" altLang="en-US" sz="1800" kern="0">
              <a:solidFill>
                <a:srgbClr val="000000"/>
              </a:solidFill>
            </a:endParaRPr>
          </a:p>
        </p:txBody>
      </p:sp>
      <p:sp>
        <p:nvSpPr>
          <p:cNvPr id="54" name="椭圆 53">
            <a:extLst>
              <a:ext uri="{FF2B5EF4-FFF2-40B4-BE49-F238E27FC236}">
                <a16:creationId xmlns:a16="http://schemas.microsoft.com/office/drawing/2014/main" id="{71DE4098-B2BE-435E-BCED-D32F5CE4FB0C}"/>
              </a:ext>
            </a:extLst>
          </p:cNvPr>
          <p:cNvSpPr/>
          <p:nvPr/>
        </p:nvSpPr>
        <p:spPr bwMode="auto">
          <a:xfrm>
            <a:off x="1655985" y="1929460"/>
            <a:ext cx="1581299" cy="486474"/>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fontAlgn="auto" hangingPunct="1">
              <a:spcBef>
                <a:spcPct val="20000"/>
              </a:spcBef>
              <a:spcAft>
                <a:spcPts val="0"/>
              </a:spcAft>
              <a:buClr>
                <a:srgbClr val="FFFFFF"/>
              </a:buClr>
              <a:defRPr/>
            </a:pPr>
            <a:endParaRPr lang="zh-CN" altLang="en-US" sz="1800" kern="0">
              <a:solidFill>
                <a:srgbClr val="000000"/>
              </a:solidFill>
            </a:endParaRPr>
          </a:p>
        </p:txBody>
      </p:sp>
      <p:sp>
        <p:nvSpPr>
          <p:cNvPr id="55" name="椭圆 54">
            <a:extLst>
              <a:ext uri="{FF2B5EF4-FFF2-40B4-BE49-F238E27FC236}">
                <a16:creationId xmlns:a16="http://schemas.microsoft.com/office/drawing/2014/main" id="{B7E44281-D288-4F98-8AD8-D3AF24DFE247}"/>
              </a:ext>
            </a:extLst>
          </p:cNvPr>
          <p:cNvSpPr/>
          <p:nvPr/>
        </p:nvSpPr>
        <p:spPr bwMode="auto">
          <a:xfrm>
            <a:off x="1633736" y="2401829"/>
            <a:ext cx="1581299" cy="486474"/>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fontAlgn="auto" hangingPunct="1">
              <a:spcBef>
                <a:spcPct val="20000"/>
              </a:spcBef>
              <a:spcAft>
                <a:spcPts val="0"/>
              </a:spcAft>
              <a:buClr>
                <a:srgbClr val="FFFFFF"/>
              </a:buClr>
              <a:defRPr/>
            </a:pPr>
            <a:endParaRPr lang="zh-CN" altLang="en-US" sz="1800" kern="0">
              <a:solidFill>
                <a:srgbClr val="000000"/>
              </a:solidFill>
            </a:endParaRPr>
          </a:p>
        </p:txBody>
      </p:sp>
      <p:sp>
        <p:nvSpPr>
          <p:cNvPr id="56" name="椭圆 55">
            <a:extLst>
              <a:ext uri="{FF2B5EF4-FFF2-40B4-BE49-F238E27FC236}">
                <a16:creationId xmlns:a16="http://schemas.microsoft.com/office/drawing/2014/main" id="{173CFCC6-B7CF-41D6-B3A1-F45FBDD93ECA}"/>
              </a:ext>
            </a:extLst>
          </p:cNvPr>
          <p:cNvSpPr/>
          <p:nvPr/>
        </p:nvSpPr>
        <p:spPr bwMode="auto">
          <a:xfrm>
            <a:off x="1633611" y="2880682"/>
            <a:ext cx="1581299" cy="808451"/>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fontAlgn="auto" hangingPunct="1">
              <a:spcBef>
                <a:spcPct val="20000"/>
              </a:spcBef>
              <a:spcAft>
                <a:spcPts val="0"/>
              </a:spcAft>
              <a:buClr>
                <a:srgbClr val="FFFFFF"/>
              </a:buClr>
              <a:defRPr/>
            </a:pPr>
            <a:endParaRPr lang="zh-CN" altLang="en-US" sz="1800" kern="0">
              <a:solidFill>
                <a:srgbClr val="000000"/>
              </a:solidFill>
            </a:endParaRPr>
          </a:p>
        </p:txBody>
      </p:sp>
      <p:sp>
        <p:nvSpPr>
          <p:cNvPr id="14" name="Rectangle 2">
            <a:extLst>
              <a:ext uri="{FF2B5EF4-FFF2-40B4-BE49-F238E27FC236}">
                <a16:creationId xmlns:a16="http://schemas.microsoft.com/office/drawing/2014/main" id="{93CEF0B4-15A2-496A-985B-D606F49BA191}"/>
              </a:ext>
            </a:extLst>
          </p:cNvPr>
          <p:cNvSpPr>
            <a:spLocks noGrp="1" noChangeArrowheads="1"/>
          </p:cNvSpPr>
          <p:nvPr>
            <p:ph type="title"/>
          </p:nvPr>
        </p:nvSpPr>
        <p:spPr>
          <a:xfrm>
            <a:off x="1055440" y="50801"/>
            <a:ext cx="9530011" cy="701675"/>
          </a:xfrm>
        </p:spPr>
        <p:txBody>
          <a:bodyPr/>
          <a:lstStyle/>
          <a:p>
            <a:pPr>
              <a:defRPr/>
            </a:pPr>
            <a:r>
              <a:rPr lang="en-US" altLang="zh-CN" dirty="0">
                <a:solidFill>
                  <a:srgbClr val="C00000"/>
                </a:solidFill>
                <a:latin typeface="Arial" pitchFamily="34" charset="0"/>
              </a:rPr>
              <a:t>2. OpenGL</a:t>
            </a:r>
            <a:r>
              <a:rPr lang="zh-CN" altLang="en-US" dirty="0">
                <a:solidFill>
                  <a:srgbClr val="C00000"/>
                </a:solidFill>
                <a:latin typeface="Arial" pitchFamily="34" charset="0"/>
              </a:rPr>
              <a:t>函数库</a:t>
            </a:r>
            <a:endParaRPr lang="zh-CN" altLang="en-US" dirty="0">
              <a:solidFill>
                <a:srgbClr val="C00000"/>
              </a:solidFill>
            </a:endParaRPr>
          </a:p>
        </p:txBody>
      </p:sp>
    </p:spTree>
    <p:extLst>
      <p:ext uri="{BB962C8B-B14F-4D97-AF65-F5344CB8AC3E}">
        <p14:creationId xmlns:p14="http://schemas.microsoft.com/office/powerpoint/2010/main" val="25629274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 calcmode="lin" valueType="num">
                                      <p:cBhvr>
                                        <p:cTn id="7" dur="500" fill="hold"/>
                                        <p:tgtEl>
                                          <p:spTgt spid="4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88" fill="hold" grpId="0" nodeType="clickEffect">
                                  <p:stCondLst>
                                    <p:cond delay="0"/>
                                  </p:stCondLst>
                                  <p:childTnLst>
                                    <p:set>
                                      <p:cBhvr>
                                        <p:cTn id="12" dur="1" fill="hold">
                                          <p:stCondLst>
                                            <p:cond delay="0"/>
                                          </p:stCondLst>
                                        </p:cTn>
                                        <p:tgtEl>
                                          <p:spTgt spid="48">
                                            <p:txEl>
                                              <p:pRg st="1" end="1"/>
                                            </p:txEl>
                                          </p:spTgt>
                                        </p:tgtEl>
                                        <p:attrNameLst>
                                          <p:attrName>style.visibility</p:attrName>
                                        </p:attrNameLst>
                                      </p:cBhvr>
                                      <p:to>
                                        <p:strVal val="visible"/>
                                      </p:to>
                                    </p:set>
                                    <p:anim calcmode="lin" valueType="num">
                                      <p:cBhvr>
                                        <p:cTn id="13" dur="500" fill="hold"/>
                                        <p:tgtEl>
                                          <p:spTgt spid="48">
                                            <p:txEl>
                                              <p:pRg st="1" end="1"/>
                                            </p:txEl>
                                          </p:spTgt>
                                        </p:tgtEl>
                                        <p:attrNameLst>
                                          <p:attrName>ppt_w</p:attrName>
                                        </p:attrNameLst>
                                      </p:cBhvr>
                                      <p:tavLst>
                                        <p:tav tm="0">
                                          <p:val>
                                            <p:strVal val="4/3*#ppt_w"/>
                                          </p:val>
                                        </p:tav>
                                        <p:tav tm="100000">
                                          <p:val>
                                            <p:strVal val="#ppt_w"/>
                                          </p:val>
                                        </p:tav>
                                      </p:tavLst>
                                    </p:anim>
                                    <p:anim calcmode="lin" valueType="num">
                                      <p:cBhvr>
                                        <p:cTn id="14" dur="500" fill="hold"/>
                                        <p:tgtEl>
                                          <p:spTgt spid="48">
                                            <p:txEl>
                                              <p:pRg st="1" end="1"/>
                                            </p:txEl>
                                          </p:spTgt>
                                        </p:tgtEl>
                                        <p:attrNameLst>
                                          <p:attrName>ppt_h</p:attrName>
                                        </p:attrNameLst>
                                      </p:cBhvr>
                                      <p:tavLst>
                                        <p:tav tm="0">
                                          <p:val>
                                            <p:strVal val="4/3*#ppt_h"/>
                                          </p:val>
                                        </p:tav>
                                        <p:tav tm="100000">
                                          <p:val>
                                            <p:strVal val="#ppt_h"/>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53"/>
                                        </p:tgtEl>
                                        <p:attrNameLst>
                                          <p:attrName>style.visibility</p:attrName>
                                        </p:attrNameLst>
                                      </p:cBhvr>
                                      <p:to>
                                        <p:strVal val="visible"/>
                                      </p:to>
                                    </p:set>
                                    <p:anim calcmode="lin" valueType="num">
                                      <p:cBhvr additive="base">
                                        <p:cTn id="18" dur="500" fill="hold"/>
                                        <p:tgtEl>
                                          <p:spTgt spid="53"/>
                                        </p:tgtEl>
                                        <p:attrNameLst>
                                          <p:attrName>ppt_x</p:attrName>
                                        </p:attrNameLst>
                                      </p:cBhvr>
                                      <p:tavLst>
                                        <p:tav tm="0">
                                          <p:val>
                                            <p:strVal val="#ppt_x"/>
                                          </p:val>
                                        </p:tav>
                                        <p:tav tm="100000">
                                          <p:val>
                                            <p:strVal val="#ppt_x"/>
                                          </p:val>
                                        </p:tav>
                                      </p:tavLst>
                                    </p:anim>
                                    <p:anim calcmode="lin" valueType="num">
                                      <p:cBhvr additive="base">
                                        <p:cTn id="19" dur="500" fill="hold"/>
                                        <p:tgtEl>
                                          <p:spTgt spid="53"/>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left)">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288" fill="hold" grpId="0" nodeType="clickEffect">
                                  <p:stCondLst>
                                    <p:cond delay="0"/>
                                  </p:stCondLst>
                                  <p:childTnLst>
                                    <p:set>
                                      <p:cBhvr>
                                        <p:cTn id="27" dur="1" fill="hold">
                                          <p:stCondLst>
                                            <p:cond delay="0"/>
                                          </p:stCondLst>
                                        </p:cTn>
                                        <p:tgtEl>
                                          <p:spTgt spid="48">
                                            <p:txEl>
                                              <p:pRg st="2" end="2"/>
                                            </p:txEl>
                                          </p:spTgt>
                                        </p:tgtEl>
                                        <p:attrNameLst>
                                          <p:attrName>style.visibility</p:attrName>
                                        </p:attrNameLst>
                                      </p:cBhvr>
                                      <p:to>
                                        <p:strVal val="visible"/>
                                      </p:to>
                                    </p:set>
                                    <p:anim calcmode="lin" valueType="num">
                                      <p:cBhvr>
                                        <p:cTn id="28" dur="500" fill="hold"/>
                                        <p:tgtEl>
                                          <p:spTgt spid="48">
                                            <p:txEl>
                                              <p:pRg st="2" end="2"/>
                                            </p:txEl>
                                          </p:spTgt>
                                        </p:tgtEl>
                                        <p:attrNameLst>
                                          <p:attrName>ppt_w</p:attrName>
                                        </p:attrNameLst>
                                      </p:cBhvr>
                                      <p:tavLst>
                                        <p:tav tm="0">
                                          <p:val>
                                            <p:strVal val="4/3*#ppt_w"/>
                                          </p:val>
                                        </p:tav>
                                        <p:tav tm="100000">
                                          <p:val>
                                            <p:strVal val="#ppt_w"/>
                                          </p:val>
                                        </p:tav>
                                      </p:tavLst>
                                    </p:anim>
                                    <p:anim calcmode="lin" valueType="num">
                                      <p:cBhvr>
                                        <p:cTn id="29" dur="500" fill="hold"/>
                                        <p:tgtEl>
                                          <p:spTgt spid="48">
                                            <p:txEl>
                                              <p:pRg st="2" end="2"/>
                                            </p:txEl>
                                          </p:spTgt>
                                        </p:tgtEl>
                                        <p:attrNameLst>
                                          <p:attrName>ppt_h</p:attrName>
                                        </p:attrNameLst>
                                      </p:cBhvr>
                                      <p:tavLst>
                                        <p:tav tm="0">
                                          <p:val>
                                            <p:strVal val="4/3*#ppt_h"/>
                                          </p:val>
                                        </p:tav>
                                        <p:tav tm="100000">
                                          <p:val>
                                            <p:strVal val="#ppt_h"/>
                                          </p:val>
                                        </p:tav>
                                      </p:tavLst>
                                    </p:anim>
                                  </p:childTnLst>
                                </p:cTn>
                              </p:par>
                            </p:childTnLst>
                          </p:cTn>
                        </p:par>
                        <p:par>
                          <p:cTn id="30" fill="hold">
                            <p:stCondLst>
                              <p:cond delay="500"/>
                            </p:stCondLst>
                            <p:childTnLst>
                              <p:par>
                                <p:cTn id="31" presetID="2" presetClass="entr" presetSubtype="4" fill="hold" grpId="0" nodeType="after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additive="base">
                                        <p:cTn id="33" dur="500" fill="hold"/>
                                        <p:tgtEl>
                                          <p:spTgt spid="54"/>
                                        </p:tgtEl>
                                        <p:attrNameLst>
                                          <p:attrName>ppt_x</p:attrName>
                                        </p:attrNameLst>
                                      </p:cBhvr>
                                      <p:tavLst>
                                        <p:tav tm="0">
                                          <p:val>
                                            <p:strVal val="#ppt_x"/>
                                          </p:val>
                                        </p:tav>
                                        <p:tav tm="100000">
                                          <p:val>
                                            <p:strVal val="#ppt_x"/>
                                          </p:val>
                                        </p:tav>
                                      </p:tavLst>
                                    </p:anim>
                                    <p:anim calcmode="lin" valueType="num">
                                      <p:cBhvr additive="base">
                                        <p:cTn id="34" dur="500" fill="hold"/>
                                        <p:tgtEl>
                                          <p:spTgt spid="54"/>
                                        </p:tgtEl>
                                        <p:attrNameLst>
                                          <p:attrName>ppt_y</p:attrName>
                                        </p:attrNameLst>
                                      </p:cBhvr>
                                      <p:tavLst>
                                        <p:tav tm="0">
                                          <p:val>
                                            <p:strVal val="1+#ppt_h/2"/>
                                          </p:val>
                                        </p:tav>
                                        <p:tav tm="100000">
                                          <p:val>
                                            <p:strVal val="#ppt_y"/>
                                          </p:val>
                                        </p:tav>
                                      </p:tavLst>
                                    </p:anim>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wipe(left)">
                                      <p:cBhvr>
                                        <p:cTn id="38" dur="500"/>
                                        <p:tgtEl>
                                          <p:spTgt spid="49"/>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288" fill="hold" grpId="0" nodeType="clickEffect">
                                  <p:stCondLst>
                                    <p:cond delay="0"/>
                                  </p:stCondLst>
                                  <p:childTnLst>
                                    <p:set>
                                      <p:cBhvr>
                                        <p:cTn id="42" dur="1" fill="hold">
                                          <p:stCondLst>
                                            <p:cond delay="0"/>
                                          </p:stCondLst>
                                        </p:cTn>
                                        <p:tgtEl>
                                          <p:spTgt spid="48">
                                            <p:txEl>
                                              <p:pRg st="3" end="3"/>
                                            </p:txEl>
                                          </p:spTgt>
                                        </p:tgtEl>
                                        <p:attrNameLst>
                                          <p:attrName>style.visibility</p:attrName>
                                        </p:attrNameLst>
                                      </p:cBhvr>
                                      <p:to>
                                        <p:strVal val="visible"/>
                                      </p:to>
                                    </p:set>
                                    <p:anim calcmode="lin" valueType="num">
                                      <p:cBhvr>
                                        <p:cTn id="43" dur="500" fill="hold"/>
                                        <p:tgtEl>
                                          <p:spTgt spid="48">
                                            <p:txEl>
                                              <p:pRg st="3" end="3"/>
                                            </p:txEl>
                                          </p:spTgt>
                                        </p:tgtEl>
                                        <p:attrNameLst>
                                          <p:attrName>ppt_w</p:attrName>
                                        </p:attrNameLst>
                                      </p:cBhvr>
                                      <p:tavLst>
                                        <p:tav tm="0">
                                          <p:val>
                                            <p:strVal val="4/3*#ppt_w"/>
                                          </p:val>
                                        </p:tav>
                                        <p:tav tm="100000">
                                          <p:val>
                                            <p:strVal val="#ppt_w"/>
                                          </p:val>
                                        </p:tav>
                                      </p:tavLst>
                                    </p:anim>
                                    <p:anim calcmode="lin" valueType="num">
                                      <p:cBhvr>
                                        <p:cTn id="44" dur="500" fill="hold"/>
                                        <p:tgtEl>
                                          <p:spTgt spid="48">
                                            <p:txEl>
                                              <p:pRg st="3" end="3"/>
                                            </p:txEl>
                                          </p:spTgt>
                                        </p:tgtEl>
                                        <p:attrNameLst>
                                          <p:attrName>ppt_h</p:attrName>
                                        </p:attrNameLst>
                                      </p:cBhvr>
                                      <p:tavLst>
                                        <p:tav tm="0">
                                          <p:val>
                                            <p:strVal val="4/3*#ppt_h"/>
                                          </p:val>
                                        </p:tav>
                                        <p:tav tm="100000">
                                          <p:val>
                                            <p:strVal val="#ppt_h"/>
                                          </p:val>
                                        </p:tav>
                                      </p:tavLst>
                                    </p:anim>
                                  </p:childTnLst>
                                </p:cTn>
                              </p:par>
                            </p:childTnLst>
                          </p:cTn>
                        </p:par>
                        <p:par>
                          <p:cTn id="45" fill="hold">
                            <p:stCondLst>
                              <p:cond delay="500"/>
                            </p:stCondLst>
                            <p:childTnLst>
                              <p:par>
                                <p:cTn id="46" presetID="2" presetClass="entr" presetSubtype="4" fill="hold" grpId="0" nodeType="afterEffect">
                                  <p:stCondLst>
                                    <p:cond delay="0"/>
                                  </p:stCondLst>
                                  <p:childTnLst>
                                    <p:set>
                                      <p:cBhvr>
                                        <p:cTn id="47" dur="1" fill="hold">
                                          <p:stCondLst>
                                            <p:cond delay="0"/>
                                          </p:stCondLst>
                                        </p:cTn>
                                        <p:tgtEl>
                                          <p:spTgt spid="55"/>
                                        </p:tgtEl>
                                        <p:attrNameLst>
                                          <p:attrName>style.visibility</p:attrName>
                                        </p:attrNameLst>
                                      </p:cBhvr>
                                      <p:to>
                                        <p:strVal val="visible"/>
                                      </p:to>
                                    </p:set>
                                    <p:anim calcmode="lin" valueType="num">
                                      <p:cBhvr additive="base">
                                        <p:cTn id="48" dur="500" fill="hold"/>
                                        <p:tgtEl>
                                          <p:spTgt spid="55"/>
                                        </p:tgtEl>
                                        <p:attrNameLst>
                                          <p:attrName>ppt_x</p:attrName>
                                        </p:attrNameLst>
                                      </p:cBhvr>
                                      <p:tavLst>
                                        <p:tav tm="0">
                                          <p:val>
                                            <p:strVal val="#ppt_x"/>
                                          </p:val>
                                        </p:tav>
                                        <p:tav tm="100000">
                                          <p:val>
                                            <p:strVal val="#ppt_x"/>
                                          </p:val>
                                        </p:tav>
                                      </p:tavLst>
                                    </p:anim>
                                    <p:anim calcmode="lin" valueType="num">
                                      <p:cBhvr additive="base">
                                        <p:cTn id="49" dur="500" fill="hold"/>
                                        <p:tgtEl>
                                          <p:spTgt spid="55"/>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wipe(left)">
                                      <p:cBhvr>
                                        <p:cTn id="53" dur="500"/>
                                        <p:tgtEl>
                                          <p:spTgt spid="50"/>
                                        </p:tgtEl>
                                      </p:cBhvr>
                                    </p:animEffect>
                                  </p:childTnLst>
                                </p:cTn>
                              </p:par>
                            </p:childTnLst>
                          </p:cTn>
                        </p:par>
                      </p:childTnLst>
                    </p:cTn>
                  </p:par>
                  <p:par>
                    <p:cTn id="54" fill="hold">
                      <p:stCondLst>
                        <p:cond delay="indefinite"/>
                      </p:stCondLst>
                      <p:childTnLst>
                        <p:par>
                          <p:cTn id="55" fill="hold">
                            <p:stCondLst>
                              <p:cond delay="0"/>
                            </p:stCondLst>
                            <p:childTnLst>
                              <p:par>
                                <p:cTn id="56" presetID="23" presetClass="entr" presetSubtype="288" fill="hold" grpId="0" nodeType="clickEffect">
                                  <p:stCondLst>
                                    <p:cond delay="0"/>
                                  </p:stCondLst>
                                  <p:childTnLst>
                                    <p:set>
                                      <p:cBhvr>
                                        <p:cTn id="57" dur="1" fill="hold">
                                          <p:stCondLst>
                                            <p:cond delay="0"/>
                                          </p:stCondLst>
                                        </p:cTn>
                                        <p:tgtEl>
                                          <p:spTgt spid="48">
                                            <p:txEl>
                                              <p:pRg st="4" end="4"/>
                                            </p:txEl>
                                          </p:spTgt>
                                        </p:tgtEl>
                                        <p:attrNameLst>
                                          <p:attrName>style.visibility</p:attrName>
                                        </p:attrNameLst>
                                      </p:cBhvr>
                                      <p:to>
                                        <p:strVal val="visible"/>
                                      </p:to>
                                    </p:set>
                                    <p:anim calcmode="lin" valueType="num">
                                      <p:cBhvr>
                                        <p:cTn id="58" dur="500" fill="hold"/>
                                        <p:tgtEl>
                                          <p:spTgt spid="48">
                                            <p:txEl>
                                              <p:pRg st="4" end="4"/>
                                            </p:txEl>
                                          </p:spTgt>
                                        </p:tgtEl>
                                        <p:attrNameLst>
                                          <p:attrName>ppt_w</p:attrName>
                                        </p:attrNameLst>
                                      </p:cBhvr>
                                      <p:tavLst>
                                        <p:tav tm="0">
                                          <p:val>
                                            <p:strVal val="4/3*#ppt_w"/>
                                          </p:val>
                                        </p:tav>
                                        <p:tav tm="100000">
                                          <p:val>
                                            <p:strVal val="#ppt_w"/>
                                          </p:val>
                                        </p:tav>
                                      </p:tavLst>
                                    </p:anim>
                                    <p:anim calcmode="lin" valueType="num">
                                      <p:cBhvr>
                                        <p:cTn id="59" dur="500" fill="hold"/>
                                        <p:tgtEl>
                                          <p:spTgt spid="48">
                                            <p:txEl>
                                              <p:pRg st="4" end="4"/>
                                            </p:txEl>
                                          </p:spTgt>
                                        </p:tgtEl>
                                        <p:attrNameLst>
                                          <p:attrName>ppt_h</p:attrName>
                                        </p:attrNameLst>
                                      </p:cBhvr>
                                      <p:tavLst>
                                        <p:tav tm="0">
                                          <p:val>
                                            <p:strVal val="4/3*#ppt_h"/>
                                          </p:val>
                                        </p:tav>
                                        <p:tav tm="100000">
                                          <p:val>
                                            <p:strVal val="#ppt_h"/>
                                          </p:val>
                                        </p:tav>
                                      </p:tavLst>
                                    </p:anim>
                                  </p:childTnLst>
                                </p:cTn>
                              </p:par>
                            </p:childTnLst>
                          </p:cTn>
                        </p:par>
                        <p:par>
                          <p:cTn id="60" fill="hold">
                            <p:stCondLst>
                              <p:cond delay="500"/>
                            </p:stCondLst>
                            <p:childTnLst>
                              <p:par>
                                <p:cTn id="61" presetID="23" presetClass="entr" presetSubtype="288" fill="hold" grpId="0" nodeType="afterEffect">
                                  <p:stCondLst>
                                    <p:cond delay="0"/>
                                  </p:stCondLst>
                                  <p:childTnLst>
                                    <p:set>
                                      <p:cBhvr>
                                        <p:cTn id="62" dur="1" fill="hold">
                                          <p:stCondLst>
                                            <p:cond delay="0"/>
                                          </p:stCondLst>
                                        </p:cTn>
                                        <p:tgtEl>
                                          <p:spTgt spid="48">
                                            <p:txEl>
                                              <p:pRg st="5" end="5"/>
                                            </p:txEl>
                                          </p:spTgt>
                                        </p:tgtEl>
                                        <p:attrNameLst>
                                          <p:attrName>style.visibility</p:attrName>
                                        </p:attrNameLst>
                                      </p:cBhvr>
                                      <p:to>
                                        <p:strVal val="visible"/>
                                      </p:to>
                                    </p:set>
                                    <p:anim calcmode="lin" valueType="num">
                                      <p:cBhvr>
                                        <p:cTn id="63" dur="500" fill="hold"/>
                                        <p:tgtEl>
                                          <p:spTgt spid="48">
                                            <p:txEl>
                                              <p:pRg st="5" end="5"/>
                                            </p:txEl>
                                          </p:spTgt>
                                        </p:tgtEl>
                                        <p:attrNameLst>
                                          <p:attrName>ppt_w</p:attrName>
                                        </p:attrNameLst>
                                      </p:cBhvr>
                                      <p:tavLst>
                                        <p:tav tm="0">
                                          <p:val>
                                            <p:strVal val="4/3*#ppt_w"/>
                                          </p:val>
                                        </p:tav>
                                        <p:tav tm="100000">
                                          <p:val>
                                            <p:strVal val="#ppt_w"/>
                                          </p:val>
                                        </p:tav>
                                      </p:tavLst>
                                    </p:anim>
                                    <p:anim calcmode="lin" valueType="num">
                                      <p:cBhvr>
                                        <p:cTn id="64" dur="500" fill="hold"/>
                                        <p:tgtEl>
                                          <p:spTgt spid="48">
                                            <p:txEl>
                                              <p:pRg st="5" end="5"/>
                                            </p:txEl>
                                          </p:spTgt>
                                        </p:tgtEl>
                                        <p:attrNameLst>
                                          <p:attrName>ppt_h</p:attrName>
                                        </p:attrNameLst>
                                      </p:cBhvr>
                                      <p:tavLst>
                                        <p:tav tm="0">
                                          <p:val>
                                            <p:strVal val="4/3*#ppt_h"/>
                                          </p:val>
                                        </p:tav>
                                        <p:tav tm="100000">
                                          <p:val>
                                            <p:strVal val="#ppt_h"/>
                                          </p:val>
                                        </p:tav>
                                      </p:tavLst>
                                    </p:anim>
                                  </p:childTnLst>
                                </p:cTn>
                              </p:par>
                            </p:childTnLst>
                          </p:cTn>
                        </p:par>
                        <p:par>
                          <p:cTn id="65" fill="hold">
                            <p:stCondLst>
                              <p:cond delay="1000"/>
                            </p:stCondLst>
                            <p:childTnLst>
                              <p:par>
                                <p:cTn id="66" presetID="2" presetClass="entr" presetSubtype="4" fill="hold" grpId="0" nodeType="afterEffect">
                                  <p:stCondLst>
                                    <p:cond delay="0"/>
                                  </p:stCondLst>
                                  <p:childTnLst>
                                    <p:set>
                                      <p:cBhvr>
                                        <p:cTn id="67" dur="1" fill="hold">
                                          <p:stCondLst>
                                            <p:cond delay="0"/>
                                          </p:stCondLst>
                                        </p:cTn>
                                        <p:tgtEl>
                                          <p:spTgt spid="56"/>
                                        </p:tgtEl>
                                        <p:attrNameLst>
                                          <p:attrName>style.visibility</p:attrName>
                                        </p:attrNameLst>
                                      </p:cBhvr>
                                      <p:to>
                                        <p:strVal val="visible"/>
                                      </p:to>
                                    </p:set>
                                    <p:anim calcmode="lin" valueType="num">
                                      <p:cBhvr additive="base">
                                        <p:cTn id="68" dur="500" fill="hold"/>
                                        <p:tgtEl>
                                          <p:spTgt spid="56"/>
                                        </p:tgtEl>
                                        <p:attrNameLst>
                                          <p:attrName>ppt_x</p:attrName>
                                        </p:attrNameLst>
                                      </p:cBhvr>
                                      <p:tavLst>
                                        <p:tav tm="0">
                                          <p:val>
                                            <p:strVal val="#ppt_x"/>
                                          </p:val>
                                        </p:tav>
                                        <p:tav tm="100000">
                                          <p:val>
                                            <p:strVal val="#ppt_x"/>
                                          </p:val>
                                        </p:tav>
                                      </p:tavLst>
                                    </p:anim>
                                    <p:anim calcmode="lin" valueType="num">
                                      <p:cBhvr additive="base">
                                        <p:cTn id="69" dur="500" fill="hold"/>
                                        <p:tgtEl>
                                          <p:spTgt spid="56"/>
                                        </p:tgtEl>
                                        <p:attrNameLst>
                                          <p:attrName>ppt_y</p:attrName>
                                        </p:attrNameLst>
                                      </p:cBhvr>
                                      <p:tavLst>
                                        <p:tav tm="0">
                                          <p:val>
                                            <p:strVal val="1+#ppt_h/2"/>
                                          </p:val>
                                        </p:tav>
                                        <p:tav tm="100000">
                                          <p:val>
                                            <p:strVal val="#ppt_y"/>
                                          </p:val>
                                        </p:tav>
                                      </p:tavLst>
                                    </p:anim>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5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grpId="0" nodeType="clickEffect">
                                  <p:stCondLst>
                                    <p:cond delay="0"/>
                                  </p:stCondLst>
                                  <p:childTnLst>
                                    <p:set>
                                      <p:cBhvr>
                                        <p:cTn id="77" dur="1" fill="hold">
                                          <p:stCondLst>
                                            <p:cond delay="0"/>
                                          </p:stCondLst>
                                        </p:cTn>
                                        <p:tgtEl>
                                          <p:spTgt spid="48">
                                            <p:txEl>
                                              <p:pRg st="6" end="6"/>
                                            </p:txEl>
                                          </p:spTgt>
                                        </p:tgtEl>
                                        <p:attrNameLst>
                                          <p:attrName>style.visibility</p:attrName>
                                        </p:attrNameLst>
                                      </p:cBhvr>
                                      <p:to>
                                        <p:strVal val="visible"/>
                                      </p:to>
                                    </p:set>
                                    <p:anim calcmode="lin" valueType="num">
                                      <p:cBhvr>
                                        <p:cTn id="78" dur="500" fill="hold"/>
                                        <p:tgtEl>
                                          <p:spTgt spid="48">
                                            <p:txEl>
                                              <p:pRg st="6" end="6"/>
                                            </p:txEl>
                                          </p:spTgt>
                                        </p:tgtEl>
                                        <p:attrNameLst>
                                          <p:attrName>ppt_w</p:attrName>
                                        </p:attrNameLst>
                                      </p:cBhvr>
                                      <p:tavLst>
                                        <p:tav tm="0">
                                          <p:val>
                                            <p:fltVal val="0"/>
                                          </p:val>
                                        </p:tav>
                                        <p:tav tm="100000">
                                          <p:val>
                                            <p:strVal val="#ppt_w"/>
                                          </p:val>
                                        </p:tav>
                                      </p:tavLst>
                                    </p:anim>
                                    <p:anim calcmode="lin" valueType="num">
                                      <p:cBhvr>
                                        <p:cTn id="79" dur="500" fill="hold"/>
                                        <p:tgtEl>
                                          <p:spTgt spid="48">
                                            <p:txEl>
                                              <p:pRg st="6" end="6"/>
                                            </p:txEl>
                                          </p:spTgt>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3" presetClass="entr" presetSubtype="288" fill="hold" grpId="0" nodeType="clickEffect">
                                  <p:stCondLst>
                                    <p:cond delay="0"/>
                                  </p:stCondLst>
                                  <p:childTnLst>
                                    <p:set>
                                      <p:cBhvr>
                                        <p:cTn id="83" dur="1" fill="hold">
                                          <p:stCondLst>
                                            <p:cond delay="0"/>
                                          </p:stCondLst>
                                        </p:cTn>
                                        <p:tgtEl>
                                          <p:spTgt spid="48">
                                            <p:txEl>
                                              <p:pRg st="7" end="7"/>
                                            </p:txEl>
                                          </p:spTgt>
                                        </p:tgtEl>
                                        <p:attrNameLst>
                                          <p:attrName>style.visibility</p:attrName>
                                        </p:attrNameLst>
                                      </p:cBhvr>
                                      <p:to>
                                        <p:strVal val="visible"/>
                                      </p:to>
                                    </p:set>
                                    <p:anim calcmode="lin" valueType="num">
                                      <p:cBhvr>
                                        <p:cTn id="84" dur="500" fill="hold"/>
                                        <p:tgtEl>
                                          <p:spTgt spid="48">
                                            <p:txEl>
                                              <p:pRg st="7" end="7"/>
                                            </p:txEl>
                                          </p:spTgt>
                                        </p:tgtEl>
                                        <p:attrNameLst>
                                          <p:attrName>ppt_w</p:attrName>
                                        </p:attrNameLst>
                                      </p:cBhvr>
                                      <p:tavLst>
                                        <p:tav tm="0">
                                          <p:val>
                                            <p:strVal val="4/3*#ppt_w"/>
                                          </p:val>
                                        </p:tav>
                                        <p:tav tm="100000">
                                          <p:val>
                                            <p:strVal val="#ppt_w"/>
                                          </p:val>
                                        </p:tav>
                                      </p:tavLst>
                                    </p:anim>
                                    <p:anim calcmode="lin" valueType="num">
                                      <p:cBhvr>
                                        <p:cTn id="85" dur="500" fill="hold"/>
                                        <p:tgtEl>
                                          <p:spTgt spid="48">
                                            <p:txEl>
                                              <p:pRg st="7" end="7"/>
                                            </p:txEl>
                                          </p:spTgt>
                                        </p:tgtEl>
                                        <p:attrNameLst>
                                          <p:attrName>ppt_h</p:attrName>
                                        </p:attrNameLst>
                                      </p:cBhvr>
                                      <p:tavLst>
                                        <p:tav tm="0">
                                          <p:val>
                                            <p:strVal val="4/3*#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3" presetClass="entr" presetSubtype="288" fill="hold" grpId="0" nodeType="clickEffect">
                                  <p:stCondLst>
                                    <p:cond delay="0"/>
                                  </p:stCondLst>
                                  <p:childTnLst>
                                    <p:set>
                                      <p:cBhvr>
                                        <p:cTn id="89" dur="1" fill="hold">
                                          <p:stCondLst>
                                            <p:cond delay="0"/>
                                          </p:stCondLst>
                                        </p:cTn>
                                        <p:tgtEl>
                                          <p:spTgt spid="48">
                                            <p:txEl>
                                              <p:pRg st="8" end="8"/>
                                            </p:txEl>
                                          </p:spTgt>
                                        </p:tgtEl>
                                        <p:attrNameLst>
                                          <p:attrName>style.visibility</p:attrName>
                                        </p:attrNameLst>
                                      </p:cBhvr>
                                      <p:to>
                                        <p:strVal val="visible"/>
                                      </p:to>
                                    </p:set>
                                    <p:anim calcmode="lin" valueType="num">
                                      <p:cBhvr>
                                        <p:cTn id="90" dur="500" fill="hold"/>
                                        <p:tgtEl>
                                          <p:spTgt spid="48">
                                            <p:txEl>
                                              <p:pRg st="8" end="8"/>
                                            </p:txEl>
                                          </p:spTgt>
                                        </p:tgtEl>
                                        <p:attrNameLst>
                                          <p:attrName>ppt_w</p:attrName>
                                        </p:attrNameLst>
                                      </p:cBhvr>
                                      <p:tavLst>
                                        <p:tav tm="0">
                                          <p:val>
                                            <p:strVal val="4/3*#ppt_w"/>
                                          </p:val>
                                        </p:tav>
                                        <p:tav tm="100000">
                                          <p:val>
                                            <p:strVal val="#ppt_w"/>
                                          </p:val>
                                        </p:tav>
                                      </p:tavLst>
                                    </p:anim>
                                    <p:anim calcmode="lin" valueType="num">
                                      <p:cBhvr>
                                        <p:cTn id="91" dur="500" fill="hold"/>
                                        <p:tgtEl>
                                          <p:spTgt spid="48">
                                            <p:txEl>
                                              <p:pRg st="8" end="8"/>
                                            </p:txEl>
                                          </p:spTgt>
                                        </p:tgtEl>
                                        <p:attrNameLst>
                                          <p:attrName>ppt_h</p:attrName>
                                        </p:attrNameLst>
                                      </p:cBhvr>
                                      <p:tavLst>
                                        <p:tav tm="0">
                                          <p:val>
                                            <p:strVal val="4/3*#ppt_h"/>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23" presetClass="entr" presetSubtype="288" fill="hold" grpId="0" nodeType="clickEffect">
                                  <p:stCondLst>
                                    <p:cond delay="0"/>
                                  </p:stCondLst>
                                  <p:childTnLst>
                                    <p:set>
                                      <p:cBhvr>
                                        <p:cTn id="95" dur="1" fill="hold">
                                          <p:stCondLst>
                                            <p:cond delay="0"/>
                                          </p:stCondLst>
                                        </p:cTn>
                                        <p:tgtEl>
                                          <p:spTgt spid="48">
                                            <p:txEl>
                                              <p:pRg st="9" end="9"/>
                                            </p:txEl>
                                          </p:spTgt>
                                        </p:tgtEl>
                                        <p:attrNameLst>
                                          <p:attrName>style.visibility</p:attrName>
                                        </p:attrNameLst>
                                      </p:cBhvr>
                                      <p:to>
                                        <p:strVal val="visible"/>
                                      </p:to>
                                    </p:set>
                                    <p:anim calcmode="lin" valueType="num">
                                      <p:cBhvr>
                                        <p:cTn id="96" dur="500" fill="hold"/>
                                        <p:tgtEl>
                                          <p:spTgt spid="48">
                                            <p:txEl>
                                              <p:pRg st="9" end="9"/>
                                            </p:txEl>
                                          </p:spTgt>
                                        </p:tgtEl>
                                        <p:attrNameLst>
                                          <p:attrName>ppt_w</p:attrName>
                                        </p:attrNameLst>
                                      </p:cBhvr>
                                      <p:tavLst>
                                        <p:tav tm="0">
                                          <p:val>
                                            <p:strVal val="4/3*#ppt_w"/>
                                          </p:val>
                                        </p:tav>
                                        <p:tav tm="100000">
                                          <p:val>
                                            <p:strVal val="#ppt_w"/>
                                          </p:val>
                                        </p:tav>
                                      </p:tavLst>
                                    </p:anim>
                                    <p:anim calcmode="lin" valueType="num">
                                      <p:cBhvr>
                                        <p:cTn id="97" dur="500" fill="hold"/>
                                        <p:tgtEl>
                                          <p:spTgt spid="48">
                                            <p:txEl>
                                              <p:pRg st="9" end="9"/>
                                            </p:txEl>
                                          </p:spTgt>
                                        </p:tgtEl>
                                        <p:attrNameLst>
                                          <p:attrName>ppt_h</p:attrName>
                                        </p:attrNameLst>
                                      </p:cBhvr>
                                      <p:tavLst>
                                        <p:tav tm="0">
                                          <p:val>
                                            <p:strVal val="4/3*#ppt_h"/>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23" presetClass="entr" presetSubtype="16" fill="hold" grpId="0" nodeType="clickEffect">
                                  <p:stCondLst>
                                    <p:cond delay="0"/>
                                  </p:stCondLst>
                                  <p:childTnLst>
                                    <p:set>
                                      <p:cBhvr>
                                        <p:cTn id="101" dur="1" fill="hold">
                                          <p:stCondLst>
                                            <p:cond delay="0"/>
                                          </p:stCondLst>
                                        </p:cTn>
                                        <p:tgtEl>
                                          <p:spTgt spid="48">
                                            <p:txEl>
                                              <p:pRg st="10" end="10"/>
                                            </p:txEl>
                                          </p:spTgt>
                                        </p:tgtEl>
                                        <p:attrNameLst>
                                          <p:attrName>style.visibility</p:attrName>
                                        </p:attrNameLst>
                                      </p:cBhvr>
                                      <p:to>
                                        <p:strVal val="visible"/>
                                      </p:to>
                                    </p:set>
                                    <p:anim calcmode="lin" valueType="num">
                                      <p:cBhvr>
                                        <p:cTn id="102" dur="500" fill="hold"/>
                                        <p:tgtEl>
                                          <p:spTgt spid="48">
                                            <p:txEl>
                                              <p:pRg st="10" end="10"/>
                                            </p:txEl>
                                          </p:spTgt>
                                        </p:tgtEl>
                                        <p:attrNameLst>
                                          <p:attrName>ppt_w</p:attrName>
                                        </p:attrNameLst>
                                      </p:cBhvr>
                                      <p:tavLst>
                                        <p:tav tm="0">
                                          <p:val>
                                            <p:fltVal val="0"/>
                                          </p:val>
                                        </p:tav>
                                        <p:tav tm="100000">
                                          <p:val>
                                            <p:strVal val="#ppt_w"/>
                                          </p:val>
                                        </p:tav>
                                      </p:tavLst>
                                    </p:anim>
                                    <p:anim calcmode="lin" valueType="num">
                                      <p:cBhvr>
                                        <p:cTn id="103" dur="500" fill="hold"/>
                                        <p:tgtEl>
                                          <p:spTgt spid="48">
                                            <p:txEl>
                                              <p:pRg st="10" end="1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uiExpand="1" build="p"/>
      <p:bldP spid="49" grpId="0" uiExpand="1" animBg="1"/>
      <p:bldP spid="50" grpId="0" uiExpand="1" animBg="1"/>
      <p:bldP spid="51" grpId="0" uiExpand="1" animBg="1"/>
      <p:bldP spid="52" grpId="0" animBg="1"/>
      <p:bldP spid="53" grpId="0" animBg="1"/>
      <p:bldP spid="54" grpId="0" animBg="1"/>
      <p:bldP spid="55" grpId="0" animBg="1"/>
      <p:bldP spid="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en-US" altLang="zh-CN" dirty="0">
                <a:solidFill>
                  <a:srgbClr val="C00000"/>
                </a:solidFill>
                <a:latin typeface="Arial" pitchFamily="34" charset="0"/>
              </a:rPr>
              <a:t>3. OpenGL</a:t>
            </a:r>
            <a:r>
              <a:rPr lang="zh-CN" altLang="en-US" dirty="0">
                <a:solidFill>
                  <a:srgbClr val="C00000"/>
                </a:solidFill>
                <a:latin typeface="Arial" pitchFamily="34" charset="0"/>
              </a:rPr>
              <a:t>编程规范</a:t>
            </a:r>
            <a:endParaRPr lang="zh-CN" altLang="en-US" dirty="0">
              <a:cs typeface="+mj-cs"/>
            </a:endParaRPr>
          </a:p>
        </p:txBody>
      </p:sp>
      <p:pic>
        <p:nvPicPr>
          <p:cNvPr id="3" name="图片 2">
            <a:extLst>
              <a:ext uri="{FF2B5EF4-FFF2-40B4-BE49-F238E27FC236}">
                <a16:creationId xmlns:a16="http://schemas.microsoft.com/office/drawing/2014/main" id="{4902409A-6C54-4C02-8D04-E167847B8D95}"/>
              </a:ext>
            </a:extLst>
          </p:cNvPr>
          <p:cNvPicPr>
            <a:picLocks noChangeAspect="1"/>
          </p:cNvPicPr>
          <p:nvPr/>
        </p:nvPicPr>
        <p:blipFill rotWithShape="1">
          <a:blip r:embed="rId2">
            <a:extLst>
              <a:ext uri="{28A0092B-C50C-407E-A947-70E740481C1C}">
                <a14:useLocalDpi xmlns:a14="http://schemas.microsoft.com/office/drawing/2010/main" val="0"/>
              </a:ext>
            </a:extLst>
          </a:blip>
          <a:srcRect r="3441" b="2096"/>
          <a:stretch/>
        </p:blipFill>
        <p:spPr>
          <a:xfrm>
            <a:off x="2749117" y="908720"/>
            <a:ext cx="6693766" cy="5949280"/>
          </a:xfrm>
          <a:prstGeom prst="rect">
            <a:avLst/>
          </a:prstGeom>
        </p:spPr>
      </p:pic>
    </p:spTree>
    <p:extLst>
      <p:ext uri="{BB962C8B-B14F-4D97-AF65-F5344CB8AC3E}">
        <p14:creationId xmlns:p14="http://schemas.microsoft.com/office/powerpoint/2010/main" val="286338882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en-US" altLang="zh-CN" dirty="0">
                <a:solidFill>
                  <a:srgbClr val="C00000"/>
                </a:solidFill>
                <a:latin typeface="Arial" pitchFamily="34" charset="0"/>
              </a:rPr>
              <a:t>3. OpenGL</a:t>
            </a:r>
            <a:r>
              <a:rPr lang="zh-CN" altLang="en-US" dirty="0">
                <a:solidFill>
                  <a:srgbClr val="C00000"/>
                </a:solidFill>
                <a:latin typeface="Arial" pitchFamily="34" charset="0"/>
              </a:rPr>
              <a:t>编程规范</a:t>
            </a:r>
            <a:endParaRPr lang="zh-CN" altLang="en-US" dirty="0">
              <a:cs typeface="+mj-cs"/>
            </a:endParaRPr>
          </a:p>
        </p:txBody>
      </p:sp>
      <p:sp>
        <p:nvSpPr>
          <p:cNvPr id="13" name="内容占位符 2">
            <a:extLst>
              <a:ext uri="{FF2B5EF4-FFF2-40B4-BE49-F238E27FC236}">
                <a16:creationId xmlns:a16="http://schemas.microsoft.com/office/drawing/2014/main" id="{E67A7E5D-6A93-468D-9CEA-8505ED867F1A}"/>
              </a:ext>
            </a:extLst>
          </p:cNvPr>
          <p:cNvSpPr txBox="1">
            <a:spLocks/>
          </p:cNvSpPr>
          <p:nvPr/>
        </p:nvSpPr>
        <p:spPr bwMode="auto">
          <a:xfrm>
            <a:off x="2063553" y="1124745"/>
            <a:ext cx="7945437" cy="4403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lnSpc>
                <a:spcPct val="110000"/>
              </a:lnSpc>
              <a:defRPr/>
            </a:pPr>
            <a:r>
              <a:rPr lang="en-US" altLang="zh-CN" kern="0" dirty="0">
                <a:ea typeface="黑体" pitchFamily="49" charset="-122"/>
              </a:rPr>
              <a:t>OpenGL</a:t>
            </a:r>
            <a:r>
              <a:rPr lang="zh-CN" altLang="en-US" kern="0" dirty="0">
                <a:ea typeface="黑体" pitchFamily="49" charset="-122"/>
              </a:rPr>
              <a:t>三大函数库头文件</a:t>
            </a:r>
            <a:endParaRPr lang="en-US" altLang="zh-CN" kern="0" dirty="0">
              <a:ea typeface="黑体" pitchFamily="49" charset="-122"/>
            </a:endParaRPr>
          </a:p>
          <a:p>
            <a:pPr lvl="1">
              <a:defRPr/>
            </a:pPr>
            <a:r>
              <a:rPr lang="en-US" altLang="zh-CN" kern="0" dirty="0">
                <a:solidFill>
                  <a:schemeClr val="tx1"/>
                </a:solidFill>
                <a:ea typeface="宋体" pitchFamily="2" charset="-122"/>
              </a:rPr>
              <a:t>GL</a:t>
            </a:r>
            <a:r>
              <a:rPr lang="zh-CN" altLang="en-US" kern="0" dirty="0">
                <a:solidFill>
                  <a:schemeClr val="tx1"/>
                </a:solidFill>
                <a:ea typeface="宋体" pitchFamily="2" charset="-122"/>
              </a:rPr>
              <a:t>库：</a:t>
            </a:r>
            <a:r>
              <a:rPr lang="en-US" altLang="zh-CN" kern="0" dirty="0">
                <a:ea typeface="宋体" pitchFamily="2" charset="-122"/>
              </a:rPr>
              <a:t>	</a:t>
            </a:r>
            <a:r>
              <a:rPr lang="en-US" altLang="zh-CN" kern="0" dirty="0">
                <a:solidFill>
                  <a:srgbClr val="FF0000"/>
                </a:solidFill>
                <a:ea typeface="宋体" pitchFamily="2" charset="-122"/>
              </a:rPr>
              <a:t>#include &lt;GL/</a:t>
            </a:r>
            <a:r>
              <a:rPr lang="en-US" altLang="zh-CN" kern="0" dirty="0" err="1">
                <a:solidFill>
                  <a:srgbClr val="FF0000"/>
                </a:solidFill>
                <a:ea typeface="宋体" pitchFamily="2" charset="-122"/>
              </a:rPr>
              <a:t>gl.h</a:t>
            </a:r>
            <a:r>
              <a:rPr lang="en-US" altLang="zh-CN" kern="0" dirty="0">
                <a:solidFill>
                  <a:srgbClr val="FF0000"/>
                </a:solidFill>
                <a:ea typeface="宋体" pitchFamily="2" charset="-122"/>
              </a:rPr>
              <a:t>&gt;</a:t>
            </a:r>
          </a:p>
          <a:p>
            <a:pPr lvl="1">
              <a:defRPr/>
            </a:pPr>
            <a:r>
              <a:rPr lang="en-US" altLang="zh-CN" kern="0" dirty="0">
                <a:solidFill>
                  <a:schemeClr val="tx1"/>
                </a:solidFill>
                <a:ea typeface="宋体" pitchFamily="2" charset="-122"/>
              </a:rPr>
              <a:t>GLU</a:t>
            </a:r>
            <a:r>
              <a:rPr lang="zh-CN" altLang="en-US" kern="0" dirty="0">
                <a:solidFill>
                  <a:schemeClr val="tx1"/>
                </a:solidFill>
                <a:ea typeface="宋体" pitchFamily="2" charset="-122"/>
              </a:rPr>
              <a:t>库：</a:t>
            </a:r>
            <a:r>
              <a:rPr lang="en-US" altLang="zh-CN" kern="0" dirty="0">
                <a:ea typeface="宋体" pitchFamily="2" charset="-122"/>
              </a:rPr>
              <a:t>	</a:t>
            </a:r>
            <a:r>
              <a:rPr lang="en-US" altLang="zh-CN" kern="0" dirty="0">
                <a:solidFill>
                  <a:srgbClr val="FF0000"/>
                </a:solidFill>
                <a:ea typeface="宋体" pitchFamily="2" charset="-122"/>
              </a:rPr>
              <a:t>#include &lt;GL/</a:t>
            </a:r>
            <a:r>
              <a:rPr lang="en-US" altLang="zh-CN" kern="0" dirty="0" err="1">
                <a:solidFill>
                  <a:srgbClr val="FF0000"/>
                </a:solidFill>
                <a:ea typeface="宋体" pitchFamily="2" charset="-122"/>
              </a:rPr>
              <a:t>glu.h</a:t>
            </a:r>
            <a:r>
              <a:rPr lang="en-US" altLang="zh-CN" kern="0" dirty="0">
                <a:solidFill>
                  <a:srgbClr val="FF0000"/>
                </a:solidFill>
                <a:ea typeface="宋体" pitchFamily="2" charset="-122"/>
              </a:rPr>
              <a:t>&gt;</a:t>
            </a:r>
          </a:p>
          <a:p>
            <a:pPr lvl="1">
              <a:defRPr/>
            </a:pPr>
            <a:r>
              <a:rPr lang="en-US" altLang="zh-CN" kern="0" dirty="0">
                <a:solidFill>
                  <a:schemeClr val="tx1"/>
                </a:solidFill>
                <a:ea typeface="宋体" pitchFamily="2" charset="-122"/>
              </a:rPr>
              <a:t>GLUT</a:t>
            </a:r>
            <a:r>
              <a:rPr lang="zh-CN" altLang="en-US" kern="0" dirty="0">
                <a:solidFill>
                  <a:schemeClr val="tx1"/>
                </a:solidFill>
                <a:ea typeface="宋体" pitchFamily="2" charset="-122"/>
              </a:rPr>
              <a:t>库：</a:t>
            </a:r>
            <a:r>
              <a:rPr lang="en-US" altLang="zh-CN" kern="0" dirty="0">
                <a:ea typeface="宋体" pitchFamily="2" charset="-122"/>
              </a:rPr>
              <a:t>	</a:t>
            </a:r>
            <a:r>
              <a:rPr lang="en-US" altLang="zh-CN" kern="0" dirty="0">
                <a:solidFill>
                  <a:srgbClr val="FF0000"/>
                </a:solidFill>
                <a:ea typeface="宋体" pitchFamily="2" charset="-122"/>
              </a:rPr>
              <a:t>#include &lt;GL/</a:t>
            </a:r>
            <a:r>
              <a:rPr lang="en-US" altLang="zh-CN" kern="0" dirty="0" err="1">
                <a:solidFill>
                  <a:srgbClr val="FF0000"/>
                </a:solidFill>
                <a:ea typeface="宋体" pitchFamily="2" charset="-122"/>
              </a:rPr>
              <a:t>glut.h</a:t>
            </a:r>
            <a:r>
              <a:rPr lang="en-US" altLang="zh-CN" kern="0" dirty="0">
                <a:solidFill>
                  <a:srgbClr val="FF0000"/>
                </a:solidFill>
                <a:ea typeface="宋体" pitchFamily="2" charset="-122"/>
              </a:rPr>
              <a:t>&gt;</a:t>
            </a:r>
          </a:p>
          <a:p>
            <a:pPr>
              <a:lnSpc>
                <a:spcPct val="110000"/>
              </a:lnSpc>
              <a:defRPr/>
            </a:pPr>
            <a:endParaRPr lang="en-US" altLang="zh-CN" kern="0" dirty="0">
              <a:ea typeface="黑体" pitchFamily="49" charset="-122"/>
            </a:endParaRPr>
          </a:p>
          <a:p>
            <a:pPr>
              <a:lnSpc>
                <a:spcPct val="110000"/>
              </a:lnSpc>
              <a:defRPr/>
            </a:pPr>
            <a:r>
              <a:rPr lang="en-US" altLang="zh-CN" kern="0" dirty="0">
                <a:ea typeface="黑体" pitchFamily="49" charset="-122"/>
              </a:rPr>
              <a:t>OpenGL</a:t>
            </a:r>
            <a:r>
              <a:rPr lang="zh-CN" altLang="en-US" kern="0" dirty="0">
                <a:ea typeface="黑体" pitchFamily="49" charset="-122"/>
              </a:rPr>
              <a:t>三大函数库具有不同实现形式</a:t>
            </a:r>
            <a:endParaRPr lang="en-US" altLang="zh-CN" kern="0" dirty="0">
              <a:ea typeface="黑体" pitchFamily="49" charset="-122"/>
            </a:endParaRPr>
          </a:p>
          <a:p>
            <a:pPr lvl="1">
              <a:defRPr/>
            </a:pPr>
            <a:r>
              <a:rPr lang="en-US" altLang="zh-CN" kern="0" dirty="0">
                <a:solidFill>
                  <a:schemeClr val="tx1"/>
                </a:solidFill>
                <a:ea typeface="宋体" pitchFamily="2" charset="-122"/>
              </a:rPr>
              <a:t>GL</a:t>
            </a:r>
            <a:r>
              <a:rPr lang="zh-CN" altLang="en-US" kern="0" dirty="0">
                <a:solidFill>
                  <a:schemeClr val="tx1"/>
                </a:solidFill>
                <a:ea typeface="宋体" pitchFamily="2" charset="-122"/>
              </a:rPr>
              <a:t>库：</a:t>
            </a:r>
            <a:r>
              <a:rPr lang="en-US" altLang="zh-CN" kern="0" dirty="0">
                <a:solidFill>
                  <a:schemeClr val="tx1"/>
                </a:solidFill>
                <a:ea typeface="宋体" pitchFamily="2" charset="-122"/>
              </a:rPr>
              <a:t>	opengl32.lib	opengl32.dll	</a:t>
            </a:r>
            <a:r>
              <a:rPr lang="en-US" altLang="zh-CN" kern="0" dirty="0" err="1">
                <a:solidFill>
                  <a:schemeClr val="tx1"/>
                </a:solidFill>
                <a:ea typeface="宋体" pitchFamily="2" charset="-122"/>
              </a:rPr>
              <a:t>gl.h</a:t>
            </a:r>
            <a:endParaRPr lang="en-US" altLang="zh-CN" kern="0" dirty="0">
              <a:solidFill>
                <a:schemeClr val="tx1"/>
              </a:solidFill>
              <a:ea typeface="宋体" pitchFamily="2" charset="-122"/>
            </a:endParaRPr>
          </a:p>
          <a:p>
            <a:pPr lvl="1">
              <a:defRPr/>
            </a:pPr>
            <a:r>
              <a:rPr lang="en-US" altLang="zh-CN" kern="0" dirty="0">
                <a:solidFill>
                  <a:schemeClr val="tx1"/>
                </a:solidFill>
                <a:ea typeface="宋体" pitchFamily="2" charset="-122"/>
              </a:rPr>
              <a:t>GLU</a:t>
            </a:r>
            <a:r>
              <a:rPr lang="zh-CN" altLang="en-US" kern="0" dirty="0">
                <a:solidFill>
                  <a:schemeClr val="tx1"/>
                </a:solidFill>
                <a:ea typeface="宋体" pitchFamily="2" charset="-122"/>
              </a:rPr>
              <a:t>库：</a:t>
            </a:r>
            <a:r>
              <a:rPr lang="en-US" altLang="zh-CN" kern="0" dirty="0">
                <a:solidFill>
                  <a:schemeClr val="tx1"/>
                </a:solidFill>
                <a:ea typeface="宋体" pitchFamily="2" charset="-122"/>
              </a:rPr>
              <a:t>	glu32.lib    	glu32.dll   	</a:t>
            </a:r>
            <a:r>
              <a:rPr lang="en-US" altLang="zh-CN" kern="0" dirty="0" err="1">
                <a:solidFill>
                  <a:schemeClr val="tx1"/>
                </a:solidFill>
                <a:ea typeface="宋体" pitchFamily="2" charset="-122"/>
              </a:rPr>
              <a:t>glu.h</a:t>
            </a:r>
            <a:endParaRPr lang="en-US" altLang="zh-CN" kern="0" dirty="0">
              <a:solidFill>
                <a:schemeClr val="tx1"/>
              </a:solidFill>
              <a:ea typeface="宋体" pitchFamily="2" charset="-122"/>
            </a:endParaRPr>
          </a:p>
          <a:p>
            <a:pPr lvl="1">
              <a:defRPr/>
            </a:pPr>
            <a:r>
              <a:rPr lang="en-US" altLang="zh-CN" kern="0" dirty="0">
                <a:solidFill>
                  <a:schemeClr val="tx1"/>
                </a:solidFill>
                <a:ea typeface="宋体" pitchFamily="2" charset="-122"/>
              </a:rPr>
              <a:t>GLUT</a:t>
            </a:r>
            <a:r>
              <a:rPr lang="zh-CN" altLang="en-US" kern="0" dirty="0">
                <a:solidFill>
                  <a:schemeClr val="tx1"/>
                </a:solidFill>
                <a:ea typeface="宋体" pitchFamily="2" charset="-122"/>
              </a:rPr>
              <a:t>库：</a:t>
            </a:r>
            <a:r>
              <a:rPr lang="en-US" altLang="zh-CN" kern="0" dirty="0">
                <a:solidFill>
                  <a:schemeClr val="tx1"/>
                </a:solidFill>
                <a:ea typeface="宋体" pitchFamily="2" charset="-122"/>
              </a:rPr>
              <a:t>	glut32.lib   	glut32.dll   	</a:t>
            </a:r>
            <a:r>
              <a:rPr lang="en-US" altLang="zh-CN" kern="0" dirty="0" err="1">
                <a:solidFill>
                  <a:schemeClr val="tx1"/>
                </a:solidFill>
                <a:ea typeface="宋体" pitchFamily="2" charset="-122"/>
              </a:rPr>
              <a:t>glut.h</a:t>
            </a:r>
            <a:endParaRPr lang="zh-CN" altLang="en-US" kern="0" dirty="0">
              <a:solidFill>
                <a:schemeClr val="tx1"/>
              </a:solidFill>
              <a:ea typeface="宋体" pitchFamily="2" charset="-122"/>
            </a:endParaRPr>
          </a:p>
        </p:txBody>
      </p:sp>
    </p:spTree>
    <p:extLst>
      <p:ext uri="{BB962C8B-B14F-4D97-AF65-F5344CB8AC3E}">
        <p14:creationId xmlns:p14="http://schemas.microsoft.com/office/powerpoint/2010/main" val="82307909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7F964891-EF81-4266-A268-24BAB3832EB8}"/>
              </a:ext>
            </a:extLst>
          </p:cNvPr>
          <p:cNvSpPr>
            <a:spLocks noGrp="1" noChangeArrowheads="1"/>
          </p:cNvSpPr>
          <p:nvPr>
            <p:ph type="title"/>
          </p:nvPr>
        </p:nvSpPr>
        <p:spPr/>
        <p:txBody>
          <a:bodyPr/>
          <a:lstStyle/>
          <a:p>
            <a:pPr>
              <a:defRPr/>
            </a:pPr>
            <a:r>
              <a:rPr lang="en-US" altLang="zh-CN" dirty="0">
                <a:solidFill>
                  <a:srgbClr val="C00000"/>
                </a:solidFill>
                <a:latin typeface="Arial" pitchFamily="34" charset="0"/>
              </a:rPr>
              <a:t>3. OpenGL</a:t>
            </a:r>
            <a:r>
              <a:rPr lang="zh-CN" altLang="en-US" dirty="0">
                <a:solidFill>
                  <a:srgbClr val="C00000"/>
                </a:solidFill>
                <a:latin typeface="Arial" pitchFamily="34" charset="0"/>
              </a:rPr>
              <a:t>编程规范</a:t>
            </a:r>
            <a:endParaRPr lang="zh-CN" altLang="en-US" dirty="0">
              <a:cs typeface="+mj-cs"/>
            </a:endParaRPr>
          </a:p>
        </p:txBody>
      </p:sp>
      <p:sp>
        <p:nvSpPr>
          <p:cNvPr id="32" name="Rectangle 3">
            <a:extLst>
              <a:ext uri="{FF2B5EF4-FFF2-40B4-BE49-F238E27FC236}">
                <a16:creationId xmlns:a16="http://schemas.microsoft.com/office/drawing/2014/main" id="{D57CF624-840F-4C3C-951E-AC37305A06A5}"/>
              </a:ext>
            </a:extLst>
          </p:cNvPr>
          <p:cNvSpPr>
            <a:spLocks noChangeArrowheads="1"/>
          </p:cNvSpPr>
          <p:nvPr/>
        </p:nvSpPr>
        <p:spPr bwMode="auto">
          <a:xfrm>
            <a:off x="4633038" y="1433737"/>
            <a:ext cx="3135474" cy="462307"/>
          </a:xfrm>
          <a:prstGeom prst="rect">
            <a:avLst/>
          </a:prstGeom>
          <a:noFill/>
          <a:ln w="9525">
            <a:noFill/>
            <a:miter lim="800000"/>
            <a:headEnd/>
            <a:tailEnd/>
          </a:ln>
          <a:effectLst/>
        </p:spPr>
        <p:txBody>
          <a:bodyPr wrap="none" lIns="92075" tIns="46038" rIns="92075" bIns="46038">
            <a:spAutoFit/>
          </a:bodyPr>
          <a:lstStyle/>
          <a:p>
            <a:pPr algn="ctr">
              <a:defRPr/>
            </a:pPr>
            <a:r>
              <a:rPr lang="en-US" altLang="zh-CN" sz="2400" b="1">
                <a:solidFill>
                  <a:srgbClr val="5B0DAA"/>
                </a:solidFill>
                <a:effectLst>
                  <a:outerShdw blurRad="38100" dist="38100" dir="2700000" algn="tl">
                    <a:srgbClr val="C0C0C0"/>
                  </a:outerShdw>
                </a:effectLst>
                <a:latin typeface="Courier New" pitchFamily="49" charset="0"/>
                <a:ea typeface="宋体" pitchFamily="2" charset="-122"/>
              </a:rPr>
              <a:t>glVertex3fv( </a:t>
            </a:r>
            <a:r>
              <a:rPr lang="en-US" altLang="zh-CN" sz="2400" b="1" i="1">
                <a:solidFill>
                  <a:srgbClr val="5B0DAA"/>
                </a:solidFill>
                <a:effectLst>
                  <a:outerShdw blurRad="38100" dist="38100" dir="2700000" algn="tl">
                    <a:srgbClr val="C0C0C0"/>
                  </a:outerShdw>
                </a:effectLst>
                <a:latin typeface="Courier New" pitchFamily="49" charset="0"/>
                <a:ea typeface="宋体" pitchFamily="2" charset="-122"/>
              </a:rPr>
              <a:t>v</a:t>
            </a:r>
            <a:r>
              <a:rPr lang="en-US" altLang="zh-CN" sz="2400" b="1">
                <a:solidFill>
                  <a:srgbClr val="5B0DAA"/>
                </a:solidFill>
                <a:effectLst>
                  <a:outerShdw blurRad="38100" dist="38100" dir="2700000" algn="tl">
                    <a:srgbClr val="C0C0C0"/>
                  </a:outerShdw>
                </a:effectLst>
                <a:latin typeface="Courier New" pitchFamily="49" charset="0"/>
                <a:ea typeface="宋体" pitchFamily="2" charset="-122"/>
              </a:rPr>
              <a:t> )</a:t>
            </a:r>
          </a:p>
        </p:txBody>
      </p:sp>
      <p:grpSp>
        <p:nvGrpSpPr>
          <p:cNvPr id="33" name="Group 69">
            <a:extLst>
              <a:ext uri="{FF2B5EF4-FFF2-40B4-BE49-F238E27FC236}">
                <a16:creationId xmlns:a16="http://schemas.microsoft.com/office/drawing/2014/main" id="{AF0D73C3-88DF-4018-A36E-03A309399E3E}"/>
              </a:ext>
            </a:extLst>
          </p:cNvPr>
          <p:cNvGrpSpPr>
            <a:grpSpLocks/>
          </p:cNvGrpSpPr>
          <p:nvPr/>
        </p:nvGrpSpPr>
        <p:grpSpPr bwMode="auto">
          <a:xfrm>
            <a:off x="1992314" y="1830611"/>
            <a:ext cx="3095625" cy="1058862"/>
            <a:chOff x="295" y="1162"/>
            <a:chExt cx="1950" cy="667"/>
          </a:xfrm>
        </p:grpSpPr>
        <p:sp>
          <p:nvSpPr>
            <p:cNvPr id="34" name="Text Box 15">
              <a:extLst>
                <a:ext uri="{FF2B5EF4-FFF2-40B4-BE49-F238E27FC236}">
                  <a16:creationId xmlns:a16="http://schemas.microsoft.com/office/drawing/2014/main" id="{F1A41A59-02A7-4729-9747-5CBF8D2525DC}"/>
                </a:ext>
              </a:extLst>
            </p:cNvPr>
            <p:cNvSpPr txBox="1">
              <a:spLocks noChangeArrowheads="1"/>
            </p:cNvSpPr>
            <p:nvPr/>
          </p:nvSpPr>
          <p:spPr bwMode="auto">
            <a:xfrm>
              <a:off x="1584" y="1395"/>
              <a:ext cx="336" cy="2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2000" b="1" i="1" kern="0">
                  <a:solidFill>
                    <a:srgbClr val="CC0000"/>
                  </a:solidFill>
                  <a:effectLst>
                    <a:outerShdw blurRad="38100" dist="38100" dir="2700000" algn="tl">
                      <a:srgbClr val="C0C0C0"/>
                    </a:outerShdw>
                  </a:effectLst>
                  <a:latin typeface="Courier New" pitchFamily="49" charset="0"/>
                  <a:ea typeface="宋体" pitchFamily="2" charset="-122"/>
                </a:rPr>
                <a:t>库</a:t>
              </a:r>
            </a:p>
          </p:txBody>
        </p:sp>
        <p:sp>
          <p:nvSpPr>
            <p:cNvPr id="35" name="Rectangle 16">
              <a:extLst>
                <a:ext uri="{FF2B5EF4-FFF2-40B4-BE49-F238E27FC236}">
                  <a16:creationId xmlns:a16="http://schemas.microsoft.com/office/drawing/2014/main" id="{5AE46164-4ABB-4A27-905C-39A471771EAF}"/>
                </a:ext>
              </a:extLst>
            </p:cNvPr>
            <p:cNvSpPr>
              <a:spLocks noChangeArrowheads="1"/>
            </p:cNvSpPr>
            <p:nvPr/>
          </p:nvSpPr>
          <p:spPr bwMode="auto">
            <a:xfrm>
              <a:off x="295" y="1253"/>
              <a:ext cx="1338" cy="576"/>
            </a:xfrm>
            <a:prstGeom prst="rect">
              <a:avLst/>
            </a:prstGeom>
            <a:noFill/>
            <a:ln w="19050">
              <a:solidFill>
                <a:srgbClr val="CC0000"/>
              </a:solidFill>
              <a:miter lim="800000"/>
              <a:headEnd/>
              <a:tailEnd/>
            </a:ln>
            <a:effectLst/>
          </p:spPr>
          <p:txBody>
            <a:bodyPr wrap="none" anchor="ctr"/>
            <a:lstStyle/>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Courier New" pitchFamily="49" charset="0"/>
                  <a:ea typeface="宋体" pitchFamily="2" charset="-122"/>
                </a:rPr>
                <a:t>gl</a:t>
              </a: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 –	</a:t>
              </a:r>
              <a:r>
                <a:rPr lang="zh-CN" altLang="en-US" sz="1800" b="1" kern="0" dirty="0">
                  <a:solidFill>
                    <a:srgbClr val="5B0DAA"/>
                  </a:solidFill>
                  <a:effectLst>
                    <a:outerShdw blurRad="38100" dist="38100" dir="2700000" algn="tl">
                      <a:srgbClr val="C0C0C0"/>
                    </a:outerShdw>
                  </a:effectLst>
                  <a:latin typeface="Courier New" pitchFamily="49" charset="0"/>
                  <a:ea typeface="宋体" pitchFamily="2" charset="-122"/>
                </a:rPr>
                <a:t>基本库</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Courier New" pitchFamily="49" charset="0"/>
                  <a:ea typeface="宋体" pitchFamily="2" charset="-122"/>
                </a:rPr>
                <a:t>glu</a:t>
              </a: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 –	</a:t>
              </a:r>
              <a:r>
                <a:rPr lang="zh-CN" altLang="en-US" sz="1800" b="1" kern="0" dirty="0">
                  <a:solidFill>
                    <a:srgbClr val="5B0DAA"/>
                  </a:solidFill>
                  <a:effectLst>
                    <a:outerShdw blurRad="38100" dist="38100" dir="2700000" algn="tl">
                      <a:srgbClr val="C0C0C0"/>
                    </a:outerShdw>
                  </a:effectLst>
                  <a:latin typeface="Courier New" pitchFamily="49" charset="0"/>
                  <a:ea typeface="宋体" pitchFamily="2" charset="-122"/>
                </a:rPr>
                <a:t>实用库</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glut –	</a:t>
              </a:r>
              <a:r>
                <a:rPr lang="zh-CN" altLang="en-US" sz="1800" b="1" kern="0" dirty="0">
                  <a:solidFill>
                    <a:srgbClr val="5B0DAA"/>
                  </a:solidFill>
                  <a:effectLst>
                    <a:outerShdw blurRad="38100" dist="38100" dir="2700000" algn="tl">
                      <a:srgbClr val="C0C0C0"/>
                    </a:outerShdw>
                  </a:effectLst>
                  <a:latin typeface="Courier New" pitchFamily="49" charset="0"/>
                  <a:ea typeface="宋体" pitchFamily="2" charset="-122"/>
                </a:rPr>
                <a:t>应用工具库</a:t>
              </a:r>
            </a:p>
          </p:txBody>
        </p:sp>
        <p:grpSp>
          <p:nvGrpSpPr>
            <p:cNvPr id="36" name="Group 25">
              <a:extLst>
                <a:ext uri="{FF2B5EF4-FFF2-40B4-BE49-F238E27FC236}">
                  <a16:creationId xmlns:a16="http://schemas.microsoft.com/office/drawing/2014/main" id="{DE7A8E9C-5E18-4F0B-8FA6-CC4E6BBA5383}"/>
                </a:ext>
              </a:extLst>
            </p:cNvPr>
            <p:cNvGrpSpPr>
              <a:grpSpLocks/>
            </p:cNvGrpSpPr>
            <p:nvPr/>
          </p:nvGrpSpPr>
          <p:grpSpPr bwMode="auto">
            <a:xfrm>
              <a:off x="1899" y="1162"/>
              <a:ext cx="346" cy="379"/>
              <a:chOff x="1899" y="1207"/>
              <a:chExt cx="346" cy="379"/>
            </a:xfrm>
          </p:grpSpPr>
          <p:sp>
            <p:nvSpPr>
              <p:cNvPr id="37" name="Freeform 11">
                <a:extLst>
                  <a:ext uri="{FF2B5EF4-FFF2-40B4-BE49-F238E27FC236}">
                    <a16:creationId xmlns:a16="http://schemas.microsoft.com/office/drawing/2014/main" id="{4791D3F1-7133-457A-85F0-E1CADE24A8A5}"/>
                  </a:ext>
                </a:extLst>
              </p:cNvPr>
              <p:cNvSpPr>
                <a:spLocks/>
              </p:cNvSpPr>
              <p:nvPr/>
            </p:nvSpPr>
            <p:spPr bwMode="auto">
              <a:xfrm>
                <a:off x="1899" y="1207"/>
                <a:ext cx="250" cy="379"/>
              </a:xfrm>
              <a:custGeom>
                <a:avLst/>
                <a:gdLst>
                  <a:gd name="T0" fmla="*/ 2039 w 250"/>
                  <a:gd name="T1" fmla="*/ 0 h 379"/>
                  <a:gd name="T2" fmla="*/ 2039 w 250"/>
                  <a:gd name="T3" fmla="*/ 329 h 379"/>
                  <a:gd name="T4" fmla="*/ 0 w 250"/>
                  <a:gd name="T5" fmla="*/ 565 h 379"/>
                  <a:gd name="T6" fmla="*/ 0 w 250"/>
                  <a:gd name="T7" fmla="*/ 915 h 379"/>
                  <a:gd name="T8" fmla="*/ 0 60000 65536"/>
                  <a:gd name="T9" fmla="*/ 0 60000 65536"/>
                  <a:gd name="T10" fmla="*/ 0 60000 65536"/>
                  <a:gd name="T11" fmla="*/ 0 60000 65536"/>
                  <a:gd name="T12" fmla="*/ 0 w 250"/>
                  <a:gd name="T13" fmla="*/ 0 h 379"/>
                  <a:gd name="T14" fmla="*/ 2040 w 250"/>
                  <a:gd name="T15" fmla="*/ 916 h 379"/>
                </a:gdLst>
                <a:ahLst/>
                <a:cxnLst>
                  <a:cxn ang="T8">
                    <a:pos x="T0" y="T1"/>
                  </a:cxn>
                  <a:cxn ang="T9">
                    <a:pos x="T2" y="T3"/>
                  </a:cxn>
                  <a:cxn ang="T10">
                    <a:pos x="T4" y="T5"/>
                  </a:cxn>
                  <a:cxn ang="T11">
                    <a:pos x="T6" y="T7"/>
                  </a:cxn>
                </a:cxnLst>
                <a:rect l="T12" t="T13" r="T14" b="T15"/>
                <a:pathLst>
                  <a:path w="250" h="379">
                    <a:moveTo>
                      <a:pt x="250" y="0"/>
                    </a:moveTo>
                    <a:lnTo>
                      <a:pt x="250" y="371"/>
                    </a:lnTo>
                    <a:lnTo>
                      <a:pt x="0" y="379"/>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38" name="Line 22">
                <a:extLst>
                  <a:ext uri="{FF2B5EF4-FFF2-40B4-BE49-F238E27FC236}">
                    <a16:creationId xmlns:a16="http://schemas.microsoft.com/office/drawing/2014/main" id="{858B2813-3594-41FD-A214-371FFDDE705C}"/>
                  </a:ext>
                </a:extLst>
              </p:cNvPr>
              <p:cNvSpPr>
                <a:spLocks noChangeShapeType="1"/>
              </p:cNvSpPr>
              <p:nvPr/>
            </p:nvSpPr>
            <p:spPr bwMode="auto">
              <a:xfrm>
                <a:off x="2064" y="1207"/>
                <a:ext cx="181" cy="0"/>
              </a:xfrm>
              <a:prstGeom prst="line">
                <a:avLst/>
              </a:prstGeom>
              <a:noFill/>
              <a:ln w="19050" cap="rnd">
                <a:solidFill>
                  <a:srgbClr val="CC0000"/>
                </a:solidFill>
                <a:round/>
                <a:headEnd type="none" w="med" len="lg"/>
                <a:tailEnd type="none" w="sm" len="sm"/>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grpSp>
        <p:nvGrpSpPr>
          <p:cNvPr id="39" name="Group 93">
            <a:extLst>
              <a:ext uri="{FF2B5EF4-FFF2-40B4-BE49-F238E27FC236}">
                <a16:creationId xmlns:a16="http://schemas.microsoft.com/office/drawing/2014/main" id="{B0A8611B-8947-4C0F-AAF6-E88E80BF0104}"/>
              </a:ext>
            </a:extLst>
          </p:cNvPr>
          <p:cNvGrpSpPr>
            <a:grpSpLocks/>
          </p:cNvGrpSpPr>
          <p:nvPr/>
        </p:nvGrpSpPr>
        <p:grpSpPr bwMode="auto">
          <a:xfrm>
            <a:off x="2424114" y="1830612"/>
            <a:ext cx="3940175" cy="3248025"/>
            <a:chOff x="567" y="1162"/>
            <a:chExt cx="2482" cy="2046"/>
          </a:xfrm>
        </p:grpSpPr>
        <p:sp>
          <p:nvSpPr>
            <p:cNvPr id="40" name="Rectangle 5">
              <a:extLst>
                <a:ext uri="{FF2B5EF4-FFF2-40B4-BE49-F238E27FC236}">
                  <a16:creationId xmlns:a16="http://schemas.microsoft.com/office/drawing/2014/main" id="{176FF71B-EF74-44D9-9E5C-E15B51DCC8A6}"/>
                </a:ext>
              </a:extLst>
            </p:cNvPr>
            <p:cNvSpPr>
              <a:spLocks noChangeArrowheads="1"/>
            </p:cNvSpPr>
            <p:nvPr/>
          </p:nvSpPr>
          <p:spPr bwMode="auto">
            <a:xfrm>
              <a:off x="720" y="2352"/>
              <a:ext cx="767" cy="252"/>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zh-CN" altLang="en-US" sz="2000" b="1" i="1" kern="0">
                  <a:solidFill>
                    <a:srgbClr val="CC0000"/>
                  </a:solidFill>
                  <a:effectLst>
                    <a:outerShdw blurRad="38100" dist="38100" dir="2700000" algn="tl">
                      <a:srgbClr val="C0C0C0"/>
                    </a:outerShdw>
                  </a:effectLst>
                  <a:latin typeface="Courier New" pitchFamily="49" charset="0"/>
                  <a:ea typeface="宋体" pitchFamily="2" charset="-122"/>
                </a:rPr>
                <a:t>元素个数</a:t>
              </a:r>
            </a:p>
          </p:txBody>
        </p:sp>
        <p:sp>
          <p:nvSpPr>
            <p:cNvPr id="41" name="Rectangle 6">
              <a:extLst>
                <a:ext uri="{FF2B5EF4-FFF2-40B4-BE49-F238E27FC236}">
                  <a16:creationId xmlns:a16="http://schemas.microsoft.com/office/drawing/2014/main" id="{6679624D-1921-441E-BEEA-29C2B15340AB}"/>
                </a:ext>
              </a:extLst>
            </p:cNvPr>
            <p:cNvSpPr>
              <a:spLocks noChangeArrowheads="1"/>
            </p:cNvSpPr>
            <p:nvPr/>
          </p:nvSpPr>
          <p:spPr bwMode="auto">
            <a:xfrm>
              <a:off x="567" y="2626"/>
              <a:ext cx="1246" cy="582"/>
            </a:xfrm>
            <a:prstGeom prst="rect">
              <a:avLst/>
            </a:prstGeom>
            <a:noFill/>
            <a:ln w="19050">
              <a:solidFill>
                <a:srgbClr val="CC0000"/>
              </a:solidFill>
              <a:miter lim="800000"/>
              <a:headEnd/>
              <a:tailEnd/>
            </a:ln>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2 - (x,y) </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3 - (x,y,z)</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4 - (x,y,z,w)</a:t>
              </a:r>
            </a:p>
          </p:txBody>
        </p:sp>
        <p:sp>
          <p:nvSpPr>
            <p:cNvPr id="42" name="Freeform 11">
              <a:extLst>
                <a:ext uri="{FF2B5EF4-FFF2-40B4-BE49-F238E27FC236}">
                  <a16:creationId xmlns:a16="http://schemas.microsoft.com/office/drawing/2014/main" id="{74738A82-64BA-42F0-918E-9F15FE2EC00E}"/>
                </a:ext>
              </a:extLst>
            </p:cNvPr>
            <p:cNvSpPr>
              <a:spLocks/>
            </p:cNvSpPr>
            <p:nvPr/>
          </p:nvSpPr>
          <p:spPr bwMode="auto">
            <a:xfrm>
              <a:off x="1104" y="1182"/>
              <a:ext cx="1905" cy="1190"/>
            </a:xfrm>
            <a:custGeom>
              <a:avLst/>
              <a:gdLst>
                <a:gd name="T0" fmla="*/ 2039 w 1905"/>
                <a:gd name="T1" fmla="*/ 0 h 1190"/>
                <a:gd name="T2" fmla="*/ 2039 w 1905"/>
                <a:gd name="T3" fmla="*/ 329 h 1190"/>
                <a:gd name="T4" fmla="*/ 0 w 1905"/>
                <a:gd name="T5" fmla="*/ 565 h 1190"/>
                <a:gd name="T6" fmla="*/ 0 w 1905"/>
                <a:gd name="T7" fmla="*/ 915 h 1190"/>
                <a:gd name="T8" fmla="*/ 0 60000 65536"/>
                <a:gd name="T9" fmla="*/ 0 60000 65536"/>
                <a:gd name="T10" fmla="*/ 0 60000 65536"/>
                <a:gd name="T11" fmla="*/ 0 60000 65536"/>
                <a:gd name="T12" fmla="*/ 0 w 1905"/>
                <a:gd name="T13" fmla="*/ 0 h 1190"/>
                <a:gd name="T14" fmla="*/ 2040 w 1905"/>
                <a:gd name="T15" fmla="*/ 916 h 1190"/>
              </a:gdLst>
              <a:ahLst/>
              <a:cxnLst>
                <a:cxn ang="T8">
                  <a:pos x="T0" y="T1"/>
                </a:cxn>
                <a:cxn ang="T9">
                  <a:pos x="T2" y="T3"/>
                </a:cxn>
                <a:cxn ang="T10">
                  <a:pos x="T4" y="T5"/>
                </a:cxn>
                <a:cxn ang="T11">
                  <a:pos x="T6" y="T7"/>
                </a:cxn>
              </a:cxnLst>
              <a:rect l="T12" t="T13" r="T14" b="T15"/>
              <a:pathLst>
                <a:path w="1905" h="1190">
                  <a:moveTo>
                    <a:pt x="1905" y="0"/>
                  </a:moveTo>
                  <a:lnTo>
                    <a:pt x="1897" y="349"/>
                  </a:lnTo>
                  <a:lnTo>
                    <a:pt x="0" y="902"/>
                  </a:lnTo>
                  <a:lnTo>
                    <a:pt x="0" y="1190"/>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3" name="Line 35">
              <a:extLst>
                <a:ext uri="{FF2B5EF4-FFF2-40B4-BE49-F238E27FC236}">
                  <a16:creationId xmlns:a16="http://schemas.microsoft.com/office/drawing/2014/main" id="{DF65E0E7-F89D-495B-9FAD-B595654118CF}"/>
                </a:ext>
              </a:extLst>
            </p:cNvPr>
            <p:cNvSpPr>
              <a:spLocks noChangeShapeType="1"/>
            </p:cNvSpPr>
            <p:nvPr/>
          </p:nvSpPr>
          <p:spPr bwMode="auto">
            <a:xfrm>
              <a:off x="2959"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44" name="Group 124">
            <a:extLst>
              <a:ext uri="{FF2B5EF4-FFF2-40B4-BE49-F238E27FC236}">
                <a16:creationId xmlns:a16="http://schemas.microsoft.com/office/drawing/2014/main" id="{636D3191-D09E-4C26-A7BD-AE1F36484074}"/>
              </a:ext>
            </a:extLst>
          </p:cNvPr>
          <p:cNvGrpSpPr>
            <a:grpSpLocks/>
          </p:cNvGrpSpPr>
          <p:nvPr/>
        </p:nvGrpSpPr>
        <p:grpSpPr bwMode="auto">
          <a:xfrm>
            <a:off x="4648200" y="1830612"/>
            <a:ext cx="2816224" cy="4194175"/>
            <a:chOff x="1968" y="1162"/>
            <a:chExt cx="1774" cy="2642"/>
          </a:xfrm>
        </p:grpSpPr>
        <p:sp>
          <p:nvSpPr>
            <p:cNvPr id="45" name="Freeform 4">
              <a:extLst>
                <a:ext uri="{FF2B5EF4-FFF2-40B4-BE49-F238E27FC236}">
                  <a16:creationId xmlns:a16="http://schemas.microsoft.com/office/drawing/2014/main" id="{D0B99CE2-4E17-4EB8-956D-23F31AAF9140}"/>
                </a:ext>
              </a:extLst>
            </p:cNvPr>
            <p:cNvSpPr>
              <a:spLocks/>
            </p:cNvSpPr>
            <p:nvPr/>
          </p:nvSpPr>
          <p:spPr bwMode="auto">
            <a:xfrm>
              <a:off x="2837" y="1162"/>
              <a:ext cx="268" cy="932"/>
            </a:xfrm>
            <a:custGeom>
              <a:avLst/>
              <a:gdLst>
                <a:gd name="T0" fmla="*/ 431 w 268"/>
                <a:gd name="T1" fmla="*/ 0 h 932"/>
                <a:gd name="T2" fmla="*/ 431 w 268"/>
                <a:gd name="T3" fmla="*/ 426 h 932"/>
                <a:gd name="T4" fmla="*/ 0 w 268"/>
                <a:gd name="T5" fmla="*/ 665 h 932"/>
                <a:gd name="T6" fmla="*/ 0 w 268"/>
                <a:gd name="T7" fmla="*/ 915 h 932"/>
                <a:gd name="T8" fmla="*/ 0 60000 65536"/>
                <a:gd name="T9" fmla="*/ 0 60000 65536"/>
                <a:gd name="T10" fmla="*/ 0 60000 65536"/>
                <a:gd name="T11" fmla="*/ 0 60000 65536"/>
                <a:gd name="T12" fmla="*/ 0 w 268"/>
                <a:gd name="T13" fmla="*/ 0 h 932"/>
                <a:gd name="T14" fmla="*/ 432 w 268"/>
                <a:gd name="T15" fmla="*/ 916 h 932"/>
              </a:gdLst>
              <a:ahLst/>
              <a:cxnLst>
                <a:cxn ang="T8">
                  <a:pos x="T0" y="T1"/>
                </a:cxn>
                <a:cxn ang="T9">
                  <a:pos x="T2" y="T3"/>
                </a:cxn>
                <a:cxn ang="T10">
                  <a:pos x="T4" y="T5"/>
                </a:cxn>
                <a:cxn ang="T11">
                  <a:pos x="T6" y="T7"/>
                </a:cxn>
              </a:cxnLst>
              <a:rect l="T12" t="T13" r="T14" b="T15"/>
              <a:pathLst>
                <a:path w="268" h="932">
                  <a:moveTo>
                    <a:pt x="268" y="0"/>
                  </a:moveTo>
                  <a:lnTo>
                    <a:pt x="268" y="450"/>
                  </a:lnTo>
                  <a:lnTo>
                    <a:pt x="0" y="695"/>
                  </a:lnTo>
                  <a:lnTo>
                    <a:pt x="0" y="932"/>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46" name="Rectangle 7">
              <a:extLst>
                <a:ext uri="{FF2B5EF4-FFF2-40B4-BE49-F238E27FC236}">
                  <a16:creationId xmlns:a16="http://schemas.microsoft.com/office/drawing/2014/main" id="{537432CA-A54C-49A4-9EC6-069230247FE1}"/>
                </a:ext>
              </a:extLst>
            </p:cNvPr>
            <p:cNvSpPr>
              <a:spLocks noChangeArrowheads="1"/>
            </p:cNvSpPr>
            <p:nvPr/>
          </p:nvSpPr>
          <p:spPr bwMode="auto">
            <a:xfrm>
              <a:off x="2381" y="2104"/>
              <a:ext cx="767" cy="252"/>
            </a:xfrm>
            <a:prstGeom prst="rect">
              <a:avLst/>
            </a:prstGeom>
            <a:noFill/>
            <a:ln w="19050">
              <a:noFill/>
              <a:miter lim="800000"/>
              <a:headEnd/>
              <a:tailEnd/>
            </a:ln>
          </p:spPr>
          <p:txBody>
            <a:bodyPr wrap="none" lIns="92075" tIns="46038" rIns="92075" bIns="46038">
              <a:spAutoFit/>
            </a:bodyPr>
            <a:lstStyle/>
            <a:p>
              <a:pPr eaLnBrk="1" fontAlgn="auto" hangingPunct="1">
                <a:spcBef>
                  <a:spcPts val="0"/>
                </a:spcBef>
                <a:spcAft>
                  <a:spcPts val="0"/>
                </a:spcAft>
                <a:defRPr/>
              </a:pPr>
              <a:r>
                <a:rPr lang="zh-CN" altLang="en-US" sz="2000" b="1" i="1" kern="0">
                  <a:solidFill>
                    <a:srgbClr val="CC0000"/>
                  </a:solidFill>
                  <a:effectLst>
                    <a:outerShdw blurRad="38100" dist="38100" dir="2700000" algn="tl">
                      <a:srgbClr val="C0C0C0"/>
                    </a:outerShdw>
                  </a:effectLst>
                  <a:latin typeface="Courier New" pitchFamily="49" charset="0"/>
                  <a:ea typeface="宋体" pitchFamily="2" charset="-122"/>
                </a:rPr>
                <a:t>元素类型</a:t>
              </a:r>
            </a:p>
          </p:txBody>
        </p:sp>
        <p:sp>
          <p:nvSpPr>
            <p:cNvPr id="47" name="Rectangle 8">
              <a:extLst>
                <a:ext uri="{FF2B5EF4-FFF2-40B4-BE49-F238E27FC236}">
                  <a16:creationId xmlns:a16="http://schemas.microsoft.com/office/drawing/2014/main" id="{9E7531AC-1882-42D8-ABAB-5106539816B7}"/>
                </a:ext>
              </a:extLst>
            </p:cNvPr>
            <p:cNvSpPr>
              <a:spLocks noChangeArrowheads="1"/>
            </p:cNvSpPr>
            <p:nvPr/>
          </p:nvSpPr>
          <p:spPr bwMode="auto">
            <a:xfrm>
              <a:off x="1968" y="2350"/>
              <a:ext cx="1774" cy="1454"/>
            </a:xfrm>
            <a:prstGeom prst="rect">
              <a:avLst/>
            </a:prstGeom>
            <a:noFill/>
            <a:ln w="19050">
              <a:solidFill>
                <a:srgbClr val="CC0000"/>
              </a:solidFill>
              <a:miter lim="800000"/>
              <a:headEnd/>
              <a:tailEnd/>
            </a:ln>
          </p:spPr>
          <p:txBody>
            <a:bodyPr wrap="square" lIns="92075" tIns="46038" rIns="92075" bIns="46038">
              <a:spAutoFit/>
            </a:bodyPr>
            <a:lstStyle/>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b  - byte</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Courier New" pitchFamily="49" charset="0"/>
                  <a:ea typeface="宋体" pitchFamily="2" charset="-122"/>
                </a:rPr>
                <a:t>ub</a:t>
              </a: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 - unsigned byte</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s  - short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us - unsigned short</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Courier New" pitchFamily="49" charset="0"/>
                  <a:ea typeface="宋体" pitchFamily="2" charset="-122"/>
                </a:rPr>
                <a:t>i</a:t>
              </a: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  - int</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Courier New" pitchFamily="49" charset="0"/>
                  <a:ea typeface="宋体" pitchFamily="2" charset="-122"/>
                </a:rPr>
                <a:t>ui</a:t>
              </a: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 - unsigned int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f  - float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Courier New" pitchFamily="49" charset="0"/>
                  <a:ea typeface="宋体" pitchFamily="2" charset="-122"/>
                </a:rPr>
                <a:t>d  - double</a:t>
              </a:r>
            </a:p>
          </p:txBody>
        </p:sp>
        <p:sp>
          <p:nvSpPr>
            <p:cNvPr id="48" name="Line 36">
              <a:extLst>
                <a:ext uri="{FF2B5EF4-FFF2-40B4-BE49-F238E27FC236}">
                  <a16:creationId xmlns:a16="http://schemas.microsoft.com/office/drawing/2014/main" id="{042807B6-648B-466F-AF60-D2666686FC00}"/>
                </a:ext>
              </a:extLst>
            </p:cNvPr>
            <p:cNvSpPr>
              <a:spLocks noChangeShapeType="1"/>
            </p:cNvSpPr>
            <p:nvPr/>
          </p:nvSpPr>
          <p:spPr bwMode="auto">
            <a:xfrm>
              <a:off x="3061"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49" name="Group 105">
            <a:extLst>
              <a:ext uri="{FF2B5EF4-FFF2-40B4-BE49-F238E27FC236}">
                <a16:creationId xmlns:a16="http://schemas.microsoft.com/office/drawing/2014/main" id="{4434FE25-6763-44B0-8287-CC66DFD36611}"/>
              </a:ext>
            </a:extLst>
          </p:cNvPr>
          <p:cNvGrpSpPr>
            <a:grpSpLocks/>
          </p:cNvGrpSpPr>
          <p:nvPr/>
        </p:nvGrpSpPr>
        <p:grpSpPr bwMode="auto">
          <a:xfrm>
            <a:off x="6600826" y="1830611"/>
            <a:ext cx="3736975" cy="3154362"/>
            <a:chOff x="3198" y="1162"/>
            <a:chExt cx="2354" cy="1987"/>
          </a:xfrm>
        </p:grpSpPr>
        <p:sp>
          <p:nvSpPr>
            <p:cNvPr id="50" name="Rectangle 9">
              <a:extLst>
                <a:ext uri="{FF2B5EF4-FFF2-40B4-BE49-F238E27FC236}">
                  <a16:creationId xmlns:a16="http://schemas.microsoft.com/office/drawing/2014/main" id="{327CC575-DA11-4059-A345-E4FC46F6E12F}"/>
                </a:ext>
              </a:extLst>
            </p:cNvPr>
            <p:cNvSpPr>
              <a:spLocks noChangeArrowheads="1"/>
            </p:cNvSpPr>
            <p:nvPr/>
          </p:nvSpPr>
          <p:spPr bwMode="auto">
            <a:xfrm>
              <a:off x="4377" y="2115"/>
              <a:ext cx="499" cy="252"/>
            </a:xfrm>
            <a:prstGeom prst="rect">
              <a:avLst/>
            </a:prstGeom>
            <a:noFill/>
            <a:ln w="9525">
              <a:noFill/>
              <a:miter lim="800000"/>
              <a:headEnd/>
              <a:tailEnd/>
            </a:ln>
          </p:spPr>
          <p:txBody>
            <a:bodyPr lIns="92075" tIns="46038" rIns="92075" bIns="46038">
              <a:spAutoFit/>
            </a:bodyPr>
            <a:lstStyle/>
            <a:p>
              <a:pPr eaLnBrk="1" fontAlgn="auto" hangingPunct="1">
                <a:spcBef>
                  <a:spcPts val="0"/>
                </a:spcBef>
                <a:spcAft>
                  <a:spcPts val="0"/>
                </a:spcAft>
                <a:defRPr/>
              </a:pPr>
              <a:r>
                <a:rPr lang="zh-CN" altLang="en-US" sz="2000" b="1" i="1" kern="0">
                  <a:solidFill>
                    <a:srgbClr val="CC0000"/>
                  </a:solidFill>
                  <a:effectLst>
                    <a:outerShdw blurRad="38100" dist="38100" dir="2700000" algn="tl">
                      <a:srgbClr val="C0C0C0"/>
                    </a:outerShdw>
                  </a:effectLst>
                  <a:latin typeface="Courier New" pitchFamily="49" charset="0"/>
                  <a:ea typeface="宋体" pitchFamily="2" charset="-122"/>
                </a:rPr>
                <a:t>向量</a:t>
              </a:r>
            </a:p>
          </p:txBody>
        </p:sp>
        <p:sp>
          <p:nvSpPr>
            <p:cNvPr id="51" name="Rectangle 10">
              <a:extLst>
                <a:ext uri="{FF2B5EF4-FFF2-40B4-BE49-F238E27FC236}">
                  <a16:creationId xmlns:a16="http://schemas.microsoft.com/office/drawing/2014/main" id="{44D90FF3-9FAC-40ED-B509-9B7AE75979EA}"/>
                </a:ext>
              </a:extLst>
            </p:cNvPr>
            <p:cNvSpPr>
              <a:spLocks noChangeArrowheads="1"/>
            </p:cNvSpPr>
            <p:nvPr/>
          </p:nvSpPr>
          <p:spPr bwMode="auto">
            <a:xfrm>
              <a:off x="3876" y="2387"/>
              <a:ext cx="1676" cy="762"/>
            </a:xfrm>
            <a:prstGeom prst="rect">
              <a:avLst/>
            </a:prstGeom>
            <a:noFill/>
            <a:ln w="19050">
              <a:solidFill>
                <a:srgbClr val="CC0000"/>
              </a:solidFill>
              <a:miter lim="800000"/>
              <a:headEnd/>
              <a:tailEnd/>
            </a:ln>
          </p:spPr>
          <p:txBody>
            <a:bodyPr wrap="none" lIns="92075" tIns="46038" rIns="92075" bIns="46038">
              <a:spAutoFit/>
            </a:bodyPr>
            <a:lstStyle/>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omit “v” for</a:t>
              </a:r>
            </a:p>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scalar form</a:t>
              </a:r>
            </a:p>
            <a:p>
              <a:pPr algn="ctr" eaLnBrk="1" fontAlgn="auto" hangingPunct="1">
                <a:spcBef>
                  <a:spcPts val="0"/>
                </a:spcBef>
                <a:spcAft>
                  <a:spcPts val="0"/>
                </a:spcAft>
                <a:defRPr/>
              </a:pPr>
              <a:endPar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endParaRPr>
            </a:p>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glVertex2f( x, y )</a:t>
              </a:r>
            </a:p>
          </p:txBody>
        </p:sp>
        <p:sp>
          <p:nvSpPr>
            <p:cNvPr id="52" name="Freeform 12">
              <a:extLst>
                <a:ext uri="{FF2B5EF4-FFF2-40B4-BE49-F238E27FC236}">
                  <a16:creationId xmlns:a16="http://schemas.microsoft.com/office/drawing/2014/main" id="{642E42A3-6D1A-4581-94CD-FB4C7B71181A}"/>
                </a:ext>
              </a:extLst>
            </p:cNvPr>
            <p:cNvSpPr>
              <a:spLocks/>
            </p:cNvSpPr>
            <p:nvPr/>
          </p:nvSpPr>
          <p:spPr bwMode="auto">
            <a:xfrm>
              <a:off x="3246" y="1207"/>
              <a:ext cx="1482" cy="927"/>
            </a:xfrm>
            <a:custGeom>
              <a:avLst/>
              <a:gdLst>
                <a:gd name="T0" fmla="*/ 0 w 1482"/>
                <a:gd name="T1" fmla="*/ 0 h 927"/>
                <a:gd name="T2" fmla="*/ 0 w 1482"/>
                <a:gd name="T3" fmla="*/ 305 h 927"/>
                <a:gd name="T4" fmla="*/ 1390 w 1482"/>
                <a:gd name="T5" fmla="*/ 612 h 927"/>
                <a:gd name="T6" fmla="*/ 1390 w 1482"/>
                <a:gd name="T7" fmla="*/ 936 h 927"/>
                <a:gd name="T8" fmla="*/ 0 60000 65536"/>
                <a:gd name="T9" fmla="*/ 0 60000 65536"/>
                <a:gd name="T10" fmla="*/ 0 60000 65536"/>
                <a:gd name="T11" fmla="*/ 0 60000 65536"/>
                <a:gd name="T12" fmla="*/ 0 w 1482"/>
                <a:gd name="T13" fmla="*/ 0 h 927"/>
                <a:gd name="T14" fmla="*/ 1391 w 1482"/>
                <a:gd name="T15" fmla="*/ 937 h 927"/>
              </a:gdLst>
              <a:ahLst/>
              <a:cxnLst>
                <a:cxn ang="T8">
                  <a:pos x="T0" y="T1"/>
                </a:cxn>
                <a:cxn ang="T9">
                  <a:pos x="T2" y="T3"/>
                </a:cxn>
                <a:cxn ang="T10">
                  <a:pos x="T4" y="T5"/>
                </a:cxn>
                <a:cxn ang="T11">
                  <a:pos x="T6" y="T7"/>
                </a:cxn>
              </a:cxnLst>
              <a:rect l="T12" t="T13" r="T14" b="T15"/>
              <a:pathLst>
                <a:path w="1482" h="927">
                  <a:moveTo>
                    <a:pt x="0" y="0"/>
                  </a:moveTo>
                  <a:lnTo>
                    <a:pt x="3" y="329"/>
                  </a:lnTo>
                  <a:lnTo>
                    <a:pt x="1482" y="619"/>
                  </a:lnTo>
                  <a:lnTo>
                    <a:pt x="1482" y="927"/>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53" name="Line 37">
              <a:extLst>
                <a:ext uri="{FF2B5EF4-FFF2-40B4-BE49-F238E27FC236}">
                  <a16:creationId xmlns:a16="http://schemas.microsoft.com/office/drawing/2014/main" id="{FA5EC819-87F6-4FEB-BA7E-BDE57548EEB0}"/>
                </a:ext>
              </a:extLst>
            </p:cNvPr>
            <p:cNvSpPr>
              <a:spLocks noChangeShapeType="1"/>
            </p:cNvSpPr>
            <p:nvPr/>
          </p:nvSpPr>
          <p:spPr bwMode="auto">
            <a:xfrm>
              <a:off x="3198"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54" name="Group 77">
            <a:extLst>
              <a:ext uri="{FF2B5EF4-FFF2-40B4-BE49-F238E27FC236}">
                <a16:creationId xmlns:a16="http://schemas.microsoft.com/office/drawing/2014/main" id="{89D13DB0-1BD4-4803-96DC-F31A3EE5152A}"/>
              </a:ext>
            </a:extLst>
          </p:cNvPr>
          <p:cNvGrpSpPr>
            <a:grpSpLocks/>
          </p:cNvGrpSpPr>
          <p:nvPr/>
        </p:nvGrpSpPr>
        <p:grpSpPr bwMode="auto">
          <a:xfrm>
            <a:off x="5159376" y="1052736"/>
            <a:ext cx="5280025" cy="1295400"/>
            <a:chOff x="2290" y="672"/>
            <a:chExt cx="3326" cy="816"/>
          </a:xfrm>
        </p:grpSpPr>
        <p:sp>
          <p:nvSpPr>
            <p:cNvPr id="55" name="Rectangle 18">
              <a:extLst>
                <a:ext uri="{FF2B5EF4-FFF2-40B4-BE49-F238E27FC236}">
                  <a16:creationId xmlns:a16="http://schemas.microsoft.com/office/drawing/2014/main" id="{432254E2-8943-44D1-87B8-32AD8E4B19C6}"/>
                </a:ext>
              </a:extLst>
            </p:cNvPr>
            <p:cNvSpPr>
              <a:spLocks noChangeArrowheads="1"/>
            </p:cNvSpPr>
            <p:nvPr/>
          </p:nvSpPr>
          <p:spPr bwMode="auto">
            <a:xfrm>
              <a:off x="4212" y="912"/>
              <a:ext cx="1404" cy="576"/>
            </a:xfrm>
            <a:prstGeom prst="rect">
              <a:avLst/>
            </a:prstGeom>
            <a:noFill/>
            <a:ln w="19050">
              <a:solidFill>
                <a:srgbClr val="CC0000"/>
              </a:solidFill>
              <a:miter lim="800000"/>
              <a:headEnd/>
              <a:tailEnd/>
            </a:ln>
            <a:effectLst/>
          </p:spPr>
          <p:txBody>
            <a:bodyPr wrap="none" anchor="ctr"/>
            <a:lstStyle/>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Vertex – </a:t>
              </a:r>
              <a:r>
                <a:rPr lang="zh-CN" altLang="en-US" sz="1800" b="1" kern="0">
                  <a:solidFill>
                    <a:srgbClr val="5B0DAA"/>
                  </a:solidFill>
                  <a:effectLst>
                    <a:outerShdw blurRad="38100" dist="38100" dir="2700000" algn="tl">
                      <a:srgbClr val="C0C0C0"/>
                    </a:outerShdw>
                  </a:effectLst>
                  <a:latin typeface="Courier New" pitchFamily="49" charset="0"/>
                  <a:ea typeface="宋体" pitchFamily="2" charset="-122"/>
                </a:rPr>
                <a:t>顶点</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Color  – </a:t>
              </a:r>
              <a:r>
                <a:rPr lang="zh-CN" altLang="en-US" sz="1800" b="1" kern="0">
                  <a:solidFill>
                    <a:srgbClr val="5B0DAA"/>
                  </a:solidFill>
                  <a:effectLst>
                    <a:outerShdw blurRad="38100" dist="38100" dir="2700000" algn="tl">
                      <a:srgbClr val="C0C0C0"/>
                    </a:outerShdw>
                  </a:effectLst>
                  <a:latin typeface="Courier New" pitchFamily="49" charset="0"/>
                  <a:ea typeface="宋体" pitchFamily="2" charset="-122"/>
                </a:rPr>
                <a:t>颜色</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Courier New" pitchFamily="49" charset="0"/>
                  <a:ea typeface="宋体" pitchFamily="2" charset="-122"/>
                </a:rPr>
                <a:t>Normal – </a:t>
              </a:r>
              <a:r>
                <a:rPr lang="zh-CN" altLang="en-US" sz="1800" b="1" kern="0">
                  <a:solidFill>
                    <a:srgbClr val="5B0DAA"/>
                  </a:solidFill>
                  <a:effectLst>
                    <a:outerShdw blurRad="38100" dist="38100" dir="2700000" algn="tl">
                      <a:srgbClr val="C0C0C0"/>
                    </a:outerShdw>
                  </a:effectLst>
                  <a:latin typeface="Courier New" pitchFamily="49" charset="0"/>
                  <a:ea typeface="宋体" pitchFamily="2" charset="-122"/>
                </a:rPr>
                <a:t>法线</a:t>
              </a:r>
            </a:p>
          </p:txBody>
        </p:sp>
        <p:sp>
          <p:nvSpPr>
            <p:cNvPr id="56" name="Text Box 20">
              <a:extLst>
                <a:ext uri="{FF2B5EF4-FFF2-40B4-BE49-F238E27FC236}">
                  <a16:creationId xmlns:a16="http://schemas.microsoft.com/office/drawing/2014/main" id="{6A9EA5F0-29E7-4BB3-B2FF-1C1073164D56}"/>
                </a:ext>
              </a:extLst>
            </p:cNvPr>
            <p:cNvSpPr txBox="1">
              <a:spLocks noChangeArrowheads="1"/>
            </p:cNvSpPr>
            <p:nvPr/>
          </p:nvSpPr>
          <p:spPr bwMode="auto">
            <a:xfrm>
              <a:off x="4656" y="672"/>
              <a:ext cx="528" cy="2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2000" b="1" i="1" kern="0">
                  <a:solidFill>
                    <a:srgbClr val="CC0000"/>
                  </a:solidFill>
                  <a:effectLst>
                    <a:outerShdw blurRad="38100" dist="38100" dir="2700000" algn="tl">
                      <a:srgbClr val="C0C0C0"/>
                    </a:outerShdw>
                  </a:effectLst>
                  <a:latin typeface="Courier New" pitchFamily="49" charset="0"/>
                  <a:ea typeface="宋体" pitchFamily="2" charset="-122"/>
                </a:rPr>
                <a:t>类型</a:t>
              </a:r>
            </a:p>
          </p:txBody>
        </p:sp>
        <p:sp>
          <p:nvSpPr>
            <p:cNvPr id="57" name="Freeform 11">
              <a:extLst>
                <a:ext uri="{FF2B5EF4-FFF2-40B4-BE49-F238E27FC236}">
                  <a16:creationId xmlns:a16="http://schemas.microsoft.com/office/drawing/2014/main" id="{9F218F91-3D5F-4BFB-8B04-01F09FD8154E}"/>
                </a:ext>
              </a:extLst>
            </p:cNvPr>
            <p:cNvSpPr>
              <a:spLocks/>
            </p:cNvSpPr>
            <p:nvPr/>
          </p:nvSpPr>
          <p:spPr bwMode="auto">
            <a:xfrm>
              <a:off x="2517" y="799"/>
              <a:ext cx="2140" cy="190"/>
            </a:xfrm>
            <a:custGeom>
              <a:avLst/>
              <a:gdLst>
                <a:gd name="T0" fmla="*/ 2039 w 2140"/>
                <a:gd name="T1" fmla="*/ 0 h 190"/>
                <a:gd name="T2" fmla="*/ 2039 w 2140"/>
                <a:gd name="T3" fmla="*/ 329 h 190"/>
                <a:gd name="T4" fmla="*/ 0 w 2140"/>
                <a:gd name="T5" fmla="*/ 565 h 190"/>
                <a:gd name="T6" fmla="*/ 0 w 2140"/>
                <a:gd name="T7" fmla="*/ 915 h 190"/>
                <a:gd name="T8" fmla="*/ 0 60000 65536"/>
                <a:gd name="T9" fmla="*/ 0 60000 65536"/>
                <a:gd name="T10" fmla="*/ 0 60000 65536"/>
                <a:gd name="T11" fmla="*/ 0 60000 65536"/>
                <a:gd name="T12" fmla="*/ 0 w 2140"/>
                <a:gd name="T13" fmla="*/ 0 h 190"/>
                <a:gd name="T14" fmla="*/ 2040 w 2140"/>
                <a:gd name="T15" fmla="*/ 916 h 190"/>
              </a:gdLst>
              <a:ahLst/>
              <a:cxnLst>
                <a:cxn ang="T8">
                  <a:pos x="T0" y="T1"/>
                </a:cxn>
                <a:cxn ang="T9">
                  <a:pos x="T2" y="T3"/>
                </a:cxn>
                <a:cxn ang="T10">
                  <a:pos x="T4" y="T5"/>
                </a:cxn>
                <a:cxn ang="T11">
                  <a:pos x="T6" y="T7"/>
                </a:cxn>
              </a:cxnLst>
              <a:rect l="T12" t="T13" r="T14" b="T15"/>
              <a:pathLst>
                <a:path w="2140" h="190">
                  <a:moveTo>
                    <a:pt x="0" y="190"/>
                  </a:moveTo>
                  <a:lnTo>
                    <a:pt x="0" y="0"/>
                  </a:lnTo>
                  <a:lnTo>
                    <a:pt x="2140" y="5"/>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58" name="Line 47">
              <a:extLst>
                <a:ext uri="{FF2B5EF4-FFF2-40B4-BE49-F238E27FC236}">
                  <a16:creationId xmlns:a16="http://schemas.microsoft.com/office/drawing/2014/main" id="{1825528B-3043-40AB-9E6E-80F876B030FD}"/>
                </a:ext>
              </a:extLst>
            </p:cNvPr>
            <p:cNvSpPr>
              <a:spLocks noChangeShapeType="1"/>
            </p:cNvSpPr>
            <p:nvPr/>
          </p:nvSpPr>
          <p:spPr bwMode="auto">
            <a:xfrm>
              <a:off x="2290" y="1162"/>
              <a:ext cx="635"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spTree>
    <p:extLst>
      <p:ext uri="{BB962C8B-B14F-4D97-AF65-F5344CB8AC3E}">
        <p14:creationId xmlns:p14="http://schemas.microsoft.com/office/powerpoint/2010/main" val="10993442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ppt_w/2"/>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ppt_w</p:attrName>
                                        </p:attrNameLst>
                                      </p:cBhvr>
                                      <p:tavLst>
                                        <p:tav tm="0">
                                          <p:val>
                                            <p:fltVal val="0"/>
                                          </p:val>
                                        </p:tav>
                                        <p:tav tm="100000">
                                          <p:val>
                                            <p:strVal val="#ppt_w"/>
                                          </p:val>
                                        </p:tav>
                                      </p:tavLst>
                                    </p:anim>
                                    <p:anim calcmode="lin" valueType="num">
                                      <p:cBhvr>
                                        <p:cTn id="10" dur="500" fill="hold"/>
                                        <p:tgtEl>
                                          <p:spTgt spid="33"/>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33"/>
                                        </p:tgtEl>
                                        <p:attrNameLst>
                                          <p:attrName>ppt_c</p:attrName>
                                        </p:attrNameLst>
                                      </p:cBhvr>
                                      <p:to>
                                        <a:schemeClr val="folHlink"/>
                                      </p:to>
                                    </p:animClr>
                                  </p:sub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wipe(right)">
                                      <p:cBhvr>
                                        <p:cTn id="15" dur="500"/>
                                        <p:tgtEl>
                                          <p:spTgt spid="54"/>
                                        </p:tgtEl>
                                      </p:cBhvr>
                                    </p:animEffect>
                                  </p:childTnLst>
                                  <p:subTnLst>
                                    <p:animClr clrSpc="rgb" dir="cw">
                                      <p:cBhvr override="childStyle">
                                        <p:cTn dur="1" fill="hold" display="0" masterRel="nextClick" afterEffect="1"/>
                                        <p:tgtEl>
                                          <p:spTgt spid="54"/>
                                        </p:tgtEl>
                                        <p:attrNameLst>
                                          <p:attrName>ppt_c</p:attrName>
                                        </p:attrNameLst>
                                      </p:cBhvr>
                                      <p:to>
                                        <a:schemeClr val="folHlink"/>
                                      </p:to>
                                    </p:animClr>
                                  </p:sub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down)">
                                      <p:cBhvr>
                                        <p:cTn id="20" dur="500"/>
                                        <p:tgtEl>
                                          <p:spTgt spid="39"/>
                                        </p:tgtEl>
                                      </p:cBhvr>
                                    </p:animEffect>
                                  </p:childTnLst>
                                  <p:subTnLst>
                                    <p:animClr clrSpc="rgb" dir="cw">
                                      <p:cBhvr override="childStyle">
                                        <p:cTn dur="1" fill="hold" display="0" masterRel="nextClick" afterEffect="1"/>
                                        <p:tgtEl>
                                          <p:spTgt spid="39"/>
                                        </p:tgtEl>
                                        <p:attrNameLst>
                                          <p:attrName>ppt_c</p:attrName>
                                        </p:attrNameLst>
                                      </p:cBhvr>
                                      <p:to>
                                        <a:schemeClr val="folHlink"/>
                                      </p:to>
                                    </p:animClr>
                                  </p:sub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down)">
                                      <p:cBhvr>
                                        <p:cTn id="25" dur="500"/>
                                        <p:tgtEl>
                                          <p:spTgt spid="44"/>
                                        </p:tgtEl>
                                      </p:cBhvr>
                                    </p:animEffect>
                                  </p:childTnLst>
                                  <p:subTnLst>
                                    <p:animClr clrSpc="rgb" dir="cw">
                                      <p:cBhvr override="childStyle">
                                        <p:cTn dur="1" fill="hold" display="0" masterRel="nextClick" afterEffect="1"/>
                                        <p:tgtEl>
                                          <p:spTgt spid="44"/>
                                        </p:tgtEl>
                                        <p:attrNameLst>
                                          <p:attrName>ppt_c</p:attrName>
                                        </p:attrNameLst>
                                      </p:cBhvr>
                                      <p:to>
                                        <a:schemeClr val="folHlink"/>
                                      </p:to>
                                    </p:animClr>
                                  </p:sub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down)">
                                      <p:cBhvr>
                                        <p:cTn id="30" dur="500"/>
                                        <p:tgtEl>
                                          <p:spTgt spid="49"/>
                                        </p:tgtEl>
                                      </p:cBhvr>
                                    </p:animEffect>
                                  </p:childTnLst>
                                  <p:subTnLst>
                                    <p:animClr clrSpc="rgb" dir="cw">
                                      <p:cBhvr override="childStyle">
                                        <p:cTn dur="1" fill="hold" display="0" masterRel="nextClick" afterEffect="1"/>
                                        <p:tgtEl>
                                          <p:spTgt spid="49"/>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30DD2AA7-A451-434E-AE72-B617BEBC55B2}"/>
              </a:ext>
            </a:extLst>
          </p:cNvPr>
          <p:cNvSpPr>
            <a:spLocks noGrp="1" noChangeArrowheads="1"/>
          </p:cNvSpPr>
          <p:nvPr>
            <p:ph type="title"/>
          </p:nvPr>
        </p:nvSpPr>
        <p:spPr/>
        <p:txBody>
          <a:bodyPr/>
          <a:lstStyle/>
          <a:p>
            <a:pPr>
              <a:defRPr/>
            </a:pPr>
            <a:r>
              <a:rPr lang="en-US" altLang="zh-CN" dirty="0">
                <a:latin typeface="Arial" pitchFamily="34" charset="0"/>
              </a:rPr>
              <a:t>4. </a:t>
            </a:r>
            <a:r>
              <a:rPr lang="zh-CN" altLang="en-US" dirty="0">
                <a:latin typeface="Arial" pitchFamily="34" charset="0"/>
              </a:rPr>
              <a:t>二维图元绘制</a:t>
            </a:r>
          </a:p>
        </p:txBody>
      </p:sp>
      <p:sp>
        <p:nvSpPr>
          <p:cNvPr id="26" name="Rectangle 3">
            <a:extLst>
              <a:ext uri="{FF2B5EF4-FFF2-40B4-BE49-F238E27FC236}">
                <a16:creationId xmlns:a16="http://schemas.microsoft.com/office/drawing/2014/main" id="{69F40071-E3B3-4F44-A75F-B97FC46A23EC}"/>
              </a:ext>
            </a:extLst>
          </p:cNvPr>
          <p:cNvSpPr txBox="1">
            <a:spLocks noChangeArrowheads="1"/>
          </p:cNvSpPr>
          <p:nvPr/>
        </p:nvSpPr>
        <p:spPr bwMode="auto">
          <a:xfrm>
            <a:off x="2208214" y="1341438"/>
            <a:ext cx="7945437" cy="2646362"/>
          </a:xfrm>
          <a:prstGeom prst="rect">
            <a:avLst/>
          </a:prstGeom>
          <a:noFill/>
          <a:ln w="9525">
            <a:noFill/>
            <a:miter lim="800000"/>
            <a:headEnd/>
            <a:tailEnd/>
          </a:ln>
        </p:spPr>
        <p:txBody>
          <a:bodyPr>
            <a:spAutoFit/>
          </a:bodyPr>
          <a:lstStyle/>
          <a:p>
            <a:pPr marL="444500" indent="-444500">
              <a:lnSpc>
                <a:spcPct val="90000"/>
              </a:lnSpc>
              <a:spcBef>
                <a:spcPct val="40000"/>
              </a:spcBef>
              <a:spcAft>
                <a:spcPct val="20000"/>
              </a:spcAft>
              <a:buClr>
                <a:schemeClr val="tx2"/>
              </a:buClr>
              <a:buSzPct val="125000"/>
              <a:buFont typeface="Wingdings" pitchFamily="2" charset="2"/>
              <a:buChar char="8"/>
              <a:defRPr/>
            </a:pPr>
            <a:r>
              <a:rPr lang="en-US" altLang="zh-CN" sz="2400" b="1" dirty="0">
                <a:effectLst>
                  <a:outerShdw blurRad="38100" dist="38100" dir="2700000" algn="tl">
                    <a:srgbClr val="C0C0C0"/>
                  </a:outerShdw>
                </a:effectLst>
                <a:ea typeface="黑体" pitchFamily="49" charset="-122"/>
              </a:rPr>
              <a:t>1.1 </a:t>
            </a:r>
            <a:r>
              <a:rPr lang="zh-CN" altLang="en-US" sz="2400" b="1" dirty="0">
                <a:effectLst>
                  <a:outerShdw blurRad="38100" dist="38100" dir="2700000" algn="tl">
                    <a:srgbClr val="C0C0C0"/>
                  </a:outerShdw>
                </a:effectLst>
                <a:ea typeface="黑体" pitchFamily="49" charset="-122"/>
              </a:rPr>
              <a:t>什么是图元</a:t>
            </a:r>
          </a:p>
          <a:p>
            <a:pPr marL="444500" indent="-444500">
              <a:lnSpc>
                <a:spcPct val="90000"/>
              </a:lnSpc>
              <a:spcBef>
                <a:spcPct val="40000"/>
              </a:spcBef>
              <a:spcAft>
                <a:spcPct val="20000"/>
              </a:spcAft>
              <a:buClr>
                <a:schemeClr val="tx2"/>
              </a:buClr>
              <a:buSzPct val="125000"/>
              <a:defRPr/>
            </a:pPr>
            <a:endParaRPr lang="zh-CN" altLang="en-US" sz="2400" b="1" dirty="0">
              <a:effectLst>
                <a:outerShdw blurRad="38100" dist="38100" dir="2700000" algn="tl">
                  <a:srgbClr val="C0C0C0"/>
                </a:outerShdw>
              </a:effectLst>
              <a:ea typeface="黑体" pitchFamily="49" charset="-122"/>
            </a:endParaRPr>
          </a:p>
          <a:p>
            <a:pPr marL="444500" indent="-444500">
              <a:lnSpc>
                <a:spcPct val="90000"/>
              </a:lnSpc>
              <a:spcBef>
                <a:spcPct val="40000"/>
              </a:spcBef>
              <a:spcAft>
                <a:spcPct val="20000"/>
              </a:spcAft>
              <a:buClr>
                <a:schemeClr val="tx2"/>
              </a:buClr>
              <a:buSzPct val="125000"/>
              <a:buFont typeface="Wingdings" pitchFamily="2" charset="2"/>
              <a:buChar char="8"/>
              <a:defRPr/>
            </a:pPr>
            <a:r>
              <a:rPr lang="en-US" altLang="zh-CN" sz="2400" b="1" dirty="0">
                <a:effectLst>
                  <a:outerShdw blurRad="38100" dist="38100" dir="2700000" algn="tl">
                    <a:srgbClr val="C0C0C0"/>
                  </a:outerShdw>
                </a:effectLst>
                <a:ea typeface="黑体" pitchFamily="49" charset="-122"/>
              </a:rPr>
              <a:t>1.2 </a:t>
            </a:r>
            <a:r>
              <a:rPr lang="zh-CN" altLang="en-US" sz="2400" b="1" dirty="0">
                <a:effectLst>
                  <a:outerShdw blurRad="38100" dist="38100" dir="2700000" algn="tl">
                    <a:srgbClr val="C0C0C0"/>
                  </a:outerShdw>
                </a:effectLst>
                <a:ea typeface="黑体" pitchFamily="49" charset="-122"/>
              </a:rPr>
              <a:t>几何图元</a:t>
            </a:r>
          </a:p>
          <a:p>
            <a:pPr marL="444500" indent="-444500">
              <a:lnSpc>
                <a:spcPct val="90000"/>
              </a:lnSpc>
              <a:spcBef>
                <a:spcPct val="40000"/>
              </a:spcBef>
              <a:spcAft>
                <a:spcPct val="20000"/>
              </a:spcAft>
              <a:buClr>
                <a:schemeClr val="tx2"/>
              </a:buClr>
              <a:buSzPct val="125000"/>
              <a:buFont typeface="Wingdings" pitchFamily="2" charset="2"/>
              <a:buChar char="8"/>
              <a:defRPr/>
            </a:pPr>
            <a:endParaRPr lang="en-US" altLang="zh-CN" sz="2400" b="1" dirty="0">
              <a:effectLst>
                <a:outerShdw blurRad="38100" dist="38100" dir="2700000" algn="tl">
                  <a:srgbClr val="C0C0C0"/>
                </a:outerShdw>
              </a:effectLst>
              <a:ea typeface="黑体" pitchFamily="49" charset="-122"/>
            </a:endParaRPr>
          </a:p>
          <a:p>
            <a:pPr marL="444500" indent="-444500">
              <a:lnSpc>
                <a:spcPct val="90000"/>
              </a:lnSpc>
              <a:spcBef>
                <a:spcPct val="40000"/>
              </a:spcBef>
              <a:spcAft>
                <a:spcPct val="20000"/>
              </a:spcAft>
              <a:buClr>
                <a:schemeClr val="tx2"/>
              </a:buClr>
              <a:buSzPct val="125000"/>
              <a:buFont typeface="Wingdings" pitchFamily="2" charset="2"/>
              <a:buChar char="8"/>
              <a:defRPr/>
            </a:pPr>
            <a:r>
              <a:rPr lang="en-US" altLang="zh-CN" sz="2400" b="1" dirty="0">
                <a:effectLst>
                  <a:outerShdw blurRad="38100" dist="38100" dir="2700000" algn="tl">
                    <a:srgbClr val="C0C0C0"/>
                  </a:outerShdw>
                </a:effectLst>
                <a:ea typeface="黑体" pitchFamily="49" charset="-122"/>
              </a:rPr>
              <a:t>1.3 </a:t>
            </a:r>
            <a:r>
              <a:rPr lang="zh-CN" altLang="en-US" sz="2400" b="1" dirty="0">
                <a:effectLst>
                  <a:outerShdw blurRad="38100" dist="38100" dir="2700000" algn="tl">
                    <a:srgbClr val="C0C0C0"/>
                  </a:outerShdw>
                </a:effectLst>
                <a:ea typeface="黑体" pitchFamily="49" charset="-122"/>
              </a:rPr>
              <a:t>图元绘制方法</a:t>
            </a:r>
            <a:endParaRPr lang="zh-CN" altLang="en-US" sz="2000" b="1" dirty="0">
              <a:effectLst>
                <a:outerShdw blurRad="38100" dist="38100" dir="2700000" algn="tl">
                  <a:srgbClr val="C0C0C0"/>
                </a:outerShdw>
              </a:effectLst>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left)">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wipe(left)">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animEffect transition="in" filter="wipe(left)">
                                      <p:cBhvr>
                                        <p:cTn id="17"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00B745A5-8DEF-4DEC-8E60-01D5C9D554F1}"/>
              </a:ext>
            </a:extLst>
          </p:cNvPr>
          <p:cNvSpPr>
            <a:spLocks noGrp="1" noChangeArrowheads="1"/>
          </p:cNvSpPr>
          <p:nvPr>
            <p:ph type="title"/>
          </p:nvPr>
        </p:nvSpPr>
        <p:spPr/>
        <p:txBody>
          <a:bodyPr/>
          <a:lstStyle/>
          <a:p>
            <a:pPr>
              <a:defRPr/>
            </a:pPr>
            <a:r>
              <a:rPr lang="en-US" altLang="zh-CN" dirty="0">
                <a:latin typeface="Arial" pitchFamily="34" charset="0"/>
              </a:rPr>
              <a:t>4.1 </a:t>
            </a:r>
            <a:r>
              <a:rPr lang="zh-CN" altLang="en-US" dirty="0">
                <a:latin typeface="Arial" pitchFamily="34" charset="0"/>
              </a:rPr>
              <a:t>什么是图元</a:t>
            </a:r>
          </a:p>
        </p:txBody>
      </p:sp>
      <p:sp>
        <p:nvSpPr>
          <p:cNvPr id="65" name="Rectangle 3">
            <a:extLst>
              <a:ext uri="{FF2B5EF4-FFF2-40B4-BE49-F238E27FC236}">
                <a16:creationId xmlns:a16="http://schemas.microsoft.com/office/drawing/2014/main" id="{E4431C6F-E01D-445B-8159-C62466700024}"/>
              </a:ext>
            </a:extLst>
          </p:cNvPr>
          <p:cNvSpPr txBox="1">
            <a:spLocks noChangeArrowheads="1"/>
          </p:cNvSpPr>
          <p:nvPr/>
        </p:nvSpPr>
        <p:spPr bwMode="auto">
          <a:xfrm>
            <a:off x="1064195" y="908720"/>
            <a:ext cx="9208518" cy="179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buClr>
                <a:srgbClr val="5B0DAA"/>
              </a:buClr>
              <a:defRPr/>
            </a:pPr>
            <a:r>
              <a:rPr lang="zh-CN" altLang="en-US" kern="0" dirty="0">
                <a:solidFill>
                  <a:srgbClr val="000000"/>
                </a:solidFill>
                <a:latin typeface="Arial"/>
                <a:ea typeface="黑体" pitchFamily="49" charset="-122"/>
              </a:rPr>
              <a:t>图元</a:t>
            </a:r>
            <a:r>
              <a:rPr lang="en-US" altLang="zh-CN" kern="0" dirty="0">
                <a:solidFill>
                  <a:srgbClr val="000000"/>
                </a:solidFill>
                <a:latin typeface="黑体" pitchFamily="49" charset="-122"/>
                <a:ea typeface="黑体" pitchFamily="49" charset="-122"/>
              </a:rPr>
              <a:t>——</a:t>
            </a:r>
            <a:r>
              <a:rPr lang="en-US" altLang="zh-CN" kern="0" dirty="0">
                <a:solidFill>
                  <a:srgbClr val="000000"/>
                </a:solidFill>
                <a:latin typeface="Arial"/>
                <a:ea typeface="黑体" pitchFamily="49" charset="-122"/>
              </a:rPr>
              <a:t>OpenGL</a:t>
            </a:r>
            <a:r>
              <a:rPr lang="zh-CN" altLang="en-US" kern="0" dirty="0">
                <a:solidFill>
                  <a:srgbClr val="000000"/>
                </a:solidFill>
                <a:latin typeface="Arial"/>
                <a:ea typeface="黑体" pitchFamily="49" charset="-122"/>
              </a:rPr>
              <a:t>中的基本绘制实体</a:t>
            </a:r>
          </a:p>
          <a:p>
            <a:pPr lvl="1">
              <a:buClr>
                <a:srgbClr val="5B0DAA"/>
              </a:buClr>
              <a:defRPr/>
            </a:pPr>
            <a:r>
              <a:rPr lang="zh-CN" altLang="en-US" kern="0" dirty="0">
                <a:solidFill>
                  <a:srgbClr val="FF0000"/>
                </a:solidFill>
                <a:latin typeface="Arial"/>
                <a:ea typeface="黑体" pitchFamily="49" charset="-122"/>
              </a:rPr>
              <a:t>几何图元</a:t>
            </a:r>
            <a:r>
              <a:rPr lang="en-US" altLang="zh-CN" kern="0" dirty="0">
                <a:solidFill>
                  <a:srgbClr val="002060"/>
                </a:solidFill>
                <a:latin typeface="黑体" pitchFamily="49" charset="-122"/>
                <a:ea typeface="黑体" pitchFamily="49" charset="-122"/>
              </a:rPr>
              <a:t>——</a:t>
            </a:r>
            <a:r>
              <a:rPr lang="zh-CN" altLang="en-US" kern="0" dirty="0">
                <a:solidFill>
                  <a:srgbClr val="002060"/>
                </a:solidFill>
                <a:latin typeface="Arial"/>
                <a:ea typeface="黑体" pitchFamily="49" charset="-122"/>
              </a:rPr>
              <a:t>最终以</a:t>
            </a:r>
            <a:r>
              <a:rPr lang="zh-CN" altLang="en-US" kern="0" dirty="0">
                <a:solidFill>
                  <a:srgbClr val="CC0000"/>
                </a:solidFill>
                <a:latin typeface="Arial"/>
                <a:ea typeface="黑体" pitchFamily="49" charset="-122"/>
              </a:rPr>
              <a:t>顶点</a:t>
            </a:r>
            <a:r>
              <a:rPr lang="en-US" altLang="zh-CN" kern="0" dirty="0">
                <a:solidFill>
                  <a:srgbClr val="002060"/>
                </a:solidFill>
                <a:latin typeface="Arial"/>
                <a:ea typeface="黑体" pitchFamily="49" charset="-122"/>
              </a:rPr>
              <a:t>(Vertex)</a:t>
            </a:r>
            <a:r>
              <a:rPr lang="zh-CN" altLang="en-US" kern="0" dirty="0">
                <a:solidFill>
                  <a:srgbClr val="002060"/>
                </a:solidFill>
                <a:latin typeface="Arial"/>
                <a:ea typeface="黑体" pitchFamily="49" charset="-122"/>
              </a:rPr>
              <a:t>集合来描述的</a:t>
            </a:r>
          </a:p>
          <a:p>
            <a:pPr lvl="1">
              <a:buClr>
                <a:srgbClr val="5B0DAA"/>
              </a:buClr>
              <a:defRPr/>
            </a:pPr>
            <a:r>
              <a:rPr lang="zh-CN" altLang="en-US" kern="0" dirty="0">
                <a:solidFill>
                  <a:srgbClr val="FF0000"/>
                </a:solidFill>
                <a:latin typeface="Arial"/>
                <a:ea typeface="黑体" pitchFamily="49" charset="-122"/>
              </a:rPr>
              <a:t>非几何图元</a:t>
            </a:r>
            <a:r>
              <a:rPr lang="en-US" altLang="zh-CN" kern="0" dirty="0">
                <a:solidFill>
                  <a:srgbClr val="002060"/>
                </a:solidFill>
                <a:latin typeface="黑体" pitchFamily="49" charset="-122"/>
                <a:ea typeface="黑体" pitchFamily="49" charset="-122"/>
              </a:rPr>
              <a:t>——</a:t>
            </a:r>
            <a:r>
              <a:rPr lang="zh-CN" altLang="en-US" kern="0" dirty="0">
                <a:solidFill>
                  <a:srgbClr val="002060"/>
                </a:solidFill>
                <a:latin typeface="Arial"/>
                <a:ea typeface="黑体" pitchFamily="49" charset="-122"/>
              </a:rPr>
              <a:t>位图、像素</a:t>
            </a:r>
          </a:p>
          <a:p>
            <a:pPr>
              <a:buClr>
                <a:srgbClr val="5B0DAA"/>
              </a:buClr>
              <a:defRPr/>
            </a:pPr>
            <a:r>
              <a:rPr lang="zh-CN" altLang="en-US" kern="0" dirty="0">
                <a:solidFill>
                  <a:srgbClr val="000000"/>
                </a:solidFill>
                <a:latin typeface="Arial"/>
                <a:ea typeface="黑体" pitchFamily="49" charset="-122"/>
              </a:rPr>
              <a:t>复杂对象必须分解为图元才能进行绘制</a:t>
            </a:r>
          </a:p>
        </p:txBody>
      </p:sp>
      <p:pic>
        <p:nvPicPr>
          <p:cNvPr id="66" name="Picture 7" descr="颜色贴图程序截图">
            <a:extLst>
              <a:ext uri="{FF2B5EF4-FFF2-40B4-BE49-F238E27FC236}">
                <a16:creationId xmlns:a16="http://schemas.microsoft.com/office/drawing/2014/main" id="{79AB3391-69CB-43FA-9A4C-93BBA097C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613" y="3501109"/>
            <a:ext cx="2376488"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Group 24">
            <a:extLst>
              <a:ext uri="{FF2B5EF4-FFF2-40B4-BE49-F238E27FC236}">
                <a16:creationId xmlns:a16="http://schemas.microsoft.com/office/drawing/2014/main" id="{C0BE34B4-8807-415F-8DBB-6F1ED2B4E1E7}"/>
              </a:ext>
            </a:extLst>
          </p:cNvPr>
          <p:cNvGrpSpPr>
            <a:grpSpLocks/>
          </p:cNvGrpSpPr>
          <p:nvPr/>
        </p:nvGrpSpPr>
        <p:grpSpPr bwMode="auto">
          <a:xfrm>
            <a:off x="4224808" y="2924846"/>
            <a:ext cx="2305050" cy="1679575"/>
            <a:chOff x="1973" y="2976"/>
            <a:chExt cx="1452" cy="1058"/>
          </a:xfrm>
        </p:grpSpPr>
        <p:pic>
          <p:nvPicPr>
            <p:cNvPr id="68" name="Picture 8">
              <a:extLst>
                <a:ext uri="{FF2B5EF4-FFF2-40B4-BE49-F238E27FC236}">
                  <a16:creationId xmlns:a16="http://schemas.microsoft.com/office/drawing/2014/main" id="{9CD9CDCF-708B-4DC7-86E3-3640B6846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 y="2976"/>
              <a:ext cx="1089" cy="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AutoShape 17">
              <a:extLst>
                <a:ext uri="{FF2B5EF4-FFF2-40B4-BE49-F238E27FC236}">
                  <a16:creationId xmlns:a16="http://schemas.microsoft.com/office/drawing/2014/main" id="{4F6A46B7-AF0D-49F3-9177-3F7D0052478C}"/>
                </a:ext>
              </a:extLst>
            </p:cNvPr>
            <p:cNvSpPr>
              <a:spLocks noChangeArrowheads="1"/>
            </p:cNvSpPr>
            <p:nvPr/>
          </p:nvSpPr>
          <p:spPr bwMode="auto">
            <a:xfrm>
              <a:off x="1973" y="3294"/>
              <a:ext cx="272" cy="409"/>
            </a:xfrm>
            <a:prstGeom prst="rightArrow">
              <a:avLst>
                <a:gd name="adj1" fmla="val 50000"/>
                <a:gd name="adj2" fmla="val 25000"/>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70" name="Group 27">
            <a:extLst>
              <a:ext uri="{FF2B5EF4-FFF2-40B4-BE49-F238E27FC236}">
                <a16:creationId xmlns:a16="http://schemas.microsoft.com/office/drawing/2014/main" id="{F0044E51-1D93-4152-8FBA-F6E8586F7A7B}"/>
              </a:ext>
            </a:extLst>
          </p:cNvPr>
          <p:cNvGrpSpPr>
            <a:grpSpLocks/>
          </p:cNvGrpSpPr>
          <p:nvPr/>
        </p:nvGrpSpPr>
        <p:grpSpPr bwMode="auto">
          <a:xfrm>
            <a:off x="7246838" y="3429671"/>
            <a:ext cx="1441450" cy="720725"/>
            <a:chOff x="3560" y="3294"/>
            <a:chExt cx="908" cy="454"/>
          </a:xfrm>
        </p:grpSpPr>
        <p:sp>
          <p:nvSpPr>
            <p:cNvPr id="71" name="AutoShape 11">
              <a:extLst>
                <a:ext uri="{FF2B5EF4-FFF2-40B4-BE49-F238E27FC236}">
                  <a16:creationId xmlns:a16="http://schemas.microsoft.com/office/drawing/2014/main" id="{C8078653-FF5C-4647-87C7-5FAC8C75EF20}"/>
                </a:ext>
              </a:extLst>
            </p:cNvPr>
            <p:cNvSpPr>
              <a:spLocks noChangeArrowheads="1"/>
            </p:cNvSpPr>
            <p:nvPr/>
          </p:nvSpPr>
          <p:spPr bwMode="auto">
            <a:xfrm>
              <a:off x="3923" y="3294"/>
              <a:ext cx="545" cy="45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8 w 21600"/>
                <a:gd name="T13" fmla="*/ 4520 h 21600"/>
                <a:gd name="T14" fmla="*/ 17082 w 21600"/>
                <a:gd name="T15" fmla="*/ 1708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00"/>
                </a:gs>
                <a:gs pos="100000">
                  <a:srgbClr val="FFFFFF"/>
                </a:gs>
              </a:gsLst>
              <a:lin ang="5400000" scaled="1"/>
            </a:gra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2" name="AutoShape 19">
              <a:extLst>
                <a:ext uri="{FF2B5EF4-FFF2-40B4-BE49-F238E27FC236}">
                  <a16:creationId xmlns:a16="http://schemas.microsoft.com/office/drawing/2014/main" id="{58FA58C1-B161-4BCA-82E0-44D5A13BC257}"/>
                </a:ext>
              </a:extLst>
            </p:cNvPr>
            <p:cNvSpPr>
              <a:spLocks noChangeArrowheads="1"/>
            </p:cNvSpPr>
            <p:nvPr/>
          </p:nvSpPr>
          <p:spPr bwMode="auto">
            <a:xfrm>
              <a:off x="3560" y="3294"/>
              <a:ext cx="272" cy="409"/>
            </a:xfrm>
            <a:prstGeom prst="rightArrow">
              <a:avLst>
                <a:gd name="adj1" fmla="val 50000"/>
                <a:gd name="adj2" fmla="val 25000"/>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73" name="Group 28">
            <a:extLst>
              <a:ext uri="{FF2B5EF4-FFF2-40B4-BE49-F238E27FC236}">
                <a16:creationId xmlns:a16="http://schemas.microsoft.com/office/drawing/2014/main" id="{6786C424-2BDF-43A2-A5EB-8DBB01F7197E}"/>
              </a:ext>
            </a:extLst>
          </p:cNvPr>
          <p:cNvGrpSpPr>
            <a:grpSpLocks/>
          </p:cNvGrpSpPr>
          <p:nvPr/>
        </p:nvGrpSpPr>
        <p:grpSpPr bwMode="auto">
          <a:xfrm>
            <a:off x="9623549" y="3429671"/>
            <a:ext cx="1296987" cy="792163"/>
            <a:chOff x="4604" y="3294"/>
            <a:chExt cx="817" cy="499"/>
          </a:xfrm>
        </p:grpSpPr>
        <p:sp>
          <p:nvSpPr>
            <p:cNvPr id="74" name="Oval 12">
              <a:extLst>
                <a:ext uri="{FF2B5EF4-FFF2-40B4-BE49-F238E27FC236}">
                  <a16:creationId xmlns:a16="http://schemas.microsoft.com/office/drawing/2014/main" id="{D28E02FF-ADE8-4612-A8F7-232A00BAA909}"/>
                </a:ext>
              </a:extLst>
            </p:cNvPr>
            <p:cNvSpPr>
              <a:spLocks noChangeArrowheads="1"/>
            </p:cNvSpPr>
            <p:nvPr/>
          </p:nvSpPr>
          <p:spPr bwMode="auto">
            <a:xfrm>
              <a:off x="4967" y="3339"/>
              <a:ext cx="46" cy="45"/>
            </a:xfrm>
            <a:prstGeom prst="ellipse">
              <a:avLst/>
            </a:prstGeom>
            <a:solidFill>
              <a:srgbClr val="000000"/>
            </a:solidFill>
            <a:ln w="9525">
              <a:solidFill>
                <a:srgbClr val="000000"/>
              </a:solidFill>
              <a:round/>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5" name="Oval 13">
              <a:extLst>
                <a:ext uri="{FF2B5EF4-FFF2-40B4-BE49-F238E27FC236}">
                  <a16:creationId xmlns:a16="http://schemas.microsoft.com/office/drawing/2014/main" id="{9DDE3A2B-AB1B-4C03-84F3-DE7351D91371}"/>
                </a:ext>
              </a:extLst>
            </p:cNvPr>
            <p:cNvSpPr>
              <a:spLocks noChangeArrowheads="1"/>
            </p:cNvSpPr>
            <p:nvPr/>
          </p:nvSpPr>
          <p:spPr bwMode="auto">
            <a:xfrm>
              <a:off x="5375" y="3339"/>
              <a:ext cx="46" cy="45"/>
            </a:xfrm>
            <a:prstGeom prst="ellipse">
              <a:avLst/>
            </a:prstGeom>
            <a:solidFill>
              <a:srgbClr val="000000"/>
            </a:solidFill>
            <a:ln w="9525">
              <a:solidFill>
                <a:srgbClr val="000000"/>
              </a:solidFill>
              <a:round/>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6" name="Oval 14">
              <a:extLst>
                <a:ext uri="{FF2B5EF4-FFF2-40B4-BE49-F238E27FC236}">
                  <a16:creationId xmlns:a16="http://schemas.microsoft.com/office/drawing/2014/main" id="{7DE83F5E-1EDC-4C64-A6B0-586380CE07C1}"/>
                </a:ext>
              </a:extLst>
            </p:cNvPr>
            <p:cNvSpPr>
              <a:spLocks noChangeArrowheads="1"/>
            </p:cNvSpPr>
            <p:nvPr/>
          </p:nvSpPr>
          <p:spPr bwMode="auto">
            <a:xfrm>
              <a:off x="5057" y="3748"/>
              <a:ext cx="46" cy="45"/>
            </a:xfrm>
            <a:prstGeom prst="ellipse">
              <a:avLst/>
            </a:prstGeom>
            <a:solidFill>
              <a:srgbClr val="000000"/>
            </a:solidFill>
            <a:ln w="9525">
              <a:solidFill>
                <a:srgbClr val="000000"/>
              </a:solidFill>
              <a:round/>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7" name="Oval 15">
              <a:extLst>
                <a:ext uri="{FF2B5EF4-FFF2-40B4-BE49-F238E27FC236}">
                  <a16:creationId xmlns:a16="http://schemas.microsoft.com/office/drawing/2014/main" id="{AD94C5F6-0752-464F-9C75-EE89700F66D0}"/>
                </a:ext>
              </a:extLst>
            </p:cNvPr>
            <p:cNvSpPr>
              <a:spLocks noChangeArrowheads="1"/>
            </p:cNvSpPr>
            <p:nvPr/>
          </p:nvSpPr>
          <p:spPr bwMode="auto">
            <a:xfrm>
              <a:off x="5284" y="3748"/>
              <a:ext cx="46" cy="45"/>
            </a:xfrm>
            <a:prstGeom prst="ellipse">
              <a:avLst/>
            </a:prstGeom>
            <a:solidFill>
              <a:srgbClr val="000000"/>
            </a:solidFill>
            <a:ln w="9525">
              <a:solidFill>
                <a:srgbClr val="000000"/>
              </a:solidFill>
              <a:round/>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8" name="AutoShape 20">
              <a:extLst>
                <a:ext uri="{FF2B5EF4-FFF2-40B4-BE49-F238E27FC236}">
                  <a16:creationId xmlns:a16="http://schemas.microsoft.com/office/drawing/2014/main" id="{524D8711-65D5-4339-ABED-C9E21D8E9B67}"/>
                </a:ext>
              </a:extLst>
            </p:cNvPr>
            <p:cNvSpPr>
              <a:spLocks noChangeArrowheads="1"/>
            </p:cNvSpPr>
            <p:nvPr/>
          </p:nvSpPr>
          <p:spPr bwMode="auto">
            <a:xfrm>
              <a:off x="4604" y="3294"/>
              <a:ext cx="272" cy="409"/>
            </a:xfrm>
            <a:prstGeom prst="rightArrow">
              <a:avLst>
                <a:gd name="adj1" fmla="val 50000"/>
                <a:gd name="adj2" fmla="val 25000"/>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79" name="Group 23">
            <a:extLst>
              <a:ext uri="{FF2B5EF4-FFF2-40B4-BE49-F238E27FC236}">
                <a16:creationId xmlns:a16="http://schemas.microsoft.com/office/drawing/2014/main" id="{35A09622-CBAE-461E-A9EC-3A7308433DF3}"/>
              </a:ext>
            </a:extLst>
          </p:cNvPr>
          <p:cNvGrpSpPr>
            <a:grpSpLocks/>
          </p:cNvGrpSpPr>
          <p:nvPr/>
        </p:nvGrpSpPr>
        <p:grpSpPr bwMode="auto">
          <a:xfrm>
            <a:off x="4151784" y="4761583"/>
            <a:ext cx="3744913" cy="1547812"/>
            <a:chOff x="1927" y="1933"/>
            <a:chExt cx="2359" cy="975"/>
          </a:xfrm>
        </p:grpSpPr>
        <p:pic>
          <p:nvPicPr>
            <p:cNvPr id="80" name="Picture 21" descr="颜色贴图纹理">
              <a:extLst>
                <a:ext uri="{FF2B5EF4-FFF2-40B4-BE49-F238E27FC236}">
                  <a16:creationId xmlns:a16="http://schemas.microsoft.com/office/drawing/2014/main" id="{DA9C1865-34E0-4AB0-A0CA-4824E379B0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 y="1933"/>
              <a:ext cx="1950" cy="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AutoShape 22">
              <a:extLst>
                <a:ext uri="{FF2B5EF4-FFF2-40B4-BE49-F238E27FC236}">
                  <a16:creationId xmlns:a16="http://schemas.microsoft.com/office/drawing/2014/main" id="{0A8DA171-1DC2-46E4-BF59-324D441EA66A}"/>
                </a:ext>
              </a:extLst>
            </p:cNvPr>
            <p:cNvSpPr>
              <a:spLocks noChangeArrowheads="1"/>
            </p:cNvSpPr>
            <p:nvPr/>
          </p:nvSpPr>
          <p:spPr bwMode="auto">
            <a:xfrm>
              <a:off x="1927" y="2160"/>
              <a:ext cx="272" cy="409"/>
            </a:xfrm>
            <a:prstGeom prst="rightArrow">
              <a:avLst>
                <a:gd name="adj1" fmla="val 50000"/>
                <a:gd name="adj2" fmla="val 25000"/>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sp>
        <p:nvSpPr>
          <p:cNvPr id="82" name="AutoShape 29">
            <a:extLst>
              <a:ext uri="{FF2B5EF4-FFF2-40B4-BE49-F238E27FC236}">
                <a16:creationId xmlns:a16="http://schemas.microsoft.com/office/drawing/2014/main" id="{BAE249CC-4900-452E-BD0E-A38FB1D3E528}"/>
              </a:ext>
            </a:extLst>
          </p:cNvPr>
          <p:cNvSpPr>
            <a:spLocks noChangeArrowheads="1"/>
          </p:cNvSpPr>
          <p:nvPr/>
        </p:nvSpPr>
        <p:spPr bwMode="auto">
          <a:xfrm>
            <a:off x="8310564" y="2277145"/>
            <a:ext cx="1601787" cy="503238"/>
          </a:xfrm>
          <a:prstGeom prst="wedgeEllipseCallout">
            <a:avLst>
              <a:gd name="adj1" fmla="val -51885"/>
              <a:gd name="adj2" fmla="val 177080"/>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ea typeface="黑体" pitchFamily="49" charset="-122"/>
              </a:rPr>
              <a:t>几何图元</a:t>
            </a:r>
          </a:p>
        </p:txBody>
      </p:sp>
      <p:sp>
        <p:nvSpPr>
          <p:cNvPr id="83" name="AutoShape 30">
            <a:extLst>
              <a:ext uri="{FF2B5EF4-FFF2-40B4-BE49-F238E27FC236}">
                <a16:creationId xmlns:a16="http://schemas.microsoft.com/office/drawing/2014/main" id="{12AEAEDB-AB90-4A86-890F-4E32340B2411}"/>
              </a:ext>
            </a:extLst>
          </p:cNvPr>
          <p:cNvSpPr>
            <a:spLocks noChangeArrowheads="1"/>
          </p:cNvSpPr>
          <p:nvPr/>
        </p:nvSpPr>
        <p:spPr bwMode="auto">
          <a:xfrm>
            <a:off x="9264651" y="1484984"/>
            <a:ext cx="1368425" cy="503237"/>
          </a:xfrm>
          <a:prstGeom prst="wedgeEllipseCallout">
            <a:avLst>
              <a:gd name="adj1" fmla="val 67958"/>
              <a:gd name="adj2" fmla="val 348291"/>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1800" b="1" kern="0">
                <a:solidFill>
                  <a:srgbClr val="000000"/>
                </a:solidFill>
                <a:effectLst>
                  <a:outerShdw blurRad="38100" dist="38100" dir="2700000" algn="tl">
                    <a:srgbClr val="FFFFFF"/>
                  </a:outerShdw>
                </a:effectLst>
                <a:ea typeface="黑体" pitchFamily="49" charset="-122"/>
              </a:rPr>
              <a:t>顶点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checkerboard(across)">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left)">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left)">
                                      <p:cBhvr>
                                        <p:cTn id="17" dur="500"/>
                                        <p:tgtEl>
                                          <p:spTgt spid="70"/>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82"/>
                                        </p:tgtEl>
                                        <p:attrNameLst>
                                          <p:attrName>style.visibility</p:attrName>
                                        </p:attrNameLst>
                                      </p:cBhvr>
                                      <p:to>
                                        <p:strVal val="visible"/>
                                      </p:to>
                                    </p:set>
                                    <p:anim calcmode="lin" valueType="num">
                                      <p:cBhvr>
                                        <p:cTn id="22" dur="500" fill="hold"/>
                                        <p:tgtEl>
                                          <p:spTgt spid="82"/>
                                        </p:tgtEl>
                                        <p:attrNameLst>
                                          <p:attrName>ppt_x</p:attrName>
                                        </p:attrNameLst>
                                      </p:cBhvr>
                                      <p:tavLst>
                                        <p:tav tm="0">
                                          <p:val>
                                            <p:strVal val="#ppt_x-#ppt_w/2"/>
                                          </p:val>
                                        </p:tav>
                                        <p:tav tm="100000">
                                          <p:val>
                                            <p:strVal val="#ppt_x"/>
                                          </p:val>
                                        </p:tav>
                                      </p:tavLst>
                                    </p:anim>
                                    <p:anim calcmode="lin" valueType="num">
                                      <p:cBhvr>
                                        <p:cTn id="23" dur="500" fill="hold"/>
                                        <p:tgtEl>
                                          <p:spTgt spid="82"/>
                                        </p:tgtEl>
                                        <p:attrNameLst>
                                          <p:attrName>ppt_y</p:attrName>
                                        </p:attrNameLst>
                                      </p:cBhvr>
                                      <p:tavLst>
                                        <p:tav tm="0">
                                          <p:val>
                                            <p:strVal val="#ppt_y"/>
                                          </p:val>
                                        </p:tav>
                                        <p:tav tm="100000">
                                          <p:val>
                                            <p:strVal val="#ppt_y"/>
                                          </p:val>
                                        </p:tav>
                                      </p:tavLst>
                                    </p:anim>
                                    <p:anim calcmode="lin" valueType="num">
                                      <p:cBhvr>
                                        <p:cTn id="24" dur="500" fill="hold"/>
                                        <p:tgtEl>
                                          <p:spTgt spid="82"/>
                                        </p:tgtEl>
                                        <p:attrNameLst>
                                          <p:attrName>ppt_w</p:attrName>
                                        </p:attrNameLst>
                                      </p:cBhvr>
                                      <p:tavLst>
                                        <p:tav tm="0">
                                          <p:val>
                                            <p:fltVal val="0"/>
                                          </p:val>
                                        </p:tav>
                                        <p:tav tm="100000">
                                          <p:val>
                                            <p:strVal val="#ppt_w"/>
                                          </p:val>
                                        </p:tav>
                                      </p:tavLst>
                                    </p:anim>
                                    <p:anim calcmode="lin" valueType="num">
                                      <p:cBhvr>
                                        <p:cTn id="25" dur="500" fill="hold"/>
                                        <p:tgtEl>
                                          <p:spTgt spid="82"/>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wipe(left)">
                                      <p:cBhvr>
                                        <p:cTn id="30" dur="500"/>
                                        <p:tgtEl>
                                          <p:spTgt spid="73"/>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2" fill="hold" grpId="0" nodeType="clickEffect">
                                  <p:stCondLst>
                                    <p:cond delay="0"/>
                                  </p:stCondLst>
                                  <p:childTnLst>
                                    <p:set>
                                      <p:cBhvr>
                                        <p:cTn id="34" dur="1" fill="hold">
                                          <p:stCondLst>
                                            <p:cond delay="0"/>
                                          </p:stCondLst>
                                        </p:cTn>
                                        <p:tgtEl>
                                          <p:spTgt spid="83"/>
                                        </p:tgtEl>
                                        <p:attrNameLst>
                                          <p:attrName>style.visibility</p:attrName>
                                        </p:attrNameLst>
                                      </p:cBhvr>
                                      <p:to>
                                        <p:strVal val="visible"/>
                                      </p:to>
                                    </p:set>
                                    <p:anim calcmode="lin" valueType="num">
                                      <p:cBhvr>
                                        <p:cTn id="35" dur="500" fill="hold"/>
                                        <p:tgtEl>
                                          <p:spTgt spid="83"/>
                                        </p:tgtEl>
                                        <p:attrNameLst>
                                          <p:attrName>ppt_x</p:attrName>
                                        </p:attrNameLst>
                                      </p:cBhvr>
                                      <p:tavLst>
                                        <p:tav tm="0">
                                          <p:val>
                                            <p:strVal val="#ppt_x+#ppt_w/2"/>
                                          </p:val>
                                        </p:tav>
                                        <p:tav tm="100000">
                                          <p:val>
                                            <p:strVal val="#ppt_x"/>
                                          </p:val>
                                        </p:tav>
                                      </p:tavLst>
                                    </p:anim>
                                    <p:anim calcmode="lin" valueType="num">
                                      <p:cBhvr>
                                        <p:cTn id="36" dur="500" fill="hold"/>
                                        <p:tgtEl>
                                          <p:spTgt spid="83"/>
                                        </p:tgtEl>
                                        <p:attrNameLst>
                                          <p:attrName>ppt_y</p:attrName>
                                        </p:attrNameLst>
                                      </p:cBhvr>
                                      <p:tavLst>
                                        <p:tav tm="0">
                                          <p:val>
                                            <p:strVal val="#ppt_y"/>
                                          </p:val>
                                        </p:tav>
                                        <p:tav tm="100000">
                                          <p:val>
                                            <p:strVal val="#ppt_y"/>
                                          </p:val>
                                        </p:tav>
                                      </p:tavLst>
                                    </p:anim>
                                    <p:anim calcmode="lin" valueType="num">
                                      <p:cBhvr>
                                        <p:cTn id="37" dur="500" fill="hold"/>
                                        <p:tgtEl>
                                          <p:spTgt spid="83"/>
                                        </p:tgtEl>
                                        <p:attrNameLst>
                                          <p:attrName>ppt_w</p:attrName>
                                        </p:attrNameLst>
                                      </p:cBhvr>
                                      <p:tavLst>
                                        <p:tav tm="0">
                                          <p:val>
                                            <p:fltVal val="0"/>
                                          </p:val>
                                        </p:tav>
                                        <p:tav tm="100000">
                                          <p:val>
                                            <p:strVal val="#ppt_w"/>
                                          </p:val>
                                        </p:tav>
                                      </p:tavLst>
                                    </p:anim>
                                    <p:anim calcmode="lin" valueType="num">
                                      <p:cBhvr>
                                        <p:cTn id="38" dur="500" fill="hold"/>
                                        <p:tgtEl>
                                          <p:spTgt spid="83"/>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wipe(left)">
                                      <p:cBhvr>
                                        <p:cTn id="4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B028BD6B-218C-4E6F-8EEA-35188D49E752}"/>
              </a:ext>
            </a:extLst>
          </p:cNvPr>
          <p:cNvSpPr>
            <a:spLocks noGrp="1" noChangeArrowheads="1"/>
          </p:cNvSpPr>
          <p:nvPr>
            <p:ph type="title"/>
          </p:nvPr>
        </p:nvSpPr>
        <p:spPr/>
        <p:txBody>
          <a:bodyPr/>
          <a:lstStyle/>
          <a:p>
            <a:pPr>
              <a:defRPr/>
            </a:pPr>
            <a:r>
              <a:rPr lang="en-US" altLang="zh-CN" dirty="0">
                <a:latin typeface="Arial" pitchFamily="34" charset="0"/>
              </a:rPr>
              <a:t>4.2 </a:t>
            </a:r>
            <a:r>
              <a:rPr lang="zh-CN" altLang="en-US" dirty="0">
                <a:latin typeface="Arial" pitchFamily="34" charset="0"/>
              </a:rPr>
              <a:t>几何图元</a:t>
            </a:r>
          </a:p>
        </p:txBody>
      </p:sp>
      <p:sp>
        <p:nvSpPr>
          <p:cNvPr id="94" name="Rectangle 3">
            <a:extLst>
              <a:ext uri="{FF2B5EF4-FFF2-40B4-BE49-F238E27FC236}">
                <a16:creationId xmlns:a16="http://schemas.microsoft.com/office/drawing/2014/main" id="{C5FC4595-D629-4A00-BD55-A5D10BC02A2A}"/>
              </a:ext>
            </a:extLst>
          </p:cNvPr>
          <p:cNvSpPr txBox="1">
            <a:spLocks noChangeArrowheads="1"/>
          </p:cNvSpPr>
          <p:nvPr/>
        </p:nvSpPr>
        <p:spPr bwMode="auto">
          <a:xfrm>
            <a:off x="2208214" y="908720"/>
            <a:ext cx="7945437" cy="10525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a:ea typeface="黑体" pitchFamily="49" charset="-122"/>
              </a:rPr>
              <a:t>几何图元都是由顶点</a:t>
            </a:r>
            <a:r>
              <a:rPr lang="en-US" altLang="zh-CN" kern="0">
                <a:ea typeface="黑体" pitchFamily="49" charset="-122"/>
              </a:rPr>
              <a:t>(Vertex)</a:t>
            </a:r>
            <a:r>
              <a:rPr lang="zh-CN" altLang="en-US" kern="0">
                <a:ea typeface="黑体" pitchFamily="49" charset="-122"/>
              </a:rPr>
              <a:t>集合来定义的</a:t>
            </a:r>
          </a:p>
          <a:p>
            <a:pPr>
              <a:buFont typeface="Wingdings" panose="05000000000000000000" pitchFamily="2" charset="2"/>
              <a:buNone/>
              <a:defRPr/>
            </a:pPr>
            <a:endParaRPr lang="zh-CN" altLang="en-US" kern="0" dirty="0">
              <a:ea typeface="黑体" pitchFamily="49" charset="-122"/>
            </a:endParaRPr>
          </a:p>
        </p:txBody>
      </p:sp>
      <p:sp>
        <p:nvSpPr>
          <p:cNvPr id="95" name="Rectangle 3">
            <a:extLst>
              <a:ext uri="{FF2B5EF4-FFF2-40B4-BE49-F238E27FC236}">
                <a16:creationId xmlns:a16="http://schemas.microsoft.com/office/drawing/2014/main" id="{4C6D1409-1E41-4F4B-BBCA-0C3E0F19992C}"/>
              </a:ext>
            </a:extLst>
          </p:cNvPr>
          <p:cNvSpPr>
            <a:spLocks noChangeArrowheads="1"/>
          </p:cNvSpPr>
          <p:nvPr/>
        </p:nvSpPr>
        <p:spPr bwMode="auto">
          <a:xfrm>
            <a:off x="4876800" y="1843758"/>
            <a:ext cx="2762250" cy="461963"/>
          </a:xfrm>
          <a:prstGeom prst="rect">
            <a:avLst/>
          </a:prstGeom>
          <a:noFill/>
          <a:ln w="9525">
            <a:noFill/>
            <a:miter lim="800000"/>
            <a:headEnd/>
            <a:tailEnd/>
          </a:ln>
          <a:effectLst/>
        </p:spPr>
        <p:txBody>
          <a:bodyPr wrap="none" lIns="92075" tIns="46038" rIns="92075" bIns="46038">
            <a:spAutoFit/>
          </a:bodyPr>
          <a:lstStyle/>
          <a:p>
            <a:pPr algn="ctr">
              <a:defRPr/>
            </a:pPr>
            <a:r>
              <a:rPr lang="en-US" altLang="zh-CN" sz="2400" b="1">
                <a:solidFill>
                  <a:srgbClr val="000000"/>
                </a:solidFill>
                <a:effectLst>
                  <a:outerShdw blurRad="38100" dist="38100" dir="2700000" algn="tl">
                    <a:srgbClr val="C0C0C0"/>
                  </a:outerShdw>
                </a:effectLst>
                <a:latin typeface="Arial Black" pitchFamily="34" charset="0"/>
                <a:ea typeface="宋体" pitchFamily="2" charset="-122"/>
              </a:rPr>
              <a:t>glVertex2fv( </a:t>
            </a:r>
            <a:r>
              <a:rPr lang="en-US" altLang="zh-CN" sz="2400" b="1" i="1">
                <a:solidFill>
                  <a:srgbClr val="000000"/>
                </a:solidFill>
                <a:effectLst>
                  <a:outerShdw blurRad="38100" dist="38100" dir="2700000" algn="tl">
                    <a:srgbClr val="C0C0C0"/>
                  </a:outerShdw>
                </a:effectLst>
                <a:latin typeface="Arial Black" pitchFamily="34" charset="0"/>
                <a:ea typeface="宋体" pitchFamily="2" charset="-122"/>
              </a:rPr>
              <a:t>v</a:t>
            </a:r>
            <a:r>
              <a:rPr lang="en-US" altLang="zh-CN" sz="2400" b="1">
                <a:solidFill>
                  <a:srgbClr val="000000"/>
                </a:solidFill>
                <a:effectLst>
                  <a:outerShdw blurRad="38100" dist="38100" dir="2700000" algn="tl">
                    <a:srgbClr val="C0C0C0"/>
                  </a:outerShdw>
                </a:effectLst>
                <a:latin typeface="Arial Black" pitchFamily="34" charset="0"/>
                <a:ea typeface="宋体" pitchFamily="2" charset="-122"/>
              </a:rPr>
              <a:t> )</a:t>
            </a:r>
          </a:p>
        </p:txBody>
      </p:sp>
      <p:grpSp>
        <p:nvGrpSpPr>
          <p:cNvPr id="96" name="Group 59">
            <a:extLst>
              <a:ext uri="{FF2B5EF4-FFF2-40B4-BE49-F238E27FC236}">
                <a16:creationId xmlns:a16="http://schemas.microsoft.com/office/drawing/2014/main" id="{0606BDF3-34C1-49D6-B213-E44B4E448656}"/>
              </a:ext>
            </a:extLst>
          </p:cNvPr>
          <p:cNvGrpSpPr>
            <a:grpSpLocks/>
          </p:cNvGrpSpPr>
          <p:nvPr/>
        </p:nvGrpSpPr>
        <p:grpSpPr bwMode="auto">
          <a:xfrm>
            <a:off x="2220914" y="2240633"/>
            <a:ext cx="3095625" cy="1058863"/>
            <a:chOff x="295" y="1162"/>
            <a:chExt cx="1950" cy="667"/>
          </a:xfrm>
        </p:grpSpPr>
        <p:sp>
          <p:nvSpPr>
            <p:cNvPr id="97" name="Text Box 60">
              <a:extLst>
                <a:ext uri="{FF2B5EF4-FFF2-40B4-BE49-F238E27FC236}">
                  <a16:creationId xmlns:a16="http://schemas.microsoft.com/office/drawing/2014/main" id="{6CC2A11A-C0BC-4E1C-94E6-7B021B9486B4}"/>
                </a:ext>
              </a:extLst>
            </p:cNvPr>
            <p:cNvSpPr txBox="1">
              <a:spLocks noChangeArrowheads="1"/>
            </p:cNvSpPr>
            <p:nvPr/>
          </p:nvSpPr>
          <p:spPr bwMode="auto">
            <a:xfrm>
              <a:off x="1584" y="1395"/>
              <a:ext cx="336" cy="2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2000" b="1" i="1" kern="0" dirty="0">
                  <a:solidFill>
                    <a:srgbClr val="CC0000"/>
                  </a:solidFill>
                  <a:effectLst>
                    <a:outerShdw blurRad="38100" dist="38100" dir="2700000" algn="tl">
                      <a:srgbClr val="C0C0C0"/>
                    </a:outerShdw>
                  </a:effectLst>
                  <a:latin typeface="Arial Black" pitchFamily="34" charset="0"/>
                  <a:ea typeface="宋体" pitchFamily="2" charset="-122"/>
                </a:rPr>
                <a:t>库</a:t>
              </a:r>
            </a:p>
          </p:txBody>
        </p:sp>
        <p:sp>
          <p:nvSpPr>
            <p:cNvPr id="98" name="Rectangle 61">
              <a:extLst>
                <a:ext uri="{FF2B5EF4-FFF2-40B4-BE49-F238E27FC236}">
                  <a16:creationId xmlns:a16="http://schemas.microsoft.com/office/drawing/2014/main" id="{DC3EED18-7A67-4DDC-BB59-439B4563489B}"/>
                </a:ext>
              </a:extLst>
            </p:cNvPr>
            <p:cNvSpPr>
              <a:spLocks noChangeArrowheads="1"/>
            </p:cNvSpPr>
            <p:nvPr/>
          </p:nvSpPr>
          <p:spPr bwMode="auto">
            <a:xfrm>
              <a:off x="295" y="1253"/>
              <a:ext cx="1248" cy="576"/>
            </a:xfrm>
            <a:prstGeom prst="rect">
              <a:avLst/>
            </a:prstGeom>
            <a:noFill/>
            <a:ln w="19050">
              <a:solidFill>
                <a:srgbClr val="CC0000"/>
              </a:solidFill>
              <a:miter lim="800000"/>
              <a:headEnd/>
              <a:tailEnd/>
            </a:ln>
            <a:effectLst/>
          </p:spPr>
          <p:txBody>
            <a:bodyPr wrap="none" anchor="ctr"/>
            <a:lstStyle/>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gl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基本库</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glu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实用库</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glut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应用工具库</a:t>
              </a:r>
            </a:p>
          </p:txBody>
        </p:sp>
        <p:grpSp>
          <p:nvGrpSpPr>
            <p:cNvPr id="99" name="Group 62">
              <a:extLst>
                <a:ext uri="{FF2B5EF4-FFF2-40B4-BE49-F238E27FC236}">
                  <a16:creationId xmlns:a16="http://schemas.microsoft.com/office/drawing/2014/main" id="{2891B6A5-E3FA-438E-A4F3-05282959F413}"/>
                </a:ext>
              </a:extLst>
            </p:cNvPr>
            <p:cNvGrpSpPr>
              <a:grpSpLocks/>
            </p:cNvGrpSpPr>
            <p:nvPr/>
          </p:nvGrpSpPr>
          <p:grpSpPr bwMode="auto">
            <a:xfrm>
              <a:off x="1899" y="1162"/>
              <a:ext cx="346" cy="379"/>
              <a:chOff x="1899" y="1207"/>
              <a:chExt cx="346" cy="379"/>
            </a:xfrm>
          </p:grpSpPr>
          <p:sp>
            <p:nvSpPr>
              <p:cNvPr id="100" name="Freeform 11">
                <a:extLst>
                  <a:ext uri="{FF2B5EF4-FFF2-40B4-BE49-F238E27FC236}">
                    <a16:creationId xmlns:a16="http://schemas.microsoft.com/office/drawing/2014/main" id="{5F596C4F-09D0-456C-90C6-7F33C4FD9D96}"/>
                  </a:ext>
                </a:extLst>
              </p:cNvPr>
              <p:cNvSpPr>
                <a:spLocks/>
              </p:cNvSpPr>
              <p:nvPr/>
            </p:nvSpPr>
            <p:spPr bwMode="auto">
              <a:xfrm>
                <a:off x="1899" y="1207"/>
                <a:ext cx="250" cy="379"/>
              </a:xfrm>
              <a:custGeom>
                <a:avLst/>
                <a:gdLst>
                  <a:gd name="T0" fmla="*/ 2039 w 250"/>
                  <a:gd name="T1" fmla="*/ 0 h 379"/>
                  <a:gd name="T2" fmla="*/ 2039 w 250"/>
                  <a:gd name="T3" fmla="*/ 329 h 379"/>
                  <a:gd name="T4" fmla="*/ 0 w 250"/>
                  <a:gd name="T5" fmla="*/ 565 h 379"/>
                  <a:gd name="T6" fmla="*/ 0 w 250"/>
                  <a:gd name="T7" fmla="*/ 915 h 379"/>
                  <a:gd name="T8" fmla="*/ 0 60000 65536"/>
                  <a:gd name="T9" fmla="*/ 0 60000 65536"/>
                  <a:gd name="T10" fmla="*/ 0 60000 65536"/>
                  <a:gd name="T11" fmla="*/ 0 60000 65536"/>
                  <a:gd name="T12" fmla="*/ 0 w 250"/>
                  <a:gd name="T13" fmla="*/ 0 h 379"/>
                  <a:gd name="T14" fmla="*/ 2040 w 250"/>
                  <a:gd name="T15" fmla="*/ 916 h 379"/>
                </a:gdLst>
                <a:ahLst/>
                <a:cxnLst>
                  <a:cxn ang="T8">
                    <a:pos x="T0" y="T1"/>
                  </a:cxn>
                  <a:cxn ang="T9">
                    <a:pos x="T2" y="T3"/>
                  </a:cxn>
                  <a:cxn ang="T10">
                    <a:pos x="T4" y="T5"/>
                  </a:cxn>
                  <a:cxn ang="T11">
                    <a:pos x="T6" y="T7"/>
                  </a:cxn>
                </a:cxnLst>
                <a:rect l="T12" t="T13" r="T14" b="T15"/>
                <a:pathLst>
                  <a:path w="250" h="379">
                    <a:moveTo>
                      <a:pt x="250" y="0"/>
                    </a:moveTo>
                    <a:lnTo>
                      <a:pt x="250" y="371"/>
                    </a:lnTo>
                    <a:lnTo>
                      <a:pt x="0" y="379"/>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01" name="Line 64">
                <a:extLst>
                  <a:ext uri="{FF2B5EF4-FFF2-40B4-BE49-F238E27FC236}">
                    <a16:creationId xmlns:a16="http://schemas.microsoft.com/office/drawing/2014/main" id="{3E9745CC-6D0B-4D58-9A92-D8D87A886314}"/>
                  </a:ext>
                </a:extLst>
              </p:cNvPr>
              <p:cNvSpPr>
                <a:spLocks noChangeShapeType="1"/>
              </p:cNvSpPr>
              <p:nvPr/>
            </p:nvSpPr>
            <p:spPr bwMode="auto">
              <a:xfrm>
                <a:off x="2064" y="1207"/>
                <a:ext cx="181" cy="0"/>
              </a:xfrm>
              <a:prstGeom prst="line">
                <a:avLst/>
              </a:prstGeom>
              <a:noFill/>
              <a:ln w="19050" cap="rnd">
                <a:solidFill>
                  <a:srgbClr val="CC0000"/>
                </a:solidFill>
                <a:round/>
                <a:headEnd type="none" w="med" len="lg"/>
                <a:tailEnd type="none" w="sm" len="sm"/>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grpSp>
        <p:nvGrpSpPr>
          <p:cNvPr id="102" name="Group 65">
            <a:extLst>
              <a:ext uri="{FF2B5EF4-FFF2-40B4-BE49-F238E27FC236}">
                <a16:creationId xmlns:a16="http://schemas.microsoft.com/office/drawing/2014/main" id="{BD4543A5-AF23-4F68-AB72-5CEABECD32D9}"/>
              </a:ext>
            </a:extLst>
          </p:cNvPr>
          <p:cNvGrpSpPr>
            <a:grpSpLocks/>
          </p:cNvGrpSpPr>
          <p:nvPr/>
        </p:nvGrpSpPr>
        <p:grpSpPr bwMode="auto">
          <a:xfrm>
            <a:off x="2652714" y="2240633"/>
            <a:ext cx="3940175" cy="3248025"/>
            <a:chOff x="567" y="1162"/>
            <a:chExt cx="2482" cy="2046"/>
          </a:xfrm>
        </p:grpSpPr>
        <p:sp>
          <p:nvSpPr>
            <p:cNvPr id="103" name="Rectangle 5">
              <a:extLst>
                <a:ext uri="{FF2B5EF4-FFF2-40B4-BE49-F238E27FC236}">
                  <a16:creationId xmlns:a16="http://schemas.microsoft.com/office/drawing/2014/main" id="{E5D412B1-9996-41E4-8147-2D327CDC1D49}"/>
                </a:ext>
              </a:extLst>
            </p:cNvPr>
            <p:cNvSpPr>
              <a:spLocks noChangeArrowheads="1"/>
            </p:cNvSpPr>
            <p:nvPr/>
          </p:nvSpPr>
          <p:spPr bwMode="auto">
            <a:xfrm>
              <a:off x="720" y="2352"/>
              <a:ext cx="767" cy="252"/>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zh-CN" altLang="en-US" sz="2000" b="1" i="1" kern="0" dirty="0">
                  <a:solidFill>
                    <a:srgbClr val="CC0000"/>
                  </a:solidFill>
                  <a:effectLst>
                    <a:outerShdw blurRad="38100" dist="38100" dir="2700000" algn="tl">
                      <a:srgbClr val="C0C0C0"/>
                    </a:outerShdw>
                  </a:effectLst>
                  <a:latin typeface="Arial Black" pitchFamily="34" charset="0"/>
                  <a:ea typeface="宋体" pitchFamily="2" charset="-122"/>
                </a:rPr>
                <a:t>元素个数</a:t>
              </a:r>
            </a:p>
          </p:txBody>
        </p:sp>
        <p:sp>
          <p:nvSpPr>
            <p:cNvPr id="104" name="Rectangle 6">
              <a:extLst>
                <a:ext uri="{FF2B5EF4-FFF2-40B4-BE49-F238E27FC236}">
                  <a16:creationId xmlns:a16="http://schemas.microsoft.com/office/drawing/2014/main" id="{51B054CD-1AA9-4A86-A20E-11B07F6391DB}"/>
                </a:ext>
              </a:extLst>
            </p:cNvPr>
            <p:cNvSpPr>
              <a:spLocks noChangeArrowheads="1"/>
            </p:cNvSpPr>
            <p:nvPr/>
          </p:nvSpPr>
          <p:spPr bwMode="auto">
            <a:xfrm>
              <a:off x="567" y="2626"/>
              <a:ext cx="1022" cy="582"/>
            </a:xfrm>
            <a:prstGeom prst="rect">
              <a:avLst/>
            </a:prstGeom>
            <a:noFill/>
            <a:ln w="19050">
              <a:solidFill>
                <a:srgbClr val="CC0000"/>
              </a:solidFill>
              <a:miter lim="800000"/>
              <a:headEnd/>
              <a:tailEnd/>
            </a:ln>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2 - (x,y) </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3 - (x,y,z)</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4 - (x,y,z,w)</a:t>
              </a:r>
            </a:p>
          </p:txBody>
        </p:sp>
        <p:sp>
          <p:nvSpPr>
            <p:cNvPr id="105" name="Freeform 11">
              <a:extLst>
                <a:ext uri="{FF2B5EF4-FFF2-40B4-BE49-F238E27FC236}">
                  <a16:creationId xmlns:a16="http://schemas.microsoft.com/office/drawing/2014/main" id="{147D6309-AC34-439C-AFA1-3BB7AC03099D}"/>
                </a:ext>
              </a:extLst>
            </p:cNvPr>
            <p:cNvSpPr>
              <a:spLocks/>
            </p:cNvSpPr>
            <p:nvPr/>
          </p:nvSpPr>
          <p:spPr bwMode="auto">
            <a:xfrm>
              <a:off x="1104" y="1182"/>
              <a:ext cx="1905" cy="1190"/>
            </a:xfrm>
            <a:custGeom>
              <a:avLst/>
              <a:gdLst>
                <a:gd name="T0" fmla="*/ 2039 w 1905"/>
                <a:gd name="T1" fmla="*/ 0 h 1190"/>
                <a:gd name="T2" fmla="*/ 2039 w 1905"/>
                <a:gd name="T3" fmla="*/ 329 h 1190"/>
                <a:gd name="T4" fmla="*/ 0 w 1905"/>
                <a:gd name="T5" fmla="*/ 565 h 1190"/>
                <a:gd name="T6" fmla="*/ 0 w 1905"/>
                <a:gd name="T7" fmla="*/ 915 h 1190"/>
                <a:gd name="T8" fmla="*/ 0 60000 65536"/>
                <a:gd name="T9" fmla="*/ 0 60000 65536"/>
                <a:gd name="T10" fmla="*/ 0 60000 65536"/>
                <a:gd name="T11" fmla="*/ 0 60000 65536"/>
                <a:gd name="T12" fmla="*/ 0 w 1905"/>
                <a:gd name="T13" fmla="*/ 0 h 1190"/>
                <a:gd name="T14" fmla="*/ 2040 w 1905"/>
                <a:gd name="T15" fmla="*/ 916 h 1190"/>
              </a:gdLst>
              <a:ahLst/>
              <a:cxnLst>
                <a:cxn ang="T8">
                  <a:pos x="T0" y="T1"/>
                </a:cxn>
                <a:cxn ang="T9">
                  <a:pos x="T2" y="T3"/>
                </a:cxn>
                <a:cxn ang="T10">
                  <a:pos x="T4" y="T5"/>
                </a:cxn>
                <a:cxn ang="T11">
                  <a:pos x="T6" y="T7"/>
                </a:cxn>
              </a:cxnLst>
              <a:rect l="T12" t="T13" r="T14" b="T15"/>
              <a:pathLst>
                <a:path w="1905" h="1190">
                  <a:moveTo>
                    <a:pt x="1905" y="0"/>
                  </a:moveTo>
                  <a:lnTo>
                    <a:pt x="1897" y="349"/>
                  </a:lnTo>
                  <a:lnTo>
                    <a:pt x="0" y="902"/>
                  </a:lnTo>
                  <a:lnTo>
                    <a:pt x="0" y="1190"/>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06" name="Line 69">
              <a:extLst>
                <a:ext uri="{FF2B5EF4-FFF2-40B4-BE49-F238E27FC236}">
                  <a16:creationId xmlns:a16="http://schemas.microsoft.com/office/drawing/2014/main" id="{A2F76EF5-BDC5-4BFC-A0CF-5FD5AA61860B}"/>
                </a:ext>
              </a:extLst>
            </p:cNvPr>
            <p:cNvSpPr>
              <a:spLocks noChangeShapeType="1"/>
            </p:cNvSpPr>
            <p:nvPr/>
          </p:nvSpPr>
          <p:spPr bwMode="auto">
            <a:xfrm>
              <a:off x="2959"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107" name="Group 70">
            <a:extLst>
              <a:ext uri="{FF2B5EF4-FFF2-40B4-BE49-F238E27FC236}">
                <a16:creationId xmlns:a16="http://schemas.microsoft.com/office/drawing/2014/main" id="{1BA2267A-EF60-464E-99E8-9116C9053330}"/>
              </a:ext>
            </a:extLst>
          </p:cNvPr>
          <p:cNvGrpSpPr>
            <a:grpSpLocks/>
          </p:cNvGrpSpPr>
          <p:nvPr/>
        </p:nvGrpSpPr>
        <p:grpSpPr bwMode="auto">
          <a:xfrm>
            <a:off x="4876801" y="2240632"/>
            <a:ext cx="2762249" cy="4194176"/>
            <a:chOff x="1968" y="1162"/>
            <a:chExt cx="1740" cy="2642"/>
          </a:xfrm>
        </p:grpSpPr>
        <p:sp>
          <p:nvSpPr>
            <p:cNvPr id="108" name="Freeform 4">
              <a:extLst>
                <a:ext uri="{FF2B5EF4-FFF2-40B4-BE49-F238E27FC236}">
                  <a16:creationId xmlns:a16="http://schemas.microsoft.com/office/drawing/2014/main" id="{0D9F32B0-C80E-45A2-B473-E963ACCEF513}"/>
                </a:ext>
              </a:extLst>
            </p:cNvPr>
            <p:cNvSpPr>
              <a:spLocks/>
            </p:cNvSpPr>
            <p:nvPr/>
          </p:nvSpPr>
          <p:spPr bwMode="auto">
            <a:xfrm>
              <a:off x="2837" y="1162"/>
              <a:ext cx="268" cy="932"/>
            </a:xfrm>
            <a:custGeom>
              <a:avLst/>
              <a:gdLst>
                <a:gd name="T0" fmla="*/ 431 w 268"/>
                <a:gd name="T1" fmla="*/ 0 h 932"/>
                <a:gd name="T2" fmla="*/ 431 w 268"/>
                <a:gd name="T3" fmla="*/ 426 h 932"/>
                <a:gd name="T4" fmla="*/ 0 w 268"/>
                <a:gd name="T5" fmla="*/ 665 h 932"/>
                <a:gd name="T6" fmla="*/ 0 w 268"/>
                <a:gd name="T7" fmla="*/ 915 h 932"/>
                <a:gd name="T8" fmla="*/ 0 60000 65536"/>
                <a:gd name="T9" fmla="*/ 0 60000 65536"/>
                <a:gd name="T10" fmla="*/ 0 60000 65536"/>
                <a:gd name="T11" fmla="*/ 0 60000 65536"/>
                <a:gd name="T12" fmla="*/ 0 w 268"/>
                <a:gd name="T13" fmla="*/ 0 h 932"/>
                <a:gd name="T14" fmla="*/ 432 w 268"/>
                <a:gd name="T15" fmla="*/ 916 h 932"/>
              </a:gdLst>
              <a:ahLst/>
              <a:cxnLst>
                <a:cxn ang="T8">
                  <a:pos x="T0" y="T1"/>
                </a:cxn>
                <a:cxn ang="T9">
                  <a:pos x="T2" y="T3"/>
                </a:cxn>
                <a:cxn ang="T10">
                  <a:pos x="T4" y="T5"/>
                </a:cxn>
                <a:cxn ang="T11">
                  <a:pos x="T6" y="T7"/>
                </a:cxn>
              </a:cxnLst>
              <a:rect l="T12" t="T13" r="T14" b="T15"/>
              <a:pathLst>
                <a:path w="268" h="932">
                  <a:moveTo>
                    <a:pt x="268" y="0"/>
                  </a:moveTo>
                  <a:lnTo>
                    <a:pt x="268" y="450"/>
                  </a:lnTo>
                  <a:lnTo>
                    <a:pt x="0" y="695"/>
                  </a:lnTo>
                  <a:lnTo>
                    <a:pt x="0" y="932"/>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09" name="Rectangle 7">
              <a:extLst>
                <a:ext uri="{FF2B5EF4-FFF2-40B4-BE49-F238E27FC236}">
                  <a16:creationId xmlns:a16="http://schemas.microsoft.com/office/drawing/2014/main" id="{337C2F98-2C3A-45C6-973C-9D32E1627226}"/>
                </a:ext>
              </a:extLst>
            </p:cNvPr>
            <p:cNvSpPr>
              <a:spLocks noChangeArrowheads="1"/>
            </p:cNvSpPr>
            <p:nvPr/>
          </p:nvSpPr>
          <p:spPr bwMode="auto">
            <a:xfrm>
              <a:off x="2381" y="2104"/>
              <a:ext cx="767" cy="252"/>
            </a:xfrm>
            <a:prstGeom prst="rect">
              <a:avLst/>
            </a:prstGeom>
            <a:noFill/>
            <a:ln w="19050">
              <a:noFill/>
              <a:miter lim="800000"/>
              <a:headEnd/>
              <a:tailEnd/>
            </a:ln>
          </p:spPr>
          <p:txBody>
            <a:bodyPr wrap="none" lIns="92075" tIns="46038" rIns="92075" bIns="46038">
              <a:spAutoFit/>
            </a:bodyPr>
            <a:lstStyle/>
            <a:p>
              <a:pPr eaLnBrk="1" fontAlgn="auto" hangingPunct="1">
                <a:spcBef>
                  <a:spcPts val="0"/>
                </a:spcBef>
                <a:spcAft>
                  <a:spcPts val="0"/>
                </a:spcAft>
                <a:defRPr/>
              </a:pPr>
              <a:r>
                <a:rPr lang="zh-CN" altLang="en-US" sz="2000" b="1" i="1" kern="0">
                  <a:solidFill>
                    <a:srgbClr val="CC0000"/>
                  </a:solidFill>
                  <a:effectLst>
                    <a:outerShdw blurRad="38100" dist="38100" dir="2700000" algn="tl">
                      <a:srgbClr val="C0C0C0"/>
                    </a:outerShdw>
                  </a:effectLst>
                  <a:latin typeface="Arial Black" pitchFamily="34" charset="0"/>
                  <a:ea typeface="宋体" pitchFamily="2" charset="-122"/>
                </a:rPr>
                <a:t>元素类型</a:t>
              </a:r>
            </a:p>
          </p:txBody>
        </p:sp>
        <p:sp>
          <p:nvSpPr>
            <p:cNvPr id="110" name="Rectangle 8">
              <a:extLst>
                <a:ext uri="{FF2B5EF4-FFF2-40B4-BE49-F238E27FC236}">
                  <a16:creationId xmlns:a16="http://schemas.microsoft.com/office/drawing/2014/main" id="{8DB6752C-0933-4BBE-B149-0B35D5256AA5}"/>
                </a:ext>
              </a:extLst>
            </p:cNvPr>
            <p:cNvSpPr>
              <a:spLocks noChangeArrowheads="1"/>
            </p:cNvSpPr>
            <p:nvPr/>
          </p:nvSpPr>
          <p:spPr bwMode="auto">
            <a:xfrm>
              <a:off x="1968" y="2350"/>
              <a:ext cx="1740" cy="1454"/>
            </a:xfrm>
            <a:prstGeom prst="rect">
              <a:avLst/>
            </a:prstGeom>
            <a:noFill/>
            <a:ln w="19050">
              <a:solidFill>
                <a:srgbClr val="CC0000"/>
              </a:solidFill>
              <a:miter lim="800000"/>
              <a:headEnd/>
              <a:tailEnd/>
            </a:ln>
          </p:spPr>
          <p:txBody>
            <a:bodyPr wrap="square" lIns="92075" tIns="46038" rIns="92075" bIns="46038">
              <a:spAutoFit/>
            </a:bodyPr>
            <a:lstStyle/>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b  - byte</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Arial Black" pitchFamily="34" charset="0"/>
                  <a:ea typeface="宋体" pitchFamily="2" charset="-122"/>
                </a:rPr>
                <a:t>ub</a:t>
              </a: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 - unsigned byte</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s  - short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us - unsigned short</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Arial Black" pitchFamily="34" charset="0"/>
                  <a:ea typeface="宋体" pitchFamily="2" charset="-122"/>
                </a:rPr>
                <a:t>i</a:t>
              </a: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  - int</a:t>
              </a:r>
            </a:p>
            <a:p>
              <a:pPr eaLnBrk="1" fontAlgn="auto" hangingPunct="1">
                <a:spcBef>
                  <a:spcPts val="0"/>
                </a:spcBef>
                <a:spcAft>
                  <a:spcPts val="0"/>
                </a:spcAft>
                <a:defRPr/>
              </a:pPr>
              <a:r>
                <a:rPr lang="en-US" altLang="zh-CN" sz="1800" b="1" kern="0" dirty="0" err="1">
                  <a:solidFill>
                    <a:srgbClr val="5B0DAA"/>
                  </a:solidFill>
                  <a:effectLst>
                    <a:outerShdw blurRad="38100" dist="38100" dir="2700000" algn="tl">
                      <a:srgbClr val="C0C0C0"/>
                    </a:outerShdw>
                  </a:effectLst>
                  <a:latin typeface="Arial Black" pitchFamily="34" charset="0"/>
                  <a:ea typeface="宋体" pitchFamily="2" charset="-122"/>
                </a:rPr>
                <a:t>ui</a:t>
              </a: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 - unsigned int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f  - float</a:t>
              </a:r>
            </a:p>
            <a:p>
              <a:pPr eaLnBrk="1" fontAlgn="auto" hangingPunct="1">
                <a:spcBef>
                  <a:spcPts val="0"/>
                </a:spcBef>
                <a:spcAft>
                  <a:spcPts val="0"/>
                </a:spcAft>
                <a:defRPr/>
              </a:pPr>
              <a:r>
                <a:rPr lang="en-US" altLang="zh-CN" sz="1800" b="1" kern="0" dirty="0">
                  <a:solidFill>
                    <a:srgbClr val="5B0DAA"/>
                  </a:solidFill>
                  <a:effectLst>
                    <a:outerShdw blurRad="38100" dist="38100" dir="2700000" algn="tl">
                      <a:srgbClr val="C0C0C0"/>
                    </a:outerShdw>
                  </a:effectLst>
                  <a:latin typeface="Arial Black" pitchFamily="34" charset="0"/>
                  <a:ea typeface="宋体" pitchFamily="2" charset="-122"/>
                </a:rPr>
                <a:t>d  - double</a:t>
              </a:r>
            </a:p>
          </p:txBody>
        </p:sp>
        <p:sp>
          <p:nvSpPr>
            <p:cNvPr id="111" name="Line 74">
              <a:extLst>
                <a:ext uri="{FF2B5EF4-FFF2-40B4-BE49-F238E27FC236}">
                  <a16:creationId xmlns:a16="http://schemas.microsoft.com/office/drawing/2014/main" id="{247DB939-5F23-4A66-9514-463B46BFDD54}"/>
                </a:ext>
              </a:extLst>
            </p:cNvPr>
            <p:cNvSpPr>
              <a:spLocks noChangeShapeType="1"/>
            </p:cNvSpPr>
            <p:nvPr/>
          </p:nvSpPr>
          <p:spPr bwMode="auto">
            <a:xfrm>
              <a:off x="3061"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112" name="Group 75">
            <a:extLst>
              <a:ext uri="{FF2B5EF4-FFF2-40B4-BE49-F238E27FC236}">
                <a16:creationId xmlns:a16="http://schemas.microsoft.com/office/drawing/2014/main" id="{F1E0FA40-9D3E-483F-AA9A-3C4F4C8F8255}"/>
              </a:ext>
            </a:extLst>
          </p:cNvPr>
          <p:cNvGrpSpPr>
            <a:grpSpLocks/>
          </p:cNvGrpSpPr>
          <p:nvPr/>
        </p:nvGrpSpPr>
        <p:grpSpPr bwMode="auto">
          <a:xfrm>
            <a:off x="6829425" y="2240633"/>
            <a:ext cx="3360738" cy="3146425"/>
            <a:chOff x="3198" y="1162"/>
            <a:chExt cx="2117" cy="1982"/>
          </a:xfrm>
        </p:grpSpPr>
        <p:sp>
          <p:nvSpPr>
            <p:cNvPr id="113" name="Rectangle 9">
              <a:extLst>
                <a:ext uri="{FF2B5EF4-FFF2-40B4-BE49-F238E27FC236}">
                  <a16:creationId xmlns:a16="http://schemas.microsoft.com/office/drawing/2014/main" id="{D086CD6C-80CC-4C7E-B138-CA9C4FA85F1D}"/>
                </a:ext>
              </a:extLst>
            </p:cNvPr>
            <p:cNvSpPr>
              <a:spLocks noChangeArrowheads="1"/>
            </p:cNvSpPr>
            <p:nvPr/>
          </p:nvSpPr>
          <p:spPr bwMode="auto">
            <a:xfrm>
              <a:off x="4377" y="2115"/>
              <a:ext cx="499" cy="252"/>
            </a:xfrm>
            <a:prstGeom prst="rect">
              <a:avLst/>
            </a:prstGeom>
            <a:noFill/>
            <a:ln w="9525">
              <a:noFill/>
              <a:miter lim="800000"/>
              <a:headEnd/>
              <a:tailEnd/>
            </a:ln>
          </p:spPr>
          <p:txBody>
            <a:bodyPr lIns="92075" tIns="46038" rIns="92075" bIns="46038">
              <a:spAutoFit/>
            </a:bodyPr>
            <a:lstStyle/>
            <a:p>
              <a:pPr eaLnBrk="1" fontAlgn="auto" hangingPunct="1">
                <a:spcBef>
                  <a:spcPts val="0"/>
                </a:spcBef>
                <a:spcAft>
                  <a:spcPts val="0"/>
                </a:spcAft>
                <a:defRPr/>
              </a:pPr>
              <a:r>
                <a:rPr lang="zh-CN" altLang="en-US" sz="2000" b="1" i="1" kern="0" dirty="0">
                  <a:solidFill>
                    <a:srgbClr val="CC0000"/>
                  </a:solidFill>
                  <a:effectLst>
                    <a:outerShdw blurRad="38100" dist="38100" dir="2700000" algn="tl">
                      <a:srgbClr val="C0C0C0"/>
                    </a:outerShdw>
                  </a:effectLst>
                  <a:latin typeface="Arial Black" pitchFamily="34" charset="0"/>
                  <a:ea typeface="宋体" pitchFamily="2" charset="-122"/>
                </a:rPr>
                <a:t>向量</a:t>
              </a:r>
            </a:p>
          </p:txBody>
        </p:sp>
        <p:sp>
          <p:nvSpPr>
            <p:cNvPr id="114" name="Rectangle 10">
              <a:extLst>
                <a:ext uri="{FF2B5EF4-FFF2-40B4-BE49-F238E27FC236}">
                  <a16:creationId xmlns:a16="http://schemas.microsoft.com/office/drawing/2014/main" id="{FA260027-1E5F-4305-B44D-DD603364BBF2}"/>
                </a:ext>
              </a:extLst>
            </p:cNvPr>
            <p:cNvSpPr>
              <a:spLocks noChangeArrowheads="1"/>
            </p:cNvSpPr>
            <p:nvPr/>
          </p:nvSpPr>
          <p:spPr bwMode="auto">
            <a:xfrm>
              <a:off x="3876" y="2387"/>
              <a:ext cx="1439" cy="757"/>
            </a:xfrm>
            <a:prstGeom prst="rect">
              <a:avLst/>
            </a:prstGeom>
            <a:noFill/>
            <a:ln w="19050">
              <a:solidFill>
                <a:srgbClr val="CC0000"/>
              </a:solidFill>
              <a:miter lim="800000"/>
              <a:headEnd/>
              <a:tailEnd/>
            </a:ln>
          </p:spPr>
          <p:txBody>
            <a:bodyPr wrap="none" lIns="92075" tIns="46038" rIns="92075" bIns="46038">
              <a:spAutoFit/>
            </a:bodyPr>
            <a:lstStyle/>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omit “v” for</a:t>
              </a:r>
            </a:p>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scalar form</a:t>
              </a:r>
            </a:p>
            <a:p>
              <a:pPr algn="ctr" eaLnBrk="1" fontAlgn="auto" hangingPunct="1">
                <a:spcBef>
                  <a:spcPts val="0"/>
                </a:spcBef>
                <a:spcAft>
                  <a:spcPts val="0"/>
                </a:spcAft>
                <a:defRPr/>
              </a:pPr>
              <a:endPar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endParaRPr>
            </a:p>
            <a:p>
              <a:pPr algn="ct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glVertex2f( x, y )</a:t>
              </a:r>
            </a:p>
          </p:txBody>
        </p:sp>
        <p:sp>
          <p:nvSpPr>
            <p:cNvPr id="115" name="Freeform 12">
              <a:extLst>
                <a:ext uri="{FF2B5EF4-FFF2-40B4-BE49-F238E27FC236}">
                  <a16:creationId xmlns:a16="http://schemas.microsoft.com/office/drawing/2014/main" id="{38DE44C2-1783-4002-BAD0-1D36C0A0EE4C}"/>
                </a:ext>
              </a:extLst>
            </p:cNvPr>
            <p:cNvSpPr>
              <a:spLocks/>
            </p:cNvSpPr>
            <p:nvPr/>
          </p:nvSpPr>
          <p:spPr bwMode="auto">
            <a:xfrm>
              <a:off x="3246" y="1207"/>
              <a:ext cx="1482" cy="927"/>
            </a:xfrm>
            <a:custGeom>
              <a:avLst/>
              <a:gdLst>
                <a:gd name="T0" fmla="*/ 0 w 1482"/>
                <a:gd name="T1" fmla="*/ 0 h 927"/>
                <a:gd name="T2" fmla="*/ 0 w 1482"/>
                <a:gd name="T3" fmla="*/ 305 h 927"/>
                <a:gd name="T4" fmla="*/ 1390 w 1482"/>
                <a:gd name="T5" fmla="*/ 612 h 927"/>
                <a:gd name="T6" fmla="*/ 1390 w 1482"/>
                <a:gd name="T7" fmla="*/ 936 h 927"/>
                <a:gd name="T8" fmla="*/ 0 60000 65536"/>
                <a:gd name="T9" fmla="*/ 0 60000 65536"/>
                <a:gd name="T10" fmla="*/ 0 60000 65536"/>
                <a:gd name="T11" fmla="*/ 0 60000 65536"/>
                <a:gd name="T12" fmla="*/ 0 w 1482"/>
                <a:gd name="T13" fmla="*/ 0 h 927"/>
                <a:gd name="T14" fmla="*/ 1391 w 1482"/>
                <a:gd name="T15" fmla="*/ 937 h 927"/>
              </a:gdLst>
              <a:ahLst/>
              <a:cxnLst>
                <a:cxn ang="T8">
                  <a:pos x="T0" y="T1"/>
                </a:cxn>
                <a:cxn ang="T9">
                  <a:pos x="T2" y="T3"/>
                </a:cxn>
                <a:cxn ang="T10">
                  <a:pos x="T4" y="T5"/>
                </a:cxn>
                <a:cxn ang="T11">
                  <a:pos x="T6" y="T7"/>
                </a:cxn>
              </a:cxnLst>
              <a:rect l="T12" t="T13" r="T14" b="T15"/>
              <a:pathLst>
                <a:path w="1482" h="927">
                  <a:moveTo>
                    <a:pt x="0" y="0"/>
                  </a:moveTo>
                  <a:lnTo>
                    <a:pt x="3" y="329"/>
                  </a:lnTo>
                  <a:lnTo>
                    <a:pt x="1482" y="619"/>
                  </a:lnTo>
                  <a:lnTo>
                    <a:pt x="1482" y="927"/>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16" name="Line 79">
              <a:extLst>
                <a:ext uri="{FF2B5EF4-FFF2-40B4-BE49-F238E27FC236}">
                  <a16:creationId xmlns:a16="http://schemas.microsoft.com/office/drawing/2014/main" id="{0D41DBEA-66F2-4D29-A319-1DAA451C70BF}"/>
                </a:ext>
              </a:extLst>
            </p:cNvPr>
            <p:cNvSpPr>
              <a:spLocks noChangeShapeType="1"/>
            </p:cNvSpPr>
            <p:nvPr/>
          </p:nvSpPr>
          <p:spPr bwMode="auto">
            <a:xfrm>
              <a:off x="3198" y="1162"/>
              <a:ext cx="90"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117" name="Group 80">
            <a:extLst>
              <a:ext uri="{FF2B5EF4-FFF2-40B4-BE49-F238E27FC236}">
                <a16:creationId xmlns:a16="http://schemas.microsoft.com/office/drawing/2014/main" id="{DEE52667-2048-4784-8FCF-343E3108DA76}"/>
              </a:ext>
            </a:extLst>
          </p:cNvPr>
          <p:cNvGrpSpPr>
            <a:grpSpLocks/>
          </p:cNvGrpSpPr>
          <p:nvPr/>
        </p:nvGrpSpPr>
        <p:grpSpPr bwMode="auto">
          <a:xfrm>
            <a:off x="5387976" y="1462757"/>
            <a:ext cx="5280025" cy="1295400"/>
            <a:chOff x="2290" y="672"/>
            <a:chExt cx="3326" cy="816"/>
          </a:xfrm>
        </p:grpSpPr>
        <p:sp>
          <p:nvSpPr>
            <p:cNvPr id="118" name="Rectangle 81">
              <a:extLst>
                <a:ext uri="{FF2B5EF4-FFF2-40B4-BE49-F238E27FC236}">
                  <a16:creationId xmlns:a16="http://schemas.microsoft.com/office/drawing/2014/main" id="{38BB05D2-99BE-422C-876A-2A6D215DE644}"/>
                </a:ext>
              </a:extLst>
            </p:cNvPr>
            <p:cNvSpPr>
              <a:spLocks noChangeArrowheads="1"/>
            </p:cNvSpPr>
            <p:nvPr/>
          </p:nvSpPr>
          <p:spPr bwMode="auto">
            <a:xfrm>
              <a:off x="4368" y="912"/>
              <a:ext cx="1248" cy="576"/>
            </a:xfrm>
            <a:prstGeom prst="rect">
              <a:avLst/>
            </a:prstGeom>
            <a:noFill/>
            <a:ln w="19050">
              <a:solidFill>
                <a:srgbClr val="CC0000"/>
              </a:solidFill>
              <a:miter lim="800000"/>
              <a:headEnd/>
              <a:tailEnd/>
            </a:ln>
            <a:effectLst/>
          </p:spPr>
          <p:txBody>
            <a:bodyPr wrap="none" anchor="ctr"/>
            <a:lstStyle/>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Vertex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顶点</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Color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颜色</a:t>
              </a:r>
            </a:p>
            <a:p>
              <a:pPr eaLnBrk="1" fontAlgn="auto" hangingPunct="1">
                <a:spcBef>
                  <a:spcPts val="0"/>
                </a:spcBef>
                <a:spcAft>
                  <a:spcPts val="0"/>
                </a:spcAft>
                <a:defRPr/>
              </a:pPr>
              <a:r>
                <a:rPr lang="en-US" altLang="zh-CN" sz="1800" b="1" kern="0">
                  <a:solidFill>
                    <a:srgbClr val="5B0DAA"/>
                  </a:solidFill>
                  <a:effectLst>
                    <a:outerShdw blurRad="38100" dist="38100" dir="2700000" algn="tl">
                      <a:srgbClr val="C0C0C0"/>
                    </a:outerShdw>
                  </a:effectLst>
                  <a:latin typeface="Arial Black" pitchFamily="34" charset="0"/>
                  <a:ea typeface="宋体" pitchFamily="2" charset="-122"/>
                </a:rPr>
                <a:t>Normal – </a:t>
              </a:r>
              <a:r>
                <a:rPr lang="zh-CN" altLang="en-US" sz="1800" b="1" kern="0">
                  <a:solidFill>
                    <a:srgbClr val="5B0DAA"/>
                  </a:solidFill>
                  <a:effectLst>
                    <a:outerShdw blurRad="38100" dist="38100" dir="2700000" algn="tl">
                      <a:srgbClr val="C0C0C0"/>
                    </a:outerShdw>
                  </a:effectLst>
                  <a:latin typeface="Arial Black" pitchFamily="34" charset="0"/>
                  <a:ea typeface="宋体" pitchFamily="2" charset="-122"/>
                </a:rPr>
                <a:t>法线</a:t>
              </a:r>
            </a:p>
          </p:txBody>
        </p:sp>
        <p:sp>
          <p:nvSpPr>
            <p:cNvPr id="119" name="Text Box 82">
              <a:extLst>
                <a:ext uri="{FF2B5EF4-FFF2-40B4-BE49-F238E27FC236}">
                  <a16:creationId xmlns:a16="http://schemas.microsoft.com/office/drawing/2014/main" id="{30982E3A-068E-4F94-83ED-A87D327DB3D7}"/>
                </a:ext>
              </a:extLst>
            </p:cNvPr>
            <p:cNvSpPr txBox="1">
              <a:spLocks noChangeArrowheads="1"/>
            </p:cNvSpPr>
            <p:nvPr/>
          </p:nvSpPr>
          <p:spPr bwMode="auto">
            <a:xfrm>
              <a:off x="4656" y="672"/>
              <a:ext cx="528" cy="250"/>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2000" b="1" i="1" kern="0">
                  <a:solidFill>
                    <a:srgbClr val="CC0000"/>
                  </a:solidFill>
                  <a:effectLst>
                    <a:outerShdw blurRad="38100" dist="38100" dir="2700000" algn="tl">
                      <a:srgbClr val="C0C0C0"/>
                    </a:outerShdw>
                  </a:effectLst>
                  <a:latin typeface="Arial Black" pitchFamily="34" charset="0"/>
                  <a:ea typeface="宋体" pitchFamily="2" charset="-122"/>
                </a:rPr>
                <a:t>类型</a:t>
              </a:r>
            </a:p>
          </p:txBody>
        </p:sp>
        <p:sp>
          <p:nvSpPr>
            <p:cNvPr id="120" name="Freeform 11">
              <a:extLst>
                <a:ext uri="{FF2B5EF4-FFF2-40B4-BE49-F238E27FC236}">
                  <a16:creationId xmlns:a16="http://schemas.microsoft.com/office/drawing/2014/main" id="{3BBDA67F-5E44-4D48-B3A8-B0B8E600C504}"/>
                </a:ext>
              </a:extLst>
            </p:cNvPr>
            <p:cNvSpPr>
              <a:spLocks/>
            </p:cNvSpPr>
            <p:nvPr/>
          </p:nvSpPr>
          <p:spPr bwMode="auto">
            <a:xfrm>
              <a:off x="2517" y="799"/>
              <a:ext cx="2140" cy="190"/>
            </a:xfrm>
            <a:custGeom>
              <a:avLst/>
              <a:gdLst>
                <a:gd name="T0" fmla="*/ 2039 w 2140"/>
                <a:gd name="T1" fmla="*/ 0 h 190"/>
                <a:gd name="T2" fmla="*/ 2039 w 2140"/>
                <a:gd name="T3" fmla="*/ 329 h 190"/>
                <a:gd name="T4" fmla="*/ 0 w 2140"/>
                <a:gd name="T5" fmla="*/ 565 h 190"/>
                <a:gd name="T6" fmla="*/ 0 w 2140"/>
                <a:gd name="T7" fmla="*/ 915 h 190"/>
                <a:gd name="T8" fmla="*/ 0 60000 65536"/>
                <a:gd name="T9" fmla="*/ 0 60000 65536"/>
                <a:gd name="T10" fmla="*/ 0 60000 65536"/>
                <a:gd name="T11" fmla="*/ 0 60000 65536"/>
                <a:gd name="T12" fmla="*/ 0 w 2140"/>
                <a:gd name="T13" fmla="*/ 0 h 190"/>
                <a:gd name="T14" fmla="*/ 2040 w 2140"/>
                <a:gd name="T15" fmla="*/ 916 h 190"/>
              </a:gdLst>
              <a:ahLst/>
              <a:cxnLst>
                <a:cxn ang="T8">
                  <a:pos x="T0" y="T1"/>
                </a:cxn>
                <a:cxn ang="T9">
                  <a:pos x="T2" y="T3"/>
                </a:cxn>
                <a:cxn ang="T10">
                  <a:pos x="T4" y="T5"/>
                </a:cxn>
                <a:cxn ang="T11">
                  <a:pos x="T6" y="T7"/>
                </a:cxn>
              </a:cxnLst>
              <a:rect l="T12" t="T13" r="T14" b="T15"/>
              <a:pathLst>
                <a:path w="2140" h="190">
                  <a:moveTo>
                    <a:pt x="0" y="190"/>
                  </a:moveTo>
                  <a:lnTo>
                    <a:pt x="0" y="0"/>
                  </a:lnTo>
                  <a:lnTo>
                    <a:pt x="2140" y="5"/>
                  </a:lnTo>
                </a:path>
              </a:pathLst>
            </a:custGeom>
            <a:noFill/>
            <a:ln w="19050" cap="rnd">
              <a:solidFill>
                <a:srgbClr val="CC00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21" name="Line 84">
              <a:extLst>
                <a:ext uri="{FF2B5EF4-FFF2-40B4-BE49-F238E27FC236}">
                  <a16:creationId xmlns:a16="http://schemas.microsoft.com/office/drawing/2014/main" id="{ADA3D387-B18A-469F-B4BE-F6DE563EB593}"/>
                </a:ext>
              </a:extLst>
            </p:cNvPr>
            <p:cNvSpPr>
              <a:spLocks noChangeShapeType="1"/>
            </p:cNvSpPr>
            <p:nvPr/>
          </p:nvSpPr>
          <p:spPr bwMode="auto">
            <a:xfrm>
              <a:off x="2290" y="1162"/>
              <a:ext cx="635" cy="0"/>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additive="base">
                                        <p:cTn id="7" dur="500" fill="hold"/>
                                        <p:tgtEl>
                                          <p:spTgt spid="95"/>
                                        </p:tgtEl>
                                        <p:attrNameLst>
                                          <p:attrName>ppt_x</p:attrName>
                                        </p:attrNameLst>
                                      </p:cBhvr>
                                      <p:tavLst>
                                        <p:tav tm="0">
                                          <p:val>
                                            <p:strVal val="#ppt_x"/>
                                          </p:val>
                                        </p:tav>
                                        <p:tav tm="100000">
                                          <p:val>
                                            <p:strVal val="#ppt_x"/>
                                          </p:val>
                                        </p:tav>
                                      </p:tavLst>
                                    </p:anim>
                                    <p:anim calcmode="lin" valueType="num">
                                      <p:cBhvr additive="base">
                                        <p:cTn id="8"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2" fill="hold" nodeType="clickEffect">
                                  <p:stCondLst>
                                    <p:cond delay="0"/>
                                  </p:stCondLst>
                                  <p:childTnLst>
                                    <p:set>
                                      <p:cBhvr>
                                        <p:cTn id="12" dur="1" fill="hold">
                                          <p:stCondLst>
                                            <p:cond delay="0"/>
                                          </p:stCondLst>
                                        </p:cTn>
                                        <p:tgtEl>
                                          <p:spTgt spid="96"/>
                                        </p:tgtEl>
                                        <p:attrNameLst>
                                          <p:attrName>style.visibility</p:attrName>
                                        </p:attrNameLst>
                                      </p:cBhvr>
                                      <p:to>
                                        <p:strVal val="visible"/>
                                      </p:to>
                                    </p:set>
                                    <p:anim calcmode="lin" valueType="num">
                                      <p:cBhvr>
                                        <p:cTn id="13" dur="500" fill="hold"/>
                                        <p:tgtEl>
                                          <p:spTgt spid="96"/>
                                        </p:tgtEl>
                                        <p:attrNameLst>
                                          <p:attrName>ppt_x</p:attrName>
                                        </p:attrNameLst>
                                      </p:cBhvr>
                                      <p:tavLst>
                                        <p:tav tm="0">
                                          <p:val>
                                            <p:strVal val="#ppt_x+#ppt_w/2"/>
                                          </p:val>
                                        </p:tav>
                                        <p:tav tm="100000">
                                          <p:val>
                                            <p:strVal val="#ppt_x"/>
                                          </p:val>
                                        </p:tav>
                                      </p:tavLst>
                                    </p:anim>
                                    <p:anim calcmode="lin" valueType="num">
                                      <p:cBhvr>
                                        <p:cTn id="14" dur="500" fill="hold"/>
                                        <p:tgtEl>
                                          <p:spTgt spid="96"/>
                                        </p:tgtEl>
                                        <p:attrNameLst>
                                          <p:attrName>ppt_y</p:attrName>
                                        </p:attrNameLst>
                                      </p:cBhvr>
                                      <p:tavLst>
                                        <p:tav tm="0">
                                          <p:val>
                                            <p:strVal val="#ppt_y"/>
                                          </p:val>
                                        </p:tav>
                                        <p:tav tm="100000">
                                          <p:val>
                                            <p:strVal val="#ppt_y"/>
                                          </p:val>
                                        </p:tav>
                                      </p:tavLst>
                                    </p:anim>
                                    <p:anim calcmode="lin" valueType="num">
                                      <p:cBhvr>
                                        <p:cTn id="15" dur="500" fill="hold"/>
                                        <p:tgtEl>
                                          <p:spTgt spid="96"/>
                                        </p:tgtEl>
                                        <p:attrNameLst>
                                          <p:attrName>ppt_w</p:attrName>
                                        </p:attrNameLst>
                                      </p:cBhvr>
                                      <p:tavLst>
                                        <p:tav tm="0">
                                          <p:val>
                                            <p:fltVal val="0"/>
                                          </p:val>
                                        </p:tav>
                                        <p:tav tm="100000">
                                          <p:val>
                                            <p:strVal val="#ppt_w"/>
                                          </p:val>
                                        </p:tav>
                                      </p:tavLst>
                                    </p:anim>
                                    <p:anim calcmode="lin" valueType="num">
                                      <p:cBhvr>
                                        <p:cTn id="16" dur="500" fill="hold"/>
                                        <p:tgtEl>
                                          <p:spTgt spid="96"/>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96"/>
                                        </p:tgtEl>
                                        <p:attrNameLst>
                                          <p:attrName>ppt_c</p:attrName>
                                        </p:attrNameLst>
                                      </p:cBhvr>
                                      <p:to>
                                        <a:schemeClr val="folHlink"/>
                                      </p:to>
                                    </p:animClr>
                                  </p:sub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17"/>
                                        </p:tgtEl>
                                        <p:attrNameLst>
                                          <p:attrName>style.visibility</p:attrName>
                                        </p:attrNameLst>
                                      </p:cBhvr>
                                      <p:to>
                                        <p:strVal val="visible"/>
                                      </p:to>
                                    </p:set>
                                    <p:animEffect transition="in" filter="wipe(right)">
                                      <p:cBhvr>
                                        <p:cTn id="21" dur="500"/>
                                        <p:tgtEl>
                                          <p:spTgt spid="117"/>
                                        </p:tgtEl>
                                      </p:cBhvr>
                                    </p:animEffect>
                                  </p:childTnLst>
                                  <p:subTnLst>
                                    <p:animClr clrSpc="rgb" dir="cw">
                                      <p:cBhvr override="childStyle">
                                        <p:cTn dur="1" fill="hold" display="0" masterRel="nextClick" afterEffect="1"/>
                                        <p:tgtEl>
                                          <p:spTgt spid="117"/>
                                        </p:tgtEl>
                                        <p:attrNameLst>
                                          <p:attrName>ppt_c</p:attrName>
                                        </p:attrNameLst>
                                      </p:cBhvr>
                                      <p:to>
                                        <a:schemeClr val="folHlink"/>
                                      </p:to>
                                    </p:animClr>
                                  </p:sub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02"/>
                                        </p:tgtEl>
                                        <p:attrNameLst>
                                          <p:attrName>style.visibility</p:attrName>
                                        </p:attrNameLst>
                                      </p:cBhvr>
                                      <p:to>
                                        <p:strVal val="visible"/>
                                      </p:to>
                                    </p:set>
                                    <p:animEffect transition="in" filter="wipe(down)">
                                      <p:cBhvr>
                                        <p:cTn id="26" dur="500"/>
                                        <p:tgtEl>
                                          <p:spTgt spid="102"/>
                                        </p:tgtEl>
                                      </p:cBhvr>
                                    </p:animEffect>
                                  </p:childTnLst>
                                  <p:subTnLst>
                                    <p:animClr clrSpc="rgb" dir="cw">
                                      <p:cBhvr override="childStyle">
                                        <p:cTn dur="1" fill="hold" display="0" masterRel="nextClick" afterEffect="1"/>
                                        <p:tgtEl>
                                          <p:spTgt spid="102"/>
                                        </p:tgtEl>
                                        <p:attrNameLst>
                                          <p:attrName>ppt_c</p:attrName>
                                        </p:attrNameLst>
                                      </p:cBhvr>
                                      <p:to>
                                        <a:schemeClr val="folHlink"/>
                                      </p:to>
                                    </p:animClr>
                                  </p:sub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wipe(down)">
                                      <p:cBhvr>
                                        <p:cTn id="31" dur="500"/>
                                        <p:tgtEl>
                                          <p:spTgt spid="107"/>
                                        </p:tgtEl>
                                      </p:cBhvr>
                                    </p:animEffect>
                                  </p:childTnLst>
                                  <p:subTnLst>
                                    <p:animClr clrSpc="rgb" dir="cw">
                                      <p:cBhvr override="childStyle">
                                        <p:cTn dur="1" fill="hold" display="0" masterRel="nextClick" afterEffect="1"/>
                                        <p:tgtEl>
                                          <p:spTgt spid="107"/>
                                        </p:tgtEl>
                                        <p:attrNameLst>
                                          <p:attrName>ppt_c</p:attrName>
                                        </p:attrNameLst>
                                      </p:cBhvr>
                                      <p:to>
                                        <a:schemeClr val="folHlink"/>
                                      </p:to>
                                    </p:animClr>
                                  </p:sub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12"/>
                                        </p:tgtEl>
                                        <p:attrNameLst>
                                          <p:attrName>style.visibility</p:attrName>
                                        </p:attrNameLst>
                                      </p:cBhvr>
                                      <p:to>
                                        <p:strVal val="visible"/>
                                      </p:to>
                                    </p:set>
                                    <p:animEffect transition="in" filter="wipe(down)">
                                      <p:cBhvr>
                                        <p:cTn id="36" dur="500"/>
                                        <p:tgtEl>
                                          <p:spTgt spid="112"/>
                                        </p:tgtEl>
                                      </p:cBhvr>
                                    </p:animEffect>
                                  </p:childTnLst>
                                  <p:subTnLst>
                                    <p:animClr clrSpc="rgb" dir="cw">
                                      <p:cBhvr override="childStyle">
                                        <p:cTn dur="1" fill="hold" display="0" masterRel="nextClick" afterEffect="1"/>
                                        <p:tgtEl>
                                          <p:spTgt spid="112"/>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B028BD6B-218C-4E6F-8EEA-35188D49E752}"/>
              </a:ext>
            </a:extLst>
          </p:cNvPr>
          <p:cNvSpPr>
            <a:spLocks noGrp="1" noChangeArrowheads="1"/>
          </p:cNvSpPr>
          <p:nvPr>
            <p:ph type="title"/>
          </p:nvPr>
        </p:nvSpPr>
        <p:spPr/>
        <p:txBody>
          <a:bodyPr/>
          <a:lstStyle/>
          <a:p>
            <a:pPr>
              <a:defRPr/>
            </a:pPr>
            <a:r>
              <a:rPr lang="en-US" altLang="zh-CN" dirty="0">
                <a:latin typeface="Arial" pitchFamily="34" charset="0"/>
              </a:rPr>
              <a:t>4.2 </a:t>
            </a:r>
            <a:r>
              <a:rPr lang="zh-CN" altLang="en-US" dirty="0">
                <a:latin typeface="Arial" pitchFamily="34" charset="0"/>
              </a:rPr>
              <a:t>几何图元</a:t>
            </a:r>
          </a:p>
        </p:txBody>
      </p:sp>
      <p:pic>
        <p:nvPicPr>
          <p:cNvPr id="35" name="Picture 6">
            <a:extLst>
              <a:ext uri="{FF2B5EF4-FFF2-40B4-BE49-F238E27FC236}">
                <a16:creationId xmlns:a16="http://schemas.microsoft.com/office/drawing/2014/main" id="{4EE8D0B2-4FEE-4736-84DE-7F1777DCF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689" y="2852738"/>
            <a:ext cx="2300287"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AutoShape 7">
            <a:extLst>
              <a:ext uri="{FF2B5EF4-FFF2-40B4-BE49-F238E27FC236}">
                <a16:creationId xmlns:a16="http://schemas.microsoft.com/office/drawing/2014/main" id="{4DA53243-F264-4057-8A52-515FFD8E889B}"/>
              </a:ext>
            </a:extLst>
          </p:cNvPr>
          <p:cNvSpPr>
            <a:spLocks noChangeArrowheads="1"/>
          </p:cNvSpPr>
          <p:nvPr/>
        </p:nvSpPr>
        <p:spPr bwMode="auto">
          <a:xfrm>
            <a:off x="1992314" y="2565400"/>
            <a:ext cx="4319587" cy="2590800"/>
          </a:xfrm>
          <a:prstGeom prst="cloudCallout">
            <a:avLst>
              <a:gd name="adj1" fmla="val 105861"/>
              <a:gd name="adj2" fmla="val -39153"/>
            </a:avLst>
          </a:prstGeom>
          <a:solidFill>
            <a:srgbClr val="FFD96D"/>
          </a:solidFill>
          <a:ln w="9525">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lgn="ctr" eaLnBrk="1" fontAlgn="auto" hangingPunct="1">
              <a:spcBef>
                <a:spcPts val="0"/>
              </a:spcBef>
              <a:spcAft>
                <a:spcPts val="0"/>
              </a:spcAft>
              <a:defRPr/>
            </a:pPr>
            <a:endParaRPr lang="zh-CN" altLang="en-US" kern="0">
              <a:solidFill>
                <a:srgbClr val="000000"/>
              </a:solidFill>
            </a:endParaRPr>
          </a:p>
        </p:txBody>
      </p:sp>
      <p:sp>
        <p:nvSpPr>
          <p:cNvPr id="37" name="Rectangle 3">
            <a:extLst>
              <a:ext uri="{FF2B5EF4-FFF2-40B4-BE49-F238E27FC236}">
                <a16:creationId xmlns:a16="http://schemas.microsoft.com/office/drawing/2014/main" id="{0333D7A5-D58F-425D-984F-AB2546089477}"/>
              </a:ext>
            </a:extLst>
          </p:cNvPr>
          <p:cNvSpPr txBox="1">
            <a:spLocks noChangeArrowheads="1"/>
          </p:cNvSpPr>
          <p:nvPr/>
        </p:nvSpPr>
        <p:spPr bwMode="auto">
          <a:xfrm>
            <a:off x="2208214" y="1341438"/>
            <a:ext cx="7991475" cy="14219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dirty="0">
                <a:ea typeface="黑体" pitchFamily="49" charset="-122"/>
              </a:rPr>
              <a:t>图元属性</a:t>
            </a:r>
            <a:r>
              <a:rPr lang="en-US" altLang="zh-CN" kern="0" dirty="0">
                <a:latin typeface="黑体" pitchFamily="49" charset="-122"/>
                <a:ea typeface="黑体" pitchFamily="49" charset="-122"/>
              </a:rPr>
              <a:t>——</a:t>
            </a:r>
            <a:r>
              <a:rPr lang="zh-CN" altLang="en-US" kern="0" dirty="0">
                <a:ea typeface="黑体" pitchFamily="49" charset="-122"/>
              </a:rPr>
              <a:t>决定了</a:t>
            </a:r>
            <a:r>
              <a:rPr lang="en-US" altLang="zh-CN" kern="0" dirty="0">
                <a:ea typeface="黑体" pitchFamily="49" charset="-122"/>
              </a:rPr>
              <a:t>OpenGL</a:t>
            </a:r>
            <a:r>
              <a:rPr lang="zh-CN" altLang="en-US" kern="0" dirty="0">
                <a:ea typeface="黑体" pitchFamily="49" charset="-122"/>
              </a:rPr>
              <a:t>显示图元的方式</a:t>
            </a:r>
          </a:p>
          <a:p>
            <a:pPr lvl="1">
              <a:defRPr/>
            </a:pPr>
            <a:r>
              <a:rPr lang="zh-CN" altLang="en-US" kern="0" dirty="0">
                <a:solidFill>
                  <a:schemeClr val="tx1"/>
                </a:solidFill>
                <a:ea typeface="黑体" pitchFamily="49" charset="-122"/>
              </a:rPr>
              <a:t>颜色属性、线宽、填充模式、材质属性、</a:t>
            </a:r>
            <a:r>
              <a:rPr lang="en-US" altLang="zh-CN" kern="0" dirty="0">
                <a:solidFill>
                  <a:schemeClr val="tx1"/>
                </a:solidFill>
                <a:latin typeface="黑体" pitchFamily="49" charset="-122"/>
                <a:ea typeface="黑体" pitchFamily="49" charset="-122"/>
              </a:rPr>
              <a:t>…</a:t>
            </a:r>
            <a:endParaRPr lang="en-US" altLang="zh-CN" kern="0" dirty="0">
              <a:solidFill>
                <a:schemeClr val="tx1"/>
              </a:solidFill>
              <a:ea typeface="黑体" pitchFamily="49" charset="-122"/>
            </a:endParaRPr>
          </a:p>
          <a:p>
            <a:pPr>
              <a:defRPr/>
            </a:pPr>
            <a:endParaRPr lang="zh-CN" altLang="en-US" kern="0" dirty="0">
              <a:ea typeface="黑体" pitchFamily="49" charset="-122"/>
            </a:endParaRPr>
          </a:p>
        </p:txBody>
      </p:sp>
      <p:sp>
        <p:nvSpPr>
          <p:cNvPr id="38" name="Rectangle 5">
            <a:extLst>
              <a:ext uri="{FF2B5EF4-FFF2-40B4-BE49-F238E27FC236}">
                <a16:creationId xmlns:a16="http://schemas.microsoft.com/office/drawing/2014/main" id="{FDC60E3B-AACE-4E58-99E0-4B106C0CCF06}"/>
              </a:ext>
            </a:extLst>
          </p:cNvPr>
          <p:cNvSpPr>
            <a:spLocks noChangeArrowheads="1"/>
          </p:cNvSpPr>
          <p:nvPr/>
        </p:nvSpPr>
        <p:spPr bwMode="auto">
          <a:xfrm>
            <a:off x="2782889" y="2852738"/>
            <a:ext cx="3241675" cy="2062162"/>
          </a:xfrm>
          <a:prstGeom prst="rect">
            <a:avLst/>
          </a:prstGeom>
          <a:noFill/>
          <a:ln w="9525" algn="ctr">
            <a:noFill/>
            <a:miter lim="800000"/>
            <a:headEnd/>
            <a:tailEnd/>
          </a:ln>
          <a:effectLst/>
        </p:spPr>
        <p:txBody>
          <a:bodyPr>
            <a:spAutoFit/>
          </a:bodyPr>
          <a:lstStyle/>
          <a:p>
            <a:pPr eaLnBrk="1" hangingPunct="1">
              <a:defRPr/>
            </a:pPr>
            <a:r>
              <a:rPr lang="en-US" altLang="zh-CN" b="1" dirty="0">
                <a:solidFill>
                  <a:srgbClr val="CC0000"/>
                </a:solidFill>
                <a:effectLst>
                  <a:outerShdw blurRad="38100" dist="38100" dir="2700000" algn="tl">
                    <a:srgbClr val="C0C0C0"/>
                  </a:outerShdw>
                </a:effectLst>
                <a:latin typeface="Arial Black" pitchFamily="34" charset="0"/>
                <a:ea typeface="宋体" pitchFamily="2" charset="-122"/>
              </a:rPr>
              <a:t>glColor3f(1.0, 1.0, 1.0);</a:t>
            </a:r>
          </a:p>
          <a:p>
            <a:pPr eaLnBrk="1" hangingPunct="1">
              <a:defRPr/>
            </a:pPr>
            <a:endParaRPr lang="en-US" altLang="zh-CN" b="1" dirty="0">
              <a:solidFill>
                <a:srgbClr val="CC0000"/>
              </a:solidFill>
              <a:effectLst>
                <a:outerShdw blurRad="38100" dist="38100" dir="2700000" algn="tl">
                  <a:srgbClr val="C0C0C0"/>
                </a:outerShdw>
              </a:effectLst>
              <a:latin typeface="Arial Black" pitchFamily="34" charset="0"/>
              <a:ea typeface="宋体" pitchFamily="2" charset="-122"/>
            </a:endParaRPr>
          </a:p>
          <a:p>
            <a:pPr eaLnBrk="1" hangingPunct="1">
              <a:defRPr/>
            </a:pPr>
            <a:r>
              <a:rPr lang="en-US" altLang="zh-CN" b="1" dirty="0" err="1">
                <a:solidFill>
                  <a:srgbClr val="000000"/>
                </a:solidFill>
                <a:effectLst>
                  <a:outerShdw blurRad="38100" dist="38100" dir="2700000" algn="tl">
                    <a:srgbClr val="C0C0C0"/>
                  </a:outerShdw>
                </a:effectLst>
                <a:latin typeface="Arial Black" pitchFamily="34" charset="0"/>
                <a:ea typeface="宋体" pitchFamily="2" charset="-122"/>
              </a:rPr>
              <a:t>glBegin</a:t>
            </a: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(GL_POLYGON);</a:t>
            </a:r>
          </a:p>
          <a:p>
            <a:pPr lvl="1" eaLnBrk="1" hangingPunct="1">
              <a:defRPr/>
            </a:pP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lvl="1" eaLnBrk="1" hangingPunct="1">
              <a:defRPr/>
            </a:pP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lvl="1" eaLnBrk="1" hangingPunct="1">
              <a:defRPr/>
            </a:pP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lvl="1" eaLnBrk="1" hangingPunct="1">
              <a:defRPr/>
            </a:pP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eaLnBrk="1" hangingPunct="1">
              <a:defRPr/>
            </a:pPr>
            <a:r>
              <a:rPr lang="en-US" altLang="zh-CN" b="1" dirty="0" err="1">
                <a:solidFill>
                  <a:srgbClr val="000000"/>
                </a:solidFill>
                <a:effectLst>
                  <a:outerShdw blurRad="38100" dist="38100" dir="2700000" algn="tl">
                    <a:srgbClr val="C0C0C0"/>
                  </a:outerShdw>
                </a:effectLst>
                <a:latin typeface="Arial Black" pitchFamily="34" charset="0"/>
                <a:ea typeface="宋体" pitchFamily="2" charset="-122"/>
              </a:rPr>
              <a:t>glEnd</a:t>
            </a:r>
            <a:r>
              <a:rPr lang="en-US" altLang="zh-CN" b="1" dirty="0">
                <a:solidFill>
                  <a:srgbClr val="000000"/>
                </a:solidFill>
                <a:effectLst>
                  <a:outerShdw blurRad="38100" dist="38100" dir="2700000" algn="tl">
                    <a:srgbClr val="C0C0C0"/>
                  </a:outerShdw>
                </a:effectLst>
                <a:latin typeface="Arial Black" pitchFamily="34" charset="0"/>
                <a:ea typeface="宋体" pitchFamily="2" charset="-122"/>
              </a:rPr>
              <a:t>();</a:t>
            </a:r>
          </a:p>
        </p:txBody>
      </p:sp>
    </p:spTree>
    <p:extLst>
      <p:ext uri="{BB962C8B-B14F-4D97-AF65-F5344CB8AC3E}">
        <p14:creationId xmlns:p14="http://schemas.microsoft.com/office/powerpoint/2010/main" val="5291434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right)">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8">
                                            <p:txEl>
                                              <p:pRg st="0" end="0"/>
                                            </p:txEl>
                                          </p:spTgt>
                                        </p:tgtEl>
                                        <p:attrNameLst>
                                          <p:attrName>style.visibility</p:attrName>
                                        </p:attrNameLst>
                                      </p:cBhvr>
                                      <p:to>
                                        <p:strVal val="visible"/>
                                      </p:to>
                                    </p:set>
                                    <p:animEffect transition="in" filter="dissolve">
                                      <p:cBhvr>
                                        <p:cTn id="18" dur="500"/>
                                        <p:tgtEl>
                                          <p:spTgt spid="3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8">
                                            <p:txEl>
                                              <p:pRg st="2" end="2"/>
                                            </p:txEl>
                                          </p:spTgt>
                                        </p:tgtEl>
                                        <p:attrNameLst>
                                          <p:attrName>style.visibility</p:attrName>
                                        </p:attrNameLst>
                                      </p:cBhvr>
                                      <p:to>
                                        <p:strVal val="visible"/>
                                      </p:to>
                                    </p:set>
                                    <p:animEffect transition="in" filter="dissolve">
                                      <p:cBhvr>
                                        <p:cTn id="23" dur="500"/>
                                        <p:tgtEl>
                                          <p:spTgt spid="38">
                                            <p:txEl>
                                              <p:pRg st="2" end="2"/>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8">
                                            <p:txEl>
                                              <p:pRg st="3" end="3"/>
                                            </p:txEl>
                                          </p:spTgt>
                                        </p:tgtEl>
                                        <p:attrNameLst>
                                          <p:attrName>style.visibility</p:attrName>
                                        </p:attrNameLst>
                                      </p:cBhvr>
                                      <p:to>
                                        <p:strVal val="visible"/>
                                      </p:to>
                                    </p:set>
                                    <p:animEffect transition="in" filter="dissolve">
                                      <p:cBhvr>
                                        <p:cTn id="26" dur="500"/>
                                        <p:tgtEl>
                                          <p:spTgt spid="38">
                                            <p:txEl>
                                              <p:pRg st="3" end="3"/>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8">
                                            <p:txEl>
                                              <p:pRg st="4" end="4"/>
                                            </p:txEl>
                                          </p:spTgt>
                                        </p:tgtEl>
                                        <p:attrNameLst>
                                          <p:attrName>style.visibility</p:attrName>
                                        </p:attrNameLst>
                                      </p:cBhvr>
                                      <p:to>
                                        <p:strVal val="visible"/>
                                      </p:to>
                                    </p:set>
                                    <p:animEffect transition="in" filter="dissolve">
                                      <p:cBhvr>
                                        <p:cTn id="29" dur="500"/>
                                        <p:tgtEl>
                                          <p:spTgt spid="38">
                                            <p:txEl>
                                              <p:pRg st="4" end="4"/>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8">
                                            <p:txEl>
                                              <p:pRg st="5" end="5"/>
                                            </p:txEl>
                                          </p:spTgt>
                                        </p:tgtEl>
                                        <p:attrNameLst>
                                          <p:attrName>style.visibility</p:attrName>
                                        </p:attrNameLst>
                                      </p:cBhvr>
                                      <p:to>
                                        <p:strVal val="visible"/>
                                      </p:to>
                                    </p:set>
                                    <p:animEffect transition="in" filter="dissolve">
                                      <p:cBhvr>
                                        <p:cTn id="32" dur="500"/>
                                        <p:tgtEl>
                                          <p:spTgt spid="38">
                                            <p:txEl>
                                              <p:pRg st="5" end="5"/>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8">
                                            <p:txEl>
                                              <p:pRg st="6" end="6"/>
                                            </p:txEl>
                                          </p:spTgt>
                                        </p:tgtEl>
                                        <p:attrNameLst>
                                          <p:attrName>style.visibility</p:attrName>
                                        </p:attrNameLst>
                                      </p:cBhvr>
                                      <p:to>
                                        <p:strVal val="visible"/>
                                      </p:to>
                                    </p:set>
                                    <p:animEffect transition="in" filter="dissolve">
                                      <p:cBhvr>
                                        <p:cTn id="35" dur="500"/>
                                        <p:tgtEl>
                                          <p:spTgt spid="3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8">
                                            <p:txEl>
                                              <p:pRg st="7" end="7"/>
                                            </p:txEl>
                                          </p:spTgt>
                                        </p:tgtEl>
                                        <p:attrNameLst>
                                          <p:attrName>style.visibility</p:attrName>
                                        </p:attrNameLst>
                                      </p:cBhvr>
                                      <p:to>
                                        <p:strVal val="visible"/>
                                      </p:to>
                                    </p:set>
                                    <p:animEffect transition="in" filter="dissolve">
                                      <p:cBhvr>
                                        <p:cTn id="40" dur="500"/>
                                        <p:tgtEl>
                                          <p:spTgt spid="3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B028BD6B-218C-4E6F-8EEA-35188D49E752}"/>
              </a:ext>
            </a:extLst>
          </p:cNvPr>
          <p:cNvSpPr>
            <a:spLocks noGrp="1" noChangeArrowheads="1"/>
          </p:cNvSpPr>
          <p:nvPr>
            <p:ph type="title"/>
          </p:nvPr>
        </p:nvSpPr>
        <p:spPr/>
        <p:txBody>
          <a:bodyPr/>
          <a:lstStyle/>
          <a:p>
            <a:pPr>
              <a:defRPr/>
            </a:pPr>
            <a:r>
              <a:rPr lang="en-US" altLang="zh-CN" dirty="0">
                <a:latin typeface="Arial" pitchFamily="34" charset="0"/>
              </a:rPr>
              <a:t>4.2 </a:t>
            </a:r>
            <a:r>
              <a:rPr lang="zh-CN" altLang="en-US" dirty="0">
                <a:latin typeface="Arial" pitchFamily="34" charset="0"/>
              </a:rPr>
              <a:t>几何图元</a:t>
            </a:r>
          </a:p>
        </p:txBody>
      </p:sp>
      <p:sp>
        <p:nvSpPr>
          <p:cNvPr id="54" name="Rectangle 3">
            <a:extLst>
              <a:ext uri="{FF2B5EF4-FFF2-40B4-BE49-F238E27FC236}">
                <a16:creationId xmlns:a16="http://schemas.microsoft.com/office/drawing/2014/main" id="{D649E796-FC30-4D80-870D-7A61D52A1D0B}"/>
              </a:ext>
            </a:extLst>
          </p:cNvPr>
          <p:cNvSpPr txBox="1">
            <a:spLocks noChangeArrowheads="1"/>
          </p:cNvSpPr>
          <p:nvPr/>
        </p:nvSpPr>
        <p:spPr bwMode="auto">
          <a:xfrm>
            <a:off x="2208214" y="1341438"/>
            <a:ext cx="7945437" cy="10525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a:ea typeface="黑体" pitchFamily="49" charset="-122"/>
              </a:rPr>
              <a:t>三种基本几何图元</a:t>
            </a:r>
            <a:r>
              <a:rPr lang="en-US" altLang="zh-CN" kern="0">
                <a:latin typeface="黑体" pitchFamily="49" charset="-122"/>
                <a:ea typeface="黑体" pitchFamily="49" charset="-122"/>
              </a:rPr>
              <a:t>——</a:t>
            </a:r>
            <a:r>
              <a:rPr lang="zh-CN" altLang="en-US" kern="0">
                <a:ea typeface="黑体" pitchFamily="49" charset="-122"/>
              </a:rPr>
              <a:t>点、直线段、多边形</a:t>
            </a:r>
          </a:p>
          <a:p>
            <a:pPr>
              <a:defRPr/>
            </a:pPr>
            <a:endParaRPr lang="zh-CN" altLang="en-US" kern="0">
              <a:ea typeface="黑体" pitchFamily="49" charset="-122"/>
            </a:endParaRPr>
          </a:p>
        </p:txBody>
      </p:sp>
      <p:grpSp>
        <p:nvGrpSpPr>
          <p:cNvPr id="55" name="Group 4">
            <a:extLst>
              <a:ext uri="{FF2B5EF4-FFF2-40B4-BE49-F238E27FC236}">
                <a16:creationId xmlns:a16="http://schemas.microsoft.com/office/drawing/2014/main" id="{36C8BCF2-205F-4F0A-9203-9D2418CC5F0E}"/>
              </a:ext>
            </a:extLst>
          </p:cNvPr>
          <p:cNvGrpSpPr>
            <a:grpSpLocks/>
          </p:cNvGrpSpPr>
          <p:nvPr/>
        </p:nvGrpSpPr>
        <p:grpSpPr bwMode="auto">
          <a:xfrm>
            <a:off x="2523332" y="2394034"/>
            <a:ext cx="7315200" cy="2990850"/>
            <a:chOff x="1584" y="1812"/>
            <a:chExt cx="4719" cy="2020"/>
          </a:xfrm>
        </p:grpSpPr>
        <p:grpSp>
          <p:nvGrpSpPr>
            <p:cNvPr id="56" name="Group 30">
              <a:extLst>
                <a:ext uri="{FF2B5EF4-FFF2-40B4-BE49-F238E27FC236}">
                  <a16:creationId xmlns:a16="http://schemas.microsoft.com/office/drawing/2014/main" id="{8F7F6AE5-5455-4ECC-805D-A73BAC12F95E}"/>
                </a:ext>
              </a:extLst>
            </p:cNvPr>
            <p:cNvGrpSpPr>
              <a:grpSpLocks/>
            </p:cNvGrpSpPr>
            <p:nvPr/>
          </p:nvGrpSpPr>
          <p:grpSpPr bwMode="auto">
            <a:xfrm>
              <a:off x="3302" y="1812"/>
              <a:ext cx="1046" cy="505"/>
              <a:chOff x="3302" y="1812"/>
              <a:chExt cx="1046" cy="505"/>
            </a:xfrm>
          </p:grpSpPr>
          <p:sp>
            <p:nvSpPr>
              <p:cNvPr id="68" name="Rectangle 31">
                <a:extLst>
                  <a:ext uri="{FF2B5EF4-FFF2-40B4-BE49-F238E27FC236}">
                    <a16:creationId xmlns:a16="http://schemas.microsoft.com/office/drawing/2014/main" id="{7D1FCD94-9B70-4DB2-ADF3-6003D87DD0B9}"/>
                  </a:ext>
                </a:extLst>
              </p:cNvPr>
              <p:cNvSpPr>
                <a:spLocks noChangeArrowheads="1"/>
              </p:cNvSpPr>
              <p:nvPr/>
            </p:nvSpPr>
            <p:spPr bwMode="auto">
              <a:xfrm>
                <a:off x="3302" y="2067"/>
                <a:ext cx="1046"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FF0000"/>
                    </a:solidFill>
                    <a:effectLst>
                      <a:outerShdw blurRad="38100" dist="38100" dir="2700000" algn="tl">
                        <a:srgbClr val="C0C0C0"/>
                      </a:outerShdw>
                    </a:effectLst>
                    <a:latin typeface="Arial Black" pitchFamily="34" charset="0"/>
                    <a:ea typeface="宋体" pitchFamily="2" charset="-122"/>
                  </a:rPr>
                  <a:t>GL_POINTS</a:t>
                </a:r>
              </a:p>
            </p:txBody>
          </p:sp>
          <p:grpSp>
            <p:nvGrpSpPr>
              <p:cNvPr id="69" name="Group 32">
                <a:extLst>
                  <a:ext uri="{FF2B5EF4-FFF2-40B4-BE49-F238E27FC236}">
                    <a16:creationId xmlns:a16="http://schemas.microsoft.com/office/drawing/2014/main" id="{97FA6A40-3C03-4527-9C29-33EC909CA93E}"/>
                  </a:ext>
                </a:extLst>
              </p:cNvPr>
              <p:cNvGrpSpPr>
                <a:grpSpLocks/>
              </p:cNvGrpSpPr>
              <p:nvPr/>
            </p:nvGrpSpPr>
            <p:grpSpPr bwMode="auto">
              <a:xfrm>
                <a:off x="3702" y="1812"/>
                <a:ext cx="180" cy="164"/>
                <a:chOff x="3702" y="1812"/>
                <a:chExt cx="180" cy="164"/>
              </a:xfrm>
            </p:grpSpPr>
            <p:sp>
              <p:nvSpPr>
                <p:cNvPr id="70" name="Rectangle 33">
                  <a:extLst>
                    <a:ext uri="{FF2B5EF4-FFF2-40B4-BE49-F238E27FC236}">
                      <a16:creationId xmlns:a16="http://schemas.microsoft.com/office/drawing/2014/main" id="{BCF6E618-341B-400C-AC4B-70F99E99EB62}"/>
                    </a:ext>
                  </a:extLst>
                </p:cNvPr>
                <p:cNvSpPr>
                  <a:spLocks noChangeArrowheads="1"/>
                </p:cNvSpPr>
                <p:nvPr/>
              </p:nvSpPr>
              <p:spPr bwMode="auto">
                <a:xfrm>
                  <a:off x="3732" y="1812"/>
                  <a:ext cx="21" cy="19"/>
                </a:xfrm>
                <a:prstGeom prst="rect">
                  <a:avLst/>
                </a:prstGeom>
                <a:solidFill>
                  <a:srgbClr val="000000"/>
                </a:solidFill>
                <a:ln w="12700">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1" name="Rectangle 34">
                  <a:extLst>
                    <a:ext uri="{FF2B5EF4-FFF2-40B4-BE49-F238E27FC236}">
                      <a16:creationId xmlns:a16="http://schemas.microsoft.com/office/drawing/2014/main" id="{C8A86322-A30C-4928-AB11-D78E8D25F811}"/>
                    </a:ext>
                  </a:extLst>
                </p:cNvPr>
                <p:cNvSpPr>
                  <a:spLocks noChangeArrowheads="1"/>
                </p:cNvSpPr>
                <p:nvPr/>
              </p:nvSpPr>
              <p:spPr bwMode="auto">
                <a:xfrm>
                  <a:off x="3823" y="1839"/>
                  <a:ext cx="21" cy="19"/>
                </a:xfrm>
                <a:prstGeom prst="rect">
                  <a:avLst/>
                </a:prstGeom>
                <a:solidFill>
                  <a:srgbClr val="000000"/>
                </a:solidFill>
                <a:ln w="12700">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2" name="Rectangle 35">
                  <a:extLst>
                    <a:ext uri="{FF2B5EF4-FFF2-40B4-BE49-F238E27FC236}">
                      <a16:creationId xmlns:a16="http://schemas.microsoft.com/office/drawing/2014/main" id="{83D73758-1BA9-4961-B036-8D042E17B607}"/>
                    </a:ext>
                  </a:extLst>
                </p:cNvPr>
                <p:cNvSpPr>
                  <a:spLocks noChangeArrowheads="1"/>
                </p:cNvSpPr>
                <p:nvPr/>
              </p:nvSpPr>
              <p:spPr bwMode="auto">
                <a:xfrm>
                  <a:off x="3702" y="1917"/>
                  <a:ext cx="21" cy="19"/>
                </a:xfrm>
                <a:prstGeom prst="rect">
                  <a:avLst/>
                </a:prstGeom>
                <a:solidFill>
                  <a:srgbClr val="000000"/>
                </a:solidFill>
                <a:ln w="12700">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73" name="Rectangle 36">
                  <a:extLst>
                    <a:ext uri="{FF2B5EF4-FFF2-40B4-BE49-F238E27FC236}">
                      <a16:creationId xmlns:a16="http://schemas.microsoft.com/office/drawing/2014/main" id="{788F79E9-F9A7-43A8-A5AF-478A6CED0252}"/>
                    </a:ext>
                  </a:extLst>
                </p:cNvPr>
                <p:cNvSpPr>
                  <a:spLocks noChangeArrowheads="1"/>
                </p:cNvSpPr>
                <p:nvPr/>
              </p:nvSpPr>
              <p:spPr bwMode="auto">
                <a:xfrm>
                  <a:off x="3861" y="1957"/>
                  <a:ext cx="21" cy="19"/>
                </a:xfrm>
                <a:prstGeom prst="rect">
                  <a:avLst/>
                </a:prstGeom>
                <a:solidFill>
                  <a:srgbClr val="000000"/>
                </a:solidFill>
                <a:ln w="12700">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grpSp>
          <p:nvGrpSpPr>
            <p:cNvPr id="57" name="Group 37">
              <a:extLst>
                <a:ext uri="{FF2B5EF4-FFF2-40B4-BE49-F238E27FC236}">
                  <a16:creationId xmlns:a16="http://schemas.microsoft.com/office/drawing/2014/main" id="{34D343B9-C9FB-470A-A7BF-D7FC3C43018D}"/>
                </a:ext>
              </a:extLst>
            </p:cNvPr>
            <p:cNvGrpSpPr>
              <a:grpSpLocks/>
            </p:cNvGrpSpPr>
            <p:nvPr/>
          </p:nvGrpSpPr>
          <p:grpSpPr bwMode="auto">
            <a:xfrm>
              <a:off x="1584" y="2958"/>
              <a:ext cx="914" cy="860"/>
              <a:chOff x="1584" y="2958"/>
              <a:chExt cx="914" cy="860"/>
            </a:xfrm>
          </p:grpSpPr>
          <p:grpSp>
            <p:nvGrpSpPr>
              <p:cNvPr id="64" name="Group 38">
                <a:extLst>
                  <a:ext uri="{FF2B5EF4-FFF2-40B4-BE49-F238E27FC236}">
                    <a16:creationId xmlns:a16="http://schemas.microsoft.com/office/drawing/2014/main" id="{D5D1CB5B-ADD2-4628-AED5-A4E1382EA28B}"/>
                  </a:ext>
                </a:extLst>
              </p:cNvPr>
              <p:cNvGrpSpPr>
                <a:grpSpLocks/>
              </p:cNvGrpSpPr>
              <p:nvPr/>
            </p:nvGrpSpPr>
            <p:grpSpPr bwMode="auto">
              <a:xfrm>
                <a:off x="1762" y="2958"/>
                <a:ext cx="528" cy="336"/>
                <a:chOff x="1762" y="2958"/>
                <a:chExt cx="528" cy="336"/>
              </a:xfrm>
            </p:grpSpPr>
            <p:sp>
              <p:nvSpPr>
                <p:cNvPr id="66" name="Line 39">
                  <a:extLst>
                    <a:ext uri="{FF2B5EF4-FFF2-40B4-BE49-F238E27FC236}">
                      <a16:creationId xmlns:a16="http://schemas.microsoft.com/office/drawing/2014/main" id="{957921E5-51B5-494A-8E97-C406885CA20E}"/>
                    </a:ext>
                  </a:extLst>
                </p:cNvPr>
                <p:cNvSpPr>
                  <a:spLocks noChangeShapeType="1"/>
                </p:cNvSpPr>
                <p:nvPr/>
              </p:nvSpPr>
              <p:spPr bwMode="auto">
                <a:xfrm flipV="1">
                  <a:off x="1762" y="2958"/>
                  <a:ext cx="328" cy="329"/>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1800" kern="0">
                    <a:solidFill>
                      <a:srgbClr val="000000"/>
                    </a:solidFill>
                  </a:endParaRPr>
                </a:p>
              </p:txBody>
            </p:sp>
            <p:sp>
              <p:nvSpPr>
                <p:cNvPr id="67" name="Line 40">
                  <a:extLst>
                    <a:ext uri="{FF2B5EF4-FFF2-40B4-BE49-F238E27FC236}">
                      <a16:creationId xmlns:a16="http://schemas.microsoft.com/office/drawing/2014/main" id="{512FB849-9642-4900-BADF-42D6BCBD5570}"/>
                    </a:ext>
                  </a:extLst>
                </p:cNvPr>
                <p:cNvSpPr>
                  <a:spLocks noChangeShapeType="1"/>
                </p:cNvSpPr>
                <p:nvPr/>
              </p:nvSpPr>
              <p:spPr bwMode="auto">
                <a:xfrm>
                  <a:off x="2090" y="3072"/>
                  <a:ext cx="200" cy="22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1800" kern="0">
                    <a:solidFill>
                      <a:srgbClr val="000000"/>
                    </a:solidFill>
                  </a:endParaRPr>
                </a:p>
              </p:txBody>
            </p:sp>
          </p:grpSp>
          <p:sp>
            <p:nvSpPr>
              <p:cNvPr id="65" name="Rectangle 41">
                <a:extLst>
                  <a:ext uri="{FF2B5EF4-FFF2-40B4-BE49-F238E27FC236}">
                    <a16:creationId xmlns:a16="http://schemas.microsoft.com/office/drawing/2014/main" id="{D551864F-330E-43E8-AB81-4DDFBF5F6287}"/>
                  </a:ext>
                </a:extLst>
              </p:cNvPr>
              <p:cNvSpPr>
                <a:spLocks noChangeArrowheads="1"/>
              </p:cNvSpPr>
              <p:nvPr/>
            </p:nvSpPr>
            <p:spPr bwMode="auto">
              <a:xfrm>
                <a:off x="1584" y="3568"/>
                <a:ext cx="926"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FF0000"/>
                    </a:solidFill>
                    <a:effectLst>
                      <a:outerShdw blurRad="38100" dist="38100" dir="2700000" algn="tl">
                        <a:srgbClr val="C0C0C0"/>
                      </a:outerShdw>
                    </a:effectLst>
                    <a:latin typeface="Arial Black" pitchFamily="34" charset="0"/>
                    <a:ea typeface="宋体" pitchFamily="2" charset="-122"/>
                  </a:rPr>
                  <a:t>GL_LINES</a:t>
                </a:r>
              </a:p>
            </p:txBody>
          </p:sp>
        </p:grpSp>
        <p:grpSp>
          <p:nvGrpSpPr>
            <p:cNvPr id="58" name="Group 42">
              <a:extLst>
                <a:ext uri="{FF2B5EF4-FFF2-40B4-BE49-F238E27FC236}">
                  <a16:creationId xmlns:a16="http://schemas.microsoft.com/office/drawing/2014/main" id="{6D682ADD-BF51-4152-A399-65E948801AED}"/>
                </a:ext>
              </a:extLst>
            </p:cNvPr>
            <p:cNvGrpSpPr>
              <a:grpSpLocks/>
            </p:cNvGrpSpPr>
            <p:nvPr/>
          </p:nvGrpSpPr>
          <p:grpSpPr bwMode="auto">
            <a:xfrm>
              <a:off x="4970" y="2803"/>
              <a:ext cx="1333" cy="1029"/>
              <a:chOff x="4970" y="2803"/>
              <a:chExt cx="1333" cy="1029"/>
            </a:xfrm>
          </p:grpSpPr>
          <p:sp>
            <p:nvSpPr>
              <p:cNvPr id="62" name="Freeform 43">
                <a:extLst>
                  <a:ext uri="{FF2B5EF4-FFF2-40B4-BE49-F238E27FC236}">
                    <a16:creationId xmlns:a16="http://schemas.microsoft.com/office/drawing/2014/main" id="{12971EE2-2762-4A5D-BD15-62274A2D47CD}"/>
                  </a:ext>
                </a:extLst>
              </p:cNvPr>
              <p:cNvSpPr>
                <a:spLocks/>
              </p:cNvSpPr>
              <p:nvPr/>
            </p:nvSpPr>
            <p:spPr bwMode="auto">
              <a:xfrm>
                <a:off x="5272" y="2803"/>
                <a:ext cx="665" cy="715"/>
              </a:xfrm>
              <a:custGeom>
                <a:avLst/>
                <a:gdLst>
                  <a:gd name="T0" fmla="*/ 336 w 665"/>
                  <a:gd name="T1" fmla="*/ 307 h 715"/>
                  <a:gd name="T2" fmla="*/ 243 w 665"/>
                  <a:gd name="T3" fmla="*/ 50 h 715"/>
                  <a:gd name="T4" fmla="*/ 586 w 665"/>
                  <a:gd name="T5" fmla="*/ 0 h 715"/>
                  <a:gd name="T6" fmla="*/ 0 w 665"/>
                  <a:gd name="T7" fmla="*/ 264 h 715"/>
                  <a:gd name="T8" fmla="*/ 429 w 665"/>
                  <a:gd name="T9" fmla="*/ 714 h 715"/>
                  <a:gd name="T10" fmla="*/ 664 w 665"/>
                  <a:gd name="T11" fmla="*/ 278 h 715"/>
                  <a:gd name="T12" fmla="*/ 336 w 665"/>
                  <a:gd name="T13" fmla="*/ 307 h 715"/>
                  <a:gd name="T14" fmla="*/ 0 60000 65536"/>
                  <a:gd name="T15" fmla="*/ 0 60000 65536"/>
                  <a:gd name="T16" fmla="*/ 0 60000 65536"/>
                  <a:gd name="T17" fmla="*/ 0 60000 65536"/>
                  <a:gd name="T18" fmla="*/ 0 60000 65536"/>
                  <a:gd name="T19" fmla="*/ 0 60000 65536"/>
                  <a:gd name="T20" fmla="*/ 0 60000 65536"/>
                  <a:gd name="T21" fmla="*/ 0 w 665"/>
                  <a:gd name="T22" fmla="*/ 0 h 715"/>
                  <a:gd name="T23" fmla="*/ 665 w 665"/>
                  <a:gd name="T24" fmla="*/ 715 h 7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5" h="715">
                    <a:moveTo>
                      <a:pt x="336" y="307"/>
                    </a:moveTo>
                    <a:lnTo>
                      <a:pt x="243" y="50"/>
                    </a:lnTo>
                    <a:lnTo>
                      <a:pt x="586" y="0"/>
                    </a:lnTo>
                    <a:lnTo>
                      <a:pt x="0" y="264"/>
                    </a:lnTo>
                    <a:lnTo>
                      <a:pt x="429" y="714"/>
                    </a:lnTo>
                    <a:lnTo>
                      <a:pt x="664" y="278"/>
                    </a:lnTo>
                    <a:lnTo>
                      <a:pt x="336" y="307"/>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63" name="Rectangle 44">
                <a:extLst>
                  <a:ext uri="{FF2B5EF4-FFF2-40B4-BE49-F238E27FC236}">
                    <a16:creationId xmlns:a16="http://schemas.microsoft.com/office/drawing/2014/main" id="{A4F716C3-1B37-4E54-B547-33B605B6352B}"/>
                  </a:ext>
                </a:extLst>
              </p:cNvPr>
              <p:cNvSpPr>
                <a:spLocks noChangeArrowheads="1"/>
              </p:cNvSpPr>
              <p:nvPr/>
            </p:nvSpPr>
            <p:spPr bwMode="auto">
              <a:xfrm>
                <a:off x="4970" y="3582"/>
                <a:ext cx="1333"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GL_LINE_LOOP</a:t>
                </a:r>
              </a:p>
            </p:txBody>
          </p:sp>
        </p:grpSp>
        <p:grpSp>
          <p:nvGrpSpPr>
            <p:cNvPr id="59" name="Group 45">
              <a:extLst>
                <a:ext uri="{FF2B5EF4-FFF2-40B4-BE49-F238E27FC236}">
                  <a16:creationId xmlns:a16="http://schemas.microsoft.com/office/drawing/2014/main" id="{73032365-207B-424B-8537-C5DF54F6416B}"/>
                </a:ext>
              </a:extLst>
            </p:cNvPr>
            <p:cNvGrpSpPr>
              <a:grpSpLocks/>
            </p:cNvGrpSpPr>
            <p:nvPr/>
          </p:nvGrpSpPr>
          <p:grpSpPr bwMode="auto">
            <a:xfrm>
              <a:off x="3131" y="2767"/>
              <a:ext cx="1377" cy="1064"/>
              <a:chOff x="3131" y="2767"/>
              <a:chExt cx="1377" cy="1064"/>
            </a:xfrm>
          </p:grpSpPr>
          <p:sp>
            <p:nvSpPr>
              <p:cNvPr id="60" name="Freeform 46">
                <a:extLst>
                  <a:ext uri="{FF2B5EF4-FFF2-40B4-BE49-F238E27FC236}">
                    <a16:creationId xmlns:a16="http://schemas.microsoft.com/office/drawing/2014/main" id="{D5D822ED-3786-43A6-8BF5-36430E1DA5B2}"/>
                  </a:ext>
                </a:extLst>
              </p:cNvPr>
              <p:cNvSpPr>
                <a:spLocks/>
              </p:cNvSpPr>
              <p:nvPr/>
            </p:nvSpPr>
            <p:spPr bwMode="auto">
              <a:xfrm>
                <a:off x="3360" y="2767"/>
                <a:ext cx="908" cy="665"/>
              </a:xfrm>
              <a:custGeom>
                <a:avLst/>
                <a:gdLst>
                  <a:gd name="T0" fmla="*/ 393 w 908"/>
                  <a:gd name="T1" fmla="*/ 471 h 665"/>
                  <a:gd name="T2" fmla="*/ 115 w 908"/>
                  <a:gd name="T3" fmla="*/ 79 h 665"/>
                  <a:gd name="T4" fmla="*/ 0 w 908"/>
                  <a:gd name="T5" fmla="*/ 379 h 665"/>
                  <a:gd name="T6" fmla="*/ 907 w 908"/>
                  <a:gd name="T7" fmla="*/ 229 h 665"/>
                  <a:gd name="T8" fmla="*/ 407 w 908"/>
                  <a:gd name="T9" fmla="*/ 0 h 665"/>
                  <a:gd name="T10" fmla="*/ 715 w 908"/>
                  <a:gd name="T11" fmla="*/ 557 h 665"/>
                  <a:gd name="T12" fmla="*/ 315 w 908"/>
                  <a:gd name="T13" fmla="*/ 664 h 665"/>
                  <a:gd name="T14" fmla="*/ 0 60000 65536"/>
                  <a:gd name="T15" fmla="*/ 0 60000 65536"/>
                  <a:gd name="T16" fmla="*/ 0 60000 65536"/>
                  <a:gd name="T17" fmla="*/ 0 60000 65536"/>
                  <a:gd name="T18" fmla="*/ 0 60000 65536"/>
                  <a:gd name="T19" fmla="*/ 0 60000 65536"/>
                  <a:gd name="T20" fmla="*/ 0 60000 65536"/>
                  <a:gd name="T21" fmla="*/ 0 w 908"/>
                  <a:gd name="T22" fmla="*/ 0 h 665"/>
                  <a:gd name="T23" fmla="*/ 908 w 908"/>
                  <a:gd name="T24" fmla="*/ 665 h 6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8" h="665">
                    <a:moveTo>
                      <a:pt x="393" y="471"/>
                    </a:moveTo>
                    <a:lnTo>
                      <a:pt x="115" y="79"/>
                    </a:lnTo>
                    <a:lnTo>
                      <a:pt x="0" y="379"/>
                    </a:lnTo>
                    <a:lnTo>
                      <a:pt x="907" y="229"/>
                    </a:lnTo>
                    <a:lnTo>
                      <a:pt x="407" y="0"/>
                    </a:lnTo>
                    <a:lnTo>
                      <a:pt x="715" y="557"/>
                    </a:lnTo>
                    <a:lnTo>
                      <a:pt x="315" y="664"/>
                    </a:lnTo>
                  </a:path>
                </a:pathLst>
              </a:custGeom>
              <a:noFill/>
              <a:ln w="12700"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61" name="Rectangle 47">
                <a:extLst>
                  <a:ext uri="{FF2B5EF4-FFF2-40B4-BE49-F238E27FC236}">
                    <a16:creationId xmlns:a16="http://schemas.microsoft.com/office/drawing/2014/main" id="{F36DEEBD-4801-494C-B467-5C8A3410DE1E}"/>
                  </a:ext>
                </a:extLst>
              </p:cNvPr>
              <p:cNvSpPr>
                <a:spLocks noChangeArrowheads="1"/>
              </p:cNvSpPr>
              <p:nvPr/>
            </p:nvSpPr>
            <p:spPr bwMode="auto">
              <a:xfrm>
                <a:off x="3131" y="3581"/>
                <a:ext cx="1365"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GL_LINE_STRIP</a:t>
                </a:r>
              </a:p>
            </p:txBody>
          </p:sp>
        </p:grpSp>
      </p:grpSp>
    </p:spTree>
    <p:extLst>
      <p:ext uri="{BB962C8B-B14F-4D97-AF65-F5344CB8AC3E}">
        <p14:creationId xmlns:p14="http://schemas.microsoft.com/office/powerpoint/2010/main" val="40517980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strVal val="2/3*#ppt_w"/>
                                          </p:val>
                                        </p:tav>
                                        <p:tav tm="100000">
                                          <p:val>
                                            <p:strVal val="#ppt_w"/>
                                          </p:val>
                                        </p:tav>
                                      </p:tavLst>
                                    </p:anim>
                                    <p:anim calcmode="lin" valueType="num">
                                      <p:cBhvr>
                                        <p:cTn id="8" dur="500" fill="hold"/>
                                        <p:tgtEl>
                                          <p:spTgt spid="5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B028BD6B-218C-4E6F-8EEA-35188D49E752}"/>
              </a:ext>
            </a:extLst>
          </p:cNvPr>
          <p:cNvSpPr>
            <a:spLocks noGrp="1" noChangeArrowheads="1"/>
          </p:cNvSpPr>
          <p:nvPr>
            <p:ph type="title"/>
          </p:nvPr>
        </p:nvSpPr>
        <p:spPr/>
        <p:txBody>
          <a:bodyPr/>
          <a:lstStyle/>
          <a:p>
            <a:pPr>
              <a:defRPr/>
            </a:pPr>
            <a:r>
              <a:rPr lang="en-US" altLang="zh-CN" dirty="0">
                <a:latin typeface="Arial" pitchFamily="34" charset="0"/>
              </a:rPr>
              <a:t>4.2 </a:t>
            </a:r>
            <a:r>
              <a:rPr lang="zh-CN" altLang="en-US" dirty="0">
                <a:latin typeface="Arial" pitchFamily="34" charset="0"/>
              </a:rPr>
              <a:t>几何图元</a:t>
            </a:r>
          </a:p>
        </p:txBody>
      </p:sp>
      <p:sp>
        <p:nvSpPr>
          <p:cNvPr id="71" name="Rectangle 3">
            <a:extLst>
              <a:ext uri="{FF2B5EF4-FFF2-40B4-BE49-F238E27FC236}">
                <a16:creationId xmlns:a16="http://schemas.microsoft.com/office/drawing/2014/main" id="{BED90E51-78CF-4CB9-930D-0F9557296EAA}"/>
              </a:ext>
            </a:extLst>
          </p:cNvPr>
          <p:cNvSpPr txBox="1">
            <a:spLocks noChangeArrowheads="1"/>
          </p:cNvSpPr>
          <p:nvPr/>
        </p:nvSpPr>
        <p:spPr bwMode="auto">
          <a:xfrm>
            <a:off x="2208214" y="1138238"/>
            <a:ext cx="7945437" cy="10525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a:ea typeface="黑体" pitchFamily="49" charset="-122"/>
              </a:rPr>
              <a:t>三种基本几何图元</a:t>
            </a:r>
            <a:r>
              <a:rPr lang="en-US" altLang="zh-CN" kern="0">
                <a:latin typeface="黑体" pitchFamily="49" charset="-122"/>
                <a:ea typeface="黑体" pitchFamily="49" charset="-122"/>
              </a:rPr>
              <a:t>——</a:t>
            </a:r>
            <a:r>
              <a:rPr lang="zh-CN" altLang="en-US" kern="0">
                <a:ea typeface="黑体" pitchFamily="49" charset="-122"/>
              </a:rPr>
              <a:t>点、直线段、多边形</a:t>
            </a:r>
          </a:p>
          <a:p>
            <a:pPr>
              <a:defRPr/>
            </a:pPr>
            <a:endParaRPr lang="zh-CN" altLang="en-US" kern="0">
              <a:ea typeface="黑体" pitchFamily="49" charset="-122"/>
            </a:endParaRPr>
          </a:p>
        </p:txBody>
      </p:sp>
      <p:grpSp>
        <p:nvGrpSpPr>
          <p:cNvPr id="72" name="Group 4">
            <a:extLst>
              <a:ext uri="{FF2B5EF4-FFF2-40B4-BE49-F238E27FC236}">
                <a16:creationId xmlns:a16="http://schemas.microsoft.com/office/drawing/2014/main" id="{AE2512D3-893D-461F-8410-BBF3FCAE70A0}"/>
              </a:ext>
            </a:extLst>
          </p:cNvPr>
          <p:cNvGrpSpPr>
            <a:grpSpLocks/>
          </p:cNvGrpSpPr>
          <p:nvPr/>
        </p:nvGrpSpPr>
        <p:grpSpPr bwMode="auto">
          <a:xfrm>
            <a:off x="2095500" y="1928813"/>
            <a:ext cx="8356600" cy="3859212"/>
            <a:chOff x="526" y="1182"/>
            <a:chExt cx="5390" cy="2607"/>
          </a:xfrm>
        </p:grpSpPr>
        <p:grpSp>
          <p:nvGrpSpPr>
            <p:cNvPr id="73" name="Group 5">
              <a:extLst>
                <a:ext uri="{FF2B5EF4-FFF2-40B4-BE49-F238E27FC236}">
                  <a16:creationId xmlns:a16="http://schemas.microsoft.com/office/drawing/2014/main" id="{D20A98BF-9816-4603-A18B-9F7859FF7BFC}"/>
                </a:ext>
              </a:extLst>
            </p:cNvPr>
            <p:cNvGrpSpPr>
              <a:grpSpLocks/>
            </p:cNvGrpSpPr>
            <p:nvPr/>
          </p:nvGrpSpPr>
          <p:grpSpPr bwMode="auto">
            <a:xfrm>
              <a:off x="2397" y="2533"/>
              <a:ext cx="1463" cy="1235"/>
              <a:chOff x="2344" y="2791"/>
              <a:chExt cx="1463" cy="1235"/>
            </a:xfrm>
          </p:grpSpPr>
          <p:grpSp>
            <p:nvGrpSpPr>
              <p:cNvPr id="131" name="Group 6">
                <a:extLst>
                  <a:ext uri="{FF2B5EF4-FFF2-40B4-BE49-F238E27FC236}">
                    <a16:creationId xmlns:a16="http://schemas.microsoft.com/office/drawing/2014/main" id="{7E78B9BB-5D01-4D07-B392-2D452BA70036}"/>
                  </a:ext>
                </a:extLst>
              </p:cNvPr>
              <p:cNvGrpSpPr>
                <a:grpSpLocks/>
              </p:cNvGrpSpPr>
              <p:nvPr/>
            </p:nvGrpSpPr>
            <p:grpSpPr bwMode="auto">
              <a:xfrm>
                <a:off x="2698" y="2791"/>
                <a:ext cx="673" cy="913"/>
                <a:chOff x="2698" y="2791"/>
                <a:chExt cx="673" cy="913"/>
              </a:xfrm>
            </p:grpSpPr>
            <p:sp>
              <p:nvSpPr>
                <p:cNvPr id="133" name="Freeform 7">
                  <a:extLst>
                    <a:ext uri="{FF2B5EF4-FFF2-40B4-BE49-F238E27FC236}">
                      <a16:creationId xmlns:a16="http://schemas.microsoft.com/office/drawing/2014/main" id="{C6C3CD63-8733-494A-8705-2176EC39DE31}"/>
                    </a:ext>
                  </a:extLst>
                </p:cNvPr>
                <p:cNvSpPr>
                  <a:spLocks/>
                </p:cNvSpPr>
                <p:nvPr/>
              </p:nvSpPr>
              <p:spPr bwMode="auto">
                <a:xfrm>
                  <a:off x="2698" y="2791"/>
                  <a:ext cx="673" cy="337"/>
                </a:xfrm>
                <a:custGeom>
                  <a:avLst/>
                  <a:gdLst>
                    <a:gd name="T0" fmla="*/ 144 w 673"/>
                    <a:gd name="T1" fmla="*/ 336 h 337"/>
                    <a:gd name="T2" fmla="*/ 0 w 673"/>
                    <a:gd name="T3" fmla="*/ 48 h 337"/>
                    <a:gd name="T4" fmla="*/ 672 w 673"/>
                    <a:gd name="T5" fmla="*/ 0 h 337"/>
                    <a:gd name="T6" fmla="*/ 528 w 673"/>
                    <a:gd name="T7" fmla="*/ 288 h 337"/>
                    <a:gd name="T8" fmla="*/ 144 w 673"/>
                    <a:gd name="T9" fmla="*/ 336 h 337"/>
                    <a:gd name="T10" fmla="*/ 0 60000 65536"/>
                    <a:gd name="T11" fmla="*/ 0 60000 65536"/>
                    <a:gd name="T12" fmla="*/ 0 60000 65536"/>
                    <a:gd name="T13" fmla="*/ 0 60000 65536"/>
                    <a:gd name="T14" fmla="*/ 0 60000 65536"/>
                    <a:gd name="T15" fmla="*/ 0 w 673"/>
                    <a:gd name="T16" fmla="*/ 0 h 337"/>
                    <a:gd name="T17" fmla="*/ 673 w 673"/>
                    <a:gd name="T18" fmla="*/ 337 h 337"/>
                  </a:gdLst>
                  <a:ahLst/>
                  <a:cxnLst>
                    <a:cxn ang="T10">
                      <a:pos x="T0" y="T1"/>
                    </a:cxn>
                    <a:cxn ang="T11">
                      <a:pos x="T2" y="T3"/>
                    </a:cxn>
                    <a:cxn ang="T12">
                      <a:pos x="T4" y="T5"/>
                    </a:cxn>
                    <a:cxn ang="T13">
                      <a:pos x="T6" y="T7"/>
                    </a:cxn>
                    <a:cxn ang="T14">
                      <a:pos x="T8" y="T9"/>
                    </a:cxn>
                  </a:cxnLst>
                  <a:rect l="T15" t="T16" r="T17" b="T18"/>
                  <a:pathLst>
                    <a:path w="673" h="337">
                      <a:moveTo>
                        <a:pt x="144" y="336"/>
                      </a:moveTo>
                      <a:lnTo>
                        <a:pt x="0" y="48"/>
                      </a:lnTo>
                      <a:lnTo>
                        <a:pt x="672" y="0"/>
                      </a:lnTo>
                      <a:lnTo>
                        <a:pt x="528" y="288"/>
                      </a:lnTo>
                      <a:lnTo>
                        <a:pt x="144" y="336"/>
                      </a:lnTo>
                    </a:path>
                  </a:pathLst>
                </a:custGeom>
                <a:gradFill rotWithShape="0">
                  <a:gsLst>
                    <a:gs pos="0">
                      <a:srgbClr val="B2B2B2"/>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34" name="Freeform 8">
                  <a:extLst>
                    <a:ext uri="{FF2B5EF4-FFF2-40B4-BE49-F238E27FC236}">
                      <a16:creationId xmlns:a16="http://schemas.microsoft.com/office/drawing/2014/main" id="{9F954F4B-6F48-473A-8F8F-7FC754BA7436}"/>
                    </a:ext>
                  </a:extLst>
                </p:cNvPr>
                <p:cNvSpPr>
                  <a:spLocks/>
                </p:cNvSpPr>
                <p:nvPr/>
              </p:nvSpPr>
              <p:spPr bwMode="auto">
                <a:xfrm>
                  <a:off x="2794" y="3079"/>
                  <a:ext cx="433" cy="337"/>
                </a:xfrm>
                <a:custGeom>
                  <a:avLst/>
                  <a:gdLst>
                    <a:gd name="T0" fmla="*/ 432 w 433"/>
                    <a:gd name="T1" fmla="*/ 0 h 337"/>
                    <a:gd name="T2" fmla="*/ 48 w 433"/>
                    <a:gd name="T3" fmla="*/ 48 h 337"/>
                    <a:gd name="T4" fmla="*/ 0 w 433"/>
                    <a:gd name="T5" fmla="*/ 288 h 337"/>
                    <a:gd name="T6" fmla="*/ 384 w 433"/>
                    <a:gd name="T7" fmla="*/ 336 h 337"/>
                    <a:gd name="T8" fmla="*/ 432 w 433"/>
                    <a:gd name="T9" fmla="*/ 0 h 337"/>
                    <a:gd name="T10" fmla="*/ 0 60000 65536"/>
                    <a:gd name="T11" fmla="*/ 0 60000 65536"/>
                    <a:gd name="T12" fmla="*/ 0 60000 65536"/>
                    <a:gd name="T13" fmla="*/ 0 60000 65536"/>
                    <a:gd name="T14" fmla="*/ 0 60000 65536"/>
                    <a:gd name="T15" fmla="*/ 0 w 433"/>
                    <a:gd name="T16" fmla="*/ 0 h 337"/>
                    <a:gd name="T17" fmla="*/ 433 w 433"/>
                    <a:gd name="T18" fmla="*/ 337 h 337"/>
                  </a:gdLst>
                  <a:ahLst/>
                  <a:cxnLst>
                    <a:cxn ang="T10">
                      <a:pos x="T0" y="T1"/>
                    </a:cxn>
                    <a:cxn ang="T11">
                      <a:pos x="T2" y="T3"/>
                    </a:cxn>
                    <a:cxn ang="T12">
                      <a:pos x="T4" y="T5"/>
                    </a:cxn>
                    <a:cxn ang="T13">
                      <a:pos x="T6" y="T7"/>
                    </a:cxn>
                    <a:cxn ang="T14">
                      <a:pos x="T8" y="T9"/>
                    </a:cxn>
                  </a:cxnLst>
                  <a:rect l="T15" t="T16" r="T17" b="T18"/>
                  <a:pathLst>
                    <a:path w="433" h="337">
                      <a:moveTo>
                        <a:pt x="432" y="0"/>
                      </a:moveTo>
                      <a:lnTo>
                        <a:pt x="48" y="48"/>
                      </a:lnTo>
                      <a:lnTo>
                        <a:pt x="0" y="288"/>
                      </a:lnTo>
                      <a:lnTo>
                        <a:pt x="384" y="336"/>
                      </a:lnTo>
                      <a:lnTo>
                        <a:pt x="432" y="0"/>
                      </a:lnTo>
                    </a:path>
                  </a:pathLst>
                </a:custGeom>
                <a:gradFill rotWithShape="0">
                  <a:gsLst>
                    <a:gs pos="0">
                      <a:srgbClr val="B2B2B2"/>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35" name="Freeform 9">
                  <a:extLst>
                    <a:ext uri="{FF2B5EF4-FFF2-40B4-BE49-F238E27FC236}">
                      <a16:creationId xmlns:a16="http://schemas.microsoft.com/office/drawing/2014/main" id="{3253E2C7-15DF-4519-905D-2DF1E0C53BF3}"/>
                    </a:ext>
                  </a:extLst>
                </p:cNvPr>
                <p:cNvSpPr>
                  <a:spLocks/>
                </p:cNvSpPr>
                <p:nvPr/>
              </p:nvSpPr>
              <p:spPr bwMode="auto">
                <a:xfrm>
                  <a:off x="2794" y="3367"/>
                  <a:ext cx="529" cy="337"/>
                </a:xfrm>
                <a:custGeom>
                  <a:avLst/>
                  <a:gdLst>
                    <a:gd name="T0" fmla="*/ 384 w 529"/>
                    <a:gd name="T1" fmla="*/ 48 h 337"/>
                    <a:gd name="T2" fmla="*/ 0 w 529"/>
                    <a:gd name="T3" fmla="*/ 0 h 337"/>
                    <a:gd name="T4" fmla="*/ 192 w 529"/>
                    <a:gd name="T5" fmla="*/ 336 h 337"/>
                    <a:gd name="T6" fmla="*/ 528 w 529"/>
                    <a:gd name="T7" fmla="*/ 240 h 337"/>
                    <a:gd name="T8" fmla="*/ 384 w 529"/>
                    <a:gd name="T9" fmla="*/ 48 h 337"/>
                    <a:gd name="T10" fmla="*/ 0 60000 65536"/>
                    <a:gd name="T11" fmla="*/ 0 60000 65536"/>
                    <a:gd name="T12" fmla="*/ 0 60000 65536"/>
                    <a:gd name="T13" fmla="*/ 0 60000 65536"/>
                    <a:gd name="T14" fmla="*/ 0 60000 65536"/>
                    <a:gd name="T15" fmla="*/ 0 w 529"/>
                    <a:gd name="T16" fmla="*/ 0 h 337"/>
                    <a:gd name="T17" fmla="*/ 529 w 529"/>
                    <a:gd name="T18" fmla="*/ 337 h 337"/>
                  </a:gdLst>
                  <a:ahLst/>
                  <a:cxnLst>
                    <a:cxn ang="T10">
                      <a:pos x="T0" y="T1"/>
                    </a:cxn>
                    <a:cxn ang="T11">
                      <a:pos x="T2" y="T3"/>
                    </a:cxn>
                    <a:cxn ang="T12">
                      <a:pos x="T4" y="T5"/>
                    </a:cxn>
                    <a:cxn ang="T13">
                      <a:pos x="T6" y="T7"/>
                    </a:cxn>
                    <a:cxn ang="T14">
                      <a:pos x="T8" y="T9"/>
                    </a:cxn>
                  </a:cxnLst>
                  <a:rect l="T15" t="T16" r="T17" b="T18"/>
                  <a:pathLst>
                    <a:path w="529" h="337">
                      <a:moveTo>
                        <a:pt x="384" y="48"/>
                      </a:moveTo>
                      <a:lnTo>
                        <a:pt x="0" y="0"/>
                      </a:lnTo>
                      <a:lnTo>
                        <a:pt x="192" y="336"/>
                      </a:lnTo>
                      <a:lnTo>
                        <a:pt x="528" y="240"/>
                      </a:lnTo>
                      <a:lnTo>
                        <a:pt x="384" y="48"/>
                      </a:lnTo>
                    </a:path>
                  </a:pathLst>
                </a:custGeom>
                <a:gradFill rotWithShape="0">
                  <a:gsLst>
                    <a:gs pos="0">
                      <a:srgbClr val="B2B2B2"/>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sp>
            <p:nvSpPr>
              <p:cNvPr id="132" name="Rectangle 10">
                <a:extLst>
                  <a:ext uri="{FF2B5EF4-FFF2-40B4-BE49-F238E27FC236}">
                    <a16:creationId xmlns:a16="http://schemas.microsoft.com/office/drawing/2014/main" id="{28584227-7B95-43A9-8A31-76A06C0D6D7B}"/>
                  </a:ext>
                </a:extLst>
              </p:cNvPr>
              <p:cNvSpPr>
                <a:spLocks noChangeArrowheads="1"/>
              </p:cNvSpPr>
              <p:nvPr/>
            </p:nvSpPr>
            <p:spPr bwMode="auto">
              <a:xfrm>
                <a:off x="2344" y="3776"/>
                <a:ext cx="1463"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GL_QUAD_STRIP</a:t>
                </a:r>
              </a:p>
            </p:txBody>
          </p:sp>
        </p:grpSp>
        <p:grpSp>
          <p:nvGrpSpPr>
            <p:cNvPr id="74" name="Group 11">
              <a:extLst>
                <a:ext uri="{FF2B5EF4-FFF2-40B4-BE49-F238E27FC236}">
                  <a16:creationId xmlns:a16="http://schemas.microsoft.com/office/drawing/2014/main" id="{E9FC2672-358D-48B3-BB1A-E0C38B4702D5}"/>
                </a:ext>
              </a:extLst>
            </p:cNvPr>
            <p:cNvGrpSpPr>
              <a:grpSpLocks/>
            </p:cNvGrpSpPr>
            <p:nvPr/>
          </p:nvGrpSpPr>
          <p:grpSpPr bwMode="auto">
            <a:xfrm>
              <a:off x="4535" y="2678"/>
              <a:ext cx="1237" cy="1111"/>
              <a:chOff x="4535" y="2678"/>
              <a:chExt cx="1237" cy="1111"/>
            </a:xfrm>
          </p:grpSpPr>
          <p:sp>
            <p:nvSpPr>
              <p:cNvPr id="129" name="Freeform 12">
                <a:extLst>
                  <a:ext uri="{FF2B5EF4-FFF2-40B4-BE49-F238E27FC236}">
                    <a16:creationId xmlns:a16="http://schemas.microsoft.com/office/drawing/2014/main" id="{981A5BF8-82DC-4D68-8C7F-775DE0D5EC87}"/>
                  </a:ext>
                </a:extLst>
              </p:cNvPr>
              <p:cNvSpPr>
                <a:spLocks/>
              </p:cNvSpPr>
              <p:nvPr/>
            </p:nvSpPr>
            <p:spPr bwMode="auto">
              <a:xfrm>
                <a:off x="4673" y="2678"/>
                <a:ext cx="680" cy="652"/>
              </a:xfrm>
              <a:custGeom>
                <a:avLst/>
                <a:gdLst>
                  <a:gd name="T0" fmla="*/ 0 w 680"/>
                  <a:gd name="T1" fmla="*/ 208 h 652"/>
                  <a:gd name="T2" fmla="*/ 386 w 680"/>
                  <a:gd name="T3" fmla="*/ 0 h 652"/>
                  <a:gd name="T4" fmla="*/ 679 w 680"/>
                  <a:gd name="T5" fmla="*/ 243 h 652"/>
                  <a:gd name="T6" fmla="*/ 586 w 680"/>
                  <a:gd name="T7" fmla="*/ 529 h 652"/>
                  <a:gd name="T8" fmla="*/ 250 w 680"/>
                  <a:gd name="T9" fmla="*/ 651 h 652"/>
                  <a:gd name="T10" fmla="*/ 7 w 680"/>
                  <a:gd name="T11" fmla="*/ 479 h 652"/>
                  <a:gd name="T12" fmla="*/ 0 w 680"/>
                  <a:gd name="T13" fmla="*/ 208 h 652"/>
                  <a:gd name="T14" fmla="*/ 0 60000 65536"/>
                  <a:gd name="T15" fmla="*/ 0 60000 65536"/>
                  <a:gd name="T16" fmla="*/ 0 60000 65536"/>
                  <a:gd name="T17" fmla="*/ 0 60000 65536"/>
                  <a:gd name="T18" fmla="*/ 0 60000 65536"/>
                  <a:gd name="T19" fmla="*/ 0 60000 65536"/>
                  <a:gd name="T20" fmla="*/ 0 60000 65536"/>
                  <a:gd name="T21" fmla="*/ 0 w 680"/>
                  <a:gd name="T22" fmla="*/ 0 h 652"/>
                  <a:gd name="T23" fmla="*/ 680 w 680"/>
                  <a:gd name="T24" fmla="*/ 652 h 6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0" h="652">
                    <a:moveTo>
                      <a:pt x="0" y="208"/>
                    </a:moveTo>
                    <a:lnTo>
                      <a:pt x="386" y="0"/>
                    </a:lnTo>
                    <a:lnTo>
                      <a:pt x="679" y="243"/>
                    </a:lnTo>
                    <a:lnTo>
                      <a:pt x="586" y="529"/>
                    </a:lnTo>
                    <a:lnTo>
                      <a:pt x="250" y="651"/>
                    </a:lnTo>
                    <a:lnTo>
                      <a:pt x="7" y="479"/>
                    </a:lnTo>
                    <a:lnTo>
                      <a:pt x="0" y="208"/>
                    </a:lnTo>
                  </a:path>
                </a:pathLst>
              </a:custGeom>
              <a:solidFill>
                <a:srgbClr val="5B0DAA"/>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30" name="Rectangle 13">
                <a:extLst>
                  <a:ext uri="{FF2B5EF4-FFF2-40B4-BE49-F238E27FC236}">
                    <a16:creationId xmlns:a16="http://schemas.microsoft.com/office/drawing/2014/main" id="{A7CAEF1B-34FC-4F29-8DE4-56CAB0162152}"/>
                  </a:ext>
                </a:extLst>
              </p:cNvPr>
              <p:cNvSpPr>
                <a:spLocks noChangeArrowheads="1"/>
              </p:cNvSpPr>
              <p:nvPr/>
            </p:nvSpPr>
            <p:spPr bwMode="auto">
              <a:xfrm>
                <a:off x="4535" y="3539"/>
                <a:ext cx="1237"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FF0000"/>
                    </a:solidFill>
                    <a:effectLst>
                      <a:outerShdw blurRad="38100" dist="38100" dir="2700000" algn="tl">
                        <a:srgbClr val="C0C0C0"/>
                      </a:outerShdw>
                    </a:effectLst>
                    <a:latin typeface="Arial Black" pitchFamily="34" charset="0"/>
                    <a:ea typeface="宋体" pitchFamily="2" charset="-122"/>
                  </a:rPr>
                  <a:t>GL_POLYGON</a:t>
                </a:r>
              </a:p>
            </p:txBody>
          </p:sp>
        </p:grpSp>
        <p:grpSp>
          <p:nvGrpSpPr>
            <p:cNvPr id="75" name="Group 14">
              <a:extLst>
                <a:ext uri="{FF2B5EF4-FFF2-40B4-BE49-F238E27FC236}">
                  <a16:creationId xmlns:a16="http://schemas.microsoft.com/office/drawing/2014/main" id="{740BC913-3CB7-43D5-B3DF-2E57183E2550}"/>
                </a:ext>
              </a:extLst>
            </p:cNvPr>
            <p:cNvGrpSpPr>
              <a:grpSpLocks/>
            </p:cNvGrpSpPr>
            <p:nvPr/>
          </p:nvGrpSpPr>
          <p:grpSpPr bwMode="auto">
            <a:xfrm>
              <a:off x="2231" y="1182"/>
              <a:ext cx="1841" cy="1119"/>
              <a:chOff x="2231" y="1182"/>
              <a:chExt cx="1841" cy="1119"/>
            </a:xfrm>
          </p:grpSpPr>
          <p:sp>
            <p:nvSpPr>
              <p:cNvPr id="93" name="Rectangle 15">
                <a:extLst>
                  <a:ext uri="{FF2B5EF4-FFF2-40B4-BE49-F238E27FC236}">
                    <a16:creationId xmlns:a16="http://schemas.microsoft.com/office/drawing/2014/main" id="{9E2718C5-A975-42DC-A76B-5F17ECEF7794}"/>
                  </a:ext>
                </a:extLst>
              </p:cNvPr>
              <p:cNvSpPr>
                <a:spLocks noChangeArrowheads="1"/>
              </p:cNvSpPr>
              <p:nvPr/>
            </p:nvSpPr>
            <p:spPr bwMode="auto">
              <a:xfrm>
                <a:off x="2231" y="2051"/>
                <a:ext cx="1841"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GL_TRIANGLE_STRIP</a:t>
                </a:r>
              </a:p>
            </p:txBody>
          </p:sp>
          <p:grpSp>
            <p:nvGrpSpPr>
              <p:cNvPr id="122" name="Group 16">
                <a:extLst>
                  <a:ext uri="{FF2B5EF4-FFF2-40B4-BE49-F238E27FC236}">
                    <a16:creationId xmlns:a16="http://schemas.microsoft.com/office/drawing/2014/main" id="{2115C5E5-4FA7-436E-8322-E46860C00235}"/>
                  </a:ext>
                </a:extLst>
              </p:cNvPr>
              <p:cNvGrpSpPr>
                <a:grpSpLocks/>
              </p:cNvGrpSpPr>
              <p:nvPr/>
            </p:nvGrpSpPr>
            <p:grpSpPr bwMode="auto">
              <a:xfrm>
                <a:off x="2769" y="1182"/>
                <a:ext cx="673" cy="913"/>
                <a:chOff x="2769" y="1182"/>
                <a:chExt cx="673" cy="913"/>
              </a:xfrm>
            </p:grpSpPr>
            <p:sp>
              <p:nvSpPr>
                <p:cNvPr id="123" name="Freeform 17">
                  <a:extLst>
                    <a:ext uri="{FF2B5EF4-FFF2-40B4-BE49-F238E27FC236}">
                      <a16:creationId xmlns:a16="http://schemas.microsoft.com/office/drawing/2014/main" id="{C764D91A-6C39-4036-9E09-32C7BAE00065}"/>
                    </a:ext>
                  </a:extLst>
                </p:cNvPr>
                <p:cNvSpPr>
                  <a:spLocks/>
                </p:cNvSpPr>
                <p:nvPr/>
              </p:nvSpPr>
              <p:spPr bwMode="auto">
                <a:xfrm>
                  <a:off x="2769" y="1182"/>
                  <a:ext cx="673" cy="337"/>
                </a:xfrm>
                <a:custGeom>
                  <a:avLst/>
                  <a:gdLst>
                    <a:gd name="T0" fmla="*/ 0 w 673"/>
                    <a:gd name="T1" fmla="*/ 48 h 337"/>
                    <a:gd name="T2" fmla="*/ 672 w 673"/>
                    <a:gd name="T3" fmla="*/ 0 h 337"/>
                    <a:gd name="T4" fmla="*/ 144 w 673"/>
                    <a:gd name="T5" fmla="*/ 336 h 337"/>
                    <a:gd name="T6" fmla="*/ 0 w 673"/>
                    <a:gd name="T7" fmla="*/ 48 h 337"/>
                    <a:gd name="T8" fmla="*/ 0 60000 65536"/>
                    <a:gd name="T9" fmla="*/ 0 60000 65536"/>
                    <a:gd name="T10" fmla="*/ 0 60000 65536"/>
                    <a:gd name="T11" fmla="*/ 0 60000 65536"/>
                    <a:gd name="T12" fmla="*/ 0 w 673"/>
                    <a:gd name="T13" fmla="*/ 0 h 337"/>
                    <a:gd name="T14" fmla="*/ 673 w 673"/>
                    <a:gd name="T15" fmla="*/ 337 h 337"/>
                  </a:gdLst>
                  <a:ahLst/>
                  <a:cxnLst>
                    <a:cxn ang="T8">
                      <a:pos x="T0" y="T1"/>
                    </a:cxn>
                    <a:cxn ang="T9">
                      <a:pos x="T2" y="T3"/>
                    </a:cxn>
                    <a:cxn ang="T10">
                      <a:pos x="T4" y="T5"/>
                    </a:cxn>
                    <a:cxn ang="T11">
                      <a:pos x="T6" y="T7"/>
                    </a:cxn>
                  </a:cxnLst>
                  <a:rect l="T12" t="T13" r="T14" b="T15"/>
                  <a:pathLst>
                    <a:path w="673" h="337">
                      <a:moveTo>
                        <a:pt x="0" y="48"/>
                      </a:moveTo>
                      <a:lnTo>
                        <a:pt x="672" y="0"/>
                      </a:lnTo>
                      <a:lnTo>
                        <a:pt x="144" y="336"/>
                      </a:lnTo>
                      <a:lnTo>
                        <a:pt x="0" y="48"/>
                      </a:lnTo>
                    </a:path>
                  </a:pathLst>
                </a:custGeom>
                <a:gradFill rotWithShape="0">
                  <a:gsLst>
                    <a:gs pos="0">
                      <a:srgbClr val="5F5F5F"/>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24" name="Freeform 18">
                  <a:extLst>
                    <a:ext uri="{FF2B5EF4-FFF2-40B4-BE49-F238E27FC236}">
                      <a16:creationId xmlns:a16="http://schemas.microsoft.com/office/drawing/2014/main" id="{F98C6151-AB78-4267-89ED-093DC91C2AA3}"/>
                    </a:ext>
                  </a:extLst>
                </p:cNvPr>
                <p:cNvSpPr>
                  <a:spLocks/>
                </p:cNvSpPr>
                <p:nvPr/>
              </p:nvSpPr>
              <p:spPr bwMode="auto">
                <a:xfrm>
                  <a:off x="2913" y="1182"/>
                  <a:ext cx="529" cy="337"/>
                </a:xfrm>
                <a:custGeom>
                  <a:avLst/>
                  <a:gdLst>
                    <a:gd name="T0" fmla="*/ 0 w 529"/>
                    <a:gd name="T1" fmla="*/ 336 h 337"/>
                    <a:gd name="T2" fmla="*/ 528 w 529"/>
                    <a:gd name="T3" fmla="*/ 0 h 337"/>
                    <a:gd name="T4" fmla="*/ 384 w 529"/>
                    <a:gd name="T5" fmla="*/ 288 h 337"/>
                    <a:gd name="T6" fmla="*/ 0 w 529"/>
                    <a:gd name="T7" fmla="*/ 336 h 337"/>
                    <a:gd name="T8" fmla="*/ 0 60000 65536"/>
                    <a:gd name="T9" fmla="*/ 0 60000 65536"/>
                    <a:gd name="T10" fmla="*/ 0 60000 65536"/>
                    <a:gd name="T11" fmla="*/ 0 60000 65536"/>
                    <a:gd name="T12" fmla="*/ 0 w 529"/>
                    <a:gd name="T13" fmla="*/ 0 h 337"/>
                    <a:gd name="T14" fmla="*/ 529 w 529"/>
                    <a:gd name="T15" fmla="*/ 337 h 337"/>
                  </a:gdLst>
                  <a:ahLst/>
                  <a:cxnLst>
                    <a:cxn ang="T8">
                      <a:pos x="T0" y="T1"/>
                    </a:cxn>
                    <a:cxn ang="T9">
                      <a:pos x="T2" y="T3"/>
                    </a:cxn>
                    <a:cxn ang="T10">
                      <a:pos x="T4" y="T5"/>
                    </a:cxn>
                    <a:cxn ang="T11">
                      <a:pos x="T6" y="T7"/>
                    </a:cxn>
                  </a:cxnLst>
                  <a:rect l="T12" t="T13" r="T14" b="T15"/>
                  <a:pathLst>
                    <a:path w="529" h="337">
                      <a:moveTo>
                        <a:pt x="0" y="336"/>
                      </a:moveTo>
                      <a:lnTo>
                        <a:pt x="528" y="0"/>
                      </a:lnTo>
                      <a:lnTo>
                        <a:pt x="384" y="288"/>
                      </a:lnTo>
                      <a:lnTo>
                        <a:pt x="0" y="336"/>
                      </a:lnTo>
                    </a:path>
                  </a:pathLst>
                </a:custGeom>
                <a:gradFill rotWithShape="0">
                  <a:gsLst>
                    <a:gs pos="0">
                      <a:srgbClr val="5F5F5F"/>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25" name="Freeform 19">
                  <a:extLst>
                    <a:ext uri="{FF2B5EF4-FFF2-40B4-BE49-F238E27FC236}">
                      <a16:creationId xmlns:a16="http://schemas.microsoft.com/office/drawing/2014/main" id="{7F6FA9CD-23EF-41D2-BF01-7828491ECB28}"/>
                    </a:ext>
                  </a:extLst>
                </p:cNvPr>
                <p:cNvSpPr>
                  <a:spLocks/>
                </p:cNvSpPr>
                <p:nvPr/>
              </p:nvSpPr>
              <p:spPr bwMode="auto">
                <a:xfrm>
                  <a:off x="2865" y="1470"/>
                  <a:ext cx="433" cy="289"/>
                </a:xfrm>
                <a:custGeom>
                  <a:avLst/>
                  <a:gdLst>
                    <a:gd name="T0" fmla="*/ 432 w 433"/>
                    <a:gd name="T1" fmla="*/ 0 h 289"/>
                    <a:gd name="T2" fmla="*/ 48 w 433"/>
                    <a:gd name="T3" fmla="*/ 48 h 289"/>
                    <a:gd name="T4" fmla="*/ 0 w 433"/>
                    <a:gd name="T5" fmla="*/ 288 h 289"/>
                    <a:gd name="T6" fmla="*/ 432 w 433"/>
                    <a:gd name="T7" fmla="*/ 0 h 289"/>
                    <a:gd name="T8" fmla="*/ 0 60000 65536"/>
                    <a:gd name="T9" fmla="*/ 0 60000 65536"/>
                    <a:gd name="T10" fmla="*/ 0 60000 65536"/>
                    <a:gd name="T11" fmla="*/ 0 60000 65536"/>
                    <a:gd name="T12" fmla="*/ 0 w 433"/>
                    <a:gd name="T13" fmla="*/ 0 h 289"/>
                    <a:gd name="T14" fmla="*/ 433 w 433"/>
                    <a:gd name="T15" fmla="*/ 289 h 289"/>
                  </a:gdLst>
                  <a:ahLst/>
                  <a:cxnLst>
                    <a:cxn ang="T8">
                      <a:pos x="T0" y="T1"/>
                    </a:cxn>
                    <a:cxn ang="T9">
                      <a:pos x="T2" y="T3"/>
                    </a:cxn>
                    <a:cxn ang="T10">
                      <a:pos x="T4" y="T5"/>
                    </a:cxn>
                    <a:cxn ang="T11">
                      <a:pos x="T6" y="T7"/>
                    </a:cxn>
                  </a:cxnLst>
                  <a:rect l="T12" t="T13" r="T14" b="T15"/>
                  <a:pathLst>
                    <a:path w="433" h="289">
                      <a:moveTo>
                        <a:pt x="432" y="0"/>
                      </a:moveTo>
                      <a:lnTo>
                        <a:pt x="48" y="48"/>
                      </a:lnTo>
                      <a:lnTo>
                        <a:pt x="0" y="288"/>
                      </a:lnTo>
                      <a:lnTo>
                        <a:pt x="432" y="0"/>
                      </a:lnTo>
                    </a:path>
                  </a:pathLst>
                </a:custGeom>
                <a:gradFill rotWithShape="0">
                  <a:gsLst>
                    <a:gs pos="0">
                      <a:srgbClr val="5F5F5F"/>
                    </a:gs>
                    <a:gs pos="100000">
                      <a:srgbClr val="AFAFAF"/>
                    </a:gs>
                  </a:gsLst>
                  <a:lin ang="27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26" name="Freeform 20">
                  <a:extLst>
                    <a:ext uri="{FF2B5EF4-FFF2-40B4-BE49-F238E27FC236}">
                      <a16:creationId xmlns:a16="http://schemas.microsoft.com/office/drawing/2014/main" id="{D9C2B047-2A14-4A7E-B13C-52E5C41D5799}"/>
                    </a:ext>
                  </a:extLst>
                </p:cNvPr>
                <p:cNvSpPr>
                  <a:spLocks/>
                </p:cNvSpPr>
                <p:nvPr/>
              </p:nvSpPr>
              <p:spPr bwMode="auto">
                <a:xfrm>
                  <a:off x="2865" y="1469"/>
                  <a:ext cx="433" cy="338"/>
                </a:xfrm>
                <a:custGeom>
                  <a:avLst/>
                  <a:gdLst/>
                  <a:ahLst/>
                  <a:cxnLst>
                    <a:cxn ang="0">
                      <a:pos x="432" y="0"/>
                    </a:cxn>
                    <a:cxn ang="0">
                      <a:pos x="384" y="336"/>
                    </a:cxn>
                    <a:cxn ang="0">
                      <a:pos x="0" y="288"/>
                    </a:cxn>
                    <a:cxn ang="0">
                      <a:pos x="432" y="0"/>
                    </a:cxn>
                  </a:cxnLst>
                  <a:rect l="0" t="0" r="r" b="b"/>
                  <a:pathLst>
                    <a:path w="433" h="337">
                      <a:moveTo>
                        <a:pt x="432" y="0"/>
                      </a:moveTo>
                      <a:lnTo>
                        <a:pt x="384" y="336"/>
                      </a:lnTo>
                      <a:lnTo>
                        <a:pt x="0" y="288"/>
                      </a:lnTo>
                      <a:lnTo>
                        <a:pt x="432" y="0"/>
                      </a:lnTo>
                    </a:path>
                  </a:pathLst>
                </a:custGeom>
                <a:gradFill rotWithShape="0">
                  <a:gsLst>
                    <a:gs pos="0">
                      <a:srgbClr val="000000"/>
                    </a:gs>
                    <a:gs pos="100000">
                      <a:srgbClr val="000000">
                        <a:gamma/>
                        <a:tint val="30196"/>
                        <a:invGamma/>
                      </a:srgbClr>
                    </a:gs>
                  </a:gsLst>
                  <a:lin ang="2700000" scaled="1"/>
                </a:gradFill>
                <a:ln w="12700" cap="rnd" cmpd="sng">
                  <a:solidFill>
                    <a:srgbClr val="000000"/>
                  </a:solidFill>
                  <a:prstDash val="solid"/>
                  <a:round/>
                  <a:headEnd/>
                  <a:tailEnd/>
                </a:ln>
                <a:effectLst/>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127" name="Freeform 21">
                  <a:extLst>
                    <a:ext uri="{FF2B5EF4-FFF2-40B4-BE49-F238E27FC236}">
                      <a16:creationId xmlns:a16="http://schemas.microsoft.com/office/drawing/2014/main" id="{9C911FB8-49CC-402C-A67C-5C974B298C2A}"/>
                    </a:ext>
                  </a:extLst>
                </p:cNvPr>
                <p:cNvSpPr>
                  <a:spLocks/>
                </p:cNvSpPr>
                <p:nvPr/>
              </p:nvSpPr>
              <p:spPr bwMode="auto">
                <a:xfrm>
                  <a:off x="2865" y="1758"/>
                  <a:ext cx="385" cy="337"/>
                </a:xfrm>
                <a:custGeom>
                  <a:avLst/>
                  <a:gdLst>
                    <a:gd name="T0" fmla="*/ 0 w 385"/>
                    <a:gd name="T1" fmla="*/ 0 h 337"/>
                    <a:gd name="T2" fmla="*/ 192 w 385"/>
                    <a:gd name="T3" fmla="*/ 336 h 337"/>
                    <a:gd name="T4" fmla="*/ 384 w 385"/>
                    <a:gd name="T5" fmla="*/ 48 h 337"/>
                    <a:gd name="T6" fmla="*/ 0 w 385"/>
                    <a:gd name="T7" fmla="*/ 0 h 337"/>
                    <a:gd name="T8" fmla="*/ 0 60000 65536"/>
                    <a:gd name="T9" fmla="*/ 0 60000 65536"/>
                    <a:gd name="T10" fmla="*/ 0 60000 65536"/>
                    <a:gd name="T11" fmla="*/ 0 60000 65536"/>
                    <a:gd name="T12" fmla="*/ 0 w 385"/>
                    <a:gd name="T13" fmla="*/ 0 h 337"/>
                    <a:gd name="T14" fmla="*/ 385 w 385"/>
                    <a:gd name="T15" fmla="*/ 337 h 337"/>
                  </a:gdLst>
                  <a:ahLst/>
                  <a:cxnLst>
                    <a:cxn ang="T8">
                      <a:pos x="T0" y="T1"/>
                    </a:cxn>
                    <a:cxn ang="T9">
                      <a:pos x="T2" y="T3"/>
                    </a:cxn>
                    <a:cxn ang="T10">
                      <a:pos x="T4" y="T5"/>
                    </a:cxn>
                    <a:cxn ang="T11">
                      <a:pos x="T6" y="T7"/>
                    </a:cxn>
                  </a:cxnLst>
                  <a:rect l="T12" t="T13" r="T14" b="T15"/>
                  <a:pathLst>
                    <a:path w="385" h="337">
                      <a:moveTo>
                        <a:pt x="0" y="0"/>
                      </a:moveTo>
                      <a:lnTo>
                        <a:pt x="192" y="336"/>
                      </a:lnTo>
                      <a:lnTo>
                        <a:pt x="384" y="48"/>
                      </a:lnTo>
                      <a:lnTo>
                        <a:pt x="0" y="0"/>
                      </a:lnTo>
                    </a:path>
                  </a:pathLst>
                </a:custGeom>
                <a:gradFill rotWithShape="0">
                  <a:gsLst>
                    <a:gs pos="0">
                      <a:srgbClr val="000000"/>
                    </a:gs>
                    <a:gs pos="100000">
                      <a:srgbClr val="FFFFF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28" name="Freeform 22">
                  <a:extLst>
                    <a:ext uri="{FF2B5EF4-FFF2-40B4-BE49-F238E27FC236}">
                      <a16:creationId xmlns:a16="http://schemas.microsoft.com/office/drawing/2014/main" id="{37743E89-6924-4B70-9530-8EB7CCB5CD86}"/>
                    </a:ext>
                  </a:extLst>
                </p:cNvPr>
                <p:cNvSpPr>
                  <a:spLocks/>
                </p:cNvSpPr>
                <p:nvPr/>
              </p:nvSpPr>
              <p:spPr bwMode="auto">
                <a:xfrm>
                  <a:off x="3057" y="1806"/>
                  <a:ext cx="337" cy="289"/>
                </a:xfrm>
                <a:custGeom>
                  <a:avLst/>
                  <a:gdLst>
                    <a:gd name="T0" fmla="*/ 192 w 337"/>
                    <a:gd name="T1" fmla="*/ 0 h 289"/>
                    <a:gd name="T2" fmla="*/ 336 w 337"/>
                    <a:gd name="T3" fmla="*/ 192 h 289"/>
                    <a:gd name="T4" fmla="*/ 0 w 337"/>
                    <a:gd name="T5" fmla="*/ 288 h 289"/>
                    <a:gd name="T6" fmla="*/ 192 w 337"/>
                    <a:gd name="T7" fmla="*/ 0 h 289"/>
                    <a:gd name="T8" fmla="*/ 0 60000 65536"/>
                    <a:gd name="T9" fmla="*/ 0 60000 65536"/>
                    <a:gd name="T10" fmla="*/ 0 60000 65536"/>
                    <a:gd name="T11" fmla="*/ 0 60000 65536"/>
                    <a:gd name="T12" fmla="*/ 0 w 337"/>
                    <a:gd name="T13" fmla="*/ 0 h 289"/>
                    <a:gd name="T14" fmla="*/ 337 w 337"/>
                    <a:gd name="T15" fmla="*/ 289 h 289"/>
                  </a:gdLst>
                  <a:ahLst/>
                  <a:cxnLst>
                    <a:cxn ang="T8">
                      <a:pos x="T0" y="T1"/>
                    </a:cxn>
                    <a:cxn ang="T9">
                      <a:pos x="T2" y="T3"/>
                    </a:cxn>
                    <a:cxn ang="T10">
                      <a:pos x="T4" y="T5"/>
                    </a:cxn>
                    <a:cxn ang="T11">
                      <a:pos x="T6" y="T7"/>
                    </a:cxn>
                  </a:cxnLst>
                  <a:rect l="T12" t="T13" r="T14" b="T15"/>
                  <a:pathLst>
                    <a:path w="337" h="289">
                      <a:moveTo>
                        <a:pt x="192" y="0"/>
                      </a:moveTo>
                      <a:lnTo>
                        <a:pt x="336" y="192"/>
                      </a:lnTo>
                      <a:lnTo>
                        <a:pt x="0" y="288"/>
                      </a:lnTo>
                      <a:lnTo>
                        <a:pt x="192" y="0"/>
                      </a:lnTo>
                    </a:path>
                  </a:pathLst>
                </a:custGeom>
                <a:gradFill rotWithShape="0">
                  <a:gsLst>
                    <a:gs pos="0">
                      <a:srgbClr val="5F5F5F"/>
                    </a:gs>
                    <a:gs pos="100000">
                      <a:srgbClr val="AFAFAF"/>
                    </a:gs>
                  </a:gsLst>
                  <a:lin ang="18900000" scaled="1"/>
                </a:gradFill>
                <a:ln w="12700" cap="rnd">
                  <a:solidFill>
                    <a:srgbClr val="000000"/>
                  </a:solidFill>
                  <a:round/>
                  <a:headEnd/>
                  <a:tailEnd/>
                </a:ln>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grpSp>
          <p:nvGrpSpPr>
            <p:cNvPr id="76" name="Group 23">
              <a:extLst>
                <a:ext uri="{FF2B5EF4-FFF2-40B4-BE49-F238E27FC236}">
                  <a16:creationId xmlns:a16="http://schemas.microsoft.com/office/drawing/2014/main" id="{CED566F4-57B8-47B5-9240-FB4E3CCFE905}"/>
                </a:ext>
              </a:extLst>
            </p:cNvPr>
            <p:cNvGrpSpPr>
              <a:grpSpLocks/>
            </p:cNvGrpSpPr>
            <p:nvPr/>
          </p:nvGrpSpPr>
          <p:grpSpPr bwMode="auto">
            <a:xfrm>
              <a:off x="4247" y="1554"/>
              <a:ext cx="1669" cy="698"/>
              <a:chOff x="4247" y="1554"/>
              <a:chExt cx="1669" cy="698"/>
            </a:xfrm>
          </p:grpSpPr>
          <p:grpSp>
            <p:nvGrpSpPr>
              <p:cNvPr id="87" name="Group 24">
                <a:extLst>
                  <a:ext uri="{FF2B5EF4-FFF2-40B4-BE49-F238E27FC236}">
                    <a16:creationId xmlns:a16="http://schemas.microsoft.com/office/drawing/2014/main" id="{E9A27011-5F6F-4350-BBAE-70EDD4D31CD5}"/>
                  </a:ext>
                </a:extLst>
              </p:cNvPr>
              <p:cNvGrpSpPr>
                <a:grpSpLocks/>
              </p:cNvGrpSpPr>
              <p:nvPr/>
            </p:nvGrpSpPr>
            <p:grpSpPr bwMode="auto">
              <a:xfrm>
                <a:off x="4641" y="1554"/>
                <a:ext cx="769" cy="385"/>
                <a:chOff x="4641" y="1554"/>
                <a:chExt cx="769" cy="385"/>
              </a:xfrm>
            </p:grpSpPr>
            <p:sp>
              <p:nvSpPr>
                <p:cNvPr id="89" name="Freeform 25">
                  <a:extLst>
                    <a:ext uri="{FF2B5EF4-FFF2-40B4-BE49-F238E27FC236}">
                      <a16:creationId xmlns:a16="http://schemas.microsoft.com/office/drawing/2014/main" id="{F75E29EB-58C0-482C-A4CF-CE6321CC8D14}"/>
                    </a:ext>
                  </a:extLst>
                </p:cNvPr>
                <p:cNvSpPr>
                  <a:spLocks/>
                </p:cNvSpPr>
                <p:nvPr/>
              </p:nvSpPr>
              <p:spPr bwMode="auto">
                <a:xfrm>
                  <a:off x="4641" y="1554"/>
                  <a:ext cx="433" cy="288"/>
                </a:xfrm>
                <a:custGeom>
                  <a:avLst/>
                  <a:gdLst/>
                  <a:ahLst/>
                  <a:cxnLst>
                    <a:cxn ang="0">
                      <a:pos x="432" y="0"/>
                    </a:cxn>
                    <a:cxn ang="0">
                      <a:pos x="48" y="48"/>
                    </a:cxn>
                    <a:cxn ang="0">
                      <a:pos x="0" y="288"/>
                    </a:cxn>
                    <a:cxn ang="0">
                      <a:pos x="432" y="0"/>
                    </a:cxn>
                  </a:cxnLst>
                  <a:rect l="0" t="0" r="r" b="b"/>
                  <a:pathLst>
                    <a:path w="433" h="289">
                      <a:moveTo>
                        <a:pt x="432" y="0"/>
                      </a:moveTo>
                      <a:lnTo>
                        <a:pt x="48" y="48"/>
                      </a:lnTo>
                      <a:lnTo>
                        <a:pt x="0" y="288"/>
                      </a:lnTo>
                      <a:lnTo>
                        <a:pt x="432" y="0"/>
                      </a:lnTo>
                    </a:path>
                  </a:pathLst>
                </a:custGeom>
                <a:gradFill rotWithShape="0">
                  <a:gsLst>
                    <a:gs pos="0">
                      <a:srgbClr val="FFD96D"/>
                    </a:gs>
                    <a:gs pos="100000">
                      <a:srgbClr val="FFD96D">
                        <a:gamma/>
                        <a:shade val="69804"/>
                        <a:invGamma/>
                      </a:srgbClr>
                    </a:gs>
                  </a:gsLst>
                  <a:lin ang="18900000" scaled="1"/>
                </a:gradFill>
                <a:ln w="12700" cap="rnd" cmpd="sng">
                  <a:solidFill>
                    <a:srgbClr val="000000"/>
                  </a:solidFill>
                  <a:prstDash val="solid"/>
                  <a:round/>
                  <a:headEnd/>
                  <a:tailEnd/>
                </a:ln>
                <a:effectLst/>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90" name="Freeform 26">
                  <a:extLst>
                    <a:ext uri="{FF2B5EF4-FFF2-40B4-BE49-F238E27FC236}">
                      <a16:creationId xmlns:a16="http://schemas.microsoft.com/office/drawing/2014/main" id="{6BCF97B4-5F55-46E6-8B26-EAFF60E2A47F}"/>
                    </a:ext>
                  </a:extLst>
                </p:cNvPr>
                <p:cNvSpPr>
                  <a:spLocks/>
                </p:cNvSpPr>
                <p:nvPr/>
              </p:nvSpPr>
              <p:spPr bwMode="auto">
                <a:xfrm>
                  <a:off x="4641" y="1554"/>
                  <a:ext cx="529" cy="288"/>
                </a:xfrm>
                <a:custGeom>
                  <a:avLst/>
                  <a:gdLst/>
                  <a:ahLst/>
                  <a:cxnLst>
                    <a:cxn ang="0">
                      <a:pos x="0" y="288"/>
                    </a:cxn>
                    <a:cxn ang="0">
                      <a:pos x="528" y="144"/>
                    </a:cxn>
                    <a:cxn ang="0">
                      <a:pos x="432" y="0"/>
                    </a:cxn>
                    <a:cxn ang="0">
                      <a:pos x="0" y="288"/>
                    </a:cxn>
                  </a:cxnLst>
                  <a:rect l="0" t="0" r="r" b="b"/>
                  <a:pathLst>
                    <a:path w="529" h="289">
                      <a:moveTo>
                        <a:pt x="0" y="288"/>
                      </a:moveTo>
                      <a:lnTo>
                        <a:pt x="528" y="144"/>
                      </a:lnTo>
                      <a:lnTo>
                        <a:pt x="432" y="0"/>
                      </a:lnTo>
                      <a:lnTo>
                        <a:pt x="0" y="288"/>
                      </a:lnTo>
                    </a:path>
                  </a:pathLst>
                </a:custGeom>
                <a:gradFill rotWithShape="0">
                  <a:gsLst>
                    <a:gs pos="0">
                      <a:srgbClr val="FFD96D"/>
                    </a:gs>
                    <a:gs pos="100000">
                      <a:srgbClr val="FFD96D">
                        <a:gamma/>
                        <a:shade val="69804"/>
                        <a:invGamma/>
                      </a:srgbClr>
                    </a:gs>
                  </a:gsLst>
                  <a:lin ang="18900000" scaled="1"/>
                </a:gradFill>
                <a:ln w="12700" cap="rnd" cmpd="sng">
                  <a:solidFill>
                    <a:srgbClr val="000000"/>
                  </a:solidFill>
                  <a:prstDash val="solid"/>
                  <a:round/>
                  <a:headEnd/>
                  <a:tailEnd/>
                </a:ln>
                <a:effectLst/>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91" name="Freeform 27">
                  <a:extLst>
                    <a:ext uri="{FF2B5EF4-FFF2-40B4-BE49-F238E27FC236}">
                      <a16:creationId xmlns:a16="http://schemas.microsoft.com/office/drawing/2014/main" id="{D5750170-4437-4E62-9832-2C15FD25B598}"/>
                    </a:ext>
                  </a:extLst>
                </p:cNvPr>
                <p:cNvSpPr>
                  <a:spLocks/>
                </p:cNvSpPr>
                <p:nvPr/>
              </p:nvSpPr>
              <p:spPr bwMode="auto">
                <a:xfrm>
                  <a:off x="4641" y="1698"/>
                  <a:ext cx="769" cy="145"/>
                </a:xfrm>
                <a:custGeom>
                  <a:avLst/>
                  <a:gdLst/>
                  <a:ahLst/>
                  <a:cxnLst>
                    <a:cxn ang="0">
                      <a:pos x="0" y="144"/>
                    </a:cxn>
                    <a:cxn ang="0">
                      <a:pos x="528" y="0"/>
                    </a:cxn>
                    <a:cxn ang="0">
                      <a:pos x="768" y="48"/>
                    </a:cxn>
                    <a:cxn ang="0">
                      <a:pos x="0" y="144"/>
                    </a:cxn>
                  </a:cxnLst>
                  <a:rect l="0" t="0" r="r" b="b"/>
                  <a:pathLst>
                    <a:path w="769" h="145">
                      <a:moveTo>
                        <a:pt x="0" y="144"/>
                      </a:moveTo>
                      <a:lnTo>
                        <a:pt x="528" y="0"/>
                      </a:lnTo>
                      <a:lnTo>
                        <a:pt x="768" y="48"/>
                      </a:lnTo>
                      <a:lnTo>
                        <a:pt x="0" y="144"/>
                      </a:lnTo>
                    </a:path>
                  </a:pathLst>
                </a:custGeom>
                <a:gradFill rotWithShape="0">
                  <a:gsLst>
                    <a:gs pos="0">
                      <a:srgbClr val="FFD96D"/>
                    </a:gs>
                    <a:gs pos="100000">
                      <a:srgbClr val="FFD96D">
                        <a:gamma/>
                        <a:shade val="69804"/>
                        <a:invGamma/>
                      </a:srgbClr>
                    </a:gs>
                  </a:gsLst>
                  <a:lin ang="18900000" scaled="1"/>
                </a:gradFill>
                <a:ln w="12700" cap="rnd" cmpd="sng">
                  <a:solidFill>
                    <a:srgbClr val="000000"/>
                  </a:solidFill>
                  <a:prstDash val="solid"/>
                  <a:round/>
                  <a:headEnd/>
                  <a:tailEnd/>
                </a:ln>
                <a:effectLst/>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92" name="Freeform 28">
                  <a:extLst>
                    <a:ext uri="{FF2B5EF4-FFF2-40B4-BE49-F238E27FC236}">
                      <a16:creationId xmlns:a16="http://schemas.microsoft.com/office/drawing/2014/main" id="{A6DD9CD5-0C28-4D7A-9B4B-24558E0D991D}"/>
                    </a:ext>
                  </a:extLst>
                </p:cNvPr>
                <p:cNvSpPr>
                  <a:spLocks/>
                </p:cNvSpPr>
                <p:nvPr/>
              </p:nvSpPr>
              <p:spPr bwMode="auto">
                <a:xfrm>
                  <a:off x="4641" y="1746"/>
                  <a:ext cx="769" cy="193"/>
                </a:xfrm>
                <a:custGeom>
                  <a:avLst/>
                  <a:gdLst/>
                  <a:ahLst/>
                  <a:cxnLst>
                    <a:cxn ang="0">
                      <a:pos x="0" y="96"/>
                    </a:cxn>
                    <a:cxn ang="0">
                      <a:pos x="768" y="0"/>
                    </a:cxn>
                    <a:cxn ang="0">
                      <a:pos x="576" y="192"/>
                    </a:cxn>
                    <a:cxn ang="0">
                      <a:pos x="0" y="96"/>
                    </a:cxn>
                  </a:cxnLst>
                  <a:rect l="0" t="0" r="r" b="b"/>
                  <a:pathLst>
                    <a:path w="769" h="193">
                      <a:moveTo>
                        <a:pt x="0" y="96"/>
                      </a:moveTo>
                      <a:lnTo>
                        <a:pt x="768" y="0"/>
                      </a:lnTo>
                      <a:lnTo>
                        <a:pt x="576" y="192"/>
                      </a:lnTo>
                      <a:lnTo>
                        <a:pt x="0" y="96"/>
                      </a:lnTo>
                    </a:path>
                  </a:pathLst>
                </a:custGeom>
                <a:gradFill rotWithShape="0">
                  <a:gsLst>
                    <a:gs pos="0">
                      <a:srgbClr val="FFD96D"/>
                    </a:gs>
                    <a:gs pos="100000">
                      <a:srgbClr val="FFD96D">
                        <a:gamma/>
                        <a:shade val="69804"/>
                        <a:invGamma/>
                      </a:srgbClr>
                    </a:gs>
                  </a:gsLst>
                  <a:lin ang="18900000" scaled="1"/>
                </a:gradFill>
                <a:ln w="12700" cap="rnd" cmpd="sng">
                  <a:solidFill>
                    <a:srgbClr val="000000"/>
                  </a:solidFill>
                  <a:prstDash val="solid"/>
                  <a:round/>
                  <a:headEnd/>
                  <a:tailEnd/>
                </a:ln>
                <a:effectLst/>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grpSp>
          <p:sp>
            <p:nvSpPr>
              <p:cNvPr id="88" name="Rectangle 29">
                <a:extLst>
                  <a:ext uri="{FF2B5EF4-FFF2-40B4-BE49-F238E27FC236}">
                    <a16:creationId xmlns:a16="http://schemas.microsoft.com/office/drawing/2014/main" id="{D3BE7C68-D134-405C-B300-F322610D5FF4}"/>
                  </a:ext>
                </a:extLst>
              </p:cNvPr>
              <p:cNvSpPr>
                <a:spLocks noChangeArrowheads="1"/>
              </p:cNvSpPr>
              <p:nvPr/>
            </p:nvSpPr>
            <p:spPr bwMode="auto">
              <a:xfrm>
                <a:off x="4247" y="2002"/>
                <a:ext cx="1669"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GL_TRIANGLE_FAN</a:t>
                </a:r>
              </a:p>
            </p:txBody>
          </p:sp>
        </p:grpSp>
        <p:grpSp>
          <p:nvGrpSpPr>
            <p:cNvPr id="77" name="Group 48">
              <a:extLst>
                <a:ext uri="{FF2B5EF4-FFF2-40B4-BE49-F238E27FC236}">
                  <a16:creationId xmlns:a16="http://schemas.microsoft.com/office/drawing/2014/main" id="{F3D15C50-212E-40EB-A77D-5381833FAED9}"/>
                </a:ext>
              </a:extLst>
            </p:cNvPr>
            <p:cNvGrpSpPr>
              <a:grpSpLocks/>
            </p:cNvGrpSpPr>
            <p:nvPr/>
          </p:nvGrpSpPr>
          <p:grpSpPr bwMode="auto">
            <a:xfrm>
              <a:off x="526" y="1520"/>
              <a:ext cx="1377" cy="770"/>
              <a:chOff x="526" y="1520"/>
              <a:chExt cx="1377" cy="770"/>
            </a:xfrm>
          </p:grpSpPr>
          <p:grpSp>
            <p:nvGrpSpPr>
              <p:cNvPr id="83" name="Group 49">
                <a:extLst>
                  <a:ext uri="{FF2B5EF4-FFF2-40B4-BE49-F238E27FC236}">
                    <a16:creationId xmlns:a16="http://schemas.microsoft.com/office/drawing/2014/main" id="{7A0F85D4-F3AF-40B5-AA74-12504B588FC5}"/>
                  </a:ext>
                </a:extLst>
              </p:cNvPr>
              <p:cNvGrpSpPr>
                <a:grpSpLocks/>
              </p:cNvGrpSpPr>
              <p:nvPr/>
            </p:nvGrpSpPr>
            <p:grpSpPr bwMode="auto">
              <a:xfrm>
                <a:off x="796" y="1520"/>
                <a:ext cx="730" cy="437"/>
                <a:chOff x="796" y="1520"/>
                <a:chExt cx="730" cy="437"/>
              </a:xfrm>
            </p:grpSpPr>
            <p:sp>
              <p:nvSpPr>
                <p:cNvPr id="85" name="Freeform 50">
                  <a:extLst>
                    <a:ext uri="{FF2B5EF4-FFF2-40B4-BE49-F238E27FC236}">
                      <a16:creationId xmlns:a16="http://schemas.microsoft.com/office/drawing/2014/main" id="{04677238-2509-46F7-AE00-2F8639FFB8E5}"/>
                    </a:ext>
                  </a:extLst>
                </p:cNvPr>
                <p:cNvSpPr>
                  <a:spLocks/>
                </p:cNvSpPr>
                <p:nvPr/>
              </p:nvSpPr>
              <p:spPr bwMode="auto">
                <a:xfrm>
                  <a:off x="796" y="1520"/>
                  <a:ext cx="244" cy="187"/>
                </a:xfrm>
                <a:custGeom>
                  <a:avLst/>
                  <a:gdLst>
                    <a:gd name="T0" fmla="*/ 158 w 244"/>
                    <a:gd name="T1" fmla="*/ 0 h 187"/>
                    <a:gd name="T2" fmla="*/ 0 w 244"/>
                    <a:gd name="T3" fmla="*/ 171 h 187"/>
                    <a:gd name="T4" fmla="*/ 243 w 244"/>
                    <a:gd name="T5" fmla="*/ 186 h 187"/>
                    <a:gd name="T6" fmla="*/ 158 w 244"/>
                    <a:gd name="T7" fmla="*/ 0 h 187"/>
                    <a:gd name="T8" fmla="*/ 0 60000 65536"/>
                    <a:gd name="T9" fmla="*/ 0 60000 65536"/>
                    <a:gd name="T10" fmla="*/ 0 60000 65536"/>
                    <a:gd name="T11" fmla="*/ 0 60000 65536"/>
                    <a:gd name="T12" fmla="*/ 0 w 244"/>
                    <a:gd name="T13" fmla="*/ 0 h 187"/>
                    <a:gd name="T14" fmla="*/ 244 w 244"/>
                    <a:gd name="T15" fmla="*/ 187 h 187"/>
                  </a:gdLst>
                  <a:ahLst/>
                  <a:cxnLst>
                    <a:cxn ang="T8">
                      <a:pos x="T0" y="T1"/>
                    </a:cxn>
                    <a:cxn ang="T9">
                      <a:pos x="T2" y="T3"/>
                    </a:cxn>
                    <a:cxn ang="T10">
                      <a:pos x="T4" y="T5"/>
                    </a:cxn>
                    <a:cxn ang="T11">
                      <a:pos x="T6" y="T7"/>
                    </a:cxn>
                  </a:cxnLst>
                  <a:rect l="T12" t="T13" r="T14" b="T15"/>
                  <a:pathLst>
                    <a:path w="244" h="187">
                      <a:moveTo>
                        <a:pt x="158" y="0"/>
                      </a:moveTo>
                      <a:lnTo>
                        <a:pt x="0" y="171"/>
                      </a:lnTo>
                      <a:lnTo>
                        <a:pt x="243" y="186"/>
                      </a:lnTo>
                      <a:lnTo>
                        <a:pt x="158" y="0"/>
                      </a:lnTo>
                    </a:path>
                  </a:pathLst>
                </a:custGeom>
                <a:solidFill>
                  <a:srgbClr val="5B0DAA"/>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86" name="Freeform 51">
                  <a:extLst>
                    <a:ext uri="{FF2B5EF4-FFF2-40B4-BE49-F238E27FC236}">
                      <a16:creationId xmlns:a16="http://schemas.microsoft.com/office/drawing/2014/main" id="{40C9F85E-E225-4EE1-9EA6-4D166E449369}"/>
                    </a:ext>
                  </a:extLst>
                </p:cNvPr>
                <p:cNvSpPr>
                  <a:spLocks/>
                </p:cNvSpPr>
                <p:nvPr/>
              </p:nvSpPr>
              <p:spPr bwMode="auto">
                <a:xfrm>
                  <a:off x="1075" y="1670"/>
                  <a:ext cx="451" cy="287"/>
                </a:xfrm>
                <a:custGeom>
                  <a:avLst/>
                  <a:gdLst>
                    <a:gd name="T0" fmla="*/ 129 w 451"/>
                    <a:gd name="T1" fmla="*/ 0 h 287"/>
                    <a:gd name="T2" fmla="*/ 0 w 451"/>
                    <a:gd name="T3" fmla="*/ 179 h 287"/>
                    <a:gd name="T4" fmla="*/ 450 w 451"/>
                    <a:gd name="T5" fmla="*/ 286 h 287"/>
                    <a:gd name="T6" fmla="*/ 129 w 451"/>
                    <a:gd name="T7" fmla="*/ 0 h 287"/>
                    <a:gd name="T8" fmla="*/ 0 60000 65536"/>
                    <a:gd name="T9" fmla="*/ 0 60000 65536"/>
                    <a:gd name="T10" fmla="*/ 0 60000 65536"/>
                    <a:gd name="T11" fmla="*/ 0 60000 65536"/>
                    <a:gd name="T12" fmla="*/ 0 w 451"/>
                    <a:gd name="T13" fmla="*/ 0 h 287"/>
                    <a:gd name="T14" fmla="*/ 451 w 451"/>
                    <a:gd name="T15" fmla="*/ 287 h 287"/>
                  </a:gdLst>
                  <a:ahLst/>
                  <a:cxnLst>
                    <a:cxn ang="T8">
                      <a:pos x="T0" y="T1"/>
                    </a:cxn>
                    <a:cxn ang="T9">
                      <a:pos x="T2" y="T3"/>
                    </a:cxn>
                    <a:cxn ang="T10">
                      <a:pos x="T4" y="T5"/>
                    </a:cxn>
                    <a:cxn ang="T11">
                      <a:pos x="T6" y="T7"/>
                    </a:cxn>
                  </a:cxnLst>
                  <a:rect l="T12" t="T13" r="T14" b="T15"/>
                  <a:pathLst>
                    <a:path w="451" h="287">
                      <a:moveTo>
                        <a:pt x="129" y="0"/>
                      </a:moveTo>
                      <a:lnTo>
                        <a:pt x="0" y="179"/>
                      </a:lnTo>
                      <a:lnTo>
                        <a:pt x="450" y="286"/>
                      </a:lnTo>
                      <a:lnTo>
                        <a:pt x="129" y="0"/>
                      </a:lnTo>
                    </a:path>
                  </a:pathLst>
                </a:custGeom>
                <a:solidFill>
                  <a:srgbClr val="FFD96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sp>
            <p:nvSpPr>
              <p:cNvPr id="84" name="Rectangle 52">
                <a:extLst>
                  <a:ext uri="{FF2B5EF4-FFF2-40B4-BE49-F238E27FC236}">
                    <a16:creationId xmlns:a16="http://schemas.microsoft.com/office/drawing/2014/main" id="{2D3EDA61-8009-4069-A305-5969131CBA01}"/>
                  </a:ext>
                </a:extLst>
              </p:cNvPr>
              <p:cNvSpPr>
                <a:spLocks noChangeArrowheads="1"/>
              </p:cNvSpPr>
              <p:nvPr/>
            </p:nvSpPr>
            <p:spPr bwMode="auto">
              <a:xfrm>
                <a:off x="526" y="2040"/>
                <a:ext cx="1377"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FF0000"/>
                    </a:solidFill>
                    <a:effectLst>
                      <a:outerShdw blurRad="38100" dist="38100" dir="2700000" algn="tl">
                        <a:srgbClr val="C0C0C0"/>
                      </a:outerShdw>
                    </a:effectLst>
                    <a:latin typeface="Arial Black" pitchFamily="34" charset="0"/>
                    <a:ea typeface="宋体" pitchFamily="2" charset="-122"/>
                  </a:rPr>
                  <a:t>GL_TRIANGLES</a:t>
                </a:r>
              </a:p>
            </p:txBody>
          </p:sp>
        </p:grpSp>
        <p:grpSp>
          <p:nvGrpSpPr>
            <p:cNvPr id="78" name="Group 53">
              <a:extLst>
                <a:ext uri="{FF2B5EF4-FFF2-40B4-BE49-F238E27FC236}">
                  <a16:creationId xmlns:a16="http://schemas.microsoft.com/office/drawing/2014/main" id="{207618E0-8415-4FF2-871D-E10DA2CAD987}"/>
                </a:ext>
              </a:extLst>
            </p:cNvPr>
            <p:cNvGrpSpPr>
              <a:grpSpLocks/>
            </p:cNvGrpSpPr>
            <p:nvPr/>
          </p:nvGrpSpPr>
          <p:grpSpPr bwMode="auto">
            <a:xfrm>
              <a:off x="900" y="2678"/>
              <a:ext cx="1000" cy="1085"/>
              <a:chOff x="900" y="2678"/>
              <a:chExt cx="1000" cy="1085"/>
            </a:xfrm>
          </p:grpSpPr>
          <p:grpSp>
            <p:nvGrpSpPr>
              <p:cNvPr id="79" name="Group 54">
                <a:extLst>
                  <a:ext uri="{FF2B5EF4-FFF2-40B4-BE49-F238E27FC236}">
                    <a16:creationId xmlns:a16="http://schemas.microsoft.com/office/drawing/2014/main" id="{419225EA-25C2-4890-8A9F-583CFB67BF2A}"/>
                  </a:ext>
                </a:extLst>
              </p:cNvPr>
              <p:cNvGrpSpPr>
                <a:grpSpLocks/>
              </p:cNvGrpSpPr>
              <p:nvPr/>
            </p:nvGrpSpPr>
            <p:grpSpPr bwMode="auto">
              <a:xfrm>
                <a:off x="1062" y="2678"/>
                <a:ext cx="484" cy="718"/>
                <a:chOff x="1062" y="2678"/>
                <a:chExt cx="484" cy="718"/>
              </a:xfrm>
            </p:grpSpPr>
            <p:sp>
              <p:nvSpPr>
                <p:cNvPr id="81" name="Freeform 55">
                  <a:extLst>
                    <a:ext uri="{FF2B5EF4-FFF2-40B4-BE49-F238E27FC236}">
                      <a16:creationId xmlns:a16="http://schemas.microsoft.com/office/drawing/2014/main" id="{992BAE3E-FEE5-49AB-85F4-2D557A1F7AD3}"/>
                    </a:ext>
                  </a:extLst>
                </p:cNvPr>
                <p:cNvSpPr>
                  <a:spLocks/>
                </p:cNvSpPr>
                <p:nvPr/>
              </p:nvSpPr>
              <p:spPr bwMode="auto">
                <a:xfrm>
                  <a:off x="1062" y="2678"/>
                  <a:ext cx="386" cy="337"/>
                </a:xfrm>
                <a:custGeom>
                  <a:avLst/>
                  <a:gdLst>
                    <a:gd name="T0" fmla="*/ 0 w 386"/>
                    <a:gd name="T1" fmla="*/ 239 h 337"/>
                    <a:gd name="T2" fmla="*/ 127 w 386"/>
                    <a:gd name="T3" fmla="*/ 0 h 337"/>
                    <a:gd name="T4" fmla="*/ 385 w 386"/>
                    <a:gd name="T5" fmla="*/ 102 h 337"/>
                    <a:gd name="T6" fmla="*/ 268 w 386"/>
                    <a:gd name="T7" fmla="*/ 336 h 337"/>
                    <a:gd name="T8" fmla="*/ 0 w 386"/>
                    <a:gd name="T9" fmla="*/ 239 h 337"/>
                    <a:gd name="T10" fmla="*/ 0 60000 65536"/>
                    <a:gd name="T11" fmla="*/ 0 60000 65536"/>
                    <a:gd name="T12" fmla="*/ 0 60000 65536"/>
                    <a:gd name="T13" fmla="*/ 0 60000 65536"/>
                    <a:gd name="T14" fmla="*/ 0 60000 65536"/>
                    <a:gd name="T15" fmla="*/ 0 w 386"/>
                    <a:gd name="T16" fmla="*/ 0 h 337"/>
                    <a:gd name="T17" fmla="*/ 386 w 386"/>
                    <a:gd name="T18" fmla="*/ 337 h 337"/>
                  </a:gdLst>
                  <a:ahLst/>
                  <a:cxnLst>
                    <a:cxn ang="T10">
                      <a:pos x="T0" y="T1"/>
                    </a:cxn>
                    <a:cxn ang="T11">
                      <a:pos x="T2" y="T3"/>
                    </a:cxn>
                    <a:cxn ang="T12">
                      <a:pos x="T4" y="T5"/>
                    </a:cxn>
                    <a:cxn ang="T13">
                      <a:pos x="T6" y="T7"/>
                    </a:cxn>
                    <a:cxn ang="T14">
                      <a:pos x="T8" y="T9"/>
                    </a:cxn>
                  </a:cxnLst>
                  <a:rect l="T15" t="T16" r="T17" b="T18"/>
                  <a:pathLst>
                    <a:path w="386" h="337">
                      <a:moveTo>
                        <a:pt x="0" y="239"/>
                      </a:moveTo>
                      <a:lnTo>
                        <a:pt x="127" y="0"/>
                      </a:lnTo>
                      <a:lnTo>
                        <a:pt x="385" y="102"/>
                      </a:lnTo>
                      <a:lnTo>
                        <a:pt x="268" y="336"/>
                      </a:lnTo>
                      <a:lnTo>
                        <a:pt x="0" y="239"/>
                      </a:lnTo>
                    </a:path>
                  </a:pathLst>
                </a:custGeom>
                <a:solidFill>
                  <a:srgbClr val="FFD96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82" name="Freeform 56">
                  <a:extLst>
                    <a:ext uri="{FF2B5EF4-FFF2-40B4-BE49-F238E27FC236}">
                      <a16:creationId xmlns:a16="http://schemas.microsoft.com/office/drawing/2014/main" id="{F247E3DA-3375-4963-933D-D8C622DC0D75}"/>
                    </a:ext>
                  </a:extLst>
                </p:cNvPr>
                <p:cNvSpPr>
                  <a:spLocks/>
                </p:cNvSpPr>
                <p:nvPr/>
              </p:nvSpPr>
              <p:spPr bwMode="auto">
                <a:xfrm>
                  <a:off x="1062" y="3170"/>
                  <a:ext cx="484" cy="226"/>
                </a:xfrm>
                <a:custGeom>
                  <a:avLst/>
                  <a:gdLst>
                    <a:gd name="T0" fmla="*/ 0 w 484"/>
                    <a:gd name="T1" fmla="*/ 225 h 226"/>
                    <a:gd name="T2" fmla="*/ 83 w 484"/>
                    <a:gd name="T3" fmla="*/ 0 h 226"/>
                    <a:gd name="T4" fmla="*/ 483 w 484"/>
                    <a:gd name="T5" fmla="*/ 0 h 226"/>
                    <a:gd name="T6" fmla="*/ 444 w 484"/>
                    <a:gd name="T7" fmla="*/ 88 h 226"/>
                    <a:gd name="T8" fmla="*/ 0 w 484"/>
                    <a:gd name="T9" fmla="*/ 225 h 226"/>
                    <a:gd name="T10" fmla="*/ 0 60000 65536"/>
                    <a:gd name="T11" fmla="*/ 0 60000 65536"/>
                    <a:gd name="T12" fmla="*/ 0 60000 65536"/>
                    <a:gd name="T13" fmla="*/ 0 60000 65536"/>
                    <a:gd name="T14" fmla="*/ 0 60000 65536"/>
                    <a:gd name="T15" fmla="*/ 0 w 484"/>
                    <a:gd name="T16" fmla="*/ 0 h 226"/>
                    <a:gd name="T17" fmla="*/ 484 w 484"/>
                    <a:gd name="T18" fmla="*/ 226 h 226"/>
                  </a:gdLst>
                  <a:ahLst/>
                  <a:cxnLst>
                    <a:cxn ang="T10">
                      <a:pos x="T0" y="T1"/>
                    </a:cxn>
                    <a:cxn ang="T11">
                      <a:pos x="T2" y="T3"/>
                    </a:cxn>
                    <a:cxn ang="T12">
                      <a:pos x="T4" y="T5"/>
                    </a:cxn>
                    <a:cxn ang="T13">
                      <a:pos x="T6" y="T7"/>
                    </a:cxn>
                    <a:cxn ang="T14">
                      <a:pos x="T8" y="T9"/>
                    </a:cxn>
                  </a:cxnLst>
                  <a:rect l="T15" t="T16" r="T17" b="T18"/>
                  <a:pathLst>
                    <a:path w="484" h="226">
                      <a:moveTo>
                        <a:pt x="0" y="225"/>
                      </a:moveTo>
                      <a:lnTo>
                        <a:pt x="83" y="0"/>
                      </a:lnTo>
                      <a:lnTo>
                        <a:pt x="483" y="0"/>
                      </a:lnTo>
                      <a:lnTo>
                        <a:pt x="444" y="88"/>
                      </a:lnTo>
                      <a:lnTo>
                        <a:pt x="0" y="225"/>
                      </a:lnTo>
                    </a:path>
                  </a:pathLst>
                </a:custGeom>
                <a:solidFill>
                  <a:srgbClr val="5B0DAA"/>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sp>
            <p:nvSpPr>
              <p:cNvPr id="80" name="Rectangle 57">
                <a:extLst>
                  <a:ext uri="{FF2B5EF4-FFF2-40B4-BE49-F238E27FC236}">
                    <a16:creationId xmlns:a16="http://schemas.microsoft.com/office/drawing/2014/main" id="{8BC7A96C-DDA0-45EC-9960-D4A5BF934A0D}"/>
                  </a:ext>
                </a:extLst>
              </p:cNvPr>
              <p:cNvSpPr>
                <a:spLocks noChangeArrowheads="1"/>
              </p:cNvSpPr>
              <p:nvPr/>
            </p:nvSpPr>
            <p:spPr bwMode="auto">
              <a:xfrm>
                <a:off x="900" y="3513"/>
                <a:ext cx="1000" cy="250"/>
              </a:xfrm>
              <a:prstGeom prst="rect">
                <a:avLst/>
              </a:prstGeom>
              <a:noFill/>
              <a:ln w="9525">
                <a:noFill/>
                <a:miter lim="800000"/>
                <a:headEnd/>
                <a:tailEnd/>
              </a:ln>
              <a:effectLst/>
            </p:spPr>
            <p:txBody>
              <a:bodyPr wrap="none" lIns="92075" tIns="46038" rIns="92075" bIns="46038">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Arial Black" pitchFamily="34" charset="0"/>
                    <a:ea typeface="宋体" pitchFamily="2" charset="-122"/>
                  </a:rPr>
                  <a:t>GL_QUADS</a:t>
                </a:r>
              </a:p>
            </p:txBody>
          </p:sp>
        </p:grpSp>
      </p:grpSp>
    </p:spTree>
    <p:extLst>
      <p:ext uri="{BB962C8B-B14F-4D97-AF65-F5344CB8AC3E}">
        <p14:creationId xmlns:p14="http://schemas.microsoft.com/office/powerpoint/2010/main" val="25209080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p:cTn id="7" dur="500" fill="hold"/>
                                        <p:tgtEl>
                                          <p:spTgt spid="72"/>
                                        </p:tgtEl>
                                        <p:attrNameLst>
                                          <p:attrName>ppt_w</p:attrName>
                                        </p:attrNameLst>
                                      </p:cBhvr>
                                      <p:tavLst>
                                        <p:tav tm="0">
                                          <p:val>
                                            <p:strVal val="2/3*#ppt_w"/>
                                          </p:val>
                                        </p:tav>
                                        <p:tav tm="100000">
                                          <p:val>
                                            <p:strVal val="#ppt_w"/>
                                          </p:val>
                                        </p:tav>
                                      </p:tavLst>
                                    </p:anim>
                                    <p:anim calcmode="lin" valueType="num">
                                      <p:cBhvr>
                                        <p:cTn id="8" dur="500" fill="hold"/>
                                        <p:tgtEl>
                                          <p:spTgt spid="7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FF4813EB-3F1E-48DF-858B-1DAA7D5FAC23}"/>
              </a:ext>
            </a:extLst>
          </p:cNvPr>
          <p:cNvSpPr>
            <a:spLocks noGrp="1" noChangeArrowheads="1"/>
          </p:cNvSpPr>
          <p:nvPr>
            <p:ph type="title"/>
          </p:nvPr>
        </p:nvSpPr>
        <p:spPr/>
        <p:txBody>
          <a:bodyPr/>
          <a:lstStyle/>
          <a:p>
            <a:pPr>
              <a:defRPr/>
            </a:pPr>
            <a:r>
              <a:rPr lang="en-US" altLang="zh-CN" dirty="0">
                <a:latin typeface="Arial" pitchFamily="34" charset="0"/>
              </a:rPr>
              <a:t>5. </a:t>
            </a:r>
            <a:r>
              <a:rPr lang="zh-CN" altLang="en-US" dirty="0">
                <a:latin typeface="Arial" pitchFamily="34" charset="0"/>
              </a:rPr>
              <a:t>一个简单的</a:t>
            </a:r>
            <a:r>
              <a:rPr lang="en-US" altLang="zh-CN" dirty="0">
                <a:latin typeface="Arial" pitchFamily="34" charset="0"/>
              </a:rPr>
              <a:t>OpenGL</a:t>
            </a:r>
            <a:r>
              <a:rPr lang="zh-CN" altLang="en-US" dirty="0">
                <a:latin typeface="Arial" pitchFamily="34" charset="0"/>
              </a:rPr>
              <a:t>例子</a:t>
            </a:r>
          </a:p>
        </p:txBody>
      </p:sp>
      <p:pic>
        <p:nvPicPr>
          <p:cNvPr id="18" name="Picture 14">
            <a:extLst>
              <a:ext uri="{FF2B5EF4-FFF2-40B4-BE49-F238E27FC236}">
                <a16:creationId xmlns:a16="http://schemas.microsoft.com/office/drawing/2014/main" id="{235C0763-BEF2-4CE3-B23E-3B6252B77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3499645"/>
            <a:ext cx="2655888"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3">
            <a:extLst>
              <a:ext uri="{FF2B5EF4-FFF2-40B4-BE49-F238E27FC236}">
                <a16:creationId xmlns:a16="http://schemas.microsoft.com/office/drawing/2014/main" id="{761076BA-FD1A-4703-A009-6D1B3F2CB9F0}"/>
              </a:ext>
            </a:extLst>
          </p:cNvPr>
          <p:cNvSpPr txBox="1">
            <a:spLocks noChangeArrowheads="1"/>
          </p:cNvSpPr>
          <p:nvPr/>
        </p:nvSpPr>
        <p:spPr bwMode="auto">
          <a:xfrm>
            <a:off x="2208214" y="1124744"/>
            <a:ext cx="7945437" cy="10525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a:ea typeface="黑体" pitchFamily="49" charset="-122"/>
              </a:rPr>
              <a:t>黑色背景中绘制一个白色矩形</a:t>
            </a:r>
          </a:p>
          <a:p>
            <a:pPr>
              <a:defRPr/>
            </a:pPr>
            <a:endParaRPr lang="zh-CN" altLang="en-US" kern="0">
              <a:ea typeface="黑体" pitchFamily="49" charset="-122"/>
            </a:endParaRPr>
          </a:p>
        </p:txBody>
      </p:sp>
      <p:grpSp>
        <p:nvGrpSpPr>
          <p:cNvPr id="20" name="Group 26">
            <a:extLst>
              <a:ext uri="{FF2B5EF4-FFF2-40B4-BE49-F238E27FC236}">
                <a16:creationId xmlns:a16="http://schemas.microsoft.com/office/drawing/2014/main" id="{145BEE5B-3C89-4B92-A7A0-7A97D3945262}"/>
              </a:ext>
            </a:extLst>
          </p:cNvPr>
          <p:cNvGrpSpPr>
            <a:grpSpLocks/>
          </p:cNvGrpSpPr>
          <p:nvPr/>
        </p:nvGrpSpPr>
        <p:grpSpPr bwMode="auto">
          <a:xfrm>
            <a:off x="5519738" y="1483519"/>
            <a:ext cx="4176712" cy="3600450"/>
            <a:chOff x="2517" y="1071"/>
            <a:chExt cx="2631" cy="2268"/>
          </a:xfrm>
        </p:grpSpPr>
        <p:sp>
          <p:nvSpPr>
            <p:cNvPr id="21" name="AutoShape 17">
              <a:extLst>
                <a:ext uri="{FF2B5EF4-FFF2-40B4-BE49-F238E27FC236}">
                  <a16:creationId xmlns:a16="http://schemas.microsoft.com/office/drawing/2014/main" id="{052F00A9-A815-4D49-9ACC-79D01DCB05AE}"/>
                </a:ext>
              </a:extLst>
            </p:cNvPr>
            <p:cNvSpPr>
              <a:spLocks noChangeArrowheads="1"/>
            </p:cNvSpPr>
            <p:nvPr/>
          </p:nvSpPr>
          <p:spPr bwMode="auto">
            <a:xfrm>
              <a:off x="2517" y="1071"/>
              <a:ext cx="2631" cy="2268"/>
            </a:xfrm>
            <a:prstGeom prst="cloudCallout">
              <a:avLst>
                <a:gd name="adj1" fmla="val -79569"/>
                <a:gd name="adj2" fmla="val 13051"/>
              </a:avLst>
            </a:prstGeom>
            <a:gradFill rotWithShape="1">
              <a:gsLst>
                <a:gs pos="0">
                  <a:srgbClr val="FFFFFF"/>
                </a:gs>
                <a:gs pos="100000">
                  <a:srgbClr val="FFD96D"/>
                </a:gs>
              </a:gsLst>
              <a:path path="rect">
                <a:fillToRect l="50000" t="50000" r="50000" b="50000"/>
              </a:path>
            </a:gradFill>
            <a:ln w="9525">
              <a:solidFill>
                <a:srgbClr val="000000"/>
              </a:solidFill>
              <a:round/>
              <a:headEnd/>
              <a:tailEnd/>
            </a:ln>
            <a:effectLst>
              <a:outerShdw dist="107763" dir="2700000" algn="ctr" rotWithShape="0">
                <a:srgbClr val="808080">
                  <a:alpha val="50000"/>
                </a:srgbClr>
              </a:outerShdw>
            </a:effectLst>
          </p:spPr>
          <p:txBody>
            <a:bodyPr/>
            <a:lstStyle/>
            <a:p>
              <a:pPr algn="ctr" eaLnBrk="1" fontAlgn="auto" hangingPunct="1">
                <a:spcBef>
                  <a:spcPts val="0"/>
                </a:spcBef>
                <a:spcAft>
                  <a:spcPts val="0"/>
                </a:spcAft>
                <a:defRPr/>
              </a:pPr>
              <a:endParaRPr lang="zh-CN" altLang="en-US" sz="1800" kern="0">
                <a:solidFill>
                  <a:srgbClr val="000000"/>
                </a:solidFill>
                <a:latin typeface="Arial" charset="0"/>
              </a:endParaRPr>
            </a:p>
          </p:txBody>
        </p:sp>
        <p:pic>
          <p:nvPicPr>
            <p:cNvPr id="22" name="Picture 18">
              <a:extLst>
                <a:ext uri="{FF2B5EF4-FFF2-40B4-BE49-F238E27FC236}">
                  <a16:creationId xmlns:a16="http://schemas.microsoft.com/office/drawing/2014/main" id="{8F41D257-562A-4CCE-935C-0EE2E4E711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7" y="1434"/>
              <a:ext cx="1497" cy="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500" fill="hold"/>
                                        <p:tgtEl>
                                          <p:spTgt spid="20"/>
                                        </p:tgtEl>
                                        <p:attrNameLst>
                                          <p:attrName>ppt_x</p:attrName>
                                        </p:attrNameLst>
                                      </p:cBhvr>
                                      <p:tavLst>
                                        <p:tav tm="0">
                                          <p:val>
                                            <p:strVal val="#ppt_x-#ppt_w/2"/>
                                          </p:val>
                                        </p:tav>
                                        <p:tav tm="100000">
                                          <p:val>
                                            <p:strVal val="#ppt_x"/>
                                          </p:val>
                                        </p:tav>
                                      </p:tavLst>
                                    </p:anim>
                                    <p:anim calcmode="lin" valueType="num">
                                      <p:cBhvr>
                                        <p:cTn id="14" dur="500" fill="hold"/>
                                        <p:tgtEl>
                                          <p:spTgt spid="20"/>
                                        </p:tgtEl>
                                        <p:attrNameLst>
                                          <p:attrName>ppt_y</p:attrName>
                                        </p:attrNameLst>
                                      </p:cBhvr>
                                      <p:tavLst>
                                        <p:tav tm="0">
                                          <p:val>
                                            <p:strVal val="#ppt_y"/>
                                          </p:val>
                                        </p:tav>
                                        <p:tav tm="100000">
                                          <p:val>
                                            <p:strVal val="#ppt_y"/>
                                          </p:val>
                                        </p:tav>
                                      </p:tavLst>
                                    </p:anim>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FF4813EB-3F1E-48DF-858B-1DAA7D5FAC23}"/>
              </a:ext>
            </a:extLst>
          </p:cNvPr>
          <p:cNvSpPr>
            <a:spLocks noGrp="1" noChangeArrowheads="1"/>
          </p:cNvSpPr>
          <p:nvPr>
            <p:ph type="title"/>
          </p:nvPr>
        </p:nvSpPr>
        <p:spPr/>
        <p:txBody>
          <a:bodyPr/>
          <a:lstStyle/>
          <a:p>
            <a:pPr>
              <a:defRPr/>
            </a:pPr>
            <a:r>
              <a:rPr lang="en-US" altLang="zh-CN" dirty="0">
                <a:latin typeface="Arial" pitchFamily="34" charset="0"/>
              </a:rPr>
              <a:t>5. </a:t>
            </a:r>
            <a:r>
              <a:rPr lang="zh-CN" altLang="en-US" dirty="0">
                <a:latin typeface="Arial" pitchFamily="34" charset="0"/>
              </a:rPr>
              <a:t>一个简单的</a:t>
            </a:r>
            <a:r>
              <a:rPr lang="en-US" altLang="zh-CN" dirty="0">
                <a:latin typeface="Arial" pitchFamily="34" charset="0"/>
              </a:rPr>
              <a:t>OpenGL</a:t>
            </a:r>
            <a:r>
              <a:rPr lang="zh-CN" altLang="en-US" dirty="0">
                <a:latin typeface="Arial" pitchFamily="34" charset="0"/>
              </a:rPr>
              <a:t>例子</a:t>
            </a:r>
          </a:p>
        </p:txBody>
      </p:sp>
      <p:sp>
        <p:nvSpPr>
          <p:cNvPr id="11" name="Rectangle 3">
            <a:extLst>
              <a:ext uri="{FF2B5EF4-FFF2-40B4-BE49-F238E27FC236}">
                <a16:creationId xmlns:a16="http://schemas.microsoft.com/office/drawing/2014/main" id="{68595998-1EA2-46B6-84F0-F6C9705B2A3D}"/>
              </a:ext>
            </a:extLst>
          </p:cNvPr>
          <p:cNvSpPr txBox="1">
            <a:spLocks noChangeArrowheads="1"/>
          </p:cNvSpPr>
          <p:nvPr/>
        </p:nvSpPr>
        <p:spPr bwMode="auto">
          <a:xfrm>
            <a:off x="2208214" y="1341439"/>
            <a:ext cx="7945437" cy="4616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en-US" altLang="zh-CN" kern="0">
                <a:ea typeface="黑体" pitchFamily="49" charset="-122"/>
              </a:rPr>
              <a:t>OpenGL</a:t>
            </a:r>
            <a:r>
              <a:rPr lang="zh-CN" altLang="en-US" kern="0">
                <a:ea typeface="黑体" pitchFamily="49" charset="-122"/>
              </a:rPr>
              <a:t>在窗口系统的客户区中绘制一幅图像的过程</a:t>
            </a:r>
          </a:p>
        </p:txBody>
      </p:sp>
      <p:pic>
        <p:nvPicPr>
          <p:cNvPr id="12" name="Picture 4" descr="Windows bllank">
            <a:extLst>
              <a:ext uri="{FF2B5EF4-FFF2-40B4-BE49-F238E27FC236}">
                <a16:creationId xmlns:a16="http://schemas.microsoft.com/office/drawing/2014/main" id="{F1A3D0D0-1E6A-4893-8B49-159449C68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1" y="2492375"/>
            <a:ext cx="2868613"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a:extLst>
              <a:ext uri="{FF2B5EF4-FFF2-40B4-BE49-F238E27FC236}">
                <a16:creationId xmlns:a16="http://schemas.microsoft.com/office/drawing/2014/main" id="{A3BAD79C-C74C-4F45-8459-0D84075CBE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9938" y="2814638"/>
            <a:ext cx="2709862"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8303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amond(in)">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2.77778E-6 9.80574E-7 L -0.42673 9.80574E-7 " pathEditMode="relative" rAng="0" ptsTypes="AA">
                                      <p:cBhvr>
                                        <p:cTn id="16" dur="2000" fill="hold"/>
                                        <p:tgtEl>
                                          <p:spTgt spid="13"/>
                                        </p:tgtEl>
                                        <p:attrNameLst>
                                          <p:attrName>ppt_x</p:attrName>
                                          <p:attrName>ppt_y</p:attrName>
                                        </p:attrNameLst>
                                      </p:cBhvr>
                                      <p:rCtr x="-2133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1B0CA659-0B1B-484D-9FBD-32CA46C0E978}"/>
              </a:ext>
            </a:extLst>
          </p:cNvPr>
          <p:cNvSpPr>
            <a:spLocks noGrp="1" noChangeArrowheads="1"/>
          </p:cNvSpPr>
          <p:nvPr>
            <p:ph type="title"/>
          </p:nvPr>
        </p:nvSpPr>
        <p:spPr/>
        <p:txBody>
          <a:bodyPr/>
          <a:lstStyle/>
          <a:p>
            <a:pPr>
              <a:defRPr/>
            </a:pPr>
            <a:r>
              <a:rPr lang="en-US" altLang="zh-CN" dirty="0">
                <a:latin typeface="Arial" pitchFamily="34" charset="0"/>
              </a:rPr>
              <a:t>6. GLUT</a:t>
            </a:r>
            <a:r>
              <a:rPr lang="zh-CN" altLang="en-US" dirty="0">
                <a:latin typeface="Arial" pitchFamily="34" charset="0"/>
              </a:rPr>
              <a:t>库与程序框架</a:t>
            </a:r>
          </a:p>
        </p:txBody>
      </p:sp>
      <p:sp>
        <p:nvSpPr>
          <p:cNvPr id="8" name="Rectangle 3">
            <a:extLst>
              <a:ext uri="{FF2B5EF4-FFF2-40B4-BE49-F238E27FC236}">
                <a16:creationId xmlns:a16="http://schemas.microsoft.com/office/drawing/2014/main" id="{8973B98E-268F-445C-93E7-F88EA9C6B9F8}"/>
              </a:ext>
            </a:extLst>
          </p:cNvPr>
          <p:cNvSpPr txBox="1">
            <a:spLocks noChangeArrowheads="1"/>
          </p:cNvSpPr>
          <p:nvPr/>
        </p:nvSpPr>
        <p:spPr bwMode="auto">
          <a:xfrm>
            <a:off x="3503614" y="1557339"/>
            <a:ext cx="5761037" cy="978729"/>
          </a:xfrm>
          <a:prstGeom prst="rect">
            <a:avLst/>
          </a:prstGeom>
          <a:noFill/>
          <a:ln w="9525">
            <a:noFill/>
            <a:miter lim="800000"/>
            <a:headEnd/>
            <a:tailEnd/>
          </a:ln>
        </p:spPr>
        <p:txBody>
          <a:bodyPr>
            <a:spAutoFit/>
          </a:bodyPr>
          <a:lstStyle/>
          <a:p>
            <a:pPr marL="444500" indent="-444500">
              <a:lnSpc>
                <a:spcPct val="90000"/>
              </a:lnSpc>
              <a:spcBef>
                <a:spcPct val="40000"/>
              </a:spcBef>
              <a:spcAft>
                <a:spcPct val="20000"/>
              </a:spcAft>
              <a:buClr>
                <a:schemeClr val="tx2"/>
              </a:buClr>
              <a:buSzPct val="125000"/>
              <a:buFont typeface="Wingdings" pitchFamily="2" charset="2"/>
              <a:buChar char="8"/>
              <a:defRPr/>
            </a:pPr>
            <a:r>
              <a:rPr lang="en-US" altLang="zh-CN" sz="2400" b="1" dirty="0">
                <a:effectLst>
                  <a:outerShdw blurRad="38100" dist="38100" dir="2700000" algn="tl">
                    <a:srgbClr val="C0C0C0"/>
                  </a:outerShdw>
                </a:effectLst>
                <a:ea typeface="黑体" pitchFamily="49" charset="-122"/>
              </a:rPr>
              <a:t>6.1 </a:t>
            </a:r>
            <a:r>
              <a:rPr lang="zh-CN" altLang="en-US" sz="2400" b="1" dirty="0">
                <a:effectLst>
                  <a:outerShdw blurRad="38100" dist="38100" dir="2700000" algn="tl">
                    <a:srgbClr val="C0C0C0"/>
                  </a:outerShdw>
                </a:effectLst>
                <a:ea typeface="黑体" pitchFamily="49" charset="-122"/>
              </a:rPr>
              <a:t>窗口系统与</a:t>
            </a:r>
            <a:r>
              <a:rPr lang="en-US" altLang="zh-CN" sz="2400" b="1" dirty="0">
                <a:effectLst>
                  <a:outerShdw blurRad="38100" dist="38100" dir="2700000" algn="tl">
                    <a:srgbClr val="C0C0C0"/>
                  </a:outerShdw>
                </a:effectLst>
                <a:ea typeface="黑体" pitchFamily="49" charset="-122"/>
              </a:rPr>
              <a:t>GLUT</a:t>
            </a:r>
            <a:endParaRPr lang="zh-CN" altLang="en-US" sz="2400" b="1" dirty="0">
              <a:effectLst>
                <a:outerShdw blurRad="38100" dist="38100" dir="2700000" algn="tl">
                  <a:srgbClr val="C0C0C0"/>
                </a:outerShdw>
              </a:effectLst>
              <a:ea typeface="黑体" pitchFamily="49" charset="-122"/>
            </a:endParaRPr>
          </a:p>
          <a:p>
            <a:pPr marL="444500" indent="-444500">
              <a:lnSpc>
                <a:spcPct val="90000"/>
              </a:lnSpc>
              <a:spcBef>
                <a:spcPct val="40000"/>
              </a:spcBef>
              <a:spcAft>
                <a:spcPct val="20000"/>
              </a:spcAft>
              <a:buClr>
                <a:schemeClr val="tx2"/>
              </a:buClr>
              <a:buSzPct val="125000"/>
              <a:buFont typeface="Wingdings" pitchFamily="2" charset="2"/>
              <a:buChar char="8"/>
              <a:defRPr/>
            </a:pPr>
            <a:r>
              <a:rPr lang="en-US" altLang="zh-CN" sz="2400" b="1" dirty="0">
                <a:effectLst>
                  <a:outerShdw blurRad="38100" dist="38100" dir="2700000" algn="tl">
                    <a:srgbClr val="C0C0C0"/>
                  </a:outerShdw>
                </a:effectLst>
                <a:ea typeface="黑体" pitchFamily="49" charset="-122"/>
              </a:rPr>
              <a:t>6.2 </a:t>
            </a:r>
            <a:r>
              <a:rPr lang="zh-CN" altLang="en-US" sz="2400" b="1" dirty="0">
                <a:effectLst>
                  <a:outerShdw blurRad="38100" dist="38100" dir="2700000" algn="tl">
                    <a:srgbClr val="C0C0C0"/>
                  </a:outerShdw>
                </a:effectLst>
                <a:ea typeface="黑体" pitchFamily="49" charset="-122"/>
              </a:rPr>
              <a:t>框架结构</a:t>
            </a:r>
            <a:endParaRPr lang="en-US" altLang="zh-CN" sz="2400" b="1" dirty="0">
              <a:effectLst>
                <a:outerShdw blurRad="38100" dist="38100" dir="2700000" algn="tl">
                  <a:srgbClr val="C0C0C0"/>
                </a:outerShdw>
              </a:effectLst>
              <a:ea typeface="黑体" pitchFamily="49"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4B5A7ABA-163F-4234-BCE9-B1A5B9092FAE}"/>
              </a:ext>
            </a:extLst>
          </p:cNvPr>
          <p:cNvSpPr>
            <a:spLocks noGrp="1" noChangeArrowheads="1"/>
          </p:cNvSpPr>
          <p:nvPr>
            <p:ph type="title"/>
          </p:nvPr>
        </p:nvSpPr>
        <p:spPr/>
        <p:txBody>
          <a:bodyPr/>
          <a:lstStyle/>
          <a:p>
            <a:pPr>
              <a:defRPr/>
            </a:pPr>
            <a:r>
              <a:rPr lang="en-US" altLang="zh-CN" dirty="0">
                <a:latin typeface="Arial" pitchFamily="34" charset="0"/>
              </a:rPr>
              <a:t>6.1 </a:t>
            </a:r>
            <a:r>
              <a:rPr lang="zh-CN" altLang="en-US" dirty="0">
                <a:latin typeface="Arial" pitchFamily="34" charset="0"/>
              </a:rPr>
              <a:t>窗口系统与</a:t>
            </a:r>
            <a:r>
              <a:rPr lang="en-US" altLang="zh-CN" dirty="0">
                <a:latin typeface="Arial" pitchFamily="34" charset="0"/>
              </a:rPr>
              <a:t>GLUT</a:t>
            </a:r>
            <a:endParaRPr lang="zh-CN" altLang="en-US" dirty="0">
              <a:latin typeface="Arial" pitchFamily="34" charset="0"/>
            </a:endParaRPr>
          </a:p>
        </p:txBody>
      </p:sp>
      <p:sp>
        <p:nvSpPr>
          <p:cNvPr id="429059" name="Rectangle 3">
            <a:extLst>
              <a:ext uri="{FF2B5EF4-FFF2-40B4-BE49-F238E27FC236}">
                <a16:creationId xmlns:a16="http://schemas.microsoft.com/office/drawing/2014/main" id="{69CA7918-A50C-441B-8BE3-D62C9AB2D97A}"/>
              </a:ext>
            </a:extLst>
          </p:cNvPr>
          <p:cNvSpPr>
            <a:spLocks noGrp="1" noChangeArrowheads="1"/>
          </p:cNvSpPr>
          <p:nvPr>
            <p:ph idx="4294967295"/>
          </p:nvPr>
        </p:nvSpPr>
        <p:spPr>
          <a:xfrm>
            <a:off x="407368" y="1357314"/>
            <a:ext cx="11674565" cy="4048019"/>
          </a:xfrm>
        </p:spPr>
        <p:txBody>
          <a:bodyPr/>
          <a:lstStyle/>
          <a:p>
            <a:pPr>
              <a:lnSpc>
                <a:spcPct val="120000"/>
              </a:lnSpc>
              <a:defRPr/>
            </a:pPr>
            <a:r>
              <a:rPr lang="zh-CN" altLang="en-US" dirty="0">
                <a:ea typeface="黑体" pitchFamily="49" charset="-122"/>
              </a:rPr>
              <a:t>窗口系统功能：窗口创建与管理、接受键盘和鼠标输入、</a:t>
            </a:r>
            <a:r>
              <a:rPr lang="en-US" altLang="zh-CN" dirty="0">
                <a:latin typeface="黑体" pitchFamily="49" charset="-122"/>
                <a:ea typeface="黑体" pitchFamily="49" charset="-122"/>
              </a:rPr>
              <a:t>…</a:t>
            </a:r>
            <a:endParaRPr lang="en-US" altLang="zh-CN" dirty="0">
              <a:ea typeface="黑体" pitchFamily="49" charset="-122"/>
            </a:endParaRPr>
          </a:p>
          <a:p>
            <a:pPr>
              <a:lnSpc>
                <a:spcPct val="120000"/>
              </a:lnSpc>
              <a:defRPr/>
            </a:pPr>
            <a:r>
              <a:rPr lang="zh-CN" altLang="en-US" dirty="0">
                <a:ea typeface="黑体" pitchFamily="49" charset="-122"/>
              </a:rPr>
              <a:t>可选择窗口系统：</a:t>
            </a:r>
            <a:r>
              <a:rPr lang="en-US" altLang="zh-CN" dirty="0">
                <a:ea typeface="黑体" pitchFamily="49" charset="-122"/>
              </a:rPr>
              <a:t>Win32(</a:t>
            </a:r>
            <a:r>
              <a:rPr lang="en-US" altLang="zh-CN" dirty="0" err="1">
                <a:ea typeface="黑体" pitchFamily="49" charset="-122"/>
              </a:rPr>
              <a:t>wgl</a:t>
            </a:r>
            <a:r>
              <a:rPr lang="en-US" altLang="zh-CN" dirty="0">
                <a:ea typeface="黑体" pitchFamily="49" charset="-122"/>
              </a:rPr>
              <a:t>)</a:t>
            </a:r>
            <a:r>
              <a:rPr lang="zh-CN" altLang="en-US" dirty="0">
                <a:ea typeface="黑体" pitchFamily="49" charset="-122"/>
              </a:rPr>
              <a:t>、</a:t>
            </a:r>
            <a:r>
              <a:rPr lang="en-US" altLang="zh-CN" dirty="0">
                <a:ea typeface="黑体" pitchFamily="49" charset="-122"/>
              </a:rPr>
              <a:t>X(</a:t>
            </a:r>
            <a:r>
              <a:rPr lang="en-US" altLang="zh-CN" dirty="0" err="1">
                <a:ea typeface="黑体" pitchFamily="49" charset="-122"/>
              </a:rPr>
              <a:t>glx</a:t>
            </a:r>
            <a:r>
              <a:rPr lang="en-US" altLang="zh-CN" dirty="0">
                <a:ea typeface="黑体" pitchFamily="49" charset="-122"/>
              </a:rPr>
              <a:t>)</a:t>
            </a:r>
            <a:r>
              <a:rPr lang="zh-CN" altLang="en-US" dirty="0">
                <a:ea typeface="黑体" pitchFamily="49" charset="-122"/>
              </a:rPr>
              <a:t>、</a:t>
            </a:r>
            <a:r>
              <a:rPr lang="en-US" altLang="zh-CN" dirty="0">
                <a:solidFill>
                  <a:srgbClr val="FF0000"/>
                </a:solidFill>
                <a:ea typeface="黑体" pitchFamily="49" charset="-122"/>
              </a:rPr>
              <a:t>QT</a:t>
            </a:r>
            <a:r>
              <a:rPr lang="en-US" altLang="zh-CN" dirty="0">
                <a:latin typeface="黑体" pitchFamily="49" charset="-122"/>
                <a:ea typeface="黑体" pitchFamily="49" charset="-122"/>
              </a:rPr>
              <a:t>…</a:t>
            </a:r>
            <a:endParaRPr lang="en-US" altLang="zh-CN" dirty="0">
              <a:ea typeface="黑体" pitchFamily="49" charset="-122"/>
            </a:endParaRPr>
          </a:p>
          <a:p>
            <a:pPr>
              <a:lnSpc>
                <a:spcPct val="120000"/>
              </a:lnSpc>
              <a:defRPr/>
            </a:pPr>
            <a:r>
              <a:rPr lang="zh-CN" altLang="en-US" dirty="0">
                <a:ea typeface="黑体" pitchFamily="49" charset="-122"/>
              </a:rPr>
              <a:t>另一种选择：</a:t>
            </a:r>
            <a:r>
              <a:rPr lang="en-US" altLang="zh-CN" dirty="0">
                <a:solidFill>
                  <a:srgbClr val="FF0000"/>
                </a:solidFill>
                <a:ea typeface="黑体" pitchFamily="49" charset="-122"/>
              </a:rPr>
              <a:t>GLUT</a:t>
            </a:r>
            <a:r>
              <a:rPr lang="zh-CN" altLang="en-US" dirty="0">
                <a:solidFill>
                  <a:srgbClr val="FF0000"/>
                </a:solidFill>
                <a:ea typeface="黑体" pitchFamily="49" charset="-122"/>
              </a:rPr>
              <a:t>工具包</a:t>
            </a:r>
          </a:p>
          <a:p>
            <a:pPr lvl="1">
              <a:lnSpc>
                <a:spcPct val="120000"/>
              </a:lnSpc>
              <a:defRPr/>
            </a:pPr>
            <a:r>
              <a:rPr lang="en-US" altLang="zh-CN" dirty="0">
                <a:ea typeface="黑体" pitchFamily="49" charset="-122"/>
              </a:rPr>
              <a:t>GLUT API</a:t>
            </a:r>
            <a:r>
              <a:rPr lang="zh-CN" altLang="en-US" dirty="0">
                <a:ea typeface="黑体" pitchFamily="49" charset="-122"/>
              </a:rPr>
              <a:t>与具体窗口系统无关</a:t>
            </a:r>
          </a:p>
          <a:p>
            <a:pPr lvl="1">
              <a:lnSpc>
                <a:spcPct val="120000"/>
              </a:lnSpc>
              <a:defRPr/>
            </a:pPr>
            <a:r>
              <a:rPr lang="zh-CN" altLang="en-US" dirty="0">
                <a:ea typeface="黑体" pitchFamily="49" charset="-122"/>
              </a:rPr>
              <a:t>隐藏了不同窗口系统</a:t>
            </a:r>
            <a:r>
              <a:rPr lang="en-US" altLang="zh-CN" dirty="0">
                <a:ea typeface="黑体" pitchFamily="49" charset="-122"/>
              </a:rPr>
              <a:t>API</a:t>
            </a:r>
            <a:r>
              <a:rPr lang="zh-CN" altLang="en-US" dirty="0">
                <a:ea typeface="黑体" pitchFamily="49" charset="-122"/>
              </a:rPr>
              <a:t>的复杂性</a:t>
            </a:r>
          </a:p>
          <a:p>
            <a:pPr lvl="1">
              <a:lnSpc>
                <a:spcPct val="120000"/>
              </a:lnSpc>
              <a:defRPr/>
            </a:pPr>
            <a:r>
              <a:rPr lang="zh-CN" altLang="en-US" dirty="0">
                <a:ea typeface="黑体" pitchFamily="49" charset="-122"/>
              </a:rPr>
              <a:t>提供了基于事件（消息）驱动的窗口管理、用户输入处理等功能</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35E71CEA-B947-4D0C-A912-3783F36F85C8}"/>
              </a:ext>
            </a:extLst>
          </p:cNvPr>
          <p:cNvSpPr>
            <a:spLocks noGrp="1" noChangeArrowheads="1"/>
          </p:cNvSpPr>
          <p:nvPr>
            <p:ph type="title"/>
          </p:nvPr>
        </p:nvSpPr>
        <p:spPr/>
        <p:txBody>
          <a:bodyPr/>
          <a:lstStyle/>
          <a:p>
            <a:pPr>
              <a:defRPr/>
            </a:pPr>
            <a:r>
              <a:rPr lang="en-US" altLang="zh-CN" dirty="0">
                <a:latin typeface="Arial" pitchFamily="34" charset="0"/>
              </a:rPr>
              <a:t>6.2 </a:t>
            </a:r>
            <a:r>
              <a:rPr lang="zh-CN" altLang="en-US" dirty="0">
                <a:latin typeface="Arial" pitchFamily="34" charset="0"/>
              </a:rPr>
              <a:t>框架结构</a:t>
            </a:r>
          </a:p>
        </p:txBody>
      </p:sp>
      <p:sp>
        <p:nvSpPr>
          <p:cNvPr id="398339" name="Rectangle 3">
            <a:extLst>
              <a:ext uri="{FF2B5EF4-FFF2-40B4-BE49-F238E27FC236}">
                <a16:creationId xmlns:a16="http://schemas.microsoft.com/office/drawing/2014/main" id="{23862221-00DC-4ADA-B6EF-191F97CA3573}"/>
              </a:ext>
            </a:extLst>
          </p:cNvPr>
          <p:cNvSpPr>
            <a:spLocks noGrp="1" noChangeArrowheads="1"/>
          </p:cNvSpPr>
          <p:nvPr>
            <p:ph idx="4294967295"/>
          </p:nvPr>
        </p:nvSpPr>
        <p:spPr>
          <a:xfrm>
            <a:off x="1991544" y="980729"/>
            <a:ext cx="8286750" cy="5312981"/>
          </a:xfrm>
        </p:spPr>
        <p:txBody>
          <a:bodyPr/>
          <a:lstStyle/>
          <a:p>
            <a:pPr marL="457200" indent="-457200">
              <a:defRPr/>
            </a:pPr>
            <a:r>
              <a:rPr lang="en-US" altLang="zh-CN" dirty="0">
                <a:ea typeface="黑体" pitchFamily="49" charset="-122"/>
              </a:rPr>
              <a:t>GLUT</a:t>
            </a:r>
            <a:r>
              <a:rPr lang="zh-CN" altLang="en-US" dirty="0">
                <a:ea typeface="黑体" pitchFamily="49" charset="-122"/>
              </a:rPr>
              <a:t>应用程序框架结构 </a:t>
            </a:r>
          </a:p>
          <a:p>
            <a:pPr lvl="1">
              <a:buFont typeface="Wingdings" panose="05000000000000000000" pitchFamily="2" charset="2"/>
              <a:buAutoNum type="circleNumDbPlain"/>
              <a:defRPr/>
            </a:pPr>
            <a:r>
              <a:rPr lang="zh-CN" altLang="en-US" dirty="0">
                <a:ea typeface="黑体" pitchFamily="49" charset="-122"/>
              </a:rPr>
              <a:t>初始化</a:t>
            </a:r>
            <a:r>
              <a:rPr lang="en-US" altLang="zh-CN" dirty="0">
                <a:ea typeface="黑体" pitchFamily="49" charset="-122"/>
              </a:rPr>
              <a:t>GLUT</a:t>
            </a:r>
          </a:p>
          <a:p>
            <a:pPr lvl="1">
              <a:buFont typeface="Wingdings" panose="05000000000000000000" pitchFamily="2" charset="2"/>
              <a:buAutoNum type="circleNumDbPlain"/>
              <a:defRPr/>
            </a:pPr>
            <a:r>
              <a:rPr lang="zh-CN" altLang="en-US" dirty="0">
                <a:ea typeface="黑体" pitchFamily="49" charset="-122"/>
              </a:rPr>
              <a:t>配置和创建窗口</a:t>
            </a:r>
          </a:p>
          <a:p>
            <a:pPr lvl="1">
              <a:buFont typeface="Wingdings" panose="05000000000000000000" pitchFamily="2" charset="2"/>
              <a:buAutoNum type="circleNumDbPlain"/>
              <a:defRPr/>
            </a:pPr>
            <a:r>
              <a:rPr lang="zh-CN" altLang="en-US" dirty="0">
                <a:solidFill>
                  <a:srgbClr val="FF0000"/>
                </a:solidFill>
                <a:ea typeface="黑体" pitchFamily="49" charset="-122"/>
              </a:rPr>
              <a:t>注册</a:t>
            </a:r>
            <a:r>
              <a:rPr lang="zh-CN" altLang="en-US" dirty="0">
                <a:ea typeface="黑体" pitchFamily="49" charset="-122"/>
              </a:rPr>
              <a:t>窗口和用户输入事件处理函数</a:t>
            </a:r>
          </a:p>
          <a:p>
            <a:pPr marL="1604963" lvl="2" indent="-381000">
              <a:buSzTx/>
              <a:defRPr/>
            </a:pPr>
            <a:r>
              <a:rPr lang="zh-CN" altLang="en-US" dirty="0">
                <a:ea typeface="黑体" pitchFamily="49" charset="-122"/>
              </a:rPr>
              <a:t>显示（绘制、重绘）</a:t>
            </a:r>
          </a:p>
          <a:p>
            <a:pPr marL="1604963" lvl="2" indent="-381000">
              <a:buSzTx/>
              <a:defRPr/>
            </a:pPr>
            <a:r>
              <a:rPr lang="zh-CN" altLang="en-US" dirty="0">
                <a:ea typeface="黑体" pitchFamily="49" charset="-122"/>
              </a:rPr>
              <a:t>窗口大小变化</a:t>
            </a:r>
          </a:p>
          <a:p>
            <a:pPr marL="1604963" lvl="2" indent="-381000">
              <a:buSzTx/>
              <a:defRPr/>
            </a:pPr>
            <a:r>
              <a:rPr lang="zh-CN" altLang="en-US" dirty="0">
                <a:ea typeface="黑体" pitchFamily="49" charset="-122"/>
              </a:rPr>
              <a:t>输入</a:t>
            </a:r>
            <a:r>
              <a:rPr lang="en-US" altLang="zh-CN" dirty="0">
                <a:ea typeface="黑体" pitchFamily="49" charset="-122"/>
              </a:rPr>
              <a:t>: </a:t>
            </a:r>
            <a:r>
              <a:rPr lang="zh-CN" altLang="en-US" dirty="0">
                <a:ea typeface="黑体" pitchFamily="49" charset="-122"/>
              </a:rPr>
              <a:t>键盘，鼠标，</a:t>
            </a:r>
            <a:r>
              <a:rPr lang="en-US" altLang="zh-CN" dirty="0">
                <a:latin typeface="黑体" pitchFamily="49" charset="-122"/>
                <a:ea typeface="黑体" pitchFamily="49" charset="-122"/>
              </a:rPr>
              <a:t>…</a:t>
            </a:r>
            <a:r>
              <a:rPr lang="en-US" altLang="zh-CN" dirty="0">
                <a:ea typeface="黑体" pitchFamily="49" charset="-122"/>
              </a:rPr>
              <a:t> </a:t>
            </a:r>
          </a:p>
          <a:p>
            <a:pPr lvl="1">
              <a:buFont typeface="Wingdings" panose="05000000000000000000" pitchFamily="2" charset="2"/>
              <a:buAutoNum type="circleNumDbPlain"/>
              <a:defRPr/>
            </a:pPr>
            <a:r>
              <a:rPr lang="zh-CN" altLang="en-US" dirty="0">
                <a:ea typeface="黑体" pitchFamily="49" charset="-122"/>
              </a:rPr>
              <a:t>初始化</a:t>
            </a:r>
            <a:r>
              <a:rPr lang="en-US" altLang="zh-CN" dirty="0">
                <a:ea typeface="黑体" pitchFamily="49" charset="-122"/>
              </a:rPr>
              <a:t>OpenGL</a:t>
            </a:r>
            <a:r>
              <a:rPr lang="zh-CN" altLang="en-US" dirty="0">
                <a:ea typeface="黑体" pitchFamily="49" charset="-122"/>
              </a:rPr>
              <a:t>状态机</a:t>
            </a:r>
          </a:p>
          <a:p>
            <a:pPr lvl="1">
              <a:buFont typeface="Wingdings" panose="05000000000000000000" pitchFamily="2" charset="2"/>
              <a:buAutoNum type="circleNumDbPlain"/>
              <a:defRPr/>
            </a:pPr>
            <a:r>
              <a:rPr lang="zh-CN" altLang="en-US" dirty="0">
                <a:ea typeface="黑体" pitchFamily="49" charset="-122"/>
              </a:rPr>
              <a:t>进入事件处理循环</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a:extLst>
              <a:ext uri="{FF2B5EF4-FFF2-40B4-BE49-F238E27FC236}">
                <a16:creationId xmlns:a16="http://schemas.microsoft.com/office/drawing/2014/main" id="{B9438622-3E10-4567-853E-DA3751729C22}"/>
              </a:ext>
            </a:extLst>
          </p:cNvPr>
          <p:cNvSpPr>
            <a:spLocks noGrp="1" noChangeArrowheads="1"/>
          </p:cNvSpPr>
          <p:nvPr>
            <p:ph idx="4294967295"/>
          </p:nvPr>
        </p:nvSpPr>
        <p:spPr>
          <a:xfrm>
            <a:off x="2200276" y="1016637"/>
            <a:ext cx="8150225" cy="5163774"/>
          </a:xfrm>
        </p:spPr>
        <p:txBody>
          <a:bodyPr/>
          <a:lstStyle/>
          <a:p>
            <a:pPr>
              <a:defRPr/>
            </a:pPr>
            <a:r>
              <a:rPr lang="zh-CN" altLang="en-US" dirty="0">
                <a:ea typeface="黑体" pitchFamily="49" charset="-122"/>
              </a:rPr>
              <a:t>初始化</a:t>
            </a:r>
            <a:r>
              <a:rPr lang="en-US" altLang="zh-CN" dirty="0">
                <a:ea typeface="黑体" pitchFamily="49" charset="-122"/>
              </a:rPr>
              <a:t>GLUT</a:t>
            </a:r>
            <a:r>
              <a:rPr lang="zh-CN" altLang="en-US" dirty="0">
                <a:ea typeface="黑体" pitchFamily="49" charset="-122"/>
              </a:rPr>
              <a:t>库，并且处理命令行启动变量；</a:t>
            </a:r>
          </a:p>
          <a:p>
            <a:pPr>
              <a:defRPr/>
            </a:pPr>
            <a:r>
              <a:rPr lang="en-US" altLang="zh-CN" dirty="0">
                <a:solidFill>
                  <a:srgbClr val="C00000"/>
                </a:solidFill>
                <a:ea typeface="黑体" pitchFamily="49" charset="-122"/>
                <a:cs typeface="Arial" pitchFamily="34" charset="0"/>
              </a:rPr>
              <a:t>void </a:t>
            </a:r>
            <a:r>
              <a:rPr lang="en-US" altLang="zh-CN" dirty="0" err="1">
                <a:solidFill>
                  <a:srgbClr val="C00000"/>
                </a:solidFill>
                <a:ea typeface="黑体" pitchFamily="49" charset="-122"/>
                <a:cs typeface="Arial" pitchFamily="34" charset="0"/>
              </a:rPr>
              <a:t>glutInit</a:t>
            </a:r>
            <a:r>
              <a:rPr lang="en-US" altLang="zh-CN" dirty="0">
                <a:solidFill>
                  <a:srgbClr val="C00000"/>
                </a:solidFill>
                <a:ea typeface="黑体" pitchFamily="49" charset="-122"/>
                <a:cs typeface="Arial" pitchFamily="34" charset="0"/>
              </a:rPr>
              <a:t> (</a:t>
            </a:r>
            <a:r>
              <a:rPr lang="en-US" altLang="zh-CN" dirty="0" err="1">
                <a:solidFill>
                  <a:srgbClr val="C00000"/>
                </a:solidFill>
                <a:ea typeface="黑体" pitchFamily="49" charset="-122"/>
                <a:cs typeface="Arial" pitchFamily="34" charset="0"/>
              </a:rPr>
              <a:t>int</a:t>
            </a:r>
            <a:r>
              <a:rPr lang="en-US" altLang="zh-CN" dirty="0">
                <a:solidFill>
                  <a:srgbClr val="C00000"/>
                </a:solidFill>
                <a:ea typeface="黑体" pitchFamily="49" charset="-122"/>
                <a:cs typeface="Arial" pitchFamily="34" charset="0"/>
              </a:rPr>
              <a:t>* </a:t>
            </a:r>
            <a:r>
              <a:rPr lang="en-US" altLang="zh-CN" i="1" dirty="0" err="1">
                <a:solidFill>
                  <a:srgbClr val="C00000"/>
                </a:solidFill>
                <a:ea typeface="黑体" pitchFamily="49" charset="-122"/>
                <a:cs typeface="Arial" pitchFamily="34" charset="0"/>
              </a:rPr>
              <a:t>argc</a:t>
            </a:r>
            <a:r>
              <a:rPr lang="en-US" altLang="zh-CN" dirty="0">
                <a:solidFill>
                  <a:srgbClr val="C00000"/>
                </a:solidFill>
                <a:ea typeface="黑体" pitchFamily="49" charset="-122"/>
                <a:cs typeface="Arial" pitchFamily="34" charset="0"/>
              </a:rPr>
              <a:t>, char** </a:t>
            </a:r>
            <a:r>
              <a:rPr lang="en-US" altLang="zh-CN" i="1" dirty="0" err="1">
                <a:solidFill>
                  <a:srgbClr val="C00000"/>
                </a:solidFill>
                <a:ea typeface="黑体" pitchFamily="49" charset="-122"/>
                <a:cs typeface="Arial" pitchFamily="34" charset="0"/>
              </a:rPr>
              <a:t>argv</a:t>
            </a:r>
            <a:r>
              <a:rPr lang="en-US" altLang="zh-CN" dirty="0">
                <a:solidFill>
                  <a:srgbClr val="C00000"/>
                </a:solidFill>
                <a:ea typeface="黑体" pitchFamily="49" charset="-122"/>
                <a:cs typeface="Arial" pitchFamily="34" charset="0"/>
              </a:rPr>
              <a:t>);</a:t>
            </a:r>
          </a:p>
          <a:p>
            <a:pPr lvl="1">
              <a:defRPr/>
            </a:pPr>
            <a:r>
              <a:rPr lang="zh-CN" altLang="en-US" dirty="0">
                <a:ea typeface="黑体" pitchFamily="49" charset="-122"/>
              </a:rPr>
              <a:t>忽略</a:t>
            </a:r>
            <a:r>
              <a:rPr lang="en-US" altLang="zh-CN" dirty="0">
                <a:ea typeface="黑体" pitchFamily="49" charset="-122"/>
              </a:rPr>
              <a:t>GLUT</a:t>
            </a:r>
            <a:r>
              <a:rPr lang="zh-CN" altLang="en-US" dirty="0">
                <a:ea typeface="黑体" pitchFamily="49" charset="-122"/>
              </a:rPr>
              <a:t>无法识别的启动参数；</a:t>
            </a:r>
          </a:p>
          <a:p>
            <a:pPr lvl="1">
              <a:defRPr/>
            </a:pPr>
            <a:r>
              <a:rPr lang="zh-CN" altLang="en-US" dirty="0">
                <a:ea typeface="黑体" pitchFamily="49" charset="-122"/>
              </a:rPr>
              <a:t>常见启动参数：</a:t>
            </a:r>
            <a:r>
              <a:rPr lang="en-US" altLang="zh-CN" dirty="0">
                <a:ea typeface="黑体" pitchFamily="49" charset="-122"/>
              </a:rPr>
              <a:t>-geometry </a:t>
            </a:r>
            <a:r>
              <a:rPr lang="en-US" altLang="zh-CN" dirty="0" err="1">
                <a:ea typeface="黑体" pitchFamily="49" charset="-122"/>
              </a:rPr>
              <a:t>WxH+X+Y</a:t>
            </a:r>
            <a:r>
              <a:rPr lang="zh-CN" altLang="en-US" dirty="0">
                <a:ea typeface="黑体" pitchFamily="49" charset="-122"/>
              </a:rPr>
              <a:t>、</a:t>
            </a:r>
            <a:r>
              <a:rPr lang="en-US" altLang="zh-CN" dirty="0">
                <a:ea typeface="黑体" pitchFamily="49" charset="-122"/>
              </a:rPr>
              <a:t>-iconic</a:t>
            </a:r>
            <a:r>
              <a:rPr lang="zh-CN" altLang="en-US" dirty="0">
                <a:ea typeface="黑体" pitchFamily="49" charset="-122"/>
              </a:rPr>
              <a:t>、</a:t>
            </a:r>
            <a:r>
              <a:rPr lang="en-US" altLang="zh-CN" dirty="0">
                <a:latin typeface="黑体" pitchFamily="49" charset="-122"/>
                <a:ea typeface="黑体" pitchFamily="49" charset="-122"/>
              </a:rPr>
              <a:t>…</a:t>
            </a:r>
            <a:endParaRPr lang="en-US" altLang="zh-CN" dirty="0">
              <a:ea typeface="黑体" pitchFamily="49" charset="-122"/>
            </a:endParaRPr>
          </a:p>
          <a:p>
            <a:pPr>
              <a:defRPr/>
            </a:pPr>
            <a:r>
              <a:rPr lang="zh-CN" altLang="en-US" dirty="0">
                <a:ea typeface="黑体" pitchFamily="49" charset="-122"/>
              </a:rPr>
              <a:t>程序启动例子：</a:t>
            </a:r>
          </a:p>
          <a:p>
            <a:pPr lvl="1">
              <a:defRPr/>
            </a:pPr>
            <a:r>
              <a:rPr lang="en-US" altLang="zh-CN" dirty="0">
                <a:ea typeface="黑体" pitchFamily="49" charset="-122"/>
              </a:rPr>
              <a:t>simple.exe -geometry 500x500+100+100</a:t>
            </a:r>
          </a:p>
          <a:p>
            <a:pPr lvl="1">
              <a:defRPr/>
            </a:pPr>
            <a:r>
              <a:rPr lang="en-US" altLang="zh-CN" dirty="0">
                <a:ea typeface="黑体" pitchFamily="49" charset="-122"/>
              </a:rPr>
              <a:t>simple.exe -iconic</a:t>
            </a:r>
            <a:endParaRPr lang="zh-CN" altLang="en-US" dirty="0">
              <a:ea typeface="黑体" pitchFamily="49" charset="-122"/>
            </a:endParaRPr>
          </a:p>
        </p:txBody>
      </p:sp>
      <p:sp>
        <p:nvSpPr>
          <p:cNvPr id="399362" name="Rectangle 2">
            <a:extLst>
              <a:ext uri="{FF2B5EF4-FFF2-40B4-BE49-F238E27FC236}">
                <a16:creationId xmlns:a16="http://schemas.microsoft.com/office/drawing/2014/main" id="{8830DB1F-493E-4FC3-B595-78EE7C054F96}"/>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grpSp>
        <p:nvGrpSpPr>
          <p:cNvPr id="29" name="Group 49">
            <a:extLst>
              <a:ext uri="{FF2B5EF4-FFF2-40B4-BE49-F238E27FC236}">
                <a16:creationId xmlns:a16="http://schemas.microsoft.com/office/drawing/2014/main" id="{744A7DBC-96BA-4F41-8DAA-11FFCE3FB5A7}"/>
              </a:ext>
            </a:extLst>
          </p:cNvPr>
          <p:cNvGrpSpPr>
            <a:grpSpLocks/>
          </p:cNvGrpSpPr>
          <p:nvPr/>
        </p:nvGrpSpPr>
        <p:grpSpPr bwMode="auto">
          <a:xfrm>
            <a:off x="5267326" y="0"/>
            <a:ext cx="5400675" cy="1009650"/>
            <a:chOff x="884" y="1616"/>
            <a:chExt cx="3402" cy="636"/>
          </a:xfrm>
        </p:grpSpPr>
        <p:sp>
          <p:nvSpPr>
            <p:cNvPr id="30" name="AutoShape 50">
              <a:extLst>
                <a:ext uri="{FF2B5EF4-FFF2-40B4-BE49-F238E27FC236}">
                  <a16:creationId xmlns:a16="http://schemas.microsoft.com/office/drawing/2014/main" id="{9A605E4D-4DBC-4981-91DC-9AD698168A71}"/>
                </a:ext>
              </a:extLst>
            </p:cNvPr>
            <p:cNvSpPr>
              <a:spLocks noChangeArrowheads="1"/>
            </p:cNvSpPr>
            <p:nvPr/>
          </p:nvSpPr>
          <p:spPr bwMode="auto">
            <a:xfrm>
              <a:off x="884" y="1616"/>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31" name="Rectangle 51">
              <a:extLst>
                <a:ext uri="{FF2B5EF4-FFF2-40B4-BE49-F238E27FC236}">
                  <a16:creationId xmlns:a16="http://schemas.microsoft.com/office/drawing/2014/main" id="{AFA5DB0A-82CB-49F4-B718-A19E41995775}"/>
                </a:ext>
              </a:extLst>
            </p:cNvPr>
            <p:cNvSpPr>
              <a:spLocks noChangeArrowheads="1"/>
            </p:cNvSpPr>
            <p:nvPr/>
          </p:nvSpPr>
          <p:spPr bwMode="auto">
            <a:xfrm>
              <a:off x="1020" y="1752"/>
              <a:ext cx="499" cy="317"/>
            </a:xfrm>
            <a:prstGeom prst="rect">
              <a:avLst/>
            </a:prstGeom>
            <a:noFill/>
            <a:ln w="952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5B0DAA"/>
                  </a:solidFill>
                  <a:effectLst>
                    <a:outerShdw blurRad="38100" dist="38100" dir="2700000" algn="tl">
                      <a:srgbClr val="C0C0C0"/>
                    </a:outerShdw>
                  </a:effectLst>
                  <a:ea typeface="黑体" pitchFamily="49" charset="-122"/>
                </a:rPr>
                <a:t>GLUT</a:t>
              </a:r>
            </a:p>
          </p:txBody>
        </p:sp>
        <p:sp>
          <p:nvSpPr>
            <p:cNvPr id="32" name="Rectangle 52">
              <a:extLst>
                <a:ext uri="{FF2B5EF4-FFF2-40B4-BE49-F238E27FC236}">
                  <a16:creationId xmlns:a16="http://schemas.microsoft.com/office/drawing/2014/main" id="{5C4AA12D-A0FB-4423-86A2-BD9783F9273A}"/>
                </a:ext>
              </a:extLst>
            </p:cNvPr>
            <p:cNvSpPr>
              <a:spLocks noChangeArrowheads="1"/>
            </p:cNvSpPr>
            <p:nvPr/>
          </p:nvSpPr>
          <p:spPr bwMode="auto">
            <a:xfrm>
              <a:off x="1711" y="1752"/>
              <a:ext cx="499" cy="317"/>
            </a:xfrm>
            <a:prstGeom prst="rect">
              <a:avLst/>
            </a:prstGeom>
            <a:noFill/>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创建窗口</a:t>
              </a:r>
            </a:p>
          </p:txBody>
        </p:sp>
        <p:sp>
          <p:nvSpPr>
            <p:cNvPr id="33" name="Rectangle 53">
              <a:extLst>
                <a:ext uri="{FF2B5EF4-FFF2-40B4-BE49-F238E27FC236}">
                  <a16:creationId xmlns:a16="http://schemas.microsoft.com/office/drawing/2014/main" id="{41C6476C-4A58-4FAD-888C-1314BEC9DD8A}"/>
                </a:ext>
              </a:extLst>
            </p:cNvPr>
            <p:cNvSpPr>
              <a:spLocks noChangeArrowheads="1"/>
            </p:cNvSpPr>
            <p:nvPr/>
          </p:nvSpPr>
          <p:spPr bwMode="auto">
            <a:xfrm>
              <a:off x="2403" y="1752"/>
              <a:ext cx="499" cy="317"/>
            </a:xfrm>
            <a:prstGeom prst="rect">
              <a:avLst/>
            </a:prstGeom>
            <a:noFill/>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处理函数</a:t>
              </a:r>
            </a:p>
          </p:txBody>
        </p:sp>
        <p:sp>
          <p:nvSpPr>
            <p:cNvPr id="34" name="Rectangle 54">
              <a:extLst>
                <a:ext uri="{FF2B5EF4-FFF2-40B4-BE49-F238E27FC236}">
                  <a16:creationId xmlns:a16="http://schemas.microsoft.com/office/drawing/2014/main" id="{1BFA1C29-8749-4145-8BC6-2F31874F62B4}"/>
                </a:ext>
              </a:extLst>
            </p:cNvPr>
            <p:cNvSpPr>
              <a:spLocks noChangeArrowheads="1"/>
            </p:cNvSpPr>
            <p:nvPr/>
          </p:nvSpPr>
          <p:spPr bwMode="auto">
            <a:xfrm>
              <a:off x="3095" y="1752"/>
              <a:ext cx="499" cy="317"/>
            </a:xfrm>
            <a:prstGeom prst="rect">
              <a:avLst/>
            </a:prstGeom>
            <a:noFill/>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OpenGL</a:t>
              </a:r>
            </a:p>
          </p:txBody>
        </p:sp>
        <p:sp>
          <p:nvSpPr>
            <p:cNvPr id="35" name="Rectangle 55">
              <a:extLst>
                <a:ext uri="{FF2B5EF4-FFF2-40B4-BE49-F238E27FC236}">
                  <a16:creationId xmlns:a16="http://schemas.microsoft.com/office/drawing/2014/main" id="{3DBEEEF2-B52E-449D-B11D-BBD9494E4DA1}"/>
                </a:ext>
              </a:extLst>
            </p:cNvPr>
            <p:cNvSpPr>
              <a:spLocks noChangeArrowheads="1"/>
            </p:cNvSpPr>
            <p:nvPr/>
          </p:nvSpPr>
          <p:spPr bwMode="auto">
            <a:xfrm>
              <a:off x="3787" y="1752"/>
              <a:ext cx="499" cy="317"/>
            </a:xfrm>
            <a:prstGeom prst="rect">
              <a:avLst/>
            </a:prstGeom>
            <a:noFill/>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处理循环</a:t>
              </a:r>
            </a:p>
          </p:txBody>
        </p:sp>
        <p:cxnSp>
          <p:nvCxnSpPr>
            <p:cNvPr id="36" name="AutoShape 56">
              <a:extLst>
                <a:ext uri="{FF2B5EF4-FFF2-40B4-BE49-F238E27FC236}">
                  <a16:creationId xmlns:a16="http://schemas.microsoft.com/office/drawing/2014/main" id="{E0E2C465-705E-4F34-8D01-6622608E5843}"/>
                </a:ext>
              </a:extLst>
            </p:cNvPr>
            <p:cNvCxnSpPr>
              <a:cxnSpLocks noChangeShapeType="1"/>
              <a:stCxn id="31" idx="3"/>
              <a:endCxn id="32" idx="1"/>
            </p:cNvCxnSpPr>
            <p:nvPr/>
          </p:nvCxnSpPr>
          <p:spPr bwMode="auto">
            <a:xfrm>
              <a:off x="1519" y="1911"/>
              <a:ext cx="183"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57">
              <a:extLst>
                <a:ext uri="{FF2B5EF4-FFF2-40B4-BE49-F238E27FC236}">
                  <a16:creationId xmlns:a16="http://schemas.microsoft.com/office/drawing/2014/main" id="{908E8745-7458-42C4-B067-956ECAD6AEC9}"/>
                </a:ext>
              </a:extLst>
            </p:cNvPr>
            <p:cNvCxnSpPr>
              <a:cxnSpLocks noChangeShapeType="1"/>
              <a:stCxn id="32" idx="3"/>
              <a:endCxn id="33" idx="1"/>
            </p:cNvCxnSpPr>
            <p:nvPr/>
          </p:nvCxnSpPr>
          <p:spPr bwMode="auto">
            <a:xfrm>
              <a:off x="2219" y="1911"/>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58">
              <a:extLst>
                <a:ext uri="{FF2B5EF4-FFF2-40B4-BE49-F238E27FC236}">
                  <a16:creationId xmlns:a16="http://schemas.microsoft.com/office/drawing/2014/main" id="{F5C8E63F-1BBE-409B-BF3A-F033D09224F2}"/>
                </a:ext>
              </a:extLst>
            </p:cNvPr>
            <p:cNvCxnSpPr>
              <a:cxnSpLocks noChangeShapeType="1"/>
              <a:stCxn id="33" idx="3"/>
              <a:endCxn id="34" idx="1"/>
            </p:cNvCxnSpPr>
            <p:nvPr/>
          </p:nvCxnSpPr>
          <p:spPr bwMode="auto">
            <a:xfrm>
              <a:off x="2911" y="1911"/>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59">
              <a:extLst>
                <a:ext uri="{FF2B5EF4-FFF2-40B4-BE49-F238E27FC236}">
                  <a16:creationId xmlns:a16="http://schemas.microsoft.com/office/drawing/2014/main" id="{7FE03B7D-5D74-437F-9B01-BB6710323954}"/>
                </a:ext>
              </a:extLst>
            </p:cNvPr>
            <p:cNvCxnSpPr>
              <a:cxnSpLocks noChangeShapeType="1"/>
              <a:stCxn id="34" idx="3"/>
              <a:endCxn id="35" idx="1"/>
            </p:cNvCxnSpPr>
            <p:nvPr/>
          </p:nvCxnSpPr>
          <p:spPr bwMode="auto">
            <a:xfrm>
              <a:off x="3603" y="1911"/>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BF0D3066-869F-4FD0-B8D7-F7077680C508}"/>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sp>
        <p:nvSpPr>
          <p:cNvPr id="401411" name="Rectangle 3">
            <a:extLst>
              <a:ext uri="{FF2B5EF4-FFF2-40B4-BE49-F238E27FC236}">
                <a16:creationId xmlns:a16="http://schemas.microsoft.com/office/drawing/2014/main" id="{5DA9FCAA-BAB0-4830-AC1D-03CB68BDB387}"/>
              </a:ext>
            </a:extLst>
          </p:cNvPr>
          <p:cNvSpPr>
            <a:spLocks noGrp="1" noChangeArrowheads="1"/>
          </p:cNvSpPr>
          <p:nvPr>
            <p:ph idx="4294967295"/>
          </p:nvPr>
        </p:nvSpPr>
        <p:spPr>
          <a:xfrm>
            <a:off x="2063552" y="869957"/>
            <a:ext cx="8286750" cy="5480719"/>
          </a:xfrm>
        </p:spPr>
        <p:txBody>
          <a:bodyPr/>
          <a:lstStyle/>
          <a:p>
            <a:pPr>
              <a:defRPr/>
            </a:pPr>
            <a:r>
              <a:rPr lang="zh-CN" altLang="en-US" sz="2400" dirty="0">
                <a:ea typeface="黑体" pitchFamily="49" charset="-122"/>
              </a:rPr>
              <a:t>设定窗口显示模式</a:t>
            </a:r>
          </a:p>
          <a:p>
            <a:pPr lvl="1">
              <a:defRPr/>
            </a:pPr>
            <a:r>
              <a:rPr lang="en-US" altLang="zh-CN" sz="2000" dirty="0">
                <a:solidFill>
                  <a:srgbClr val="C00000"/>
                </a:solidFill>
                <a:ea typeface="黑体" pitchFamily="49" charset="-122"/>
              </a:rPr>
              <a:t>void </a:t>
            </a:r>
            <a:r>
              <a:rPr lang="en-US" altLang="zh-CN" sz="2000" dirty="0" err="1">
                <a:solidFill>
                  <a:srgbClr val="C00000"/>
                </a:solidFill>
                <a:ea typeface="黑体" pitchFamily="49" charset="-122"/>
              </a:rPr>
              <a:t>glutInitDisplayMode</a:t>
            </a:r>
            <a:r>
              <a:rPr lang="en-US" altLang="zh-CN" sz="2000" dirty="0">
                <a:solidFill>
                  <a:srgbClr val="C00000"/>
                </a:solidFill>
                <a:ea typeface="黑体" pitchFamily="49" charset="-122"/>
              </a:rPr>
              <a:t> (unsigned int </a:t>
            </a:r>
            <a:r>
              <a:rPr lang="en-US" altLang="zh-CN" sz="2000" i="1" dirty="0">
                <a:solidFill>
                  <a:srgbClr val="C00000"/>
                </a:solidFill>
                <a:ea typeface="黑体" pitchFamily="49" charset="-122"/>
              </a:rPr>
              <a:t>mode</a:t>
            </a:r>
            <a:r>
              <a:rPr lang="en-US" altLang="zh-CN" sz="2000" dirty="0">
                <a:solidFill>
                  <a:srgbClr val="C00000"/>
                </a:solidFill>
                <a:ea typeface="黑体" pitchFamily="49" charset="-122"/>
              </a:rPr>
              <a:t>);</a:t>
            </a:r>
          </a:p>
          <a:p>
            <a:pPr lvl="1">
              <a:defRPr/>
            </a:pPr>
            <a:r>
              <a:rPr lang="en-US" altLang="zh-CN" sz="2000" dirty="0">
                <a:ea typeface="黑体" pitchFamily="49" charset="-122"/>
              </a:rPr>
              <a:t>mode - GLUT_RGBA, GLUT_RGB, GLUT_INDEX,   GLUT_SINGLE, GLUT_DOUBLE,</a:t>
            </a:r>
          </a:p>
          <a:p>
            <a:pPr lvl="1">
              <a:buFont typeface="Wingdings" panose="05000000000000000000" pitchFamily="2" charset="2"/>
              <a:buNone/>
              <a:defRPr/>
            </a:pPr>
            <a:r>
              <a:rPr lang="en-US" altLang="zh-CN" sz="2000" dirty="0">
                <a:ea typeface="黑体" pitchFamily="49" charset="-122"/>
              </a:rPr>
              <a:t>      GLUT_ACCUM, GLUT_ALPHA, GLUT_DEPTH, </a:t>
            </a:r>
            <a:r>
              <a:rPr lang="en-US" altLang="zh-CN" sz="2000" dirty="0">
                <a:latin typeface="黑体" pitchFamily="49" charset="-122"/>
                <a:ea typeface="黑体" pitchFamily="49" charset="-122"/>
              </a:rPr>
              <a:t>…</a:t>
            </a:r>
            <a:endParaRPr lang="en-US" altLang="zh-CN" sz="2000" dirty="0">
              <a:ea typeface="黑体" pitchFamily="49" charset="-122"/>
            </a:endParaRPr>
          </a:p>
          <a:p>
            <a:pPr>
              <a:defRPr/>
            </a:pPr>
            <a:r>
              <a:rPr lang="zh-CN" altLang="en-US" sz="2400" dirty="0">
                <a:ea typeface="黑体" pitchFamily="49" charset="-122"/>
              </a:rPr>
              <a:t>指定窗口大小和位置</a:t>
            </a:r>
          </a:p>
          <a:p>
            <a:pPr lvl="1">
              <a:defRPr/>
            </a:pPr>
            <a:r>
              <a:rPr lang="en-US" altLang="zh-CN" sz="2000" dirty="0">
                <a:solidFill>
                  <a:srgbClr val="C00000"/>
                </a:solidFill>
                <a:ea typeface="黑体" pitchFamily="49" charset="-122"/>
              </a:rPr>
              <a:t>void </a:t>
            </a:r>
            <a:r>
              <a:rPr lang="en-US" altLang="zh-CN" sz="2000" dirty="0" err="1">
                <a:solidFill>
                  <a:srgbClr val="C00000"/>
                </a:solidFill>
                <a:ea typeface="黑体" pitchFamily="49" charset="-122"/>
              </a:rPr>
              <a:t>glutInitWindowSize</a:t>
            </a:r>
            <a:r>
              <a:rPr lang="en-US" altLang="zh-CN" sz="2000" dirty="0">
                <a:solidFill>
                  <a:srgbClr val="C00000"/>
                </a:solidFill>
                <a:ea typeface="黑体" pitchFamily="49" charset="-122"/>
              </a:rPr>
              <a:t> (int </a:t>
            </a:r>
            <a:r>
              <a:rPr lang="en-US" altLang="zh-CN" sz="2000" i="1" dirty="0">
                <a:solidFill>
                  <a:srgbClr val="C00000"/>
                </a:solidFill>
                <a:ea typeface="黑体" pitchFamily="49" charset="-122"/>
              </a:rPr>
              <a:t>width</a:t>
            </a:r>
            <a:r>
              <a:rPr lang="en-US" altLang="zh-CN" sz="2000" dirty="0">
                <a:solidFill>
                  <a:srgbClr val="C00000"/>
                </a:solidFill>
                <a:ea typeface="黑体" pitchFamily="49" charset="-122"/>
              </a:rPr>
              <a:t>, int </a:t>
            </a:r>
            <a:r>
              <a:rPr lang="en-US" altLang="zh-CN" sz="2000" i="1" dirty="0">
                <a:solidFill>
                  <a:srgbClr val="C00000"/>
                </a:solidFill>
                <a:ea typeface="黑体" pitchFamily="49" charset="-122"/>
              </a:rPr>
              <a:t>height</a:t>
            </a:r>
            <a:r>
              <a:rPr lang="en-US" altLang="zh-CN" sz="2000" dirty="0">
                <a:solidFill>
                  <a:srgbClr val="C00000"/>
                </a:solidFill>
                <a:ea typeface="黑体" pitchFamily="49" charset="-122"/>
              </a:rPr>
              <a:t>);</a:t>
            </a:r>
          </a:p>
          <a:p>
            <a:pPr lvl="1">
              <a:defRPr/>
            </a:pPr>
            <a:r>
              <a:rPr lang="en-US" altLang="zh-CN" sz="2000" dirty="0">
                <a:solidFill>
                  <a:srgbClr val="C00000"/>
                </a:solidFill>
                <a:ea typeface="黑体" pitchFamily="49" charset="-122"/>
              </a:rPr>
              <a:t>void </a:t>
            </a:r>
            <a:r>
              <a:rPr lang="en-US" altLang="zh-CN" sz="2000" dirty="0" err="1">
                <a:solidFill>
                  <a:srgbClr val="C00000"/>
                </a:solidFill>
                <a:ea typeface="黑体" pitchFamily="49" charset="-122"/>
              </a:rPr>
              <a:t>glutInitWindowPosition</a:t>
            </a:r>
            <a:r>
              <a:rPr lang="en-US" altLang="zh-CN" sz="2000" dirty="0">
                <a:solidFill>
                  <a:srgbClr val="C00000"/>
                </a:solidFill>
                <a:ea typeface="黑体" pitchFamily="49" charset="-122"/>
              </a:rPr>
              <a:t> ( int </a:t>
            </a:r>
            <a:r>
              <a:rPr lang="en-US" altLang="zh-CN" sz="2000" i="1" dirty="0">
                <a:solidFill>
                  <a:srgbClr val="C00000"/>
                </a:solidFill>
                <a:ea typeface="黑体" pitchFamily="49" charset="-122"/>
              </a:rPr>
              <a:t>x</a:t>
            </a:r>
            <a:r>
              <a:rPr lang="en-US" altLang="zh-CN" sz="2000" dirty="0">
                <a:solidFill>
                  <a:srgbClr val="C00000"/>
                </a:solidFill>
                <a:ea typeface="黑体" pitchFamily="49" charset="-122"/>
              </a:rPr>
              <a:t>, int </a:t>
            </a:r>
            <a:r>
              <a:rPr lang="en-US" altLang="zh-CN" sz="2000" i="1" dirty="0">
                <a:solidFill>
                  <a:srgbClr val="C00000"/>
                </a:solidFill>
                <a:ea typeface="黑体" pitchFamily="49" charset="-122"/>
              </a:rPr>
              <a:t>y</a:t>
            </a:r>
            <a:r>
              <a:rPr lang="en-US" altLang="zh-CN" sz="2000" dirty="0">
                <a:solidFill>
                  <a:srgbClr val="C00000"/>
                </a:solidFill>
                <a:ea typeface="黑体" pitchFamily="49" charset="-122"/>
              </a:rPr>
              <a:t>);</a:t>
            </a:r>
          </a:p>
          <a:p>
            <a:pPr lvl="1">
              <a:defRPr/>
            </a:pPr>
            <a:r>
              <a:rPr lang="en-US" altLang="zh-CN" sz="2000" dirty="0">
                <a:ea typeface="黑体" pitchFamily="49" charset="-122"/>
              </a:rPr>
              <a:t>x, y - </a:t>
            </a:r>
            <a:r>
              <a:rPr lang="zh-CN" altLang="en-US" sz="2000" dirty="0">
                <a:ea typeface="黑体" pitchFamily="49" charset="-122"/>
              </a:rPr>
              <a:t>相对于屏幕左上角</a:t>
            </a:r>
          </a:p>
          <a:p>
            <a:pPr>
              <a:defRPr/>
            </a:pPr>
            <a:r>
              <a:rPr lang="zh-CN" altLang="en-US" sz="2400" dirty="0">
                <a:ea typeface="黑体" pitchFamily="49" charset="-122"/>
              </a:rPr>
              <a:t>创建窗口</a:t>
            </a:r>
          </a:p>
          <a:p>
            <a:pPr lvl="1">
              <a:defRPr/>
            </a:pPr>
            <a:r>
              <a:rPr lang="en-US" altLang="zh-CN" sz="2000" dirty="0">
                <a:solidFill>
                  <a:srgbClr val="C00000"/>
                </a:solidFill>
                <a:ea typeface="黑体" pitchFamily="49" charset="-122"/>
              </a:rPr>
              <a:t>int </a:t>
            </a:r>
            <a:r>
              <a:rPr lang="en-US" altLang="zh-CN" sz="2000" dirty="0" err="1">
                <a:solidFill>
                  <a:srgbClr val="C00000"/>
                </a:solidFill>
                <a:ea typeface="黑体" pitchFamily="49" charset="-122"/>
              </a:rPr>
              <a:t>glutCreateWindow</a:t>
            </a:r>
            <a:r>
              <a:rPr lang="en-US" altLang="zh-CN" sz="2000" dirty="0">
                <a:solidFill>
                  <a:srgbClr val="C00000"/>
                </a:solidFill>
                <a:ea typeface="黑体" pitchFamily="49" charset="-122"/>
              </a:rPr>
              <a:t> (char* </a:t>
            </a:r>
            <a:r>
              <a:rPr lang="en-US" altLang="zh-CN" sz="2000" i="1" dirty="0">
                <a:solidFill>
                  <a:srgbClr val="C00000"/>
                </a:solidFill>
                <a:ea typeface="黑体" pitchFamily="49" charset="-122"/>
              </a:rPr>
              <a:t>name</a:t>
            </a:r>
            <a:r>
              <a:rPr lang="en-US" altLang="zh-CN" sz="2000" dirty="0">
                <a:solidFill>
                  <a:srgbClr val="C00000"/>
                </a:solidFill>
                <a:ea typeface="黑体" pitchFamily="49" charset="-122"/>
              </a:rPr>
              <a:t>);</a:t>
            </a:r>
          </a:p>
          <a:p>
            <a:pPr lvl="1">
              <a:defRPr/>
            </a:pPr>
            <a:r>
              <a:rPr lang="zh-CN" altLang="en-US" sz="2000" dirty="0">
                <a:ea typeface="黑体" pitchFamily="49" charset="-122"/>
              </a:rPr>
              <a:t>返回值为窗口句柄；</a:t>
            </a:r>
          </a:p>
        </p:txBody>
      </p:sp>
      <p:grpSp>
        <p:nvGrpSpPr>
          <p:cNvPr id="29" name="Group 15">
            <a:extLst>
              <a:ext uri="{FF2B5EF4-FFF2-40B4-BE49-F238E27FC236}">
                <a16:creationId xmlns:a16="http://schemas.microsoft.com/office/drawing/2014/main" id="{6F4E711C-82F1-4872-B9EC-DC6B44DCDD97}"/>
              </a:ext>
            </a:extLst>
          </p:cNvPr>
          <p:cNvGrpSpPr>
            <a:grpSpLocks/>
          </p:cNvGrpSpPr>
          <p:nvPr/>
        </p:nvGrpSpPr>
        <p:grpSpPr bwMode="auto">
          <a:xfrm>
            <a:off x="5483226" y="0"/>
            <a:ext cx="5184775" cy="1009650"/>
            <a:chOff x="1077" y="3062"/>
            <a:chExt cx="3266" cy="636"/>
          </a:xfrm>
        </p:grpSpPr>
        <p:sp>
          <p:nvSpPr>
            <p:cNvPr id="30" name="AutoShape 16">
              <a:extLst>
                <a:ext uri="{FF2B5EF4-FFF2-40B4-BE49-F238E27FC236}">
                  <a16:creationId xmlns:a16="http://schemas.microsoft.com/office/drawing/2014/main" id="{35BFAA2A-C294-4A72-8B64-69B1D3129ECE}"/>
                </a:ext>
              </a:extLst>
            </p:cNvPr>
            <p:cNvSpPr>
              <a:spLocks noChangeArrowheads="1"/>
            </p:cNvSpPr>
            <p:nvPr/>
          </p:nvSpPr>
          <p:spPr bwMode="auto">
            <a:xfrm>
              <a:off x="1639" y="3062"/>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useBgFill="1">
          <p:nvSpPr>
            <p:cNvPr id="31" name="Rectangle 17">
              <a:extLst>
                <a:ext uri="{FF2B5EF4-FFF2-40B4-BE49-F238E27FC236}">
                  <a16:creationId xmlns:a16="http://schemas.microsoft.com/office/drawing/2014/main" id="{BC66ABFA-7732-485D-BEC3-9B404A8F265C}"/>
                </a:ext>
              </a:extLst>
            </p:cNvPr>
            <p:cNvSpPr>
              <a:spLocks noChangeArrowheads="1"/>
            </p:cNvSpPr>
            <p:nvPr/>
          </p:nvSpPr>
          <p:spPr bwMode="auto">
            <a:xfrm>
              <a:off x="1077" y="320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GLUT</a:t>
              </a:r>
            </a:p>
          </p:txBody>
        </p:sp>
        <p:sp>
          <p:nvSpPr>
            <p:cNvPr id="32" name="Rectangle 18">
              <a:extLst>
                <a:ext uri="{FF2B5EF4-FFF2-40B4-BE49-F238E27FC236}">
                  <a16:creationId xmlns:a16="http://schemas.microsoft.com/office/drawing/2014/main" id="{7BFA8D9E-6567-4539-8B55-C151E96C0278}"/>
                </a:ext>
              </a:extLst>
            </p:cNvPr>
            <p:cNvSpPr>
              <a:spLocks noChangeArrowheads="1"/>
            </p:cNvSpPr>
            <p:nvPr/>
          </p:nvSpPr>
          <p:spPr bwMode="auto">
            <a:xfrm>
              <a:off x="1768" y="3203"/>
              <a:ext cx="499" cy="317"/>
            </a:xfrm>
            <a:prstGeom prst="rect">
              <a:avLst/>
            </a:prstGeom>
            <a:noFill/>
            <a:ln w="2857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创建窗口</a:t>
              </a:r>
            </a:p>
          </p:txBody>
        </p:sp>
        <p:sp useBgFill="1">
          <p:nvSpPr>
            <p:cNvPr id="33" name="Rectangle 19">
              <a:extLst>
                <a:ext uri="{FF2B5EF4-FFF2-40B4-BE49-F238E27FC236}">
                  <a16:creationId xmlns:a16="http://schemas.microsoft.com/office/drawing/2014/main" id="{333D78A8-AE08-43E8-B35E-F60AD696FFFB}"/>
                </a:ext>
              </a:extLst>
            </p:cNvPr>
            <p:cNvSpPr>
              <a:spLocks noChangeArrowheads="1"/>
            </p:cNvSpPr>
            <p:nvPr/>
          </p:nvSpPr>
          <p:spPr bwMode="auto">
            <a:xfrm>
              <a:off x="2460" y="320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处理函数</a:t>
              </a:r>
            </a:p>
          </p:txBody>
        </p:sp>
        <p:sp useBgFill="1">
          <p:nvSpPr>
            <p:cNvPr id="34" name="Rectangle 20">
              <a:extLst>
                <a:ext uri="{FF2B5EF4-FFF2-40B4-BE49-F238E27FC236}">
                  <a16:creationId xmlns:a16="http://schemas.microsoft.com/office/drawing/2014/main" id="{3D53123B-DA6C-4C47-A14D-D221AF180C13}"/>
                </a:ext>
              </a:extLst>
            </p:cNvPr>
            <p:cNvSpPr>
              <a:spLocks noChangeArrowheads="1"/>
            </p:cNvSpPr>
            <p:nvPr/>
          </p:nvSpPr>
          <p:spPr bwMode="auto">
            <a:xfrm>
              <a:off x="3152" y="320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OpenGL</a:t>
              </a:r>
            </a:p>
          </p:txBody>
        </p:sp>
        <p:sp useBgFill="1">
          <p:nvSpPr>
            <p:cNvPr id="35" name="Rectangle 21">
              <a:extLst>
                <a:ext uri="{FF2B5EF4-FFF2-40B4-BE49-F238E27FC236}">
                  <a16:creationId xmlns:a16="http://schemas.microsoft.com/office/drawing/2014/main" id="{F8BC35A5-CC6A-421E-A1B9-275DE1961A51}"/>
                </a:ext>
              </a:extLst>
            </p:cNvPr>
            <p:cNvSpPr>
              <a:spLocks noChangeArrowheads="1"/>
            </p:cNvSpPr>
            <p:nvPr/>
          </p:nvSpPr>
          <p:spPr bwMode="auto">
            <a:xfrm>
              <a:off x="3844" y="320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处理循环</a:t>
              </a:r>
            </a:p>
          </p:txBody>
        </p:sp>
        <p:cxnSp>
          <p:nvCxnSpPr>
            <p:cNvPr id="36" name="AutoShape 22">
              <a:extLst>
                <a:ext uri="{FF2B5EF4-FFF2-40B4-BE49-F238E27FC236}">
                  <a16:creationId xmlns:a16="http://schemas.microsoft.com/office/drawing/2014/main" id="{7E26D24C-ABEB-41E9-A6C4-D6DF8412B630}"/>
                </a:ext>
              </a:extLst>
            </p:cNvPr>
            <p:cNvCxnSpPr>
              <a:cxnSpLocks noChangeShapeType="1"/>
              <a:stCxn id="31" idx="3"/>
              <a:endCxn id="32" idx="1"/>
            </p:cNvCxnSpPr>
            <p:nvPr/>
          </p:nvCxnSpPr>
          <p:spPr bwMode="auto">
            <a:xfrm>
              <a:off x="1585" y="3362"/>
              <a:ext cx="183"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23">
              <a:extLst>
                <a:ext uri="{FF2B5EF4-FFF2-40B4-BE49-F238E27FC236}">
                  <a16:creationId xmlns:a16="http://schemas.microsoft.com/office/drawing/2014/main" id="{136BE763-6769-4EAC-B6EE-DC1D8760FC5D}"/>
                </a:ext>
              </a:extLst>
            </p:cNvPr>
            <p:cNvCxnSpPr>
              <a:cxnSpLocks noChangeShapeType="1"/>
              <a:stCxn id="32" idx="3"/>
              <a:endCxn id="33" idx="1"/>
            </p:cNvCxnSpPr>
            <p:nvPr/>
          </p:nvCxnSpPr>
          <p:spPr bwMode="auto">
            <a:xfrm>
              <a:off x="2267" y="3362"/>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24">
              <a:extLst>
                <a:ext uri="{FF2B5EF4-FFF2-40B4-BE49-F238E27FC236}">
                  <a16:creationId xmlns:a16="http://schemas.microsoft.com/office/drawing/2014/main" id="{CB06A914-26CF-45E4-97C7-A37018B46A3B}"/>
                </a:ext>
              </a:extLst>
            </p:cNvPr>
            <p:cNvCxnSpPr>
              <a:cxnSpLocks noChangeShapeType="1"/>
              <a:stCxn id="33" idx="3"/>
              <a:endCxn id="34" idx="1"/>
            </p:cNvCxnSpPr>
            <p:nvPr/>
          </p:nvCxnSpPr>
          <p:spPr bwMode="auto">
            <a:xfrm>
              <a:off x="2968" y="3362"/>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25">
              <a:extLst>
                <a:ext uri="{FF2B5EF4-FFF2-40B4-BE49-F238E27FC236}">
                  <a16:creationId xmlns:a16="http://schemas.microsoft.com/office/drawing/2014/main" id="{F691443D-7E6A-4171-8A15-C9361E6AA118}"/>
                </a:ext>
              </a:extLst>
            </p:cNvPr>
            <p:cNvCxnSpPr>
              <a:cxnSpLocks noChangeShapeType="1"/>
              <a:stCxn id="34" idx="3"/>
              <a:endCxn id="35" idx="1"/>
            </p:cNvCxnSpPr>
            <p:nvPr/>
          </p:nvCxnSpPr>
          <p:spPr bwMode="auto">
            <a:xfrm>
              <a:off x="3660" y="3362"/>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F8E3E781-BCEF-45E7-9C81-60C1E50A83A1}"/>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sp>
        <p:nvSpPr>
          <p:cNvPr id="405507" name="Rectangle 3">
            <a:extLst>
              <a:ext uri="{FF2B5EF4-FFF2-40B4-BE49-F238E27FC236}">
                <a16:creationId xmlns:a16="http://schemas.microsoft.com/office/drawing/2014/main" id="{B7A1AAFC-C42B-479F-8FFE-55F06538C264}"/>
              </a:ext>
            </a:extLst>
          </p:cNvPr>
          <p:cNvSpPr>
            <a:spLocks noGrp="1" noChangeArrowheads="1"/>
          </p:cNvSpPr>
          <p:nvPr>
            <p:ph idx="4294967295"/>
          </p:nvPr>
        </p:nvSpPr>
        <p:spPr>
          <a:xfrm>
            <a:off x="1985169" y="1027984"/>
            <a:ext cx="8286750" cy="4565084"/>
          </a:xfrm>
        </p:spPr>
        <p:txBody>
          <a:bodyPr/>
          <a:lstStyle/>
          <a:p>
            <a:pPr>
              <a:defRPr/>
            </a:pPr>
            <a:r>
              <a:rPr lang="zh-CN" altLang="en-US" dirty="0">
                <a:ea typeface="黑体" pitchFamily="49" charset="-122"/>
              </a:rPr>
              <a:t>事件驱动（</a:t>
            </a:r>
            <a:r>
              <a:rPr lang="en-US" altLang="zh-CN" dirty="0">
                <a:ea typeface="黑体" pitchFamily="49" charset="-122"/>
              </a:rPr>
              <a:t>Event-driven</a:t>
            </a:r>
            <a:r>
              <a:rPr lang="zh-CN" altLang="en-US" dirty="0">
                <a:ea typeface="黑体" pitchFamily="49" charset="-122"/>
              </a:rPr>
              <a:t>）程序：</a:t>
            </a:r>
          </a:p>
          <a:p>
            <a:pPr lvl="1">
              <a:defRPr/>
            </a:pPr>
            <a:r>
              <a:rPr lang="zh-CN" altLang="en-US" dirty="0">
                <a:ea typeface="黑体" pitchFamily="49" charset="-122"/>
              </a:rPr>
              <a:t>利用窗口接收输入并显示输出；</a:t>
            </a:r>
          </a:p>
          <a:p>
            <a:pPr lvl="1">
              <a:defRPr/>
            </a:pPr>
            <a:r>
              <a:rPr lang="zh-CN" altLang="en-US" dirty="0">
                <a:ea typeface="黑体" pitchFamily="49" charset="-122"/>
              </a:rPr>
              <a:t>程序等待直到有事件发生并调用预先定义的事件处理程序；</a:t>
            </a:r>
          </a:p>
          <a:p>
            <a:pPr>
              <a:defRPr/>
            </a:pPr>
            <a:r>
              <a:rPr lang="zh-CN" altLang="en-US" dirty="0">
                <a:ea typeface="黑体" pitchFamily="49" charset="-122"/>
              </a:rPr>
              <a:t>事件（</a:t>
            </a:r>
            <a:r>
              <a:rPr lang="en-US" altLang="zh-CN" dirty="0">
                <a:ea typeface="黑体" pitchFamily="49" charset="-122"/>
              </a:rPr>
              <a:t>Event</a:t>
            </a:r>
            <a:r>
              <a:rPr lang="zh-CN" altLang="en-US" dirty="0">
                <a:ea typeface="黑体" pitchFamily="49" charset="-122"/>
              </a:rPr>
              <a:t>）：</a:t>
            </a:r>
          </a:p>
          <a:p>
            <a:pPr lvl="1">
              <a:defRPr/>
            </a:pPr>
            <a:r>
              <a:rPr lang="zh-CN" altLang="en-US" dirty="0">
                <a:ea typeface="黑体" pitchFamily="49" charset="-122"/>
              </a:rPr>
              <a:t>外部事件：键盘按键、鼠标按键、鼠标移动、游戏杆、</a:t>
            </a:r>
            <a:r>
              <a:rPr lang="en-US" altLang="zh-CN" dirty="0">
                <a:latin typeface="黑体" pitchFamily="49" charset="-122"/>
                <a:ea typeface="黑体" pitchFamily="49" charset="-122"/>
              </a:rPr>
              <a:t>…</a:t>
            </a:r>
            <a:endParaRPr lang="en-US" altLang="zh-CN" dirty="0">
              <a:ea typeface="黑体" pitchFamily="49" charset="-122"/>
            </a:endParaRPr>
          </a:p>
          <a:p>
            <a:pPr lvl="1">
              <a:defRPr/>
            </a:pPr>
            <a:r>
              <a:rPr lang="zh-CN" altLang="en-US" dirty="0">
                <a:ea typeface="黑体" pitchFamily="49" charset="-122"/>
              </a:rPr>
              <a:t>窗口事件：窗口显示、窗口大小调整、</a:t>
            </a:r>
            <a:r>
              <a:rPr lang="en-US" altLang="zh-CN" dirty="0">
                <a:latin typeface="黑体" pitchFamily="49" charset="-122"/>
                <a:ea typeface="黑体" pitchFamily="49" charset="-122"/>
              </a:rPr>
              <a:t>…</a:t>
            </a:r>
            <a:endParaRPr lang="en-US" altLang="zh-CN" dirty="0">
              <a:ea typeface="黑体" pitchFamily="49" charset="-122"/>
            </a:endParaRPr>
          </a:p>
        </p:txBody>
      </p:sp>
      <p:grpSp>
        <p:nvGrpSpPr>
          <p:cNvPr id="29" name="Group 4">
            <a:extLst>
              <a:ext uri="{FF2B5EF4-FFF2-40B4-BE49-F238E27FC236}">
                <a16:creationId xmlns:a16="http://schemas.microsoft.com/office/drawing/2014/main" id="{8CB67654-D936-4D89-ADE1-CE128E6100AA}"/>
              </a:ext>
            </a:extLst>
          </p:cNvPr>
          <p:cNvGrpSpPr>
            <a:grpSpLocks/>
          </p:cNvGrpSpPr>
          <p:nvPr/>
        </p:nvGrpSpPr>
        <p:grpSpPr bwMode="auto">
          <a:xfrm>
            <a:off x="5483226" y="0"/>
            <a:ext cx="5184775" cy="1009650"/>
            <a:chOff x="975" y="2387"/>
            <a:chExt cx="3266" cy="636"/>
          </a:xfrm>
        </p:grpSpPr>
        <p:sp>
          <p:nvSpPr>
            <p:cNvPr id="30" name="AutoShape 5">
              <a:extLst>
                <a:ext uri="{FF2B5EF4-FFF2-40B4-BE49-F238E27FC236}">
                  <a16:creationId xmlns:a16="http://schemas.microsoft.com/office/drawing/2014/main" id="{B5DCE56A-CF19-496E-B7A0-587CF39373DA}"/>
                </a:ext>
              </a:extLst>
            </p:cNvPr>
            <p:cNvSpPr>
              <a:spLocks noChangeArrowheads="1"/>
            </p:cNvSpPr>
            <p:nvPr/>
          </p:nvSpPr>
          <p:spPr bwMode="auto">
            <a:xfrm>
              <a:off x="2222" y="2387"/>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useBgFill="1">
          <p:nvSpPr>
            <p:cNvPr id="31" name="Rectangle 6">
              <a:extLst>
                <a:ext uri="{FF2B5EF4-FFF2-40B4-BE49-F238E27FC236}">
                  <a16:creationId xmlns:a16="http://schemas.microsoft.com/office/drawing/2014/main" id="{8106E294-AFE2-49C2-A68F-464504A5C5F6}"/>
                </a:ext>
              </a:extLst>
            </p:cNvPr>
            <p:cNvSpPr>
              <a:spLocks noChangeArrowheads="1"/>
            </p:cNvSpPr>
            <p:nvPr/>
          </p:nvSpPr>
          <p:spPr bwMode="auto">
            <a:xfrm>
              <a:off x="975"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GLUT</a:t>
              </a:r>
            </a:p>
          </p:txBody>
        </p:sp>
        <p:sp useBgFill="1">
          <p:nvSpPr>
            <p:cNvPr id="32" name="Rectangle 7">
              <a:extLst>
                <a:ext uri="{FF2B5EF4-FFF2-40B4-BE49-F238E27FC236}">
                  <a16:creationId xmlns:a16="http://schemas.microsoft.com/office/drawing/2014/main" id="{EDBE31F7-6B01-4036-8939-560FE5C6DC08}"/>
                </a:ext>
              </a:extLst>
            </p:cNvPr>
            <p:cNvSpPr>
              <a:spLocks noChangeArrowheads="1"/>
            </p:cNvSpPr>
            <p:nvPr/>
          </p:nvSpPr>
          <p:spPr bwMode="auto">
            <a:xfrm>
              <a:off x="1666"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创建窗口</a:t>
              </a:r>
            </a:p>
          </p:txBody>
        </p:sp>
        <p:sp>
          <p:nvSpPr>
            <p:cNvPr id="33" name="Rectangle 8">
              <a:extLst>
                <a:ext uri="{FF2B5EF4-FFF2-40B4-BE49-F238E27FC236}">
                  <a16:creationId xmlns:a16="http://schemas.microsoft.com/office/drawing/2014/main" id="{6D955551-B22F-4F4C-BEB9-265C30AC2D71}"/>
                </a:ext>
              </a:extLst>
            </p:cNvPr>
            <p:cNvSpPr>
              <a:spLocks noChangeArrowheads="1"/>
            </p:cNvSpPr>
            <p:nvPr/>
          </p:nvSpPr>
          <p:spPr bwMode="auto">
            <a:xfrm>
              <a:off x="2358" y="2523"/>
              <a:ext cx="499" cy="317"/>
            </a:xfrm>
            <a:prstGeom prst="rect">
              <a:avLst/>
            </a:prstGeom>
            <a:noFill/>
            <a:ln w="2857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处理函数</a:t>
              </a:r>
            </a:p>
          </p:txBody>
        </p:sp>
        <p:sp useBgFill="1">
          <p:nvSpPr>
            <p:cNvPr id="34" name="Rectangle 9">
              <a:extLst>
                <a:ext uri="{FF2B5EF4-FFF2-40B4-BE49-F238E27FC236}">
                  <a16:creationId xmlns:a16="http://schemas.microsoft.com/office/drawing/2014/main" id="{FCE837D9-F75F-4BC0-804B-4BA4C1096110}"/>
                </a:ext>
              </a:extLst>
            </p:cNvPr>
            <p:cNvSpPr>
              <a:spLocks noChangeArrowheads="1"/>
            </p:cNvSpPr>
            <p:nvPr/>
          </p:nvSpPr>
          <p:spPr bwMode="auto">
            <a:xfrm>
              <a:off x="3050"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OpenGL</a:t>
              </a:r>
            </a:p>
          </p:txBody>
        </p:sp>
        <p:sp useBgFill="1">
          <p:nvSpPr>
            <p:cNvPr id="35" name="Rectangle 10">
              <a:extLst>
                <a:ext uri="{FF2B5EF4-FFF2-40B4-BE49-F238E27FC236}">
                  <a16:creationId xmlns:a16="http://schemas.microsoft.com/office/drawing/2014/main" id="{707E9FC3-BC6B-4FCC-88F2-25E97084E507}"/>
                </a:ext>
              </a:extLst>
            </p:cNvPr>
            <p:cNvSpPr>
              <a:spLocks noChangeArrowheads="1"/>
            </p:cNvSpPr>
            <p:nvPr/>
          </p:nvSpPr>
          <p:spPr bwMode="auto">
            <a:xfrm>
              <a:off x="3742"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处理循环</a:t>
              </a:r>
            </a:p>
          </p:txBody>
        </p:sp>
        <p:cxnSp>
          <p:nvCxnSpPr>
            <p:cNvPr id="36" name="AutoShape 11">
              <a:extLst>
                <a:ext uri="{FF2B5EF4-FFF2-40B4-BE49-F238E27FC236}">
                  <a16:creationId xmlns:a16="http://schemas.microsoft.com/office/drawing/2014/main" id="{5B344212-8971-4002-9B94-502B6700DC46}"/>
                </a:ext>
              </a:extLst>
            </p:cNvPr>
            <p:cNvCxnSpPr>
              <a:cxnSpLocks noChangeShapeType="1"/>
              <a:stCxn id="31" idx="3"/>
              <a:endCxn id="32" idx="1"/>
            </p:cNvCxnSpPr>
            <p:nvPr/>
          </p:nvCxnSpPr>
          <p:spPr bwMode="auto">
            <a:xfrm>
              <a:off x="1483" y="2682"/>
              <a:ext cx="17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12">
              <a:extLst>
                <a:ext uri="{FF2B5EF4-FFF2-40B4-BE49-F238E27FC236}">
                  <a16:creationId xmlns:a16="http://schemas.microsoft.com/office/drawing/2014/main" id="{3C24BB7C-8ABC-44D5-AFCC-8B87AFE8D4D3}"/>
                </a:ext>
              </a:extLst>
            </p:cNvPr>
            <p:cNvCxnSpPr>
              <a:cxnSpLocks noChangeShapeType="1"/>
              <a:stCxn id="32" idx="3"/>
              <a:endCxn id="33" idx="1"/>
            </p:cNvCxnSpPr>
            <p:nvPr/>
          </p:nvCxnSpPr>
          <p:spPr bwMode="auto">
            <a:xfrm>
              <a:off x="2174" y="2682"/>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13">
              <a:extLst>
                <a:ext uri="{FF2B5EF4-FFF2-40B4-BE49-F238E27FC236}">
                  <a16:creationId xmlns:a16="http://schemas.microsoft.com/office/drawing/2014/main" id="{7BEEDDA8-1CD8-4A14-9671-29A99B635F3C}"/>
                </a:ext>
              </a:extLst>
            </p:cNvPr>
            <p:cNvCxnSpPr>
              <a:cxnSpLocks noChangeShapeType="1"/>
              <a:stCxn id="33" idx="3"/>
              <a:endCxn id="34" idx="1"/>
            </p:cNvCxnSpPr>
            <p:nvPr/>
          </p:nvCxnSpPr>
          <p:spPr bwMode="auto">
            <a:xfrm>
              <a:off x="2857" y="2682"/>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14">
              <a:extLst>
                <a:ext uri="{FF2B5EF4-FFF2-40B4-BE49-F238E27FC236}">
                  <a16:creationId xmlns:a16="http://schemas.microsoft.com/office/drawing/2014/main" id="{BF40DD61-5BDD-49B8-87C8-D929B1B228AE}"/>
                </a:ext>
              </a:extLst>
            </p:cNvPr>
            <p:cNvCxnSpPr>
              <a:cxnSpLocks noChangeShapeType="1"/>
              <a:stCxn id="34" idx="3"/>
              <a:endCxn id="35" idx="1"/>
            </p:cNvCxnSpPr>
            <p:nvPr/>
          </p:nvCxnSpPr>
          <p:spPr bwMode="auto">
            <a:xfrm>
              <a:off x="3558" y="2682"/>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3" name="Rectangle 3">
            <a:extLst>
              <a:ext uri="{FF2B5EF4-FFF2-40B4-BE49-F238E27FC236}">
                <a16:creationId xmlns:a16="http://schemas.microsoft.com/office/drawing/2014/main" id="{05119CC6-F089-4468-872E-8405C2D266CA}"/>
              </a:ext>
            </a:extLst>
          </p:cNvPr>
          <p:cNvSpPr>
            <a:spLocks noGrp="1" noChangeArrowheads="1"/>
          </p:cNvSpPr>
          <p:nvPr>
            <p:ph idx="4294967295"/>
          </p:nvPr>
        </p:nvSpPr>
        <p:spPr>
          <a:xfrm>
            <a:off x="2121695" y="919431"/>
            <a:ext cx="8150225" cy="5844024"/>
          </a:xfrm>
        </p:spPr>
        <p:txBody>
          <a:bodyPr/>
          <a:lstStyle/>
          <a:p>
            <a:pPr>
              <a:defRPr/>
            </a:pPr>
            <a:r>
              <a:rPr lang="zh-CN" altLang="en-US" dirty="0">
                <a:ea typeface="黑体" pitchFamily="49" charset="-122"/>
              </a:rPr>
              <a:t>事件处理程序（回调函数）被</a:t>
            </a:r>
            <a:r>
              <a:rPr lang="en-US" altLang="zh-CN" dirty="0">
                <a:ea typeface="黑体" pitchFamily="49" charset="-122"/>
              </a:rPr>
              <a:t>GLUT</a:t>
            </a:r>
            <a:r>
              <a:rPr lang="zh-CN" altLang="en-US" dirty="0">
                <a:ea typeface="黑体" pitchFamily="49" charset="-122"/>
              </a:rPr>
              <a:t>调用，发生下列事件</a:t>
            </a:r>
          </a:p>
          <a:p>
            <a:pPr lvl="1">
              <a:defRPr/>
            </a:pPr>
            <a:r>
              <a:rPr lang="zh-CN" altLang="en-US" sz="2400" dirty="0">
                <a:ea typeface="黑体" pitchFamily="49" charset="-122"/>
              </a:rPr>
              <a:t>窗口显示（重绘）、窗口位置和大小改变</a:t>
            </a:r>
          </a:p>
          <a:p>
            <a:pPr lvl="1">
              <a:defRPr/>
            </a:pPr>
            <a:r>
              <a:rPr lang="zh-CN" altLang="en-US" sz="2400" dirty="0">
                <a:ea typeface="黑体" pitchFamily="49" charset="-122"/>
              </a:rPr>
              <a:t>用户输入（键盘、鼠标）</a:t>
            </a:r>
          </a:p>
          <a:p>
            <a:pPr lvl="1">
              <a:defRPr/>
            </a:pPr>
            <a:r>
              <a:rPr lang="zh-CN" altLang="en-US" sz="2400" dirty="0">
                <a:ea typeface="黑体" pitchFamily="49" charset="-122"/>
              </a:rPr>
              <a:t>动画（需要绘制多帧）</a:t>
            </a:r>
          </a:p>
          <a:p>
            <a:pPr>
              <a:defRPr/>
            </a:pPr>
            <a:r>
              <a:rPr lang="zh-CN" altLang="en-US" dirty="0">
                <a:ea typeface="黑体" pitchFamily="49" charset="-122"/>
              </a:rPr>
              <a:t>向</a:t>
            </a:r>
            <a:r>
              <a:rPr lang="en-US" altLang="zh-CN" dirty="0">
                <a:ea typeface="黑体" pitchFamily="49" charset="-122"/>
              </a:rPr>
              <a:t>GLUT</a:t>
            </a:r>
            <a:r>
              <a:rPr lang="zh-CN" altLang="en-US" dirty="0">
                <a:ea typeface="黑体" pitchFamily="49" charset="-122"/>
              </a:rPr>
              <a:t>注册回调函数：</a:t>
            </a:r>
          </a:p>
          <a:p>
            <a:pPr lvl="1">
              <a:defRPr/>
            </a:pPr>
            <a:r>
              <a:rPr lang="en-US" altLang="zh-CN" sz="2400" dirty="0" err="1">
                <a:ea typeface="黑体" pitchFamily="49" charset="-122"/>
              </a:rPr>
              <a:t>glutDisplayFunc</a:t>
            </a:r>
            <a:r>
              <a:rPr lang="en-US" altLang="zh-CN" sz="2400" dirty="0">
                <a:ea typeface="黑体" pitchFamily="49" charset="-122"/>
              </a:rPr>
              <a:t>( display )</a:t>
            </a:r>
          </a:p>
          <a:p>
            <a:pPr lvl="1">
              <a:defRPr/>
            </a:pPr>
            <a:r>
              <a:rPr lang="en-US" altLang="zh-CN" sz="2400" dirty="0" err="1">
                <a:ea typeface="黑体" pitchFamily="49" charset="-122"/>
              </a:rPr>
              <a:t>glutReshapeFunc</a:t>
            </a:r>
            <a:r>
              <a:rPr lang="en-US" altLang="zh-CN" sz="2400" dirty="0">
                <a:ea typeface="黑体" pitchFamily="49" charset="-122"/>
              </a:rPr>
              <a:t>( reshape )</a:t>
            </a:r>
          </a:p>
          <a:p>
            <a:pPr lvl="1">
              <a:defRPr/>
            </a:pPr>
            <a:r>
              <a:rPr lang="en-US" altLang="zh-CN" sz="2400" dirty="0" err="1">
                <a:ea typeface="黑体" pitchFamily="49" charset="-122"/>
              </a:rPr>
              <a:t>glutKeyboardFunc</a:t>
            </a:r>
            <a:r>
              <a:rPr lang="en-US" altLang="zh-CN" sz="2400" dirty="0">
                <a:ea typeface="黑体" pitchFamily="49" charset="-122"/>
              </a:rPr>
              <a:t>( keyboard )</a:t>
            </a:r>
          </a:p>
          <a:p>
            <a:pPr lvl="1">
              <a:defRPr/>
            </a:pPr>
            <a:r>
              <a:rPr lang="en-US" altLang="zh-CN" sz="2400" dirty="0" err="1">
                <a:ea typeface="黑体" pitchFamily="49" charset="-122"/>
              </a:rPr>
              <a:t>glutMouseFunc</a:t>
            </a:r>
            <a:r>
              <a:rPr lang="en-US" altLang="zh-CN" sz="2400" dirty="0">
                <a:ea typeface="黑体" pitchFamily="49" charset="-122"/>
              </a:rPr>
              <a:t> ( mouse )</a:t>
            </a:r>
          </a:p>
          <a:p>
            <a:pPr lvl="1">
              <a:defRPr/>
            </a:pPr>
            <a:r>
              <a:rPr lang="en-US" altLang="zh-CN" sz="2400" dirty="0" err="1">
                <a:ea typeface="黑体" pitchFamily="49" charset="-122"/>
              </a:rPr>
              <a:t>glutIdleFunc</a:t>
            </a:r>
            <a:r>
              <a:rPr lang="en-US" altLang="zh-CN" sz="2400" dirty="0">
                <a:ea typeface="黑体" pitchFamily="49" charset="-122"/>
              </a:rPr>
              <a:t>( idle )</a:t>
            </a:r>
          </a:p>
        </p:txBody>
      </p:sp>
      <p:sp>
        <p:nvSpPr>
          <p:cNvPr id="404482" name="Rectangle 2">
            <a:extLst>
              <a:ext uri="{FF2B5EF4-FFF2-40B4-BE49-F238E27FC236}">
                <a16:creationId xmlns:a16="http://schemas.microsoft.com/office/drawing/2014/main" id="{2626E595-1D48-49D3-BAD8-CA058E77C0D9}"/>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grpSp>
        <p:nvGrpSpPr>
          <p:cNvPr id="29" name="Group 4">
            <a:extLst>
              <a:ext uri="{FF2B5EF4-FFF2-40B4-BE49-F238E27FC236}">
                <a16:creationId xmlns:a16="http://schemas.microsoft.com/office/drawing/2014/main" id="{1A4306E3-1730-4579-8D2F-DA4A27B134B4}"/>
              </a:ext>
            </a:extLst>
          </p:cNvPr>
          <p:cNvGrpSpPr>
            <a:grpSpLocks/>
          </p:cNvGrpSpPr>
          <p:nvPr/>
        </p:nvGrpSpPr>
        <p:grpSpPr bwMode="auto">
          <a:xfrm>
            <a:off x="5483226" y="0"/>
            <a:ext cx="5184775" cy="1009650"/>
            <a:chOff x="975" y="2387"/>
            <a:chExt cx="3266" cy="636"/>
          </a:xfrm>
        </p:grpSpPr>
        <p:sp>
          <p:nvSpPr>
            <p:cNvPr id="30" name="AutoShape 5">
              <a:extLst>
                <a:ext uri="{FF2B5EF4-FFF2-40B4-BE49-F238E27FC236}">
                  <a16:creationId xmlns:a16="http://schemas.microsoft.com/office/drawing/2014/main" id="{52586DC1-6AA6-4394-90E4-8A3A129AFF40}"/>
                </a:ext>
              </a:extLst>
            </p:cNvPr>
            <p:cNvSpPr>
              <a:spLocks noChangeArrowheads="1"/>
            </p:cNvSpPr>
            <p:nvPr/>
          </p:nvSpPr>
          <p:spPr bwMode="auto">
            <a:xfrm>
              <a:off x="2222" y="2387"/>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useBgFill="1">
          <p:nvSpPr>
            <p:cNvPr id="31" name="Rectangle 6">
              <a:extLst>
                <a:ext uri="{FF2B5EF4-FFF2-40B4-BE49-F238E27FC236}">
                  <a16:creationId xmlns:a16="http://schemas.microsoft.com/office/drawing/2014/main" id="{CCB13207-4309-437F-ACF3-E364B1493B5A}"/>
                </a:ext>
              </a:extLst>
            </p:cNvPr>
            <p:cNvSpPr>
              <a:spLocks noChangeArrowheads="1"/>
            </p:cNvSpPr>
            <p:nvPr/>
          </p:nvSpPr>
          <p:spPr bwMode="auto">
            <a:xfrm>
              <a:off x="975"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GLUT</a:t>
              </a:r>
            </a:p>
          </p:txBody>
        </p:sp>
        <p:sp useBgFill="1">
          <p:nvSpPr>
            <p:cNvPr id="32" name="Rectangle 7">
              <a:extLst>
                <a:ext uri="{FF2B5EF4-FFF2-40B4-BE49-F238E27FC236}">
                  <a16:creationId xmlns:a16="http://schemas.microsoft.com/office/drawing/2014/main" id="{2F6DDFAB-EB4B-4211-B007-D790DA27680D}"/>
                </a:ext>
              </a:extLst>
            </p:cNvPr>
            <p:cNvSpPr>
              <a:spLocks noChangeArrowheads="1"/>
            </p:cNvSpPr>
            <p:nvPr/>
          </p:nvSpPr>
          <p:spPr bwMode="auto">
            <a:xfrm>
              <a:off x="1666"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创建窗口</a:t>
              </a:r>
            </a:p>
          </p:txBody>
        </p:sp>
        <p:sp>
          <p:nvSpPr>
            <p:cNvPr id="33" name="Rectangle 8">
              <a:extLst>
                <a:ext uri="{FF2B5EF4-FFF2-40B4-BE49-F238E27FC236}">
                  <a16:creationId xmlns:a16="http://schemas.microsoft.com/office/drawing/2014/main" id="{00BCFE94-E062-4ADB-9367-66038E7E2C12}"/>
                </a:ext>
              </a:extLst>
            </p:cNvPr>
            <p:cNvSpPr>
              <a:spLocks noChangeArrowheads="1"/>
            </p:cNvSpPr>
            <p:nvPr/>
          </p:nvSpPr>
          <p:spPr bwMode="auto">
            <a:xfrm>
              <a:off x="2358" y="2523"/>
              <a:ext cx="499" cy="317"/>
            </a:xfrm>
            <a:prstGeom prst="rect">
              <a:avLst/>
            </a:prstGeom>
            <a:noFill/>
            <a:ln w="2857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处理函数</a:t>
              </a:r>
            </a:p>
          </p:txBody>
        </p:sp>
        <p:sp useBgFill="1">
          <p:nvSpPr>
            <p:cNvPr id="34" name="Rectangle 9">
              <a:extLst>
                <a:ext uri="{FF2B5EF4-FFF2-40B4-BE49-F238E27FC236}">
                  <a16:creationId xmlns:a16="http://schemas.microsoft.com/office/drawing/2014/main" id="{2DAF432F-5A35-4628-989B-36D03C2A773D}"/>
                </a:ext>
              </a:extLst>
            </p:cNvPr>
            <p:cNvSpPr>
              <a:spLocks noChangeArrowheads="1"/>
            </p:cNvSpPr>
            <p:nvPr/>
          </p:nvSpPr>
          <p:spPr bwMode="auto">
            <a:xfrm>
              <a:off x="3050"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OpenGL</a:t>
              </a:r>
            </a:p>
          </p:txBody>
        </p:sp>
        <p:sp useBgFill="1">
          <p:nvSpPr>
            <p:cNvPr id="35" name="Rectangle 10">
              <a:extLst>
                <a:ext uri="{FF2B5EF4-FFF2-40B4-BE49-F238E27FC236}">
                  <a16:creationId xmlns:a16="http://schemas.microsoft.com/office/drawing/2014/main" id="{2FD6C1D6-C733-42E2-9EEA-FBF619C84D01}"/>
                </a:ext>
              </a:extLst>
            </p:cNvPr>
            <p:cNvSpPr>
              <a:spLocks noChangeArrowheads="1"/>
            </p:cNvSpPr>
            <p:nvPr/>
          </p:nvSpPr>
          <p:spPr bwMode="auto">
            <a:xfrm>
              <a:off x="3742" y="2523"/>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处理循环</a:t>
              </a:r>
            </a:p>
          </p:txBody>
        </p:sp>
        <p:cxnSp>
          <p:nvCxnSpPr>
            <p:cNvPr id="36" name="AutoShape 11">
              <a:extLst>
                <a:ext uri="{FF2B5EF4-FFF2-40B4-BE49-F238E27FC236}">
                  <a16:creationId xmlns:a16="http://schemas.microsoft.com/office/drawing/2014/main" id="{93A5DDCB-36D9-4EA3-822A-47D8D315A7BF}"/>
                </a:ext>
              </a:extLst>
            </p:cNvPr>
            <p:cNvCxnSpPr>
              <a:cxnSpLocks noChangeShapeType="1"/>
              <a:stCxn id="31" idx="3"/>
              <a:endCxn id="32" idx="1"/>
            </p:cNvCxnSpPr>
            <p:nvPr/>
          </p:nvCxnSpPr>
          <p:spPr bwMode="auto">
            <a:xfrm>
              <a:off x="1483" y="2682"/>
              <a:ext cx="17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12">
              <a:extLst>
                <a:ext uri="{FF2B5EF4-FFF2-40B4-BE49-F238E27FC236}">
                  <a16:creationId xmlns:a16="http://schemas.microsoft.com/office/drawing/2014/main" id="{593F1360-A1FF-46FC-8BDD-910BEB3AFDF2}"/>
                </a:ext>
              </a:extLst>
            </p:cNvPr>
            <p:cNvCxnSpPr>
              <a:cxnSpLocks noChangeShapeType="1"/>
              <a:stCxn id="32" idx="3"/>
              <a:endCxn id="33" idx="1"/>
            </p:cNvCxnSpPr>
            <p:nvPr/>
          </p:nvCxnSpPr>
          <p:spPr bwMode="auto">
            <a:xfrm>
              <a:off x="2174" y="2682"/>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13">
              <a:extLst>
                <a:ext uri="{FF2B5EF4-FFF2-40B4-BE49-F238E27FC236}">
                  <a16:creationId xmlns:a16="http://schemas.microsoft.com/office/drawing/2014/main" id="{DDFEC655-EAFD-4F44-93C7-D1850CA46FAB}"/>
                </a:ext>
              </a:extLst>
            </p:cNvPr>
            <p:cNvCxnSpPr>
              <a:cxnSpLocks noChangeShapeType="1"/>
              <a:stCxn id="33" idx="3"/>
              <a:endCxn id="34" idx="1"/>
            </p:cNvCxnSpPr>
            <p:nvPr/>
          </p:nvCxnSpPr>
          <p:spPr bwMode="auto">
            <a:xfrm>
              <a:off x="2857" y="2682"/>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14">
              <a:extLst>
                <a:ext uri="{FF2B5EF4-FFF2-40B4-BE49-F238E27FC236}">
                  <a16:creationId xmlns:a16="http://schemas.microsoft.com/office/drawing/2014/main" id="{8B835B45-A7F0-4C7B-99CB-ABEDC0CCD511}"/>
                </a:ext>
              </a:extLst>
            </p:cNvPr>
            <p:cNvCxnSpPr>
              <a:cxnSpLocks noChangeShapeType="1"/>
              <a:stCxn id="34" idx="3"/>
              <a:endCxn id="35" idx="1"/>
            </p:cNvCxnSpPr>
            <p:nvPr/>
          </p:nvCxnSpPr>
          <p:spPr bwMode="auto">
            <a:xfrm>
              <a:off x="3558" y="2682"/>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3B32689D-DF8F-4099-957D-66E9AA0E22D0}"/>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sp>
        <p:nvSpPr>
          <p:cNvPr id="403459" name="Rectangle 3">
            <a:extLst>
              <a:ext uri="{FF2B5EF4-FFF2-40B4-BE49-F238E27FC236}">
                <a16:creationId xmlns:a16="http://schemas.microsoft.com/office/drawing/2014/main" id="{9586B265-4B96-436F-A230-967135FA5085}"/>
              </a:ext>
            </a:extLst>
          </p:cNvPr>
          <p:cNvSpPr>
            <a:spLocks noGrp="1" noChangeArrowheads="1"/>
          </p:cNvSpPr>
          <p:nvPr>
            <p:ph idx="4294967295"/>
          </p:nvPr>
        </p:nvSpPr>
        <p:spPr>
          <a:xfrm>
            <a:off x="2005331" y="1124745"/>
            <a:ext cx="8286750" cy="560911"/>
          </a:xfrm>
        </p:spPr>
        <p:txBody>
          <a:bodyPr/>
          <a:lstStyle/>
          <a:p>
            <a:pPr>
              <a:defRPr/>
            </a:pPr>
            <a:r>
              <a:rPr lang="zh-CN" altLang="en-US" dirty="0">
                <a:ea typeface="黑体" pitchFamily="49" charset="-122"/>
              </a:rPr>
              <a:t>为</a:t>
            </a:r>
            <a:r>
              <a:rPr lang="en-US" altLang="zh-CN" dirty="0">
                <a:ea typeface="黑体" pitchFamily="49" charset="-122"/>
              </a:rPr>
              <a:t>OpenGL</a:t>
            </a:r>
            <a:r>
              <a:rPr lang="zh-CN" altLang="en-US" dirty="0">
                <a:ea typeface="黑体" pitchFamily="49" charset="-122"/>
              </a:rPr>
              <a:t>例程定制所需要的各种状态；</a:t>
            </a:r>
          </a:p>
        </p:txBody>
      </p:sp>
      <p:sp>
        <p:nvSpPr>
          <p:cNvPr id="403460" name="Rectangle 4">
            <a:extLst>
              <a:ext uri="{FF2B5EF4-FFF2-40B4-BE49-F238E27FC236}">
                <a16:creationId xmlns:a16="http://schemas.microsoft.com/office/drawing/2014/main" id="{E240C334-9BC6-4D7B-85FA-1668402C9ED2}"/>
              </a:ext>
            </a:extLst>
          </p:cNvPr>
          <p:cNvSpPr>
            <a:spLocks noChangeArrowheads="1"/>
          </p:cNvSpPr>
          <p:nvPr/>
        </p:nvSpPr>
        <p:spPr bwMode="auto">
          <a:xfrm>
            <a:off x="2495550" y="1844676"/>
            <a:ext cx="7696200" cy="3749675"/>
          </a:xfrm>
          <a:prstGeom prst="rect">
            <a:avLst/>
          </a:prstGeom>
          <a:noFill/>
          <a:ln w="9525">
            <a:noFill/>
            <a:miter lim="800000"/>
            <a:headEnd/>
            <a:tailEnd/>
          </a:ln>
          <a:effectLst/>
        </p:spPr>
        <p:txBody>
          <a:bodyPr>
            <a:spAutoFit/>
          </a:bodyPr>
          <a:lstStyle/>
          <a:p>
            <a:pPr lvl="1">
              <a:defRPr/>
            </a:pPr>
            <a:r>
              <a:rPr lang="en-US" altLang="zh-CN" sz="2000" b="1">
                <a:effectLst>
                  <a:outerShdw blurRad="38100" dist="38100" dir="2700000" algn="tl">
                    <a:srgbClr val="C0C0C0"/>
                  </a:outerShdw>
                </a:effectLst>
                <a:latin typeface="Arial Black" pitchFamily="34" charset="0"/>
                <a:ea typeface="宋体" pitchFamily="2" charset="-122"/>
              </a:rPr>
              <a:t>void init(void) { </a:t>
            </a:r>
          </a:p>
          <a:p>
            <a:pPr lvl="1">
              <a:defRPr/>
            </a:pPr>
            <a:r>
              <a:rPr lang="en-US" altLang="zh-CN" sz="2000" b="1">
                <a:effectLst>
                  <a:outerShdw blurRad="38100" dist="38100" dir="2700000" algn="tl">
                    <a:srgbClr val="C0C0C0"/>
                  </a:outerShdw>
                </a:effectLst>
                <a:latin typeface="Arial Black" pitchFamily="34" charset="0"/>
                <a:ea typeface="宋体" pitchFamily="2" charset="-122"/>
              </a:rPr>
              <a:t>  </a:t>
            </a: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a:t>
            </a:r>
            <a:r>
              <a:rPr lang="zh-CN" altLang="en-US" sz="2000" b="1">
                <a:solidFill>
                  <a:srgbClr val="008000"/>
                </a:solidFill>
                <a:effectLst>
                  <a:outerShdw blurRad="38100" dist="38100" dir="2700000" algn="tl">
                    <a:srgbClr val="C0C0C0"/>
                  </a:outerShdw>
                </a:effectLst>
                <a:latin typeface="Arial Black" pitchFamily="34" charset="0"/>
                <a:ea typeface="宋体" pitchFamily="2" charset="-122"/>
              </a:rPr>
              <a:t>设置背景颜色</a:t>
            </a:r>
          </a:p>
          <a:p>
            <a:pPr lvl="1">
              <a:defRPr/>
            </a:pPr>
            <a:r>
              <a:rPr lang="en-US" altLang="zh-CN" sz="2000" b="1">
                <a:effectLst>
                  <a:outerShdw blurRad="38100" dist="38100" dir="2700000" algn="tl">
                    <a:srgbClr val="C0C0C0"/>
                  </a:outerShdw>
                </a:effectLst>
                <a:latin typeface="Arial Black" pitchFamily="34" charset="0"/>
                <a:ea typeface="宋体" pitchFamily="2" charset="-122"/>
              </a:rPr>
              <a:t>    glClearColor (0.0, 0.0, 0.0, 0.0);</a:t>
            </a:r>
          </a:p>
          <a:p>
            <a:pPr lvl="1">
              <a:defRPr/>
            </a:pPr>
            <a:endParaRPr lang="en-US" altLang="zh-CN" sz="2000" b="1">
              <a:effectLst>
                <a:outerShdw blurRad="38100" dist="38100" dir="2700000" algn="tl">
                  <a:srgbClr val="C0C0C0"/>
                </a:outerShdw>
              </a:effectLst>
              <a:latin typeface="Arial Black" pitchFamily="34" charset="0"/>
              <a:ea typeface="宋体" pitchFamily="2" charset="-122"/>
            </a:endParaRPr>
          </a:p>
          <a:p>
            <a:pPr lvl="1">
              <a:defRPr/>
            </a:pPr>
            <a:r>
              <a:rPr lang="en-US" altLang="zh-CN" sz="2000" b="1">
                <a:effectLst>
                  <a:outerShdw blurRad="38100" dist="38100" dir="2700000" algn="tl">
                    <a:srgbClr val="C0C0C0"/>
                  </a:outerShdw>
                </a:effectLst>
                <a:latin typeface="Arial Black" pitchFamily="34" charset="0"/>
                <a:ea typeface="宋体" pitchFamily="2" charset="-122"/>
              </a:rPr>
              <a:t>  </a:t>
            </a: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a:t>
            </a:r>
            <a:r>
              <a:rPr lang="zh-CN" altLang="en-US" sz="2000" b="1">
                <a:solidFill>
                  <a:srgbClr val="008000"/>
                </a:solidFill>
                <a:effectLst>
                  <a:outerShdw blurRad="38100" dist="38100" dir="2700000" algn="tl">
                    <a:srgbClr val="C0C0C0"/>
                  </a:outerShdw>
                </a:effectLst>
                <a:latin typeface="Arial Black" pitchFamily="34" charset="0"/>
                <a:ea typeface="宋体" pitchFamily="2" charset="-122"/>
              </a:rPr>
              <a:t>设置填充颜色</a:t>
            </a:r>
          </a:p>
          <a:p>
            <a:pPr lvl="1">
              <a:defRPr/>
            </a:pPr>
            <a:r>
              <a:rPr lang="zh-CN" altLang="en-US" sz="2000" b="1">
                <a:effectLst>
                  <a:outerShdw blurRad="38100" dist="38100" dir="2700000" algn="tl">
                    <a:srgbClr val="C0C0C0"/>
                  </a:outerShdw>
                </a:effectLst>
                <a:latin typeface="Arial Black" pitchFamily="34" charset="0"/>
                <a:ea typeface="宋体" pitchFamily="2" charset="-122"/>
              </a:rPr>
              <a:t>    </a:t>
            </a:r>
            <a:r>
              <a:rPr lang="en-US" altLang="zh-CN" sz="2000" b="1">
                <a:effectLst>
                  <a:outerShdw blurRad="38100" dist="38100" dir="2700000" algn="tl">
                    <a:srgbClr val="C0C0C0"/>
                  </a:outerShdw>
                </a:effectLst>
                <a:latin typeface="Arial Black" pitchFamily="34" charset="0"/>
                <a:ea typeface="宋体" pitchFamily="2" charset="-122"/>
              </a:rPr>
              <a:t>glColor3f(1.0, 1.0, 1.0);</a:t>
            </a:r>
          </a:p>
          <a:p>
            <a:pPr lvl="1">
              <a:defRPr/>
            </a:pPr>
            <a:r>
              <a:rPr lang="en-US" altLang="zh-CN" sz="2000" b="1">
                <a:effectLst>
                  <a:outerShdw blurRad="38100" dist="38100" dir="2700000" algn="tl">
                    <a:srgbClr val="C0C0C0"/>
                  </a:outerShdw>
                </a:effectLst>
                <a:latin typeface="Arial Black" pitchFamily="34" charset="0"/>
                <a:ea typeface="宋体" pitchFamily="2" charset="-122"/>
              </a:rPr>
              <a:t>  </a:t>
            </a:r>
          </a:p>
          <a:p>
            <a:pPr lvl="1">
              <a:defRPr/>
            </a:pPr>
            <a:r>
              <a:rPr lang="en-US" altLang="zh-CN" sz="2000" b="1">
                <a:effectLst>
                  <a:outerShdw blurRad="38100" dist="38100" dir="2700000" algn="tl">
                    <a:srgbClr val="C0C0C0"/>
                  </a:outerShdw>
                </a:effectLst>
                <a:latin typeface="Arial Black" pitchFamily="34" charset="0"/>
                <a:ea typeface="宋体" pitchFamily="2" charset="-122"/>
              </a:rPr>
              <a:t>  </a:t>
            </a: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a:t>
            </a:r>
            <a:r>
              <a:rPr lang="zh-CN" altLang="en-US" sz="2000" b="1">
                <a:solidFill>
                  <a:srgbClr val="008000"/>
                </a:solidFill>
                <a:effectLst>
                  <a:outerShdw blurRad="38100" dist="38100" dir="2700000" algn="tl">
                    <a:srgbClr val="C0C0C0"/>
                  </a:outerShdw>
                </a:effectLst>
                <a:latin typeface="Arial Black" pitchFamily="34" charset="0"/>
                <a:ea typeface="宋体" pitchFamily="2" charset="-122"/>
              </a:rPr>
              <a:t>设置光照方式</a:t>
            </a:r>
          </a:p>
          <a:p>
            <a:pPr lvl="1">
              <a:defRPr/>
            </a:pP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  //glEnable( GL_LIGHT0 );</a:t>
            </a:r>
          </a:p>
          <a:p>
            <a:pPr lvl="1">
              <a:defRPr/>
            </a:pP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  //glEnable( GL_LIGHTING );  </a:t>
            </a:r>
          </a:p>
          <a:p>
            <a:pPr lvl="1">
              <a:defRPr/>
            </a:pPr>
            <a:r>
              <a:rPr lang="en-US" altLang="zh-CN" sz="2000" b="1">
                <a:solidFill>
                  <a:srgbClr val="008000"/>
                </a:solidFill>
                <a:effectLst>
                  <a:outerShdw blurRad="38100" dist="38100" dir="2700000" algn="tl">
                    <a:srgbClr val="C0C0C0"/>
                  </a:outerShdw>
                </a:effectLst>
                <a:latin typeface="Arial Black" pitchFamily="34" charset="0"/>
                <a:ea typeface="宋体" pitchFamily="2" charset="-122"/>
              </a:rPr>
              <a:t>  </a:t>
            </a:r>
            <a:endParaRPr lang="en-US" altLang="zh-CN" sz="2000" b="1">
              <a:effectLst>
                <a:outerShdw blurRad="38100" dist="38100" dir="2700000" algn="tl">
                  <a:srgbClr val="C0C0C0"/>
                </a:outerShdw>
              </a:effectLst>
              <a:latin typeface="Arial Black" pitchFamily="34" charset="0"/>
              <a:ea typeface="宋体" pitchFamily="2" charset="-122"/>
            </a:endParaRPr>
          </a:p>
          <a:p>
            <a:pPr lvl="1">
              <a:defRPr/>
            </a:pPr>
            <a:r>
              <a:rPr lang="en-US" altLang="zh-CN" sz="2000" b="1">
                <a:effectLst>
                  <a:outerShdw blurRad="38100" dist="38100" dir="2700000" algn="tl">
                    <a:srgbClr val="C0C0C0"/>
                  </a:outerShdw>
                </a:effectLst>
                <a:latin typeface="Arial Black" pitchFamily="34" charset="0"/>
                <a:ea typeface="宋体" pitchFamily="2" charset="-122"/>
              </a:rPr>
              <a:t>}</a:t>
            </a:r>
          </a:p>
        </p:txBody>
      </p:sp>
      <p:grpSp>
        <p:nvGrpSpPr>
          <p:cNvPr id="30" name="Group 5">
            <a:extLst>
              <a:ext uri="{FF2B5EF4-FFF2-40B4-BE49-F238E27FC236}">
                <a16:creationId xmlns:a16="http://schemas.microsoft.com/office/drawing/2014/main" id="{33BA35D9-F63D-46D6-B80F-5A6C6660A7E5}"/>
              </a:ext>
            </a:extLst>
          </p:cNvPr>
          <p:cNvGrpSpPr>
            <a:grpSpLocks/>
          </p:cNvGrpSpPr>
          <p:nvPr/>
        </p:nvGrpSpPr>
        <p:grpSpPr bwMode="auto">
          <a:xfrm>
            <a:off x="5483226" y="0"/>
            <a:ext cx="5184775" cy="1009650"/>
            <a:chOff x="1349" y="-16"/>
            <a:chExt cx="3266" cy="636"/>
          </a:xfrm>
        </p:grpSpPr>
        <p:sp>
          <p:nvSpPr>
            <p:cNvPr id="31" name="AutoShape 6">
              <a:extLst>
                <a:ext uri="{FF2B5EF4-FFF2-40B4-BE49-F238E27FC236}">
                  <a16:creationId xmlns:a16="http://schemas.microsoft.com/office/drawing/2014/main" id="{193FF5E6-86C2-45B0-BFDD-28E6FCB33526}"/>
                </a:ext>
              </a:extLst>
            </p:cNvPr>
            <p:cNvSpPr>
              <a:spLocks noChangeArrowheads="1"/>
            </p:cNvSpPr>
            <p:nvPr/>
          </p:nvSpPr>
          <p:spPr bwMode="auto">
            <a:xfrm>
              <a:off x="3288" y="-16"/>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useBgFill="1">
          <p:nvSpPr>
            <p:cNvPr id="32" name="Rectangle 7">
              <a:extLst>
                <a:ext uri="{FF2B5EF4-FFF2-40B4-BE49-F238E27FC236}">
                  <a16:creationId xmlns:a16="http://schemas.microsoft.com/office/drawing/2014/main" id="{201E73B7-9F30-49D4-94D6-F367FD855F16}"/>
                </a:ext>
              </a:extLst>
            </p:cNvPr>
            <p:cNvSpPr>
              <a:spLocks noChangeArrowheads="1"/>
            </p:cNvSpPr>
            <p:nvPr/>
          </p:nvSpPr>
          <p:spPr bwMode="auto">
            <a:xfrm>
              <a:off x="1349" y="119"/>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GLUT</a:t>
              </a:r>
            </a:p>
          </p:txBody>
        </p:sp>
        <p:sp useBgFill="1">
          <p:nvSpPr>
            <p:cNvPr id="33" name="Rectangle 8">
              <a:extLst>
                <a:ext uri="{FF2B5EF4-FFF2-40B4-BE49-F238E27FC236}">
                  <a16:creationId xmlns:a16="http://schemas.microsoft.com/office/drawing/2014/main" id="{04567A11-3CC4-49E2-B69A-17F9C6040616}"/>
                </a:ext>
              </a:extLst>
            </p:cNvPr>
            <p:cNvSpPr>
              <a:spLocks noChangeArrowheads="1"/>
            </p:cNvSpPr>
            <p:nvPr/>
          </p:nvSpPr>
          <p:spPr bwMode="auto">
            <a:xfrm>
              <a:off x="2040" y="119"/>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创建窗口</a:t>
              </a:r>
            </a:p>
          </p:txBody>
        </p:sp>
        <p:sp useBgFill="1">
          <p:nvSpPr>
            <p:cNvPr id="34" name="Rectangle 9">
              <a:extLst>
                <a:ext uri="{FF2B5EF4-FFF2-40B4-BE49-F238E27FC236}">
                  <a16:creationId xmlns:a16="http://schemas.microsoft.com/office/drawing/2014/main" id="{0FE33CDF-9AC3-466E-99EA-D009951EFA6A}"/>
                </a:ext>
              </a:extLst>
            </p:cNvPr>
            <p:cNvSpPr>
              <a:spLocks noChangeArrowheads="1"/>
            </p:cNvSpPr>
            <p:nvPr/>
          </p:nvSpPr>
          <p:spPr bwMode="auto">
            <a:xfrm>
              <a:off x="2732" y="119"/>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处理函数</a:t>
              </a:r>
            </a:p>
          </p:txBody>
        </p:sp>
        <p:sp>
          <p:nvSpPr>
            <p:cNvPr id="35" name="Rectangle 10">
              <a:extLst>
                <a:ext uri="{FF2B5EF4-FFF2-40B4-BE49-F238E27FC236}">
                  <a16:creationId xmlns:a16="http://schemas.microsoft.com/office/drawing/2014/main" id="{7CBCEB93-D1D1-42E0-8D64-E976024FAB35}"/>
                </a:ext>
              </a:extLst>
            </p:cNvPr>
            <p:cNvSpPr>
              <a:spLocks noChangeArrowheads="1"/>
            </p:cNvSpPr>
            <p:nvPr/>
          </p:nvSpPr>
          <p:spPr bwMode="auto">
            <a:xfrm>
              <a:off x="3424" y="119"/>
              <a:ext cx="499" cy="317"/>
            </a:xfrm>
            <a:prstGeom prst="rect">
              <a:avLst/>
            </a:prstGeom>
            <a:noFill/>
            <a:ln w="2857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5B0DAA"/>
                  </a:solidFill>
                  <a:effectLst>
                    <a:outerShdw blurRad="38100" dist="38100" dir="2700000" algn="tl">
                      <a:srgbClr val="C0C0C0"/>
                    </a:outerShdw>
                  </a:effectLst>
                  <a:ea typeface="黑体" pitchFamily="49" charset="-122"/>
                </a:rPr>
                <a:t>OpenGL</a:t>
              </a:r>
            </a:p>
          </p:txBody>
        </p:sp>
        <p:sp useBgFill="1">
          <p:nvSpPr>
            <p:cNvPr id="36" name="Rectangle 11">
              <a:extLst>
                <a:ext uri="{FF2B5EF4-FFF2-40B4-BE49-F238E27FC236}">
                  <a16:creationId xmlns:a16="http://schemas.microsoft.com/office/drawing/2014/main" id="{931AFE32-BDBF-40A2-B487-62570973B258}"/>
                </a:ext>
              </a:extLst>
            </p:cNvPr>
            <p:cNvSpPr>
              <a:spLocks noChangeArrowheads="1"/>
            </p:cNvSpPr>
            <p:nvPr/>
          </p:nvSpPr>
          <p:spPr bwMode="auto">
            <a:xfrm>
              <a:off x="4116" y="119"/>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处理循环</a:t>
              </a:r>
            </a:p>
          </p:txBody>
        </p:sp>
        <p:cxnSp>
          <p:nvCxnSpPr>
            <p:cNvPr id="37" name="AutoShape 12">
              <a:extLst>
                <a:ext uri="{FF2B5EF4-FFF2-40B4-BE49-F238E27FC236}">
                  <a16:creationId xmlns:a16="http://schemas.microsoft.com/office/drawing/2014/main" id="{184E7739-64DA-40E4-B0C5-A8E83199847C}"/>
                </a:ext>
              </a:extLst>
            </p:cNvPr>
            <p:cNvCxnSpPr>
              <a:cxnSpLocks noChangeShapeType="1"/>
              <a:stCxn id="32" idx="3"/>
              <a:endCxn id="33" idx="1"/>
            </p:cNvCxnSpPr>
            <p:nvPr/>
          </p:nvCxnSpPr>
          <p:spPr bwMode="auto">
            <a:xfrm>
              <a:off x="1857" y="278"/>
              <a:ext cx="17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13">
              <a:extLst>
                <a:ext uri="{FF2B5EF4-FFF2-40B4-BE49-F238E27FC236}">
                  <a16:creationId xmlns:a16="http://schemas.microsoft.com/office/drawing/2014/main" id="{13DAAF70-9B08-4A6C-9358-D9C92E2AD7FF}"/>
                </a:ext>
              </a:extLst>
            </p:cNvPr>
            <p:cNvCxnSpPr>
              <a:cxnSpLocks noChangeShapeType="1"/>
              <a:stCxn id="33" idx="3"/>
              <a:endCxn id="34" idx="1"/>
            </p:cNvCxnSpPr>
            <p:nvPr/>
          </p:nvCxnSpPr>
          <p:spPr bwMode="auto">
            <a:xfrm>
              <a:off x="2548" y="278"/>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14">
              <a:extLst>
                <a:ext uri="{FF2B5EF4-FFF2-40B4-BE49-F238E27FC236}">
                  <a16:creationId xmlns:a16="http://schemas.microsoft.com/office/drawing/2014/main" id="{4DAC99E4-8D89-4612-BFE0-5D39A90620D3}"/>
                </a:ext>
              </a:extLst>
            </p:cNvPr>
            <p:cNvCxnSpPr>
              <a:cxnSpLocks noChangeShapeType="1"/>
              <a:stCxn id="34" idx="3"/>
              <a:endCxn id="35" idx="1"/>
            </p:cNvCxnSpPr>
            <p:nvPr/>
          </p:nvCxnSpPr>
          <p:spPr bwMode="auto">
            <a:xfrm>
              <a:off x="3240" y="278"/>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AutoShape 15">
              <a:extLst>
                <a:ext uri="{FF2B5EF4-FFF2-40B4-BE49-F238E27FC236}">
                  <a16:creationId xmlns:a16="http://schemas.microsoft.com/office/drawing/2014/main" id="{FF36785E-EB8F-4A79-93C1-AE133659BE55}"/>
                </a:ext>
              </a:extLst>
            </p:cNvPr>
            <p:cNvCxnSpPr>
              <a:cxnSpLocks noChangeShapeType="1"/>
              <a:stCxn id="35" idx="3"/>
              <a:endCxn id="36" idx="1"/>
            </p:cNvCxnSpPr>
            <p:nvPr/>
          </p:nvCxnSpPr>
          <p:spPr bwMode="auto">
            <a:xfrm>
              <a:off x="3923" y="278"/>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3460"/>
                                        </p:tgtEl>
                                        <p:attrNameLst>
                                          <p:attrName>style.visibility</p:attrName>
                                        </p:attrNameLst>
                                      </p:cBhvr>
                                      <p:to>
                                        <p:strVal val="visible"/>
                                      </p:to>
                                    </p:set>
                                    <p:animEffect transition="in" filter="checkerboard(across)">
                                      <p:cBhvr>
                                        <p:cTn id="7" dur="500"/>
                                        <p:tgtEl>
                                          <p:spTgt spid="403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4D6F1578-5A89-435F-B3E8-7209FBD52A05}"/>
              </a:ext>
            </a:extLst>
          </p:cNvPr>
          <p:cNvSpPr>
            <a:spLocks noGrp="1" noChangeArrowheads="1"/>
          </p:cNvSpPr>
          <p:nvPr>
            <p:ph type="title"/>
          </p:nvPr>
        </p:nvSpPr>
        <p:spPr/>
        <p:txBody>
          <a:bodyPr/>
          <a:lstStyle/>
          <a:p>
            <a:pPr>
              <a:defRPr/>
            </a:pPr>
            <a:r>
              <a:rPr lang="zh-CN" altLang="en-US">
                <a:latin typeface="Arial" pitchFamily="34" charset="0"/>
              </a:rPr>
              <a:t>深入</a:t>
            </a:r>
            <a:r>
              <a:rPr lang="en-US" altLang="zh-CN">
                <a:latin typeface="Arial" pitchFamily="34" charset="0"/>
              </a:rPr>
              <a:t>GLUT</a:t>
            </a:r>
          </a:p>
        </p:txBody>
      </p:sp>
      <p:grpSp>
        <p:nvGrpSpPr>
          <p:cNvPr id="85" name="Group 16">
            <a:extLst>
              <a:ext uri="{FF2B5EF4-FFF2-40B4-BE49-F238E27FC236}">
                <a16:creationId xmlns:a16="http://schemas.microsoft.com/office/drawing/2014/main" id="{CB9E936C-ACCC-4C17-9ADC-6F1064908B3A}"/>
              </a:ext>
            </a:extLst>
          </p:cNvPr>
          <p:cNvGrpSpPr>
            <a:grpSpLocks/>
          </p:cNvGrpSpPr>
          <p:nvPr/>
        </p:nvGrpSpPr>
        <p:grpSpPr bwMode="auto">
          <a:xfrm>
            <a:off x="5265738" y="0"/>
            <a:ext cx="5402262" cy="1009650"/>
            <a:chOff x="998" y="3429"/>
            <a:chExt cx="3403" cy="636"/>
          </a:xfrm>
        </p:grpSpPr>
        <p:sp>
          <p:nvSpPr>
            <p:cNvPr id="86" name="AutoShape 17">
              <a:extLst>
                <a:ext uri="{FF2B5EF4-FFF2-40B4-BE49-F238E27FC236}">
                  <a16:creationId xmlns:a16="http://schemas.microsoft.com/office/drawing/2014/main" id="{43433FA8-0401-4622-95BA-E0A22E8D3C8F}"/>
                </a:ext>
              </a:extLst>
            </p:cNvPr>
            <p:cNvSpPr>
              <a:spLocks noChangeArrowheads="1"/>
            </p:cNvSpPr>
            <p:nvPr/>
          </p:nvSpPr>
          <p:spPr bwMode="auto">
            <a:xfrm>
              <a:off x="3630" y="3429"/>
              <a:ext cx="771" cy="636"/>
            </a:xfrm>
            <a:prstGeom prst="irregularSeal1">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useBgFill="1">
          <p:nvSpPr>
            <p:cNvPr id="87" name="Rectangle 18">
              <a:extLst>
                <a:ext uri="{FF2B5EF4-FFF2-40B4-BE49-F238E27FC236}">
                  <a16:creationId xmlns:a16="http://schemas.microsoft.com/office/drawing/2014/main" id="{C8E0B32A-F16E-4D2E-9272-EC6DE7F55D5F}"/>
                </a:ext>
              </a:extLst>
            </p:cNvPr>
            <p:cNvSpPr>
              <a:spLocks noChangeArrowheads="1"/>
            </p:cNvSpPr>
            <p:nvPr/>
          </p:nvSpPr>
          <p:spPr bwMode="auto">
            <a:xfrm>
              <a:off x="998" y="3566"/>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GLUT</a:t>
              </a:r>
            </a:p>
          </p:txBody>
        </p:sp>
        <p:sp useBgFill="1">
          <p:nvSpPr>
            <p:cNvPr id="88" name="Rectangle 19">
              <a:extLst>
                <a:ext uri="{FF2B5EF4-FFF2-40B4-BE49-F238E27FC236}">
                  <a16:creationId xmlns:a16="http://schemas.microsoft.com/office/drawing/2014/main" id="{62571784-555C-4DDC-BFC3-A6C14CD057C6}"/>
                </a:ext>
              </a:extLst>
            </p:cNvPr>
            <p:cNvSpPr>
              <a:spLocks noChangeArrowheads="1"/>
            </p:cNvSpPr>
            <p:nvPr/>
          </p:nvSpPr>
          <p:spPr bwMode="auto">
            <a:xfrm>
              <a:off x="1689" y="3566"/>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配置和</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创建窗口</a:t>
              </a:r>
            </a:p>
          </p:txBody>
        </p:sp>
        <p:sp useBgFill="1">
          <p:nvSpPr>
            <p:cNvPr id="89" name="Rectangle 20">
              <a:extLst>
                <a:ext uri="{FF2B5EF4-FFF2-40B4-BE49-F238E27FC236}">
                  <a16:creationId xmlns:a16="http://schemas.microsoft.com/office/drawing/2014/main" id="{D92FE73E-9014-49C2-93A7-8EDFAAF5CDFB}"/>
                </a:ext>
              </a:extLst>
            </p:cNvPr>
            <p:cNvSpPr>
              <a:spLocks noChangeArrowheads="1"/>
            </p:cNvSpPr>
            <p:nvPr/>
          </p:nvSpPr>
          <p:spPr bwMode="auto">
            <a:xfrm>
              <a:off x="2381" y="3566"/>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注册事件</a:t>
              </a:r>
            </a:p>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处理函数</a:t>
              </a:r>
            </a:p>
          </p:txBody>
        </p:sp>
        <p:sp useBgFill="1">
          <p:nvSpPr>
            <p:cNvPr id="90" name="Rectangle 21">
              <a:extLst>
                <a:ext uri="{FF2B5EF4-FFF2-40B4-BE49-F238E27FC236}">
                  <a16:creationId xmlns:a16="http://schemas.microsoft.com/office/drawing/2014/main" id="{09CBBD1E-B875-4E3E-8157-76773DB66043}"/>
                </a:ext>
              </a:extLst>
            </p:cNvPr>
            <p:cNvSpPr>
              <a:spLocks noChangeArrowheads="1"/>
            </p:cNvSpPr>
            <p:nvPr/>
          </p:nvSpPr>
          <p:spPr bwMode="auto">
            <a:xfrm>
              <a:off x="3073" y="3566"/>
              <a:ext cx="499" cy="317"/>
            </a:xfrm>
            <a:prstGeom prst="rect">
              <a:avLst/>
            </a:prstGeom>
            <a:ln w="2857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400" b="1" kern="0">
                  <a:solidFill>
                    <a:srgbClr val="002060"/>
                  </a:solidFill>
                  <a:effectLst>
                    <a:outerShdw blurRad="38100" dist="38100" dir="2700000" algn="tl">
                      <a:srgbClr val="C0C0C0"/>
                    </a:outerShdw>
                  </a:effectLst>
                  <a:ea typeface="黑体" pitchFamily="49" charset="-122"/>
                </a:rPr>
                <a:t>初始化</a:t>
              </a:r>
            </a:p>
            <a:p>
              <a:pPr algn="ctr" eaLnBrk="1" fontAlgn="auto" hangingPunct="1">
                <a:spcBef>
                  <a:spcPts val="0"/>
                </a:spcBef>
                <a:spcAft>
                  <a:spcPts val="0"/>
                </a:spcAft>
                <a:defRPr/>
              </a:pPr>
              <a:r>
                <a:rPr lang="en-US" altLang="zh-CN" sz="1400" b="1" kern="0">
                  <a:solidFill>
                    <a:srgbClr val="002060"/>
                  </a:solidFill>
                  <a:effectLst>
                    <a:outerShdw blurRad="38100" dist="38100" dir="2700000" algn="tl">
                      <a:srgbClr val="C0C0C0"/>
                    </a:outerShdw>
                  </a:effectLst>
                  <a:ea typeface="黑体" pitchFamily="49" charset="-122"/>
                </a:rPr>
                <a:t>OpenGL</a:t>
              </a:r>
            </a:p>
          </p:txBody>
        </p:sp>
        <p:sp>
          <p:nvSpPr>
            <p:cNvPr id="91" name="Rectangle 22">
              <a:extLst>
                <a:ext uri="{FF2B5EF4-FFF2-40B4-BE49-F238E27FC236}">
                  <a16:creationId xmlns:a16="http://schemas.microsoft.com/office/drawing/2014/main" id="{A8C98C53-1A7A-4A52-A185-37E55BDEC95B}"/>
                </a:ext>
              </a:extLst>
            </p:cNvPr>
            <p:cNvSpPr>
              <a:spLocks noChangeArrowheads="1"/>
            </p:cNvSpPr>
            <p:nvPr/>
          </p:nvSpPr>
          <p:spPr bwMode="auto">
            <a:xfrm>
              <a:off x="3765" y="3566"/>
              <a:ext cx="499" cy="317"/>
            </a:xfrm>
            <a:prstGeom prst="rect">
              <a:avLst/>
            </a:prstGeom>
            <a:noFill/>
            <a:ln w="28575">
              <a:noFill/>
              <a:miter lim="800000"/>
              <a:headEnd/>
              <a:tailEnd/>
            </a:ln>
            <a:effectLst>
              <a:outerShdw dist="35921" dir="2700000" algn="ctr" rotWithShape="0">
                <a:srgbClr val="808080"/>
              </a:outerShdw>
            </a:effectLst>
          </p:spPr>
          <p:txBody>
            <a:bodyPr wrap="none" anchor="ctr"/>
            <a:lstStyle/>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进入事件</a:t>
              </a:r>
            </a:p>
            <a:p>
              <a:pPr algn="ctr" eaLnBrk="1" fontAlgn="auto" hangingPunct="1">
                <a:spcBef>
                  <a:spcPts val="0"/>
                </a:spcBef>
                <a:spcAft>
                  <a:spcPts val="0"/>
                </a:spcAft>
                <a:defRPr/>
              </a:pPr>
              <a:r>
                <a:rPr lang="zh-CN" altLang="en-US" sz="1400" b="1" kern="0">
                  <a:solidFill>
                    <a:srgbClr val="5B0DAA"/>
                  </a:solidFill>
                  <a:effectLst>
                    <a:outerShdw blurRad="38100" dist="38100" dir="2700000" algn="tl">
                      <a:srgbClr val="C0C0C0"/>
                    </a:outerShdw>
                  </a:effectLst>
                  <a:ea typeface="黑体" pitchFamily="49" charset="-122"/>
                </a:rPr>
                <a:t>处理循环</a:t>
              </a:r>
            </a:p>
          </p:txBody>
        </p:sp>
        <p:cxnSp>
          <p:nvCxnSpPr>
            <p:cNvPr id="92" name="AutoShape 23">
              <a:extLst>
                <a:ext uri="{FF2B5EF4-FFF2-40B4-BE49-F238E27FC236}">
                  <a16:creationId xmlns:a16="http://schemas.microsoft.com/office/drawing/2014/main" id="{B114232E-7E54-4264-A191-2714EDF03A24}"/>
                </a:ext>
              </a:extLst>
            </p:cNvPr>
            <p:cNvCxnSpPr>
              <a:cxnSpLocks noChangeShapeType="1"/>
              <a:stCxn id="87" idx="3"/>
              <a:endCxn id="88" idx="1"/>
            </p:cNvCxnSpPr>
            <p:nvPr/>
          </p:nvCxnSpPr>
          <p:spPr bwMode="auto">
            <a:xfrm>
              <a:off x="1506" y="3725"/>
              <a:ext cx="17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3" name="AutoShape 24">
              <a:extLst>
                <a:ext uri="{FF2B5EF4-FFF2-40B4-BE49-F238E27FC236}">
                  <a16:creationId xmlns:a16="http://schemas.microsoft.com/office/drawing/2014/main" id="{557CDE4B-3896-4E41-91DF-28B90440F4A6}"/>
                </a:ext>
              </a:extLst>
            </p:cNvPr>
            <p:cNvCxnSpPr>
              <a:cxnSpLocks noChangeShapeType="1"/>
              <a:stCxn id="88" idx="3"/>
              <a:endCxn id="89" idx="1"/>
            </p:cNvCxnSpPr>
            <p:nvPr/>
          </p:nvCxnSpPr>
          <p:spPr bwMode="auto">
            <a:xfrm>
              <a:off x="2197" y="3725"/>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4" name="AutoShape 25">
              <a:extLst>
                <a:ext uri="{FF2B5EF4-FFF2-40B4-BE49-F238E27FC236}">
                  <a16:creationId xmlns:a16="http://schemas.microsoft.com/office/drawing/2014/main" id="{AB77357B-BD47-42BA-B2A9-319FB49F2AC6}"/>
                </a:ext>
              </a:extLst>
            </p:cNvPr>
            <p:cNvCxnSpPr>
              <a:cxnSpLocks noChangeShapeType="1"/>
              <a:stCxn id="89" idx="3"/>
              <a:endCxn id="90" idx="1"/>
            </p:cNvCxnSpPr>
            <p:nvPr/>
          </p:nvCxnSpPr>
          <p:spPr bwMode="auto">
            <a:xfrm>
              <a:off x="2889" y="3725"/>
              <a:ext cx="17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 name="AutoShape 26">
              <a:extLst>
                <a:ext uri="{FF2B5EF4-FFF2-40B4-BE49-F238E27FC236}">
                  <a16:creationId xmlns:a16="http://schemas.microsoft.com/office/drawing/2014/main" id="{F4A333D3-4927-4B15-A78E-99EAF952FD47}"/>
                </a:ext>
              </a:extLst>
            </p:cNvPr>
            <p:cNvCxnSpPr>
              <a:cxnSpLocks noChangeShapeType="1"/>
              <a:stCxn id="90" idx="3"/>
              <a:endCxn id="91" idx="1"/>
            </p:cNvCxnSpPr>
            <p:nvPr/>
          </p:nvCxnSpPr>
          <p:spPr bwMode="auto">
            <a:xfrm>
              <a:off x="3581" y="3725"/>
              <a:ext cx="184"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55" name="Rectangle 3">
            <a:extLst>
              <a:ext uri="{FF2B5EF4-FFF2-40B4-BE49-F238E27FC236}">
                <a16:creationId xmlns:a16="http://schemas.microsoft.com/office/drawing/2014/main" id="{32101830-7AE6-4EC6-BF4C-D596516E9156}"/>
              </a:ext>
            </a:extLst>
          </p:cNvPr>
          <p:cNvSpPr txBox="1">
            <a:spLocks noChangeArrowheads="1"/>
          </p:cNvSpPr>
          <p:nvPr/>
        </p:nvSpPr>
        <p:spPr bwMode="auto">
          <a:xfrm>
            <a:off x="1866107" y="993776"/>
            <a:ext cx="8459787" cy="10525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dirty="0">
                <a:ea typeface="黑体" pitchFamily="49" charset="-122"/>
              </a:rPr>
              <a:t>接收事件，并依据事件类型调用注册的事件处理回调函数</a:t>
            </a:r>
          </a:p>
          <a:p>
            <a:pPr>
              <a:defRPr/>
            </a:pPr>
            <a:endParaRPr lang="zh-CN" altLang="en-US" kern="0" dirty="0">
              <a:ea typeface="黑体" pitchFamily="49" charset="-122"/>
            </a:endParaRPr>
          </a:p>
        </p:txBody>
      </p:sp>
      <p:grpSp>
        <p:nvGrpSpPr>
          <p:cNvPr id="156" name="Group 95">
            <a:extLst>
              <a:ext uri="{FF2B5EF4-FFF2-40B4-BE49-F238E27FC236}">
                <a16:creationId xmlns:a16="http://schemas.microsoft.com/office/drawing/2014/main" id="{5BAE0222-1B6A-44A9-81D1-3E72C2344AC2}"/>
              </a:ext>
            </a:extLst>
          </p:cNvPr>
          <p:cNvGrpSpPr>
            <a:grpSpLocks/>
          </p:cNvGrpSpPr>
          <p:nvPr/>
        </p:nvGrpSpPr>
        <p:grpSpPr bwMode="auto">
          <a:xfrm>
            <a:off x="3810000" y="2667000"/>
            <a:ext cx="2438400" cy="914400"/>
            <a:chOff x="1440" y="1680"/>
            <a:chExt cx="1536" cy="576"/>
          </a:xfrm>
        </p:grpSpPr>
        <p:grpSp>
          <p:nvGrpSpPr>
            <p:cNvPr id="157" name="Group 28">
              <a:extLst>
                <a:ext uri="{FF2B5EF4-FFF2-40B4-BE49-F238E27FC236}">
                  <a16:creationId xmlns:a16="http://schemas.microsoft.com/office/drawing/2014/main" id="{715F0344-403C-47DE-9417-67BA046E0E0D}"/>
                </a:ext>
              </a:extLst>
            </p:cNvPr>
            <p:cNvGrpSpPr>
              <a:grpSpLocks/>
            </p:cNvGrpSpPr>
            <p:nvPr/>
          </p:nvGrpSpPr>
          <p:grpSpPr bwMode="auto">
            <a:xfrm>
              <a:off x="1488" y="1968"/>
              <a:ext cx="1488" cy="288"/>
              <a:chOff x="384" y="1872"/>
              <a:chExt cx="2352" cy="192"/>
            </a:xfrm>
          </p:grpSpPr>
          <p:sp>
            <p:nvSpPr>
              <p:cNvPr id="159" name="Rectangle 29">
                <a:extLst>
                  <a:ext uri="{FF2B5EF4-FFF2-40B4-BE49-F238E27FC236}">
                    <a16:creationId xmlns:a16="http://schemas.microsoft.com/office/drawing/2014/main" id="{7A4DF5E8-D880-43A8-A7D8-47976EADC574}"/>
                  </a:ext>
                </a:extLst>
              </p:cNvPr>
              <p:cNvSpPr>
                <a:spLocks noChangeArrowheads="1"/>
              </p:cNvSpPr>
              <p:nvPr/>
            </p:nvSpPr>
            <p:spPr bwMode="auto">
              <a:xfrm>
                <a:off x="624" y="1872"/>
                <a:ext cx="1920" cy="1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60" name="Line 30">
                <a:extLst>
                  <a:ext uri="{FF2B5EF4-FFF2-40B4-BE49-F238E27FC236}">
                    <a16:creationId xmlns:a16="http://schemas.microsoft.com/office/drawing/2014/main" id="{DA3655D7-57AE-4636-A076-2ADDD69DE517}"/>
                  </a:ext>
                </a:extLst>
              </p:cNvPr>
              <p:cNvSpPr>
                <a:spLocks noChangeShapeType="1"/>
              </p:cNvSpPr>
              <p:nvPr/>
            </p:nvSpPr>
            <p:spPr bwMode="auto">
              <a:xfrm>
                <a:off x="864"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1" name="Line 31">
                <a:extLst>
                  <a:ext uri="{FF2B5EF4-FFF2-40B4-BE49-F238E27FC236}">
                    <a16:creationId xmlns:a16="http://schemas.microsoft.com/office/drawing/2014/main" id="{62FD29AD-4FC3-411E-BE6A-27A539613876}"/>
                  </a:ext>
                </a:extLst>
              </p:cNvPr>
              <p:cNvSpPr>
                <a:spLocks noChangeShapeType="1"/>
              </p:cNvSpPr>
              <p:nvPr/>
            </p:nvSpPr>
            <p:spPr bwMode="auto">
              <a:xfrm>
                <a:off x="1056"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2" name="Line 32">
                <a:extLst>
                  <a:ext uri="{FF2B5EF4-FFF2-40B4-BE49-F238E27FC236}">
                    <a16:creationId xmlns:a16="http://schemas.microsoft.com/office/drawing/2014/main" id="{55C89354-C855-4E47-A4A8-31CE4A05114F}"/>
                  </a:ext>
                </a:extLst>
              </p:cNvPr>
              <p:cNvSpPr>
                <a:spLocks noChangeShapeType="1"/>
              </p:cNvSpPr>
              <p:nvPr/>
            </p:nvSpPr>
            <p:spPr bwMode="auto">
              <a:xfrm>
                <a:off x="1248"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3" name="Line 33">
                <a:extLst>
                  <a:ext uri="{FF2B5EF4-FFF2-40B4-BE49-F238E27FC236}">
                    <a16:creationId xmlns:a16="http://schemas.microsoft.com/office/drawing/2014/main" id="{34BC11B4-F0F8-47BF-90F6-BA7278BA9BEE}"/>
                  </a:ext>
                </a:extLst>
              </p:cNvPr>
              <p:cNvSpPr>
                <a:spLocks noChangeShapeType="1"/>
              </p:cNvSpPr>
              <p:nvPr/>
            </p:nvSpPr>
            <p:spPr bwMode="auto">
              <a:xfrm>
                <a:off x="1440"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4" name="Line 34">
                <a:extLst>
                  <a:ext uri="{FF2B5EF4-FFF2-40B4-BE49-F238E27FC236}">
                    <a16:creationId xmlns:a16="http://schemas.microsoft.com/office/drawing/2014/main" id="{B08BFDE2-2794-4800-9E44-AD4A9397427E}"/>
                  </a:ext>
                </a:extLst>
              </p:cNvPr>
              <p:cNvSpPr>
                <a:spLocks noChangeShapeType="1"/>
              </p:cNvSpPr>
              <p:nvPr/>
            </p:nvSpPr>
            <p:spPr bwMode="auto">
              <a:xfrm>
                <a:off x="1632"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5" name="Line 35">
                <a:extLst>
                  <a:ext uri="{FF2B5EF4-FFF2-40B4-BE49-F238E27FC236}">
                    <a16:creationId xmlns:a16="http://schemas.microsoft.com/office/drawing/2014/main" id="{8FF666B2-C5B1-4F9A-AA80-5227CAE29F97}"/>
                  </a:ext>
                </a:extLst>
              </p:cNvPr>
              <p:cNvSpPr>
                <a:spLocks noChangeShapeType="1"/>
              </p:cNvSpPr>
              <p:nvPr/>
            </p:nvSpPr>
            <p:spPr bwMode="auto">
              <a:xfrm>
                <a:off x="1824"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6" name="Line 36">
                <a:extLst>
                  <a:ext uri="{FF2B5EF4-FFF2-40B4-BE49-F238E27FC236}">
                    <a16:creationId xmlns:a16="http://schemas.microsoft.com/office/drawing/2014/main" id="{C8B9BC60-76CA-400A-8A5D-9E36605AAB22}"/>
                  </a:ext>
                </a:extLst>
              </p:cNvPr>
              <p:cNvSpPr>
                <a:spLocks noChangeShapeType="1"/>
              </p:cNvSpPr>
              <p:nvPr/>
            </p:nvSpPr>
            <p:spPr bwMode="auto">
              <a:xfrm>
                <a:off x="2016"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7" name="Line 37">
                <a:extLst>
                  <a:ext uri="{FF2B5EF4-FFF2-40B4-BE49-F238E27FC236}">
                    <a16:creationId xmlns:a16="http://schemas.microsoft.com/office/drawing/2014/main" id="{EAAEB5B8-67D4-4974-A82C-CC193EE3D046}"/>
                  </a:ext>
                </a:extLst>
              </p:cNvPr>
              <p:cNvSpPr>
                <a:spLocks noChangeShapeType="1"/>
              </p:cNvSpPr>
              <p:nvPr/>
            </p:nvSpPr>
            <p:spPr bwMode="auto">
              <a:xfrm>
                <a:off x="2208"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8" name="Line 38">
                <a:extLst>
                  <a:ext uri="{FF2B5EF4-FFF2-40B4-BE49-F238E27FC236}">
                    <a16:creationId xmlns:a16="http://schemas.microsoft.com/office/drawing/2014/main" id="{EBBAAC80-95D8-4DC3-BC3B-0B7F9EA494F2}"/>
                  </a:ext>
                </a:extLst>
              </p:cNvPr>
              <p:cNvSpPr>
                <a:spLocks noChangeShapeType="1"/>
              </p:cNvSpPr>
              <p:nvPr/>
            </p:nvSpPr>
            <p:spPr bwMode="auto">
              <a:xfrm>
                <a:off x="2400" y="1872"/>
                <a:ext cx="0" cy="1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69" name="Line 39">
                <a:extLst>
                  <a:ext uri="{FF2B5EF4-FFF2-40B4-BE49-F238E27FC236}">
                    <a16:creationId xmlns:a16="http://schemas.microsoft.com/office/drawing/2014/main" id="{582C4AA0-452B-4FFB-A83D-A04351D04388}"/>
                  </a:ext>
                </a:extLst>
              </p:cNvPr>
              <p:cNvSpPr>
                <a:spLocks noChangeShapeType="1"/>
              </p:cNvSpPr>
              <p:nvPr/>
            </p:nvSpPr>
            <p:spPr bwMode="auto">
              <a:xfrm flipH="1">
                <a:off x="384" y="2064"/>
                <a:ext cx="24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70" name="Line 40">
                <a:extLst>
                  <a:ext uri="{FF2B5EF4-FFF2-40B4-BE49-F238E27FC236}">
                    <a16:creationId xmlns:a16="http://schemas.microsoft.com/office/drawing/2014/main" id="{6D9E2608-391C-4E99-9D26-722F2F874D42}"/>
                  </a:ext>
                </a:extLst>
              </p:cNvPr>
              <p:cNvSpPr>
                <a:spLocks noChangeShapeType="1"/>
              </p:cNvSpPr>
              <p:nvPr/>
            </p:nvSpPr>
            <p:spPr bwMode="auto">
              <a:xfrm flipH="1">
                <a:off x="384" y="1872"/>
                <a:ext cx="24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71" name="Line 41">
                <a:extLst>
                  <a:ext uri="{FF2B5EF4-FFF2-40B4-BE49-F238E27FC236}">
                    <a16:creationId xmlns:a16="http://schemas.microsoft.com/office/drawing/2014/main" id="{ECDD22B1-D7A3-4B11-BED2-A305060CBE58}"/>
                  </a:ext>
                </a:extLst>
              </p:cNvPr>
              <p:cNvSpPr>
                <a:spLocks noChangeShapeType="1"/>
              </p:cNvSpPr>
              <p:nvPr/>
            </p:nvSpPr>
            <p:spPr bwMode="auto">
              <a:xfrm flipH="1">
                <a:off x="2496" y="1872"/>
                <a:ext cx="24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72" name="Line 42">
                <a:extLst>
                  <a:ext uri="{FF2B5EF4-FFF2-40B4-BE49-F238E27FC236}">
                    <a16:creationId xmlns:a16="http://schemas.microsoft.com/office/drawing/2014/main" id="{5F90919A-BAF1-4445-B59D-32A263885B95}"/>
                  </a:ext>
                </a:extLst>
              </p:cNvPr>
              <p:cNvSpPr>
                <a:spLocks noChangeShapeType="1"/>
              </p:cNvSpPr>
              <p:nvPr/>
            </p:nvSpPr>
            <p:spPr bwMode="auto">
              <a:xfrm flipH="1">
                <a:off x="2496" y="2064"/>
                <a:ext cx="24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grpSp>
        <p:sp>
          <p:nvSpPr>
            <p:cNvPr id="158" name="Text Box 43">
              <a:extLst>
                <a:ext uri="{FF2B5EF4-FFF2-40B4-BE49-F238E27FC236}">
                  <a16:creationId xmlns:a16="http://schemas.microsoft.com/office/drawing/2014/main" id="{1974F779-6BDC-4BEE-A85A-A44B73ED0B3D}"/>
                </a:ext>
              </a:extLst>
            </p:cNvPr>
            <p:cNvSpPr txBox="1">
              <a:spLocks noChangeArrowheads="1"/>
            </p:cNvSpPr>
            <p:nvPr/>
          </p:nvSpPr>
          <p:spPr bwMode="auto">
            <a:xfrm>
              <a:off x="1440" y="1680"/>
              <a:ext cx="10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r>
                <a:rPr lang="en-US" altLang="zh-CN" sz="2000" kern="0">
                  <a:solidFill>
                    <a:srgbClr val="000000"/>
                  </a:solidFill>
                  <a:latin typeface="Tahoma" panose="020B0604030504040204" pitchFamily="34" charset="0"/>
                  <a:ea typeface="宋体" panose="02010600030101010101" pitchFamily="2" charset="-122"/>
                </a:rPr>
                <a:t>Event queue </a:t>
              </a:r>
            </a:p>
          </p:txBody>
        </p:sp>
      </p:grpSp>
      <p:sp>
        <p:nvSpPr>
          <p:cNvPr id="173" name="Text Box 45">
            <a:extLst>
              <a:ext uri="{FF2B5EF4-FFF2-40B4-BE49-F238E27FC236}">
                <a16:creationId xmlns:a16="http://schemas.microsoft.com/office/drawing/2014/main" id="{2C503AAE-AA11-4CD8-9AEC-27D1E56BF095}"/>
              </a:ext>
            </a:extLst>
          </p:cNvPr>
          <p:cNvSpPr txBox="1">
            <a:spLocks noChangeArrowheads="1"/>
          </p:cNvSpPr>
          <p:nvPr/>
        </p:nvSpPr>
        <p:spPr bwMode="auto">
          <a:xfrm>
            <a:off x="7756526" y="2090738"/>
            <a:ext cx="1641475" cy="457200"/>
          </a:xfrm>
          <a:prstGeom prst="rect">
            <a:avLst/>
          </a:prstGeom>
          <a:noFill/>
          <a:ln w="9525">
            <a:noFill/>
            <a:miter lim="800000"/>
            <a:headEnd/>
            <a:tailEnd/>
          </a:ln>
          <a:effectLst/>
        </p:spPr>
        <p:txBody>
          <a:bodyPr wrap="none">
            <a:spAutoFit/>
          </a:bodyPr>
          <a:lstStyle/>
          <a:p>
            <a:pPr eaLnBrk="1" hangingPunct="1">
              <a:defRPr/>
            </a:pPr>
            <a:r>
              <a:rPr lang="en-US" altLang="zh-CN" sz="2400" b="1">
                <a:solidFill>
                  <a:srgbClr val="008000"/>
                </a:solidFill>
                <a:effectLst>
                  <a:outerShdw blurRad="38100" dist="38100" dir="2700000" algn="tl">
                    <a:srgbClr val="C0C0C0"/>
                  </a:outerShdw>
                </a:effectLst>
                <a:latin typeface="Tahoma" pitchFamily="34" charset="0"/>
                <a:ea typeface="宋体" pitchFamily="2" charset="-122"/>
              </a:rPr>
              <a:t>Keyboard</a:t>
            </a:r>
          </a:p>
        </p:txBody>
      </p:sp>
      <p:sp>
        <p:nvSpPr>
          <p:cNvPr id="174" name="Text Box 47">
            <a:extLst>
              <a:ext uri="{FF2B5EF4-FFF2-40B4-BE49-F238E27FC236}">
                <a16:creationId xmlns:a16="http://schemas.microsoft.com/office/drawing/2014/main" id="{1CA9436D-8EB9-424F-AB44-1C1B73E35679}"/>
              </a:ext>
            </a:extLst>
          </p:cNvPr>
          <p:cNvSpPr txBox="1">
            <a:spLocks noChangeArrowheads="1"/>
          </p:cNvSpPr>
          <p:nvPr/>
        </p:nvSpPr>
        <p:spPr bwMode="auto">
          <a:xfrm>
            <a:off x="7772401" y="2971800"/>
            <a:ext cx="1177925" cy="457200"/>
          </a:xfrm>
          <a:prstGeom prst="rect">
            <a:avLst/>
          </a:prstGeom>
          <a:noFill/>
          <a:ln w="9525">
            <a:noFill/>
            <a:miter lim="800000"/>
            <a:headEnd/>
            <a:tailEnd/>
          </a:ln>
          <a:effectLst/>
        </p:spPr>
        <p:txBody>
          <a:bodyPr wrap="none">
            <a:spAutoFit/>
          </a:bodyPr>
          <a:lstStyle/>
          <a:p>
            <a:pPr eaLnBrk="1" hangingPunct="1">
              <a:defRPr/>
            </a:pPr>
            <a:r>
              <a:rPr lang="en-US" altLang="zh-CN" sz="2400" b="1">
                <a:solidFill>
                  <a:srgbClr val="5B0DAA"/>
                </a:solidFill>
                <a:effectLst>
                  <a:outerShdw blurRad="38100" dist="38100" dir="2700000" algn="tl">
                    <a:srgbClr val="C0C0C0"/>
                  </a:outerShdw>
                </a:effectLst>
                <a:latin typeface="Tahoma" pitchFamily="34" charset="0"/>
                <a:ea typeface="宋体" pitchFamily="2" charset="-122"/>
              </a:rPr>
              <a:t>Mouse</a:t>
            </a:r>
          </a:p>
        </p:txBody>
      </p:sp>
      <p:grpSp>
        <p:nvGrpSpPr>
          <p:cNvPr id="175" name="Group 83">
            <a:extLst>
              <a:ext uri="{FF2B5EF4-FFF2-40B4-BE49-F238E27FC236}">
                <a16:creationId xmlns:a16="http://schemas.microsoft.com/office/drawing/2014/main" id="{F4899D19-3343-4EC8-8E2F-00E05D2843B1}"/>
              </a:ext>
            </a:extLst>
          </p:cNvPr>
          <p:cNvGrpSpPr>
            <a:grpSpLocks/>
          </p:cNvGrpSpPr>
          <p:nvPr/>
        </p:nvGrpSpPr>
        <p:grpSpPr bwMode="auto">
          <a:xfrm>
            <a:off x="6477000" y="2438400"/>
            <a:ext cx="1143000" cy="1600200"/>
            <a:chOff x="3120" y="1536"/>
            <a:chExt cx="720" cy="1008"/>
          </a:xfrm>
        </p:grpSpPr>
        <p:sp>
          <p:nvSpPr>
            <p:cNvPr id="176" name="Line 44">
              <a:extLst>
                <a:ext uri="{FF2B5EF4-FFF2-40B4-BE49-F238E27FC236}">
                  <a16:creationId xmlns:a16="http://schemas.microsoft.com/office/drawing/2014/main" id="{60EC4F9A-800A-4BEC-A681-1E78D06C1CFF}"/>
                </a:ext>
              </a:extLst>
            </p:cNvPr>
            <p:cNvSpPr>
              <a:spLocks noChangeShapeType="1"/>
            </p:cNvSpPr>
            <p:nvPr/>
          </p:nvSpPr>
          <p:spPr bwMode="auto">
            <a:xfrm flipH="1">
              <a:off x="3120" y="1536"/>
              <a:ext cx="720" cy="384"/>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77" name="Line 46">
              <a:extLst>
                <a:ext uri="{FF2B5EF4-FFF2-40B4-BE49-F238E27FC236}">
                  <a16:creationId xmlns:a16="http://schemas.microsoft.com/office/drawing/2014/main" id="{43D257EE-452F-4B6D-8845-391E674E8C13}"/>
                </a:ext>
              </a:extLst>
            </p:cNvPr>
            <p:cNvSpPr>
              <a:spLocks noChangeShapeType="1"/>
            </p:cNvSpPr>
            <p:nvPr/>
          </p:nvSpPr>
          <p:spPr bwMode="auto">
            <a:xfrm flipH="1">
              <a:off x="3120" y="2064"/>
              <a:ext cx="720"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78" name="Line 48">
              <a:extLst>
                <a:ext uri="{FF2B5EF4-FFF2-40B4-BE49-F238E27FC236}">
                  <a16:creationId xmlns:a16="http://schemas.microsoft.com/office/drawing/2014/main" id="{CB5E1F3D-F59B-4CEB-9B16-020888CF4BA7}"/>
                </a:ext>
              </a:extLst>
            </p:cNvPr>
            <p:cNvSpPr>
              <a:spLocks noChangeShapeType="1"/>
            </p:cNvSpPr>
            <p:nvPr/>
          </p:nvSpPr>
          <p:spPr bwMode="auto">
            <a:xfrm flipH="1" flipV="1">
              <a:off x="3120" y="2208"/>
              <a:ext cx="672" cy="336"/>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grpSp>
      <p:sp>
        <p:nvSpPr>
          <p:cNvPr id="179" name="Text Box 49">
            <a:extLst>
              <a:ext uri="{FF2B5EF4-FFF2-40B4-BE49-F238E27FC236}">
                <a16:creationId xmlns:a16="http://schemas.microsoft.com/office/drawing/2014/main" id="{5CD60160-5B6C-4BDF-A508-0757CF2FCA77}"/>
              </a:ext>
            </a:extLst>
          </p:cNvPr>
          <p:cNvSpPr txBox="1">
            <a:spLocks noChangeArrowheads="1"/>
          </p:cNvSpPr>
          <p:nvPr/>
        </p:nvSpPr>
        <p:spPr bwMode="auto">
          <a:xfrm>
            <a:off x="7596189" y="3571876"/>
            <a:ext cx="2911475" cy="830997"/>
          </a:xfrm>
          <a:prstGeom prst="rect">
            <a:avLst/>
          </a:prstGeom>
          <a:noFill/>
          <a:ln w="9525">
            <a:noFill/>
            <a:miter lim="800000"/>
            <a:headEnd/>
            <a:tailEnd/>
          </a:ln>
          <a:effectLst/>
        </p:spPr>
        <p:txBody>
          <a:bodyPr>
            <a:spAutoFit/>
          </a:bodyPr>
          <a:lstStyle/>
          <a:p>
            <a:pPr eaLnBrk="1" hangingPunct="1">
              <a:defRPr/>
            </a:pPr>
            <a:r>
              <a:rPr lang="en-US" altLang="zh-CN" sz="2400" b="1">
                <a:solidFill>
                  <a:srgbClr val="CC0000"/>
                </a:solidFill>
                <a:effectLst>
                  <a:outerShdw blurRad="38100" dist="38100" dir="2700000" algn="tl">
                    <a:srgbClr val="C0C0C0"/>
                  </a:outerShdw>
                </a:effectLst>
                <a:latin typeface="Tahoma" pitchFamily="34" charset="0"/>
                <a:ea typeface="宋体" pitchFamily="2" charset="-122"/>
              </a:rPr>
              <a:t>Window (Display</a:t>
            </a:r>
            <a:r>
              <a:rPr lang="zh-CN" altLang="en-US" sz="2400" b="1">
                <a:solidFill>
                  <a:srgbClr val="CC0000"/>
                </a:solidFill>
                <a:effectLst>
                  <a:outerShdw blurRad="38100" dist="38100" dir="2700000" algn="tl">
                    <a:srgbClr val="C0C0C0"/>
                  </a:outerShdw>
                </a:effectLst>
                <a:latin typeface="Tahoma" pitchFamily="34" charset="0"/>
                <a:ea typeface="宋体" pitchFamily="2" charset="-122"/>
              </a:rPr>
              <a:t>、</a:t>
            </a:r>
          </a:p>
          <a:p>
            <a:pPr eaLnBrk="1" hangingPunct="1">
              <a:defRPr/>
            </a:pPr>
            <a:r>
              <a:rPr lang="zh-CN" altLang="en-US" sz="2400" b="1">
                <a:solidFill>
                  <a:srgbClr val="CC0000"/>
                </a:solidFill>
                <a:effectLst>
                  <a:outerShdw blurRad="38100" dist="38100" dir="2700000" algn="tl">
                    <a:srgbClr val="C0C0C0"/>
                  </a:outerShdw>
                </a:effectLst>
                <a:latin typeface="Tahoma" pitchFamily="34" charset="0"/>
                <a:ea typeface="宋体" pitchFamily="2" charset="-122"/>
              </a:rPr>
              <a:t>         </a:t>
            </a:r>
            <a:r>
              <a:rPr lang="en-US" altLang="zh-CN" sz="2400" b="1">
                <a:solidFill>
                  <a:srgbClr val="CC0000"/>
                </a:solidFill>
                <a:effectLst>
                  <a:outerShdw blurRad="38100" dist="38100" dir="2700000" algn="tl">
                    <a:srgbClr val="C0C0C0"/>
                  </a:outerShdw>
                </a:effectLst>
                <a:latin typeface="Tahoma" pitchFamily="34" charset="0"/>
                <a:ea typeface="宋体" pitchFamily="2" charset="-122"/>
              </a:rPr>
              <a:t>Reshape</a:t>
            </a:r>
            <a:r>
              <a:rPr lang="zh-CN" altLang="en-US" sz="2400" b="1">
                <a:solidFill>
                  <a:srgbClr val="CC0000"/>
                </a:solidFill>
                <a:effectLst>
                  <a:outerShdw blurRad="38100" dist="38100" dir="2700000" algn="tl">
                    <a:srgbClr val="C0C0C0"/>
                  </a:outerShdw>
                </a:effectLst>
                <a:latin typeface="Tahoma" pitchFamily="34" charset="0"/>
                <a:ea typeface="宋体" pitchFamily="2" charset="-122"/>
              </a:rPr>
              <a:t>、</a:t>
            </a:r>
            <a:r>
              <a:rPr lang="en-US" altLang="zh-CN" sz="2400" b="1">
                <a:solidFill>
                  <a:srgbClr val="CC0000"/>
                </a:solidFill>
                <a:effectLst>
                  <a:outerShdw blurRad="38100" dist="38100" dir="2700000" algn="tl">
                    <a:srgbClr val="C0C0C0"/>
                  </a:outerShdw>
                </a:effectLst>
                <a:latin typeface="Tahoma" pitchFamily="34" charset="0"/>
                <a:ea typeface="宋体" pitchFamily="2" charset="-122"/>
              </a:rPr>
              <a:t>…)</a:t>
            </a:r>
          </a:p>
        </p:txBody>
      </p:sp>
      <p:sp>
        <p:nvSpPr>
          <p:cNvPr id="180" name="Text Box 50">
            <a:extLst>
              <a:ext uri="{FF2B5EF4-FFF2-40B4-BE49-F238E27FC236}">
                <a16:creationId xmlns:a16="http://schemas.microsoft.com/office/drawing/2014/main" id="{EDD3EA53-0975-41D0-81FC-7C8A316768F0}"/>
              </a:ext>
            </a:extLst>
          </p:cNvPr>
          <p:cNvSpPr txBox="1">
            <a:spLocks noChangeArrowheads="1"/>
          </p:cNvSpPr>
          <p:nvPr/>
        </p:nvSpPr>
        <p:spPr bwMode="auto">
          <a:xfrm>
            <a:off x="8001001" y="2438400"/>
            <a:ext cx="52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hangingPunct="1"/>
            <a:r>
              <a:rPr lang="en-US" altLang="zh-CN" sz="2400">
                <a:solidFill>
                  <a:srgbClr val="000000"/>
                </a:solidFill>
                <a:latin typeface="Tahoma" panose="020B0604030504040204" pitchFamily="34" charset="0"/>
                <a:ea typeface="宋体" panose="02010600030101010101" pitchFamily="2" charset="-122"/>
              </a:rPr>
              <a:t>….</a:t>
            </a:r>
          </a:p>
        </p:txBody>
      </p:sp>
      <p:sp>
        <p:nvSpPr>
          <p:cNvPr id="181" name="Line 55">
            <a:extLst>
              <a:ext uri="{FF2B5EF4-FFF2-40B4-BE49-F238E27FC236}">
                <a16:creationId xmlns:a16="http://schemas.microsoft.com/office/drawing/2014/main" id="{AD14B973-5786-40C9-BC36-4402346DF93C}"/>
              </a:ext>
            </a:extLst>
          </p:cNvPr>
          <p:cNvSpPr>
            <a:spLocks noChangeShapeType="1"/>
          </p:cNvSpPr>
          <p:nvPr/>
        </p:nvSpPr>
        <p:spPr bwMode="auto">
          <a:xfrm flipH="1">
            <a:off x="3743325" y="3581400"/>
            <a:ext cx="933450" cy="70485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182" name="Line 56">
            <a:extLst>
              <a:ext uri="{FF2B5EF4-FFF2-40B4-BE49-F238E27FC236}">
                <a16:creationId xmlns:a16="http://schemas.microsoft.com/office/drawing/2014/main" id="{EBEB3035-2706-4110-9E94-4BA269EF0089}"/>
              </a:ext>
            </a:extLst>
          </p:cNvPr>
          <p:cNvSpPr>
            <a:spLocks noChangeShapeType="1"/>
          </p:cNvSpPr>
          <p:nvPr/>
        </p:nvSpPr>
        <p:spPr bwMode="auto">
          <a:xfrm>
            <a:off x="5600700" y="3581401"/>
            <a:ext cx="1028700" cy="771525"/>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grpSp>
        <p:nvGrpSpPr>
          <p:cNvPr id="183" name="Group 76">
            <a:extLst>
              <a:ext uri="{FF2B5EF4-FFF2-40B4-BE49-F238E27FC236}">
                <a16:creationId xmlns:a16="http://schemas.microsoft.com/office/drawing/2014/main" id="{53B1DCEC-3F9E-4019-9654-EADA358C2BF1}"/>
              </a:ext>
            </a:extLst>
          </p:cNvPr>
          <p:cNvGrpSpPr>
            <a:grpSpLocks/>
          </p:cNvGrpSpPr>
          <p:nvPr/>
        </p:nvGrpSpPr>
        <p:grpSpPr bwMode="auto">
          <a:xfrm>
            <a:off x="2640013" y="2060575"/>
            <a:ext cx="4495800" cy="1828800"/>
            <a:chOff x="576" y="1344"/>
            <a:chExt cx="2832" cy="1152"/>
          </a:xfrm>
        </p:grpSpPr>
        <p:sp>
          <p:nvSpPr>
            <p:cNvPr id="184" name="Rectangle 27">
              <a:extLst>
                <a:ext uri="{FF2B5EF4-FFF2-40B4-BE49-F238E27FC236}">
                  <a16:creationId xmlns:a16="http://schemas.microsoft.com/office/drawing/2014/main" id="{E5EE33CD-5D21-4688-AE62-BC8C9261E6A3}"/>
                </a:ext>
              </a:extLst>
            </p:cNvPr>
            <p:cNvSpPr>
              <a:spLocks noChangeArrowheads="1"/>
            </p:cNvSpPr>
            <p:nvPr/>
          </p:nvSpPr>
          <p:spPr bwMode="auto">
            <a:xfrm>
              <a:off x="576" y="1344"/>
              <a:ext cx="2832" cy="1152"/>
            </a:xfrm>
            <a:prstGeom prst="rect">
              <a:avLst/>
            </a:prstGeom>
            <a:solidFill>
              <a:srgbClr val="808080">
                <a:alpha val="25882"/>
              </a:srgbClr>
            </a:solidFill>
            <a:ln w="19050">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85" name="Text Box 60">
              <a:extLst>
                <a:ext uri="{FF2B5EF4-FFF2-40B4-BE49-F238E27FC236}">
                  <a16:creationId xmlns:a16="http://schemas.microsoft.com/office/drawing/2014/main" id="{03D0AD9B-85B3-45CF-87C7-471A7311018E}"/>
                </a:ext>
              </a:extLst>
            </p:cNvPr>
            <p:cNvSpPr txBox="1">
              <a:spLocks noChangeArrowheads="1"/>
            </p:cNvSpPr>
            <p:nvPr/>
          </p:nvSpPr>
          <p:spPr bwMode="auto">
            <a:xfrm>
              <a:off x="576" y="1344"/>
              <a:ext cx="1608" cy="288"/>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2400" b="1" kern="0">
                  <a:solidFill>
                    <a:srgbClr val="000000"/>
                  </a:solidFill>
                  <a:effectLst>
                    <a:outerShdw blurRad="38100" dist="38100" dir="2700000" algn="tl">
                      <a:srgbClr val="C0C0C0"/>
                    </a:outerShdw>
                  </a:effectLst>
                  <a:latin typeface="Tahoma" pitchFamily="34" charset="0"/>
                  <a:ea typeface="宋体" pitchFamily="2" charset="-122"/>
                </a:rPr>
                <a:t>glutMainLoop()</a:t>
              </a:r>
            </a:p>
          </p:txBody>
        </p:sp>
      </p:grpSp>
      <p:grpSp>
        <p:nvGrpSpPr>
          <p:cNvPr id="186" name="Group 77">
            <a:extLst>
              <a:ext uri="{FF2B5EF4-FFF2-40B4-BE49-F238E27FC236}">
                <a16:creationId xmlns:a16="http://schemas.microsoft.com/office/drawing/2014/main" id="{51CB4E38-6F44-4A5F-9605-F47CA867C1A4}"/>
              </a:ext>
            </a:extLst>
          </p:cNvPr>
          <p:cNvGrpSpPr>
            <a:grpSpLocks/>
          </p:cNvGrpSpPr>
          <p:nvPr/>
        </p:nvGrpSpPr>
        <p:grpSpPr bwMode="auto">
          <a:xfrm>
            <a:off x="4133850" y="3128964"/>
            <a:ext cx="2014538" cy="452437"/>
            <a:chOff x="1644" y="1971"/>
            <a:chExt cx="1269" cy="285"/>
          </a:xfrm>
        </p:grpSpPr>
        <p:sp>
          <p:nvSpPr>
            <p:cNvPr id="187" name="Rectangle 61">
              <a:extLst>
                <a:ext uri="{FF2B5EF4-FFF2-40B4-BE49-F238E27FC236}">
                  <a16:creationId xmlns:a16="http://schemas.microsoft.com/office/drawing/2014/main" id="{B915A1AE-E6EC-48F1-8699-5968AA9991CF}"/>
                </a:ext>
              </a:extLst>
            </p:cNvPr>
            <p:cNvSpPr>
              <a:spLocks noChangeArrowheads="1"/>
            </p:cNvSpPr>
            <p:nvPr/>
          </p:nvSpPr>
          <p:spPr bwMode="auto">
            <a:xfrm>
              <a:off x="1644" y="1971"/>
              <a:ext cx="147" cy="285"/>
            </a:xfrm>
            <a:prstGeom prst="rect">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88" name="Rectangle 62">
              <a:extLst>
                <a:ext uri="{FF2B5EF4-FFF2-40B4-BE49-F238E27FC236}">
                  <a16:creationId xmlns:a16="http://schemas.microsoft.com/office/drawing/2014/main" id="{582C1EAB-446B-4C65-9A3A-87057838046A}"/>
                </a:ext>
              </a:extLst>
            </p:cNvPr>
            <p:cNvSpPr>
              <a:spLocks noChangeArrowheads="1"/>
            </p:cNvSpPr>
            <p:nvPr/>
          </p:nvSpPr>
          <p:spPr bwMode="auto">
            <a:xfrm>
              <a:off x="1782" y="1971"/>
              <a:ext cx="147" cy="285"/>
            </a:xfrm>
            <a:prstGeom prst="rect">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89" name="Rectangle 63">
              <a:extLst>
                <a:ext uri="{FF2B5EF4-FFF2-40B4-BE49-F238E27FC236}">
                  <a16:creationId xmlns:a16="http://schemas.microsoft.com/office/drawing/2014/main" id="{6F5DB7A8-5EAE-4C07-B382-5692D4BD3DA0}"/>
                </a:ext>
              </a:extLst>
            </p:cNvPr>
            <p:cNvSpPr>
              <a:spLocks noChangeArrowheads="1"/>
            </p:cNvSpPr>
            <p:nvPr/>
          </p:nvSpPr>
          <p:spPr bwMode="auto">
            <a:xfrm>
              <a:off x="2055" y="1971"/>
              <a:ext cx="147" cy="285"/>
            </a:xfrm>
            <a:prstGeom prst="rect">
              <a:avLst/>
            </a:prstGeom>
            <a:solidFill>
              <a:srgbClr val="33CC33"/>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0" name="Rectangle 64">
              <a:extLst>
                <a:ext uri="{FF2B5EF4-FFF2-40B4-BE49-F238E27FC236}">
                  <a16:creationId xmlns:a16="http://schemas.microsoft.com/office/drawing/2014/main" id="{68656C31-7774-4BE4-BF01-31DB5A2800AA}"/>
                </a:ext>
              </a:extLst>
            </p:cNvPr>
            <p:cNvSpPr>
              <a:spLocks noChangeArrowheads="1"/>
            </p:cNvSpPr>
            <p:nvPr/>
          </p:nvSpPr>
          <p:spPr bwMode="auto">
            <a:xfrm>
              <a:off x="1923" y="1971"/>
              <a:ext cx="147" cy="285"/>
            </a:xfrm>
            <a:prstGeom prst="rect">
              <a:avLst/>
            </a:prstGeom>
            <a:solidFill>
              <a:srgbClr val="5B0DAA"/>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1" name="Rectangle 65">
              <a:extLst>
                <a:ext uri="{FF2B5EF4-FFF2-40B4-BE49-F238E27FC236}">
                  <a16:creationId xmlns:a16="http://schemas.microsoft.com/office/drawing/2014/main" id="{B23F848C-7376-44CA-9F86-962FC882C031}"/>
                </a:ext>
              </a:extLst>
            </p:cNvPr>
            <p:cNvSpPr>
              <a:spLocks noChangeArrowheads="1"/>
            </p:cNvSpPr>
            <p:nvPr/>
          </p:nvSpPr>
          <p:spPr bwMode="auto">
            <a:xfrm>
              <a:off x="2202" y="1971"/>
              <a:ext cx="147" cy="285"/>
            </a:xfrm>
            <a:prstGeom prst="rect">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2" name="Rectangle 66">
              <a:extLst>
                <a:ext uri="{FF2B5EF4-FFF2-40B4-BE49-F238E27FC236}">
                  <a16:creationId xmlns:a16="http://schemas.microsoft.com/office/drawing/2014/main" id="{D64BDF48-55FD-4102-BEB6-CC6EBE7348E7}"/>
                </a:ext>
              </a:extLst>
            </p:cNvPr>
            <p:cNvSpPr>
              <a:spLocks noChangeArrowheads="1"/>
            </p:cNvSpPr>
            <p:nvPr/>
          </p:nvSpPr>
          <p:spPr bwMode="auto">
            <a:xfrm>
              <a:off x="2343" y="1971"/>
              <a:ext cx="147" cy="285"/>
            </a:xfrm>
            <a:prstGeom prst="rect">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3" name="Rectangle 67">
              <a:extLst>
                <a:ext uri="{FF2B5EF4-FFF2-40B4-BE49-F238E27FC236}">
                  <a16:creationId xmlns:a16="http://schemas.microsoft.com/office/drawing/2014/main" id="{4BFCC496-1464-4286-8AF1-90C6F9806015}"/>
                </a:ext>
              </a:extLst>
            </p:cNvPr>
            <p:cNvSpPr>
              <a:spLocks noChangeArrowheads="1"/>
            </p:cNvSpPr>
            <p:nvPr/>
          </p:nvSpPr>
          <p:spPr bwMode="auto">
            <a:xfrm>
              <a:off x="2487" y="1971"/>
              <a:ext cx="147" cy="285"/>
            </a:xfrm>
            <a:prstGeom prst="rect">
              <a:avLst/>
            </a:prstGeom>
            <a:solidFill>
              <a:srgbClr val="CC0000"/>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4" name="Rectangle 68">
              <a:extLst>
                <a:ext uri="{FF2B5EF4-FFF2-40B4-BE49-F238E27FC236}">
                  <a16:creationId xmlns:a16="http://schemas.microsoft.com/office/drawing/2014/main" id="{B57AD0EB-F926-4396-B141-60ADA4226314}"/>
                </a:ext>
              </a:extLst>
            </p:cNvPr>
            <p:cNvSpPr>
              <a:spLocks noChangeArrowheads="1"/>
            </p:cNvSpPr>
            <p:nvPr/>
          </p:nvSpPr>
          <p:spPr bwMode="auto">
            <a:xfrm>
              <a:off x="2625" y="1971"/>
              <a:ext cx="147" cy="285"/>
            </a:xfrm>
            <a:prstGeom prst="rect">
              <a:avLst/>
            </a:prstGeom>
            <a:solidFill>
              <a:srgbClr val="FFD96D"/>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5" name="Rectangle 69">
              <a:extLst>
                <a:ext uri="{FF2B5EF4-FFF2-40B4-BE49-F238E27FC236}">
                  <a16:creationId xmlns:a16="http://schemas.microsoft.com/office/drawing/2014/main" id="{5A034413-5224-48A4-ACD3-8FFC4AA97A35}"/>
                </a:ext>
              </a:extLst>
            </p:cNvPr>
            <p:cNvSpPr>
              <a:spLocks noChangeArrowheads="1"/>
            </p:cNvSpPr>
            <p:nvPr/>
          </p:nvSpPr>
          <p:spPr bwMode="auto">
            <a:xfrm>
              <a:off x="2766" y="1971"/>
              <a:ext cx="147" cy="285"/>
            </a:xfrm>
            <a:prstGeom prst="rect">
              <a:avLst/>
            </a:prstGeom>
            <a:solidFill>
              <a:srgbClr val="33CC33"/>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196" name="Group 94">
            <a:extLst>
              <a:ext uri="{FF2B5EF4-FFF2-40B4-BE49-F238E27FC236}">
                <a16:creationId xmlns:a16="http://schemas.microsoft.com/office/drawing/2014/main" id="{599517E0-3FDF-4AF3-BD2B-E9675DF68B90}"/>
              </a:ext>
            </a:extLst>
          </p:cNvPr>
          <p:cNvGrpSpPr>
            <a:grpSpLocks/>
          </p:cNvGrpSpPr>
          <p:nvPr/>
        </p:nvGrpSpPr>
        <p:grpSpPr bwMode="auto">
          <a:xfrm>
            <a:off x="6600825" y="4362450"/>
            <a:ext cx="2306638" cy="1733550"/>
            <a:chOff x="3198" y="2748"/>
            <a:chExt cx="1405" cy="1092"/>
          </a:xfrm>
        </p:grpSpPr>
        <p:sp>
          <p:nvSpPr>
            <p:cNvPr id="197" name="Text Box 53">
              <a:extLst>
                <a:ext uri="{FF2B5EF4-FFF2-40B4-BE49-F238E27FC236}">
                  <a16:creationId xmlns:a16="http://schemas.microsoft.com/office/drawing/2014/main" id="{6035512C-09F9-4130-86DD-05A1ABD95A3E}"/>
                </a:ext>
              </a:extLst>
            </p:cNvPr>
            <p:cNvSpPr txBox="1">
              <a:spLocks noChangeArrowheads="1"/>
            </p:cNvSpPr>
            <p:nvPr/>
          </p:nvSpPr>
          <p:spPr bwMode="auto">
            <a:xfrm>
              <a:off x="3198" y="2931"/>
              <a:ext cx="1405" cy="756"/>
            </a:xfrm>
            <a:prstGeom prst="rect">
              <a:avLst/>
            </a:prstGeom>
            <a:noFill/>
            <a:ln w="9525">
              <a:noFill/>
              <a:miter lim="800000"/>
              <a:headEnd/>
              <a:tailEnd/>
            </a:ln>
            <a:effectLst/>
          </p:spPr>
          <p:txBody>
            <a:bodyPr wrap="square">
              <a:spAutoFit/>
            </a:bodyPr>
            <a:lstStyle/>
            <a:p>
              <a:pPr eaLnBrk="1" fontAlgn="auto" hangingPunct="1">
                <a:spcBef>
                  <a:spcPts val="0"/>
                </a:spcBef>
                <a:spcAft>
                  <a:spcPts val="0"/>
                </a:spcAft>
                <a:defRPr/>
              </a:pPr>
              <a:r>
                <a:rPr lang="en-US" altLang="zh-CN" sz="1800" b="1" kern="0" dirty="0" err="1">
                  <a:solidFill>
                    <a:srgbClr val="000000"/>
                  </a:solidFill>
                  <a:effectLst>
                    <a:outerShdw blurRad="38100" dist="38100" dir="2700000" algn="tl">
                      <a:srgbClr val="C0C0C0"/>
                    </a:outerShdw>
                  </a:effectLst>
                  <a:latin typeface="Tahoma" pitchFamily="34" charset="0"/>
                  <a:ea typeface="宋体" pitchFamily="2" charset="-122"/>
                </a:rPr>
                <a:t>Window_callback</a:t>
              </a:r>
              <a:r>
                <a:rPr lang="en-US" altLang="zh-CN" sz="1800" b="1" kern="0" dirty="0">
                  <a:solidFill>
                    <a:srgbClr val="000000"/>
                  </a:solidFill>
                  <a:effectLst>
                    <a:outerShdw blurRad="38100" dist="38100" dir="2700000" algn="tl">
                      <a:srgbClr val="C0C0C0"/>
                    </a:outerShdw>
                  </a:effectLst>
                  <a:latin typeface="Tahoma" pitchFamily="34" charset="0"/>
                  <a:ea typeface="宋体" pitchFamily="2" charset="-122"/>
                </a:rPr>
                <a:t>() </a:t>
              </a:r>
            </a:p>
            <a:p>
              <a:pPr eaLnBrk="1" fontAlgn="auto" hangingPunct="1">
                <a:spcBef>
                  <a:spcPts val="0"/>
                </a:spcBef>
                <a:spcAft>
                  <a:spcPts val="0"/>
                </a:spcAft>
                <a:defRPr/>
              </a:pPr>
              <a:r>
                <a:rPr lang="en-US" altLang="zh-CN" sz="1800" b="1" kern="0" dirty="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dirty="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dirty="0">
                  <a:solidFill>
                    <a:srgbClr val="000000"/>
                  </a:solidFill>
                  <a:effectLst>
                    <a:outerShdw blurRad="38100" dist="38100" dir="2700000" algn="tl">
                      <a:srgbClr val="C0C0C0"/>
                    </a:outerShdw>
                  </a:effectLst>
                  <a:latin typeface="Tahoma" pitchFamily="34" charset="0"/>
                  <a:ea typeface="宋体" pitchFamily="2" charset="-122"/>
                </a:rPr>
                <a:t>}</a:t>
              </a:r>
            </a:p>
          </p:txBody>
        </p:sp>
        <p:sp>
          <p:nvSpPr>
            <p:cNvPr id="198" name="Rectangle 59">
              <a:extLst>
                <a:ext uri="{FF2B5EF4-FFF2-40B4-BE49-F238E27FC236}">
                  <a16:creationId xmlns:a16="http://schemas.microsoft.com/office/drawing/2014/main" id="{046F3E10-4F7E-42C0-B377-CEE611125721}"/>
                </a:ext>
              </a:extLst>
            </p:cNvPr>
            <p:cNvSpPr>
              <a:spLocks noChangeArrowheads="1"/>
            </p:cNvSpPr>
            <p:nvPr/>
          </p:nvSpPr>
          <p:spPr bwMode="auto">
            <a:xfrm>
              <a:off x="3216" y="2880"/>
              <a:ext cx="1297" cy="9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199" name="Rectangle 70">
              <a:extLst>
                <a:ext uri="{FF2B5EF4-FFF2-40B4-BE49-F238E27FC236}">
                  <a16:creationId xmlns:a16="http://schemas.microsoft.com/office/drawing/2014/main" id="{941F92EF-599F-4B50-B742-EAC28E9EC714}"/>
                </a:ext>
              </a:extLst>
            </p:cNvPr>
            <p:cNvSpPr>
              <a:spLocks noChangeArrowheads="1"/>
            </p:cNvSpPr>
            <p:nvPr/>
          </p:nvSpPr>
          <p:spPr bwMode="auto">
            <a:xfrm>
              <a:off x="3219" y="2748"/>
              <a:ext cx="1294" cy="135"/>
            </a:xfrm>
            <a:prstGeom prst="rect">
              <a:avLst/>
            </a:prstGeom>
            <a:solidFill>
              <a:srgbClr val="CC0000"/>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200" name="Group 92">
            <a:extLst>
              <a:ext uri="{FF2B5EF4-FFF2-40B4-BE49-F238E27FC236}">
                <a16:creationId xmlns:a16="http://schemas.microsoft.com/office/drawing/2014/main" id="{31FBA860-4C42-4492-BB43-F44289DF8C2E}"/>
              </a:ext>
            </a:extLst>
          </p:cNvPr>
          <p:cNvGrpSpPr>
            <a:grpSpLocks/>
          </p:cNvGrpSpPr>
          <p:nvPr/>
        </p:nvGrpSpPr>
        <p:grpSpPr bwMode="auto">
          <a:xfrm>
            <a:off x="4295777" y="4365626"/>
            <a:ext cx="2601913" cy="1730375"/>
            <a:chOff x="1746" y="2750"/>
            <a:chExt cx="1639" cy="1090"/>
          </a:xfrm>
        </p:grpSpPr>
        <p:sp>
          <p:nvSpPr>
            <p:cNvPr id="201" name="Text Box 52">
              <a:extLst>
                <a:ext uri="{FF2B5EF4-FFF2-40B4-BE49-F238E27FC236}">
                  <a16:creationId xmlns:a16="http://schemas.microsoft.com/office/drawing/2014/main" id="{F35586F9-275C-422F-AD8A-20436FC6CB58}"/>
                </a:ext>
              </a:extLst>
            </p:cNvPr>
            <p:cNvSpPr txBox="1">
              <a:spLocks noChangeArrowheads="1"/>
            </p:cNvSpPr>
            <p:nvPr/>
          </p:nvSpPr>
          <p:spPr bwMode="auto">
            <a:xfrm>
              <a:off x="1746" y="2931"/>
              <a:ext cx="1639" cy="756"/>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Keypress_callback() </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p:txBody>
        </p:sp>
        <p:grpSp>
          <p:nvGrpSpPr>
            <p:cNvPr id="202" name="Group 87">
              <a:extLst>
                <a:ext uri="{FF2B5EF4-FFF2-40B4-BE49-F238E27FC236}">
                  <a16:creationId xmlns:a16="http://schemas.microsoft.com/office/drawing/2014/main" id="{FE7BF3D5-2989-4740-87DE-08A11FAA05BA}"/>
                </a:ext>
              </a:extLst>
            </p:cNvPr>
            <p:cNvGrpSpPr>
              <a:grpSpLocks/>
            </p:cNvGrpSpPr>
            <p:nvPr/>
          </p:nvGrpSpPr>
          <p:grpSpPr bwMode="auto">
            <a:xfrm>
              <a:off x="1791" y="2750"/>
              <a:ext cx="1361" cy="1090"/>
              <a:chOff x="1791" y="2750"/>
              <a:chExt cx="1361" cy="1090"/>
            </a:xfrm>
          </p:grpSpPr>
          <p:sp>
            <p:nvSpPr>
              <p:cNvPr id="203" name="Rectangle 58">
                <a:extLst>
                  <a:ext uri="{FF2B5EF4-FFF2-40B4-BE49-F238E27FC236}">
                    <a16:creationId xmlns:a16="http://schemas.microsoft.com/office/drawing/2014/main" id="{DBF599A0-071B-470C-9B33-54EEBBC90589}"/>
                  </a:ext>
                </a:extLst>
              </p:cNvPr>
              <p:cNvSpPr>
                <a:spLocks noChangeArrowheads="1"/>
              </p:cNvSpPr>
              <p:nvPr/>
            </p:nvSpPr>
            <p:spPr bwMode="auto">
              <a:xfrm>
                <a:off x="1791" y="2880"/>
                <a:ext cx="1361" cy="9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204" name="Rectangle 71">
                <a:extLst>
                  <a:ext uri="{FF2B5EF4-FFF2-40B4-BE49-F238E27FC236}">
                    <a16:creationId xmlns:a16="http://schemas.microsoft.com/office/drawing/2014/main" id="{318C8453-79A4-48A6-BAA8-2354CDBD9B67}"/>
                  </a:ext>
                </a:extLst>
              </p:cNvPr>
              <p:cNvSpPr>
                <a:spLocks noChangeArrowheads="1"/>
              </p:cNvSpPr>
              <p:nvPr/>
            </p:nvSpPr>
            <p:spPr bwMode="auto">
              <a:xfrm>
                <a:off x="1791" y="2750"/>
                <a:ext cx="1358" cy="135"/>
              </a:xfrm>
              <a:prstGeom prst="rect">
                <a:avLst/>
              </a:prstGeom>
              <a:solidFill>
                <a:srgbClr val="33CC33"/>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grpSp>
        <p:nvGrpSpPr>
          <p:cNvPr id="205" name="Group 93">
            <a:extLst>
              <a:ext uri="{FF2B5EF4-FFF2-40B4-BE49-F238E27FC236}">
                <a16:creationId xmlns:a16="http://schemas.microsoft.com/office/drawing/2014/main" id="{EAD6A72B-0066-47F5-850E-AED61BD58408}"/>
              </a:ext>
            </a:extLst>
          </p:cNvPr>
          <p:cNvGrpSpPr>
            <a:grpSpLocks/>
          </p:cNvGrpSpPr>
          <p:nvPr/>
        </p:nvGrpSpPr>
        <p:grpSpPr bwMode="auto">
          <a:xfrm>
            <a:off x="2135188" y="4362450"/>
            <a:ext cx="2303462" cy="1733550"/>
            <a:chOff x="385" y="2748"/>
            <a:chExt cx="1451" cy="1092"/>
          </a:xfrm>
        </p:grpSpPr>
        <p:sp>
          <p:nvSpPr>
            <p:cNvPr id="206" name="Text Box 51">
              <a:extLst>
                <a:ext uri="{FF2B5EF4-FFF2-40B4-BE49-F238E27FC236}">
                  <a16:creationId xmlns:a16="http://schemas.microsoft.com/office/drawing/2014/main" id="{5442A43D-6335-41CB-8EAE-160D27ADC20D}"/>
                </a:ext>
              </a:extLst>
            </p:cNvPr>
            <p:cNvSpPr txBox="1">
              <a:spLocks noChangeArrowheads="1"/>
            </p:cNvSpPr>
            <p:nvPr/>
          </p:nvSpPr>
          <p:spPr bwMode="auto">
            <a:xfrm>
              <a:off x="385" y="2931"/>
              <a:ext cx="1451" cy="756"/>
            </a:xfrm>
            <a:prstGeom prst="rect">
              <a:avLst/>
            </a:prstGeom>
            <a:noFill/>
            <a:ln w="9525">
              <a:noFill/>
              <a:miter lim="800000"/>
              <a:headEnd/>
              <a:tailEnd/>
            </a:ln>
            <a:effectLst/>
          </p:spPr>
          <p:txBody>
            <a:bodyPr wrap="none">
              <a:spAutoFit/>
            </a:bodyPr>
            <a:lstStyle/>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Mouse_callback() </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a:p>
              <a:pP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latin typeface="Tahoma" pitchFamily="34" charset="0"/>
                  <a:ea typeface="宋体" pitchFamily="2" charset="-122"/>
                </a:rPr>
                <a:t>}</a:t>
              </a:r>
            </a:p>
          </p:txBody>
        </p:sp>
        <p:sp>
          <p:nvSpPr>
            <p:cNvPr id="207" name="Rectangle 57">
              <a:extLst>
                <a:ext uri="{FF2B5EF4-FFF2-40B4-BE49-F238E27FC236}">
                  <a16:creationId xmlns:a16="http://schemas.microsoft.com/office/drawing/2014/main" id="{2462F218-0678-4F0C-A8F3-B27ED2BEE8D1}"/>
                </a:ext>
              </a:extLst>
            </p:cNvPr>
            <p:cNvSpPr>
              <a:spLocks noChangeArrowheads="1"/>
            </p:cNvSpPr>
            <p:nvPr/>
          </p:nvSpPr>
          <p:spPr bwMode="auto">
            <a:xfrm>
              <a:off x="385" y="2880"/>
              <a:ext cx="1295" cy="9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208" name="Rectangle 72">
              <a:extLst>
                <a:ext uri="{FF2B5EF4-FFF2-40B4-BE49-F238E27FC236}">
                  <a16:creationId xmlns:a16="http://schemas.microsoft.com/office/drawing/2014/main" id="{CE0A6F9F-B706-4613-BA37-AEAF4FD080F2}"/>
                </a:ext>
              </a:extLst>
            </p:cNvPr>
            <p:cNvSpPr>
              <a:spLocks noChangeArrowheads="1"/>
            </p:cNvSpPr>
            <p:nvPr/>
          </p:nvSpPr>
          <p:spPr bwMode="auto">
            <a:xfrm>
              <a:off x="388" y="2748"/>
              <a:ext cx="1292" cy="135"/>
            </a:xfrm>
            <a:prstGeom prst="rect">
              <a:avLst/>
            </a:prstGeom>
            <a:solidFill>
              <a:srgbClr val="5B0DAA"/>
            </a:solidFill>
            <a:ln w="9525">
              <a:solidFill>
                <a:srgbClr val="00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lgn="ctr" eaLnBrk="1" fontAlgn="auto" hangingPunct="1">
                <a:spcBef>
                  <a:spcPts val="0"/>
                </a:spcBef>
                <a:spcAft>
                  <a:spcPts val="0"/>
                </a:spcAft>
                <a:defRPr/>
              </a:pPr>
              <a:endParaRPr lang="zh-CN" altLang="en-US" kern="0">
                <a:solidFill>
                  <a:srgbClr val="000000"/>
                </a:solidFill>
              </a:endParaRPr>
            </a:p>
          </p:txBody>
        </p:sp>
      </p:grpSp>
      <p:grpSp>
        <p:nvGrpSpPr>
          <p:cNvPr id="209" name="Group 86">
            <a:extLst>
              <a:ext uri="{FF2B5EF4-FFF2-40B4-BE49-F238E27FC236}">
                <a16:creationId xmlns:a16="http://schemas.microsoft.com/office/drawing/2014/main" id="{A339A1B9-C111-4662-90A8-22BCCC7F9959}"/>
              </a:ext>
            </a:extLst>
          </p:cNvPr>
          <p:cNvGrpSpPr>
            <a:grpSpLocks/>
          </p:cNvGrpSpPr>
          <p:nvPr/>
        </p:nvGrpSpPr>
        <p:grpSpPr bwMode="auto">
          <a:xfrm>
            <a:off x="4886326" y="3581401"/>
            <a:ext cx="1114425" cy="785813"/>
            <a:chOff x="2118" y="2256"/>
            <a:chExt cx="702" cy="495"/>
          </a:xfrm>
        </p:grpSpPr>
        <p:sp>
          <p:nvSpPr>
            <p:cNvPr id="210" name="Line 54">
              <a:extLst>
                <a:ext uri="{FF2B5EF4-FFF2-40B4-BE49-F238E27FC236}">
                  <a16:creationId xmlns:a16="http://schemas.microsoft.com/office/drawing/2014/main" id="{DF4867F4-3522-4780-A29E-A0C8008692D3}"/>
                </a:ext>
              </a:extLst>
            </p:cNvPr>
            <p:cNvSpPr>
              <a:spLocks noChangeShapeType="1"/>
            </p:cNvSpPr>
            <p:nvPr/>
          </p:nvSpPr>
          <p:spPr bwMode="auto">
            <a:xfrm>
              <a:off x="2118" y="2256"/>
              <a:ext cx="264" cy="495"/>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sp>
          <p:nvSpPr>
            <p:cNvPr id="211" name="Line 73">
              <a:extLst>
                <a:ext uri="{FF2B5EF4-FFF2-40B4-BE49-F238E27FC236}">
                  <a16:creationId xmlns:a16="http://schemas.microsoft.com/office/drawing/2014/main" id="{2D3090D0-19D0-4CE4-946A-D5869311BEC6}"/>
                </a:ext>
              </a:extLst>
            </p:cNvPr>
            <p:cNvSpPr>
              <a:spLocks noChangeShapeType="1"/>
            </p:cNvSpPr>
            <p:nvPr/>
          </p:nvSpPr>
          <p:spPr bwMode="auto">
            <a:xfrm flipH="1">
              <a:off x="2478" y="2292"/>
              <a:ext cx="342" cy="444"/>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zh-CN" altLang="en-US" sz="1800" kern="0">
                <a:solidFill>
                  <a:srgbClr val="00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box(in)">
                                      <p:cBhvr>
                                        <p:cTn id="7" dur="5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grpId="0" nodeType="clickEffect">
                                  <p:stCondLst>
                                    <p:cond delay="0"/>
                                  </p:stCondLst>
                                  <p:childTnLst>
                                    <p:set>
                                      <p:cBhvr>
                                        <p:cTn id="11" dur="1" fill="hold">
                                          <p:stCondLst>
                                            <p:cond delay="0"/>
                                          </p:stCondLst>
                                        </p:cTn>
                                        <p:tgtEl>
                                          <p:spTgt spid="173"/>
                                        </p:tgtEl>
                                        <p:attrNameLst>
                                          <p:attrName>style.visibility</p:attrName>
                                        </p:attrNameLst>
                                      </p:cBhvr>
                                      <p:to>
                                        <p:strVal val="visible"/>
                                      </p:to>
                                    </p:set>
                                    <p:anim calcmode="lin" valueType="num">
                                      <p:cBhvr>
                                        <p:cTn id="12" dur="500" fill="hold"/>
                                        <p:tgtEl>
                                          <p:spTgt spid="173"/>
                                        </p:tgtEl>
                                        <p:attrNameLst>
                                          <p:attrName>ppt_w</p:attrName>
                                        </p:attrNameLst>
                                      </p:cBhvr>
                                      <p:tavLst>
                                        <p:tav tm="0">
                                          <p:val>
                                            <p:strVal val="4/3*#ppt_w"/>
                                          </p:val>
                                        </p:tav>
                                        <p:tav tm="100000">
                                          <p:val>
                                            <p:strVal val="#ppt_w"/>
                                          </p:val>
                                        </p:tav>
                                      </p:tavLst>
                                    </p:anim>
                                    <p:anim calcmode="lin" valueType="num">
                                      <p:cBhvr>
                                        <p:cTn id="13" dur="500" fill="hold"/>
                                        <p:tgtEl>
                                          <p:spTgt spid="173"/>
                                        </p:tgtEl>
                                        <p:attrNameLst>
                                          <p:attrName>ppt_h</p:attrName>
                                        </p:attrNameLst>
                                      </p:cBhvr>
                                      <p:tavLst>
                                        <p:tav tm="0">
                                          <p:val>
                                            <p:strVal val="4/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288" fill="hold" grpId="0" nodeType="clickEffect">
                                  <p:stCondLst>
                                    <p:cond delay="0"/>
                                  </p:stCondLst>
                                  <p:childTnLst>
                                    <p:set>
                                      <p:cBhvr>
                                        <p:cTn id="17" dur="1" fill="hold">
                                          <p:stCondLst>
                                            <p:cond delay="0"/>
                                          </p:stCondLst>
                                        </p:cTn>
                                        <p:tgtEl>
                                          <p:spTgt spid="174"/>
                                        </p:tgtEl>
                                        <p:attrNameLst>
                                          <p:attrName>style.visibility</p:attrName>
                                        </p:attrNameLst>
                                      </p:cBhvr>
                                      <p:to>
                                        <p:strVal val="visible"/>
                                      </p:to>
                                    </p:set>
                                    <p:anim calcmode="lin" valueType="num">
                                      <p:cBhvr>
                                        <p:cTn id="18" dur="500" fill="hold"/>
                                        <p:tgtEl>
                                          <p:spTgt spid="174"/>
                                        </p:tgtEl>
                                        <p:attrNameLst>
                                          <p:attrName>ppt_w</p:attrName>
                                        </p:attrNameLst>
                                      </p:cBhvr>
                                      <p:tavLst>
                                        <p:tav tm="0">
                                          <p:val>
                                            <p:strVal val="4/3*#ppt_w"/>
                                          </p:val>
                                        </p:tav>
                                        <p:tav tm="100000">
                                          <p:val>
                                            <p:strVal val="#ppt_w"/>
                                          </p:val>
                                        </p:tav>
                                      </p:tavLst>
                                    </p:anim>
                                    <p:anim calcmode="lin" valueType="num">
                                      <p:cBhvr>
                                        <p:cTn id="19" dur="500" fill="hold"/>
                                        <p:tgtEl>
                                          <p:spTgt spid="174"/>
                                        </p:tgtEl>
                                        <p:attrNameLst>
                                          <p:attrName>ppt_h</p:attrName>
                                        </p:attrNameLst>
                                      </p:cBhvr>
                                      <p:tavLst>
                                        <p:tav tm="0">
                                          <p:val>
                                            <p:strVal val="4/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88" fill="hold" grpId="0" nodeType="clickEffect">
                                  <p:stCondLst>
                                    <p:cond delay="0"/>
                                  </p:stCondLst>
                                  <p:childTnLst>
                                    <p:set>
                                      <p:cBhvr>
                                        <p:cTn id="23" dur="1" fill="hold">
                                          <p:stCondLst>
                                            <p:cond delay="0"/>
                                          </p:stCondLst>
                                        </p:cTn>
                                        <p:tgtEl>
                                          <p:spTgt spid="179"/>
                                        </p:tgtEl>
                                        <p:attrNameLst>
                                          <p:attrName>style.visibility</p:attrName>
                                        </p:attrNameLst>
                                      </p:cBhvr>
                                      <p:to>
                                        <p:strVal val="visible"/>
                                      </p:to>
                                    </p:set>
                                    <p:anim calcmode="lin" valueType="num">
                                      <p:cBhvr>
                                        <p:cTn id="24" dur="500" fill="hold"/>
                                        <p:tgtEl>
                                          <p:spTgt spid="179"/>
                                        </p:tgtEl>
                                        <p:attrNameLst>
                                          <p:attrName>ppt_w</p:attrName>
                                        </p:attrNameLst>
                                      </p:cBhvr>
                                      <p:tavLst>
                                        <p:tav tm="0">
                                          <p:val>
                                            <p:strVal val="4/3*#ppt_w"/>
                                          </p:val>
                                        </p:tav>
                                        <p:tav tm="100000">
                                          <p:val>
                                            <p:strVal val="#ppt_w"/>
                                          </p:val>
                                        </p:tav>
                                      </p:tavLst>
                                    </p:anim>
                                    <p:anim calcmode="lin" valueType="num">
                                      <p:cBhvr>
                                        <p:cTn id="25" dur="500" fill="hold"/>
                                        <p:tgtEl>
                                          <p:spTgt spid="179"/>
                                        </p:tgtEl>
                                        <p:attrNameLst>
                                          <p:attrName>ppt_h</p:attrName>
                                        </p:attrNameLst>
                                      </p:cBhvr>
                                      <p:tavLst>
                                        <p:tav tm="0">
                                          <p:val>
                                            <p:strVal val="4/3*#ppt_h"/>
                                          </p:val>
                                        </p:tav>
                                        <p:tav tm="100000">
                                          <p:val>
                                            <p:strVal val="#ppt_h"/>
                                          </p:val>
                                        </p:tav>
                                      </p:tavLst>
                                    </p:anim>
                                  </p:childTnLst>
                                </p:cTn>
                              </p:par>
                            </p:childTnLst>
                          </p:cTn>
                        </p:par>
                        <p:par>
                          <p:cTn id="26" fill="hold">
                            <p:stCondLst>
                              <p:cond delay="500"/>
                            </p:stCondLst>
                            <p:childTnLst>
                              <p:par>
                                <p:cTn id="27" presetID="1" presetClass="entr" presetSubtype="0" fill="hold" grpId="0" nodeType="afterEffect">
                                  <p:stCondLst>
                                    <p:cond delay="500"/>
                                  </p:stCondLst>
                                  <p:childTnLst>
                                    <p:set>
                                      <p:cBhvr>
                                        <p:cTn id="28" dur="1" fill="hold">
                                          <p:stCondLst>
                                            <p:cond delay="0"/>
                                          </p:stCondLst>
                                        </p:cTn>
                                        <p:tgtEl>
                                          <p:spTgt spid="18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3" presetClass="entr" presetSubtype="288" fill="hold" nodeType="clickEffect">
                                  <p:stCondLst>
                                    <p:cond delay="0"/>
                                  </p:stCondLst>
                                  <p:childTnLst>
                                    <p:set>
                                      <p:cBhvr>
                                        <p:cTn id="32" dur="1" fill="hold">
                                          <p:stCondLst>
                                            <p:cond delay="0"/>
                                          </p:stCondLst>
                                        </p:cTn>
                                        <p:tgtEl>
                                          <p:spTgt spid="156"/>
                                        </p:tgtEl>
                                        <p:attrNameLst>
                                          <p:attrName>style.visibility</p:attrName>
                                        </p:attrNameLst>
                                      </p:cBhvr>
                                      <p:to>
                                        <p:strVal val="visible"/>
                                      </p:to>
                                    </p:set>
                                    <p:anim calcmode="lin" valueType="num">
                                      <p:cBhvr>
                                        <p:cTn id="33" dur="500" fill="hold"/>
                                        <p:tgtEl>
                                          <p:spTgt spid="156"/>
                                        </p:tgtEl>
                                        <p:attrNameLst>
                                          <p:attrName>ppt_w</p:attrName>
                                        </p:attrNameLst>
                                      </p:cBhvr>
                                      <p:tavLst>
                                        <p:tav tm="0">
                                          <p:val>
                                            <p:strVal val="4/3*#ppt_w"/>
                                          </p:val>
                                        </p:tav>
                                        <p:tav tm="100000">
                                          <p:val>
                                            <p:strVal val="#ppt_w"/>
                                          </p:val>
                                        </p:tav>
                                      </p:tavLst>
                                    </p:anim>
                                    <p:anim calcmode="lin" valueType="num">
                                      <p:cBhvr>
                                        <p:cTn id="34" dur="500" fill="hold"/>
                                        <p:tgtEl>
                                          <p:spTgt spid="156"/>
                                        </p:tgtEl>
                                        <p:attrNameLst>
                                          <p:attrName>ppt_h</p:attrName>
                                        </p:attrNameLst>
                                      </p:cBhvr>
                                      <p:tavLst>
                                        <p:tav tm="0">
                                          <p:val>
                                            <p:strVal val="4/3*#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175"/>
                                        </p:tgtEl>
                                        <p:attrNameLst>
                                          <p:attrName>style.visibility</p:attrName>
                                        </p:attrNameLst>
                                      </p:cBhvr>
                                      <p:to>
                                        <p:strVal val="visible"/>
                                      </p:to>
                                    </p:set>
                                    <p:animEffect transition="in" filter="wipe(right)">
                                      <p:cBhvr>
                                        <p:cTn id="39" dur="500"/>
                                        <p:tgtEl>
                                          <p:spTgt spid="175"/>
                                        </p:tgtEl>
                                      </p:cBhvr>
                                    </p:animEffect>
                                  </p:childTnLst>
                                </p:cTn>
                              </p:par>
                            </p:childTnLst>
                          </p:cTn>
                        </p:par>
                        <p:par>
                          <p:cTn id="40" fill="hold">
                            <p:stCondLst>
                              <p:cond delay="500"/>
                            </p:stCondLst>
                            <p:childTnLst>
                              <p:par>
                                <p:cTn id="41" presetID="22" presetClass="entr" presetSubtype="2" fill="hold" nodeType="afterEffect">
                                  <p:stCondLst>
                                    <p:cond delay="0"/>
                                  </p:stCondLst>
                                  <p:childTnLst>
                                    <p:set>
                                      <p:cBhvr>
                                        <p:cTn id="42" dur="1" fill="hold">
                                          <p:stCondLst>
                                            <p:cond delay="0"/>
                                          </p:stCondLst>
                                        </p:cTn>
                                        <p:tgtEl>
                                          <p:spTgt spid="186"/>
                                        </p:tgtEl>
                                        <p:attrNameLst>
                                          <p:attrName>style.visibility</p:attrName>
                                        </p:attrNameLst>
                                      </p:cBhvr>
                                      <p:to>
                                        <p:strVal val="visible"/>
                                      </p:to>
                                    </p:set>
                                    <p:animEffect transition="in" filter="wipe(right)">
                                      <p:cBhvr>
                                        <p:cTn id="43" dur="500"/>
                                        <p:tgtEl>
                                          <p:spTgt spid="18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81"/>
                                        </p:tgtEl>
                                        <p:attrNameLst>
                                          <p:attrName>style.visibility</p:attrName>
                                        </p:attrNameLst>
                                      </p:cBhvr>
                                      <p:to>
                                        <p:strVal val="visible"/>
                                      </p:to>
                                    </p:set>
                                    <p:animEffect transition="in" filter="wipe(up)">
                                      <p:cBhvr>
                                        <p:cTn id="48" dur="500"/>
                                        <p:tgtEl>
                                          <p:spTgt spid="181"/>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205"/>
                                        </p:tgtEl>
                                        <p:attrNameLst>
                                          <p:attrName>style.visibility</p:attrName>
                                        </p:attrNameLst>
                                      </p:cBhvr>
                                      <p:to>
                                        <p:strVal val="visible"/>
                                      </p:to>
                                    </p:set>
                                    <p:animEffect transition="in" filter="wipe(up)">
                                      <p:cBhvr>
                                        <p:cTn id="52" dur="500"/>
                                        <p:tgtEl>
                                          <p:spTgt spid="20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09"/>
                                        </p:tgtEl>
                                        <p:attrNameLst>
                                          <p:attrName>style.visibility</p:attrName>
                                        </p:attrNameLst>
                                      </p:cBhvr>
                                      <p:to>
                                        <p:strVal val="visible"/>
                                      </p:to>
                                    </p:set>
                                    <p:animEffect transition="in" filter="wipe(up)">
                                      <p:cBhvr>
                                        <p:cTn id="57" dur="500"/>
                                        <p:tgtEl>
                                          <p:spTgt spid="209"/>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wipe(up)">
                                      <p:cBhvr>
                                        <p:cTn id="61" dur="500"/>
                                        <p:tgtEl>
                                          <p:spTgt spid="20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182"/>
                                        </p:tgtEl>
                                        <p:attrNameLst>
                                          <p:attrName>style.visibility</p:attrName>
                                        </p:attrNameLst>
                                      </p:cBhvr>
                                      <p:to>
                                        <p:strVal val="visible"/>
                                      </p:to>
                                    </p:set>
                                    <p:animEffect transition="in" filter="wipe(up)">
                                      <p:cBhvr>
                                        <p:cTn id="66" dur="500"/>
                                        <p:tgtEl>
                                          <p:spTgt spid="182"/>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196"/>
                                        </p:tgtEl>
                                        <p:attrNameLst>
                                          <p:attrName>style.visibility</p:attrName>
                                        </p:attrNameLst>
                                      </p:cBhvr>
                                      <p:to>
                                        <p:strVal val="visible"/>
                                      </p:to>
                                    </p:set>
                                    <p:animEffect transition="in" filter="wipe(up)">
                                      <p:cBhvr>
                                        <p:cTn id="70"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174" grpId="0"/>
      <p:bldP spid="179" grpId="0"/>
      <p:bldP spid="18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1B0CA659-0B1B-484D-9FBD-32CA46C0E978}"/>
              </a:ext>
            </a:extLst>
          </p:cNvPr>
          <p:cNvSpPr>
            <a:spLocks noGrp="1" noChangeArrowheads="1"/>
          </p:cNvSpPr>
          <p:nvPr>
            <p:ph type="title"/>
          </p:nvPr>
        </p:nvSpPr>
        <p:spPr/>
        <p:txBody>
          <a:bodyPr/>
          <a:lstStyle/>
          <a:p>
            <a:pPr>
              <a:defRPr/>
            </a:pPr>
            <a:r>
              <a:rPr lang="en-US" altLang="zh-CN" dirty="0">
                <a:latin typeface="Arial" pitchFamily="34" charset="0"/>
              </a:rPr>
              <a:t>7.</a:t>
            </a:r>
            <a:r>
              <a:rPr lang="zh-CN" altLang="en-US" dirty="0">
                <a:latin typeface="Arial" pitchFamily="34" charset="0"/>
              </a:rPr>
              <a:t>事件处理方式</a:t>
            </a:r>
            <a:r>
              <a:rPr lang="en-US" altLang="zh-CN" dirty="0">
                <a:latin typeface="Arial" pitchFamily="34" charset="0"/>
              </a:rPr>
              <a:t>—</a:t>
            </a:r>
            <a:r>
              <a:rPr lang="zh-CN" altLang="en-US" dirty="0">
                <a:latin typeface="Arial" pitchFamily="34" charset="0"/>
              </a:rPr>
              <a:t>回调函数</a:t>
            </a:r>
          </a:p>
        </p:txBody>
      </p:sp>
      <p:sp>
        <p:nvSpPr>
          <p:cNvPr id="8" name="Rectangle 3">
            <a:extLst>
              <a:ext uri="{FF2B5EF4-FFF2-40B4-BE49-F238E27FC236}">
                <a16:creationId xmlns:a16="http://schemas.microsoft.com/office/drawing/2014/main" id="{8973B98E-268F-445C-93E7-F88EA9C6B9F8}"/>
              </a:ext>
            </a:extLst>
          </p:cNvPr>
          <p:cNvSpPr txBox="1">
            <a:spLocks noChangeArrowheads="1"/>
          </p:cNvSpPr>
          <p:nvPr/>
        </p:nvSpPr>
        <p:spPr bwMode="auto">
          <a:xfrm>
            <a:off x="3071665" y="1340769"/>
            <a:ext cx="5761037" cy="1532727"/>
          </a:xfrm>
          <a:prstGeom prst="rect">
            <a:avLst/>
          </a:prstGeom>
          <a:noFill/>
          <a:ln w="9525">
            <a:noFill/>
            <a:miter lim="800000"/>
            <a:headEnd/>
            <a:tailEnd/>
          </a:ln>
        </p:spPr>
        <p:txBody>
          <a:bodyPr>
            <a:spAutoFit/>
          </a:bodyPr>
          <a:lstStyle/>
          <a:p>
            <a:pPr eaLnBrk="0" hangingPunct="0">
              <a:lnSpc>
                <a:spcPct val="90000"/>
              </a:lnSpc>
              <a:spcBef>
                <a:spcPct val="40000"/>
              </a:spcBef>
              <a:spcAft>
                <a:spcPct val="20000"/>
              </a:spcAft>
              <a:buClr>
                <a:schemeClr val="tx2"/>
              </a:buClr>
              <a:buSzPct val="125000"/>
              <a:defRPr/>
            </a:pPr>
            <a:r>
              <a:rPr lang="en-US" altLang="zh-CN" sz="2400" b="1" dirty="0">
                <a:effectLst>
                  <a:outerShdw blurRad="38100" dist="38100" dir="2700000" algn="tl">
                    <a:srgbClr val="C0C0C0"/>
                  </a:outerShdw>
                </a:effectLst>
                <a:ea typeface="黑体" pitchFamily="49" charset="-122"/>
              </a:rPr>
              <a:t>7.1 </a:t>
            </a:r>
            <a:r>
              <a:rPr lang="zh-CN" altLang="en-US" sz="2400" b="1" dirty="0">
                <a:effectLst>
                  <a:outerShdw blurRad="38100" dist="38100" dir="2700000" algn="tl">
                    <a:srgbClr val="C0C0C0"/>
                  </a:outerShdw>
                </a:effectLst>
                <a:ea typeface="黑体" pitchFamily="49" charset="-122"/>
              </a:rPr>
              <a:t>窗口事件 </a:t>
            </a:r>
            <a:r>
              <a:rPr lang="en-US" altLang="zh-CN" sz="2400" b="1" dirty="0">
                <a:effectLst>
                  <a:outerShdw blurRad="38100" dist="38100" dir="2700000" algn="tl">
                    <a:srgbClr val="C0C0C0"/>
                  </a:outerShdw>
                </a:effectLst>
                <a:ea typeface="黑体" pitchFamily="49" charset="-122"/>
              </a:rPr>
              <a:t>— Display Callback</a:t>
            </a:r>
            <a:endParaRPr lang="zh-CN" altLang="en-US" sz="2400" b="1" dirty="0">
              <a:effectLst>
                <a:outerShdw blurRad="38100" dist="38100" dir="2700000" algn="tl">
                  <a:srgbClr val="C0C0C0"/>
                </a:outerShdw>
              </a:effectLst>
              <a:ea typeface="黑体" pitchFamily="49" charset="-122"/>
            </a:endParaRPr>
          </a:p>
          <a:p>
            <a:pPr>
              <a:lnSpc>
                <a:spcPct val="90000"/>
              </a:lnSpc>
              <a:spcBef>
                <a:spcPct val="40000"/>
              </a:spcBef>
              <a:spcAft>
                <a:spcPct val="20000"/>
              </a:spcAft>
              <a:buClr>
                <a:schemeClr val="tx2"/>
              </a:buClr>
              <a:buSzPct val="125000"/>
              <a:defRPr/>
            </a:pPr>
            <a:r>
              <a:rPr lang="en-US" altLang="zh-CN" sz="2400" b="1" dirty="0">
                <a:effectLst>
                  <a:outerShdw blurRad="38100" dist="38100" dir="2700000" algn="tl">
                    <a:srgbClr val="C0C0C0"/>
                  </a:outerShdw>
                </a:effectLst>
                <a:ea typeface="黑体" pitchFamily="49" charset="-122"/>
              </a:rPr>
              <a:t>7.2 </a:t>
            </a:r>
            <a:r>
              <a:rPr lang="zh-CN" altLang="en-US" sz="2400" b="1" dirty="0">
                <a:effectLst>
                  <a:outerShdw blurRad="38100" dist="38100" dir="2700000" algn="tl">
                    <a:srgbClr val="C0C0C0"/>
                  </a:outerShdw>
                </a:effectLst>
                <a:ea typeface="黑体" pitchFamily="49" charset="-122"/>
              </a:rPr>
              <a:t>键盘事件 </a:t>
            </a:r>
            <a:r>
              <a:rPr lang="en-US" altLang="zh-CN" sz="2400" b="1" dirty="0">
                <a:effectLst>
                  <a:outerShdw blurRad="38100" dist="38100" dir="2700000" algn="tl">
                    <a:srgbClr val="C0C0C0"/>
                  </a:outerShdw>
                </a:effectLst>
                <a:ea typeface="黑体" pitchFamily="49" charset="-122"/>
              </a:rPr>
              <a:t>— Keyboard Callback</a:t>
            </a:r>
          </a:p>
          <a:p>
            <a:pPr>
              <a:lnSpc>
                <a:spcPct val="90000"/>
              </a:lnSpc>
              <a:spcBef>
                <a:spcPct val="40000"/>
              </a:spcBef>
              <a:spcAft>
                <a:spcPct val="20000"/>
              </a:spcAft>
              <a:buClr>
                <a:schemeClr val="tx2"/>
              </a:buClr>
              <a:buSzPct val="125000"/>
              <a:defRPr/>
            </a:pPr>
            <a:r>
              <a:rPr lang="en-US" altLang="zh-CN" sz="2400" b="1" dirty="0">
                <a:effectLst>
                  <a:outerShdw blurRad="38100" dist="38100" dir="2700000" algn="tl">
                    <a:srgbClr val="C0C0C0"/>
                  </a:outerShdw>
                </a:effectLst>
                <a:ea typeface="黑体" pitchFamily="49" charset="-122"/>
              </a:rPr>
              <a:t>7.3 </a:t>
            </a:r>
            <a:r>
              <a:rPr lang="zh-CN" altLang="en-US" sz="2400" b="1" dirty="0">
                <a:effectLst>
                  <a:outerShdw blurRad="38100" dist="38100" dir="2700000" algn="tl">
                    <a:srgbClr val="C0C0C0"/>
                  </a:outerShdw>
                </a:effectLst>
                <a:ea typeface="黑体" pitchFamily="49" charset="-122"/>
              </a:rPr>
              <a:t>鼠标事件 </a:t>
            </a:r>
            <a:r>
              <a:rPr lang="en-US" altLang="zh-CN" sz="2400" b="1" dirty="0">
                <a:effectLst>
                  <a:outerShdw blurRad="38100" dist="38100" dir="2700000" algn="tl">
                    <a:srgbClr val="C0C0C0"/>
                  </a:outerShdw>
                </a:effectLst>
                <a:ea typeface="黑体" pitchFamily="49" charset="-122"/>
              </a:rPr>
              <a:t>— Mouse Callback</a:t>
            </a:r>
          </a:p>
        </p:txBody>
      </p:sp>
    </p:spTree>
    <p:extLst>
      <p:ext uri="{BB962C8B-B14F-4D97-AF65-F5344CB8AC3E}">
        <p14:creationId xmlns:p14="http://schemas.microsoft.com/office/powerpoint/2010/main" val="135124876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1B0CA659-0B1B-484D-9FBD-32CA46C0E978}"/>
              </a:ext>
            </a:extLst>
          </p:cNvPr>
          <p:cNvSpPr>
            <a:spLocks noGrp="1" noChangeArrowheads="1"/>
          </p:cNvSpPr>
          <p:nvPr>
            <p:ph type="title"/>
          </p:nvPr>
        </p:nvSpPr>
        <p:spPr/>
        <p:txBody>
          <a:bodyPr/>
          <a:lstStyle/>
          <a:p>
            <a:pPr>
              <a:defRPr/>
            </a:pPr>
            <a:r>
              <a:rPr lang="en-US" altLang="zh-CN" dirty="0">
                <a:latin typeface="Arial" pitchFamily="34" charset="0"/>
              </a:rPr>
              <a:t>7.</a:t>
            </a:r>
            <a:r>
              <a:rPr lang="zh-CN" altLang="en-US" dirty="0">
                <a:latin typeface="Arial" pitchFamily="34" charset="0"/>
              </a:rPr>
              <a:t>事件处理方式</a:t>
            </a:r>
            <a:r>
              <a:rPr lang="en-US" altLang="zh-CN" dirty="0">
                <a:latin typeface="Arial" pitchFamily="34" charset="0"/>
              </a:rPr>
              <a:t>—</a:t>
            </a:r>
            <a:r>
              <a:rPr lang="zh-CN" altLang="en-US" dirty="0">
                <a:latin typeface="Arial" pitchFamily="34" charset="0"/>
              </a:rPr>
              <a:t>回调函数</a:t>
            </a:r>
          </a:p>
        </p:txBody>
      </p:sp>
      <p:sp>
        <p:nvSpPr>
          <p:cNvPr id="8" name="Rectangle 3">
            <a:extLst>
              <a:ext uri="{FF2B5EF4-FFF2-40B4-BE49-F238E27FC236}">
                <a16:creationId xmlns:a16="http://schemas.microsoft.com/office/drawing/2014/main" id="{8973B98E-268F-445C-93E7-F88EA9C6B9F8}"/>
              </a:ext>
            </a:extLst>
          </p:cNvPr>
          <p:cNvSpPr txBox="1">
            <a:spLocks noChangeArrowheads="1"/>
          </p:cNvSpPr>
          <p:nvPr/>
        </p:nvSpPr>
        <p:spPr bwMode="auto">
          <a:xfrm>
            <a:off x="3071665" y="1340769"/>
            <a:ext cx="5761037" cy="2086725"/>
          </a:xfrm>
          <a:prstGeom prst="rect">
            <a:avLst/>
          </a:prstGeom>
          <a:noFill/>
          <a:ln w="9525">
            <a:noFill/>
            <a:miter lim="800000"/>
            <a:headEnd/>
            <a:tailEnd/>
          </a:ln>
        </p:spPr>
        <p:txBody>
          <a:bodyPr>
            <a:spAutoFit/>
          </a:bodyPr>
          <a:lstStyle/>
          <a:p>
            <a:pPr marL="342900" indent="-342900">
              <a:lnSpc>
                <a:spcPct val="90000"/>
              </a:lnSpc>
              <a:spcBef>
                <a:spcPct val="40000"/>
              </a:spcBef>
              <a:spcAft>
                <a:spcPct val="20000"/>
              </a:spcAft>
              <a:buSzPct val="100000"/>
              <a:buFont typeface="Wingdings" panose="05000000000000000000" pitchFamily="2" charset="2"/>
              <a:buChar char="Ø"/>
              <a:defRPr/>
            </a:pPr>
            <a:r>
              <a:rPr lang="zh-CN" altLang="en-US" sz="2400" b="1" dirty="0">
                <a:effectLst>
                  <a:outerShdw blurRad="38100" dist="38100" dir="2700000" algn="tl">
                    <a:srgbClr val="C0C0C0"/>
                  </a:outerShdw>
                </a:effectLst>
                <a:ea typeface="黑体" pitchFamily="49" charset="-122"/>
              </a:rPr>
              <a:t>处理机制：回调函数</a:t>
            </a:r>
          </a:p>
          <a:p>
            <a:pPr marL="342900" indent="-342900">
              <a:lnSpc>
                <a:spcPct val="90000"/>
              </a:lnSpc>
              <a:spcBef>
                <a:spcPct val="40000"/>
              </a:spcBef>
              <a:spcAft>
                <a:spcPct val="20000"/>
              </a:spcAft>
              <a:buSzPct val="100000"/>
              <a:buFont typeface="Wingdings" panose="05000000000000000000" pitchFamily="2" charset="2"/>
              <a:buChar char="Ø"/>
              <a:defRPr/>
            </a:pPr>
            <a:r>
              <a:rPr lang="zh-CN" altLang="en-US" sz="2400" b="1" dirty="0">
                <a:effectLst>
                  <a:outerShdw blurRad="38100" dist="38100" dir="2700000" algn="tl">
                    <a:srgbClr val="C0C0C0"/>
                  </a:outerShdw>
                </a:effectLst>
                <a:ea typeface="黑体" pitchFamily="49" charset="-122"/>
              </a:rPr>
              <a:t>编程方法</a:t>
            </a:r>
            <a:endParaRPr lang="en-US" altLang="zh-CN" sz="2400" b="1" dirty="0">
              <a:effectLst>
                <a:outerShdw blurRad="38100" dist="38100" dir="2700000" algn="tl">
                  <a:srgbClr val="C0C0C0"/>
                </a:outerShdw>
              </a:effectLst>
              <a:ea typeface="黑体" pitchFamily="49" charset="-122"/>
            </a:endParaRPr>
          </a:p>
          <a:p>
            <a:pPr marL="800100" lvl="1" indent="-342900">
              <a:lnSpc>
                <a:spcPct val="90000"/>
              </a:lnSpc>
              <a:spcBef>
                <a:spcPct val="40000"/>
              </a:spcBef>
              <a:spcAft>
                <a:spcPct val="20000"/>
              </a:spcAft>
              <a:buSzPct val="100000"/>
              <a:buFont typeface="Wingdings" panose="05000000000000000000" pitchFamily="2" charset="2"/>
              <a:buChar char="l"/>
              <a:defRPr/>
            </a:pPr>
            <a:r>
              <a:rPr lang="zh-CN" altLang="en-US" sz="2400" b="1" dirty="0">
                <a:effectLst>
                  <a:outerShdw blurRad="38100" dist="38100" dir="2700000" algn="tl">
                    <a:srgbClr val="C0C0C0"/>
                  </a:outerShdw>
                </a:effectLst>
                <a:ea typeface="黑体" pitchFamily="49" charset="-122"/>
              </a:rPr>
              <a:t>注册函数</a:t>
            </a:r>
            <a:endParaRPr lang="en-US" altLang="zh-CN" sz="2400" b="1" dirty="0">
              <a:effectLst>
                <a:outerShdw blurRad="38100" dist="38100" dir="2700000" algn="tl">
                  <a:srgbClr val="C0C0C0"/>
                </a:outerShdw>
              </a:effectLst>
              <a:ea typeface="黑体" pitchFamily="49" charset="-122"/>
            </a:endParaRPr>
          </a:p>
          <a:p>
            <a:pPr marL="800100" lvl="1" indent="-342900">
              <a:lnSpc>
                <a:spcPct val="90000"/>
              </a:lnSpc>
              <a:spcBef>
                <a:spcPct val="40000"/>
              </a:spcBef>
              <a:spcAft>
                <a:spcPct val="20000"/>
              </a:spcAft>
              <a:buSzPct val="100000"/>
              <a:buFont typeface="Wingdings" panose="05000000000000000000" pitchFamily="2" charset="2"/>
              <a:buChar char="l"/>
              <a:defRPr/>
            </a:pPr>
            <a:r>
              <a:rPr lang="zh-CN" altLang="en-US" sz="2400" b="1" dirty="0">
                <a:effectLst>
                  <a:outerShdw blurRad="38100" dist="38100" dir="2700000" algn="tl">
                    <a:srgbClr val="C0C0C0"/>
                  </a:outerShdw>
                </a:effectLst>
                <a:ea typeface="黑体" pitchFamily="49" charset="-122"/>
              </a:rPr>
              <a:t>编写处理函数代码</a:t>
            </a:r>
          </a:p>
        </p:txBody>
      </p:sp>
    </p:spTree>
    <p:extLst>
      <p:ext uri="{BB962C8B-B14F-4D97-AF65-F5344CB8AC3E}">
        <p14:creationId xmlns:p14="http://schemas.microsoft.com/office/powerpoint/2010/main" val="358723769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9B55675B-3548-4E32-A3BD-4E43F64322C1}"/>
              </a:ext>
            </a:extLst>
          </p:cNvPr>
          <p:cNvSpPr>
            <a:spLocks noGrp="1" noChangeArrowheads="1"/>
          </p:cNvSpPr>
          <p:nvPr>
            <p:ph type="title"/>
          </p:nvPr>
        </p:nvSpPr>
        <p:spPr/>
        <p:txBody>
          <a:bodyPr/>
          <a:lstStyle/>
          <a:p>
            <a:pPr>
              <a:defRPr/>
            </a:pPr>
            <a:r>
              <a:rPr lang="en-US" altLang="zh-CN" dirty="0">
                <a:latin typeface="Arial" pitchFamily="34" charset="0"/>
              </a:rPr>
              <a:t>7.1 Display Callback</a:t>
            </a:r>
          </a:p>
        </p:txBody>
      </p:sp>
      <p:sp>
        <p:nvSpPr>
          <p:cNvPr id="407555" name="Rectangle 3">
            <a:extLst>
              <a:ext uri="{FF2B5EF4-FFF2-40B4-BE49-F238E27FC236}">
                <a16:creationId xmlns:a16="http://schemas.microsoft.com/office/drawing/2014/main" id="{55E36209-68BA-4C74-9DFF-78AB550B48D8}"/>
              </a:ext>
            </a:extLst>
          </p:cNvPr>
          <p:cNvSpPr>
            <a:spLocks noGrp="1" noChangeArrowheads="1"/>
          </p:cNvSpPr>
          <p:nvPr>
            <p:ph idx="4294967295"/>
          </p:nvPr>
        </p:nvSpPr>
        <p:spPr>
          <a:xfrm>
            <a:off x="2024063" y="1357314"/>
            <a:ext cx="8286750" cy="2648405"/>
          </a:xfrm>
        </p:spPr>
        <p:txBody>
          <a:bodyPr/>
          <a:lstStyle/>
          <a:p>
            <a:pPr>
              <a:defRPr/>
            </a:pPr>
            <a:r>
              <a:rPr lang="zh-CN" altLang="en-US" dirty="0">
                <a:ea typeface="黑体" pitchFamily="49" charset="-122"/>
              </a:rPr>
              <a:t>所有绘制工作都在显示回调函数中完成</a:t>
            </a:r>
          </a:p>
          <a:p>
            <a:pPr lvl="1">
              <a:defRPr/>
            </a:pPr>
            <a:r>
              <a:rPr lang="zh-CN" altLang="en-US" sz="2400" dirty="0">
                <a:solidFill>
                  <a:srgbClr val="C00000"/>
                </a:solidFill>
                <a:ea typeface="黑体" pitchFamily="49" charset="-122"/>
              </a:rPr>
              <a:t>第一步：注册函数</a:t>
            </a:r>
            <a:endParaRPr lang="en-US" altLang="zh-CN" sz="2400" dirty="0">
              <a:solidFill>
                <a:srgbClr val="C00000"/>
              </a:solidFill>
              <a:ea typeface="黑体" pitchFamily="49" charset="-122"/>
            </a:endParaRPr>
          </a:p>
          <a:p>
            <a:pPr lvl="2">
              <a:defRPr/>
            </a:pPr>
            <a:r>
              <a:rPr lang="en-US" altLang="zh-CN" sz="2400" dirty="0" err="1">
                <a:ea typeface="黑体" pitchFamily="49" charset="-122"/>
              </a:rPr>
              <a:t>glutDisplayFunc</a:t>
            </a:r>
            <a:r>
              <a:rPr lang="en-US" altLang="zh-CN" sz="2400" dirty="0">
                <a:ea typeface="黑体" pitchFamily="49" charset="-122"/>
              </a:rPr>
              <a:t>( </a:t>
            </a:r>
            <a:r>
              <a:rPr lang="en-US" altLang="zh-CN" sz="2400" i="1" dirty="0">
                <a:ea typeface="黑体" pitchFamily="49" charset="-122"/>
              </a:rPr>
              <a:t>display</a:t>
            </a:r>
            <a:r>
              <a:rPr lang="en-US" altLang="zh-CN" sz="2400" dirty="0">
                <a:ea typeface="黑体" pitchFamily="49" charset="-122"/>
              </a:rPr>
              <a:t> );</a:t>
            </a:r>
          </a:p>
          <a:p>
            <a:pPr lvl="2">
              <a:defRPr/>
            </a:pPr>
            <a:endParaRPr lang="en-US" altLang="zh-CN" sz="2400" dirty="0">
              <a:ea typeface="黑体" pitchFamily="49" charset="-122"/>
            </a:endParaRPr>
          </a:p>
          <a:p>
            <a:pPr lvl="1">
              <a:defRPr/>
            </a:pPr>
            <a:r>
              <a:rPr lang="zh-CN" altLang="en-US" sz="2400" dirty="0">
                <a:solidFill>
                  <a:srgbClr val="C00000"/>
                </a:solidFill>
                <a:ea typeface="黑体" pitchFamily="49" charset="-122"/>
              </a:rPr>
              <a:t>第二步：编写处理函数代码</a:t>
            </a:r>
            <a:endParaRPr lang="zh-CN" altLang="en-US" dirty="0">
              <a:solidFill>
                <a:srgbClr val="C00000"/>
              </a:solidFill>
              <a:ea typeface="黑体"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760CEF64-CCE0-4977-9B60-0E59D59489D5}"/>
              </a:ext>
            </a:extLst>
          </p:cNvPr>
          <p:cNvSpPr>
            <a:spLocks noGrp="1" noChangeArrowheads="1"/>
          </p:cNvSpPr>
          <p:nvPr>
            <p:ph type="title"/>
          </p:nvPr>
        </p:nvSpPr>
        <p:spPr/>
        <p:txBody>
          <a:bodyPr/>
          <a:lstStyle/>
          <a:p>
            <a:pPr>
              <a:defRPr/>
            </a:pPr>
            <a:r>
              <a:rPr lang="en-US" altLang="zh-CN" dirty="0">
                <a:latin typeface="Arial" pitchFamily="34" charset="0"/>
              </a:rPr>
              <a:t>7.1 Display Callback</a:t>
            </a:r>
          </a:p>
        </p:txBody>
      </p:sp>
      <p:sp>
        <p:nvSpPr>
          <p:cNvPr id="407555" name="Rectangle 3">
            <a:extLst>
              <a:ext uri="{FF2B5EF4-FFF2-40B4-BE49-F238E27FC236}">
                <a16:creationId xmlns:a16="http://schemas.microsoft.com/office/drawing/2014/main" id="{C7E768C6-716F-44C3-AFED-F2CD8AB252CC}"/>
              </a:ext>
            </a:extLst>
          </p:cNvPr>
          <p:cNvSpPr>
            <a:spLocks noGrp="1" noChangeArrowheads="1"/>
          </p:cNvSpPr>
          <p:nvPr>
            <p:ph idx="4294967295"/>
          </p:nvPr>
        </p:nvSpPr>
        <p:spPr>
          <a:xfrm>
            <a:off x="1775520" y="968377"/>
            <a:ext cx="8286750" cy="493969"/>
          </a:xfrm>
        </p:spPr>
        <p:txBody>
          <a:bodyPr/>
          <a:lstStyle/>
          <a:p>
            <a:pPr lvl="1">
              <a:defRPr/>
            </a:pPr>
            <a:r>
              <a:rPr lang="zh-CN" altLang="en-US" sz="2400" dirty="0">
                <a:solidFill>
                  <a:srgbClr val="C00000"/>
                </a:solidFill>
                <a:ea typeface="黑体" pitchFamily="49" charset="-122"/>
              </a:rPr>
              <a:t>第二步：编写处理函数代码</a:t>
            </a:r>
            <a:endParaRPr lang="zh-CN" altLang="en-US" dirty="0">
              <a:solidFill>
                <a:srgbClr val="C00000"/>
              </a:solidFill>
              <a:ea typeface="黑体" pitchFamily="49" charset="-122"/>
            </a:endParaRPr>
          </a:p>
        </p:txBody>
      </p:sp>
      <p:sp>
        <p:nvSpPr>
          <p:cNvPr id="407569" name="Rectangle 17">
            <a:extLst>
              <a:ext uri="{FF2B5EF4-FFF2-40B4-BE49-F238E27FC236}">
                <a16:creationId xmlns:a16="http://schemas.microsoft.com/office/drawing/2014/main" id="{0CD94ED0-B247-4C00-8351-DF42D0602B6E}"/>
              </a:ext>
            </a:extLst>
          </p:cNvPr>
          <p:cNvSpPr>
            <a:spLocks noChangeArrowheads="1"/>
          </p:cNvSpPr>
          <p:nvPr/>
        </p:nvSpPr>
        <p:spPr bwMode="auto">
          <a:xfrm>
            <a:off x="1847850" y="1554164"/>
            <a:ext cx="6769100" cy="4899025"/>
          </a:xfrm>
          <a:prstGeom prst="rect">
            <a:avLst/>
          </a:prstGeom>
          <a:noFill/>
          <a:ln w="9525">
            <a:noFill/>
            <a:miter lim="800000"/>
            <a:headEnd/>
            <a:tailEnd/>
          </a:ln>
          <a:effectLst/>
        </p:spPr>
        <p:txBody>
          <a:bodyPr>
            <a:spAutoFit/>
          </a:bodyPr>
          <a:lstStyle/>
          <a:p>
            <a:pPr marL="444500" indent="-444500">
              <a:lnSpc>
                <a:spcPct val="120000"/>
              </a:lnSpc>
              <a:spcAft>
                <a:spcPct val="20000"/>
              </a:spcAft>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void display() </a:t>
            </a:r>
          </a:p>
          <a:p>
            <a:pPr marL="444500" indent="-444500">
              <a:lnSpc>
                <a:spcPct val="90000"/>
              </a:lnSpc>
              <a:spcAft>
                <a:spcPct val="20000"/>
              </a:spcAft>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  </a:t>
            </a:r>
          </a:p>
          <a:p>
            <a:pPr marL="1044575" lvl="1" indent="-420688">
              <a:lnSpc>
                <a:spcPct val="120000"/>
              </a:lnSpc>
              <a:buClr>
                <a:schemeClr val="tx2"/>
              </a:buClr>
              <a:buSzPct val="125000"/>
              <a:defRPr/>
            </a:pPr>
            <a:r>
              <a:rPr lang="en-US" altLang="zh-CN" sz="2400" b="1" dirty="0" err="1">
                <a:solidFill>
                  <a:srgbClr val="FF0000"/>
                </a:solidFill>
                <a:effectLst>
                  <a:outerShdw blurRad="38100" dist="38100" dir="2700000" algn="tl">
                    <a:srgbClr val="C0C0C0"/>
                  </a:outerShdw>
                </a:effectLst>
                <a:latin typeface="Arial Black" pitchFamily="34" charset="0"/>
                <a:ea typeface="宋体" pitchFamily="2" charset="-122"/>
              </a:rPr>
              <a:t>glClear</a:t>
            </a:r>
            <a:r>
              <a:rPr lang="en-US" altLang="zh-CN" sz="2400" b="1" dirty="0">
                <a:solidFill>
                  <a:srgbClr val="FF0000"/>
                </a:solidFill>
                <a:effectLst>
                  <a:outerShdw blurRad="38100" dist="38100" dir="2700000" algn="tl">
                    <a:srgbClr val="C0C0C0"/>
                  </a:outerShdw>
                </a:effectLst>
                <a:latin typeface="Arial Black" pitchFamily="34" charset="0"/>
                <a:ea typeface="宋体" pitchFamily="2" charset="-122"/>
              </a:rPr>
              <a:t>(GL_COLOR_BUFFER_BIT);</a:t>
            </a:r>
          </a:p>
          <a:p>
            <a:pPr marL="1044575" lvl="1" indent="-420688">
              <a:lnSpc>
                <a:spcPct val="120000"/>
              </a:lnSpc>
              <a:buClr>
                <a:schemeClr val="tx2"/>
              </a:buClr>
              <a:buSzPct val="125000"/>
              <a:defRPr/>
            </a:pPr>
            <a:r>
              <a:rPr lang="en-US" altLang="zh-CN" sz="2400" b="1" dirty="0" err="1">
                <a:solidFill>
                  <a:srgbClr val="000000"/>
                </a:solidFill>
                <a:effectLst>
                  <a:outerShdw blurRad="38100" dist="38100" dir="2700000" algn="tl">
                    <a:srgbClr val="C0C0C0"/>
                  </a:outerShdw>
                </a:effectLst>
                <a:latin typeface="Arial Black" pitchFamily="34" charset="0"/>
                <a:ea typeface="宋体" pitchFamily="2" charset="-122"/>
              </a:rPr>
              <a:t>glBegin</a:t>
            </a: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(GL_POLYGON);</a:t>
            </a:r>
          </a:p>
          <a:p>
            <a:pPr marL="1574800" lvl="2" indent="-350838">
              <a:lnSpc>
                <a:spcPct val="120000"/>
              </a:lnSpc>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marL="1574800" lvl="2" indent="-350838">
              <a:lnSpc>
                <a:spcPct val="120000"/>
              </a:lnSpc>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marL="1574800" lvl="2" indent="-350838">
              <a:lnSpc>
                <a:spcPct val="120000"/>
              </a:lnSpc>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marL="1574800" lvl="2" indent="-350838">
              <a:lnSpc>
                <a:spcPct val="120000"/>
              </a:lnSpc>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glVertex2f(0.5, -0.5);</a:t>
            </a:r>
          </a:p>
          <a:p>
            <a:pPr marL="1044575" lvl="1" indent="-420688">
              <a:lnSpc>
                <a:spcPct val="120000"/>
              </a:lnSpc>
              <a:buClr>
                <a:schemeClr val="tx2"/>
              </a:buClr>
              <a:buSzPct val="125000"/>
              <a:defRPr/>
            </a:pPr>
            <a:r>
              <a:rPr lang="en-US" altLang="zh-CN" sz="2400" b="1" dirty="0" err="1">
                <a:solidFill>
                  <a:srgbClr val="000000"/>
                </a:solidFill>
                <a:effectLst>
                  <a:outerShdw blurRad="38100" dist="38100" dir="2700000" algn="tl">
                    <a:srgbClr val="C0C0C0"/>
                  </a:outerShdw>
                </a:effectLst>
                <a:latin typeface="Arial Black" pitchFamily="34" charset="0"/>
                <a:ea typeface="宋体" pitchFamily="2" charset="-122"/>
              </a:rPr>
              <a:t>glEnd</a:t>
            </a: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a:t>
            </a:r>
          </a:p>
          <a:p>
            <a:pPr marL="1044575" lvl="1" indent="-420688">
              <a:lnSpc>
                <a:spcPct val="120000"/>
              </a:lnSpc>
              <a:buClr>
                <a:schemeClr val="tx2"/>
              </a:buClr>
              <a:buSzPct val="125000"/>
              <a:defRPr/>
            </a:pPr>
            <a:r>
              <a:rPr lang="en-US" altLang="zh-CN" sz="2400" b="1" dirty="0" err="1">
                <a:solidFill>
                  <a:srgbClr val="FF0000"/>
                </a:solidFill>
                <a:effectLst>
                  <a:outerShdw blurRad="38100" dist="38100" dir="2700000" algn="tl">
                    <a:srgbClr val="C0C0C0"/>
                  </a:outerShdw>
                </a:effectLst>
                <a:latin typeface="Arial Black" pitchFamily="34" charset="0"/>
                <a:ea typeface="宋体" pitchFamily="2" charset="-122"/>
              </a:rPr>
              <a:t>glFlush</a:t>
            </a:r>
            <a:r>
              <a:rPr lang="en-US" altLang="zh-CN" sz="2400" b="1" dirty="0">
                <a:solidFill>
                  <a:srgbClr val="FF0000"/>
                </a:solidFill>
                <a:effectLst>
                  <a:outerShdw blurRad="38100" dist="38100" dir="2700000" algn="tl">
                    <a:srgbClr val="C0C0C0"/>
                  </a:outerShdw>
                </a:effectLst>
                <a:latin typeface="Arial Black" pitchFamily="34" charset="0"/>
                <a:ea typeface="宋体" pitchFamily="2" charset="-122"/>
              </a:rPr>
              <a:t>();</a:t>
            </a:r>
          </a:p>
          <a:p>
            <a:pPr marL="444500" indent="-444500">
              <a:lnSpc>
                <a:spcPct val="90000"/>
              </a:lnSpc>
              <a:spcAft>
                <a:spcPct val="20000"/>
              </a:spcAft>
              <a:buClr>
                <a:schemeClr val="tx2"/>
              </a:buClr>
              <a:buSzPct val="125000"/>
              <a:defRPr/>
            </a:pPr>
            <a:r>
              <a:rPr lang="en-US" altLang="zh-CN" sz="2400" b="1" dirty="0">
                <a:solidFill>
                  <a:srgbClr val="000000"/>
                </a:solidFill>
                <a:effectLst>
                  <a:outerShdw blurRad="38100" dist="38100" dir="2700000" algn="tl">
                    <a:srgbClr val="C0C0C0"/>
                  </a:outerShdw>
                </a:effectLst>
                <a:latin typeface="Arial Black" pitchFamily="34" charset="0"/>
                <a:ea typeface="宋体" pitchFamily="2" charset="-122"/>
              </a:rPr>
              <a:t>}</a:t>
            </a:r>
          </a:p>
        </p:txBody>
      </p:sp>
      <p:grpSp>
        <p:nvGrpSpPr>
          <p:cNvPr id="2" name="Group 28">
            <a:extLst>
              <a:ext uri="{FF2B5EF4-FFF2-40B4-BE49-F238E27FC236}">
                <a16:creationId xmlns:a16="http://schemas.microsoft.com/office/drawing/2014/main" id="{32D0FBA4-7536-4612-BCBC-639802689DD1}"/>
              </a:ext>
            </a:extLst>
          </p:cNvPr>
          <p:cNvGrpSpPr>
            <a:grpSpLocks/>
          </p:cNvGrpSpPr>
          <p:nvPr/>
        </p:nvGrpSpPr>
        <p:grpSpPr bwMode="auto">
          <a:xfrm>
            <a:off x="8183563" y="1916113"/>
            <a:ext cx="2417762" cy="4030662"/>
            <a:chOff x="4150" y="1071"/>
            <a:chExt cx="1523" cy="2539"/>
          </a:xfrm>
        </p:grpSpPr>
        <p:sp>
          <p:nvSpPr>
            <p:cNvPr id="407571" name="Rectangle 19">
              <a:extLst>
                <a:ext uri="{FF2B5EF4-FFF2-40B4-BE49-F238E27FC236}">
                  <a16:creationId xmlns:a16="http://schemas.microsoft.com/office/drawing/2014/main" id="{46D051C0-8547-49F6-8C81-EA2BDA0CB82C}"/>
                </a:ext>
              </a:extLst>
            </p:cNvPr>
            <p:cNvSpPr>
              <a:spLocks noChangeArrowheads="1"/>
            </p:cNvSpPr>
            <p:nvPr/>
          </p:nvSpPr>
          <p:spPr bwMode="auto">
            <a:xfrm>
              <a:off x="4150" y="1611"/>
              <a:ext cx="1523" cy="336"/>
            </a:xfrm>
            <a:prstGeom prst="rect">
              <a:avLst/>
            </a:prstGeom>
            <a:noFill/>
            <a:ln w="28575">
              <a:solidFill>
                <a:schemeClr val="tx1"/>
              </a:solidFill>
              <a:miter lim="800000"/>
              <a:headEnd/>
              <a:tailEnd/>
            </a:ln>
            <a:effectLst/>
          </p:spPr>
          <p:txBody>
            <a:bodyPr lIns="0" tIns="0" rIns="0" bIns="0" anchor="ctr"/>
            <a:lstStyle/>
            <a:p>
              <a:pPr algn="ctr">
                <a:defRPr/>
              </a:pPr>
              <a:r>
                <a:rPr lang="zh-CN" altLang="en-US" sz="2000" b="1">
                  <a:effectLst>
                    <a:outerShdw blurRad="38100" dist="38100" dir="2700000" algn="tl">
                      <a:srgbClr val="C0C0C0"/>
                    </a:outerShdw>
                  </a:effectLst>
                  <a:ea typeface="宋体" pitchFamily="2" charset="-122"/>
                </a:rPr>
                <a:t>绘制背景</a:t>
              </a:r>
              <a:endParaRPr lang="en-US" altLang="zh-CN" sz="2000" b="1">
                <a:effectLst>
                  <a:outerShdw blurRad="38100" dist="38100" dir="2700000" algn="tl">
                    <a:srgbClr val="C0C0C0"/>
                  </a:outerShdw>
                </a:effectLst>
                <a:ea typeface="宋体" pitchFamily="2" charset="-122"/>
              </a:endParaRPr>
            </a:p>
          </p:txBody>
        </p:sp>
        <p:sp>
          <p:nvSpPr>
            <p:cNvPr id="407572" name="Rectangle 20">
              <a:extLst>
                <a:ext uri="{FF2B5EF4-FFF2-40B4-BE49-F238E27FC236}">
                  <a16:creationId xmlns:a16="http://schemas.microsoft.com/office/drawing/2014/main" id="{CE3B747F-00B2-4616-8CB3-B12EE0A38E4D}"/>
                </a:ext>
              </a:extLst>
            </p:cNvPr>
            <p:cNvSpPr>
              <a:spLocks noChangeArrowheads="1"/>
            </p:cNvSpPr>
            <p:nvPr/>
          </p:nvSpPr>
          <p:spPr bwMode="auto">
            <a:xfrm>
              <a:off x="4150" y="2187"/>
              <a:ext cx="1523" cy="336"/>
            </a:xfrm>
            <a:prstGeom prst="rect">
              <a:avLst/>
            </a:prstGeom>
            <a:noFill/>
            <a:ln w="28575">
              <a:solidFill>
                <a:schemeClr val="tx1"/>
              </a:solidFill>
              <a:miter lim="800000"/>
              <a:headEnd/>
              <a:tailEnd/>
            </a:ln>
            <a:effectLst/>
          </p:spPr>
          <p:txBody>
            <a:bodyPr lIns="0" tIns="0" rIns="0" bIns="0" anchor="ctr"/>
            <a:lstStyle/>
            <a:p>
              <a:pPr algn="ctr">
                <a:defRPr/>
              </a:pPr>
              <a:r>
                <a:rPr lang="zh-CN" altLang="en-US" sz="2000" b="1">
                  <a:effectLst>
                    <a:outerShdw blurRad="38100" dist="38100" dir="2700000" algn="tl">
                      <a:srgbClr val="C0C0C0"/>
                    </a:outerShdw>
                  </a:effectLst>
                  <a:ea typeface="宋体" pitchFamily="2" charset="-122"/>
                </a:rPr>
                <a:t>绘制前景几何</a:t>
              </a:r>
              <a:endParaRPr lang="en-US" altLang="zh-CN" sz="2000" b="1">
                <a:effectLst>
                  <a:outerShdw blurRad="38100" dist="38100" dir="2700000" algn="tl">
                    <a:srgbClr val="C0C0C0"/>
                  </a:outerShdw>
                </a:effectLst>
                <a:ea typeface="宋体" pitchFamily="2" charset="-122"/>
              </a:endParaRPr>
            </a:p>
          </p:txBody>
        </p:sp>
        <p:sp>
          <p:nvSpPr>
            <p:cNvPr id="407573" name="Rectangle 21">
              <a:extLst>
                <a:ext uri="{FF2B5EF4-FFF2-40B4-BE49-F238E27FC236}">
                  <a16:creationId xmlns:a16="http://schemas.microsoft.com/office/drawing/2014/main" id="{43E3960F-14F3-4EEE-944C-ABB9D038DCA5}"/>
                </a:ext>
              </a:extLst>
            </p:cNvPr>
            <p:cNvSpPr>
              <a:spLocks noChangeArrowheads="1"/>
            </p:cNvSpPr>
            <p:nvPr/>
          </p:nvSpPr>
          <p:spPr bwMode="auto">
            <a:xfrm>
              <a:off x="4150" y="2744"/>
              <a:ext cx="1523" cy="336"/>
            </a:xfrm>
            <a:prstGeom prst="rect">
              <a:avLst/>
            </a:prstGeom>
            <a:noFill/>
            <a:ln w="28575">
              <a:solidFill>
                <a:schemeClr val="tx1"/>
              </a:solidFill>
              <a:miter lim="800000"/>
              <a:headEnd/>
              <a:tailEnd/>
            </a:ln>
            <a:effectLst/>
          </p:spPr>
          <p:txBody>
            <a:bodyPr lIns="0" tIns="0" rIns="0" bIns="0" anchor="ctr"/>
            <a:lstStyle/>
            <a:p>
              <a:pPr algn="ctr">
                <a:defRPr/>
              </a:pPr>
              <a:r>
                <a:rPr lang="zh-CN" altLang="en-US" sz="2000" b="1">
                  <a:effectLst>
                    <a:outerShdw blurRad="38100" dist="38100" dir="2700000" algn="tl">
                      <a:srgbClr val="C0C0C0"/>
                    </a:outerShdw>
                  </a:effectLst>
                  <a:latin typeface="Arial" charset="0"/>
                  <a:ea typeface="宋体" pitchFamily="2" charset="-122"/>
                </a:rPr>
                <a:t>提交命令</a:t>
              </a:r>
            </a:p>
          </p:txBody>
        </p:sp>
        <p:sp>
          <p:nvSpPr>
            <p:cNvPr id="59404" name="Line 22">
              <a:extLst>
                <a:ext uri="{FF2B5EF4-FFF2-40B4-BE49-F238E27FC236}">
                  <a16:creationId xmlns:a16="http://schemas.microsoft.com/office/drawing/2014/main" id="{587F92A8-CC7F-452D-BD76-E4343B9262FE}"/>
                </a:ext>
              </a:extLst>
            </p:cNvPr>
            <p:cNvSpPr>
              <a:spLocks noChangeShapeType="1"/>
            </p:cNvSpPr>
            <p:nvPr/>
          </p:nvSpPr>
          <p:spPr bwMode="auto">
            <a:xfrm>
              <a:off x="4883" y="1947"/>
              <a:ext cx="0" cy="240"/>
            </a:xfrm>
            <a:prstGeom prst="line">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9405" name="Line 23">
              <a:extLst>
                <a:ext uri="{FF2B5EF4-FFF2-40B4-BE49-F238E27FC236}">
                  <a16:creationId xmlns:a16="http://schemas.microsoft.com/office/drawing/2014/main" id="{EDE253AE-4281-4839-A31F-0D6139E282CA}"/>
                </a:ext>
              </a:extLst>
            </p:cNvPr>
            <p:cNvSpPr>
              <a:spLocks noChangeShapeType="1"/>
            </p:cNvSpPr>
            <p:nvPr/>
          </p:nvSpPr>
          <p:spPr bwMode="auto">
            <a:xfrm>
              <a:off x="4883" y="2523"/>
              <a:ext cx="0" cy="240"/>
            </a:xfrm>
            <a:prstGeom prst="line">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9406" name="Line 24">
              <a:extLst>
                <a:ext uri="{FF2B5EF4-FFF2-40B4-BE49-F238E27FC236}">
                  <a16:creationId xmlns:a16="http://schemas.microsoft.com/office/drawing/2014/main" id="{DA274BF4-316D-463C-ACCF-AE30114199B0}"/>
                </a:ext>
              </a:extLst>
            </p:cNvPr>
            <p:cNvSpPr>
              <a:spLocks noChangeShapeType="1"/>
            </p:cNvSpPr>
            <p:nvPr/>
          </p:nvSpPr>
          <p:spPr bwMode="auto">
            <a:xfrm>
              <a:off x="4879" y="3067"/>
              <a:ext cx="0" cy="240"/>
            </a:xfrm>
            <a:prstGeom prst="line">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07577" name="AutoShape 25">
              <a:extLst>
                <a:ext uri="{FF2B5EF4-FFF2-40B4-BE49-F238E27FC236}">
                  <a16:creationId xmlns:a16="http://schemas.microsoft.com/office/drawing/2014/main" id="{19A95CBC-C834-4C56-8DC6-58688F28F701}"/>
                </a:ext>
              </a:extLst>
            </p:cNvPr>
            <p:cNvSpPr>
              <a:spLocks noChangeArrowheads="1"/>
            </p:cNvSpPr>
            <p:nvPr/>
          </p:nvSpPr>
          <p:spPr bwMode="auto">
            <a:xfrm>
              <a:off x="4380" y="3293"/>
              <a:ext cx="960" cy="317"/>
            </a:xfrm>
            <a:prstGeom prst="roundRect">
              <a:avLst>
                <a:gd name="adj" fmla="val 50000"/>
              </a:avLst>
            </a:prstGeom>
            <a:noFill/>
            <a:ln w="28575" algn="ctr">
              <a:solidFill>
                <a:schemeClr val="tx1"/>
              </a:solidFill>
              <a:round/>
              <a:headEnd/>
              <a:tailEnd/>
            </a:ln>
            <a:effectLst/>
          </p:spPr>
          <p:txBody>
            <a:bodyPr lIns="0" tIns="0" rIns="0" bIns="0" anchor="ctr"/>
            <a:lstStyle/>
            <a:p>
              <a:pPr algn="ctr">
                <a:defRPr/>
              </a:pPr>
              <a:r>
                <a:rPr lang="zh-CN" altLang="en-US" sz="2000" b="1">
                  <a:effectLst>
                    <a:outerShdw blurRad="38100" dist="38100" dir="2700000" algn="tl">
                      <a:srgbClr val="C0C0C0"/>
                    </a:outerShdw>
                  </a:effectLst>
                  <a:ea typeface="宋体" pitchFamily="2" charset="-122"/>
                </a:rPr>
                <a:t>绘制结束</a:t>
              </a:r>
            </a:p>
          </p:txBody>
        </p:sp>
        <p:sp>
          <p:nvSpPr>
            <p:cNvPr id="407578" name="AutoShape 26">
              <a:extLst>
                <a:ext uri="{FF2B5EF4-FFF2-40B4-BE49-F238E27FC236}">
                  <a16:creationId xmlns:a16="http://schemas.microsoft.com/office/drawing/2014/main" id="{20250D23-37A6-4456-80E7-9F68B6BE06C6}"/>
                </a:ext>
              </a:extLst>
            </p:cNvPr>
            <p:cNvSpPr>
              <a:spLocks noChangeArrowheads="1"/>
            </p:cNvSpPr>
            <p:nvPr/>
          </p:nvSpPr>
          <p:spPr bwMode="auto">
            <a:xfrm>
              <a:off x="4380" y="1071"/>
              <a:ext cx="960" cy="317"/>
            </a:xfrm>
            <a:prstGeom prst="roundRect">
              <a:avLst>
                <a:gd name="adj" fmla="val 50000"/>
              </a:avLst>
            </a:prstGeom>
            <a:noFill/>
            <a:ln w="28575" algn="ctr">
              <a:solidFill>
                <a:schemeClr val="tx1"/>
              </a:solidFill>
              <a:round/>
              <a:headEnd/>
              <a:tailEnd/>
            </a:ln>
            <a:effectLst/>
          </p:spPr>
          <p:txBody>
            <a:bodyPr lIns="0" tIns="0" rIns="0" bIns="0" anchor="ctr"/>
            <a:lstStyle/>
            <a:p>
              <a:pPr algn="ctr">
                <a:defRPr/>
              </a:pPr>
              <a:r>
                <a:rPr lang="zh-CN" altLang="en-US" sz="2000" b="1">
                  <a:effectLst>
                    <a:outerShdw blurRad="38100" dist="38100" dir="2700000" algn="tl">
                      <a:srgbClr val="C0C0C0"/>
                    </a:outerShdw>
                  </a:effectLst>
                  <a:ea typeface="宋体" pitchFamily="2" charset="-122"/>
                </a:rPr>
                <a:t>绘制开始</a:t>
              </a:r>
            </a:p>
          </p:txBody>
        </p:sp>
        <p:sp>
          <p:nvSpPr>
            <p:cNvPr id="59409" name="Line 27">
              <a:extLst>
                <a:ext uri="{FF2B5EF4-FFF2-40B4-BE49-F238E27FC236}">
                  <a16:creationId xmlns:a16="http://schemas.microsoft.com/office/drawing/2014/main" id="{56E5DAFA-3263-41C3-B27D-98C9F0E81A92}"/>
                </a:ext>
              </a:extLst>
            </p:cNvPr>
            <p:cNvSpPr>
              <a:spLocks noChangeShapeType="1"/>
            </p:cNvSpPr>
            <p:nvPr/>
          </p:nvSpPr>
          <p:spPr bwMode="auto">
            <a:xfrm>
              <a:off x="4860" y="1388"/>
              <a:ext cx="0" cy="240"/>
            </a:xfrm>
            <a:prstGeom prst="line">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7569"/>
                                        </p:tgtEl>
                                        <p:attrNameLst>
                                          <p:attrName>style.visibility</p:attrName>
                                        </p:attrNameLst>
                                      </p:cBhvr>
                                      <p:to>
                                        <p:strVal val="visible"/>
                                      </p:to>
                                    </p:set>
                                    <p:animEffect transition="in" filter="dissolve">
                                      <p:cBhvr>
                                        <p:cTn id="7" dur="500"/>
                                        <p:tgtEl>
                                          <p:spTgt spid="407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6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36E3FF70-74FB-4D43-A097-D9296F3A6616}"/>
              </a:ext>
            </a:extLst>
          </p:cNvPr>
          <p:cNvSpPr>
            <a:spLocks noGrp="1" noChangeArrowheads="1"/>
          </p:cNvSpPr>
          <p:nvPr>
            <p:ph type="title"/>
          </p:nvPr>
        </p:nvSpPr>
        <p:spPr/>
        <p:txBody>
          <a:bodyPr/>
          <a:lstStyle/>
          <a:p>
            <a:pPr>
              <a:defRPr/>
            </a:pPr>
            <a:r>
              <a:rPr lang="en-US" altLang="zh-CN" dirty="0">
                <a:latin typeface="Arial" pitchFamily="34" charset="0"/>
              </a:rPr>
              <a:t>7.2 Keyboard Callback</a:t>
            </a:r>
          </a:p>
        </p:txBody>
      </p:sp>
      <p:sp>
        <p:nvSpPr>
          <p:cNvPr id="484355" name="Rectangle 3">
            <a:extLst>
              <a:ext uri="{FF2B5EF4-FFF2-40B4-BE49-F238E27FC236}">
                <a16:creationId xmlns:a16="http://schemas.microsoft.com/office/drawing/2014/main" id="{86F668C5-B31D-4A8A-9D88-8C21E994B4F1}"/>
              </a:ext>
            </a:extLst>
          </p:cNvPr>
          <p:cNvSpPr>
            <a:spLocks noGrp="1" noChangeArrowheads="1"/>
          </p:cNvSpPr>
          <p:nvPr>
            <p:ph type="body" idx="1"/>
          </p:nvPr>
        </p:nvSpPr>
        <p:spPr>
          <a:xfrm>
            <a:off x="2208214" y="1052513"/>
            <a:ext cx="8459787" cy="2055294"/>
          </a:xfrm>
        </p:spPr>
        <p:txBody>
          <a:bodyPr/>
          <a:lstStyle/>
          <a:p>
            <a:pPr>
              <a:defRPr/>
            </a:pPr>
            <a:r>
              <a:rPr lang="zh-CN" altLang="en-US" sz="2400" dirty="0">
                <a:ea typeface="黑体" pitchFamily="49" charset="-122"/>
              </a:rPr>
              <a:t>第一步：注册函数：处理一般键盘</a:t>
            </a:r>
            <a:r>
              <a:rPr lang="zh-CN" altLang="en-US" sz="2400" dirty="0">
                <a:solidFill>
                  <a:srgbClr val="FF0000"/>
                </a:solidFill>
                <a:ea typeface="黑体" pitchFamily="49" charset="-122"/>
              </a:rPr>
              <a:t>（ </a:t>
            </a:r>
            <a:r>
              <a:rPr lang="en-US" altLang="zh-CN" sz="2400" dirty="0">
                <a:solidFill>
                  <a:srgbClr val="FF0000"/>
                </a:solidFill>
                <a:ea typeface="黑体" pitchFamily="49" charset="-122"/>
              </a:rPr>
              <a:t>ASCII</a:t>
            </a:r>
            <a:r>
              <a:rPr lang="zh-CN" altLang="en-US" sz="2400" dirty="0">
                <a:solidFill>
                  <a:srgbClr val="FF0000"/>
                </a:solidFill>
                <a:ea typeface="黑体" pitchFamily="49" charset="-122"/>
              </a:rPr>
              <a:t>字符）</a:t>
            </a:r>
            <a:r>
              <a:rPr lang="zh-CN" altLang="en-US" sz="2400" dirty="0">
                <a:ea typeface="黑体" pitchFamily="49" charset="-122"/>
              </a:rPr>
              <a:t>输入</a:t>
            </a:r>
          </a:p>
          <a:p>
            <a:pPr lvl="1">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glutKeyboardFunc</a:t>
            </a:r>
            <a:r>
              <a:rPr lang="en-US" altLang="zh-CN" sz="2400" dirty="0">
                <a:solidFill>
                  <a:srgbClr val="C00000"/>
                </a:solidFill>
                <a:ea typeface="黑体" pitchFamily="49" charset="-122"/>
              </a:rPr>
              <a:t>( </a:t>
            </a:r>
            <a:r>
              <a:rPr lang="en-US" altLang="zh-CN" sz="2400" i="1" dirty="0">
                <a:solidFill>
                  <a:srgbClr val="C00000"/>
                </a:solidFill>
                <a:ea typeface="黑体" pitchFamily="49" charset="-122"/>
              </a:rPr>
              <a:t>keyboard</a:t>
            </a:r>
            <a:r>
              <a:rPr lang="en-US" altLang="zh-CN" sz="2400" dirty="0">
                <a:solidFill>
                  <a:srgbClr val="C00000"/>
                </a:solidFill>
                <a:ea typeface="黑体" pitchFamily="49" charset="-122"/>
              </a:rPr>
              <a:t> )</a:t>
            </a:r>
            <a:endParaRPr lang="zh-CN" altLang="en-US" sz="2400" dirty="0">
              <a:solidFill>
                <a:srgbClr val="C00000"/>
              </a:solidFill>
              <a:ea typeface="黑体" pitchFamily="49" charset="-122"/>
            </a:endParaRPr>
          </a:p>
          <a:p>
            <a:pPr>
              <a:defRPr/>
            </a:pPr>
            <a:r>
              <a:rPr lang="zh-CN" altLang="en-US" sz="2400" dirty="0">
                <a:ea typeface="黑体" pitchFamily="49" charset="-122"/>
              </a:rPr>
              <a:t>注册函数：处理特殊键的输入</a:t>
            </a:r>
          </a:p>
          <a:p>
            <a:pPr lvl="1">
              <a:spcBef>
                <a:spcPct val="0"/>
              </a:spcBef>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glutSpecialFunc</a:t>
            </a:r>
            <a:r>
              <a:rPr lang="en-US" altLang="zh-CN" sz="2400" dirty="0">
                <a:solidFill>
                  <a:srgbClr val="C00000"/>
                </a:solidFill>
                <a:ea typeface="黑体" pitchFamily="49" charset="-122"/>
              </a:rPr>
              <a:t>( </a:t>
            </a:r>
            <a:r>
              <a:rPr lang="en-US" altLang="zh-CN" sz="2400" dirty="0" err="1">
                <a:solidFill>
                  <a:srgbClr val="C00000"/>
                </a:solidFill>
                <a:ea typeface="黑体" pitchFamily="49" charset="-122"/>
              </a:rPr>
              <a:t>specialkey</a:t>
            </a:r>
            <a:r>
              <a:rPr lang="en-US" altLang="zh-CN" sz="2400" dirty="0">
                <a:solidFill>
                  <a:srgbClr val="C00000"/>
                </a:solidFill>
                <a:ea typeface="黑体" pitchFamily="49" charset="-122"/>
              </a:rPr>
              <a:t> )</a:t>
            </a:r>
          </a:p>
        </p:txBody>
      </p:sp>
      <p:sp>
        <p:nvSpPr>
          <p:cNvPr id="6" name="Rectangle 3">
            <a:extLst>
              <a:ext uri="{FF2B5EF4-FFF2-40B4-BE49-F238E27FC236}">
                <a16:creationId xmlns:a16="http://schemas.microsoft.com/office/drawing/2014/main" id="{FB85D12E-DDF3-4165-A69F-7424AEB57A28}"/>
              </a:ext>
            </a:extLst>
          </p:cNvPr>
          <p:cNvSpPr txBox="1">
            <a:spLocks noChangeArrowheads="1"/>
          </p:cNvSpPr>
          <p:nvPr/>
        </p:nvSpPr>
        <p:spPr bwMode="auto">
          <a:xfrm>
            <a:off x="2225675" y="3384550"/>
            <a:ext cx="2051050" cy="2846388"/>
          </a:xfrm>
          <a:prstGeom prst="rect">
            <a:avLst/>
          </a:prstGeom>
          <a:solidFill>
            <a:srgbClr val="CCFFCC"/>
          </a:solidFill>
          <a:ln w="9525">
            <a:solidFill>
              <a:schemeClr val="tx1"/>
            </a:solidFill>
            <a:miter lim="800000"/>
            <a:headEnd/>
            <a:tailEnd/>
          </a:ln>
        </p:spPr>
        <p:txBody>
          <a:bodyPr>
            <a:spAutoFit/>
          </a:bodyPr>
          <a:lstStyle/>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GLUT_KEY_F1</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GLUT_KEY_F2</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GLUT_KEY_F3</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GLUT_KEY_F4</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GLUT_KEY_F12</a:t>
            </a:r>
          </a:p>
        </p:txBody>
      </p:sp>
      <p:sp>
        <p:nvSpPr>
          <p:cNvPr id="7" name="Rectangle 3">
            <a:extLst>
              <a:ext uri="{FF2B5EF4-FFF2-40B4-BE49-F238E27FC236}">
                <a16:creationId xmlns:a16="http://schemas.microsoft.com/office/drawing/2014/main" id="{D2DF75A9-29B2-4E60-95A4-DB5A12730401}"/>
              </a:ext>
            </a:extLst>
          </p:cNvPr>
          <p:cNvSpPr txBox="1">
            <a:spLocks noChangeArrowheads="1"/>
          </p:cNvSpPr>
          <p:nvPr/>
        </p:nvSpPr>
        <p:spPr bwMode="auto">
          <a:xfrm>
            <a:off x="4610101" y="3384550"/>
            <a:ext cx="2430463" cy="1873250"/>
          </a:xfrm>
          <a:prstGeom prst="rect">
            <a:avLst/>
          </a:prstGeom>
          <a:solidFill>
            <a:srgbClr val="ABFFFA"/>
          </a:solidFill>
          <a:ln w="9525">
            <a:solidFill>
              <a:schemeClr val="tx1"/>
            </a:solidFill>
            <a:miter lim="800000"/>
            <a:headEnd/>
            <a:tailEnd/>
          </a:ln>
        </p:spPr>
        <p:txBody>
          <a:bodyPr>
            <a:spAutoFit/>
          </a:bodyPr>
          <a:lstStyle/>
          <a:p>
            <a:pPr marL="0" lvl="2">
              <a:lnSpc>
                <a:spcPct val="120000"/>
              </a:lnSpc>
              <a:spcBef>
                <a:spcPts val="1200"/>
              </a:spcBef>
              <a:buClr>
                <a:schemeClr val="tx2"/>
              </a:buClr>
              <a:buSzPct val="125000"/>
              <a:defRPr/>
            </a:pPr>
            <a:r>
              <a:rPr lang="en-US" altLang="zh-CN" sz="1800" b="1">
                <a:effectLst>
                  <a:outerShdw blurRad="38100" dist="38100" dir="2700000" algn="tl">
                    <a:srgbClr val="FFFFFF"/>
                  </a:outerShdw>
                </a:effectLst>
                <a:ea typeface="黑体" pitchFamily="49" charset="-122"/>
              </a:rPr>
              <a:t>GLUT_KEY_LEFT</a:t>
            </a:r>
          </a:p>
          <a:p>
            <a:pPr marL="0" lvl="2">
              <a:lnSpc>
                <a:spcPct val="120000"/>
              </a:lnSpc>
              <a:spcBef>
                <a:spcPts val="1200"/>
              </a:spcBef>
              <a:buClr>
                <a:schemeClr val="tx2"/>
              </a:buClr>
              <a:buSzPct val="125000"/>
              <a:defRPr/>
            </a:pPr>
            <a:r>
              <a:rPr lang="en-US" altLang="zh-CN" sz="1800" b="1">
                <a:effectLst>
                  <a:outerShdw blurRad="38100" dist="38100" dir="2700000" algn="tl">
                    <a:srgbClr val="FFFFFF"/>
                  </a:outerShdw>
                </a:effectLst>
                <a:ea typeface="黑体" pitchFamily="49" charset="-122"/>
              </a:rPr>
              <a:t>GLUT_KEY_RIGHT</a:t>
            </a:r>
          </a:p>
          <a:p>
            <a:pPr marL="0" lvl="2">
              <a:lnSpc>
                <a:spcPct val="120000"/>
              </a:lnSpc>
              <a:spcBef>
                <a:spcPts val="1200"/>
              </a:spcBef>
              <a:buClr>
                <a:schemeClr val="tx2"/>
              </a:buClr>
              <a:buSzPct val="125000"/>
              <a:defRPr/>
            </a:pPr>
            <a:r>
              <a:rPr lang="en-US" altLang="zh-CN" sz="1800" b="1">
                <a:effectLst>
                  <a:outerShdw blurRad="38100" dist="38100" dir="2700000" algn="tl">
                    <a:srgbClr val="FFFFFF"/>
                  </a:outerShdw>
                </a:effectLst>
                <a:ea typeface="黑体" pitchFamily="49" charset="-122"/>
              </a:rPr>
              <a:t>GLUT_KEY_UP</a:t>
            </a:r>
          </a:p>
          <a:p>
            <a:pPr marL="0" lvl="2">
              <a:lnSpc>
                <a:spcPct val="120000"/>
              </a:lnSpc>
              <a:spcBef>
                <a:spcPts val="1200"/>
              </a:spcBef>
              <a:buClr>
                <a:schemeClr val="tx2"/>
              </a:buClr>
              <a:buSzPct val="125000"/>
              <a:defRPr/>
            </a:pPr>
            <a:r>
              <a:rPr lang="en-US" altLang="zh-CN" sz="1800" b="1">
                <a:effectLst>
                  <a:outerShdw blurRad="38100" dist="38100" dir="2700000" algn="tl">
                    <a:srgbClr val="FFFFFF"/>
                  </a:outerShdw>
                </a:effectLst>
                <a:ea typeface="黑体" pitchFamily="49" charset="-122"/>
              </a:rPr>
              <a:t>GLUT_KEY_DOWN</a:t>
            </a:r>
          </a:p>
        </p:txBody>
      </p:sp>
      <p:sp>
        <p:nvSpPr>
          <p:cNvPr id="8" name="Rectangle 3">
            <a:extLst>
              <a:ext uri="{FF2B5EF4-FFF2-40B4-BE49-F238E27FC236}">
                <a16:creationId xmlns:a16="http://schemas.microsoft.com/office/drawing/2014/main" id="{BAAAAD50-3720-4C05-AF1A-DD7B074B9A27}"/>
              </a:ext>
            </a:extLst>
          </p:cNvPr>
          <p:cNvSpPr txBox="1">
            <a:spLocks noChangeArrowheads="1"/>
          </p:cNvSpPr>
          <p:nvPr/>
        </p:nvSpPr>
        <p:spPr bwMode="auto">
          <a:xfrm>
            <a:off x="7310438" y="3384551"/>
            <a:ext cx="3060700" cy="1852613"/>
          </a:xfrm>
          <a:prstGeom prst="rect">
            <a:avLst/>
          </a:prstGeom>
          <a:solidFill>
            <a:srgbClr val="CCFFCC"/>
          </a:solidFill>
          <a:ln w="9525">
            <a:solidFill>
              <a:schemeClr val="tx1"/>
            </a:solidFill>
            <a:miter lim="800000"/>
            <a:headEnd/>
            <a:tailEnd/>
          </a:ln>
        </p:spPr>
        <p:txBody>
          <a:bodyPr>
            <a:spAutoFit/>
          </a:bodyPr>
          <a:lstStyle/>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GLUT_KEY_PAGE_UP</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GLUT_KEY_PAGE_DOWN</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GLUT_KEY_HOME</a:t>
            </a:r>
          </a:p>
          <a:p>
            <a:pPr marL="0" lvl="2">
              <a:lnSpc>
                <a:spcPct val="120000"/>
              </a:lnSpc>
              <a:spcBef>
                <a:spcPts val="1200"/>
              </a:spcBef>
              <a:buClr>
                <a:schemeClr val="tx2"/>
              </a:buClr>
              <a:buSzPct val="125000"/>
              <a:defRPr/>
            </a:pPr>
            <a:r>
              <a:rPr lang="en-US" altLang="zh-CN" sz="1800" b="1" dirty="0">
                <a:effectLst>
                  <a:outerShdw blurRad="38100" dist="38100" dir="2700000" algn="tl">
                    <a:srgbClr val="FFFFFF"/>
                  </a:outerShdw>
                </a:effectLst>
                <a:ea typeface="黑体" pitchFamily="49" charset="-122"/>
              </a:rPr>
              <a:t>GLUT_KEY_END</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412EED46-6F50-48AE-80F6-79326235A876}"/>
              </a:ext>
            </a:extLst>
          </p:cNvPr>
          <p:cNvSpPr>
            <a:spLocks noGrp="1" noChangeArrowheads="1"/>
          </p:cNvSpPr>
          <p:nvPr>
            <p:ph type="title"/>
          </p:nvPr>
        </p:nvSpPr>
        <p:spPr/>
        <p:txBody>
          <a:bodyPr/>
          <a:lstStyle/>
          <a:p>
            <a:pPr>
              <a:defRPr/>
            </a:pPr>
            <a:r>
              <a:rPr lang="en-US" altLang="zh-CN" dirty="0">
                <a:latin typeface="Arial" pitchFamily="34" charset="0"/>
              </a:rPr>
              <a:t>7.2 Keyboard Callback</a:t>
            </a:r>
          </a:p>
        </p:txBody>
      </p:sp>
      <p:sp>
        <p:nvSpPr>
          <p:cNvPr id="484355" name="Rectangle 3">
            <a:extLst>
              <a:ext uri="{FF2B5EF4-FFF2-40B4-BE49-F238E27FC236}">
                <a16:creationId xmlns:a16="http://schemas.microsoft.com/office/drawing/2014/main" id="{1AFA1F8E-FED8-4E53-AAA4-B348640B8A1C}"/>
              </a:ext>
            </a:extLst>
          </p:cNvPr>
          <p:cNvSpPr>
            <a:spLocks noGrp="1" noChangeArrowheads="1"/>
          </p:cNvSpPr>
          <p:nvPr>
            <p:ph type="body" idx="1"/>
          </p:nvPr>
        </p:nvSpPr>
        <p:spPr>
          <a:xfrm>
            <a:off x="2630488" y="1358901"/>
            <a:ext cx="7173912" cy="2652381"/>
          </a:xfrm>
        </p:spPr>
        <p:txBody>
          <a:bodyPr/>
          <a:lstStyle/>
          <a:p>
            <a:pPr>
              <a:defRPr/>
            </a:pPr>
            <a:r>
              <a:rPr lang="zh-CN" altLang="en-US" dirty="0">
                <a:ea typeface="黑体" pitchFamily="49" charset="-122"/>
              </a:rPr>
              <a:t>注册函数：处理辅助按键</a:t>
            </a:r>
          </a:p>
          <a:p>
            <a:pPr lvl="1">
              <a:defRPr/>
            </a:pPr>
            <a:r>
              <a:rPr lang="en-US" altLang="zh-CN" sz="2400" dirty="0">
                <a:solidFill>
                  <a:srgbClr val="C00000"/>
                </a:solidFill>
                <a:ea typeface="黑体" pitchFamily="49" charset="-122"/>
              </a:rPr>
              <a:t>int </a:t>
            </a:r>
            <a:r>
              <a:rPr lang="en-US" altLang="zh-CN" sz="2400" dirty="0" err="1">
                <a:solidFill>
                  <a:srgbClr val="C00000"/>
                </a:solidFill>
                <a:ea typeface="黑体" pitchFamily="49" charset="-122"/>
              </a:rPr>
              <a:t>glutGetModifiers</a:t>
            </a:r>
            <a:r>
              <a:rPr lang="en-US" altLang="zh-CN" sz="2400" dirty="0">
                <a:solidFill>
                  <a:srgbClr val="C00000"/>
                </a:solidFill>
                <a:ea typeface="黑体" pitchFamily="49" charset="-122"/>
              </a:rPr>
              <a:t> (void)</a:t>
            </a:r>
          </a:p>
          <a:p>
            <a:pPr lvl="2">
              <a:defRPr/>
            </a:pPr>
            <a:r>
              <a:rPr lang="en-US" altLang="zh-CN" sz="2400" dirty="0">
                <a:ea typeface="黑体" pitchFamily="49" charset="-122"/>
              </a:rPr>
              <a:t>GLUT_ACTIVE_SHIFT</a:t>
            </a:r>
          </a:p>
          <a:p>
            <a:pPr lvl="2">
              <a:defRPr/>
            </a:pPr>
            <a:r>
              <a:rPr lang="en-US" altLang="zh-CN" sz="2400" dirty="0">
                <a:ea typeface="黑体" pitchFamily="49" charset="-122"/>
              </a:rPr>
              <a:t>GLUT_ACTIVE_ALT</a:t>
            </a:r>
          </a:p>
          <a:p>
            <a:pPr lvl="2">
              <a:defRPr/>
            </a:pPr>
            <a:r>
              <a:rPr lang="en-US" altLang="zh-CN" sz="2400" dirty="0">
                <a:ea typeface="黑体" pitchFamily="49" charset="-122"/>
              </a:rPr>
              <a:t>GLUT_ACTIVE_CTRL</a:t>
            </a:r>
            <a:endParaRPr lang="zh-CN" altLang="en-US" sz="2400" dirty="0">
              <a:ea typeface="黑体" pitchFamily="49" charset="-122"/>
            </a:endParaRP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9" name="Rectangle 3">
            <a:extLst>
              <a:ext uri="{FF2B5EF4-FFF2-40B4-BE49-F238E27FC236}">
                <a16:creationId xmlns:a16="http://schemas.microsoft.com/office/drawing/2014/main" id="{97ECCB8B-2691-486B-8DBA-A1687FA31DB8}"/>
              </a:ext>
            </a:extLst>
          </p:cNvPr>
          <p:cNvSpPr>
            <a:spLocks noGrp="1" noChangeArrowheads="1"/>
          </p:cNvSpPr>
          <p:nvPr>
            <p:ph type="body" idx="1"/>
          </p:nvPr>
        </p:nvSpPr>
        <p:spPr>
          <a:xfrm>
            <a:off x="2208213" y="1052514"/>
            <a:ext cx="7848600" cy="560911"/>
          </a:xfrm>
        </p:spPr>
        <p:txBody>
          <a:bodyPr/>
          <a:lstStyle/>
          <a:p>
            <a:pPr>
              <a:defRPr/>
            </a:pPr>
            <a:r>
              <a:rPr lang="zh-CN" altLang="en-US" dirty="0">
                <a:ea typeface="黑体" pitchFamily="49" charset="-122"/>
              </a:rPr>
              <a:t>第二步：编写处理函数代码</a:t>
            </a:r>
          </a:p>
        </p:txBody>
      </p:sp>
      <p:sp>
        <p:nvSpPr>
          <p:cNvPr id="485381" name="Rectangle 5">
            <a:extLst>
              <a:ext uri="{FF2B5EF4-FFF2-40B4-BE49-F238E27FC236}">
                <a16:creationId xmlns:a16="http://schemas.microsoft.com/office/drawing/2014/main" id="{C15F0494-2407-437B-9B3B-06D56109C183}"/>
              </a:ext>
            </a:extLst>
          </p:cNvPr>
          <p:cNvSpPr>
            <a:spLocks noChangeArrowheads="1"/>
          </p:cNvSpPr>
          <p:nvPr/>
        </p:nvSpPr>
        <p:spPr bwMode="auto">
          <a:xfrm>
            <a:off x="2566989" y="1773239"/>
            <a:ext cx="7704137" cy="4359275"/>
          </a:xfrm>
          <a:prstGeom prst="rect">
            <a:avLst/>
          </a:prstGeom>
          <a:noFill/>
          <a:ln w="9525">
            <a:noFill/>
            <a:miter lim="800000"/>
            <a:headEnd/>
            <a:tailEnd/>
          </a:ln>
          <a:effectLst/>
        </p:spPr>
        <p:txBody>
          <a:bodyPr>
            <a:spAutoFit/>
          </a:bodyPr>
          <a:lstStyle/>
          <a:p>
            <a:pPr>
              <a:defRPr/>
            </a:pPr>
            <a:r>
              <a:rPr lang="en-US" altLang="zh-CN" sz="2000" b="1" dirty="0" err="1">
                <a:effectLst>
                  <a:outerShdw blurRad="38100" dist="38100" dir="2700000" algn="tl">
                    <a:srgbClr val="C0C0C0"/>
                  </a:outerShdw>
                </a:effectLst>
                <a:latin typeface="Courier New" pitchFamily="49" charset="0"/>
                <a:ea typeface="宋体" pitchFamily="2" charset="-122"/>
              </a:rPr>
              <a:t>GLboolean</a:t>
            </a:r>
            <a:r>
              <a:rPr lang="en-US" altLang="zh-CN" sz="2000" b="1" dirty="0">
                <a:effectLst>
                  <a:outerShdw blurRad="38100" dist="38100" dir="2700000" algn="tl">
                    <a:srgbClr val="C0C0C0"/>
                  </a:outerShdw>
                </a:effectLst>
                <a:latin typeface="Courier New" pitchFamily="49" charset="0"/>
                <a:ea typeface="宋体" pitchFamily="2" charset="-122"/>
              </a:rPr>
              <a:t> rotate = GL_TRUE;</a:t>
            </a:r>
          </a:p>
          <a:p>
            <a:pPr>
              <a:defRPr/>
            </a:pPr>
            <a:endParaRPr lang="en-US" altLang="zh-CN" sz="2000" b="1" dirty="0">
              <a:effectLst>
                <a:outerShdw blurRad="38100" dist="38100" dir="2700000" algn="tl">
                  <a:srgbClr val="C0C0C0"/>
                </a:outerShdw>
              </a:effectLst>
              <a:latin typeface="Courier New" pitchFamily="49" charset="0"/>
              <a:ea typeface="宋体" pitchFamily="2" charset="-122"/>
            </a:endParaRPr>
          </a:p>
          <a:p>
            <a:pPr>
              <a:defRPr/>
            </a:pP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void keyboard (unsigned char key, int x, int y){</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switch ( key ) {</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case ‘r’ : case ‘R’ :</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if(rotate) </a:t>
            </a:r>
            <a:r>
              <a:rPr lang="en-US" altLang="zh-CN" sz="2000" b="1" dirty="0" err="1">
                <a:effectLst>
                  <a:outerShdw blurRad="38100" dist="38100" dir="2700000" algn="tl">
                    <a:srgbClr val="C0C0C0"/>
                  </a:outerShdw>
                </a:effectLst>
                <a:latin typeface="Courier New" pitchFamily="49" charset="0"/>
                <a:ea typeface="宋体" pitchFamily="2" charset="-122"/>
              </a:rPr>
              <a:t>glutIdleFunc</a:t>
            </a:r>
            <a:r>
              <a:rPr lang="en-US" altLang="zh-CN" sz="2000" b="1" dirty="0">
                <a:effectLst>
                  <a:outerShdw blurRad="38100" dist="38100" dir="2700000" algn="tl">
                    <a:srgbClr val="C0C0C0"/>
                  </a:outerShdw>
                </a:effectLst>
                <a:latin typeface="Courier New" pitchFamily="49" charset="0"/>
                <a:ea typeface="宋体" pitchFamily="2" charset="-122"/>
              </a:rPr>
              <a:t>(NULL);</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else </a:t>
            </a:r>
            <a:r>
              <a:rPr lang="en-US" altLang="zh-CN" sz="2000" b="1" dirty="0" err="1">
                <a:effectLst>
                  <a:outerShdw blurRad="38100" dist="38100" dir="2700000" algn="tl">
                    <a:srgbClr val="C0C0C0"/>
                  </a:outerShdw>
                </a:effectLst>
                <a:latin typeface="Courier New" pitchFamily="49" charset="0"/>
                <a:ea typeface="宋体" pitchFamily="2" charset="-122"/>
              </a:rPr>
              <a:t>glutIdleFunc</a:t>
            </a:r>
            <a:r>
              <a:rPr lang="en-US" altLang="zh-CN" sz="2000" b="1" dirty="0">
                <a:effectLst>
                  <a:outerShdw blurRad="38100" dist="38100" dir="2700000" algn="tl">
                    <a:srgbClr val="C0C0C0"/>
                  </a:outerShdw>
                </a:effectLst>
                <a:latin typeface="Courier New" pitchFamily="49" charset="0"/>
                <a:ea typeface="宋体" pitchFamily="2" charset="-122"/>
              </a:rPr>
              <a:t>(idle);</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rotate = !rotate;</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break;</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case ‘q’ : case ‘Q’ :</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exit(0);</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break;</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a:t>
            </a:r>
          </a:p>
          <a:p>
            <a:pPr>
              <a:defRPr/>
            </a:pPr>
            <a:r>
              <a:rPr lang="en-US" altLang="zh-CN" sz="2000" b="1" dirty="0">
                <a:effectLst>
                  <a:outerShdw blurRad="38100" dist="38100" dir="2700000" algn="tl">
                    <a:srgbClr val="C0C0C0"/>
                  </a:outerShdw>
                </a:effectLst>
                <a:latin typeface="Courier New" pitchFamily="49" charset="0"/>
                <a:ea typeface="宋体" pitchFamily="2" charset="-122"/>
              </a:rPr>
              <a:t>}</a:t>
            </a:r>
          </a:p>
        </p:txBody>
      </p:sp>
      <p:sp>
        <p:nvSpPr>
          <p:cNvPr id="9" name="Rectangle 2">
            <a:extLst>
              <a:ext uri="{FF2B5EF4-FFF2-40B4-BE49-F238E27FC236}">
                <a16:creationId xmlns:a16="http://schemas.microsoft.com/office/drawing/2014/main" id="{D9DDE4D7-4E29-4CA3-93CF-FE6EA5343887}"/>
              </a:ext>
            </a:extLst>
          </p:cNvPr>
          <p:cNvSpPr>
            <a:spLocks noGrp="1" noChangeArrowheads="1"/>
          </p:cNvSpPr>
          <p:nvPr>
            <p:ph type="title"/>
          </p:nvPr>
        </p:nvSpPr>
        <p:spPr>
          <a:xfrm>
            <a:off x="1055440" y="60326"/>
            <a:ext cx="9231560" cy="701675"/>
          </a:xfrm>
        </p:spPr>
        <p:txBody>
          <a:bodyPr/>
          <a:lstStyle/>
          <a:p>
            <a:pPr>
              <a:defRPr/>
            </a:pPr>
            <a:r>
              <a:rPr lang="en-US" altLang="zh-CN" dirty="0">
                <a:latin typeface="Arial" pitchFamily="34" charset="0"/>
              </a:rPr>
              <a:t>7.2 Keyboard Callback</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5381"/>
                                        </p:tgtEl>
                                        <p:attrNameLst>
                                          <p:attrName>style.visibility</p:attrName>
                                        </p:attrNameLst>
                                      </p:cBhvr>
                                      <p:to>
                                        <p:strVal val="visible"/>
                                      </p:to>
                                    </p:set>
                                    <p:animEffect transition="in" filter="blinds(horizontal)">
                                      <p:cBhvr>
                                        <p:cTn id="7" dur="500"/>
                                        <p:tgtEl>
                                          <p:spTgt spid="485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3" name="Rectangle 3">
            <a:extLst>
              <a:ext uri="{FF2B5EF4-FFF2-40B4-BE49-F238E27FC236}">
                <a16:creationId xmlns:a16="http://schemas.microsoft.com/office/drawing/2014/main" id="{F4432779-354F-4F28-94A2-9E40621FAB54}"/>
              </a:ext>
            </a:extLst>
          </p:cNvPr>
          <p:cNvSpPr>
            <a:spLocks noGrp="1" noChangeArrowheads="1"/>
          </p:cNvSpPr>
          <p:nvPr>
            <p:ph type="body" idx="1"/>
          </p:nvPr>
        </p:nvSpPr>
        <p:spPr>
          <a:xfrm>
            <a:off x="2171700" y="981869"/>
            <a:ext cx="7848600" cy="560911"/>
          </a:xfrm>
        </p:spPr>
        <p:txBody>
          <a:bodyPr/>
          <a:lstStyle/>
          <a:p>
            <a:pPr>
              <a:defRPr/>
            </a:pPr>
            <a:r>
              <a:rPr lang="zh-CN" altLang="en-US" dirty="0">
                <a:ea typeface="黑体" pitchFamily="49" charset="-122"/>
              </a:rPr>
              <a:t>第二步：编写处理函数代码</a:t>
            </a:r>
          </a:p>
        </p:txBody>
      </p:sp>
      <p:sp>
        <p:nvSpPr>
          <p:cNvPr id="486404" name="Rectangle 4">
            <a:extLst>
              <a:ext uri="{FF2B5EF4-FFF2-40B4-BE49-F238E27FC236}">
                <a16:creationId xmlns:a16="http://schemas.microsoft.com/office/drawing/2014/main" id="{53E1E926-5054-4E1D-BA24-17459911C9A5}"/>
              </a:ext>
            </a:extLst>
          </p:cNvPr>
          <p:cNvSpPr>
            <a:spLocks noChangeArrowheads="1"/>
          </p:cNvSpPr>
          <p:nvPr/>
        </p:nvSpPr>
        <p:spPr bwMode="auto">
          <a:xfrm>
            <a:off x="2495550" y="1700809"/>
            <a:ext cx="8064500" cy="4664075"/>
          </a:xfrm>
          <a:prstGeom prst="rect">
            <a:avLst/>
          </a:prstGeom>
          <a:noFill/>
          <a:ln w="9525">
            <a:noFill/>
            <a:miter lim="800000"/>
            <a:headEnd/>
            <a:tailEnd/>
          </a:ln>
          <a:effectLst/>
        </p:spPr>
        <p:txBody>
          <a:bodyPr>
            <a:spAutoFit/>
          </a:bodyPr>
          <a:lstStyle/>
          <a:p>
            <a:pPr>
              <a:defRPr/>
            </a:pPr>
            <a:r>
              <a:rPr lang="en-US" altLang="zh-CN" sz="2000" b="1" dirty="0" err="1">
                <a:effectLst>
                  <a:outerShdw blurRad="38100" dist="38100" dir="2700000" algn="tl">
                    <a:srgbClr val="C0C0C0"/>
                  </a:outerShdw>
                </a:effectLst>
                <a:latin typeface="Courier New" pitchFamily="49" charset="0"/>
                <a:ea typeface="宋体" pitchFamily="2" charset="-122"/>
              </a:rPr>
              <a:t>GLfloat</a:t>
            </a:r>
            <a:r>
              <a:rPr lang="en-US" altLang="zh-CN" sz="2000" b="1" dirty="0">
                <a:effectLst>
                  <a:outerShdw blurRad="38100" dist="38100" dir="2700000" algn="tl">
                    <a:srgbClr val="C0C0C0"/>
                  </a:outerShdw>
                </a:effectLst>
                <a:latin typeface="Courier New" pitchFamily="49" charset="0"/>
                <a:ea typeface="宋体" pitchFamily="2" charset="-122"/>
              </a:rPr>
              <a:t> speed = 1 ;</a:t>
            </a:r>
          </a:p>
          <a:p>
            <a:pPr>
              <a:defRPr/>
            </a:pP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void </a:t>
            </a:r>
            <a:r>
              <a:rPr lang="en-US" altLang="zh-CN" sz="2000" b="1" dirty="0" err="1">
                <a:solidFill>
                  <a:srgbClr val="FF0000"/>
                </a:solidFill>
                <a:effectLst>
                  <a:outerShdw blurRad="38100" dist="38100" dir="2700000" algn="tl">
                    <a:srgbClr val="C0C0C0"/>
                  </a:outerShdw>
                </a:effectLst>
                <a:latin typeface="Courier New" pitchFamily="49" charset="0"/>
                <a:ea typeface="宋体" pitchFamily="2" charset="-122"/>
              </a:rPr>
              <a:t>specialKey</a:t>
            </a: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 (</a:t>
            </a:r>
            <a:r>
              <a:rPr lang="en-US" altLang="zh-CN" sz="2000" b="1" dirty="0" err="1">
                <a:solidFill>
                  <a:srgbClr val="FF0000"/>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 key, </a:t>
            </a:r>
            <a:r>
              <a:rPr lang="en-US" altLang="zh-CN" sz="2000" b="1" dirty="0" err="1">
                <a:solidFill>
                  <a:srgbClr val="FF0000"/>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 x, </a:t>
            </a:r>
            <a:r>
              <a:rPr lang="en-US" altLang="zh-CN" sz="2000" b="1" dirty="0" err="1">
                <a:solidFill>
                  <a:srgbClr val="FF0000"/>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FF0000"/>
                </a:solidFill>
                <a:effectLst>
                  <a:outerShdw blurRad="38100" dist="38100" dir="2700000" algn="tl">
                    <a:srgbClr val="C0C0C0"/>
                  </a:outerShdw>
                </a:effectLst>
                <a:latin typeface="Courier New" pitchFamily="49" charset="0"/>
                <a:ea typeface="宋体" pitchFamily="2" charset="-122"/>
              </a:rPr>
              <a:t> y){</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if( key == GLUT_KEY_UP ) {</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speed *= 1.2;</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if(speed &gt; 2) speed = 2;  </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}else if( key == GLUT_KEY_DOWN ) { </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speed *= 0.8;</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if(speed &lt; 0.2) speed = 0.2;</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}else if( key == GLUT_KEY_HOME ) { </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if(</a:t>
            </a:r>
            <a:r>
              <a:rPr lang="en-US" altLang="zh-CN" sz="2000" b="1" dirty="0" err="1">
                <a:solidFill>
                  <a:srgbClr val="FF0000"/>
                </a:solidFill>
                <a:effectLst>
                  <a:outerShdw blurRad="38100" dist="38100" dir="2700000" algn="tl">
                    <a:srgbClr val="C0C0C0"/>
                  </a:outerShdw>
                </a:effectLst>
                <a:latin typeface="Courier New" pitchFamily="49" charset="0"/>
                <a:ea typeface="宋体" pitchFamily="2" charset="-122"/>
              </a:rPr>
              <a:t>glutGetModifiers</a:t>
            </a:r>
            <a:r>
              <a:rPr lang="en-US" altLang="zh-CN" sz="2000" b="1" dirty="0">
                <a:effectLst>
                  <a:outerShdw blurRad="38100" dist="38100" dir="2700000" algn="tl">
                    <a:srgbClr val="C0C0C0"/>
                  </a:outerShdw>
                </a:effectLst>
                <a:latin typeface="Courier New" pitchFamily="49" charset="0"/>
                <a:ea typeface="宋体" pitchFamily="2" charset="-122"/>
              </a:rPr>
              <a:t>() == GLUT_ACTIVE_ALT)</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speed = 2;</a:t>
            </a:r>
          </a:p>
          <a:p>
            <a:pPr lvl="1">
              <a:defRPr/>
            </a:pPr>
            <a:r>
              <a:rPr lang="en-US" altLang="zh-CN" sz="2000" b="1" dirty="0">
                <a:effectLst>
                  <a:outerShdw blurRad="38100" dist="38100" dir="2700000" algn="tl">
                    <a:srgbClr val="C0C0C0"/>
                  </a:outerShdw>
                </a:effectLst>
                <a:latin typeface="Courier New" pitchFamily="49" charset="0"/>
                <a:ea typeface="宋体" pitchFamily="2" charset="-122"/>
              </a:rPr>
              <a:t>}else if( key == GLUT_KEY_END ) { </a:t>
            </a:r>
          </a:p>
          <a:p>
            <a:pPr lvl="2">
              <a:defRPr/>
            </a:pPr>
            <a:r>
              <a:rPr lang="en-US" altLang="zh-CN" sz="2000" b="1" dirty="0">
                <a:effectLst>
                  <a:outerShdw blurRad="38100" dist="38100" dir="2700000" algn="tl">
                    <a:srgbClr val="C0C0C0"/>
                  </a:outerShdw>
                </a:effectLst>
                <a:latin typeface="Courier New" pitchFamily="49" charset="0"/>
                <a:ea typeface="宋体" pitchFamily="2" charset="-122"/>
              </a:rPr>
              <a:t>if(</a:t>
            </a:r>
            <a:r>
              <a:rPr lang="en-US" altLang="zh-CN" sz="2000" b="1" dirty="0" err="1">
                <a:effectLst>
                  <a:outerShdw blurRad="38100" dist="38100" dir="2700000" algn="tl">
                    <a:srgbClr val="C0C0C0"/>
                  </a:outerShdw>
                </a:effectLst>
                <a:latin typeface="Courier New" pitchFamily="49" charset="0"/>
                <a:ea typeface="宋体" pitchFamily="2" charset="-122"/>
              </a:rPr>
              <a:t>glutGetModifiers</a:t>
            </a:r>
            <a:r>
              <a:rPr lang="en-US" altLang="zh-CN" sz="2000" b="1" dirty="0">
                <a:effectLst>
                  <a:outerShdw blurRad="38100" dist="38100" dir="2700000" algn="tl">
                    <a:srgbClr val="C0C0C0"/>
                  </a:outerShdw>
                </a:effectLst>
                <a:latin typeface="Courier New" pitchFamily="49" charset="0"/>
                <a:ea typeface="宋体" pitchFamily="2" charset="-122"/>
              </a:rPr>
              <a:t>() == GLUT_ACTIVE_ALT)</a:t>
            </a:r>
          </a:p>
          <a:p>
            <a:pPr lvl="3">
              <a:defRPr/>
            </a:pPr>
            <a:r>
              <a:rPr lang="en-US" altLang="zh-CN" sz="2000" b="1" dirty="0">
                <a:effectLst>
                  <a:outerShdw blurRad="38100" dist="38100" dir="2700000" algn="tl">
                    <a:srgbClr val="C0C0C0"/>
                  </a:outerShdw>
                </a:effectLst>
                <a:latin typeface="Courier New" pitchFamily="49" charset="0"/>
                <a:ea typeface="宋体" pitchFamily="2" charset="-122"/>
              </a:rPr>
              <a:t>speed = 0.2;</a:t>
            </a:r>
          </a:p>
          <a:p>
            <a:pPr>
              <a:defRPr/>
            </a:pPr>
            <a:r>
              <a:rPr lang="en-US" altLang="zh-CN" sz="2000" b="1" dirty="0">
                <a:effectLst>
                  <a:outerShdw blurRad="38100" dist="38100" dir="2700000" algn="tl">
                    <a:srgbClr val="C0C0C0"/>
                  </a:outerShdw>
                </a:effectLst>
                <a:latin typeface="Courier New" pitchFamily="49" charset="0"/>
                <a:ea typeface="宋体" pitchFamily="2" charset="-122"/>
              </a:rPr>
              <a:t>}</a:t>
            </a:r>
          </a:p>
        </p:txBody>
      </p:sp>
      <p:sp>
        <p:nvSpPr>
          <p:cNvPr id="9" name="Rectangle 2">
            <a:extLst>
              <a:ext uri="{FF2B5EF4-FFF2-40B4-BE49-F238E27FC236}">
                <a16:creationId xmlns:a16="http://schemas.microsoft.com/office/drawing/2014/main" id="{059D670F-486A-4A25-A263-E345225298E7}"/>
              </a:ext>
            </a:extLst>
          </p:cNvPr>
          <p:cNvSpPr>
            <a:spLocks noGrp="1" noChangeArrowheads="1"/>
          </p:cNvSpPr>
          <p:nvPr>
            <p:ph type="title"/>
          </p:nvPr>
        </p:nvSpPr>
        <p:spPr>
          <a:xfrm>
            <a:off x="983432" y="60326"/>
            <a:ext cx="9303568" cy="701675"/>
          </a:xfrm>
        </p:spPr>
        <p:txBody>
          <a:bodyPr/>
          <a:lstStyle/>
          <a:p>
            <a:pPr>
              <a:defRPr/>
            </a:pPr>
            <a:r>
              <a:rPr lang="en-US" altLang="zh-CN" dirty="0">
                <a:latin typeface="Arial" pitchFamily="34" charset="0"/>
              </a:rPr>
              <a:t>7.2 Keyboard Callback</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6404"/>
                                        </p:tgtEl>
                                        <p:attrNameLst>
                                          <p:attrName>style.visibility</p:attrName>
                                        </p:attrNameLst>
                                      </p:cBhvr>
                                      <p:to>
                                        <p:strVal val="visible"/>
                                      </p:to>
                                    </p:set>
                                    <p:animEffect transition="in" filter="blinds(horizontal)">
                                      <p:cBhvr>
                                        <p:cTn id="7" dur="500"/>
                                        <p:tgtEl>
                                          <p:spTgt spid="486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a:extLst>
              <a:ext uri="{FF2B5EF4-FFF2-40B4-BE49-F238E27FC236}">
                <a16:creationId xmlns:a16="http://schemas.microsoft.com/office/drawing/2014/main" id="{F0C1A338-6B56-423E-A1B2-435D5674A2FC}"/>
              </a:ext>
            </a:extLst>
          </p:cNvPr>
          <p:cNvSpPr>
            <a:spLocks noGrp="1" noChangeArrowheads="1"/>
          </p:cNvSpPr>
          <p:nvPr>
            <p:ph type="title"/>
          </p:nvPr>
        </p:nvSpPr>
        <p:spPr/>
        <p:txBody>
          <a:bodyPr/>
          <a:lstStyle/>
          <a:p>
            <a:pPr>
              <a:defRPr/>
            </a:pPr>
            <a:r>
              <a:rPr lang="en-US" altLang="zh-CN" dirty="0">
                <a:latin typeface="Arial" pitchFamily="34" charset="0"/>
              </a:rPr>
              <a:t>7.3 Mouse Callback</a:t>
            </a:r>
          </a:p>
        </p:txBody>
      </p:sp>
      <p:sp>
        <p:nvSpPr>
          <p:cNvPr id="487427" name="Rectangle 3">
            <a:extLst>
              <a:ext uri="{FF2B5EF4-FFF2-40B4-BE49-F238E27FC236}">
                <a16:creationId xmlns:a16="http://schemas.microsoft.com/office/drawing/2014/main" id="{38DEC73C-0340-4DAE-A35A-C5B0A1EFDC5A}"/>
              </a:ext>
            </a:extLst>
          </p:cNvPr>
          <p:cNvSpPr>
            <a:spLocks noGrp="1" noChangeArrowheads="1"/>
          </p:cNvSpPr>
          <p:nvPr>
            <p:ph type="body" idx="1"/>
          </p:nvPr>
        </p:nvSpPr>
        <p:spPr>
          <a:xfrm>
            <a:off x="2360613" y="998539"/>
            <a:ext cx="7848600" cy="1704975"/>
          </a:xfrm>
        </p:spPr>
        <p:txBody>
          <a:bodyPr/>
          <a:lstStyle/>
          <a:p>
            <a:pPr>
              <a:defRPr/>
            </a:pPr>
            <a:r>
              <a:rPr lang="zh-CN" altLang="en-US" dirty="0">
                <a:ea typeface="黑体" pitchFamily="49" charset="-122"/>
              </a:rPr>
              <a:t>第一步：注册函数：处理用户鼠标输入；</a:t>
            </a:r>
          </a:p>
          <a:p>
            <a:pPr lvl="1">
              <a:defRPr/>
            </a:pPr>
            <a:r>
              <a:rPr lang="en-US" altLang="zh-CN" sz="2400" dirty="0" err="1">
                <a:solidFill>
                  <a:srgbClr val="C00000"/>
                </a:solidFill>
                <a:ea typeface="黑体" pitchFamily="49" charset="-122"/>
              </a:rPr>
              <a:t>glutMouseFunc</a:t>
            </a:r>
            <a:r>
              <a:rPr lang="en-US" altLang="zh-CN" sz="2400" dirty="0">
                <a:solidFill>
                  <a:srgbClr val="C00000"/>
                </a:solidFill>
                <a:ea typeface="黑体" pitchFamily="49" charset="-122"/>
              </a:rPr>
              <a:t>( </a:t>
            </a:r>
            <a:r>
              <a:rPr lang="en-US" altLang="zh-CN" sz="2400" i="1" dirty="0">
                <a:solidFill>
                  <a:srgbClr val="C00000"/>
                </a:solidFill>
                <a:ea typeface="黑体" pitchFamily="49" charset="-122"/>
              </a:rPr>
              <a:t>mouse</a:t>
            </a:r>
            <a:r>
              <a:rPr lang="en-US" altLang="zh-CN" sz="2400" dirty="0">
                <a:solidFill>
                  <a:srgbClr val="C00000"/>
                </a:solidFill>
                <a:ea typeface="黑体" pitchFamily="49" charset="-122"/>
              </a:rPr>
              <a:t> );</a:t>
            </a:r>
          </a:p>
          <a:p>
            <a:pPr>
              <a:defRPr/>
            </a:pPr>
            <a:r>
              <a:rPr lang="zh-CN" altLang="en-US" dirty="0">
                <a:ea typeface="黑体" pitchFamily="49" charset="-122"/>
              </a:rPr>
              <a:t>第二步：编写处理函数代码</a:t>
            </a:r>
          </a:p>
        </p:txBody>
      </p:sp>
      <p:sp>
        <p:nvSpPr>
          <p:cNvPr id="487429" name="Rectangle 5">
            <a:extLst>
              <a:ext uri="{FF2B5EF4-FFF2-40B4-BE49-F238E27FC236}">
                <a16:creationId xmlns:a16="http://schemas.microsoft.com/office/drawing/2014/main" id="{AD8E52B4-AC38-446A-84D0-535A833595E1}"/>
              </a:ext>
            </a:extLst>
          </p:cNvPr>
          <p:cNvSpPr>
            <a:spLocks noChangeArrowheads="1"/>
          </p:cNvSpPr>
          <p:nvPr/>
        </p:nvSpPr>
        <p:spPr bwMode="auto">
          <a:xfrm>
            <a:off x="2270126" y="2754314"/>
            <a:ext cx="8050213" cy="3444875"/>
          </a:xfrm>
          <a:prstGeom prst="rect">
            <a:avLst/>
          </a:prstGeom>
          <a:noFill/>
          <a:ln w="9525">
            <a:noFill/>
            <a:miter lim="800000"/>
            <a:headEnd/>
            <a:tailEnd/>
          </a:ln>
          <a:effectLst/>
        </p:spPr>
        <p:txBody>
          <a:bodyPr>
            <a:spAutoFit/>
          </a:bodyPr>
          <a:lstStyle/>
          <a:p>
            <a:pPr lvl="1">
              <a:defRPr/>
            </a:pPr>
            <a:r>
              <a:rPr lang="en-US" altLang="zh-CN" sz="2000" b="1">
                <a:solidFill>
                  <a:srgbClr val="FF0000"/>
                </a:solidFill>
                <a:effectLst>
                  <a:outerShdw blurRad="38100" dist="38100" dir="2700000" algn="tl">
                    <a:srgbClr val="C0C0C0"/>
                  </a:outerShdw>
                </a:effectLst>
                <a:latin typeface="Courier New" pitchFamily="49" charset="0"/>
                <a:ea typeface="宋体" pitchFamily="2" charset="-122"/>
              </a:rPr>
              <a:t>void mouse (int button, int state, int x, int y)</a:t>
            </a:r>
          </a:p>
          <a:p>
            <a:pPr lvl="1">
              <a:defRPr/>
            </a:pPr>
            <a:r>
              <a:rPr lang="en-US" altLang="zh-CN" sz="2000" b="1">
                <a:effectLst>
                  <a:outerShdw blurRad="38100" dist="38100" dir="2700000" algn="tl">
                    <a:srgbClr val="C0C0C0"/>
                  </a:outerShdw>
                </a:effectLst>
                <a:latin typeface="Courier New" pitchFamily="49" charset="0"/>
                <a:ea typeface="宋体" pitchFamily="2" charset="-122"/>
              </a:rPr>
              <a:t>{</a:t>
            </a:r>
          </a:p>
          <a:p>
            <a:pPr lvl="1">
              <a:defRPr/>
            </a:pPr>
            <a:r>
              <a:rPr lang="en-US" altLang="zh-CN" sz="2000" b="1">
                <a:effectLst>
                  <a:outerShdw blurRad="38100" dist="38100" dir="2700000" algn="tl">
                    <a:srgbClr val="C0C0C0"/>
                  </a:outerShdw>
                </a:effectLst>
                <a:latin typeface="Courier New" pitchFamily="49" charset="0"/>
                <a:ea typeface="宋体" pitchFamily="2" charset="-122"/>
              </a:rPr>
              <a:t>    switch (button) {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case GLUT_LEFT_BUTTON: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if (state == GLUT_DOWN) </a:t>
            </a:r>
          </a:p>
          <a:p>
            <a:pPr lvl="2">
              <a:defRPr/>
            </a:pPr>
            <a:r>
              <a:rPr lang="en-US" altLang="zh-CN" sz="2000" b="1">
                <a:effectLst>
                  <a:outerShdw blurRad="38100" dist="38100" dir="2700000" algn="tl">
                    <a:srgbClr val="C0C0C0"/>
                  </a:outerShdw>
                </a:effectLst>
                <a:latin typeface="Courier New" pitchFamily="49" charset="0"/>
                <a:ea typeface="宋体" pitchFamily="2" charset="-122"/>
              </a:rPr>
              <a:t>		exit(0)</a:t>
            </a:r>
            <a:r>
              <a:rPr lang="zh-CN" altLang="en-US" sz="2000" b="1">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break;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default: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break; </a:t>
            </a:r>
          </a:p>
          <a:p>
            <a:pPr lvl="1">
              <a:defRPr/>
            </a:pPr>
            <a:r>
              <a:rPr lang="en-US" altLang="zh-CN" sz="2000" b="1">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a:effectLst>
                  <a:outerShdw blurRad="38100" dist="38100" dir="2700000" algn="tl">
                    <a:srgbClr val="C0C0C0"/>
                  </a:outerShdw>
                </a:effectLst>
                <a:latin typeface="Courier New" pitchFamily="49" charset="0"/>
                <a:ea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7429"/>
                                        </p:tgtEl>
                                        <p:attrNameLst>
                                          <p:attrName>style.visibility</p:attrName>
                                        </p:attrNameLst>
                                      </p:cBhvr>
                                      <p:to>
                                        <p:strVal val="visible"/>
                                      </p:to>
                                    </p:set>
                                    <p:animEffect transition="in" filter="dissolve">
                                      <p:cBhvr>
                                        <p:cTn id="7" dur="500"/>
                                        <p:tgtEl>
                                          <p:spTgt spid="487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180CC430-8BB5-432E-9B27-30C116F0CCB1}"/>
              </a:ext>
            </a:extLst>
          </p:cNvPr>
          <p:cNvSpPr>
            <a:spLocks noGrp="1" noChangeArrowheads="1"/>
          </p:cNvSpPr>
          <p:nvPr>
            <p:ph type="title"/>
          </p:nvPr>
        </p:nvSpPr>
        <p:spPr/>
        <p:txBody>
          <a:bodyPr/>
          <a:lstStyle/>
          <a:p>
            <a:pPr>
              <a:defRPr/>
            </a:pPr>
            <a:r>
              <a:rPr lang="en-US" altLang="zh-CN" dirty="0">
                <a:latin typeface="Arial" pitchFamily="34" charset="0"/>
              </a:rPr>
              <a:t>7.3.1 </a:t>
            </a:r>
            <a:r>
              <a:rPr lang="zh-CN" altLang="en-US" dirty="0">
                <a:latin typeface="Arial" pitchFamily="34" charset="0"/>
              </a:rPr>
              <a:t>鼠标的移动</a:t>
            </a:r>
          </a:p>
        </p:txBody>
      </p:sp>
      <p:sp>
        <p:nvSpPr>
          <p:cNvPr id="488451" name="Rectangle 3">
            <a:extLst>
              <a:ext uri="{FF2B5EF4-FFF2-40B4-BE49-F238E27FC236}">
                <a16:creationId xmlns:a16="http://schemas.microsoft.com/office/drawing/2014/main" id="{F16C5A6B-B9EF-4F78-A8FF-6AAB81473F9D}"/>
              </a:ext>
            </a:extLst>
          </p:cNvPr>
          <p:cNvSpPr>
            <a:spLocks noGrp="1" noChangeArrowheads="1"/>
          </p:cNvSpPr>
          <p:nvPr>
            <p:ph type="body" idx="1"/>
          </p:nvPr>
        </p:nvSpPr>
        <p:spPr>
          <a:xfrm>
            <a:off x="1524000" y="1268761"/>
            <a:ext cx="9433048" cy="3836423"/>
          </a:xfrm>
        </p:spPr>
        <p:txBody>
          <a:bodyPr/>
          <a:lstStyle/>
          <a:p>
            <a:pPr>
              <a:defRPr/>
            </a:pPr>
            <a:r>
              <a:rPr lang="zh-CN" altLang="en-US" dirty="0">
                <a:ea typeface="黑体" pitchFamily="49" charset="-122"/>
              </a:rPr>
              <a:t>注册函数：处理用户鼠标拖动输入；</a:t>
            </a:r>
          </a:p>
          <a:p>
            <a:pPr marL="812800" lvl="1" indent="-369888">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glutMotionFunc</a:t>
            </a:r>
            <a:r>
              <a:rPr lang="en-US" altLang="zh-CN" sz="2400" dirty="0">
                <a:solidFill>
                  <a:srgbClr val="C00000"/>
                </a:solidFill>
                <a:ea typeface="黑体" pitchFamily="49" charset="-122"/>
              </a:rPr>
              <a:t>( void (*f) (int x, int y ) )</a:t>
            </a:r>
            <a:endParaRPr lang="zh-CN" altLang="en-US" sz="2400" dirty="0">
              <a:solidFill>
                <a:srgbClr val="C00000"/>
              </a:solidFill>
              <a:ea typeface="黑体" pitchFamily="49" charset="-122"/>
            </a:endParaRPr>
          </a:p>
          <a:p>
            <a:pPr marL="812800" lvl="1" indent="-369888">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glutPassiveMotionFunc</a:t>
            </a:r>
            <a:r>
              <a:rPr lang="en-US" altLang="zh-CN" sz="2400" dirty="0">
                <a:solidFill>
                  <a:srgbClr val="C00000"/>
                </a:solidFill>
                <a:ea typeface="黑体" pitchFamily="49" charset="-122"/>
              </a:rPr>
              <a:t>( void (*f) (int x , int y ) );</a:t>
            </a:r>
          </a:p>
          <a:p>
            <a:pPr marL="812800" lvl="1" indent="-369888">
              <a:buNone/>
              <a:defRPr/>
            </a:pPr>
            <a:endParaRPr lang="zh-CN" altLang="en-US" dirty="0">
              <a:solidFill>
                <a:schemeClr val="hlink"/>
              </a:solidFill>
              <a:ea typeface="黑体" pitchFamily="49" charset="-122"/>
            </a:endParaRPr>
          </a:p>
          <a:p>
            <a:pPr>
              <a:defRPr/>
            </a:pPr>
            <a:r>
              <a:rPr lang="zh-CN" altLang="en-US" dirty="0">
                <a:ea typeface="黑体" pitchFamily="49" charset="-122"/>
              </a:rPr>
              <a:t>注册函数：鼠标进入或离开窗口</a:t>
            </a:r>
          </a:p>
          <a:p>
            <a:pPr marL="812800" lvl="1" indent="-369888">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glutEntryFunc</a:t>
            </a:r>
            <a:r>
              <a:rPr lang="en-US" altLang="zh-CN" sz="2400" dirty="0">
                <a:solidFill>
                  <a:srgbClr val="C00000"/>
                </a:solidFill>
                <a:ea typeface="黑体" pitchFamily="49" charset="-122"/>
              </a:rPr>
              <a:t>( void (*f) (int state ) )</a:t>
            </a:r>
          </a:p>
          <a:p>
            <a:pPr lvl="2">
              <a:defRPr/>
            </a:pPr>
            <a:r>
              <a:rPr lang="en-US" altLang="zh-CN" sz="2400" dirty="0">
                <a:ea typeface="黑体" pitchFamily="49" charset="-122"/>
              </a:rPr>
              <a:t>state</a:t>
            </a:r>
            <a:r>
              <a:rPr lang="en-US" altLang="zh-CN" sz="2400" dirty="0">
                <a:latin typeface="黑体" pitchFamily="49" charset="-122"/>
                <a:ea typeface="黑体" pitchFamily="49" charset="-122"/>
              </a:rPr>
              <a:t>——</a:t>
            </a:r>
            <a:r>
              <a:rPr lang="en-US" altLang="zh-CN" sz="2400" dirty="0">
                <a:ea typeface="黑体" pitchFamily="49" charset="-122"/>
              </a:rPr>
              <a:t>GLUT_ENTERED</a:t>
            </a:r>
            <a:r>
              <a:rPr lang="zh-CN" altLang="en-US" sz="2400" dirty="0">
                <a:ea typeface="黑体" pitchFamily="49" charset="-122"/>
              </a:rPr>
              <a:t>、</a:t>
            </a:r>
            <a:r>
              <a:rPr lang="en-US" altLang="zh-CN" sz="2400" dirty="0">
                <a:ea typeface="黑体" pitchFamily="49" charset="-122"/>
              </a:rPr>
              <a:t>GLUT_LEFT</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3" name="Rectangle 3">
            <a:extLst>
              <a:ext uri="{FF2B5EF4-FFF2-40B4-BE49-F238E27FC236}">
                <a16:creationId xmlns:a16="http://schemas.microsoft.com/office/drawing/2014/main" id="{40C3E79D-8EE1-4F22-9A8A-F993F0687591}"/>
              </a:ext>
            </a:extLst>
          </p:cNvPr>
          <p:cNvSpPr>
            <a:spLocks noGrp="1" noChangeArrowheads="1"/>
          </p:cNvSpPr>
          <p:nvPr>
            <p:ph type="body" idx="1"/>
          </p:nvPr>
        </p:nvSpPr>
        <p:spPr>
          <a:xfrm>
            <a:off x="2208214" y="1341439"/>
            <a:ext cx="7945437" cy="2342937"/>
          </a:xfrm>
        </p:spPr>
        <p:txBody>
          <a:bodyPr/>
          <a:lstStyle/>
          <a:p>
            <a:pPr>
              <a:defRPr/>
            </a:pPr>
            <a:r>
              <a:rPr lang="en-US" altLang="zh-CN" dirty="0">
                <a:ea typeface="黑体" pitchFamily="49" charset="-122"/>
              </a:rPr>
              <a:t>8.1 </a:t>
            </a:r>
            <a:r>
              <a:rPr lang="zh-CN" altLang="en-US" dirty="0">
                <a:ea typeface="黑体" pitchFamily="49" charset="-122"/>
              </a:rPr>
              <a:t>绘制模式</a:t>
            </a:r>
            <a:endParaRPr lang="en-US" altLang="zh-CN" dirty="0">
              <a:ea typeface="黑体" pitchFamily="49" charset="-122"/>
            </a:endParaRPr>
          </a:p>
          <a:p>
            <a:pPr>
              <a:defRPr/>
            </a:pPr>
            <a:r>
              <a:rPr lang="en-US" altLang="zh-CN" dirty="0">
                <a:ea typeface="黑体" pitchFamily="49" charset="-122"/>
              </a:rPr>
              <a:t>8.2 </a:t>
            </a:r>
            <a:r>
              <a:rPr lang="zh-CN" altLang="en-US" dirty="0">
                <a:ea typeface="黑体" pitchFamily="49" charset="-122"/>
              </a:rPr>
              <a:t>选择模式</a:t>
            </a:r>
            <a:endParaRPr lang="en-US" altLang="zh-CN" dirty="0">
              <a:ea typeface="黑体" pitchFamily="49" charset="-122"/>
            </a:endParaRPr>
          </a:p>
          <a:p>
            <a:pPr>
              <a:defRPr/>
            </a:pPr>
            <a:r>
              <a:rPr lang="en-US" altLang="zh-CN" dirty="0">
                <a:ea typeface="黑体" pitchFamily="49" charset="-122"/>
              </a:rPr>
              <a:t>8.3 </a:t>
            </a:r>
            <a:r>
              <a:rPr lang="zh-CN" altLang="en-US" dirty="0">
                <a:ea typeface="黑体" pitchFamily="49" charset="-122"/>
              </a:rPr>
              <a:t>拾取完整程序</a:t>
            </a:r>
            <a:endParaRPr lang="en-US" altLang="zh-CN" dirty="0">
              <a:ea typeface="黑体" pitchFamily="49" charset="-122"/>
            </a:endParaRPr>
          </a:p>
          <a:p>
            <a:pPr>
              <a:defRPr/>
            </a:pPr>
            <a:r>
              <a:rPr lang="en-US" altLang="zh-CN" dirty="0">
                <a:ea typeface="黑体" pitchFamily="49" charset="-122"/>
              </a:rPr>
              <a:t>8.4 </a:t>
            </a:r>
            <a:r>
              <a:rPr lang="zh-CN" altLang="en-US" dirty="0">
                <a:ea typeface="黑体" pitchFamily="49" charset="-122"/>
              </a:rPr>
              <a:t>总结</a:t>
            </a:r>
            <a:endParaRPr lang="en-US" altLang="zh-CN" dirty="0">
              <a:ea typeface="黑体" pitchFamily="49" charset="-122"/>
            </a:endParaRPr>
          </a:p>
        </p:txBody>
      </p:sp>
      <p:sp>
        <p:nvSpPr>
          <p:cNvPr id="3" name="标题 2">
            <a:extLst>
              <a:ext uri="{FF2B5EF4-FFF2-40B4-BE49-F238E27FC236}">
                <a16:creationId xmlns:a16="http://schemas.microsoft.com/office/drawing/2014/main" id="{3404AF7E-FF0C-4E38-9BAB-AFA3906D76C2}"/>
              </a:ext>
            </a:extLst>
          </p:cNvPr>
          <p:cNvSpPr>
            <a:spLocks noGrp="1"/>
          </p:cNvSpPr>
          <p:nvPr>
            <p:ph type="title"/>
          </p:nvPr>
        </p:nvSpPr>
        <p:spPr/>
        <p:txBody>
          <a:bodyPr/>
          <a:lstStyle/>
          <a:p>
            <a:r>
              <a:rPr lang="en-US" altLang="zh-CN" dirty="0">
                <a:latin typeface="Arial" pitchFamily="34" charset="0"/>
              </a:rPr>
              <a:t>8. </a:t>
            </a:r>
            <a:r>
              <a:rPr lang="zh-CN" altLang="en-US" dirty="0">
                <a:latin typeface="Arial" pitchFamily="34" charset="0"/>
              </a:rPr>
              <a:t>选择与拾取</a:t>
            </a:r>
            <a:endParaRPr lang="zh-CN" altLang="en-US" dirty="0"/>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8DC0234-BCC3-497F-823F-5835B02867DB}"/>
              </a:ext>
            </a:extLst>
          </p:cNvPr>
          <p:cNvSpPr>
            <a:spLocks noGrp="1"/>
          </p:cNvSpPr>
          <p:nvPr>
            <p:ph type="title"/>
          </p:nvPr>
        </p:nvSpPr>
        <p:spPr/>
        <p:txBody>
          <a:bodyPr/>
          <a:lstStyle/>
          <a:p>
            <a:r>
              <a:rPr lang="en-US" altLang="zh-CN" dirty="0">
                <a:latin typeface="Arial" pitchFamily="34" charset="0"/>
              </a:rPr>
              <a:t>8.1 </a:t>
            </a:r>
            <a:r>
              <a:rPr lang="zh-CN" altLang="en-US" dirty="0">
                <a:latin typeface="Arial" pitchFamily="34" charset="0"/>
              </a:rPr>
              <a:t>绘制模式</a:t>
            </a:r>
            <a:endParaRPr lang="zh-CN" altLang="en-US" dirty="0"/>
          </a:p>
        </p:txBody>
      </p:sp>
      <p:sp>
        <p:nvSpPr>
          <p:cNvPr id="55" name="Rectangle 3">
            <a:extLst>
              <a:ext uri="{FF2B5EF4-FFF2-40B4-BE49-F238E27FC236}">
                <a16:creationId xmlns:a16="http://schemas.microsoft.com/office/drawing/2014/main" id="{BB48EA6F-187F-4CC3-BC1C-A8A508C349B0}"/>
              </a:ext>
            </a:extLst>
          </p:cNvPr>
          <p:cNvSpPr txBox="1">
            <a:spLocks noChangeArrowheads="1"/>
          </p:cNvSpPr>
          <p:nvPr/>
        </p:nvSpPr>
        <p:spPr bwMode="auto">
          <a:xfrm>
            <a:off x="2208214" y="1341439"/>
            <a:ext cx="7945437" cy="503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dirty="0">
                <a:ea typeface="黑体" pitchFamily="49" charset="-122"/>
              </a:rPr>
              <a:t>问题</a:t>
            </a:r>
            <a:r>
              <a:rPr lang="zh-CN" altLang="en-US" kern="0" dirty="0">
                <a:latin typeface="黑体" pitchFamily="49" charset="-122"/>
                <a:ea typeface="黑体" pitchFamily="49" charset="-122"/>
              </a:rPr>
              <a:t>：如何用鼠标选择图元</a:t>
            </a:r>
            <a:endParaRPr lang="en-US" altLang="zh-CN" kern="0" dirty="0">
              <a:ea typeface="黑体" pitchFamily="49" charset="-122"/>
            </a:endParaRPr>
          </a:p>
        </p:txBody>
      </p:sp>
      <p:grpSp>
        <p:nvGrpSpPr>
          <p:cNvPr id="34" name="组合 41">
            <a:extLst>
              <a:ext uri="{FF2B5EF4-FFF2-40B4-BE49-F238E27FC236}">
                <a16:creationId xmlns:a16="http://schemas.microsoft.com/office/drawing/2014/main" id="{FD709333-3331-48A2-8364-9EBF34234FF7}"/>
              </a:ext>
            </a:extLst>
          </p:cNvPr>
          <p:cNvGrpSpPr>
            <a:grpSpLocks noChangeAspect="1"/>
          </p:cNvGrpSpPr>
          <p:nvPr/>
        </p:nvGrpSpPr>
        <p:grpSpPr bwMode="auto">
          <a:xfrm>
            <a:off x="4511825" y="2564905"/>
            <a:ext cx="3024336" cy="2843579"/>
            <a:chOff x="7683500" y="3162300"/>
            <a:chExt cx="1276457" cy="1200686"/>
          </a:xfrm>
        </p:grpSpPr>
        <p:pic>
          <p:nvPicPr>
            <p:cNvPr id="35" name="Picture 58" descr="显示器">
              <a:extLst>
                <a:ext uri="{FF2B5EF4-FFF2-40B4-BE49-F238E27FC236}">
                  <a16:creationId xmlns:a16="http://schemas.microsoft.com/office/drawing/2014/main" id="{2DCDE9A3-0C37-4CDD-813D-679CA925D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0" y="3162300"/>
              <a:ext cx="1276457" cy="12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圆角矩形 30">
              <a:extLst>
                <a:ext uri="{FF2B5EF4-FFF2-40B4-BE49-F238E27FC236}">
                  <a16:creationId xmlns:a16="http://schemas.microsoft.com/office/drawing/2014/main" id="{DCD93B60-0789-425E-8F5B-A1CF8641F1E9}"/>
                </a:ext>
              </a:extLst>
            </p:cNvPr>
            <p:cNvSpPr/>
            <p:nvPr/>
          </p:nvSpPr>
          <p:spPr bwMode="auto">
            <a:xfrm>
              <a:off x="8305898" y="3406884"/>
              <a:ext cx="400055" cy="400229"/>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37" name="等腰三角形 31">
              <a:extLst>
                <a:ext uri="{FF2B5EF4-FFF2-40B4-BE49-F238E27FC236}">
                  <a16:creationId xmlns:a16="http://schemas.microsoft.com/office/drawing/2014/main" id="{F06E5DC1-71D7-4C94-9F0D-29937E757E00}"/>
                </a:ext>
              </a:extLst>
            </p:cNvPr>
            <p:cNvSpPr>
              <a:spLocks noChangeArrowheads="1"/>
            </p:cNvSpPr>
            <p:nvPr/>
          </p:nvSpPr>
          <p:spPr bwMode="auto">
            <a:xfrm>
              <a:off x="7905750" y="3340100"/>
              <a:ext cx="355600" cy="53340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pic>
        <p:nvPicPr>
          <p:cNvPr id="44" name="Picture 1" descr="C:\Users\Administrator\AppData\Roaming\Tencent\Users\7849952\QQ\WinTemp\RichOle\OVPU(ZQHLF7M~5R(Q2UKM5K.png">
            <a:extLst>
              <a:ext uri="{FF2B5EF4-FFF2-40B4-BE49-F238E27FC236}">
                <a16:creationId xmlns:a16="http://schemas.microsoft.com/office/drawing/2014/main" id="{34AF1D88-9553-4559-9DA0-8DF9027D1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624" y="3933056"/>
            <a:ext cx="75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箭头连接符 2">
            <a:extLst>
              <a:ext uri="{FF2B5EF4-FFF2-40B4-BE49-F238E27FC236}">
                <a16:creationId xmlns:a16="http://schemas.microsoft.com/office/drawing/2014/main" id="{D0042CAD-B824-4031-89D1-F1AFFEA42818}"/>
              </a:ext>
            </a:extLst>
          </p:cNvPr>
          <p:cNvCxnSpPr>
            <a:cxnSpLocks/>
          </p:cNvCxnSpPr>
          <p:nvPr/>
        </p:nvCxnSpPr>
        <p:spPr bwMode="auto">
          <a:xfrm flipV="1">
            <a:off x="3431704" y="3861048"/>
            <a:ext cx="1944216" cy="360040"/>
          </a:xfrm>
          <a:prstGeom prst="straightConnector1">
            <a:avLst/>
          </a:prstGeom>
          <a:solidFill>
            <a:schemeClr val="accent1"/>
          </a:solidFill>
          <a:ln w="25400" cap="flat" cmpd="sng" algn="ctr">
            <a:solidFill>
              <a:srgbClr val="C00000"/>
            </a:solidFill>
            <a:prstDash val="solid"/>
            <a:round/>
            <a:headEnd type="none" w="med" len="med"/>
            <a:tailEnd type="triangle"/>
          </a:ln>
          <a:effec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heel(1)">
                                      <p:cBhvr>
                                        <p:cTn id="7" dur="20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childTnLst>
                                </p:cTn>
                              </p:par>
                            </p:childTnLst>
                          </p:cTn>
                        </p:par>
                        <p:par>
                          <p:cTn id="12" fill="hold">
                            <p:stCondLst>
                              <p:cond delay="0"/>
                            </p:stCondLst>
                            <p:childTnLst>
                              <p:par>
                                <p:cTn id="13" presetID="26" presetClass="emph" presetSubtype="0" fill="hold" nodeType="afterEffect">
                                  <p:stCondLst>
                                    <p:cond delay="0"/>
                                  </p:stCondLst>
                                  <p:childTnLst>
                                    <p:animEffect transition="out" filter="fade">
                                      <p:cBhvr>
                                        <p:cTn id="14" dur="500" tmFilter="0, 0; .2, .5; .8, .5; 1, 0"/>
                                        <p:tgtEl>
                                          <p:spTgt spid="44"/>
                                        </p:tgtEl>
                                      </p:cBhvr>
                                    </p:animEffect>
                                    <p:animScale>
                                      <p:cBhvr>
                                        <p:cTn id="15" dur="250" autoRev="1" fill="hold"/>
                                        <p:tgtEl>
                                          <p:spTgt spid="44"/>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8DC0234-BCC3-497F-823F-5835B02867DB}"/>
              </a:ext>
            </a:extLst>
          </p:cNvPr>
          <p:cNvSpPr>
            <a:spLocks noGrp="1"/>
          </p:cNvSpPr>
          <p:nvPr>
            <p:ph type="title"/>
          </p:nvPr>
        </p:nvSpPr>
        <p:spPr/>
        <p:txBody>
          <a:bodyPr/>
          <a:lstStyle/>
          <a:p>
            <a:r>
              <a:rPr lang="en-US" altLang="zh-CN" dirty="0">
                <a:latin typeface="Arial" pitchFamily="34" charset="0"/>
              </a:rPr>
              <a:t>8.1 </a:t>
            </a:r>
            <a:r>
              <a:rPr lang="zh-CN" altLang="en-US" dirty="0">
                <a:latin typeface="Arial" pitchFamily="34" charset="0"/>
              </a:rPr>
              <a:t>绘制模式</a:t>
            </a:r>
            <a:endParaRPr lang="zh-CN" altLang="en-US" dirty="0"/>
          </a:p>
        </p:txBody>
      </p:sp>
      <p:sp>
        <p:nvSpPr>
          <p:cNvPr id="55" name="Rectangle 3">
            <a:extLst>
              <a:ext uri="{FF2B5EF4-FFF2-40B4-BE49-F238E27FC236}">
                <a16:creationId xmlns:a16="http://schemas.microsoft.com/office/drawing/2014/main" id="{BB48EA6F-187F-4CC3-BC1C-A8A508C349B0}"/>
              </a:ext>
            </a:extLst>
          </p:cNvPr>
          <p:cNvSpPr txBox="1">
            <a:spLocks noChangeArrowheads="1"/>
          </p:cNvSpPr>
          <p:nvPr/>
        </p:nvSpPr>
        <p:spPr bwMode="auto">
          <a:xfrm>
            <a:off x="2208214" y="1341439"/>
            <a:ext cx="7945437" cy="503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defRPr/>
            </a:pPr>
            <a:r>
              <a:rPr lang="zh-CN" altLang="en-US" kern="0">
                <a:ea typeface="黑体" pitchFamily="49" charset="-122"/>
              </a:rPr>
              <a:t>绘制模式</a:t>
            </a:r>
            <a:r>
              <a:rPr lang="en-US" altLang="zh-CN" kern="0">
                <a:latin typeface="黑体" pitchFamily="49" charset="-122"/>
                <a:ea typeface="黑体" pitchFamily="49" charset="-122"/>
              </a:rPr>
              <a:t>——</a:t>
            </a:r>
            <a:r>
              <a:rPr lang="zh-CN" altLang="en-US" kern="0">
                <a:ea typeface="黑体" pitchFamily="49" charset="-122"/>
              </a:rPr>
              <a:t>绘制场景中图元的方法</a:t>
            </a:r>
            <a:endParaRPr lang="en-US" altLang="zh-CN" kern="0">
              <a:ea typeface="黑体" pitchFamily="49" charset="-122"/>
            </a:endParaRPr>
          </a:p>
        </p:txBody>
      </p:sp>
      <p:grpSp>
        <p:nvGrpSpPr>
          <p:cNvPr id="56" name="Group 24">
            <a:extLst>
              <a:ext uri="{FF2B5EF4-FFF2-40B4-BE49-F238E27FC236}">
                <a16:creationId xmlns:a16="http://schemas.microsoft.com/office/drawing/2014/main" id="{684AB082-7CB4-4CEA-88AD-042C39FBD792}"/>
              </a:ext>
            </a:extLst>
          </p:cNvPr>
          <p:cNvGrpSpPr>
            <a:grpSpLocks/>
          </p:cNvGrpSpPr>
          <p:nvPr/>
        </p:nvGrpSpPr>
        <p:grpSpPr bwMode="auto">
          <a:xfrm>
            <a:off x="5087938" y="2852739"/>
            <a:ext cx="2628900" cy="1406525"/>
            <a:chOff x="2245" y="1797"/>
            <a:chExt cx="1656" cy="886"/>
          </a:xfrm>
        </p:grpSpPr>
        <p:grpSp>
          <p:nvGrpSpPr>
            <p:cNvPr id="57" name="Group 8">
              <a:extLst>
                <a:ext uri="{FF2B5EF4-FFF2-40B4-BE49-F238E27FC236}">
                  <a16:creationId xmlns:a16="http://schemas.microsoft.com/office/drawing/2014/main" id="{9F0796AE-9177-4DF3-92FF-71A7B7BEC2EB}"/>
                </a:ext>
              </a:extLst>
            </p:cNvPr>
            <p:cNvGrpSpPr>
              <a:grpSpLocks/>
            </p:cNvGrpSpPr>
            <p:nvPr/>
          </p:nvGrpSpPr>
          <p:grpSpPr bwMode="auto">
            <a:xfrm>
              <a:off x="2245" y="1797"/>
              <a:ext cx="1656" cy="886"/>
              <a:chOff x="1989" y="1159"/>
              <a:chExt cx="1656" cy="886"/>
            </a:xfrm>
          </p:grpSpPr>
          <p:grpSp>
            <p:nvGrpSpPr>
              <p:cNvPr id="59" name="Group 9">
                <a:extLst>
                  <a:ext uri="{FF2B5EF4-FFF2-40B4-BE49-F238E27FC236}">
                    <a16:creationId xmlns:a16="http://schemas.microsoft.com/office/drawing/2014/main" id="{48939D2E-8EF0-455E-8A02-3460630E430B}"/>
                  </a:ext>
                </a:extLst>
              </p:cNvPr>
              <p:cNvGrpSpPr>
                <a:grpSpLocks/>
              </p:cNvGrpSpPr>
              <p:nvPr/>
            </p:nvGrpSpPr>
            <p:grpSpPr bwMode="auto">
              <a:xfrm>
                <a:off x="1989" y="1263"/>
                <a:ext cx="1656" cy="782"/>
                <a:chOff x="1973" y="1027"/>
                <a:chExt cx="1926" cy="937"/>
              </a:xfrm>
            </p:grpSpPr>
            <p:sp>
              <p:nvSpPr>
                <p:cNvPr id="64" name="Oval 10">
                  <a:extLst>
                    <a:ext uri="{FF2B5EF4-FFF2-40B4-BE49-F238E27FC236}">
                      <a16:creationId xmlns:a16="http://schemas.microsoft.com/office/drawing/2014/main" id="{9246CBF2-BD32-4F29-B567-4976A52B3364}"/>
                    </a:ext>
                  </a:extLst>
                </p:cNvPr>
                <p:cNvSpPr>
                  <a:spLocks noChangeArrowheads="1"/>
                </p:cNvSpPr>
                <p:nvPr/>
              </p:nvSpPr>
              <p:spPr bwMode="gray">
                <a:xfrm>
                  <a:off x="1994" y="1057"/>
                  <a:ext cx="1905" cy="907"/>
                </a:xfrm>
                <a:prstGeom prst="ellipse">
                  <a:avLst/>
                </a:prstGeom>
                <a:gradFill rotWithShape="1">
                  <a:gsLst>
                    <a:gs pos="0">
                      <a:srgbClr val="CC0000"/>
                    </a:gs>
                    <a:gs pos="100000">
                      <a:srgbClr val="CC0000">
                        <a:gamma/>
                        <a:shade val="48627"/>
                        <a:invGamma/>
                      </a:srgbClr>
                    </a:gs>
                  </a:gsLst>
                  <a:lin ang="2700000" scaled="1"/>
                </a:gradFill>
                <a:ln w="9525">
                  <a:noFill/>
                  <a:round/>
                  <a:headEnd/>
                  <a:tailEnd/>
                </a:ln>
                <a:effectLst/>
              </p:spPr>
              <p:txBody>
                <a:bodyPr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65" name="Oval 11">
                  <a:extLst>
                    <a:ext uri="{FF2B5EF4-FFF2-40B4-BE49-F238E27FC236}">
                      <a16:creationId xmlns:a16="http://schemas.microsoft.com/office/drawing/2014/main" id="{BCB1610B-759B-4836-B2CC-9B61263D1A58}"/>
                    </a:ext>
                  </a:extLst>
                </p:cNvPr>
                <p:cNvSpPr>
                  <a:spLocks noChangeArrowheads="1"/>
                </p:cNvSpPr>
                <p:nvPr/>
              </p:nvSpPr>
              <p:spPr bwMode="gray">
                <a:xfrm>
                  <a:off x="1973" y="1027"/>
                  <a:ext cx="1905" cy="907"/>
                </a:xfrm>
                <a:prstGeom prst="ellipse">
                  <a:avLst/>
                </a:prstGeom>
                <a:gradFill rotWithShape="1">
                  <a:gsLst>
                    <a:gs pos="0">
                      <a:srgbClr val="CC0000">
                        <a:gamma/>
                        <a:tint val="44314"/>
                        <a:invGamma/>
                      </a:srgbClr>
                    </a:gs>
                    <a:gs pos="100000">
                      <a:srgbClr val="CC0000"/>
                    </a:gs>
                  </a:gsLst>
                  <a:lin ang="2700000" scaled="1"/>
                </a:gradFill>
                <a:ln w="9525">
                  <a:noFill/>
                  <a:round/>
                  <a:headEnd/>
                  <a:tailEnd/>
                </a:ln>
                <a:effectLst/>
              </p:spPr>
              <p:txBody>
                <a:bodyPr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grpSp>
          <p:sp>
            <p:nvSpPr>
              <p:cNvPr id="60" name="Oval 12">
                <a:extLst>
                  <a:ext uri="{FF2B5EF4-FFF2-40B4-BE49-F238E27FC236}">
                    <a16:creationId xmlns:a16="http://schemas.microsoft.com/office/drawing/2014/main" id="{1DA94E72-D36D-41B7-B174-5B8C391FD797}"/>
                  </a:ext>
                </a:extLst>
              </p:cNvPr>
              <p:cNvSpPr>
                <a:spLocks noChangeArrowheads="1"/>
              </p:cNvSpPr>
              <p:nvPr/>
            </p:nvSpPr>
            <p:spPr bwMode="gray">
              <a:xfrm>
                <a:off x="2078" y="1162"/>
                <a:ext cx="1482" cy="719"/>
              </a:xfrm>
              <a:prstGeom prst="ellipse">
                <a:avLst/>
              </a:prstGeom>
              <a:gradFill rotWithShape="1">
                <a:gsLst>
                  <a:gs pos="0">
                    <a:srgbClr val="FFD96D">
                      <a:gamma/>
                      <a:shade val="46275"/>
                      <a:invGamma/>
                    </a:srgbClr>
                  </a:gs>
                  <a:gs pos="100000">
                    <a:srgbClr val="FFD96D"/>
                  </a:gs>
                </a:gsLst>
                <a:lin ang="2700000" scaled="1"/>
              </a:gradFill>
              <a:ln w="9525" algn="ctr">
                <a:noFill/>
                <a:round/>
                <a:headEnd/>
                <a:tailEnd/>
              </a:ln>
              <a:effectLst/>
            </p:spPr>
            <p:txBody>
              <a:bodyPr vert="eaVert"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61" name="Oval 13">
                <a:extLst>
                  <a:ext uri="{FF2B5EF4-FFF2-40B4-BE49-F238E27FC236}">
                    <a16:creationId xmlns:a16="http://schemas.microsoft.com/office/drawing/2014/main" id="{12016E77-F543-406F-A44D-B603D3AEDD84}"/>
                  </a:ext>
                </a:extLst>
              </p:cNvPr>
              <p:cNvSpPr>
                <a:spLocks noChangeArrowheads="1"/>
              </p:cNvSpPr>
              <p:nvPr/>
            </p:nvSpPr>
            <p:spPr bwMode="gray">
              <a:xfrm>
                <a:off x="2100" y="1164"/>
                <a:ext cx="1446" cy="701"/>
              </a:xfrm>
              <a:prstGeom prst="ellipse">
                <a:avLst/>
              </a:prstGeom>
              <a:gradFill rotWithShape="1">
                <a:gsLst>
                  <a:gs pos="0">
                    <a:srgbClr val="FFD96D">
                      <a:alpha val="0"/>
                    </a:srgbClr>
                  </a:gs>
                  <a:gs pos="100000">
                    <a:srgbClr val="FFD96D">
                      <a:gamma/>
                      <a:tint val="34902"/>
                      <a:invGamma/>
                    </a:srgbClr>
                  </a:gs>
                </a:gsLst>
                <a:lin ang="2700000" scaled="1"/>
              </a:gradFill>
              <a:ln w="9525" algn="ctr">
                <a:noFill/>
                <a:round/>
                <a:headEnd/>
                <a:tailEnd/>
              </a:ln>
              <a:effectLst/>
            </p:spPr>
            <p:txBody>
              <a:bodyPr vert="eaVert"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62" name="Oval 14">
                <a:extLst>
                  <a:ext uri="{FF2B5EF4-FFF2-40B4-BE49-F238E27FC236}">
                    <a16:creationId xmlns:a16="http://schemas.microsoft.com/office/drawing/2014/main" id="{8D3AD5D9-168B-4348-98FD-ED6CD10E4E19}"/>
                  </a:ext>
                </a:extLst>
              </p:cNvPr>
              <p:cNvSpPr>
                <a:spLocks noChangeArrowheads="1"/>
              </p:cNvSpPr>
              <p:nvPr/>
            </p:nvSpPr>
            <p:spPr bwMode="gray">
              <a:xfrm>
                <a:off x="2117" y="1164"/>
                <a:ext cx="1376" cy="655"/>
              </a:xfrm>
              <a:prstGeom prst="ellipse">
                <a:avLst/>
              </a:prstGeom>
              <a:gradFill rotWithShape="1">
                <a:gsLst>
                  <a:gs pos="0">
                    <a:srgbClr val="FFD96D">
                      <a:gamma/>
                      <a:shade val="79216"/>
                      <a:invGamma/>
                    </a:srgbClr>
                  </a:gs>
                  <a:gs pos="100000">
                    <a:srgbClr val="FFD96D">
                      <a:alpha val="48000"/>
                    </a:srgbClr>
                  </a:gs>
                </a:gsLst>
                <a:lin ang="2700000" scaled="1"/>
              </a:gradFill>
              <a:ln w="9525" algn="ctr">
                <a:noFill/>
                <a:round/>
                <a:headEnd/>
                <a:tailEnd/>
              </a:ln>
              <a:effectLst/>
            </p:spPr>
            <p:txBody>
              <a:bodyPr vert="eaVert"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63" name="Oval 15">
                <a:extLst>
                  <a:ext uri="{FF2B5EF4-FFF2-40B4-BE49-F238E27FC236}">
                    <a16:creationId xmlns:a16="http://schemas.microsoft.com/office/drawing/2014/main" id="{0CB36C97-1332-42E0-9240-1A41E3D498F2}"/>
                  </a:ext>
                </a:extLst>
              </p:cNvPr>
              <p:cNvSpPr>
                <a:spLocks noChangeArrowheads="1"/>
              </p:cNvSpPr>
              <p:nvPr/>
            </p:nvSpPr>
            <p:spPr bwMode="gray">
              <a:xfrm>
                <a:off x="2200" y="1159"/>
                <a:ext cx="1211" cy="531"/>
              </a:xfrm>
              <a:prstGeom prst="ellipse">
                <a:avLst/>
              </a:prstGeom>
              <a:gradFill rotWithShape="1">
                <a:gsLst>
                  <a:gs pos="0">
                    <a:srgbClr val="FFD96D">
                      <a:gamma/>
                      <a:tint val="0"/>
                      <a:invGamma/>
                    </a:srgbClr>
                  </a:gs>
                  <a:gs pos="100000">
                    <a:srgbClr val="FFD96D">
                      <a:alpha val="38000"/>
                    </a:srgbClr>
                  </a:gs>
                </a:gsLst>
                <a:lin ang="2700000" scaled="1"/>
              </a:gradFill>
              <a:ln w="9525" algn="ctr">
                <a:noFill/>
                <a:round/>
                <a:headEnd/>
                <a:tailEnd/>
              </a:ln>
              <a:effectLst/>
            </p:spPr>
            <p:txBody>
              <a:bodyPr vert="eaVert" wrap="none" anchor="ctr"/>
              <a:lstStyle/>
              <a:p>
                <a:pPr eaLnBrk="1" fontAlgn="auto" hangingPunct="1">
                  <a:spcBef>
                    <a:spcPts val="0"/>
                  </a:spcBef>
                  <a:spcAft>
                    <a:spcPts val="0"/>
                  </a:spcAft>
                  <a:defRPr/>
                </a:pPr>
                <a:endParaRPr lang="zh-CN" altLang="en-US" sz="1800" kern="0">
                  <a:solidFill>
                    <a:srgbClr val="000000"/>
                  </a:solidFill>
                  <a:latin typeface="Arial" charset="0"/>
                </a:endParaRPr>
              </a:p>
            </p:txBody>
          </p:sp>
        </p:grpSp>
        <p:sp>
          <p:nvSpPr>
            <p:cNvPr id="58" name="Text Box 16">
              <a:extLst>
                <a:ext uri="{FF2B5EF4-FFF2-40B4-BE49-F238E27FC236}">
                  <a16:creationId xmlns:a16="http://schemas.microsoft.com/office/drawing/2014/main" id="{F35769A2-0EEB-444F-9563-44467B26488C}"/>
                </a:ext>
              </a:extLst>
            </p:cNvPr>
            <p:cNvSpPr txBox="1">
              <a:spLocks noChangeArrowheads="1"/>
            </p:cNvSpPr>
            <p:nvPr/>
          </p:nvSpPr>
          <p:spPr bwMode="auto">
            <a:xfrm>
              <a:off x="2476" y="1905"/>
              <a:ext cx="1218" cy="519"/>
            </a:xfrm>
            <a:prstGeom prst="rect">
              <a:avLst/>
            </a:prstGeom>
            <a:noFill/>
            <a:ln w="9525" algn="ctr">
              <a:noFill/>
              <a:miter lim="800000"/>
              <a:headEnd/>
              <a:tailEnd/>
            </a:ln>
            <a:effectLst/>
          </p:spPr>
          <p:txBody>
            <a:bodyPr wrap="none">
              <a:spAutoFit/>
            </a:bodyPr>
            <a:lstStyle/>
            <a:p>
              <a:pPr algn="ctr" eaLnBrk="1" fontAlgn="auto" hangingPunct="1">
                <a:spcBef>
                  <a:spcPts val="0"/>
                </a:spcBef>
                <a:spcAft>
                  <a:spcPts val="0"/>
                </a:spcAft>
                <a:defRPr/>
              </a:pPr>
              <a:r>
                <a:rPr lang="zh-CN" altLang="en-US" sz="2800" b="1" kern="0">
                  <a:solidFill>
                    <a:srgbClr val="000000"/>
                  </a:solidFill>
                  <a:effectLst>
                    <a:outerShdw blurRad="38100" dist="38100" dir="2700000" algn="tl">
                      <a:srgbClr val="C0C0C0"/>
                    </a:outerShdw>
                  </a:effectLst>
                  <a:ea typeface="华文新魏" pitchFamily="2" charset="-122"/>
                </a:rPr>
                <a:t>绘制模式</a:t>
              </a:r>
            </a:p>
            <a:p>
              <a:pPr algn="ctr" eaLnBrk="1" fontAlgn="auto" hangingPunct="1">
                <a:spcBef>
                  <a:spcPts val="0"/>
                </a:spcBef>
                <a:spcAft>
                  <a:spcPts val="0"/>
                </a:spcAft>
                <a:defRPr/>
              </a:pPr>
              <a:r>
                <a:rPr lang="en-US" altLang="zh-CN" sz="2000" b="1" kern="0">
                  <a:solidFill>
                    <a:srgbClr val="000000"/>
                  </a:solidFill>
                  <a:effectLst>
                    <a:outerShdw blurRad="38100" dist="38100" dir="2700000" algn="tl">
                      <a:srgbClr val="C0C0C0"/>
                    </a:outerShdw>
                  </a:effectLst>
                  <a:ea typeface="华文新魏" pitchFamily="2" charset="-122"/>
                </a:rPr>
                <a:t> Render Mode </a:t>
              </a:r>
              <a:endParaRPr lang="en-US" altLang="zh-CN" sz="2000" kern="0">
                <a:solidFill>
                  <a:srgbClr val="000000"/>
                </a:solidFill>
                <a:effectLst>
                  <a:outerShdw blurRad="38100" dist="38100" dir="2700000" algn="tl">
                    <a:srgbClr val="C0C0C0"/>
                  </a:outerShdw>
                </a:effectLst>
                <a:ea typeface="华文新魏" pitchFamily="2" charset="-122"/>
              </a:endParaRPr>
            </a:p>
          </p:txBody>
        </p:sp>
      </p:grpSp>
      <p:grpSp>
        <p:nvGrpSpPr>
          <p:cNvPr id="66" name="Group 25">
            <a:extLst>
              <a:ext uri="{FF2B5EF4-FFF2-40B4-BE49-F238E27FC236}">
                <a16:creationId xmlns:a16="http://schemas.microsoft.com/office/drawing/2014/main" id="{113353FB-E491-474D-92A2-6561AA0E4842}"/>
              </a:ext>
            </a:extLst>
          </p:cNvPr>
          <p:cNvGrpSpPr>
            <a:grpSpLocks/>
          </p:cNvGrpSpPr>
          <p:nvPr/>
        </p:nvGrpSpPr>
        <p:grpSpPr bwMode="auto">
          <a:xfrm>
            <a:off x="3359150" y="4365626"/>
            <a:ext cx="2662238" cy="1325563"/>
            <a:chOff x="1156" y="2731"/>
            <a:chExt cx="1677" cy="835"/>
          </a:xfrm>
        </p:grpSpPr>
        <p:sp>
          <p:nvSpPr>
            <p:cNvPr id="67" name="Freeform 5">
              <a:extLst>
                <a:ext uri="{FF2B5EF4-FFF2-40B4-BE49-F238E27FC236}">
                  <a16:creationId xmlns:a16="http://schemas.microsoft.com/office/drawing/2014/main" id="{0CF1DCD8-3EF4-4B73-B708-A9C034313B4C}"/>
                </a:ext>
              </a:extLst>
            </p:cNvPr>
            <p:cNvSpPr>
              <a:spLocks/>
            </p:cNvSpPr>
            <p:nvPr/>
          </p:nvSpPr>
          <p:spPr bwMode="gray">
            <a:xfrm>
              <a:off x="2264" y="2731"/>
              <a:ext cx="569" cy="782"/>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FFD96D"/>
                </a:gs>
                <a:gs pos="100000">
                  <a:srgbClr val="FFD96D">
                    <a:gamma/>
                    <a:tint val="63529"/>
                    <a:invGamma/>
                  </a:srgbClr>
                </a:gs>
              </a:gsLst>
              <a:lin ang="0" scaled="1"/>
            </a:gradFill>
            <a:ln w="0">
              <a:noFill/>
              <a:prstDash val="solid"/>
              <a:round/>
              <a:headEnd/>
              <a:tailEnd/>
            </a:ln>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68" name="AutoShape 18">
              <a:extLst>
                <a:ext uri="{FF2B5EF4-FFF2-40B4-BE49-F238E27FC236}">
                  <a16:creationId xmlns:a16="http://schemas.microsoft.com/office/drawing/2014/main" id="{8B72FCA9-F8FB-4563-8C50-151F006D9AEE}"/>
                </a:ext>
              </a:extLst>
            </p:cNvPr>
            <p:cNvSpPr>
              <a:spLocks noChangeArrowheads="1"/>
            </p:cNvSpPr>
            <p:nvPr/>
          </p:nvSpPr>
          <p:spPr bwMode="auto">
            <a:xfrm>
              <a:off x="1156" y="2750"/>
              <a:ext cx="1085" cy="816"/>
            </a:xfrm>
            <a:prstGeom prst="roundRect">
              <a:avLst>
                <a:gd name="adj" fmla="val 16667"/>
              </a:avLst>
            </a:prstGeom>
            <a:noFill/>
            <a:ln w="38100">
              <a:solidFill>
                <a:srgbClr val="000000"/>
              </a:solidFill>
              <a:round/>
              <a:headEnd/>
              <a:tailEnd/>
            </a:ln>
            <a:effectLst/>
          </p:spPr>
          <p:txBody>
            <a:bodyPr wrap="none" anchor="ctr"/>
            <a:lstStyle/>
            <a:p>
              <a:pPr algn="ctr" eaLnBrk="1" fontAlgn="auto" hangingPunct="1">
                <a:spcBef>
                  <a:spcPts val="0"/>
                </a:spcBef>
                <a:spcAft>
                  <a:spcPts val="0"/>
                </a:spcAft>
                <a:defRPr/>
              </a:pPr>
              <a:endParaRPr lang="zh-CN" altLang="en-US" sz="2000" b="1" kern="0">
                <a:solidFill>
                  <a:srgbClr val="000000"/>
                </a:solidFill>
                <a:effectLst>
                  <a:outerShdw blurRad="38100" dist="38100" dir="2700000" algn="tl">
                    <a:srgbClr val="C0C0C0"/>
                  </a:outerShdw>
                </a:effectLst>
                <a:latin typeface="黑体" pitchFamily="2" charset="-122"/>
                <a:ea typeface="黑体" pitchFamily="2" charset="-122"/>
              </a:endParaRPr>
            </a:p>
          </p:txBody>
        </p:sp>
        <p:sp>
          <p:nvSpPr>
            <p:cNvPr id="69" name="Text Box 19">
              <a:extLst>
                <a:ext uri="{FF2B5EF4-FFF2-40B4-BE49-F238E27FC236}">
                  <a16:creationId xmlns:a16="http://schemas.microsoft.com/office/drawing/2014/main" id="{DF168CA0-DA9E-4D5A-B3FA-50901B3F9A91}"/>
                </a:ext>
              </a:extLst>
            </p:cNvPr>
            <p:cNvSpPr txBox="1">
              <a:spLocks noChangeArrowheads="1"/>
            </p:cNvSpPr>
            <p:nvPr/>
          </p:nvSpPr>
          <p:spPr bwMode="auto">
            <a:xfrm>
              <a:off x="1202" y="2883"/>
              <a:ext cx="907" cy="490"/>
            </a:xfrm>
            <a:prstGeom prst="rect">
              <a:avLst/>
            </a:prstGeom>
            <a:noFill/>
            <a:ln w="9525" algn="ctr">
              <a:noFill/>
              <a:miter lim="800000"/>
              <a:headEnd/>
              <a:tailEnd/>
            </a:ln>
            <a:effectLst/>
          </p:spPr>
          <p:txBody>
            <a:bodyPr lIns="0" tIns="0" rIns="0" bIns="0">
              <a:spAutoFit/>
            </a:bodyPr>
            <a:lstStyle/>
            <a:p>
              <a:pPr eaLnBrk="1" fontAlgn="auto" hangingPunct="1">
                <a:spcBef>
                  <a:spcPct val="50000"/>
                </a:spcBef>
                <a:spcAft>
                  <a:spcPts val="0"/>
                </a:spcAft>
                <a:defRPr/>
              </a:pPr>
              <a:r>
                <a:rPr lang="zh-CN" altLang="en-US" sz="2400" b="1" kern="0">
                  <a:solidFill>
                    <a:srgbClr val="000000"/>
                  </a:solidFill>
                  <a:effectLst>
                    <a:outerShdw blurRad="38100" dist="38100" dir="2700000" algn="tl">
                      <a:srgbClr val="C0C0C0"/>
                    </a:outerShdw>
                  </a:effectLst>
                  <a:ea typeface="华文新魏" pitchFamily="2" charset="-122"/>
                </a:rPr>
                <a:t>渲染模式</a:t>
              </a:r>
            </a:p>
            <a:p>
              <a:pP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ea typeface="华文新魏" pitchFamily="2" charset="-122"/>
                </a:rPr>
                <a:t>GL_RENDER</a:t>
              </a:r>
            </a:p>
          </p:txBody>
        </p:sp>
      </p:grpSp>
      <p:grpSp>
        <p:nvGrpSpPr>
          <p:cNvPr id="70" name="Group 26">
            <a:extLst>
              <a:ext uri="{FF2B5EF4-FFF2-40B4-BE49-F238E27FC236}">
                <a16:creationId xmlns:a16="http://schemas.microsoft.com/office/drawing/2014/main" id="{CACE6670-9C52-481A-AFA7-0B9037565070}"/>
              </a:ext>
            </a:extLst>
          </p:cNvPr>
          <p:cNvGrpSpPr>
            <a:grpSpLocks/>
          </p:cNvGrpSpPr>
          <p:nvPr/>
        </p:nvGrpSpPr>
        <p:grpSpPr bwMode="auto">
          <a:xfrm>
            <a:off x="6764338" y="4332289"/>
            <a:ext cx="2565400" cy="1328737"/>
            <a:chOff x="3301" y="2729"/>
            <a:chExt cx="1616" cy="837"/>
          </a:xfrm>
        </p:grpSpPr>
        <p:sp>
          <p:nvSpPr>
            <p:cNvPr id="71" name="AutoShape 6">
              <a:extLst>
                <a:ext uri="{FF2B5EF4-FFF2-40B4-BE49-F238E27FC236}">
                  <a16:creationId xmlns:a16="http://schemas.microsoft.com/office/drawing/2014/main" id="{CFA75EC2-933F-4108-908C-12D374F43023}"/>
                </a:ext>
              </a:extLst>
            </p:cNvPr>
            <p:cNvSpPr>
              <a:spLocks noChangeAspect="1" noChangeArrowheads="1" noTextEdit="1"/>
            </p:cNvSpPr>
            <p:nvPr/>
          </p:nvSpPr>
          <p:spPr bwMode="gray">
            <a:xfrm flipH="1">
              <a:off x="3301" y="2729"/>
              <a:ext cx="573"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fontAlgn="auto" hangingPunct="1">
                <a:spcBef>
                  <a:spcPts val="0"/>
                </a:spcBef>
                <a:spcAft>
                  <a:spcPts val="0"/>
                </a:spcAft>
                <a:defRPr/>
              </a:pPr>
              <a:endParaRPr lang="zh-CN" altLang="en-US" sz="1800" kern="0">
                <a:solidFill>
                  <a:srgbClr val="000000"/>
                </a:solidFill>
              </a:endParaRPr>
            </a:p>
          </p:txBody>
        </p:sp>
        <p:sp>
          <p:nvSpPr>
            <p:cNvPr id="72" name="Freeform 7">
              <a:extLst>
                <a:ext uri="{FF2B5EF4-FFF2-40B4-BE49-F238E27FC236}">
                  <a16:creationId xmlns:a16="http://schemas.microsoft.com/office/drawing/2014/main" id="{95185566-9AAD-4EDF-B26D-2596BE84CF34}"/>
                </a:ext>
              </a:extLst>
            </p:cNvPr>
            <p:cNvSpPr>
              <a:spLocks/>
            </p:cNvSpPr>
            <p:nvPr/>
          </p:nvSpPr>
          <p:spPr bwMode="gray">
            <a:xfrm flipH="1">
              <a:off x="3305" y="2731"/>
              <a:ext cx="569" cy="782"/>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rgbClr val="CC0000"/>
                </a:gs>
                <a:gs pos="100000">
                  <a:srgbClr val="CC0000">
                    <a:gamma/>
                    <a:tint val="31765"/>
                    <a:invGamma/>
                  </a:srgbClr>
                </a:gs>
              </a:gsLst>
              <a:lin ang="0" scaled="1"/>
            </a:gradFill>
            <a:ln w="0">
              <a:noFill/>
              <a:prstDash val="solid"/>
              <a:round/>
              <a:headEnd/>
              <a:tailEnd/>
            </a:ln>
          </p:spPr>
          <p:txBody>
            <a:bodyPr/>
            <a:lstStyle/>
            <a:p>
              <a:pPr eaLnBrk="1" fontAlgn="auto" hangingPunct="1">
                <a:spcBef>
                  <a:spcPts val="0"/>
                </a:spcBef>
                <a:spcAft>
                  <a:spcPts val="0"/>
                </a:spcAft>
                <a:defRPr/>
              </a:pPr>
              <a:endParaRPr lang="zh-CN" altLang="en-US" sz="1800" kern="0">
                <a:solidFill>
                  <a:srgbClr val="000000"/>
                </a:solidFill>
                <a:latin typeface="Arial" charset="0"/>
              </a:endParaRPr>
            </a:p>
          </p:txBody>
        </p:sp>
        <p:sp>
          <p:nvSpPr>
            <p:cNvPr id="73" name="AutoShape 17">
              <a:extLst>
                <a:ext uri="{FF2B5EF4-FFF2-40B4-BE49-F238E27FC236}">
                  <a16:creationId xmlns:a16="http://schemas.microsoft.com/office/drawing/2014/main" id="{059E7122-AE39-4E36-8AF5-E569B40C0F11}"/>
                </a:ext>
              </a:extLst>
            </p:cNvPr>
            <p:cNvSpPr>
              <a:spLocks noChangeArrowheads="1"/>
            </p:cNvSpPr>
            <p:nvPr/>
          </p:nvSpPr>
          <p:spPr bwMode="auto">
            <a:xfrm>
              <a:off x="3923" y="2750"/>
              <a:ext cx="994" cy="816"/>
            </a:xfrm>
            <a:prstGeom prst="roundRect">
              <a:avLst>
                <a:gd name="adj" fmla="val 16667"/>
              </a:avLst>
            </a:prstGeom>
            <a:noFill/>
            <a:ln w="38100">
              <a:solidFill>
                <a:srgbClr val="000000"/>
              </a:solidFill>
              <a:round/>
              <a:headEnd/>
              <a:tailEnd/>
            </a:ln>
            <a:effectLst/>
          </p:spPr>
          <p:txBody>
            <a:bodyPr wrap="none" anchor="ctr"/>
            <a:lstStyle/>
            <a:p>
              <a:pPr algn="ctr" eaLnBrk="1" fontAlgn="auto" hangingPunct="1">
                <a:spcBef>
                  <a:spcPts val="0"/>
                </a:spcBef>
                <a:spcAft>
                  <a:spcPts val="0"/>
                </a:spcAft>
                <a:defRPr/>
              </a:pPr>
              <a:endParaRPr lang="zh-CN" altLang="en-US" sz="2000" b="1" kern="0">
                <a:solidFill>
                  <a:srgbClr val="000000"/>
                </a:solidFill>
                <a:effectLst>
                  <a:outerShdw blurRad="38100" dist="38100" dir="2700000" algn="tl">
                    <a:srgbClr val="C0C0C0"/>
                  </a:outerShdw>
                </a:effectLst>
                <a:latin typeface="黑体" pitchFamily="2" charset="-122"/>
                <a:ea typeface="黑体" pitchFamily="2" charset="-122"/>
              </a:endParaRPr>
            </a:p>
          </p:txBody>
        </p:sp>
        <p:sp>
          <p:nvSpPr>
            <p:cNvPr id="74" name="Text Box 20">
              <a:extLst>
                <a:ext uri="{FF2B5EF4-FFF2-40B4-BE49-F238E27FC236}">
                  <a16:creationId xmlns:a16="http://schemas.microsoft.com/office/drawing/2014/main" id="{D69AC6C9-24E4-4B12-9F3C-717850CCD140}"/>
                </a:ext>
              </a:extLst>
            </p:cNvPr>
            <p:cNvSpPr txBox="1">
              <a:spLocks noChangeArrowheads="1"/>
            </p:cNvSpPr>
            <p:nvPr/>
          </p:nvSpPr>
          <p:spPr bwMode="auto">
            <a:xfrm>
              <a:off x="3969" y="2886"/>
              <a:ext cx="861" cy="233"/>
            </a:xfrm>
            <a:prstGeom prst="rect">
              <a:avLst/>
            </a:prstGeom>
            <a:noFill/>
            <a:ln w="9525" algn="ctr">
              <a:noFill/>
              <a:miter lim="800000"/>
              <a:headEnd/>
              <a:tailEnd/>
            </a:ln>
            <a:effectLst/>
          </p:spPr>
          <p:txBody>
            <a:bodyPr lIns="0" tIns="0" rIns="0" bIns="0">
              <a:spAutoFit/>
            </a:bodyPr>
            <a:lstStyle/>
            <a:p>
              <a:pPr eaLnBrk="1" fontAlgn="auto" hangingPunct="1">
                <a:spcBef>
                  <a:spcPct val="50000"/>
                </a:spcBef>
                <a:spcAft>
                  <a:spcPts val="0"/>
                </a:spcAft>
                <a:defRPr/>
              </a:pPr>
              <a:r>
                <a:rPr lang="zh-CN" altLang="en-US" sz="2400" b="1" kern="0">
                  <a:solidFill>
                    <a:srgbClr val="000000"/>
                  </a:solidFill>
                  <a:effectLst>
                    <a:outerShdw blurRad="38100" dist="38100" dir="2700000" algn="tl">
                      <a:srgbClr val="C0C0C0"/>
                    </a:outerShdw>
                  </a:effectLst>
                  <a:ea typeface="华文新魏" pitchFamily="2" charset="-122"/>
                </a:rPr>
                <a:t>选择模式</a:t>
              </a:r>
            </a:p>
          </p:txBody>
        </p:sp>
        <p:sp>
          <p:nvSpPr>
            <p:cNvPr id="75" name="Text Box 22">
              <a:extLst>
                <a:ext uri="{FF2B5EF4-FFF2-40B4-BE49-F238E27FC236}">
                  <a16:creationId xmlns:a16="http://schemas.microsoft.com/office/drawing/2014/main" id="{DCC9CDDE-772C-40AD-B07D-B6DE2EE005E8}"/>
                </a:ext>
              </a:extLst>
            </p:cNvPr>
            <p:cNvSpPr txBox="1">
              <a:spLocks noChangeArrowheads="1"/>
            </p:cNvSpPr>
            <p:nvPr/>
          </p:nvSpPr>
          <p:spPr bwMode="auto">
            <a:xfrm>
              <a:off x="4014" y="3249"/>
              <a:ext cx="862" cy="173"/>
            </a:xfrm>
            <a:prstGeom prst="rect">
              <a:avLst/>
            </a:prstGeom>
            <a:noFill/>
            <a:ln w="9525" algn="ctr">
              <a:noFill/>
              <a:miter lim="800000"/>
              <a:headEnd/>
              <a:tailEnd/>
            </a:ln>
            <a:effectLst/>
          </p:spPr>
          <p:txBody>
            <a:bodyPr lIns="0" tIns="0" rIns="0" bIns="0">
              <a:spAutoFit/>
            </a:bodyPr>
            <a:lstStyle/>
            <a:p>
              <a:pPr algn="ct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ea typeface="华文新魏" pitchFamily="2" charset="-122"/>
                </a:rPr>
                <a:t>GL_SELECT</a:t>
              </a:r>
            </a:p>
          </p:txBody>
        </p:sp>
      </p:grpSp>
      <p:sp>
        <p:nvSpPr>
          <p:cNvPr id="76" name="AutoShape 23">
            <a:extLst>
              <a:ext uri="{FF2B5EF4-FFF2-40B4-BE49-F238E27FC236}">
                <a16:creationId xmlns:a16="http://schemas.microsoft.com/office/drawing/2014/main" id="{5431BD36-255E-4197-8707-A52B28602822}"/>
              </a:ext>
            </a:extLst>
          </p:cNvPr>
          <p:cNvSpPr>
            <a:spLocks noChangeArrowheads="1"/>
          </p:cNvSpPr>
          <p:nvPr/>
        </p:nvSpPr>
        <p:spPr bwMode="auto">
          <a:xfrm>
            <a:off x="1326313" y="2424114"/>
            <a:ext cx="2447925" cy="1081088"/>
          </a:xfrm>
          <a:prstGeom prst="wedgeRoundRectCallout">
            <a:avLst>
              <a:gd name="adj1" fmla="val 38847"/>
              <a:gd name="adj2" fmla="val 138838"/>
              <a:gd name="adj3" fmla="val 16667"/>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2400" b="1" kern="0">
                <a:solidFill>
                  <a:srgbClr val="000000"/>
                </a:solidFill>
                <a:effectLst>
                  <a:outerShdw blurRad="38100" dist="38100" dir="2700000" algn="tl">
                    <a:srgbClr val="FFFFFF"/>
                  </a:outerShdw>
                </a:effectLst>
                <a:latin typeface="宋体" pitchFamily="2" charset="-122"/>
                <a:ea typeface="宋体" pitchFamily="2" charset="-122"/>
              </a:rPr>
              <a:t>“</a:t>
            </a:r>
            <a:r>
              <a:rPr lang="zh-CN" altLang="en-US" sz="2400" b="1" kern="0">
                <a:solidFill>
                  <a:srgbClr val="CC0000"/>
                </a:solidFill>
                <a:effectLst>
                  <a:outerShdw blurRad="38100" dist="38100" dir="2700000" algn="tl">
                    <a:srgbClr val="000000"/>
                  </a:outerShdw>
                </a:effectLst>
                <a:ea typeface="宋体" pitchFamily="2" charset="-122"/>
              </a:rPr>
              <a:t>可见</a:t>
            </a:r>
            <a:r>
              <a:rPr lang="zh-CN" altLang="en-US" sz="2400" b="1" kern="0">
                <a:solidFill>
                  <a:srgbClr val="000000"/>
                </a:solidFill>
                <a:effectLst>
                  <a:outerShdw blurRad="38100" dist="38100" dir="2700000" algn="tl">
                    <a:srgbClr val="FFFFFF"/>
                  </a:outerShdw>
                </a:effectLst>
                <a:latin typeface="宋体" pitchFamily="2" charset="-122"/>
                <a:ea typeface="宋体" pitchFamily="2" charset="-122"/>
              </a:rPr>
              <a:t>”</a:t>
            </a:r>
            <a:r>
              <a:rPr lang="zh-CN" altLang="en-US" sz="2400" b="1" kern="0">
                <a:solidFill>
                  <a:srgbClr val="000000"/>
                </a:solidFill>
                <a:effectLst>
                  <a:outerShdw blurRad="38100" dist="38100" dir="2700000" algn="tl">
                    <a:srgbClr val="FFFFFF"/>
                  </a:outerShdw>
                </a:effectLst>
                <a:ea typeface="宋体" pitchFamily="2" charset="-122"/>
              </a:rPr>
              <a:t>的绘制模式</a:t>
            </a:r>
            <a:endParaRPr lang="en-US" altLang="zh-CN" sz="2400" b="1" kern="0">
              <a:solidFill>
                <a:srgbClr val="000000"/>
              </a:solidFill>
              <a:effectLst>
                <a:outerShdw blurRad="38100" dist="38100" dir="2700000" algn="tl">
                  <a:srgbClr val="FFFFFF"/>
                </a:outerShdw>
              </a:effectLst>
              <a:ea typeface="宋体" pitchFamily="2" charset="-122"/>
            </a:endParaRPr>
          </a:p>
        </p:txBody>
      </p:sp>
      <p:sp>
        <p:nvSpPr>
          <p:cNvPr id="77" name="AutoShape 27">
            <a:extLst>
              <a:ext uri="{FF2B5EF4-FFF2-40B4-BE49-F238E27FC236}">
                <a16:creationId xmlns:a16="http://schemas.microsoft.com/office/drawing/2014/main" id="{4D938017-202A-4EBC-9CDE-C81191BBE8B4}"/>
              </a:ext>
            </a:extLst>
          </p:cNvPr>
          <p:cNvSpPr>
            <a:spLocks noChangeArrowheads="1"/>
          </p:cNvSpPr>
          <p:nvPr/>
        </p:nvSpPr>
        <p:spPr bwMode="auto">
          <a:xfrm>
            <a:off x="8760296" y="2424114"/>
            <a:ext cx="2447925" cy="1081088"/>
          </a:xfrm>
          <a:prstGeom prst="wedgeRoundRectCallout">
            <a:avLst>
              <a:gd name="adj1" fmla="val -30352"/>
              <a:gd name="adj2" fmla="val 135315"/>
              <a:gd name="adj3" fmla="val 16667"/>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2400" b="1" kern="0">
                <a:solidFill>
                  <a:srgbClr val="000000"/>
                </a:solidFill>
                <a:effectLst>
                  <a:outerShdw blurRad="38100" dist="38100" dir="2700000" algn="tl">
                    <a:srgbClr val="FFFFFF"/>
                  </a:outerShdw>
                </a:effectLst>
                <a:latin typeface="宋体" pitchFamily="2" charset="-122"/>
                <a:ea typeface="宋体" pitchFamily="2" charset="-122"/>
              </a:rPr>
              <a:t>“</a:t>
            </a:r>
            <a:r>
              <a:rPr lang="zh-CN" altLang="en-US" sz="2400" b="1" kern="0">
                <a:solidFill>
                  <a:srgbClr val="CC0000"/>
                </a:solidFill>
                <a:effectLst>
                  <a:outerShdw blurRad="38100" dist="38100" dir="2700000" algn="tl">
                    <a:srgbClr val="000000"/>
                  </a:outerShdw>
                </a:effectLst>
                <a:ea typeface="宋体" pitchFamily="2" charset="-122"/>
              </a:rPr>
              <a:t>不可见</a:t>
            </a:r>
            <a:r>
              <a:rPr lang="zh-CN" altLang="en-US" sz="2400" b="1" kern="0">
                <a:solidFill>
                  <a:srgbClr val="000000"/>
                </a:solidFill>
                <a:effectLst>
                  <a:outerShdw blurRad="38100" dist="38100" dir="2700000" algn="tl">
                    <a:srgbClr val="FFFFFF"/>
                  </a:outerShdw>
                </a:effectLst>
                <a:latin typeface="宋体" pitchFamily="2" charset="-122"/>
                <a:ea typeface="宋体" pitchFamily="2" charset="-122"/>
              </a:rPr>
              <a:t>”</a:t>
            </a:r>
            <a:r>
              <a:rPr lang="zh-CN" altLang="en-US" sz="2400" b="1" kern="0">
                <a:solidFill>
                  <a:srgbClr val="000000"/>
                </a:solidFill>
                <a:effectLst>
                  <a:outerShdw blurRad="38100" dist="38100" dir="2700000" algn="tl">
                    <a:srgbClr val="FFFFFF"/>
                  </a:outerShdw>
                </a:effectLst>
                <a:ea typeface="宋体" pitchFamily="2" charset="-122"/>
              </a:rPr>
              <a:t>的绘制模式</a:t>
            </a:r>
            <a:endParaRPr lang="en-US" altLang="zh-CN" sz="2400" b="1" kern="0">
              <a:solidFill>
                <a:srgbClr val="000000"/>
              </a:solidFill>
              <a:effectLst>
                <a:outerShdw blurRad="38100" dist="38100" dir="2700000" algn="tl">
                  <a:srgbClr val="FFFFFF"/>
                </a:outerShdw>
              </a:effectLst>
              <a:ea typeface="宋体" pitchFamily="2" charset="-122"/>
            </a:endParaRPr>
          </a:p>
        </p:txBody>
      </p:sp>
    </p:spTree>
    <p:extLst>
      <p:ext uri="{BB962C8B-B14F-4D97-AF65-F5344CB8AC3E}">
        <p14:creationId xmlns:p14="http://schemas.microsoft.com/office/powerpoint/2010/main" val="163811688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ox(in)">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wipe(right)">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left)">
                                      <p:cBhvr>
                                        <p:cTn id="17" dur="500"/>
                                        <p:tgtEl>
                                          <p:spTgt spid="7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6"/>
                                        </p:tgtEl>
                                        <p:attrNameLst>
                                          <p:attrName>style.visibility</p:attrName>
                                        </p:attrNameLst>
                                      </p:cBhvr>
                                      <p:to>
                                        <p:strVal val="visible"/>
                                      </p:to>
                                    </p:set>
                                    <p:anim calcmode="lin" valueType="num">
                                      <p:cBhvr additive="base">
                                        <p:cTn id="22" dur="500" fill="hold"/>
                                        <p:tgtEl>
                                          <p:spTgt spid="76"/>
                                        </p:tgtEl>
                                        <p:attrNameLst>
                                          <p:attrName>ppt_x</p:attrName>
                                        </p:attrNameLst>
                                      </p:cBhvr>
                                      <p:tavLst>
                                        <p:tav tm="0">
                                          <p:val>
                                            <p:strVal val="#ppt_x"/>
                                          </p:val>
                                        </p:tav>
                                        <p:tav tm="100000">
                                          <p:val>
                                            <p:strVal val="#ppt_x"/>
                                          </p:val>
                                        </p:tav>
                                      </p:tavLst>
                                    </p:anim>
                                    <p:anim calcmode="lin" valueType="num">
                                      <p:cBhvr additive="base">
                                        <p:cTn id="23"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7"/>
                                        </p:tgtEl>
                                        <p:attrNameLst>
                                          <p:attrName>style.visibility</p:attrName>
                                        </p:attrNameLst>
                                      </p:cBhvr>
                                      <p:to>
                                        <p:strVal val="visible"/>
                                      </p:to>
                                    </p:set>
                                    <p:anim calcmode="lin" valueType="num">
                                      <p:cBhvr additive="base">
                                        <p:cTn id="28" dur="500" fill="hold"/>
                                        <p:tgtEl>
                                          <p:spTgt spid="77"/>
                                        </p:tgtEl>
                                        <p:attrNameLst>
                                          <p:attrName>ppt_x</p:attrName>
                                        </p:attrNameLst>
                                      </p:cBhvr>
                                      <p:tavLst>
                                        <p:tav tm="0">
                                          <p:val>
                                            <p:strVal val="#ppt_x"/>
                                          </p:val>
                                        </p:tav>
                                        <p:tav tm="100000">
                                          <p:val>
                                            <p:strVal val="#ppt_x"/>
                                          </p:val>
                                        </p:tav>
                                      </p:tavLst>
                                    </p:anim>
                                    <p:anim calcmode="lin" valueType="num">
                                      <p:cBhvr additive="base">
                                        <p:cTn id="29"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2E16BD6E-E41C-45B8-8FA5-F9B073FCD2E7}"/>
              </a:ext>
            </a:extLst>
          </p:cNvPr>
          <p:cNvSpPr>
            <a:spLocks noGrp="1" noChangeArrowheads="1"/>
          </p:cNvSpPr>
          <p:nvPr>
            <p:ph type="title"/>
          </p:nvPr>
        </p:nvSpPr>
        <p:spPr/>
        <p:txBody>
          <a:bodyPr/>
          <a:lstStyle/>
          <a:p>
            <a:pPr>
              <a:defRPr/>
            </a:pPr>
            <a:r>
              <a:rPr lang="en-US" altLang="zh-CN" dirty="0">
                <a:latin typeface="Arial" pitchFamily="34" charset="0"/>
              </a:rPr>
              <a:t>8.1 </a:t>
            </a:r>
            <a:r>
              <a:rPr lang="zh-CN" altLang="en-US" dirty="0">
                <a:latin typeface="Arial" pitchFamily="34" charset="0"/>
              </a:rPr>
              <a:t>绘制模式</a:t>
            </a:r>
          </a:p>
        </p:txBody>
      </p:sp>
      <p:sp>
        <p:nvSpPr>
          <p:cNvPr id="53" name="AutoShape 67">
            <a:extLst>
              <a:ext uri="{FF2B5EF4-FFF2-40B4-BE49-F238E27FC236}">
                <a16:creationId xmlns:a16="http://schemas.microsoft.com/office/drawing/2014/main" id="{25501F46-E3BD-4254-B283-CE1AF3021276}"/>
              </a:ext>
            </a:extLst>
          </p:cNvPr>
          <p:cNvSpPr>
            <a:spLocks noChangeArrowheads="1"/>
          </p:cNvSpPr>
          <p:nvPr/>
        </p:nvSpPr>
        <p:spPr bwMode="auto">
          <a:xfrm>
            <a:off x="1992314" y="981076"/>
            <a:ext cx="8675687" cy="3960813"/>
          </a:xfrm>
          <a:prstGeom prst="downArrowCallout">
            <a:avLst>
              <a:gd name="adj1" fmla="val 23526"/>
              <a:gd name="adj2" fmla="val 29601"/>
              <a:gd name="adj3" fmla="val 9310"/>
              <a:gd name="adj4" fmla="val 86412"/>
            </a:avLst>
          </a:prstGeom>
          <a:gradFill rotWithShape="1">
            <a:gsLst>
              <a:gs pos="0">
                <a:srgbClr val="FFFFFF"/>
              </a:gs>
              <a:gs pos="100000">
                <a:srgbClr val="CC0000"/>
              </a:gs>
            </a:gsLst>
            <a:lin ang="5400000" scaled="1"/>
          </a:gradFill>
          <a:ln w="19050">
            <a:solidFill>
              <a:srgbClr val="CC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nvGrpSpPr>
          <p:cNvPr id="54" name="Group 62">
            <a:extLst>
              <a:ext uri="{FF2B5EF4-FFF2-40B4-BE49-F238E27FC236}">
                <a16:creationId xmlns:a16="http://schemas.microsoft.com/office/drawing/2014/main" id="{9D6BF041-913F-446B-ABF5-02A5FB31EDA0}"/>
              </a:ext>
            </a:extLst>
          </p:cNvPr>
          <p:cNvGrpSpPr>
            <a:grpSpLocks/>
          </p:cNvGrpSpPr>
          <p:nvPr/>
        </p:nvGrpSpPr>
        <p:grpSpPr bwMode="auto">
          <a:xfrm>
            <a:off x="2640013" y="3070226"/>
            <a:ext cx="5988050" cy="930275"/>
            <a:chOff x="870" y="3116"/>
            <a:chExt cx="3772" cy="586"/>
          </a:xfrm>
        </p:grpSpPr>
        <p:sp>
          <p:nvSpPr>
            <p:cNvPr id="55" name="圆角矩形 8">
              <a:extLst>
                <a:ext uri="{FF2B5EF4-FFF2-40B4-BE49-F238E27FC236}">
                  <a16:creationId xmlns:a16="http://schemas.microsoft.com/office/drawing/2014/main" id="{0C90CF87-A8ED-4AE9-9D92-FE723E462CA6}"/>
                </a:ext>
              </a:extLst>
            </p:cNvPr>
            <p:cNvSpPr/>
            <p:nvPr/>
          </p:nvSpPr>
          <p:spPr bwMode="auto">
            <a:xfrm>
              <a:off x="870" y="3143"/>
              <a:ext cx="669" cy="559"/>
            </a:xfrm>
            <a:prstGeom prst="roundRect">
              <a:avLst/>
            </a:prstGeom>
            <a:solidFill>
              <a:srgbClr val="FFFFFF"/>
            </a:solidFill>
            <a:ln w="25400" cap="flat" cmpd="sng" algn="ctr">
              <a:solidFill>
                <a:srgbClr val="5B0DAA"/>
              </a:solidFill>
              <a:prstDash val="solid"/>
              <a:headEnd type="none" w="med" len="med"/>
              <a:tailEnd type="none" w="med" len="med"/>
            </a:ln>
            <a:effectLst/>
          </p:spPr>
          <p:txBody>
            <a:bodyPr anchor="ctr" anchorCtr="1"/>
            <a:lstStyle/>
            <a:p>
              <a:pPr eaLnBrk="1" fontAlgn="auto" hangingPunct="1">
                <a:spcBef>
                  <a:spcPct val="20000"/>
                </a:spcBef>
                <a:spcAft>
                  <a:spcPts val="0"/>
                </a:spcAft>
                <a:buClr>
                  <a:srgbClr val="FFFFFF"/>
                </a:buClr>
                <a:defRPr/>
              </a:pPr>
              <a:r>
                <a:rPr lang="zh-CN" altLang="en-US" sz="2000" b="1" kern="0">
                  <a:solidFill>
                    <a:srgbClr val="000000"/>
                  </a:solidFill>
                  <a:latin typeface="Arial"/>
                  <a:ea typeface="宋体" pitchFamily="2" charset="-122"/>
                </a:rPr>
                <a:t> 图元</a:t>
              </a:r>
            </a:p>
          </p:txBody>
        </p:sp>
        <p:sp>
          <p:nvSpPr>
            <p:cNvPr id="56" name="右箭头 13">
              <a:extLst>
                <a:ext uri="{FF2B5EF4-FFF2-40B4-BE49-F238E27FC236}">
                  <a16:creationId xmlns:a16="http://schemas.microsoft.com/office/drawing/2014/main" id="{F2155395-B67F-431C-93B5-84B146D61A1C}"/>
                </a:ext>
              </a:extLst>
            </p:cNvPr>
            <p:cNvSpPr/>
            <p:nvPr/>
          </p:nvSpPr>
          <p:spPr bwMode="auto">
            <a:xfrm>
              <a:off x="1539" y="3283"/>
              <a:ext cx="315"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57" name="右箭头 25">
              <a:extLst>
                <a:ext uri="{FF2B5EF4-FFF2-40B4-BE49-F238E27FC236}">
                  <a16:creationId xmlns:a16="http://schemas.microsoft.com/office/drawing/2014/main" id="{1F122660-DD86-4B18-ACA4-53ECBB121CC2}"/>
                </a:ext>
              </a:extLst>
            </p:cNvPr>
            <p:cNvSpPr/>
            <p:nvPr/>
          </p:nvSpPr>
          <p:spPr bwMode="auto">
            <a:xfrm>
              <a:off x="3379" y="3283"/>
              <a:ext cx="315"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58" name="圆角矩形 26">
              <a:extLst>
                <a:ext uri="{FF2B5EF4-FFF2-40B4-BE49-F238E27FC236}">
                  <a16:creationId xmlns:a16="http://schemas.microsoft.com/office/drawing/2014/main" id="{FFC18A41-FAF3-4D5F-958D-834724CB83FF}"/>
                </a:ext>
              </a:extLst>
            </p:cNvPr>
            <p:cNvSpPr>
              <a:spLocks noChangeArrowheads="1"/>
            </p:cNvSpPr>
            <p:nvPr/>
          </p:nvSpPr>
          <p:spPr bwMode="auto">
            <a:xfrm>
              <a:off x="3696" y="3116"/>
              <a:ext cx="946" cy="559"/>
            </a:xfrm>
            <a:prstGeom prst="roundRect">
              <a:avLst>
                <a:gd name="adj" fmla="val 16667"/>
              </a:avLst>
            </a:prstGeom>
            <a:solidFill>
              <a:srgbClr val="FFFFFF"/>
            </a:solidFill>
            <a:ln w="25400">
              <a:solidFill>
                <a:srgbClr val="00206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选择缓存</a:t>
              </a:r>
            </a:p>
          </p:txBody>
        </p:sp>
        <p:sp>
          <p:nvSpPr>
            <p:cNvPr id="59" name="圆角矩形 8">
              <a:extLst>
                <a:ext uri="{FF2B5EF4-FFF2-40B4-BE49-F238E27FC236}">
                  <a16:creationId xmlns:a16="http://schemas.microsoft.com/office/drawing/2014/main" id="{4E2DD390-879F-4744-BFD7-8979119C60E0}"/>
                </a:ext>
              </a:extLst>
            </p:cNvPr>
            <p:cNvSpPr>
              <a:spLocks noChangeArrowheads="1"/>
            </p:cNvSpPr>
            <p:nvPr/>
          </p:nvSpPr>
          <p:spPr bwMode="auto">
            <a:xfrm>
              <a:off x="1882" y="3116"/>
              <a:ext cx="1497" cy="559"/>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dirty="0">
                  <a:solidFill>
                    <a:srgbClr val="000000"/>
                  </a:solidFill>
                  <a:ea typeface="宋体" panose="02010600030101010101" pitchFamily="2" charset="-122"/>
                </a:rPr>
                <a:t> </a:t>
              </a:r>
              <a:r>
                <a:rPr lang="en-US" altLang="zh-CN" sz="2000" b="1" kern="0" dirty="0">
                  <a:solidFill>
                    <a:srgbClr val="000000"/>
                  </a:solidFill>
                  <a:ea typeface="宋体" panose="02010600030101010101" pitchFamily="2" charset="-122"/>
                </a:rPr>
                <a:t>OpenGL</a:t>
              </a:r>
              <a:r>
                <a:rPr lang="zh-CN" altLang="en-US" sz="2000" b="1" kern="0" dirty="0">
                  <a:solidFill>
                    <a:srgbClr val="000000"/>
                  </a:solidFill>
                  <a:ea typeface="宋体" panose="02010600030101010101" pitchFamily="2" charset="-122"/>
                </a:rPr>
                <a:t>流水线</a:t>
              </a:r>
            </a:p>
          </p:txBody>
        </p:sp>
      </p:grpSp>
      <p:grpSp>
        <p:nvGrpSpPr>
          <p:cNvPr id="60" name="Group 61">
            <a:extLst>
              <a:ext uri="{FF2B5EF4-FFF2-40B4-BE49-F238E27FC236}">
                <a16:creationId xmlns:a16="http://schemas.microsoft.com/office/drawing/2014/main" id="{C3A90896-A288-4B64-8080-6F760D09AEE0}"/>
              </a:ext>
            </a:extLst>
          </p:cNvPr>
          <p:cNvGrpSpPr>
            <a:grpSpLocks/>
          </p:cNvGrpSpPr>
          <p:nvPr/>
        </p:nvGrpSpPr>
        <p:grpSpPr bwMode="auto">
          <a:xfrm>
            <a:off x="2640014" y="1412876"/>
            <a:ext cx="7596187" cy="981075"/>
            <a:chOff x="884" y="2069"/>
            <a:chExt cx="4785" cy="618"/>
          </a:xfrm>
        </p:grpSpPr>
        <p:sp>
          <p:nvSpPr>
            <p:cNvPr id="61" name="圆角矩形 8">
              <a:extLst>
                <a:ext uri="{FF2B5EF4-FFF2-40B4-BE49-F238E27FC236}">
                  <a16:creationId xmlns:a16="http://schemas.microsoft.com/office/drawing/2014/main" id="{94DE50F7-F55D-4EE1-9535-CDD1377CD092}"/>
                </a:ext>
              </a:extLst>
            </p:cNvPr>
            <p:cNvSpPr/>
            <p:nvPr/>
          </p:nvSpPr>
          <p:spPr bwMode="auto">
            <a:xfrm>
              <a:off x="884" y="2100"/>
              <a:ext cx="669" cy="559"/>
            </a:xfrm>
            <a:prstGeom prst="roundRect">
              <a:avLst/>
            </a:prstGeom>
            <a:solidFill>
              <a:srgbClr val="FFFFFF"/>
            </a:solidFill>
            <a:ln w="25400" cap="flat" cmpd="sng" algn="ctr">
              <a:solidFill>
                <a:srgbClr val="5B0DAA"/>
              </a:solidFill>
              <a:prstDash val="solid"/>
              <a:headEnd type="none" w="med" len="med"/>
              <a:tailEnd type="none" w="med" len="med"/>
            </a:ln>
            <a:effectLst/>
          </p:spPr>
          <p:txBody>
            <a:bodyPr anchor="ctr" anchorCtr="1"/>
            <a:lstStyle/>
            <a:p>
              <a:pPr eaLnBrk="1" fontAlgn="auto" hangingPunct="1">
                <a:spcBef>
                  <a:spcPct val="20000"/>
                </a:spcBef>
                <a:spcAft>
                  <a:spcPts val="0"/>
                </a:spcAft>
                <a:buClr>
                  <a:srgbClr val="FFFFFF"/>
                </a:buClr>
                <a:defRPr/>
              </a:pPr>
              <a:r>
                <a:rPr lang="zh-CN" altLang="en-US" sz="2000" b="1" kern="0">
                  <a:solidFill>
                    <a:srgbClr val="000000"/>
                  </a:solidFill>
                  <a:latin typeface="Arial"/>
                  <a:ea typeface="宋体" pitchFamily="2" charset="-122"/>
                </a:rPr>
                <a:t> 图元</a:t>
              </a:r>
            </a:p>
          </p:txBody>
        </p:sp>
        <p:sp>
          <p:nvSpPr>
            <p:cNvPr id="62" name="右箭头 13">
              <a:extLst>
                <a:ext uri="{FF2B5EF4-FFF2-40B4-BE49-F238E27FC236}">
                  <a16:creationId xmlns:a16="http://schemas.microsoft.com/office/drawing/2014/main" id="{489017AD-2B8B-44C6-ABBA-08DAFBA7AFC3}"/>
                </a:ext>
              </a:extLst>
            </p:cNvPr>
            <p:cNvSpPr/>
            <p:nvPr/>
          </p:nvSpPr>
          <p:spPr bwMode="auto">
            <a:xfrm>
              <a:off x="1553" y="2240"/>
              <a:ext cx="315"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63" name="右箭头 25">
              <a:extLst>
                <a:ext uri="{FF2B5EF4-FFF2-40B4-BE49-F238E27FC236}">
                  <a16:creationId xmlns:a16="http://schemas.microsoft.com/office/drawing/2014/main" id="{B9EAB908-E7CA-416F-AD95-A77C4FDCF269}"/>
                </a:ext>
              </a:extLst>
            </p:cNvPr>
            <p:cNvSpPr/>
            <p:nvPr/>
          </p:nvSpPr>
          <p:spPr bwMode="auto">
            <a:xfrm>
              <a:off x="3393" y="2240"/>
              <a:ext cx="315"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64" name="圆角矩形 26">
              <a:extLst>
                <a:ext uri="{FF2B5EF4-FFF2-40B4-BE49-F238E27FC236}">
                  <a16:creationId xmlns:a16="http://schemas.microsoft.com/office/drawing/2014/main" id="{262033EB-B46C-4078-AFFA-1F511AE64559}"/>
                </a:ext>
              </a:extLst>
            </p:cNvPr>
            <p:cNvSpPr>
              <a:spLocks noChangeArrowheads="1"/>
            </p:cNvSpPr>
            <p:nvPr/>
          </p:nvSpPr>
          <p:spPr bwMode="auto">
            <a:xfrm>
              <a:off x="3708" y="2100"/>
              <a:ext cx="946" cy="559"/>
            </a:xfrm>
            <a:prstGeom prst="roundRect">
              <a:avLst>
                <a:gd name="adj" fmla="val 16667"/>
              </a:avLst>
            </a:prstGeom>
            <a:solidFill>
              <a:srgbClr val="FFFFFF"/>
            </a:solidFill>
            <a:ln w="25400">
              <a:solidFill>
                <a:srgbClr val="00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帧缓存</a:t>
              </a:r>
            </a:p>
          </p:txBody>
        </p:sp>
        <p:sp>
          <p:nvSpPr>
            <p:cNvPr id="65" name="右箭头 28">
              <a:extLst>
                <a:ext uri="{FF2B5EF4-FFF2-40B4-BE49-F238E27FC236}">
                  <a16:creationId xmlns:a16="http://schemas.microsoft.com/office/drawing/2014/main" id="{073D1F78-1E43-4161-B9FF-422ACB0DE456}"/>
                </a:ext>
              </a:extLst>
            </p:cNvPr>
            <p:cNvSpPr/>
            <p:nvPr/>
          </p:nvSpPr>
          <p:spPr bwMode="auto">
            <a:xfrm>
              <a:off x="4654" y="2240"/>
              <a:ext cx="316"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66" name="圆角矩形 8">
              <a:extLst>
                <a:ext uri="{FF2B5EF4-FFF2-40B4-BE49-F238E27FC236}">
                  <a16:creationId xmlns:a16="http://schemas.microsoft.com/office/drawing/2014/main" id="{835E739F-14E0-4A41-AA59-9524C03DE301}"/>
                </a:ext>
              </a:extLst>
            </p:cNvPr>
            <p:cNvSpPr>
              <a:spLocks noChangeArrowheads="1"/>
            </p:cNvSpPr>
            <p:nvPr/>
          </p:nvSpPr>
          <p:spPr bwMode="auto">
            <a:xfrm>
              <a:off x="1896" y="2073"/>
              <a:ext cx="1497" cy="559"/>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pic>
          <p:nvPicPr>
            <p:cNvPr id="67" name="Picture 58" descr="显示器">
              <a:extLst>
                <a:ext uri="{FF2B5EF4-FFF2-40B4-BE49-F238E27FC236}">
                  <a16:creationId xmlns:a16="http://schemas.microsoft.com/office/drawing/2014/main" id="{DFC9DE94-D5B8-4D51-8841-E655CEF84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 y="2069"/>
              <a:ext cx="657" cy="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30">
            <a:extLst>
              <a:ext uri="{FF2B5EF4-FFF2-40B4-BE49-F238E27FC236}">
                <a16:creationId xmlns:a16="http://schemas.microsoft.com/office/drawing/2014/main" id="{768C1CCE-E590-4179-A2FF-D202C77E9A22}"/>
              </a:ext>
            </a:extLst>
          </p:cNvPr>
          <p:cNvSpPr txBox="1">
            <a:spLocks noChangeArrowheads="1"/>
          </p:cNvSpPr>
          <p:nvPr/>
        </p:nvSpPr>
        <p:spPr bwMode="auto">
          <a:xfrm>
            <a:off x="1992314" y="981076"/>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rgbClr val="FFFFFF"/>
              </a:buClr>
            </a:pPr>
            <a:r>
              <a:rPr lang="en-US" altLang="zh-CN" sz="2000" b="1">
                <a:solidFill>
                  <a:srgbClr val="000000"/>
                </a:solidFill>
                <a:ea typeface="宋体" panose="02010600030101010101" pitchFamily="2" charset="-122"/>
              </a:rPr>
              <a:t>GL_RENDER</a:t>
            </a:r>
          </a:p>
        </p:txBody>
      </p:sp>
      <p:sp>
        <p:nvSpPr>
          <p:cNvPr id="69" name="TextBox 30">
            <a:extLst>
              <a:ext uri="{FF2B5EF4-FFF2-40B4-BE49-F238E27FC236}">
                <a16:creationId xmlns:a16="http://schemas.microsoft.com/office/drawing/2014/main" id="{802093B2-E804-4C42-BC64-94D9D631A54E}"/>
              </a:ext>
            </a:extLst>
          </p:cNvPr>
          <p:cNvSpPr txBox="1">
            <a:spLocks noChangeArrowheads="1"/>
          </p:cNvSpPr>
          <p:nvPr/>
        </p:nvSpPr>
        <p:spPr bwMode="auto">
          <a:xfrm>
            <a:off x="1992314" y="2636839"/>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rgbClr val="FFFFFF"/>
              </a:buClr>
            </a:pPr>
            <a:r>
              <a:rPr lang="en-US" altLang="zh-CN" sz="2000" b="1">
                <a:solidFill>
                  <a:srgbClr val="000000"/>
                </a:solidFill>
                <a:ea typeface="宋体" panose="02010600030101010101" pitchFamily="2" charset="-122"/>
              </a:rPr>
              <a:t>GL_SELECT</a:t>
            </a:r>
          </a:p>
        </p:txBody>
      </p:sp>
      <p:grpSp>
        <p:nvGrpSpPr>
          <p:cNvPr id="70" name="Group 65">
            <a:extLst>
              <a:ext uri="{FF2B5EF4-FFF2-40B4-BE49-F238E27FC236}">
                <a16:creationId xmlns:a16="http://schemas.microsoft.com/office/drawing/2014/main" id="{63E65A3E-BC21-4998-8407-76C983964EAF}"/>
              </a:ext>
            </a:extLst>
          </p:cNvPr>
          <p:cNvGrpSpPr>
            <a:grpSpLocks/>
          </p:cNvGrpSpPr>
          <p:nvPr/>
        </p:nvGrpSpPr>
        <p:grpSpPr bwMode="auto">
          <a:xfrm>
            <a:off x="8616951" y="3024189"/>
            <a:ext cx="1692275" cy="981075"/>
            <a:chOff x="4558" y="3084"/>
            <a:chExt cx="1066" cy="618"/>
          </a:xfrm>
        </p:grpSpPr>
        <p:pic>
          <p:nvPicPr>
            <p:cNvPr id="71" name="Picture 63" descr="显示器">
              <a:extLst>
                <a:ext uri="{FF2B5EF4-FFF2-40B4-BE49-F238E27FC236}">
                  <a16:creationId xmlns:a16="http://schemas.microsoft.com/office/drawing/2014/main" id="{D80C8038-F184-48DE-B7C2-B7E99BC58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7" y="3084"/>
              <a:ext cx="657" cy="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右箭头 13">
              <a:extLst>
                <a:ext uri="{FF2B5EF4-FFF2-40B4-BE49-F238E27FC236}">
                  <a16:creationId xmlns:a16="http://schemas.microsoft.com/office/drawing/2014/main" id="{A15D4324-21AC-493E-98FC-27A34F38DEB6}"/>
                </a:ext>
              </a:extLst>
            </p:cNvPr>
            <p:cNvSpPr>
              <a:spLocks noChangeArrowheads="1"/>
            </p:cNvSpPr>
            <p:nvPr/>
          </p:nvSpPr>
          <p:spPr bwMode="auto">
            <a:xfrm>
              <a:off x="4558" y="3294"/>
              <a:ext cx="363" cy="146"/>
            </a:xfrm>
            <a:prstGeom prst="rightArrow">
              <a:avLst>
                <a:gd name="adj1" fmla="val 41667"/>
                <a:gd name="adj2" fmla="val 104793"/>
              </a:avLst>
            </a:prstGeom>
            <a:solidFill>
              <a:srgbClr val="000000"/>
            </a:solidFill>
            <a:ln w="9525" algn="ctr">
              <a:solidFill>
                <a:srgbClr val="5B0DAA"/>
              </a:solidFill>
              <a:round/>
              <a:headEnd/>
              <a:tailEnd/>
            </a:ln>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grpSp>
      <p:sp>
        <p:nvSpPr>
          <p:cNvPr id="73" name="Text Box 66">
            <a:extLst>
              <a:ext uri="{FF2B5EF4-FFF2-40B4-BE49-F238E27FC236}">
                <a16:creationId xmlns:a16="http://schemas.microsoft.com/office/drawing/2014/main" id="{6F5FA977-AFDE-4671-B6AC-85E83A2EC1A5}"/>
              </a:ext>
            </a:extLst>
          </p:cNvPr>
          <p:cNvSpPr txBox="1">
            <a:spLocks noChangeArrowheads="1"/>
          </p:cNvSpPr>
          <p:nvPr/>
        </p:nvSpPr>
        <p:spPr bwMode="auto">
          <a:xfrm>
            <a:off x="8401050" y="2493964"/>
            <a:ext cx="1949450" cy="1838325"/>
          </a:xfrm>
          <a:prstGeom prst="rect">
            <a:avLst/>
          </a:prstGeom>
          <a:noFill/>
          <a:ln w="9525">
            <a:solidFill>
              <a:srgbClr val="CC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ct val="50000"/>
              </a:spcBef>
              <a:spcAft>
                <a:spcPts val="0"/>
              </a:spcAft>
              <a:defRPr/>
            </a:pPr>
            <a:r>
              <a:rPr lang="el-GR" altLang="zh-CN" sz="12000" kern="0">
                <a:solidFill>
                  <a:srgbClr val="CC0000"/>
                </a:solidFill>
                <a:cs typeface="Arial" panose="020B0604020202020204" pitchFamily="34" charset="0"/>
                <a:sym typeface="Wingdings 2" panose="05020102010507070707" pitchFamily="18" charset="2"/>
              </a:rPr>
              <a:t></a:t>
            </a:r>
          </a:p>
        </p:txBody>
      </p:sp>
      <p:sp>
        <p:nvSpPr>
          <p:cNvPr id="74" name="Rectangle 68">
            <a:extLst>
              <a:ext uri="{FF2B5EF4-FFF2-40B4-BE49-F238E27FC236}">
                <a16:creationId xmlns:a16="http://schemas.microsoft.com/office/drawing/2014/main" id="{CC9855B2-8F70-4CED-8095-B20A39F6E1D1}"/>
              </a:ext>
            </a:extLst>
          </p:cNvPr>
          <p:cNvSpPr>
            <a:spLocks noChangeArrowheads="1"/>
          </p:cNvSpPr>
          <p:nvPr/>
        </p:nvSpPr>
        <p:spPr bwMode="auto">
          <a:xfrm>
            <a:off x="2837656" y="5013177"/>
            <a:ext cx="6516688" cy="1138773"/>
          </a:xfrm>
          <a:prstGeom prst="rect">
            <a:avLst/>
          </a:prstGeom>
          <a:noFill/>
          <a:ln w="9525">
            <a:noFill/>
            <a:miter lim="800000"/>
            <a:headEnd/>
            <a:tailEnd/>
          </a:ln>
        </p:spPr>
        <p:txBody>
          <a:bodyPr>
            <a:spAutoFit/>
          </a:bodyPr>
          <a:lstStyle/>
          <a:p>
            <a:pPr marL="449263" lvl="1" indent="-449263">
              <a:spcBef>
                <a:spcPct val="20000"/>
              </a:spcBef>
              <a:buClr>
                <a:srgbClr val="5B0DAA"/>
              </a:buClr>
              <a:buSzPct val="125000"/>
              <a:buFont typeface="Wingdings" pitchFamily="2" charset="2"/>
              <a:buAutoNum type="circleNumDbPlain"/>
              <a:defRPr/>
            </a:pPr>
            <a:r>
              <a:rPr lang="en-US" altLang="zh-CN" sz="2000" b="1" dirty="0">
                <a:effectLst>
                  <a:outerShdw blurRad="38100" dist="38100" dir="2700000" algn="tl">
                    <a:srgbClr val="C0C0C0"/>
                  </a:outerShdw>
                </a:effectLst>
                <a:ea typeface="黑体" pitchFamily="49" charset="-122"/>
              </a:rPr>
              <a:t>OpenGL</a:t>
            </a:r>
            <a:r>
              <a:rPr lang="zh-CN" altLang="en-US" sz="2000" b="1" dirty="0">
                <a:effectLst>
                  <a:outerShdw blurRad="38100" dist="38100" dir="2700000" algn="tl">
                    <a:srgbClr val="C0C0C0"/>
                  </a:outerShdw>
                </a:effectLst>
                <a:ea typeface="黑体" pitchFamily="49" charset="-122"/>
              </a:rPr>
              <a:t>选择机制是由图元的绘制过程实现的</a:t>
            </a:r>
          </a:p>
          <a:p>
            <a:pPr marL="449263" lvl="1" indent="-449263">
              <a:spcBef>
                <a:spcPct val="20000"/>
              </a:spcBef>
              <a:buClr>
                <a:srgbClr val="5B0DAA"/>
              </a:buClr>
              <a:buSzPct val="125000"/>
              <a:buFont typeface="Wingdings" pitchFamily="2" charset="2"/>
              <a:buAutoNum type="circleNumDbPlain"/>
              <a:defRPr/>
            </a:pPr>
            <a:r>
              <a:rPr lang="en-US" altLang="zh-CN" sz="2000" b="1" dirty="0">
                <a:effectLst>
                  <a:outerShdw blurRad="38100" dist="38100" dir="2700000" algn="tl">
                    <a:srgbClr val="C0C0C0"/>
                  </a:outerShdw>
                </a:effectLst>
                <a:ea typeface="黑体" pitchFamily="49" charset="-122"/>
              </a:rPr>
              <a:t>OpenGL</a:t>
            </a:r>
            <a:r>
              <a:rPr lang="zh-CN" altLang="en-US" sz="2000" b="1" dirty="0">
                <a:effectLst>
                  <a:outerShdw blurRad="38100" dist="38100" dir="2700000" algn="tl">
                    <a:srgbClr val="C0C0C0"/>
                  </a:outerShdw>
                </a:effectLst>
                <a:ea typeface="黑体" pitchFamily="49" charset="-122"/>
              </a:rPr>
              <a:t>的绘制过程不一定会产生用于显示的图像</a:t>
            </a:r>
          </a:p>
          <a:p>
            <a:pPr marL="449263" lvl="1" indent="-449263">
              <a:spcBef>
                <a:spcPct val="20000"/>
              </a:spcBef>
              <a:buClr>
                <a:srgbClr val="5B0DAA"/>
              </a:buClr>
              <a:buSzPct val="125000"/>
              <a:buFont typeface="Wingdings" pitchFamily="2" charset="2"/>
              <a:buAutoNum type="circleNumDbPlain"/>
              <a:defRPr/>
            </a:pPr>
            <a:r>
              <a:rPr lang="zh-CN" altLang="en-US" sz="2000" b="1" dirty="0">
                <a:effectLst>
                  <a:outerShdw blurRad="38100" dist="38100" dir="2700000" algn="tl">
                    <a:srgbClr val="C0C0C0"/>
                  </a:outerShdw>
                </a:effectLst>
                <a:ea typeface="黑体" pitchFamily="49" charset="-122"/>
              </a:rPr>
              <a:t>渲染模式和选择模式是互相独立的</a:t>
            </a:r>
            <a:endParaRPr lang="zh-CN" altLang="en-US" sz="2000" b="1" dirty="0">
              <a:solidFill>
                <a:srgbClr val="C00000"/>
              </a:solidFill>
              <a:effectLst>
                <a:outerShdw blurRad="38100" dist="38100" dir="2700000" algn="tl">
                  <a:srgbClr val="C0C0C0"/>
                </a:outerShdw>
              </a:effectLst>
              <a:ea typeface="黑体" pitchFamily="49" charset="-122"/>
            </a:endParaRPr>
          </a:p>
        </p:txBody>
      </p:sp>
      <p:pic>
        <p:nvPicPr>
          <p:cNvPr id="75" name="Picture 70" descr="MC900434409[1]">
            <a:extLst>
              <a:ext uri="{FF2B5EF4-FFF2-40B4-BE49-F238E27FC236}">
                <a16:creationId xmlns:a16="http://schemas.microsoft.com/office/drawing/2014/main" id="{3E081F46-21DE-4D06-9089-A862F8A13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651" y="4941889"/>
            <a:ext cx="1039813"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anim calcmode="lin" valueType="num">
                                      <p:cBhvr additive="base">
                                        <p:cTn id="7" dur="500" fill="hold"/>
                                        <p:tgtEl>
                                          <p:spTgt spid="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wipe(left)">
                                      <p:cBhvr>
                                        <p:cTn id="13" dur="2000"/>
                                        <p:tgtEl>
                                          <p:spTgt spid="6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9"/>
                                        </p:tgtEl>
                                        <p:attrNameLst>
                                          <p:attrName>style.visibility</p:attrName>
                                        </p:attrNameLst>
                                      </p:cBhvr>
                                      <p:to>
                                        <p:strVal val="visible"/>
                                      </p:to>
                                    </p:set>
                                    <p:anim calcmode="lin" valueType="num">
                                      <p:cBhvr additive="base">
                                        <p:cTn id="18" dur="500" fill="hold"/>
                                        <p:tgtEl>
                                          <p:spTgt spid="69"/>
                                        </p:tgtEl>
                                        <p:attrNameLst>
                                          <p:attrName>ppt_x</p:attrName>
                                        </p:attrNameLst>
                                      </p:cBhvr>
                                      <p:tavLst>
                                        <p:tav tm="0">
                                          <p:val>
                                            <p:strVal val="#ppt_x"/>
                                          </p:val>
                                        </p:tav>
                                        <p:tav tm="100000">
                                          <p:val>
                                            <p:strVal val="#ppt_x"/>
                                          </p:val>
                                        </p:tav>
                                      </p:tavLst>
                                    </p:anim>
                                    <p:anim calcmode="lin" valueType="num">
                                      <p:cBhvr additive="base">
                                        <p:cTn id="19"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left)">
                                      <p:cBhvr>
                                        <p:cTn id="24" dur="20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base">
                                        <p:cTn id="29" dur="500" fill="hold"/>
                                        <p:tgtEl>
                                          <p:spTgt spid="70"/>
                                        </p:tgtEl>
                                        <p:attrNameLst>
                                          <p:attrName>ppt_x</p:attrName>
                                        </p:attrNameLst>
                                      </p:cBhvr>
                                      <p:tavLst>
                                        <p:tav tm="0">
                                          <p:val>
                                            <p:strVal val="#ppt_x"/>
                                          </p:val>
                                        </p:tav>
                                        <p:tav tm="100000">
                                          <p:val>
                                            <p:strVal val="#ppt_x"/>
                                          </p:val>
                                        </p:tav>
                                      </p:tavLst>
                                    </p:anim>
                                    <p:anim calcmode="lin" valueType="num">
                                      <p:cBhvr additive="base">
                                        <p:cTn id="30"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box(in)">
                                      <p:cBhvr>
                                        <p:cTn id="35" dur="500"/>
                                        <p:tgtEl>
                                          <p:spTgt spid="7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73"/>
                                        </p:tgtEl>
                                        <p:attrNameLst>
                                          <p:attrName>style.visibility</p:attrName>
                                        </p:attrNameLst>
                                      </p:cBhvr>
                                      <p:to>
                                        <p:strVal val="hidden"/>
                                      </p:to>
                                    </p:set>
                                  </p:childTnLst>
                                </p:cTn>
                              </p:par>
                              <p:par>
                                <p:cTn id="40" presetID="15" presetClass="exit" presetSubtype="0" fill="hold" nodeType="withEffect">
                                  <p:stCondLst>
                                    <p:cond delay="0"/>
                                  </p:stCondLst>
                                  <p:childTnLst>
                                    <p:anim calcmode="lin" valueType="num">
                                      <p:cBhvr>
                                        <p:cTn id="41" dur="1000"/>
                                        <p:tgtEl>
                                          <p:spTgt spid="70"/>
                                        </p:tgtEl>
                                        <p:attrNameLst>
                                          <p:attrName>ppt_w</p:attrName>
                                        </p:attrNameLst>
                                      </p:cBhvr>
                                      <p:tavLst>
                                        <p:tav tm="0">
                                          <p:val>
                                            <p:strVal val="ppt_w"/>
                                          </p:val>
                                        </p:tav>
                                        <p:tav tm="100000">
                                          <p:val>
                                            <p:fltVal val="0"/>
                                          </p:val>
                                        </p:tav>
                                      </p:tavLst>
                                    </p:anim>
                                    <p:anim calcmode="lin" valueType="num">
                                      <p:cBhvr>
                                        <p:cTn id="42" dur="1000"/>
                                        <p:tgtEl>
                                          <p:spTgt spid="70"/>
                                        </p:tgtEl>
                                        <p:attrNameLst>
                                          <p:attrName>ppt_h</p:attrName>
                                        </p:attrNameLst>
                                      </p:cBhvr>
                                      <p:tavLst>
                                        <p:tav tm="0">
                                          <p:val>
                                            <p:strVal val="ppt_h"/>
                                          </p:val>
                                        </p:tav>
                                        <p:tav tm="100000">
                                          <p:val>
                                            <p:fltVal val="0"/>
                                          </p:val>
                                        </p:tav>
                                      </p:tavLst>
                                    </p:anim>
                                    <p:anim calcmode="lin" valueType="num">
                                      <p:cBhvr>
                                        <p:cTn id="43" dur="1000"/>
                                        <p:tgtEl>
                                          <p:spTgt spid="70"/>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44" dur="1000"/>
                                        <p:tgtEl>
                                          <p:spTgt spid="70"/>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5" dur="1" fill="hold">
                                          <p:stCondLst>
                                            <p:cond delay="999"/>
                                          </p:stCondLst>
                                        </p:cTn>
                                        <p:tgtEl>
                                          <p:spTgt spid="7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53"/>
                                        </p:tgtEl>
                                        <p:attrNameLst>
                                          <p:attrName>style.visibility</p:attrName>
                                        </p:attrNameLst>
                                      </p:cBhvr>
                                      <p:to>
                                        <p:strVal val="visible"/>
                                      </p:to>
                                    </p:set>
                                    <p:animEffect transition="in" filter="wipe(up)">
                                      <p:cBhvr>
                                        <p:cTn id="50" dur="500"/>
                                        <p:tgtEl>
                                          <p:spTgt spid="53"/>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74">
                                            <p:txEl>
                                              <p:pRg st="0" end="0"/>
                                            </p:txEl>
                                          </p:spTgt>
                                        </p:tgtEl>
                                        <p:attrNameLst>
                                          <p:attrName>style.visibility</p:attrName>
                                        </p:attrNameLst>
                                      </p:cBhvr>
                                      <p:to>
                                        <p:strVal val="visible"/>
                                      </p:to>
                                    </p:set>
                                    <p:anim calcmode="lin" valueType="num">
                                      <p:cBhvr>
                                        <p:cTn id="55" dur="500" fill="hold"/>
                                        <p:tgtEl>
                                          <p:spTgt spid="74">
                                            <p:txEl>
                                              <p:pRg st="0" end="0"/>
                                            </p:txEl>
                                          </p:spTgt>
                                        </p:tgtEl>
                                        <p:attrNameLst>
                                          <p:attrName>ppt_w</p:attrName>
                                        </p:attrNameLst>
                                      </p:cBhvr>
                                      <p:tavLst>
                                        <p:tav tm="0">
                                          <p:val>
                                            <p:fltVal val="0"/>
                                          </p:val>
                                        </p:tav>
                                        <p:tav tm="100000">
                                          <p:val>
                                            <p:strVal val="#ppt_w"/>
                                          </p:val>
                                        </p:tav>
                                      </p:tavLst>
                                    </p:anim>
                                    <p:anim calcmode="lin" valueType="num">
                                      <p:cBhvr>
                                        <p:cTn id="56" dur="500" fill="hold"/>
                                        <p:tgtEl>
                                          <p:spTgt spid="74">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74">
                                            <p:txEl>
                                              <p:pRg st="1" end="1"/>
                                            </p:txEl>
                                          </p:spTgt>
                                        </p:tgtEl>
                                        <p:attrNameLst>
                                          <p:attrName>style.visibility</p:attrName>
                                        </p:attrNameLst>
                                      </p:cBhvr>
                                      <p:to>
                                        <p:strVal val="visible"/>
                                      </p:to>
                                    </p:set>
                                    <p:anim calcmode="lin" valueType="num">
                                      <p:cBhvr>
                                        <p:cTn id="61" dur="500" fill="hold"/>
                                        <p:tgtEl>
                                          <p:spTgt spid="74">
                                            <p:txEl>
                                              <p:pRg st="1" end="1"/>
                                            </p:txEl>
                                          </p:spTgt>
                                        </p:tgtEl>
                                        <p:attrNameLst>
                                          <p:attrName>ppt_w</p:attrName>
                                        </p:attrNameLst>
                                      </p:cBhvr>
                                      <p:tavLst>
                                        <p:tav tm="0">
                                          <p:val>
                                            <p:fltVal val="0"/>
                                          </p:val>
                                        </p:tav>
                                        <p:tav tm="100000">
                                          <p:val>
                                            <p:strVal val="#ppt_w"/>
                                          </p:val>
                                        </p:tav>
                                      </p:tavLst>
                                    </p:anim>
                                    <p:anim calcmode="lin" valueType="num">
                                      <p:cBhvr>
                                        <p:cTn id="62" dur="500" fill="hold"/>
                                        <p:tgtEl>
                                          <p:spTgt spid="74">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74">
                                            <p:txEl>
                                              <p:pRg st="2" end="2"/>
                                            </p:txEl>
                                          </p:spTgt>
                                        </p:tgtEl>
                                        <p:attrNameLst>
                                          <p:attrName>style.visibility</p:attrName>
                                        </p:attrNameLst>
                                      </p:cBhvr>
                                      <p:to>
                                        <p:strVal val="visible"/>
                                      </p:to>
                                    </p:set>
                                    <p:anim calcmode="lin" valueType="num">
                                      <p:cBhvr>
                                        <p:cTn id="67" dur="500" fill="hold"/>
                                        <p:tgtEl>
                                          <p:spTgt spid="74">
                                            <p:txEl>
                                              <p:pRg st="2" end="2"/>
                                            </p:txEl>
                                          </p:spTgt>
                                        </p:tgtEl>
                                        <p:attrNameLst>
                                          <p:attrName>ppt_w</p:attrName>
                                        </p:attrNameLst>
                                      </p:cBhvr>
                                      <p:tavLst>
                                        <p:tav tm="0">
                                          <p:val>
                                            <p:fltVal val="0"/>
                                          </p:val>
                                        </p:tav>
                                        <p:tav tm="100000">
                                          <p:val>
                                            <p:strVal val="#ppt_w"/>
                                          </p:val>
                                        </p:tav>
                                      </p:tavLst>
                                    </p:anim>
                                    <p:anim calcmode="lin" valueType="num">
                                      <p:cBhvr>
                                        <p:cTn id="68" dur="500" fill="hold"/>
                                        <p:tgtEl>
                                          <p:spTgt spid="74">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0" presetClass="emph" presetSubtype="0" fill="hold" nodeType="clickEffect">
                                  <p:stCondLst>
                                    <p:cond delay="0"/>
                                  </p:stCondLst>
                                  <p:childTnLst>
                                    <p:set>
                                      <p:cBhvr override="childStyle">
                                        <p:cTn id="72" dur="500" autoRev="1" fill="hold"/>
                                        <p:tgtEl>
                                          <p:spTgt spid="74">
                                            <p:txEl>
                                              <p:pRg st="0" end="0"/>
                                            </p:txEl>
                                          </p:spTgt>
                                        </p:tgtEl>
                                        <p:attrNameLst>
                                          <p:attrName>style.color</p:attrName>
                                        </p:attrNameLst>
                                      </p:cBhvr>
                                      <p:to>
                                        <p:clrVal>
                                          <a:schemeClr val="accent2"/>
                                        </p:clrVal>
                                      </p:to>
                                    </p:set>
                                    <p:set>
                                      <p:cBhvr>
                                        <p:cTn id="73" dur="500" autoRev="1" fill="hold"/>
                                        <p:tgtEl>
                                          <p:spTgt spid="74">
                                            <p:txEl>
                                              <p:pRg st="0" end="0"/>
                                            </p:txEl>
                                          </p:spTgt>
                                        </p:tgtEl>
                                        <p:attrNameLst>
                                          <p:attrName>fillcolor</p:attrName>
                                        </p:attrNameLst>
                                      </p:cBhvr>
                                      <p:to>
                                        <p:clrVal>
                                          <a:schemeClr val="accent2"/>
                                        </p:clrVal>
                                      </p:to>
                                    </p:set>
                                    <p:set>
                                      <p:cBhvr>
                                        <p:cTn id="74" dur="500" autoRev="1" fill="hold"/>
                                        <p:tgtEl>
                                          <p:spTgt spid="74">
                                            <p:txEl>
                                              <p:pRg st="0" end="0"/>
                                            </p:txEl>
                                          </p:spTgt>
                                        </p:tgtEl>
                                        <p:attrNameLst>
                                          <p:attrName>fill.type</p:attrName>
                                        </p:attrNameLst>
                                      </p:cBhvr>
                                      <p:to>
                                        <p:strVal val="solid"/>
                                      </p:to>
                                    </p:set>
                                  </p:childTnLst>
                                </p:cTn>
                              </p:par>
                            </p:childTnLst>
                          </p:cTn>
                        </p:par>
                        <p:par>
                          <p:cTn id="75" fill="hold">
                            <p:stCondLst>
                              <p:cond delay="1000"/>
                            </p:stCondLst>
                            <p:childTnLst>
                              <p:par>
                                <p:cTn id="76" presetID="9" presetClass="entr" presetSubtype="0" fill="hold" nodeType="afterEffect">
                                  <p:stCondLst>
                                    <p:cond delay="0"/>
                                  </p:stCondLst>
                                  <p:childTnLst>
                                    <p:set>
                                      <p:cBhvr>
                                        <p:cTn id="77" dur="1" fill="hold">
                                          <p:stCondLst>
                                            <p:cond delay="0"/>
                                          </p:stCondLst>
                                        </p:cTn>
                                        <p:tgtEl>
                                          <p:spTgt spid="75"/>
                                        </p:tgtEl>
                                        <p:attrNameLst>
                                          <p:attrName>style.visibility</p:attrName>
                                        </p:attrNameLst>
                                      </p:cBhvr>
                                      <p:to>
                                        <p:strVal val="visible"/>
                                      </p:to>
                                    </p:set>
                                    <p:animEffect transition="in" filter="dissolve">
                                      <p:cBhvr>
                                        <p:cTn id="78"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9" grpId="0"/>
      <p:bldP spid="73" grpId="0" animBg="1"/>
      <p:bldP spid="73"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AutoShape 67">
            <a:extLst>
              <a:ext uri="{FF2B5EF4-FFF2-40B4-BE49-F238E27FC236}">
                <a16:creationId xmlns:a16="http://schemas.microsoft.com/office/drawing/2014/main" id="{25501F46-E3BD-4254-B283-CE1AF3021276}"/>
              </a:ext>
            </a:extLst>
          </p:cNvPr>
          <p:cNvSpPr>
            <a:spLocks noChangeArrowheads="1"/>
          </p:cNvSpPr>
          <p:nvPr/>
        </p:nvSpPr>
        <p:spPr bwMode="auto">
          <a:xfrm>
            <a:off x="1992314" y="981076"/>
            <a:ext cx="8675687" cy="3960813"/>
          </a:xfrm>
          <a:prstGeom prst="downArrowCallout">
            <a:avLst>
              <a:gd name="adj1" fmla="val 23526"/>
              <a:gd name="adj2" fmla="val 29601"/>
              <a:gd name="adj3" fmla="val 9310"/>
              <a:gd name="adj4" fmla="val 86412"/>
            </a:avLst>
          </a:prstGeom>
          <a:gradFill rotWithShape="1">
            <a:gsLst>
              <a:gs pos="0">
                <a:srgbClr val="FFFFFF"/>
              </a:gs>
              <a:gs pos="100000">
                <a:srgbClr val="CC0000"/>
              </a:gs>
            </a:gsLst>
            <a:lin ang="5400000" scaled="1"/>
          </a:gradFill>
          <a:ln w="19050">
            <a:solidFill>
              <a:srgbClr val="CC0000"/>
            </a:solidFill>
            <a:miter lim="800000"/>
            <a:headEnd/>
            <a:tailEnd/>
          </a:ln>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sp>
        <p:nvSpPr>
          <p:cNvPr id="66" name="圆角矩形 8">
            <a:extLst>
              <a:ext uri="{FF2B5EF4-FFF2-40B4-BE49-F238E27FC236}">
                <a16:creationId xmlns:a16="http://schemas.microsoft.com/office/drawing/2014/main" id="{835E739F-14E0-4A41-AA59-9524C03DE301}"/>
              </a:ext>
            </a:extLst>
          </p:cNvPr>
          <p:cNvSpPr>
            <a:spLocks noChangeArrowheads="1"/>
          </p:cNvSpPr>
          <p:nvPr/>
        </p:nvSpPr>
        <p:spPr bwMode="auto">
          <a:xfrm>
            <a:off x="4295578" y="2276477"/>
            <a:ext cx="2376487" cy="887413"/>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sp>
        <p:nvSpPr>
          <p:cNvPr id="539650" name="Rectangle 2">
            <a:extLst>
              <a:ext uri="{FF2B5EF4-FFF2-40B4-BE49-F238E27FC236}">
                <a16:creationId xmlns:a16="http://schemas.microsoft.com/office/drawing/2014/main" id="{2E16BD6E-E41C-45B8-8FA5-F9B073FCD2E7}"/>
              </a:ext>
            </a:extLst>
          </p:cNvPr>
          <p:cNvSpPr>
            <a:spLocks noGrp="1" noChangeArrowheads="1"/>
          </p:cNvSpPr>
          <p:nvPr>
            <p:ph type="title"/>
          </p:nvPr>
        </p:nvSpPr>
        <p:spPr/>
        <p:txBody>
          <a:bodyPr/>
          <a:lstStyle/>
          <a:p>
            <a:pPr>
              <a:defRPr/>
            </a:pPr>
            <a:r>
              <a:rPr lang="en-US" altLang="zh-CN" dirty="0">
                <a:latin typeface="Arial" pitchFamily="34" charset="0"/>
              </a:rPr>
              <a:t>8.1 </a:t>
            </a:r>
            <a:r>
              <a:rPr lang="zh-CN" altLang="en-US" dirty="0">
                <a:latin typeface="Arial" pitchFamily="34" charset="0"/>
              </a:rPr>
              <a:t>绘制模式</a:t>
            </a:r>
          </a:p>
        </p:txBody>
      </p:sp>
      <p:grpSp>
        <p:nvGrpSpPr>
          <p:cNvPr id="54" name="Group 62">
            <a:extLst>
              <a:ext uri="{FF2B5EF4-FFF2-40B4-BE49-F238E27FC236}">
                <a16:creationId xmlns:a16="http://schemas.microsoft.com/office/drawing/2014/main" id="{9D6BF041-913F-446B-ABF5-02A5FB31EDA0}"/>
              </a:ext>
            </a:extLst>
          </p:cNvPr>
          <p:cNvGrpSpPr>
            <a:grpSpLocks/>
          </p:cNvGrpSpPr>
          <p:nvPr/>
        </p:nvGrpSpPr>
        <p:grpSpPr bwMode="auto">
          <a:xfrm>
            <a:off x="2640013" y="2938465"/>
            <a:ext cx="5988050" cy="1062038"/>
            <a:chOff x="870" y="3033"/>
            <a:chExt cx="3772" cy="669"/>
          </a:xfrm>
        </p:grpSpPr>
        <p:sp>
          <p:nvSpPr>
            <p:cNvPr id="55" name="圆角矩形 8">
              <a:extLst>
                <a:ext uri="{FF2B5EF4-FFF2-40B4-BE49-F238E27FC236}">
                  <a16:creationId xmlns:a16="http://schemas.microsoft.com/office/drawing/2014/main" id="{0C90CF87-A8ED-4AE9-9D92-FE723E462CA6}"/>
                </a:ext>
              </a:extLst>
            </p:cNvPr>
            <p:cNvSpPr/>
            <p:nvPr/>
          </p:nvSpPr>
          <p:spPr bwMode="auto">
            <a:xfrm>
              <a:off x="870" y="3143"/>
              <a:ext cx="669" cy="559"/>
            </a:xfrm>
            <a:prstGeom prst="roundRect">
              <a:avLst/>
            </a:prstGeom>
            <a:solidFill>
              <a:srgbClr val="FFFFFF"/>
            </a:solidFill>
            <a:ln w="25400" cap="flat" cmpd="sng" algn="ctr">
              <a:solidFill>
                <a:srgbClr val="5B0DAA"/>
              </a:solidFill>
              <a:prstDash val="solid"/>
              <a:headEnd type="none" w="med" len="med"/>
              <a:tailEnd type="none" w="med" len="med"/>
            </a:ln>
            <a:effectLst/>
          </p:spPr>
          <p:txBody>
            <a:bodyPr anchor="ctr" anchorCtr="1"/>
            <a:lstStyle/>
            <a:p>
              <a:pPr eaLnBrk="1" fontAlgn="auto" hangingPunct="1">
                <a:spcBef>
                  <a:spcPct val="20000"/>
                </a:spcBef>
                <a:spcAft>
                  <a:spcPts val="0"/>
                </a:spcAft>
                <a:buClr>
                  <a:srgbClr val="FFFFFF"/>
                </a:buClr>
                <a:defRPr/>
              </a:pPr>
              <a:r>
                <a:rPr lang="zh-CN" altLang="en-US" sz="2000" b="1" kern="0">
                  <a:solidFill>
                    <a:srgbClr val="000000"/>
                  </a:solidFill>
                  <a:latin typeface="Arial"/>
                  <a:ea typeface="宋体" pitchFamily="2" charset="-122"/>
                </a:rPr>
                <a:t> 图元</a:t>
              </a:r>
            </a:p>
          </p:txBody>
        </p:sp>
        <p:sp>
          <p:nvSpPr>
            <p:cNvPr id="56" name="右箭头 13">
              <a:extLst>
                <a:ext uri="{FF2B5EF4-FFF2-40B4-BE49-F238E27FC236}">
                  <a16:creationId xmlns:a16="http://schemas.microsoft.com/office/drawing/2014/main" id="{F2155395-B67F-431C-93B5-84B146D61A1C}"/>
                </a:ext>
              </a:extLst>
            </p:cNvPr>
            <p:cNvSpPr/>
            <p:nvPr/>
          </p:nvSpPr>
          <p:spPr bwMode="auto">
            <a:xfrm rot="18916290">
              <a:off x="1453" y="3098"/>
              <a:ext cx="554" cy="210"/>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58" name="圆角矩形 26">
              <a:extLst>
                <a:ext uri="{FF2B5EF4-FFF2-40B4-BE49-F238E27FC236}">
                  <a16:creationId xmlns:a16="http://schemas.microsoft.com/office/drawing/2014/main" id="{FFC18A41-FAF3-4D5F-958D-834724CB83FF}"/>
                </a:ext>
              </a:extLst>
            </p:cNvPr>
            <p:cNvSpPr>
              <a:spLocks noChangeArrowheads="1"/>
            </p:cNvSpPr>
            <p:nvPr/>
          </p:nvSpPr>
          <p:spPr bwMode="auto">
            <a:xfrm>
              <a:off x="3696" y="3116"/>
              <a:ext cx="946" cy="559"/>
            </a:xfrm>
            <a:prstGeom prst="roundRect">
              <a:avLst>
                <a:gd name="adj" fmla="val 16667"/>
              </a:avLst>
            </a:prstGeom>
            <a:solidFill>
              <a:srgbClr val="FFFFFF"/>
            </a:solidFill>
            <a:ln w="25400">
              <a:solidFill>
                <a:srgbClr val="00206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选择缓存</a:t>
              </a:r>
            </a:p>
          </p:txBody>
        </p:sp>
        <p:sp>
          <p:nvSpPr>
            <p:cNvPr id="57" name="右箭头 25">
              <a:extLst>
                <a:ext uri="{FF2B5EF4-FFF2-40B4-BE49-F238E27FC236}">
                  <a16:creationId xmlns:a16="http://schemas.microsoft.com/office/drawing/2014/main" id="{1F122660-DD86-4B18-ACA4-53ECBB121CC2}"/>
                </a:ext>
              </a:extLst>
            </p:cNvPr>
            <p:cNvSpPr/>
            <p:nvPr/>
          </p:nvSpPr>
          <p:spPr bwMode="auto">
            <a:xfrm rot="2223213">
              <a:off x="3362" y="3033"/>
              <a:ext cx="400" cy="210"/>
            </a:xfrm>
            <a:prstGeom prst="rightArrow">
              <a:avLst>
                <a:gd name="adj1" fmla="val 56089"/>
                <a:gd name="adj2" fmla="val 50000"/>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grpSp>
      <p:sp>
        <p:nvSpPr>
          <p:cNvPr id="61" name="圆角矩形 8">
            <a:extLst>
              <a:ext uri="{FF2B5EF4-FFF2-40B4-BE49-F238E27FC236}">
                <a16:creationId xmlns:a16="http://schemas.microsoft.com/office/drawing/2014/main" id="{94DE50F7-F55D-4EE1-9535-CDD1377CD092}"/>
              </a:ext>
            </a:extLst>
          </p:cNvPr>
          <p:cNvSpPr/>
          <p:nvPr/>
        </p:nvSpPr>
        <p:spPr bwMode="auto">
          <a:xfrm>
            <a:off x="2640014" y="1462090"/>
            <a:ext cx="1062037" cy="887413"/>
          </a:xfrm>
          <a:prstGeom prst="roundRect">
            <a:avLst/>
          </a:prstGeom>
          <a:solidFill>
            <a:srgbClr val="FFFFFF"/>
          </a:solidFill>
          <a:ln w="25400" cap="flat" cmpd="sng" algn="ctr">
            <a:solidFill>
              <a:srgbClr val="5B0DAA"/>
            </a:solidFill>
            <a:prstDash val="solid"/>
            <a:headEnd type="none" w="med" len="med"/>
            <a:tailEnd type="none" w="med" len="med"/>
          </a:ln>
          <a:effectLst/>
        </p:spPr>
        <p:txBody>
          <a:bodyPr anchor="ctr" anchorCtr="1"/>
          <a:lstStyle/>
          <a:p>
            <a:pPr eaLnBrk="1" fontAlgn="auto" hangingPunct="1">
              <a:spcBef>
                <a:spcPct val="20000"/>
              </a:spcBef>
              <a:spcAft>
                <a:spcPts val="0"/>
              </a:spcAft>
              <a:buClr>
                <a:srgbClr val="FFFFFF"/>
              </a:buClr>
              <a:defRPr/>
            </a:pPr>
            <a:r>
              <a:rPr lang="zh-CN" altLang="en-US" sz="2000" b="1" kern="0">
                <a:solidFill>
                  <a:srgbClr val="000000"/>
                </a:solidFill>
                <a:latin typeface="Arial"/>
                <a:ea typeface="宋体" pitchFamily="2" charset="-122"/>
              </a:rPr>
              <a:t> 图元</a:t>
            </a:r>
          </a:p>
        </p:txBody>
      </p:sp>
      <p:sp>
        <p:nvSpPr>
          <p:cNvPr id="62" name="右箭头 13">
            <a:extLst>
              <a:ext uri="{FF2B5EF4-FFF2-40B4-BE49-F238E27FC236}">
                <a16:creationId xmlns:a16="http://schemas.microsoft.com/office/drawing/2014/main" id="{489017AD-2B8B-44C6-ABBA-08DAFBA7AFC3}"/>
              </a:ext>
            </a:extLst>
          </p:cNvPr>
          <p:cNvSpPr/>
          <p:nvPr/>
        </p:nvSpPr>
        <p:spPr bwMode="auto">
          <a:xfrm rot="2097809">
            <a:off x="3599470" y="2186642"/>
            <a:ext cx="795337" cy="333375"/>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63" name="右箭头 25">
            <a:extLst>
              <a:ext uri="{FF2B5EF4-FFF2-40B4-BE49-F238E27FC236}">
                <a16:creationId xmlns:a16="http://schemas.microsoft.com/office/drawing/2014/main" id="{B9EAB908-E7CA-416F-AD95-A77C4FDCF269}"/>
              </a:ext>
            </a:extLst>
          </p:cNvPr>
          <p:cNvSpPr/>
          <p:nvPr/>
        </p:nvSpPr>
        <p:spPr bwMode="auto">
          <a:xfrm rot="19333780">
            <a:off x="6656296" y="2361305"/>
            <a:ext cx="630802" cy="333375"/>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64" name="圆角矩形 26">
            <a:extLst>
              <a:ext uri="{FF2B5EF4-FFF2-40B4-BE49-F238E27FC236}">
                <a16:creationId xmlns:a16="http://schemas.microsoft.com/office/drawing/2014/main" id="{262033EB-B46C-4078-AFFA-1F511AE64559}"/>
              </a:ext>
            </a:extLst>
          </p:cNvPr>
          <p:cNvSpPr>
            <a:spLocks noChangeArrowheads="1"/>
          </p:cNvSpPr>
          <p:nvPr/>
        </p:nvSpPr>
        <p:spPr bwMode="auto">
          <a:xfrm>
            <a:off x="7123114" y="1462090"/>
            <a:ext cx="1501775" cy="887413"/>
          </a:xfrm>
          <a:prstGeom prst="roundRect">
            <a:avLst>
              <a:gd name="adj" fmla="val 16667"/>
            </a:avLst>
          </a:prstGeom>
          <a:solidFill>
            <a:srgbClr val="FFFFFF"/>
          </a:solidFill>
          <a:ln w="25400">
            <a:solidFill>
              <a:srgbClr val="00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帧缓存</a:t>
            </a:r>
          </a:p>
        </p:txBody>
      </p:sp>
      <p:sp>
        <p:nvSpPr>
          <p:cNvPr id="65" name="右箭头 28">
            <a:extLst>
              <a:ext uri="{FF2B5EF4-FFF2-40B4-BE49-F238E27FC236}">
                <a16:creationId xmlns:a16="http://schemas.microsoft.com/office/drawing/2014/main" id="{073D1F78-1E43-4161-B9FF-422ACB0DE456}"/>
              </a:ext>
            </a:extLst>
          </p:cNvPr>
          <p:cNvSpPr/>
          <p:nvPr/>
        </p:nvSpPr>
        <p:spPr bwMode="auto">
          <a:xfrm>
            <a:off x="8624888" y="1684340"/>
            <a:ext cx="501650" cy="333375"/>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pic>
        <p:nvPicPr>
          <p:cNvPr id="67" name="Picture 58" descr="显示器">
            <a:extLst>
              <a:ext uri="{FF2B5EF4-FFF2-40B4-BE49-F238E27FC236}">
                <a16:creationId xmlns:a16="http://schemas.microsoft.com/office/drawing/2014/main" id="{DFC9DE94-D5B8-4D51-8841-E655CEF84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3214" y="1412877"/>
            <a:ext cx="10429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Box 30">
            <a:extLst>
              <a:ext uri="{FF2B5EF4-FFF2-40B4-BE49-F238E27FC236}">
                <a16:creationId xmlns:a16="http://schemas.microsoft.com/office/drawing/2014/main" id="{768C1CCE-E590-4179-A2FF-D202C77E9A22}"/>
              </a:ext>
            </a:extLst>
          </p:cNvPr>
          <p:cNvSpPr txBox="1">
            <a:spLocks noChangeArrowheads="1"/>
          </p:cNvSpPr>
          <p:nvPr/>
        </p:nvSpPr>
        <p:spPr bwMode="auto">
          <a:xfrm>
            <a:off x="1992314" y="981076"/>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rgbClr val="FFFFFF"/>
              </a:buClr>
            </a:pPr>
            <a:r>
              <a:rPr lang="en-US" altLang="zh-CN" sz="2000" b="1">
                <a:solidFill>
                  <a:srgbClr val="000000"/>
                </a:solidFill>
                <a:ea typeface="宋体" panose="02010600030101010101" pitchFamily="2" charset="-122"/>
              </a:rPr>
              <a:t>GL_RENDER</a:t>
            </a:r>
          </a:p>
        </p:txBody>
      </p:sp>
      <p:sp>
        <p:nvSpPr>
          <p:cNvPr id="69" name="TextBox 30">
            <a:extLst>
              <a:ext uri="{FF2B5EF4-FFF2-40B4-BE49-F238E27FC236}">
                <a16:creationId xmlns:a16="http://schemas.microsoft.com/office/drawing/2014/main" id="{802093B2-E804-4C42-BC64-94D9D631A54E}"/>
              </a:ext>
            </a:extLst>
          </p:cNvPr>
          <p:cNvSpPr txBox="1">
            <a:spLocks noChangeArrowheads="1"/>
          </p:cNvSpPr>
          <p:nvPr/>
        </p:nvSpPr>
        <p:spPr bwMode="auto">
          <a:xfrm>
            <a:off x="1992314" y="2636839"/>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rgbClr val="FFFFFF"/>
              </a:buClr>
            </a:pPr>
            <a:r>
              <a:rPr lang="en-US" altLang="zh-CN" sz="2000" b="1">
                <a:solidFill>
                  <a:srgbClr val="000000"/>
                </a:solidFill>
                <a:ea typeface="宋体" panose="02010600030101010101" pitchFamily="2" charset="-122"/>
              </a:rPr>
              <a:t>GL_SELECT</a:t>
            </a:r>
          </a:p>
        </p:txBody>
      </p:sp>
      <p:grpSp>
        <p:nvGrpSpPr>
          <p:cNvPr id="70" name="Group 65">
            <a:extLst>
              <a:ext uri="{FF2B5EF4-FFF2-40B4-BE49-F238E27FC236}">
                <a16:creationId xmlns:a16="http://schemas.microsoft.com/office/drawing/2014/main" id="{63E65A3E-BC21-4998-8407-76C983964EAF}"/>
              </a:ext>
            </a:extLst>
          </p:cNvPr>
          <p:cNvGrpSpPr>
            <a:grpSpLocks/>
          </p:cNvGrpSpPr>
          <p:nvPr/>
        </p:nvGrpSpPr>
        <p:grpSpPr bwMode="auto">
          <a:xfrm>
            <a:off x="8616951" y="3024189"/>
            <a:ext cx="1692275" cy="981075"/>
            <a:chOff x="4558" y="3084"/>
            <a:chExt cx="1066" cy="618"/>
          </a:xfrm>
        </p:grpSpPr>
        <p:pic>
          <p:nvPicPr>
            <p:cNvPr id="71" name="Picture 63" descr="显示器">
              <a:extLst>
                <a:ext uri="{FF2B5EF4-FFF2-40B4-BE49-F238E27FC236}">
                  <a16:creationId xmlns:a16="http://schemas.microsoft.com/office/drawing/2014/main" id="{D80C8038-F184-48DE-B7C2-B7E99BC58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7" y="3084"/>
              <a:ext cx="657" cy="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右箭头 13">
              <a:extLst>
                <a:ext uri="{FF2B5EF4-FFF2-40B4-BE49-F238E27FC236}">
                  <a16:creationId xmlns:a16="http://schemas.microsoft.com/office/drawing/2014/main" id="{A15D4324-21AC-493E-98FC-27A34F38DEB6}"/>
                </a:ext>
              </a:extLst>
            </p:cNvPr>
            <p:cNvSpPr>
              <a:spLocks noChangeArrowheads="1"/>
            </p:cNvSpPr>
            <p:nvPr/>
          </p:nvSpPr>
          <p:spPr bwMode="auto">
            <a:xfrm>
              <a:off x="4558" y="3294"/>
              <a:ext cx="363" cy="146"/>
            </a:xfrm>
            <a:prstGeom prst="rightArrow">
              <a:avLst>
                <a:gd name="adj1" fmla="val 41667"/>
                <a:gd name="adj2" fmla="val 104793"/>
              </a:avLst>
            </a:prstGeom>
            <a:solidFill>
              <a:srgbClr val="000000"/>
            </a:solidFill>
            <a:ln w="9525" algn="ctr">
              <a:solidFill>
                <a:srgbClr val="5B0DAA"/>
              </a:solidFill>
              <a:round/>
              <a:headEnd/>
              <a:tailEnd/>
            </a:ln>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grpSp>
      <p:sp>
        <p:nvSpPr>
          <p:cNvPr id="73" name="Text Box 66">
            <a:extLst>
              <a:ext uri="{FF2B5EF4-FFF2-40B4-BE49-F238E27FC236}">
                <a16:creationId xmlns:a16="http://schemas.microsoft.com/office/drawing/2014/main" id="{6F5FA977-AFDE-4671-B6AC-85E83A2EC1A5}"/>
              </a:ext>
            </a:extLst>
          </p:cNvPr>
          <p:cNvSpPr txBox="1">
            <a:spLocks noChangeArrowheads="1"/>
          </p:cNvSpPr>
          <p:nvPr/>
        </p:nvSpPr>
        <p:spPr bwMode="auto">
          <a:xfrm>
            <a:off x="8401050" y="2493964"/>
            <a:ext cx="1949450" cy="1838325"/>
          </a:xfrm>
          <a:prstGeom prst="rect">
            <a:avLst/>
          </a:prstGeom>
          <a:noFill/>
          <a:ln w="9525">
            <a:solidFill>
              <a:srgbClr val="CC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ct val="50000"/>
              </a:spcBef>
              <a:spcAft>
                <a:spcPts val="0"/>
              </a:spcAft>
              <a:defRPr/>
            </a:pPr>
            <a:r>
              <a:rPr lang="el-GR" altLang="zh-CN" sz="12000" kern="0">
                <a:solidFill>
                  <a:srgbClr val="CC0000"/>
                </a:solidFill>
                <a:cs typeface="Arial" panose="020B0604020202020204" pitchFamily="34" charset="0"/>
                <a:sym typeface="Wingdings 2" panose="05020102010507070707" pitchFamily="18" charset="2"/>
              </a:rPr>
              <a:t></a:t>
            </a:r>
          </a:p>
        </p:txBody>
      </p:sp>
      <p:sp>
        <p:nvSpPr>
          <p:cNvPr id="74" name="Rectangle 68">
            <a:extLst>
              <a:ext uri="{FF2B5EF4-FFF2-40B4-BE49-F238E27FC236}">
                <a16:creationId xmlns:a16="http://schemas.microsoft.com/office/drawing/2014/main" id="{CC9855B2-8F70-4CED-8095-B20A39F6E1D1}"/>
              </a:ext>
            </a:extLst>
          </p:cNvPr>
          <p:cNvSpPr>
            <a:spLocks noChangeArrowheads="1"/>
          </p:cNvSpPr>
          <p:nvPr/>
        </p:nvSpPr>
        <p:spPr bwMode="auto">
          <a:xfrm>
            <a:off x="3143672" y="5301208"/>
            <a:ext cx="6516688" cy="400110"/>
          </a:xfrm>
          <a:prstGeom prst="rect">
            <a:avLst/>
          </a:prstGeom>
          <a:noFill/>
          <a:ln w="9525">
            <a:noFill/>
            <a:miter lim="800000"/>
            <a:headEnd/>
            <a:tailEnd/>
          </a:ln>
        </p:spPr>
        <p:txBody>
          <a:bodyPr>
            <a:spAutoFit/>
          </a:bodyPr>
          <a:lstStyle/>
          <a:p>
            <a:pPr lvl="1" indent="-457200" algn="ctr">
              <a:spcBef>
                <a:spcPct val="20000"/>
              </a:spcBef>
              <a:buClr>
                <a:srgbClr val="5B0DAA"/>
              </a:buClr>
              <a:buSzPct val="125000"/>
              <a:buFont typeface="+mj-ea"/>
              <a:buAutoNum type="circleNumDbPlain" startAt="4"/>
              <a:defRPr/>
            </a:pPr>
            <a:r>
              <a:rPr lang="en-US" altLang="zh-CN" sz="2000" b="1" dirty="0">
                <a:solidFill>
                  <a:srgbClr val="C00000"/>
                </a:solidFill>
                <a:effectLst>
                  <a:outerShdw blurRad="38100" dist="38100" dir="2700000" algn="tl">
                    <a:srgbClr val="C0C0C0"/>
                  </a:outerShdw>
                </a:effectLst>
                <a:ea typeface="黑体" pitchFamily="49" charset="-122"/>
              </a:rPr>
              <a:t>OpenGL</a:t>
            </a:r>
            <a:r>
              <a:rPr lang="zh-CN" altLang="en-US" sz="2000" b="1" dirty="0">
                <a:solidFill>
                  <a:srgbClr val="C00000"/>
                </a:solidFill>
                <a:effectLst>
                  <a:outerShdw blurRad="38100" dist="38100" dir="2700000" algn="tl">
                    <a:srgbClr val="C0C0C0"/>
                  </a:outerShdw>
                </a:effectLst>
                <a:ea typeface="黑体" pitchFamily="49" charset="-122"/>
              </a:rPr>
              <a:t>流水线同时只能处于一种绘制模式</a:t>
            </a:r>
          </a:p>
        </p:txBody>
      </p:sp>
    </p:spTree>
    <p:extLst>
      <p:ext uri="{BB962C8B-B14F-4D97-AF65-F5344CB8AC3E}">
        <p14:creationId xmlns:p14="http://schemas.microsoft.com/office/powerpoint/2010/main" val="140037575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anim calcmode="lin" valueType="num">
                                      <p:cBhvr additive="base">
                                        <p:cTn id="7" dur="500" fill="hold"/>
                                        <p:tgtEl>
                                          <p:spTgt spid="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wipe(left)">
                                      <p:cBhvr>
                                        <p:cTn id="19" dur="2000"/>
                                        <p:tgtEl>
                                          <p:spTgt spid="5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0"/>
                                        </p:tgtEl>
                                        <p:attrNameLst>
                                          <p:attrName>style.visibility</p:attrName>
                                        </p:attrNameLst>
                                      </p:cBhvr>
                                      <p:to>
                                        <p:strVal val="visible"/>
                                      </p:to>
                                    </p:set>
                                    <p:anim calcmode="lin" valueType="num">
                                      <p:cBhvr additive="base">
                                        <p:cTn id="24" dur="500" fill="hold"/>
                                        <p:tgtEl>
                                          <p:spTgt spid="70"/>
                                        </p:tgtEl>
                                        <p:attrNameLst>
                                          <p:attrName>ppt_x</p:attrName>
                                        </p:attrNameLst>
                                      </p:cBhvr>
                                      <p:tavLst>
                                        <p:tav tm="0">
                                          <p:val>
                                            <p:strVal val="#ppt_x"/>
                                          </p:val>
                                        </p:tav>
                                        <p:tav tm="100000">
                                          <p:val>
                                            <p:strVal val="#ppt_x"/>
                                          </p:val>
                                        </p:tav>
                                      </p:tavLst>
                                    </p:anim>
                                    <p:anim calcmode="lin" valueType="num">
                                      <p:cBhvr additive="base">
                                        <p:cTn id="25"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box(in)">
                                      <p:cBhvr>
                                        <p:cTn id="30" dur="500"/>
                                        <p:tgtEl>
                                          <p:spTgt spid="7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3"/>
                                        </p:tgtEl>
                                        <p:attrNameLst>
                                          <p:attrName>style.visibility</p:attrName>
                                        </p:attrNameLst>
                                      </p:cBhvr>
                                      <p:to>
                                        <p:strVal val="hidden"/>
                                      </p:to>
                                    </p:set>
                                  </p:childTnLst>
                                </p:cTn>
                              </p:par>
                              <p:par>
                                <p:cTn id="35" presetID="15" presetClass="exit" presetSubtype="0" fill="hold" nodeType="withEffect">
                                  <p:stCondLst>
                                    <p:cond delay="0"/>
                                  </p:stCondLst>
                                  <p:childTnLst>
                                    <p:anim calcmode="lin" valueType="num">
                                      <p:cBhvr>
                                        <p:cTn id="36" dur="1000"/>
                                        <p:tgtEl>
                                          <p:spTgt spid="70"/>
                                        </p:tgtEl>
                                        <p:attrNameLst>
                                          <p:attrName>ppt_w</p:attrName>
                                        </p:attrNameLst>
                                      </p:cBhvr>
                                      <p:tavLst>
                                        <p:tav tm="0">
                                          <p:val>
                                            <p:strVal val="ppt_w"/>
                                          </p:val>
                                        </p:tav>
                                        <p:tav tm="100000">
                                          <p:val>
                                            <p:fltVal val="0"/>
                                          </p:val>
                                        </p:tav>
                                      </p:tavLst>
                                    </p:anim>
                                    <p:anim calcmode="lin" valueType="num">
                                      <p:cBhvr>
                                        <p:cTn id="37" dur="1000"/>
                                        <p:tgtEl>
                                          <p:spTgt spid="70"/>
                                        </p:tgtEl>
                                        <p:attrNameLst>
                                          <p:attrName>ppt_h</p:attrName>
                                        </p:attrNameLst>
                                      </p:cBhvr>
                                      <p:tavLst>
                                        <p:tav tm="0">
                                          <p:val>
                                            <p:strVal val="ppt_h"/>
                                          </p:val>
                                        </p:tav>
                                        <p:tav tm="100000">
                                          <p:val>
                                            <p:fltVal val="0"/>
                                          </p:val>
                                        </p:tav>
                                      </p:tavLst>
                                    </p:anim>
                                    <p:anim calcmode="lin" valueType="num">
                                      <p:cBhvr>
                                        <p:cTn id="38" dur="1000"/>
                                        <p:tgtEl>
                                          <p:spTgt spid="70"/>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39" dur="1000"/>
                                        <p:tgtEl>
                                          <p:spTgt spid="70"/>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0" dur="1" fill="hold">
                                          <p:stCondLst>
                                            <p:cond delay="999"/>
                                          </p:stCondLst>
                                        </p:cTn>
                                        <p:tgtEl>
                                          <p:spTgt spid="7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wipe(up)">
                                      <p:cBhvr>
                                        <p:cTn id="45" dur="500"/>
                                        <p:tgtEl>
                                          <p:spTgt spid="53"/>
                                        </p:tgtEl>
                                      </p:cBhvr>
                                    </p:animEffect>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74">
                                            <p:txEl>
                                              <p:pRg st="0" end="0"/>
                                            </p:txEl>
                                          </p:spTgt>
                                        </p:tgtEl>
                                        <p:attrNameLst>
                                          <p:attrName>style.visibility</p:attrName>
                                        </p:attrNameLst>
                                      </p:cBhvr>
                                      <p:to>
                                        <p:strVal val="visible"/>
                                      </p:to>
                                    </p:set>
                                    <p:anim calcmode="lin" valueType="num">
                                      <p:cBhvr>
                                        <p:cTn id="50" dur="500" fill="hold"/>
                                        <p:tgtEl>
                                          <p:spTgt spid="74">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74">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9" grpId="0"/>
      <p:bldP spid="73" grpId="0" animBg="1"/>
      <p:bldP spid="73"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17F388D1-717C-4CAD-BE1A-87CDFF247ABA}"/>
              </a:ext>
            </a:extLst>
          </p:cNvPr>
          <p:cNvSpPr>
            <a:spLocks noGrp="1" noChangeArrowheads="1"/>
          </p:cNvSpPr>
          <p:nvPr>
            <p:ph type="sldNum" sz="quarter" idx="4294967295"/>
          </p:nvPr>
        </p:nvSpPr>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fld id="{5959F128-8E39-44D7-BB4D-ECE606E4F43E}" type="slidenum">
              <a:rPr lang="en-US" altLang="zh-CN">
                <a:solidFill>
                  <a:schemeClr val="bg1"/>
                </a:solidFill>
                <a:latin typeface="Times New Roman" panose="02020603050405020304" pitchFamily="18" charset="0"/>
                <a:ea typeface="宋体" panose="02010600030101010101" pitchFamily="2" charset="-122"/>
              </a:rPr>
              <a:pPr/>
              <a:t>42</a:t>
            </a:fld>
            <a:endParaRPr lang="en-US" altLang="zh-CN">
              <a:solidFill>
                <a:schemeClr val="bg1"/>
              </a:solidFill>
              <a:latin typeface="Times New Roman" panose="02020603050405020304" pitchFamily="18" charset="0"/>
              <a:ea typeface="宋体" panose="02010600030101010101" pitchFamily="2" charset="-122"/>
            </a:endParaRPr>
          </a:p>
        </p:txBody>
      </p:sp>
      <p:sp>
        <p:nvSpPr>
          <p:cNvPr id="544771" name="Rectangle 3">
            <a:extLst>
              <a:ext uri="{FF2B5EF4-FFF2-40B4-BE49-F238E27FC236}">
                <a16:creationId xmlns:a16="http://schemas.microsoft.com/office/drawing/2014/main" id="{29171095-5C4D-4CA7-B476-E30D2F406617}"/>
              </a:ext>
            </a:extLst>
          </p:cNvPr>
          <p:cNvSpPr>
            <a:spLocks noGrp="1" noChangeArrowheads="1"/>
          </p:cNvSpPr>
          <p:nvPr>
            <p:ph type="body" idx="1"/>
          </p:nvPr>
        </p:nvSpPr>
        <p:spPr>
          <a:xfrm>
            <a:off x="2135561" y="908721"/>
            <a:ext cx="7945437" cy="1748928"/>
          </a:xfrm>
        </p:spPr>
        <p:txBody>
          <a:bodyPr/>
          <a:lstStyle/>
          <a:p>
            <a:pPr>
              <a:defRPr/>
            </a:pPr>
            <a:r>
              <a:rPr lang="en-US" altLang="zh-CN" dirty="0">
                <a:ea typeface="黑体" pitchFamily="49" charset="-122"/>
              </a:rPr>
              <a:t>OpenGL</a:t>
            </a:r>
            <a:r>
              <a:rPr lang="zh-CN" altLang="en-US" dirty="0">
                <a:ea typeface="黑体" pitchFamily="49" charset="-122"/>
              </a:rPr>
              <a:t>选择机制</a:t>
            </a:r>
            <a:r>
              <a:rPr lang="en-US" altLang="zh-CN" dirty="0">
                <a:latin typeface="黑体" pitchFamily="49" charset="-122"/>
                <a:ea typeface="黑体" pitchFamily="49" charset="-122"/>
              </a:rPr>
              <a:t>——</a:t>
            </a:r>
            <a:r>
              <a:rPr lang="zh-CN" altLang="en-US" dirty="0">
                <a:ea typeface="黑体" pitchFamily="49" charset="-122"/>
              </a:rPr>
              <a:t>结合两种模式</a:t>
            </a:r>
          </a:p>
          <a:p>
            <a:pPr lvl="1">
              <a:defRPr/>
            </a:pPr>
            <a:r>
              <a:rPr lang="zh-CN" altLang="en-US" dirty="0">
                <a:ea typeface="黑体" pitchFamily="49" charset="-122"/>
              </a:rPr>
              <a:t>首先进入</a:t>
            </a:r>
            <a:r>
              <a:rPr lang="zh-CN" altLang="en-US" dirty="0">
                <a:solidFill>
                  <a:srgbClr val="FF0000"/>
                </a:solidFill>
                <a:ea typeface="黑体" pitchFamily="49" charset="-122"/>
              </a:rPr>
              <a:t>渲染模式</a:t>
            </a:r>
            <a:r>
              <a:rPr lang="zh-CN" altLang="en-US" dirty="0">
                <a:ea typeface="黑体" pitchFamily="49" charset="-122"/>
              </a:rPr>
              <a:t>将场景绘制到帧缓存</a:t>
            </a:r>
          </a:p>
          <a:p>
            <a:pPr lvl="1">
              <a:defRPr/>
            </a:pPr>
            <a:r>
              <a:rPr lang="zh-CN" altLang="en-US" dirty="0">
                <a:ea typeface="黑体" pitchFamily="49" charset="-122"/>
              </a:rPr>
              <a:t>然后进入</a:t>
            </a:r>
            <a:r>
              <a:rPr lang="zh-CN" altLang="en-US" dirty="0">
                <a:solidFill>
                  <a:srgbClr val="FF0000"/>
                </a:solidFill>
                <a:ea typeface="黑体" pitchFamily="49" charset="-122"/>
              </a:rPr>
              <a:t>选择模式</a:t>
            </a:r>
            <a:r>
              <a:rPr lang="zh-CN" altLang="en-US" dirty="0">
                <a:ea typeface="黑体" pitchFamily="49" charset="-122"/>
              </a:rPr>
              <a:t>重画场景</a:t>
            </a:r>
          </a:p>
        </p:txBody>
      </p:sp>
      <p:sp>
        <p:nvSpPr>
          <p:cNvPr id="7" name="Rectangle 2">
            <a:extLst>
              <a:ext uri="{FF2B5EF4-FFF2-40B4-BE49-F238E27FC236}">
                <a16:creationId xmlns:a16="http://schemas.microsoft.com/office/drawing/2014/main" id="{D132CCF7-234D-4373-B193-8E774A60DAD3}"/>
              </a:ext>
            </a:extLst>
          </p:cNvPr>
          <p:cNvSpPr>
            <a:spLocks noGrp="1" noChangeArrowheads="1"/>
          </p:cNvSpPr>
          <p:nvPr>
            <p:ph type="title"/>
          </p:nvPr>
        </p:nvSpPr>
        <p:spPr/>
        <p:txBody>
          <a:bodyPr/>
          <a:lstStyle/>
          <a:p>
            <a:pPr>
              <a:defRPr/>
            </a:pPr>
            <a:r>
              <a:rPr lang="en-US" altLang="zh-CN" dirty="0">
                <a:latin typeface="Arial" pitchFamily="34" charset="0"/>
              </a:rPr>
              <a:t>8.1 </a:t>
            </a:r>
            <a:r>
              <a:rPr lang="zh-CN" altLang="en-US" dirty="0">
                <a:latin typeface="Arial" pitchFamily="34" charset="0"/>
              </a:rPr>
              <a:t>绘制模式</a:t>
            </a:r>
          </a:p>
        </p:txBody>
      </p:sp>
      <p:sp>
        <p:nvSpPr>
          <p:cNvPr id="22" name="TextBox 30">
            <a:extLst>
              <a:ext uri="{FF2B5EF4-FFF2-40B4-BE49-F238E27FC236}">
                <a16:creationId xmlns:a16="http://schemas.microsoft.com/office/drawing/2014/main" id="{328407A8-A366-4DD2-9DEF-AEE036969553}"/>
              </a:ext>
            </a:extLst>
          </p:cNvPr>
          <p:cNvSpPr txBox="1">
            <a:spLocks noChangeArrowheads="1"/>
          </p:cNvSpPr>
          <p:nvPr/>
        </p:nvSpPr>
        <p:spPr bwMode="auto">
          <a:xfrm>
            <a:off x="2070101" y="2774951"/>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chemeClr val="bg1"/>
              </a:buClr>
            </a:pPr>
            <a:r>
              <a:rPr lang="en-US" altLang="zh-CN" sz="2000" b="1">
                <a:ea typeface="宋体" panose="02010600030101010101" pitchFamily="2" charset="-122"/>
              </a:rPr>
              <a:t>GL_RENDER</a:t>
            </a:r>
          </a:p>
        </p:txBody>
      </p:sp>
      <p:grpSp>
        <p:nvGrpSpPr>
          <p:cNvPr id="68" name="组合 42">
            <a:extLst>
              <a:ext uri="{FF2B5EF4-FFF2-40B4-BE49-F238E27FC236}">
                <a16:creationId xmlns:a16="http://schemas.microsoft.com/office/drawing/2014/main" id="{AB0CA711-778D-4B7C-8735-3D60B031E461}"/>
              </a:ext>
            </a:extLst>
          </p:cNvPr>
          <p:cNvGrpSpPr>
            <a:grpSpLocks/>
          </p:cNvGrpSpPr>
          <p:nvPr/>
        </p:nvGrpSpPr>
        <p:grpSpPr bwMode="auto">
          <a:xfrm>
            <a:off x="2351584" y="3162300"/>
            <a:ext cx="8077200" cy="1200150"/>
            <a:chOff x="882650" y="3162300"/>
            <a:chExt cx="8077307" cy="1200686"/>
          </a:xfrm>
        </p:grpSpPr>
        <p:sp>
          <p:nvSpPr>
            <p:cNvPr id="69" name="右箭头 13">
              <a:extLst>
                <a:ext uri="{FF2B5EF4-FFF2-40B4-BE49-F238E27FC236}">
                  <a16:creationId xmlns:a16="http://schemas.microsoft.com/office/drawing/2014/main" id="{1DF1C326-790D-46B2-9B41-537DA0A74970}"/>
                </a:ext>
              </a:extLst>
            </p:cNvPr>
            <p:cNvSpPr/>
            <p:nvPr/>
          </p:nvSpPr>
          <p:spPr bwMode="auto">
            <a:xfrm>
              <a:off x="2255856" y="3595882"/>
              <a:ext cx="500069" cy="333524"/>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70" name="右箭头 16">
              <a:extLst>
                <a:ext uri="{FF2B5EF4-FFF2-40B4-BE49-F238E27FC236}">
                  <a16:creationId xmlns:a16="http://schemas.microsoft.com/office/drawing/2014/main" id="{A0D1259D-2164-4AEA-9720-DBCD718ECE6C}"/>
                </a:ext>
              </a:extLst>
            </p:cNvPr>
            <p:cNvSpPr/>
            <p:nvPr/>
          </p:nvSpPr>
          <p:spPr bwMode="auto">
            <a:xfrm>
              <a:off x="5176895" y="3595882"/>
              <a:ext cx="500069" cy="333524"/>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71" name="右箭头 18">
              <a:extLst>
                <a:ext uri="{FF2B5EF4-FFF2-40B4-BE49-F238E27FC236}">
                  <a16:creationId xmlns:a16="http://schemas.microsoft.com/office/drawing/2014/main" id="{0EB33FB0-65A8-4360-AD9B-C2FC2E405179}"/>
                </a:ext>
              </a:extLst>
            </p:cNvPr>
            <p:cNvSpPr/>
            <p:nvPr/>
          </p:nvSpPr>
          <p:spPr bwMode="auto">
            <a:xfrm>
              <a:off x="7178758" y="3595882"/>
              <a:ext cx="501657" cy="333524"/>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72" name="圆角矩形 8">
              <a:extLst>
                <a:ext uri="{FF2B5EF4-FFF2-40B4-BE49-F238E27FC236}">
                  <a16:creationId xmlns:a16="http://schemas.microsoft.com/office/drawing/2014/main" id="{CDA9535C-5C6C-42A9-89D6-D827E99219D2}"/>
                </a:ext>
              </a:extLst>
            </p:cNvPr>
            <p:cNvSpPr>
              <a:spLocks noChangeArrowheads="1"/>
            </p:cNvSpPr>
            <p:nvPr/>
          </p:nvSpPr>
          <p:spPr bwMode="auto">
            <a:xfrm>
              <a:off x="2800350" y="3318937"/>
              <a:ext cx="2376487" cy="887413"/>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grpSp>
          <p:nvGrpSpPr>
            <p:cNvPr id="73" name="组合 34">
              <a:extLst>
                <a:ext uri="{FF2B5EF4-FFF2-40B4-BE49-F238E27FC236}">
                  <a16:creationId xmlns:a16="http://schemas.microsoft.com/office/drawing/2014/main" id="{48E75904-5207-4C91-B057-2FA8780208AA}"/>
                </a:ext>
              </a:extLst>
            </p:cNvPr>
            <p:cNvGrpSpPr>
              <a:grpSpLocks/>
            </p:cNvGrpSpPr>
            <p:nvPr/>
          </p:nvGrpSpPr>
          <p:grpSpPr bwMode="auto">
            <a:xfrm>
              <a:off x="882650" y="3227655"/>
              <a:ext cx="1244600" cy="1069976"/>
              <a:chOff x="882650" y="3517900"/>
              <a:chExt cx="1244600" cy="1069976"/>
            </a:xfrm>
          </p:grpSpPr>
          <p:sp>
            <p:nvSpPr>
              <p:cNvPr id="82" name="圆角矩形 26">
                <a:extLst>
                  <a:ext uri="{FF2B5EF4-FFF2-40B4-BE49-F238E27FC236}">
                    <a16:creationId xmlns:a16="http://schemas.microsoft.com/office/drawing/2014/main" id="{97B4C000-F813-4A3F-9850-5A95B2FFFF99}"/>
                  </a:ext>
                </a:extLst>
              </p:cNvPr>
              <p:cNvSpPr/>
              <p:nvPr/>
            </p:nvSpPr>
            <p:spPr bwMode="auto">
              <a:xfrm>
                <a:off x="1504958" y="3651071"/>
                <a:ext cx="488956" cy="444699"/>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83" name="圆角矩形 14">
                <a:extLst>
                  <a:ext uri="{FF2B5EF4-FFF2-40B4-BE49-F238E27FC236}">
                    <a16:creationId xmlns:a16="http://schemas.microsoft.com/office/drawing/2014/main" id="{7ED587CC-D23A-41C4-9DF0-E34426C2777D}"/>
                  </a:ext>
                </a:extLst>
              </p:cNvPr>
              <p:cNvSpPr/>
              <p:nvPr/>
            </p:nvSpPr>
            <p:spPr bwMode="auto">
              <a:xfrm>
                <a:off x="882650" y="3517662"/>
                <a:ext cx="1244616" cy="1070453"/>
              </a:xfrm>
              <a:prstGeom prst="roundRect">
                <a:avLst/>
              </a:prstGeom>
              <a:noFill/>
              <a:ln w="25400" cap="flat" cmpd="sng" algn="ctr">
                <a:solidFill>
                  <a:srgbClr val="000000"/>
                </a:solidFill>
                <a:prstDash val="solid"/>
                <a:headEnd type="none" w="med" len="med"/>
                <a:tailEnd type="none" w="med" len="med"/>
              </a:ln>
              <a:effectLst/>
            </p:spPr>
            <p:txBody>
              <a:bodyPr anchor="b" anchorCtr="1"/>
              <a:lstStyle/>
              <a:p>
                <a:pPr eaLnBrk="1" fontAlgn="auto" hangingPunct="1">
                  <a:spcBef>
                    <a:spcPct val="20000"/>
                  </a:spcBef>
                  <a:spcAft>
                    <a:spcPts val="0"/>
                  </a:spcAft>
                  <a:buClr>
                    <a:srgbClr val="FFFFFF"/>
                  </a:buClr>
                  <a:defRPr/>
                </a:pPr>
                <a:r>
                  <a:rPr lang="zh-CN" altLang="en-US" sz="1800" b="1" kern="0" dirty="0">
                    <a:solidFill>
                      <a:srgbClr val="000000"/>
                    </a:solidFill>
                    <a:latin typeface="Arial"/>
                    <a:ea typeface="宋体" pitchFamily="2" charset="-122"/>
                  </a:rPr>
                  <a:t> 图元</a:t>
                </a:r>
              </a:p>
            </p:txBody>
          </p:sp>
          <p:sp>
            <p:nvSpPr>
              <p:cNvPr id="84" name="等腰三角形 27">
                <a:extLst>
                  <a:ext uri="{FF2B5EF4-FFF2-40B4-BE49-F238E27FC236}">
                    <a16:creationId xmlns:a16="http://schemas.microsoft.com/office/drawing/2014/main" id="{E9B7AC51-B31B-4F20-BE66-B1C19C7C8249}"/>
                  </a:ext>
                </a:extLst>
              </p:cNvPr>
              <p:cNvSpPr>
                <a:spLocks noChangeArrowheads="1"/>
              </p:cNvSpPr>
              <p:nvPr/>
            </p:nvSpPr>
            <p:spPr bwMode="auto">
              <a:xfrm>
                <a:off x="971550" y="35623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74" name="组合 40">
              <a:extLst>
                <a:ext uri="{FF2B5EF4-FFF2-40B4-BE49-F238E27FC236}">
                  <a16:creationId xmlns:a16="http://schemas.microsoft.com/office/drawing/2014/main" id="{596B28BF-435D-49F2-ABA2-DE1AEED03076}"/>
                </a:ext>
              </a:extLst>
            </p:cNvPr>
            <p:cNvGrpSpPr>
              <a:grpSpLocks/>
            </p:cNvGrpSpPr>
            <p:nvPr/>
          </p:nvGrpSpPr>
          <p:grpSpPr bwMode="auto">
            <a:xfrm>
              <a:off x="5676900" y="3222643"/>
              <a:ext cx="1501775" cy="1080000"/>
              <a:chOff x="5676900" y="3386137"/>
              <a:chExt cx="1501775" cy="1080000"/>
            </a:xfrm>
          </p:grpSpPr>
          <p:sp>
            <p:nvSpPr>
              <p:cNvPr id="79" name="圆角矩形 26">
                <a:extLst>
                  <a:ext uri="{FF2B5EF4-FFF2-40B4-BE49-F238E27FC236}">
                    <a16:creationId xmlns:a16="http://schemas.microsoft.com/office/drawing/2014/main" id="{DC24C867-D59D-4A1F-946E-E14790620612}"/>
                  </a:ext>
                </a:extLst>
              </p:cNvPr>
              <p:cNvSpPr>
                <a:spLocks noChangeArrowheads="1"/>
              </p:cNvSpPr>
              <p:nvPr/>
            </p:nvSpPr>
            <p:spPr bwMode="auto">
              <a:xfrm>
                <a:off x="5676900" y="3386137"/>
                <a:ext cx="1501775" cy="1080000"/>
              </a:xfrm>
              <a:prstGeom prst="roundRect">
                <a:avLst>
                  <a:gd name="adj" fmla="val 16667"/>
                </a:avLst>
              </a:prstGeom>
              <a:solidFill>
                <a:srgbClr val="FFFFFF"/>
              </a:solidFill>
              <a:ln w="25400">
                <a:solidFill>
                  <a:srgbClr val="000000"/>
                </a:solidFill>
                <a:round/>
                <a:headEnd/>
                <a:tailEnd/>
              </a:ln>
            </p:spPr>
            <p:txBody>
              <a:bodyPr anchor="b"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b="1" kern="0">
                    <a:solidFill>
                      <a:srgbClr val="000000"/>
                    </a:solidFill>
                    <a:ea typeface="宋体" panose="02010600030101010101" pitchFamily="2" charset="-122"/>
                  </a:rPr>
                  <a:t>帧缓存</a:t>
                </a:r>
              </a:p>
            </p:txBody>
          </p:sp>
          <p:sp>
            <p:nvSpPr>
              <p:cNvPr id="80" name="圆角矩形 28">
                <a:extLst>
                  <a:ext uri="{FF2B5EF4-FFF2-40B4-BE49-F238E27FC236}">
                    <a16:creationId xmlns:a16="http://schemas.microsoft.com/office/drawing/2014/main" id="{11E3E4E3-25D8-4512-895A-0F4AA07C43D3}"/>
                  </a:ext>
                </a:extLst>
              </p:cNvPr>
              <p:cNvSpPr/>
              <p:nvPr/>
            </p:nvSpPr>
            <p:spPr bwMode="auto">
              <a:xfrm>
                <a:off x="6394524" y="3562438"/>
                <a:ext cx="488957" cy="444698"/>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81" name="等腰三角形 29">
                <a:extLst>
                  <a:ext uri="{FF2B5EF4-FFF2-40B4-BE49-F238E27FC236}">
                    <a16:creationId xmlns:a16="http://schemas.microsoft.com/office/drawing/2014/main" id="{58E6A0D6-CFC7-4B0D-87AE-999DD0154FE8}"/>
                  </a:ext>
                </a:extLst>
              </p:cNvPr>
              <p:cNvSpPr>
                <a:spLocks noChangeArrowheads="1"/>
              </p:cNvSpPr>
              <p:nvPr/>
            </p:nvSpPr>
            <p:spPr bwMode="auto">
              <a:xfrm>
                <a:off x="5861050" y="34734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75" name="组合 41">
              <a:extLst>
                <a:ext uri="{FF2B5EF4-FFF2-40B4-BE49-F238E27FC236}">
                  <a16:creationId xmlns:a16="http://schemas.microsoft.com/office/drawing/2014/main" id="{A64DCF9B-84B4-4F4A-9054-756AC8F31E30}"/>
                </a:ext>
              </a:extLst>
            </p:cNvPr>
            <p:cNvGrpSpPr>
              <a:grpSpLocks/>
            </p:cNvGrpSpPr>
            <p:nvPr/>
          </p:nvGrpSpPr>
          <p:grpSpPr bwMode="auto">
            <a:xfrm>
              <a:off x="7683500" y="3162300"/>
              <a:ext cx="1276457" cy="1200686"/>
              <a:chOff x="7683500" y="3162300"/>
              <a:chExt cx="1276457" cy="1200686"/>
            </a:xfrm>
          </p:grpSpPr>
          <p:pic>
            <p:nvPicPr>
              <p:cNvPr id="76" name="Picture 58" descr="显示器">
                <a:extLst>
                  <a:ext uri="{FF2B5EF4-FFF2-40B4-BE49-F238E27FC236}">
                    <a16:creationId xmlns:a16="http://schemas.microsoft.com/office/drawing/2014/main" id="{FC52BEFA-1310-4D88-ABC9-9BE2B5563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0" y="3162300"/>
                <a:ext cx="1276457" cy="12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圆角矩形 30">
                <a:extLst>
                  <a:ext uri="{FF2B5EF4-FFF2-40B4-BE49-F238E27FC236}">
                    <a16:creationId xmlns:a16="http://schemas.microsoft.com/office/drawing/2014/main" id="{5DDCAFE6-113F-4358-ADF4-C76684116076}"/>
                  </a:ext>
                </a:extLst>
              </p:cNvPr>
              <p:cNvSpPr/>
              <p:nvPr/>
            </p:nvSpPr>
            <p:spPr bwMode="auto">
              <a:xfrm>
                <a:off x="8305898" y="3406884"/>
                <a:ext cx="400055" cy="400229"/>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78" name="等腰三角形 31">
                <a:extLst>
                  <a:ext uri="{FF2B5EF4-FFF2-40B4-BE49-F238E27FC236}">
                    <a16:creationId xmlns:a16="http://schemas.microsoft.com/office/drawing/2014/main" id="{F0CB5ADF-3EF1-4B9C-BC89-2AB18C2D95CF}"/>
                  </a:ext>
                </a:extLst>
              </p:cNvPr>
              <p:cNvSpPr>
                <a:spLocks noChangeArrowheads="1"/>
              </p:cNvSpPr>
              <p:nvPr/>
            </p:nvSpPr>
            <p:spPr bwMode="auto">
              <a:xfrm>
                <a:off x="7905750" y="3340100"/>
                <a:ext cx="355600" cy="53340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grpSp>
        <p:nvGrpSpPr>
          <p:cNvPr id="85" name="组合 43">
            <a:extLst>
              <a:ext uri="{FF2B5EF4-FFF2-40B4-BE49-F238E27FC236}">
                <a16:creationId xmlns:a16="http://schemas.microsoft.com/office/drawing/2014/main" id="{AD116A61-6E59-447F-9921-727CF3D80EEA}"/>
              </a:ext>
            </a:extLst>
          </p:cNvPr>
          <p:cNvGrpSpPr>
            <a:grpSpLocks/>
          </p:cNvGrpSpPr>
          <p:nvPr/>
        </p:nvGrpSpPr>
        <p:grpSpPr bwMode="auto">
          <a:xfrm>
            <a:off x="2351584" y="5013176"/>
            <a:ext cx="6254750" cy="1079500"/>
            <a:chOff x="927100" y="5104899"/>
            <a:chExt cx="6254750" cy="1080000"/>
          </a:xfrm>
        </p:grpSpPr>
        <p:sp>
          <p:nvSpPr>
            <p:cNvPr id="86" name="右箭头 13">
              <a:extLst>
                <a:ext uri="{FF2B5EF4-FFF2-40B4-BE49-F238E27FC236}">
                  <a16:creationId xmlns:a16="http://schemas.microsoft.com/office/drawing/2014/main" id="{CB164619-94A7-44FA-8810-859B3CF4124D}"/>
                </a:ext>
              </a:extLst>
            </p:cNvPr>
            <p:cNvSpPr/>
            <p:nvPr/>
          </p:nvSpPr>
          <p:spPr bwMode="auto">
            <a:xfrm>
              <a:off x="2255838" y="5478136"/>
              <a:ext cx="500062" cy="333529"/>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87" name="右箭头 25">
              <a:extLst>
                <a:ext uri="{FF2B5EF4-FFF2-40B4-BE49-F238E27FC236}">
                  <a16:creationId xmlns:a16="http://schemas.microsoft.com/office/drawing/2014/main" id="{129CE665-9760-4BB1-B285-817670C8D6C3}"/>
                </a:ext>
              </a:extLst>
            </p:cNvPr>
            <p:cNvSpPr/>
            <p:nvPr/>
          </p:nvSpPr>
          <p:spPr bwMode="auto">
            <a:xfrm>
              <a:off x="5176838" y="5478136"/>
              <a:ext cx="500062" cy="333529"/>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88" name="圆角矩形 8">
              <a:extLst>
                <a:ext uri="{FF2B5EF4-FFF2-40B4-BE49-F238E27FC236}">
                  <a16:creationId xmlns:a16="http://schemas.microsoft.com/office/drawing/2014/main" id="{725F8504-E552-4731-B62F-E2F6D1DC36E8}"/>
                </a:ext>
              </a:extLst>
            </p:cNvPr>
            <p:cNvSpPr>
              <a:spLocks noChangeArrowheads="1"/>
            </p:cNvSpPr>
            <p:nvPr/>
          </p:nvSpPr>
          <p:spPr bwMode="auto">
            <a:xfrm>
              <a:off x="2800350" y="5201194"/>
              <a:ext cx="2376488" cy="887413"/>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grpSp>
          <p:nvGrpSpPr>
            <p:cNvPr id="89" name="组合 39">
              <a:extLst>
                <a:ext uri="{FF2B5EF4-FFF2-40B4-BE49-F238E27FC236}">
                  <a16:creationId xmlns:a16="http://schemas.microsoft.com/office/drawing/2014/main" id="{A54DE653-2F06-49F5-AC69-1079783EB73B}"/>
                </a:ext>
              </a:extLst>
            </p:cNvPr>
            <p:cNvGrpSpPr>
              <a:grpSpLocks/>
            </p:cNvGrpSpPr>
            <p:nvPr/>
          </p:nvGrpSpPr>
          <p:grpSpPr bwMode="auto">
            <a:xfrm>
              <a:off x="5680075" y="5104899"/>
              <a:ext cx="1501775" cy="1080000"/>
              <a:chOff x="5680075" y="4864100"/>
              <a:chExt cx="1501775" cy="1080000"/>
            </a:xfrm>
          </p:grpSpPr>
          <p:sp>
            <p:nvSpPr>
              <p:cNvPr id="94" name="圆角矩形 26">
                <a:extLst>
                  <a:ext uri="{FF2B5EF4-FFF2-40B4-BE49-F238E27FC236}">
                    <a16:creationId xmlns:a16="http://schemas.microsoft.com/office/drawing/2014/main" id="{1612B8D9-2F1B-49D3-A59D-1839A3CE9838}"/>
                  </a:ext>
                </a:extLst>
              </p:cNvPr>
              <p:cNvSpPr>
                <a:spLocks noChangeArrowheads="1"/>
              </p:cNvSpPr>
              <p:nvPr/>
            </p:nvSpPr>
            <p:spPr bwMode="auto">
              <a:xfrm>
                <a:off x="5680075" y="4864100"/>
                <a:ext cx="1501775" cy="1080000"/>
              </a:xfrm>
              <a:prstGeom prst="roundRect">
                <a:avLst>
                  <a:gd name="adj" fmla="val 16667"/>
                </a:avLst>
              </a:prstGeom>
              <a:solidFill>
                <a:srgbClr val="FFFFFF"/>
              </a:solidFill>
              <a:ln w="25400">
                <a:solidFill>
                  <a:srgbClr val="002060"/>
                </a:solidFill>
                <a:round/>
                <a:headEnd/>
                <a:tailEnd/>
              </a:ln>
            </p:spPr>
            <p:txBody>
              <a:bodyPr anchor="b"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b="1" kern="0">
                    <a:solidFill>
                      <a:srgbClr val="000000"/>
                    </a:solidFill>
                    <a:ea typeface="宋体" panose="02010600030101010101" pitchFamily="2" charset="-122"/>
                  </a:rPr>
                  <a:t>选择缓存</a:t>
                </a:r>
              </a:p>
            </p:txBody>
          </p:sp>
          <p:sp>
            <p:nvSpPr>
              <p:cNvPr id="95" name="圆角矩形 32">
                <a:extLst>
                  <a:ext uri="{FF2B5EF4-FFF2-40B4-BE49-F238E27FC236}">
                    <a16:creationId xmlns:a16="http://schemas.microsoft.com/office/drawing/2014/main" id="{812768F1-E0FB-4369-805D-97E374DDA418}"/>
                  </a:ext>
                </a:extLst>
              </p:cNvPr>
              <p:cNvSpPr/>
              <p:nvPr/>
            </p:nvSpPr>
            <p:spPr bwMode="auto">
              <a:xfrm>
                <a:off x="6438900" y="5029276"/>
                <a:ext cx="488950" cy="444706"/>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96" name="等腰三角形 33">
                <a:extLst>
                  <a:ext uri="{FF2B5EF4-FFF2-40B4-BE49-F238E27FC236}">
                    <a16:creationId xmlns:a16="http://schemas.microsoft.com/office/drawing/2014/main" id="{C629A33D-C321-44D2-85A3-896083FC9372}"/>
                  </a:ext>
                </a:extLst>
              </p:cNvPr>
              <p:cNvSpPr>
                <a:spLocks noChangeArrowheads="1"/>
              </p:cNvSpPr>
              <p:nvPr/>
            </p:nvSpPr>
            <p:spPr bwMode="auto">
              <a:xfrm>
                <a:off x="5905500" y="494030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90" name="组合 35">
              <a:extLst>
                <a:ext uri="{FF2B5EF4-FFF2-40B4-BE49-F238E27FC236}">
                  <a16:creationId xmlns:a16="http://schemas.microsoft.com/office/drawing/2014/main" id="{46CA8FA4-4665-4490-80EA-774552982CE2}"/>
                </a:ext>
              </a:extLst>
            </p:cNvPr>
            <p:cNvGrpSpPr>
              <a:grpSpLocks/>
            </p:cNvGrpSpPr>
            <p:nvPr/>
          </p:nvGrpSpPr>
          <p:grpSpPr bwMode="auto">
            <a:xfrm>
              <a:off x="927100" y="5109912"/>
              <a:ext cx="1244600" cy="1069976"/>
              <a:chOff x="882650" y="3517900"/>
              <a:chExt cx="1244600" cy="1069976"/>
            </a:xfrm>
          </p:grpSpPr>
          <p:sp>
            <p:nvSpPr>
              <p:cNvPr id="91" name="圆角矩形 36">
                <a:extLst>
                  <a:ext uri="{FF2B5EF4-FFF2-40B4-BE49-F238E27FC236}">
                    <a16:creationId xmlns:a16="http://schemas.microsoft.com/office/drawing/2014/main" id="{2158BC75-0259-4DED-A18D-008169A9C850}"/>
                  </a:ext>
                </a:extLst>
              </p:cNvPr>
              <p:cNvSpPr/>
              <p:nvPr/>
            </p:nvSpPr>
            <p:spPr bwMode="auto">
              <a:xfrm>
                <a:off x="1504950" y="3651065"/>
                <a:ext cx="488950" cy="444706"/>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92" name="圆角矩形 37">
                <a:extLst>
                  <a:ext uri="{FF2B5EF4-FFF2-40B4-BE49-F238E27FC236}">
                    <a16:creationId xmlns:a16="http://schemas.microsoft.com/office/drawing/2014/main" id="{AABFAF14-F13F-4EF0-AC4C-DD14C584935A}"/>
                  </a:ext>
                </a:extLst>
              </p:cNvPr>
              <p:cNvSpPr/>
              <p:nvPr/>
            </p:nvSpPr>
            <p:spPr bwMode="auto">
              <a:xfrm>
                <a:off x="882650" y="3517653"/>
                <a:ext cx="1244600" cy="1070470"/>
              </a:xfrm>
              <a:prstGeom prst="roundRect">
                <a:avLst/>
              </a:prstGeom>
              <a:noFill/>
              <a:ln w="25400" cap="flat" cmpd="sng" algn="ctr">
                <a:solidFill>
                  <a:srgbClr val="000000"/>
                </a:solidFill>
                <a:prstDash val="solid"/>
                <a:headEnd type="none" w="med" len="med"/>
                <a:tailEnd type="none" w="med" len="med"/>
              </a:ln>
              <a:effectLst/>
            </p:spPr>
            <p:txBody>
              <a:bodyPr anchor="b" anchorCtr="1"/>
              <a:lstStyle/>
              <a:p>
                <a:pPr eaLnBrk="1" fontAlgn="auto" hangingPunct="1">
                  <a:spcBef>
                    <a:spcPct val="20000"/>
                  </a:spcBef>
                  <a:spcAft>
                    <a:spcPts val="0"/>
                  </a:spcAft>
                  <a:buClr>
                    <a:srgbClr val="FFFFFF"/>
                  </a:buClr>
                  <a:defRPr/>
                </a:pPr>
                <a:r>
                  <a:rPr lang="zh-CN" altLang="en-US" sz="1800" b="1" kern="0" dirty="0">
                    <a:solidFill>
                      <a:srgbClr val="000000"/>
                    </a:solidFill>
                    <a:latin typeface="Arial"/>
                    <a:ea typeface="宋体" pitchFamily="2" charset="-122"/>
                  </a:rPr>
                  <a:t> 图元</a:t>
                </a:r>
              </a:p>
            </p:txBody>
          </p:sp>
          <p:sp>
            <p:nvSpPr>
              <p:cNvPr id="93" name="等腰三角形 38">
                <a:extLst>
                  <a:ext uri="{FF2B5EF4-FFF2-40B4-BE49-F238E27FC236}">
                    <a16:creationId xmlns:a16="http://schemas.microsoft.com/office/drawing/2014/main" id="{990F6B00-B030-4821-B96B-172B4B73702D}"/>
                  </a:ext>
                </a:extLst>
              </p:cNvPr>
              <p:cNvSpPr>
                <a:spLocks noChangeArrowheads="1"/>
              </p:cNvSpPr>
              <p:nvPr/>
            </p:nvSpPr>
            <p:spPr bwMode="auto">
              <a:xfrm>
                <a:off x="971550" y="35623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sp>
        <p:nvSpPr>
          <p:cNvPr id="37" name="TextBox 30">
            <a:extLst>
              <a:ext uri="{FF2B5EF4-FFF2-40B4-BE49-F238E27FC236}">
                <a16:creationId xmlns:a16="http://schemas.microsoft.com/office/drawing/2014/main" id="{77E3D89E-678C-406F-A881-B5281B1E62AD}"/>
              </a:ext>
            </a:extLst>
          </p:cNvPr>
          <p:cNvSpPr txBox="1">
            <a:spLocks noChangeArrowheads="1"/>
          </p:cNvSpPr>
          <p:nvPr/>
        </p:nvSpPr>
        <p:spPr bwMode="auto">
          <a:xfrm>
            <a:off x="2063553" y="4509121"/>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spcBef>
                <a:spcPct val="20000"/>
              </a:spcBef>
              <a:buClr>
                <a:schemeClr val="bg1"/>
              </a:buClr>
            </a:pPr>
            <a:r>
              <a:rPr lang="en-US" altLang="zh-CN" sz="2000" b="1" dirty="0">
                <a:ea typeface="宋体" panose="02010600030101010101" pitchFamily="2" charset="-122"/>
              </a:rPr>
              <a:t>GL_SELECT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 calcmode="lin" valueType="num">
                                      <p:cBhvr additive="base">
                                        <p:cTn id="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wipe(left)">
                                      <p:cBhvr>
                                        <p:cTn id="13" dur="3000"/>
                                        <p:tgtEl>
                                          <p:spTgt spid="6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wipe(left)">
                                      <p:cBhvr>
                                        <p:cTn id="18" dur="3000"/>
                                        <p:tgtEl>
                                          <p:spTgt spid="8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a:extLst>
              <a:ext uri="{FF2B5EF4-FFF2-40B4-BE49-F238E27FC236}">
                <a16:creationId xmlns:a16="http://schemas.microsoft.com/office/drawing/2014/main" id="{49A53158-95A5-4C15-AAF3-5D995C7FE488}"/>
              </a:ext>
            </a:extLst>
          </p:cNvPr>
          <p:cNvSpPr>
            <a:spLocks noGrp="1" noChangeArrowheads="1"/>
          </p:cNvSpPr>
          <p:nvPr>
            <p:ph type="title"/>
          </p:nvPr>
        </p:nvSpPr>
        <p:spPr/>
        <p:txBody>
          <a:bodyPr/>
          <a:lstStyle/>
          <a:p>
            <a:pPr>
              <a:defRPr/>
            </a:pPr>
            <a:r>
              <a:rPr lang="en-US" altLang="zh-CN" dirty="0">
                <a:latin typeface="Arial" pitchFamily="34" charset="0"/>
              </a:rPr>
              <a:t>8.2 </a:t>
            </a:r>
            <a:r>
              <a:rPr lang="zh-CN" altLang="en-US" dirty="0">
                <a:latin typeface="Arial" pitchFamily="34" charset="0"/>
              </a:rPr>
              <a:t>选择模式与拾取操作</a:t>
            </a:r>
          </a:p>
        </p:txBody>
      </p:sp>
      <p:sp>
        <p:nvSpPr>
          <p:cNvPr id="544771" name="Rectangle 3">
            <a:extLst>
              <a:ext uri="{FF2B5EF4-FFF2-40B4-BE49-F238E27FC236}">
                <a16:creationId xmlns:a16="http://schemas.microsoft.com/office/drawing/2014/main" id="{7E7015CC-0D0D-4D6D-8504-C3B8C24844B6}"/>
              </a:ext>
            </a:extLst>
          </p:cNvPr>
          <p:cNvSpPr>
            <a:spLocks noGrp="1" noChangeArrowheads="1"/>
          </p:cNvSpPr>
          <p:nvPr>
            <p:ph type="body" idx="1"/>
          </p:nvPr>
        </p:nvSpPr>
        <p:spPr>
          <a:xfrm>
            <a:off x="839416" y="980729"/>
            <a:ext cx="10844584" cy="3454010"/>
          </a:xfrm>
        </p:spPr>
        <p:txBody>
          <a:bodyPr/>
          <a:lstStyle/>
          <a:p>
            <a:pPr>
              <a:buFont typeface="Wingdings" panose="05000000000000000000" pitchFamily="2" charset="2"/>
              <a:buChar char="l"/>
              <a:defRPr/>
            </a:pPr>
            <a:r>
              <a:rPr lang="zh-CN" altLang="en-US" dirty="0">
                <a:ea typeface="黑体" pitchFamily="49" charset="-122"/>
              </a:rPr>
              <a:t>选择模式</a:t>
            </a:r>
            <a:r>
              <a:rPr lang="en-US" altLang="zh-CN" dirty="0">
                <a:latin typeface="黑体" pitchFamily="49" charset="-122"/>
                <a:ea typeface="黑体" pitchFamily="49" charset="-122"/>
              </a:rPr>
              <a:t>——</a:t>
            </a:r>
            <a:r>
              <a:rPr lang="zh-CN" altLang="en-US" dirty="0">
                <a:ea typeface="黑体" pitchFamily="49" charset="-122"/>
              </a:rPr>
              <a:t>确定哪些图元位于视域体内的一种方法</a:t>
            </a:r>
          </a:p>
          <a:p>
            <a:pPr>
              <a:buFont typeface="Wingdings" panose="05000000000000000000" pitchFamily="2" charset="2"/>
              <a:buChar char="l"/>
              <a:defRPr/>
            </a:pPr>
            <a:r>
              <a:rPr lang="zh-CN" altLang="en-US" dirty="0">
                <a:ea typeface="黑体" pitchFamily="49" charset="-122"/>
              </a:rPr>
              <a:t>拾取操作（</a:t>
            </a:r>
            <a:r>
              <a:rPr lang="en-US" altLang="zh-CN" dirty="0">
                <a:ea typeface="黑体" pitchFamily="49" charset="-122"/>
              </a:rPr>
              <a:t>Picking</a:t>
            </a:r>
            <a:r>
              <a:rPr lang="zh-CN" altLang="en-US" dirty="0">
                <a:ea typeface="黑体" pitchFamily="49" charset="-122"/>
              </a:rPr>
              <a:t>）</a:t>
            </a:r>
            <a:r>
              <a:rPr lang="en-US" altLang="zh-CN" dirty="0">
                <a:latin typeface="黑体" pitchFamily="49" charset="-122"/>
                <a:ea typeface="黑体" pitchFamily="49" charset="-122"/>
              </a:rPr>
              <a:t>——</a:t>
            </a:r>
            <a:r>
              <a:rPr lang="zh-CN" altLang="en-US" dirty="0">
                <a:ea typeface="黑体" pitchFamily="49" charset="-122"/>
              </a:rPr>
              <a:t>选择模式下的一种特殊应用</a:t>
            </a:r>
          </a:p>
          <a:p>
            <a:pPr lvl="1">
              <a:defRPr/>
            </a:pPr>
            <a:r>
              <a:rPr lang="zh-CN" altLang="en-US" dirty="0">
                <a:ea typeface="黑体" pitchFamily="49" charset="-122"/>
              </a:rPr>
              <a:t>产生：一般由</a:t>
            </a:r>
            <a:r>
              <a:rPr lang="zh-CN" altLang="en-US" dirty="0">
                <a:solidFill>
                  <a:srgbClr val="C00000"/>
                </a:solidFill>
                <a:ea typeface="黑体" pitchFamily="49" charset="-122"/>
              </a:rPr>
              <a:t>鼠标</a:t>
            </a:r>
            <a:r>
              <a:rPr lang="zh-CN" altLang="en-US" dirty="0">
                <a:ea typeface="黑体" pitchFamily="49" charset="-122"/>
              </a:rPr>
              <a:t>设备激发，并在屏幕上定义出</a:t>
            </a:r>
            <a:r>
              <a:rPr lang="zh-CN" altLang="en-US" dirty="0">
                <a:solidFill>
                  <a:srgbClr val="C00000"/>
                </a:solidFill>
                <a:ea typeface="黑体" pitchFamily="49" charset="-122"/>
              </a:rPr>
              <a:t>拾取区域</a:t>
            </a:r>
          </a:p>
          <a:p>
            <a:pPr lvl="1" algn="just">
              <a:defRPr/>
            </a:pPr>
            <a:r>
              <a:rPr lang="zh-CN" altLang="en-US" dirty="0">
                <a:ea typeface="黑体" pitchFamily="49" charset="-122"/>
              </a:rPr>
              <a:t>过程：由拾取区域产生虚拟的</a:t>
            </a:r>
            <a:r>
              <a:rPr lang="zh-CN" altLang="en-US" dirty="0">
                <a:solidFill>
                  <a:srgbClr val="C00000"/>
                </a:solidFill>
                <a:ea typeface="黑体" pitchFamily="49" charset="-122"/>
              </a:rPr>
              <a:t>视域体</a:t>
            </a:r>
            <a:r>
              <a:rPr lang="zh-CN" altLang="en-US" dirty="0">
                <a:ea typeface="黑体" pitchFamily="49" charset="-122"/>
              </a:rPr>
              <a:t>，并与虚拟三维场景中</a:t>
            </a:r>
            <a:r>
              <a:rPr lang="zh-CN" altLang="en-US" dirty="0">
                <a:solidFill>
                  <a:srgbClr val="C00000"/>
                </a:solidFill>
                <a:latin typeface="黑体" pitchFamily="49" charset="-122"/>
                <a:ea typeface="黑体" pitchFamily="49" charset="-122"/>
              </a:rPr>
              <a:t>“</a:t>
            </a:r>
            <a:r>
              <a:rPr lang="zh-CN" altLang="en-US" dirty="0">
                <a:solidFill>
                  <a:srgbClr val="C00000"/>
                </a:solidFill>
                <a:ea typeface="黑体" pitchFamily="49" charset="-122"/>
              </a:rPr>
              <a:t>感兴趣单元</a:t>
            </a:r>
            <a:r>
              <a:rPr lang="zh-CN" altLang="en-US" dirty="0">
                <a:solidFill>
                  <a:srgbClr val="C00000"/>
                </a:solidFill>
                <a:latin typeface="黑体" pitchFamily="49" charset="-122"/>
                <a:ea typeface="黑体" pitchFamily="49" charset="-122"/>
              </a:rPr>
              <a:t>”</a:t>
            </a:r>
            <a:r>
              <a:rPr lang="zh-CN" altLang="en-US" dirty="0">
                <a:ea typeface="黑体" pitchFamily="49" charset="-122"/>
              </a:rPr>
              <a:t>求交</a:t>
            </a:r>
          </a:p>
          <a:p>
            <a:pPr lvl="1" algn="just">
              <a:defRPr/>
            </a:pPr>
            <a:r>
              <a:rPr lang="zh-CN" altLang="en-US" dirty="0">
                <a:ea typeface="黑体" pitchFamily="49" charset="-122"/>
              </a:rPr>
              <a:t>结果：一些</a:t>
            </a:r>
            <a:r>
              <a:rPr lang="zh-CN" altLang="en-US" dirty="0">
                <a:solidFill>
                  <a:srgbClr val="C00000"/>
                </a:solidFill>
                <a:ea typeface="黑体" pitchFamily="49" charset="-122"/>
              </a:rPr>
              <a:t>命中记录</a:t>
            </a:r>
            <a:r>
              <a:rPr lang="zh-CN" altLang="en-US" dirty="0">
                <a:ea typeface="黑体" pitchFamily="49" charset="-122"/>
              </a:rPr>
              <a:t>，描述了哪些</a:t>
            </a:r>
            <a:r>
              <a:rPr lang="zh-CN" altLang="en-US" dirty="0">
                <a:solidFill>
                  <a:srgbClr val="C00000"/>
                </a:solidFill>
                <a:latin typeface="黑体" pitchFamily="49" charset="-122"/>
                <a:ea typeface="黑体" pitchFamily="49" charset="-122"/>
              </a:rPr>
              <a:t>“</a:t>
            </a:r>
            <a:r>
              <a:rPr lang="zh-CN" altLang="en-US" dirty="0">
                <a:solidFill>
                  <a:srgbClr val="C00000"/>
                </a:solidFill>
                <a:ea typeface="黑体" pitchFamily="49" charset="-122"/>
              </a:rPr>
              <a:t>感兴趣单元</a:t>
            </a:r>
            <a:r>
              <a:rPr lang="zh-CN" altLang="en-US" dirty="0">
                <a:solidFill>
                  <a:srgbClr val="C00000"/>
                </a:solidFill>
                <a:latin typeface="黑体" pitchFamily="49" charset="-122"/>
                <a:ea typeface="黑体" pitchFamily="49" charset="-122"/>
              </a:rPr>
              <a:t>”</a:t>
            </a:r>
            <a:r>
              <a:rPr lang="zh-CN" altLang="en-US" dirty="0">
                <a:ea typeface="黑体" pitchFamily="49" charset="-122"/>
              </a:rPr>
              <a:t>被选中了</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a:extLst>
              <a:ext uri="{FF2B5EF4-FFF2-40B4-BE49-F238E27FC236}">
                <a16:creationId xmlns:a16="http://schemas.microsoft.com/office/drawing/2014/main" id="{9DCA1848-DBD6-4794-8271-5DF18351B2E5}"/>
              </a:ext>
            </a:extLst>
          </p:cNvPr>
          <p:cNvSpPr>
            <a:spLocks noGrp="1" noChangeArrowheads="1"/>
          </p:cNvSpPr>
          <p:nvPr>
            <p:ph type="title"/>
          </p:nvPr>
        </p:nvSpPr>
        <p:spPr/>
        <p:txBody>
          <a:bodyPr/>
          <a:lstStyle/>
          <a:p>
            <a:pPr>
              <a:defRPr/>
            </a:pPr>
            <a:r>
              <a:rPr lang="en-US" altLang="zh-CN" dirty="0">
                <a:latin typeface="Arial" pitchFamily="34" charset="0"/>
              </a:rPr>
              <a:t>8.2 </a:t>
            </a:r>
            <a:r>
              <a:rPr lang="zh-CN" altLang="en-US" dirty="0">
                <a:latin typeface="Arial" pitchFamily="34" charset="0"/>
              </a:rPr>
              <a:t>选择模式与拾取操作</a:t>
            </a:r>
          </a:p>
        </p:txBody>
      </p:sp>
      <p:grpSp>
        <p:nvGrpSpPr>
          <p:cNvPr id="81" name="组合 43">
            <a:extLst>
              <a:ext uri="{FF2B5EF4-FFF2-40B4-BE49-F238E27FC236}">
                <a16:creationId xmlns:a16="http://schemas.microsoft.com/office/drawing/2014/main" id="{4EA1C57B-EA5B-4AF5-B29A-AE89866A09CD}"/>
              </a:ext>
            </a:extLst>
          </p:cNvPr>
          <p:cNvGrpSpPr>
            <a:grpSpLocks/>
          </p:cNvGrpSpPr>
          <p:nvPr/>
        </p:nvGrpSpPr>
        <p:grpSpPr bwMode="auto">
          <a:xfrm>
            <a:off x="2095500" y="1384300"/>
            <a:ext cx="8413750" cy="1587500"/>
            <a:chOff x="546100" y="2774950"/>
            <a:chExt cx="8413857" cy="1588036"/>
          </a:xfrm>
        </p:grpSpPr>
        <p:sp>
          <p:nvSpPr>
            <p:cNvPr id="82" name="TextBox 30">
              <a:extLst>
                <a:ext uri="{FF2B5EF4-FFF2-40B4-BE49-F238E27FC236}">
                  <a16:creationId xmlns:a16="http://schemas.microsoft.com/office/drawing/2014/main" id="{AEF59A10-EE36-4922-B1B9-DDAD0DB35978}"/>
                </a:ext>
              </a:extLst>
            </p:cNvPr>
            <p:cNvSpPr txBox="1">
              <a:spLocks noChangeArrowheads="1"/>
            </p:cNvSpPr>
            <p:nvPr/>
          </p:nvSpPr>
          <p:spPr bwMode="auto">
            <a:xfrm>
              <a:off x="546100" y="2774950"/>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en-US" altLang="zh-CN" sz="2000" b="1" kern="0">
                  <a:solidFill>
                    <a:srgbClr val="000000"/>
                  </a:solidFill>
                  <a:ea typeface="宋体" panose="02010600030101010101" pitchFamily="2" charset="-122"/>
                </a:rPr>
                <a:t>GL_RENDER</a:t>
              </a:r>
            </a:p>
          </p:txBody>
        </p:sp>
        <p:grpSp>
          <p:nvGrpSpPr>
            <p:cNvPr id="83" name="组合 7">
              <a:extLst>
                <a:ext uri="{FF2B5EF4-FFF2-40B4-BE49-F238E27FC236}">
                  <a16:creationId xmlns:a16="http://schemas.microsoft.com/office/drawing/2014/main" id="{A9BB53D3-817C-4BD7-A75C-90CAA450B18B}"/>
                </a:ext>
              </a:extLst>
            </p:cNvPr>
            <p:cNvGrpSpPr>
              <a:grpSpLocks/>
            </p:cNvGrpSpPr>
            <p:nvPr/>
          </p:nvGrpSpPr>
          <p:grpSpPr bwMode="auto">
            <a:xfrm>
              <a:off x="882650" y="3162300"/>
              <a:ext cx="8077307" cy="1200686"/>
              <a:chOff x="882650" y="3162300"/>
              <a:chExt cx="8077307" cy="1200686"/>
            </a:xfrm>
          </p:grpSpPr>
          <p:sp>
            <p:nvSpPr>
              <p:cNvPr id="84" name="右箭头 13">
                <a:extLst>
                  <a:ext uri="{FF2B5EF4-FFF2-40B4-BE49-F238E27FC236}">
                    <a16:creationId xmlns:a16="http://schemas.microsoft.com/office/drawing/2014/main" id="{81DC0A9C-1E1A-4A01-830F-2A4048162589}"/>
                  </a:ext>
                </a:extLst>
              </p:cNvPr>
              <p:cNvSpPr/>
              <p:nvPr/>
            </p:nvSpPr>
            <p:spPr bwMode="auto">
              <a:xfrm>
                <a:off x="2255860" y="3595965"/>
                <a:ext cx="500068" cy="333487"/>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85" name="右箭头 9">
                <a:extLst>
                  <a:ext uri="{FF2B5EF4-FFF2-40B4-BE49-F238E27FC236}">
                    <a16:creationId xmlns:a16="http://schemas.microsoft.com/office/drawing/2014/main" id="{A22309AE-C7FD-4FDE-9A0C-6FC0B2EA4B8D}"/>
                  </a:ext>
                </a:extLst>
              </p:cNvPr>
              <p:cNvSpPr/>
              <p:nvPr/>
            </p:nvSpPr>
            <p:spPr bwMode="auto">
              <a:xfrm>
                <a:off x="5176897" y="3595965"/>
                <a:ext cx="500068" cy="333487"/>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86" name="右箭头 10">
                <a:extLst>
                  <a:ext uri="{FF2B5EF4-FFF2-40B4-BE49-F238E27FC236}">
                    <a16:creationId xmlns:a16="http://schemas.microsoft.com/office/drawing/2014/main" id="{F6239AB6-8119-4C08-9238-13D44F43C829}"/>
                  </a:ext>
                </a:extLst>
              </p:cNvPr>
              <p:cNvSpPr/>
              <p:nvPr/>
            </p:nvSpPr>
            <p:spPr bwMode="auto">
              <a:xfrm>
                <a:off x="7178759" y="3595965"/>
                <a:ext cx="501656" cy="333487"/>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87" name="圆角矩形 8">
                <a:extLst>
                  <a:ext uri="{FF2B5EF4-FFF2-40B4-BE49-F238E27FC236}">
                    <a16:creationId xmlns:a16="http://schemas.microsoft.com/office/drawing/2014/main" id="{5F162224-2178-481C-8AEC-75038848CCCD}"/>
                  </a:ext>
                </a:extLst>
              </p:cNvPr>
              <p:cNvSpPr>
                <a:spLocks noChangeArrowheads="1"/>
              </p:cNvSpPr>
              <p:nvPr/>
            </p:nvSpPr>
            <p:spPr bwMode="auto">
              <a:xfrm>
                <a:off x="2800350" y="3318937"/>
                <a:ext cx="2376487" cy="887413"/>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grpSp>
            <p:nvGrpSpPr>
              <p:cNvPr id="88" name="组合 34">
                <a:extLst>
                  <a:ext uri="{FF2B5EF4-FFF2-40B4-BE49-F238E27FC236}">
                    <a16:creationId xmlns:a16="http://schemas.microsoft.com/office/drawing/2014/main" id="{EBF23EC4-359E-40D9-995D-2F8A313816C5}"/>
                  </a:ext>
                </a:extLst>
              </p:cNvPr>
              <p:cNvGrpSpPr>
                <a:grpSpLocks/>
              </p:cNvGrpSpPr>
              <p:nvPr/>
            </p:nvGrpSpPr>
            <p:grpSpPr bwMode="auto">
              <a:xfrm>
                <a:off x="882650" y="3227655"/>
                <a:ext cx="1244600" cy="1069976"/>
                <a:chOff x="882650" y="3517900"/>
                <a:chExt cx="1244600" cy="1069976"/>
              </a:xfrm>
            </p:grpSpPr>
            <p:sp>
              <p:nvSpPr>
                <p:cNvPr id="97" name="圆角矩形 21">
                  <a:extLst>
                    <a:ext uri="{FF2B5EF4-FFF2-40B4-BE49-F238E27FC236}">
                      <a16:creationId xmlns:a16="http://schemas.microsoft.com/office/drawing/2014/main" id="{95FED05E-4FD7-400E-AC07-DACF942DC580}"/>
                    </a:ext>
                  </a:extLst>
                </p:cNvPr>
                <p:cNvSpPr/>
                <p:nvPr/>
              </p:nvSpPr>
              <p:spPr bwMode="auto">
                <a:xfrm>
                  <a:off x="1504962" y="3651181"/>
                  <a:ext cx="488956" cy="444650"/>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98" name="圆角矩形 22">
                  <a:extLst>
                    <a:ext uri="{FF2B5EF4-FFF2-40B4-BE49-F238E27FC236}">
                      <a16:creationId xmlns:a16="http://schemas.microsoft.com/office/drawing/2014/main" id="{F3244C81-A738-4C02-9ABE-6AD7C6F8F56D}"/>
                    </a:ext>
                  </a:extLst>
                </p:cNvPr>
                <p:cNvSpPr/>
                <p:nvPr/>
              </p:nvSpPr>
              <p:spPr bwMode="auto">
                <a:xfrm>
                  <a:off x="882654" y="3517786"/>
                  <a:ext cx="1244616" cy="1070336"/>
                </a:xfrm>
                <a:prstGeom prst="roundRect">
                  <a:avLst/>
                </a:prstGeom>
                <a:noFill/>
                <a:ln w="25400" cap="flat" cmpd="sng" algn="ctr">
                  <a:solidFill>
                    <a:srgbClr val="000000"/>
                  </a:solidFill>
                  <a:prstDash val="solid"/>
                  <a:headEnd type="none" w="med" len="med"/>
                  <a:tailEnd type="none" w="med" len="med"/>
                </a:ln>
                <a:effectLst/>
              </p:spPr>
              <p:txBody>
                <a:bodyPr anchor="b" anchorCtr="1"/>
                <a:lstStyle/>
                <a:p>
                  <a:pPr eaLnBrk="1" fontAlgn="auto" hangingPunct="1">
                    <a:spcBef>
                      <a:spcPct val="20000"/>
                    </a:spcBef>
                    <a:spcAft>
                      <a:spcPts val="0"/>
                    </a:spcAft>
                    <a:buClr>
                      <a:srgbClr val="FFFFFF"/>
                    </a:buClr>
                    <a:defRPr/>
                  </a:pPr>
                  <a:r>
                    <a:rPr lang="zh-CN" altLang="en-US" sz="1800" b="1" kern="0" dirty="0">
                      <a:solidFill>
                        <a:srgbClr val="000000"/>
                      </a:solidFill>
                      <a:latin typeface="Arial"/>
                      <a:ea typeface="宋体" pitchFamily="2" charset="-122"/>
                    </a:rPr>
                    <a:t> 图元</a:t>
                  </a:r>
                </a:p>
              </p:txBody>
            </p:sp>
            <p:sp>
              <p:nvSpPr>
                <p:cNvPr id="99" name="等腰三角形 23">
                  <a:extLst>
                    <a:ext uri="{FF2B5EF4-FFF2-40B4-BE49-F238E27FC236}">
                      <a16:creationId xmlns:a16="http://schemas.microsoft.com/office/drawing/2014/main" id="{1E33EC12-99E9-4810-9FC2-D92AE7A53BE6}"/>
                    </a:ext>
                  </a:extLst>
                </p:cNvPr>
                <p:cNvSpPr>
                  <a:spLocks noChangeArrowheads="1"/>
                </p:cNvSpPr>
                <p:nvPr/>
              </p:nvSpPr>
              <p:spPr bwMode="auto">
                <a:xfrm>
                  <a:off x="971550" y="35623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89" name="组合 40">
                <a:extLst>
                  <a:ext uri="{FF2B5EF4-FFF2-40B4-BE49-F238E27FC236}">
                    <a16:creationId xmlns:a16="http://schemas.microsoft.com/office/drawing/2014/main" id="{19198776-D71B-47A7-BFEA-B888BBBEF9AD}"/>
                  </a:ext>
                </a:extLst>
              </p:cNvPr>
              <p:cNvGrpSpPr>
                <a:grpSpLocks/>
              </p:cNvGrpSpPr>
              <p:nvPr/>
            </p:nvGrpSpPr>
            <p:grpSpPr bwMode="auto">
              <a:xfrm>
                <a:off x="5676900" y="3222643"/>
                <a:ext cx="1501775" cy="1080000"/>
                <a:chOff x="5676900" y="3386137"/>
                <a:chExt cx="1501775" cy="1080000"/>
              </a:xfrm>
            </p:grpSpPr>
            <p:sp>
              <p:nvSpPr>
                <p:cNvPr id="94" name="圆角矩形 26">
                  <a:extLst>
                    <a:ext uri="{FF2B5EF4-FFF2-40B4-BE49-F238E27FC236}">
                      <a16:creationId xmlns:a16="http://schemas.microsoft.com/office/drawing/2014/main" id="{902EE6AA-6F61-4ACA-A1D6-7998842FD69B}"/>
                    </a:ext>
                  </a:extLst>
                </p:cNvPr>
                <p:cNvSpPr>
                  <a:spLocks noChangeArrowheads="1"/>
                </p:cNvSpPr>
                <p:nvPr/>
              </p:nvSpPr>
              <p:spPr bwMode="auto">
                <a:xfrm>
                  <a:off x="5676900" y="3386137"/>
                  <a:ext cx="1501775" cy="1080000"/>
                </a:xfrm>
                <a:prstGeom prst="roundRect">
                  <a:avLst>
                    <a:gd name="adj" fmla="val 16667"/>
                  </a:avLst>
                </a:prstGeom>
                <a:solidFill>
                  <a:srgbClr val="FFFFFF"/>
                </a:solidFill>
                <a:ln w="25400">
                  <a:solidFill>
                    <a:srgbClr val="000000"/>
                  </a:solidFill>
                  <a:round/>
                  <a:headEnd/>
                  <a:tailEnd/>
                </a:ln>
              </p:spPr>
              <p:txBody>
                <a:bodyPr anchor="b"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b="1" kern="0">
                      <a:solidFill>
                        <a:srgbClr val="000000"/>
                      </a:solidFill>
                      <a:ea typeface="宋体" panose="02010600030101010101" pitchFamily="2" charset="-122"/>
                    </a:rPr>
                    <a:t>帧缓存</a:t>
                  </a:r>
                </a:p>
              </p:txBody>
            </p:sp>
            <p:sp>
              <p:nvSpPr>
                <p:cNvPr id="95" name="圆角矩形 19">
                  <a:extLst>
                    <a:ext uri="{FF2B5EF4-FFF2-40B4-BE49-F238E27FC236}">
                      <a16:creationId xmlns:a16="http://schemas.microsoft.com/office/drawing/2014/main" id="{CCFB63CD-005D-4AF7-918D-B228BC639B59}"/>
                    </a:ext>
                  </a:extLst>
                </p:cNvPr>
                <p:cNvSpPr/>
                <p:nvPr/>
              </p:nvSpPr>
              <p:spPr bwMode="auto">
                <a:xfrm>
                  <a:off x="6394524" y="3562542"/>
                  <a:ext cx="488956" cy="444650"/>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96" name="等腰三角形 20">
                  <a:extLst>
                    <a:ext uri="{FF2B5EF4-FFF2-40B4-BE49-F238E27FC236}">
                      <a16:creationId xmlns:a16="http://schemas.microsoft.com/office/drawing/2014/main" id="{F4E81DDB-5658-4D9A-B961-EB9795683F4D}"/>
                    </a:ext>
                  </a:extLst>
                </p:cNvPr>
                <p:cNvSpPr>
                  <a:spLocks noChangeArrowheads="1"/>
                </p:cNvSpPr>
                <p:nvPr/>
              </p:nvSpPr>
              <p:spPr bwMode="auto">
                <a:xfrm>
                  <a:off x="5861050" y="34734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90" name="组合 41">
                <a:extLst>
                  <a:ext uri="{FF2B5EF4-FFF2-40B4-BE49-F238E27FC236}">
                    <a16:creationId xmlns:a16="http://schemas.microsoft.com/office/drawing/2014/main" id="{7E4A4A77-5905-47E1-AE01-1CC25433B5DD}"/>
                  </a:ext>
                </a:extLst>
              </p:cNvPr>
              <p:cNvGrpSpPr>
                <a:grpSpLocks/>
              </p:cNvGrpSpPr>
              <p:nvPr/>
            </p:nvGrpSpPr>
            <p:grpSpPr bwMode="auto">
              <a:xfrm>
                <a:off x="7683500" y="3162300"/>
                <a:ext cx="1276457" cy="1200686"/>
                <a:chOff x="7683500" y="3162300"/>
                <a:chExt cx="1276457" cy="1200686"/>
              </a:xfrm>
            </p:grpSpPr>
            <p:pic>
              <p:nvPicPr>
                <p:cNvPr id="91" name="Picture 58" descr="显示器">
                  <a:extLst>
                    <a:ext uri="{FF2B5EF4-FFF2-40B4-BE49-F238E27FC236}">
                      <a16:creationId xmlns:a16="http://schemas.microsoft.com/office/drawing/2014/main" id="{9681FE2B-638C-4CED-AF56-DBA4BE559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0" y="3162300"/>
                  <a:ext cx="1276457" cy="120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圆角矩形 16">
                  <a:extLst>
                    <a:ext uri="{FF2B5EF4-FFF2-40B4-BE49-F238E27FC236}">
                      <a16:creationId xmlns:a16="http://schemas.microsoft.com/office/drawing/2014/main" id="{F1C2CA6A-8ED9-409A-9A65-412340578193}"/>
                    </a:ext>
                  </a:extLst>
                </p:cNvPr>
                <p:cNvSpPr/>
                <p:nvPr/>
              </p:nvSpPr>
              <p:spPr bwMode="auto">
                <a:xfrm>
                  <a:off x="8305899" y="3406989"/>
                  <a:ext cx="400055" cy="400185"/>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93" name="等腰三角形 17">
                  <a:extLst>
                    <a:ext uri="{FF2B5EF4-FFF2-40B4-BE49-F238E27FC236}">
                      <a16:creationId xmlns:a16="http://schemas.microsoft.com/office/drawing/2014/main" id="{3BA4F9FA-62C9-4576-BA6F-14417E28BC10}"/>
                    </a:ext>
                  </a:extLst>
                </p:cNvPr>
                <p:cNvSpPr>
                  <a:spLocks noChangeArrowheads="1"/>
                </p:cNvSpPr>
                <p:nvPr/>
              </p:nvSpPr>
              <p:spPr bwMode="auto">
                <a:xfrm>
                  <a:off x="7905750" y="3340100"/>
                  <a:ext cx="355600" cy="53340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grpSp>
      <p:grpSp>
        <p:nvGrpSpPr>
          <p:cNvPr id="100" name="组合 44">
            <a:extLst>
              <a:ext uri="{FF2B5EF4-FFF2-40B4-BE49-F238E27FC236}">
                <a16:creationId xmlns:a16="http://schemas.microsoft.com/office/drawing/2014/main" id="{8AEA04AF-75E9-4958-B130-E45915502C56}"/>
              </a:ext>
            </a:extLst>
          </p:cNvPr>
          <p:cNvGrpSpPr>
            <a:grpSpLocks/>
          </p:cNvGrpSpPr>
          <p:nvPr/>
        </p:nvGrpSpPr>
        <p:grpSpPr bwMode="auto">
          <a:xfrm>
            <a:off x="2070100" y="4341814"/>
            <a:ext cx="6635750" cy="1620837"/>
            <a:chOff x="546100" y="4564063"/>
            <a:chExt cx="6635750" cy="1620837"/>
          </a:xfrm>
        </p:grpSpPr>
        <p:sp>
          <p:nvSpPr>
            <p:cNvPr id="101" name="TextBox 30">
              <a:extLst>
                <a:ext uri="{FF2B5EF4-FFF2-40B4-BE49-F238E27FC236}">
                  <a16:creationId xmlns:a16="http://schemas.microsoft.com/office/drawing/2014/main" id="{264E6CF5-FB55-4F07-A24E-CE41C88DE391}"/>
                </a:ext>
              </a:extLst>
            </p:cNvPr>
            <p:cNvSpPr txBox="1">
              <a:spLocks noChangeArrowheads="1"/>
            </p:cNvSpPr>
            <p:nvPr/>
          </p:nvSpPr>
          <p:spPr bwMode="auto">
            <a:xfrm>
              <a:off x="546100" y="4564063"/>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en-US" altLang="zh-CN" sz="2000" b="1" kern="0">
                  <a:solidFill>
                    <a:srgbClr val="000000"/>
                  </a:solidFill>
                  <a:ea typeface="宋体" panose="02010600030101010101" pitchFamily="2" charset="-122"/>
                </a:rPr>
                <a:t>GL_SELECT</a:t>
              </a:r>
            </a:p>
          </p:txBody>
        </p:sp>
        <p:grpSp>
          <p:nvGrpSpPr>
            <p:cNvPr id="102" name="组合 24">
              <a:extLst>
                <a:ext uri="{FF2B5EF4-FFF2-40B4-BE49-F238E27FC236}">
                  <a16:creationId xmlns:a16="http://schemas.microsoft.com/office/drawing/2014/main" id="{0A4F501F-DD65-4A77-B86B-0E94068D0AFE}"/>
                </a:ext>
              </a:extLst>
            </p:cNvPr>
            <p:cNvGrpSpPr>
              <a:grpSpLocks/>
            </p:cNvGrpSpPr>
            <p:nvPr/>
          </p:nvGrpSpPr>
          <p:grpSpPr bwMode="auto">
            <a:xfrm>
              <a:off x="927100" y="5104900"/>
              <a:ext cx="6254750" cy="1080000"/>
              <a:chOff x="927100" y="5104900"/>
              <a:chExt cx="6254750" cy="1080000"/>
            </a:xfrm>
          </p:grpSpPr>
          <p:sp>
            <p:nvSpPr>
              <p:cNvPr id="103" name="右箭头 13">
                <a:extLst>
                  <a:ext uri="{FF2B5EF4-FFF2-40B4-BE49-F238E27FC236}">
                    <a16:creationId xmlns:a16="http://schemas.microsoft.com/office/drawing/2014/main" id="{551A37F3-E1D3-49C2-B446-3ABCEDD1BFD5}"/>
                  </a:ext>
                </a:extLst>
              </p:cNvPr>
              <p:cNvSpPr/>
              <p:nvPr/>
            </p:nvSpPr>
            <p:spPr bwMode="auto">
              <a:xfrm>
                <a:off x="2255838" y="5478463"/>
                <a:ext cx="500062" cy="333375"/>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104" name="右箭头 25">
                <a:extLst>
                  <a:ext uri="{FF2B5EF4-FFF2-40B4-BE49-F238E27FC236}">
                    <a16:creationId xmlns:a16="http://schemas.microsoft.com/office/drawing/2014/main" id="{3286E780-E5BB-4400-9189-8793EA5EE6E6}"/>
                  </a:ext>
                </a:extLst>
              </p:cNvPr>
              <p:cNvSpPr/>
              <p:nvPr/>
            </p:nvSpPr>
            <p:spPr bwMode="auto">
              <a:xfrm>
                <a:off x="5176838" y="5478463"/>
                <a:ext cx="500062" cy="333375"/>
              </a:xfrm>
              <a:prstGeom prst="rightArrow">
                <a:avLst/>
              </a:prstGeom>
              <a:solidFill>
                <a:srgbClr val="5B0DAA"/>
              </a:solidFill>
              <a:ln w="9525" cap="flat" cmpd="sng" algn="ctr">
                <a:solidFill>
                  <a:srgbClr val="5B0DAA"/>
                </a:solidFill>
                <a:prstDash val="solid"/>
                <a:round/>
                <a:headEnd type="none" w="med" len="med"/>
                <a:tailEnd type="none" w="med" len="med"/>
              </a:ln>
              <a:effectLst/>
            </p:spPr>
            <p:txBody>
              <a:bodyPr/>
              <a:lstStyle/>
              <a:p>
                <a:pPr eaLnBrk="1" fontAlgn="auto" hangingPunct="1">
                  <a:spcBef>
                    <a:spcPct val="20000"/>
                  </a:spcBef>
                  <a:spcAft>
                    <a:spcPts val="0"/>
                  </a:spcAft>
                  <a:buClr>
                    <a:srgbClr val="FFFFFF"/>
                  </a:buClr>
                  <a:defRPr/>
                </a:pPr>
                <a:endParaRPr lang="zh-CN" altLang="en-US" sz="1800" b="1" kern="0">
                  <a:solidFill>
                    <a:srgbClr val="000000"/>
                  </a:solidFill>
                  <a:effectLst>
                    <a:outerShdw blurRad="38100" dist="38100" dir="2700000" algn="tl">
                      <a:srgbClr val="FFFFFF"/>
                    </a:outerShdw>
                  </a:effectLst>
                  <a:latin typeface="Arial" charset="0"/>
                  <a:ea typeface="宋体" pitchFamily="2" charset="-122"/>
                </a:endParaRPr>
              </a:p>
            </p:txBody>
          </p:sp>
          <p:sp>
            <p:nvSpPr>
              <p:cNvPr id="105" name="圆角矩形 8">
                <a:extLst>
                  <a:ext uri="{FF2B5EF4-FFF2-40B4-BE49-F238E27FC236}">
                    <a16:creationId xmlns:a16="http://schemas.microsoft.com/office/drawing/2014/main" id="{4C472E5F-DA8C-4D54-A519-5CDEC18B283A}"/>
                  </a:ext>
                </a:extLst>
              </p:cNvPr>
              <p:cNvSpPr>
                <a:spLocks noChangeArrowheads="1"/>
              </p:cNvSpPr>
              <p:nvPr/>
            </p:nvSpPr>
            <p:spPr bwMode="auto">
              <a:xfrm>
                <a:off x="2800350" y="5201194"/>
                <a:ext cx="2376488" cy="887413"/>
              </a:xfrm>
              <a:prstGeom prst="roundRect">
                <a:avLst>
                  <a:gd name="adj" fmla="val 16667"/>
                </a:avLst>
              </a:prstGeom>
              <a:solidFill>
                <a:srgbClr val="FFFFFF"/>
              </a:solidFill>
              <a:ln w="25400">
                <a:solidFill>
                  <a:srgbClr val="CC0000"/>
                </a:solidFill>
                <a:round/>
                <a:headEnd/>
                <a:tailEnd/>
              </a:ln>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r>
                  <a:rPr lang="en-US" altLang="zh-CN" sz="2000" b="1" kern="0">
                    <a:solidFill>
                      <a:srgbClr val="000000"/>
                    </a:solidFill>
                    <a:ea typeface="宋体" panose="02010600030101010101" pitchFamily="2" charset="-122"/>
                  </a:rPr>
                  <a:t>OpenGL</a:t>
                </a:r>
                <a:r>
                  <a:rPr lang="zh-CN" altLang="en-US" sz="2000" b="1" kern="0">
                    <a:solidFill>
                      <a:srgbClr val="000000"/>
                    </a:solidFill>
                    <a:ea typeface="宋体" panose="02010600030101010101" pitchFamily="2" charset="-122"/>
                  </a:rPr>
                  <a:t>流水线</a:t>
                </a:r>
              </a:p>
            </p:txBody>
          </p:sp>
          <p:grpSp>
            <p:nvGrpSpPr>
              <p:cNvPr id="106" name="组合 39">
                <a:extLst>
                  <a:ext uri="{FF2B5EF4-FFF2-40B4-BE49-F238E27FC236}">
                    <a16:creationId xmlns:a16="http://schemas.microsoft.com/office/drawing/2014/main" id="{26076680-AC54-4A26-A8B1-5FCDF1D686FB}"/>
                  </a:ext>
                </a:extLst>
              </p:cNvPr>
              <p:cNvGrpSpPr>
                <a:grpSpLocks/>
              </p:cNvGrpSpPr>
              <p:nvPr/>
            </p:nvGrpSpPr>
            <p:grpSpPr bwMode="auto">
              <a:xfrm>
                <a:off x="5680075" y="5104900"/>
                <a:ext cx="1501775" cy="1080000"/>
                <a:chOff x="5680075" y="4864100"/>
                <a:chExt cx="1501775" cy="1080000"/>
              </a:xfrm>
            </p:grpSpPr>
            <p:sp>
              <p:nvSpPr>
                <p:cNvPr id="111" name="圆角矩形 26">
                  <a:extLst>
                    <a:ext uri="{FF2B5EF4-FFF2-40B4-BE49-F238E27FC236}">
                      <a16:creationId xmlns:a16="http://schemas.microsoft.com/office/drawing/2014/main" id="{F2C0588A-0989-49CA-A5BA-3903717FA04C}"/>
                    </a:ext>
                  </a:extLst>
                </p:cNvPr>
                <p:cNvSpPr>
                  <a:spLocks noChangeArrowheads="1"/>
                </p:cNvSpPr>
                <p:nvPr/>
              </p:nvSpPr>
              <p:spPr bwMode="auto">
                <a:xfrm>
                  <a:off x="5680075" y="4864100"/>
                  <a:ext cx="1501775" cy="1080000"/>
                </a:xfrm>
                <a:prstGeom prst="roundRect">
                  <a:avLst>
                    <a:gd name="adj" fmla="val 16667"/>
                  </a:avLst>
                </a:prstGeom>
                <a:solidFill>
                  <a:srgbClr val="FFFFFF"/>
                </a:solidFill>
                <a:ln w="25400">
                  <a:solidFill>
                    <a:srgbClr val="002060"/>
                  </a:solidFill>
                  <a:round/>
                  <a:headEnd/>
                  <a:tailEnd/>
                </a:ln>
              </p:spPr>
              <p:txBody>
                <a:bodyPr anchor="b"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b="1" kern="0">
                      <a:solidFill>
                        <a:srgbClr val="000000"/>
                      </a:solidFill>
                      <a:ea typeface="宋体" panose="02010600030101010101" pitchFamily="2" charset="-122"/>
                    </a:rPr>
                    <a:t>选择缓存</a:t>
                  </a:r>
                </a:p>
              </p:txBody>
            </p:sp>
            <p:sp>
              <p:nvSpPr>
                <p:cNvPr id="112" name="圆角矩形 34">
                  <a:extLst>
                    <a:ext uri="{FF2B5EF4-FFF2-40B4-BE49-F238E27FC236}">
                      <a16:creationId xmlns:a16="http://schemas.microsoft.com/office/drawing/2014/main" id="{140FB276-96B0-4A19-A2A4-DF602E0D9E1F}"/>
                    </a:ext>
                  </a:extLst>
                </p:cNvPr>
                <p:cNvSpPr/>
                <p:nvPr/>
              </p:nvSpPr>
              <p:spPr bwMode="auto">
                <a:xfrm>
                  <a:off x="6438900" y="5029700"/>
                  <a:ext cx="488950" cy="444500"/>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113" name="等腰三角形 35">
                  <a:extLst>
                    <a:ext uri="{FF2B5EF4-FFF2-40B4-BE49-F238E27FC236}">
                      <a16:creationId xmlns:a16="http://schemas.microsoft.com/office/drawing/2014/main" id="{137B3233-AAEE-4F73-A51B-AA039E2D6E28}"/>
                    </a:ext>
                  </a:extLst>
                </p:cNvPr>
                <p:cNvSpPr>
                  <a:spLocks noChangeArrowheads="1"/>
                </p:cNvSpPr>
                <p:nvPr/>
              </p:nvSpPr>
              <p:spPr bwMode="auto">
                <a:xfrm>
                  <a:off x="5905500" y="494030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nvGrpSpPr>
              <p:cNvPr id="107" name="组合 35">
                <a:extLst>
                  <a:ext uri="{FF2B5EF4-FFF2-40B4-BE49-F238E27FC236}">
                    <a16:creationId xmlns:a16="http://schemas.microsoft.com/office/drawing/2014/main" id="{13591358-956A-4311-B3D9-94A138E9608F}"/>
                  </a:ext>
                </a:extLst>
              </p:cNvPr>
              <p:cNvGrpSpPr>
                <a:grpSpLocks/>
              </p:cNvGrpSpPr>
              <p:nvPr/>
            </p:nvGrpSpPr>
            <p:grpSpPr bwMode="auto">
              <a:xfrm>
                <a:off x="927100" y="5109912"/>
                <a:ext cx="1244600" cy="1069976"/>
                <a:chOff x="882650" y="3517900"/>
                <a:chExt cx="1244600" cy="1069976"/>
              </a:xfrm>
            </p:grpSpPr>
            <p:sp>
              <p:nvSpPr>
                <p:cNvPr id="108" name="圆角矩形 30">
                  <a:extLst>
                    <a:ext uri="{FF2B5EF4-FFF2-40B4-BE49-F238E27FC236}">
                      <a16:creationId xmlns:a16="http://schemas.microsoft.com/office/drawing/2014/main" id="{97948B50-BC41-4BAA-931B-34364ED1B862}"/>
                    </a:ext>
                  </a:extLst>
                </p:cNvPr>
                <p:cNvSpPr/>
                <p:nvPr/>
              </p:nvSpPr>
              <p:spPr bwMode="auto">
                <a:xfrm>
                  <a:off x="1504950" y="3651501"/>
                  <a:ext cx="488950" cy="444500"/>
                </a:xfrm>
                <a:prstGeom prst="roundRect">
                  <a:avLst/>
                </a:prstGeom>
                <a:solidFill>
                  <a:srgbClr val="FF0000"/>
                </a:solidFill>
                <a:ln w="25400" cap="flat" cmpd="sng" algn="ctr">
                  <a:solidFill>
                    <a:srgbClr val="FF0000"/>
                  </a:solidFill>
                  <a:prstDash val="solid"/>
                  <a:headEnd type="none" w="med" len="med"/>
                  <a:tailEnd type="none" w="med" len="med"/>
                </a:ln>
                <a:effectLst/>
              </p:spPr>
              <p:txBody>
                <a:bodyPr anchor="ctr" anchorCtr="1"/>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r>
                    <a:rPr lang="zh-CN" altLang="en-US" sz="2000" b="1" kern="0">
                      <a:solidFill>
                        <a:srgbClr val="000000"/>
                      </a:solidFill>
                      <a:ea typeface="宋体" panose="02010600030101010101" pitchFamily="2" charset="-122"/>
                    </a:rPr>
                    <a:t> </a:t>
                  </a:r>
                </a:p>
              </p:txBody>
            </p:sp>
            <p:sp>
              <p:nvSpPr>
                <p:cNvPr id="109" name="圆角矩形 31">
                  <a:extLst>
                    <a:ext uri="{FF2B5EF4-FFF2-40B4-BE49-F238E27FC236}">
                      <a16:creationId xmlns:a16="http://schemas.microsoft.com/office/drawing/2014/main" id="{6A6B5814-1777-4213-B05F-147565080DAC}"/>
                    </a:ext>
                  </a:extLst>
                </p:cNvPr>
                <p:cNvSpPr/>
                <p:nvPr/>
              </p:nvSpPr>
              <p:spPr bwMode="auto">
                <a:xfrm>
                  <a:off x="882650" y="3518151"/>
                  <a:ext cx="1244600" cy="1069975"/>
                </a:xfrm>
                <a:prstGeom prst="roundRect">
                  <a:avLst/>
                </a:prstGeom>
                <a:noFill/>
                <a:ln w="25400" cap="flat" cmpd="sng" algn="ctr">
                  <a:solidFill>
                    <a:srgbClr val="000000"/>
                  </a:solidFill>
                  <a:prstDash val="solid"/>
                  <a:headEnd type="none" w="med" len="med"/>
                  <a:tailEnd type="none" w="med" len="med"/>
                </a:ln>
                <a:effectLst/>
              </p:spPr>
              <p:txBody>
                <a:bodyPr anchor="b" anchorCtr="1"/>
                <a:lstStyle/>
                <a:p>
                  <a:pPr eaLnBrk="1" fontAlgn="auto" hangingPunct="1">
                    <a:spcBef>
                      <a:spcPct val="20000"/>
                    </a:spcBef>
                    <a:spcAft>
                      <a:spcPts val="0"/>
                    </a:spcAft>
                    <a:buClr>
                      <a:srgbClr val="FFFFFF"/>
                    </a:buClr>
                    <a:defRPr/>
                  </a:pPr>
                  <a:r>
                    <a:rPr lang="zh-CN" altLang="en-US" sz="1800" b="1" kern="0" dirty="0">
                      <a:solidFill>
                        <a:srgbClr val="000000"/>
                      </a:solidFill>
                      <a:latin typeface="Arial"/>
                      <a:ea typeface="宋体" pitchFamily="2" charset="-122"/>
                    </a:rPr>
                    <a:t> 图元</a:t>
                  </a:r>
                </a:p>
              </p:txBody>
            </p:sp>
            <p:sp>
              <p:nvSpPr>
                <p:cNvPr id="110" name="等腰三角形 32">
                  <a:extLst>
                    <a:ext uri="{FF2B5EF4-FFF2-40B4-BE49-F238E27FC236}">
                      <a16:creationId xmlns:a16="http://schemas.microsoft.com/office/drawing/2014/main" id="{9CC81A80-AADE-41A2-96EE-243FB5A7168B}"/>
                    </a:ext>
                  </a:extLst>
                </p:cNvPr>
                <p:cNvSpPr>
                  <a:spLocks noChangeArrowheads="1"/>
                </p:cNvSpPr>
                <p:nvPr/>
              </p:nvSpPr>
              <p:spPr bwMode="auto">
                <a:xfrm>
                  <a:off x="971550" y="3562350"/>
                  <a:ext cx="444500" cy="577850"/>
                </a:xfrm>
                <a:prstGeom prst="triangle">
                  <a:avLst>
                    <a:gd name="adj" fmla="val 50000"/>
                  </a:avLst>
                </a:prstGeom>
                <a:solidFill>
                  <a:srgbClr val="FFD96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fontAlgn="auto">
                    <a:spcBef>
                      <a:spcPct val="20000"/>
                    </a:spcBef>
                    <a:spcAft>
                      <a:spcPts val="0"/>
                    </a:spcAft>
                    <a:buClr>
                      <a:srgbClr val="FFFFFF"/>
                    </a:buClr>
                    <a:defRPr/>
                  </a:pPr>
                  <a:endParaRPr lang="zh-CN" altLang="en-US" kern="0">
                    <a:solidFill>
                      <a:srgbClr val="000000"/>
                    </a:solidFill>
                  </a:endParaRPr>
                </a:p>
              </p:txBody>
            </p:sp>
          </p:grpSp>
        </p:grpSp>
      </p:grpSp>
      <p:cxnSp>
        <p:nvCxnSpPr>
          <p:cNvPr id="114" name="直接箭头连接符 113">
            <a:extLst>
              <a:ext uri="{FF2B5EF4-FFF2-40B4-BE49-F238E27FC236}">
                <a16:creationId xmlns:a16="http://schemas.microsoft.com/office/drawing/2014/main" id="{095903AA-EAFD-4D6D-B4F1-C9CE33A51AD8}"/>
              </a:ext>
            </a:extLst>
          </p:cNvPr>
          <p:cNvCxnSpPr>
            <a:cxnSpLocks noChangeShapeType="1"/>
            <a:stCxn id="93" idx="3"/>
          </p:cNvCxnSpPr>
          <p:nvPr/>
        </p:nvCxnSpPr>
        <p:spPr bwMode="auto">
          <a:xfrm rot="5400000">
            <a:off x="7191375" y="2943225"/>
            <a:ext cx="2901950" cy="1981200"/>
          </a:xfrm>
          <a:prstGeom prst="straightConnector1">
            <a:avLst/>
          </a:prstGeom>
          <a:noFill/>
          <a:ln w="444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15" name="圆角矩形标注 41">
            <a:extLst>
              <a:ext uri="{FF2B5EF4-FFF2-40B4-BE49-F238E27FC236}">
                <a16:creationId xmlns:a16="http://schemas.microsoft.com/office/drawing/2014/main" id="{F3C84397-9AA5-40E7-96EF-0772622B9170}"/>
              </a:ext>
            </a:extLst>
          </p:cNvPr>
          <p:cNvSpPr>
            <a:spLocks noChangeArrowheads="1"/>
          </p:cNvSpPr>
          <p:nvPr/>
        </p:nvSpPr>
        <p:spPr bwMode="auto">
          <a:xfrm>
            <a:off x="6273800" y="3517900"/>
            <a:ext cx="1511300" cy="533400"/>
          </a:xfrm>
          <a:prstGeom prst="wedgeRoundRectCallout">
            <a:avLst>
              <a:gd name="adj1" fmla="val 170806"/>
              <a:gd name="adj2" fmla="val -264287"/>
              <a:gd name="adj3" fmla="val 16667"/>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lgn="ctr" fontAlgn="auto">
              <a:spcBef>
                <a:spcPct val="20000"/>
              </a:spcBef>
              <a:spcAft>
                <a:spcPts val="0"/>
              </a:spcAft>
              <a:buClr>
                <a:srgbClr val="FFFFFF"/>
              </a:buClr>
              <a:defRPr/>
            </a:pPr>
            <a:r>
              <a:rPr lang="zh-CN" altLang="en-US" sz="2000" b="1" kern="0">
                <a:solidFill>
                  <a:srgbClr val="000000"/>
                </a:solidFill>
                <a:latin typeface="黑体" panose="02010609060101010101" pitchFamily="49" charset="-122"/>
                <a:ea typeface="黑体" panose="02010609060101010101" pitchFamily="49" charset="-122"/>
              </a:rPr>
              <a:t>选择模式</a:t>
            </a:r>
          </a:p>
        </p:txBody>
      </p:sp>
      <p:sp>
        <p:nvSpPr>
          <p:cNvPr id="116" name="圆角矩形标注 45">
            <a:extLst>
              <a:ext uri="{FF2B5EF4-FFF2-40B4-BE49-F238E27FC236}">
                <a16:creationId xmlns:a16="http://schemas.microsoft.com/office/drawing/2014/main" id="{C8DA1BD2-EA37-4DE7-8DB9-4A4FFC741D92}"/>
              </a:ext>
            </a:extLst>
          </p:cNvPr>
          <p:cNvSpPr>
            <a:spLocks noChangeArrowheads="1"/>
          </p:cNvSpPr>
          <p:nvPr/>
        </p:nvSpPr>
        <p:spPr bwMode="auto">
          <a:xfrm>
            <a:off x="8807450" y="4095750"/>
            <a:ext cx="1511300" cy="533400"/>
          </a:xfrm>
          <a:prstGeom prst="wedgeRoundRectCallout">
            <a:avLst>
              <a:gd name="adj1" fmla="val -122690"/>
              <a:gd name="adj2" fmla="val 196431"/>
              <a:gd name="adj3" fmla="val 16667"/>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lgn="ctr" fontAlgn="auto">
              <a:spcBef>
                <a:spcPct val="20000"/>
              </a:spcBef>
              <a:spcAft>
                <a:spcPts val="0"/>
              </a:spcAft>
              <a:buClr>
                <a:srgbClr val="FFFFFF"/>
              </a:buClr>
              <a:defRPr/>
            </a:pPr>
            <a:r>
              <a:rPr lang="zh-CN" altLang="en-US" sz="2000" b="1" kern="0">
                <a:solidFill>
                  <a:srgbClr val="000000"/>
                </a:solidFill>
                <a:latin typeface="黑体" panose="02010609060101010101" pitchFamily="49" charset="-122"/>
                <a:ea typeface="黑体" panose="02010609060101010101" pitchFamily="49" charset="-122"/>
              </a:rPr>
              <a:t>拾取操作</a:t>
            </a:r>
          </a:p>
        </p:txBody>
      </p:sp>
      <p:pic>
        <p:nvPicPr>
          <p:cNvPr id="117" name="Picture 1" descr="C:\Users\Administrator\AppData\Roaming\Tencent\Users\7849952\QQ\WinTemp\RichOle\OVPU(ZQHLF7M~5R(Q2UKM5K.png">
            <a:extLst>
              <a:ext uri="{FF2B5EF4-FFF2-40B4-BE49-F238E27FC236}">
                <a16:creationId xmlns:a16="http://schemas.microsoft.com/office/drawing/2014/main" id="{94DFC62D-7472-49C6-83BA-9F45E307C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8650" y="895350"/>
            <a:ext cx="7556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20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wipe(up)">
                                      <p:cBhvr>
                                        <p:cTn id="12" dur="20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7"/>
                                        </p:tgtEl>
                                        <p:attrNameLst>
                                          <p:attrName>style.visibility</p:attrName>
                                        </p:attrNameLst>
                                      </p:cBhvr>
                                      <p:to>
                                        <p:strVal val="visible"/>
                                      </p:to>
                                    </p:set>
                                  </p:childTnLst>
                                </p:cTn>
                              </p:par>
                            </p:childTnLst>
                          </p:cTn>
                        </p:par>
                        <p:par>
                          <p:cTn id="17" fill="hold">
                            <p:stCondLst>
                              <p:cond delay="0"/>
                            </p:stCondLst>
                            <p:childTnLst>
                              <p:par>
                                <p:cTn id="18" presetID="26" presetClass="emph" presetSubtype="0" fill="hold" nodeType="afterEffect">
                                  <p:stCondLst>
                                    <p:cond delay="0"/>
                                  </p:stCondLst>
                                  <p:childTnLst>
                                    <p:animEffect transition="out" filter="fade">
                                      <p:cBhvr>
                                        <p:cTn id="19" dur="500" tmFilter="0, 0; .2, .5; .8, .5; 1, 0"/>
                                        <p:tgtEl>
                                          <p:spTgt spid="117"/>
                                        </p:tgtEl>
                                      </p:cBhvr>
                                    </p:animEffect>
                                    <p:animScale>
                                      <p:cBhvr>
                                        <p:cTn id="20" dur="250" autoRev="1" fill="hold"/>
                                        <p:tgtEl>
                                          <p:spTgt spid="117"/>
                                        </p:tgtEl>
                                      </p:cBhvr>
                                      <p:by x="105000" y="105000"/>
                                    </p:animScale>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00"/>
                                        </p:tgtEl>
                                        <p:attrNameLst>
                                          <p:attrName>style.visibility</p:attrName>
                                        </p:attrNameLst>
                                      </p:cBhvr>
                                      <p:to>
                                        <p:strVal val="visible"/>
                                      </p:to>
                                    </p:set>
                                    <p:animEffect transition="in" filter="wipe(left)">
                                      <p:cBhvr>
                                        <p:cTn id="24" dur="2000"/>
                                        <p:tgtEl>
                                          <p:spTgt spid="100"/>
                                        </p:tgtEl>
                                      </p:cBhvr>
                                    </p:animEffect>
                                  </p:childTnLst>
                                </p:cTn>
                              </p:par>
                            </p:childTnLst>
                          </p:cTn>
                        </p:par>
                        <p:par>
                          <p:cTn id="25" fill="hold">
                            <p:stCondLst>
                              <p:cond delay="2500"/>
                            </p:stCondLst>
                            <p:childTnLst>
                              <p:par>
                                <p:cTn id="26" presetID="22" presetClass="entr" presetSubtype="4" fill="hold" grpId="0" nodeType="after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wipe(down)">
                                      <p:cBhvr>
                                        <p:cTn id="28" dur="2000"/>
                                        <p:tgtEl>
                                          <p:spTgt spid="1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14"/>
                                        </p:tgtEl>
                                        <p:attrNameLst>
                                          <p:attrName>style.visibility</p:attrName>
                                        </p:attrNameLst>
                                      </p:cBhvr>
                                      <p:to>
                                        <p:strVal val="visible"/>
                                      </p:to>
                                    </p:set>
                                    <p:animEffect transition="in" filter="wipe(up)">
                                      <p:cBhvr>
                                        <p:cTn id="33" dur="3000"/>
                                        <p:tgtEl>
                                          <p:spTgt spid="114"/>
                                        </p:tgtEl>
                                      </p:cBhvr>
                                    </p:animEffect>
                                  </p:childTnLst>
                                </p:cTn>
                              </p:par>
                            </p:childTnLst>
                          </p:cTn>
                        </p:par>
                        <p:par>
                          <p:cTn id="34" fill="hold">
                            <p:stCondLst>
                              <p:cond delay="3000"/>
                            </p:stCondLst>
                            <p:childTnLst>
                              <p:par>
                                <p:cTn id="35" presetID="26" presetClass="emph" presetSubtype="0" fill="hold" nodeType="afterEffect">
                                  <p:stCondLst>
                                    <p:cond delay="0"/>
                                  </p:stCondLst>
                                  <p:childTnLst>
                                    <p:animEffect transition="out" filter="fade">
                                      <p:cBhvr>
                                        <p:cTn id="36" dur="2000" tmFilter="0, 0; .2, .5; .8, .5; 1, 0"/>
                                        <p:tgtEl>
                                          <p:spTgt spid="114"/>
                                        </p:tgtEl>
                                      </p:cBhvr>
                                    </p:animEffect>
                                    <p:animScale>
                                      <p:cBhvr>
                                        <p:cTn id="37" dur="1000" autoRev="1" fill="hold"/>
                                        <p:tgtEl>
                                          <p:spTgt spid="1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884C51A0-FFC1-47D1-9DD1-EAE2DA89E160}"/>
              </a:ext>
            </a:extLst>
          </p:cNvPr>
          <p:cNvSpPr>
            <a:spLocks noGrp="1" noChangeArrowheads="1"/>
          </p:cNvSpPr>
          <p:nvPr>
            <p:ph type="title"/>
          </p:nvPr>
        </p:nvSpPr>
        <p:spPr/>
        <p:txBody>
          <a:bodyPr/>
          <a:lstStyle/>
          <a:p>
            <a:pPr>
              <a:defRPr/>
            </a:pPr>
            <a:r>
              <a:rPr lang="en-US" altLang="zh-CN" dirty="0">
                <a:cs typeface="+mj-cs"/>
              </a:rPr>
              <a:t>8.2.1 </a:t>
            </a:r>
            <a:r>
              <a:rPr lang="zh-CN" altLang="en-US" dirty="0">
                <a:cs typeface="+mj-cs"/>
              </a:rPr>
              <a:t>拾取的基本原理</a:t>
            </a:r>
          </a:p>
        </p:txBody>
      </p:sp>
      <p:sp>
        <p:nvSpPr>
          <p:cNvPr id="16" name="Rectangle 11">
            <a:extLst>
              <a:ext uri="{FF2B5EF4-FFF2-40B4-BE49-F238E27FC236}">
                <a16:creationId xmlns:a16="http://schemas.microsoft.com/office/drawing/2014/main" id="{A1D395CE-74BE-4A13-ACA1-B298F1259658}"/>
              </a:ext>
            </a:extLst>
          </p:cNvPr>
          <p:cNvSpPr txBox="1">
            <a:spLocks noChangeArrowheads="1"/>
          </p:cNvSpPr>
          <p:nvPr/>
        </p:nvSpPr>
        <p:spPr bwMode="auto">
          <a:xfrm>
            <a:off x="1593850" y="6515101"/>
            <a:ext cx="3511550" cy="2571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1pPr>
            <a:lvl2pPr marL="742950" indent="-28575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2pPr>
            <a:lvl3pPr marL="1143000" indent="-2286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3pPr>
            <a:lvl4pPr marL="1600200" indent="-2286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4pPr>
            <a:lvl5pPr marL="2057400" indent="-228600" algn="l" rtl="0" eaLnBrk="0" fontAlgn="base"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5pPr>
            <a:lvl6pPr marL="2514600" indent="-228600" algn="l" defTabSz="914400" rtl="0" eaLnBrk="0" fontAlgn="base" latinLnBrk="0"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6pPr>
            <a:lvl7pPr marL="2971800" indent="-228600" algn="l" defTabSz="914400" rtl="0" eaLnBrk="0" fontAlgn="base" latinLnBrk="0"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7pPr>
            <a:lvl8pPr marL="3429000" indent="-228600" algn="l" defTabSz="914400" rtl="0" eaLnBrk="0" fontAlgn="base" latinLnBrk="0"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8pPr>
            <a:lvl9pPr marL="3886200" indent="-228600" algn="l" defTabSz="914400" rtl="0" eaLnBrk="0" fontAlgn="base" latinLnBrk="0" hangingPunct="0">
              <a:spcBef>
                <a:spcPct val="0"/>
              </a:spcBef>
              <a:spcAft>
                <a:spcPct val="0"/>
              </a:spcAft>
              <a:defRPr sz="1600" kern="1200">
                <a:solidFill>
                  <a:schemeClr val="tx1"/>
                </a:solidFill>
                <a:latin typeface="Arial" panose="020B0604020202020204" pitchFamily="34" charset="0"/>
                <a:ea typeface="华文琥珀" panose="02010800040101010101" pitchFamily="2" charset="-122"/>
                <a:cs typeface="+mn-cs"/>
              </a:defRPr>
            </a:lvl9pPr>
          </a:lstStyle>
          <a:p>
            <a:r>
              <a:rPr lang="en-US" altLang="zh-CN">
                <a:solidFill>
                  <a:srgbClr val="FFFFFF"/>
                </a:solidFill>
                <a:latin typeface="华文新魏" panose="02010800040101010101" pitchFamily="2" charset="-122"/>
                <a:ea typeface="华文新魏" panose="02010800040101010101" pitchFamily="2" charset="-122"/>
              </a:rPr>
              <a:t>三维图形程序设计</a:t>
            </a:r>
          </a:p>
        </p:txBody>
      </p:sp>
      <p:sp>
        <p:nvSpPr>
          <p:cNvPr id="17" name="Rectangle 3">
            <a:extLst>
              <a:ext uri="{FF2B5EF4-FFF2-40B4-BE49-F238E27FC236}">
                <a16:creationId xmlns:a16="http://schemas.microsoft.com/office/drawing/2014/main" id="{823E0A54-7B02-46E8-9788-FD1002325DFB}"/>
              </a:ext>
            </a:extLst>
          </p:cNvPr>
          <p:cNvSpPr txBox="1">
            <a:spLocks noChangeArrowheads="1"/>
          </p:cNvSpPr>
          <p:nvPr/>
        </p:nvSpPr>
        <p:spPr bwMode="auto">
          <a:xfrm>
            <a:off x="573076" y="1121373"/>
            <a:ext cx="11377264" cy="5032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marL="457200" indent="-457200">
              <a:defRPr/>
            </a:pPr>
            <a:r>
              <a:rPr lang="zh-CN" altLang="en-US" kern="0" dirty="0">
                <a:ea typeface="黑体" pitchFamily="49" charset="-122"/>
              </a:rPr>
              <a:t>拾取（</a:t>
            </a:r>
            <a:r>
              <a:rPr lang="en-US" altLang="zh-CN" kern="0" dirty="0">
                <a:ea typeface="黑体" pitchFamily="49" charset="-122"/>
              </a:rPr>
              <a:t>Picking</a:t>
            </a:r>
            <a:r>
              <a:rPr lang="zh-CN" altLang="en-US" kern="0" dirty="0">
                <a:ea typeface="黑体" pitchFamily="49" charset="-122"/>
              </a:rPr>
              <a:t>）</a:t>
            </a:r>
            <a:r>
              <a:rPr lang="en-US" altLang="zh-CN" kern="0" dirty="0">
                <a:latin typeface="黑体" pitchFamily="49" charset="-122"/>
                <a:ea typeface="黑体" pitchFamily="49" charset="-122"/>
              </a:rPr>
              <a:t>——</a:t>
            </a:r>
            <a:r>
              <a:rPr lang="zh-CN" altLang="en-US" kern="0" dirty="0">
                <a:ea typeface="黑体" pitchFamily="49" charset="-122"/>
              </a:rPr>
              <a:t>确定哪些几何对象绘制后覆盖了鼠标选择的像素或拾取区域</a:t>
            </a:r>
          </a:p>
        </p:txBody>
      </p:sp>
      <p:pic>
        <p:nvPicPr>
          <p:cNvPr id="18" name="Picture 4">
            <a:extLst>
              <a:ext uri="{FF2B5EF4-FFF2-40B4-BE49-F238E27FC236}">
                <a16:creationId xmlns:a16="http://schemas.microsoft.com/office/drawing/2014/main" id="{E475A88E-E845-4798-A12F-D781D2604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1772816"/>
            <a:ext cx="6480175" cy="428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utoShape 5">
            <a:extLst>
              <a:ext uri="{FF2B5EF4-FFF2-40B4-BE49-F238E27FC236}">
                <a16:creationId xmlns:a16="http://schemas.microsoft.com/office/drawing/2014/main" id="{9FA5525B-2AF5-4A09-BDB7-3578B704778A}"/>
              </a:ext>
            </a:extLst>
          </p:cNvPr>
          <p:cNvSpPr>
            <a:spLocks noChangeArrowheads="1"/>
          </p:cNvSpPr>
          <p:nvPr/>
        </p:nvSpPr>
        <p:spPr bwMode="auto">
          <a:xfrm>
            <a:off x="7734721" y="4666270"/>
            <a:ext cx="3185815" cy="1081087"/>
          </a:xfrm>
          <a:prstGeom prst="wedgeRoundRectCallout">
            <a:avLst>
              <a:gd name="adj1" fmla="val -137899"/>
              <a:gd name="adj2" fmla="val -134525"/>
              <a:gd name="adj3" fmla="val 16667"/>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2400" b="1" kern="0">
                <a:solidFill>
                  <a:srgbClr val="000000"/>
                </a:solidFill>
                <a:effectLst>
                  <a:outerShdw blurRad="38100" dist="38100" dir="2700000" algn="tl">
                    <a:srgbClr val="FFFFFF"/>
                  </a:outerShdw>
                </a:effectLst>
                <a:ea typeface="宋体" pitchFamily="2" charset="-122"/>
              </a:rPr>
              <a:t>鼠标选择的像素点及其拾取区域</a:t>
            </a:r>
            <a:endParaRPr lang="en-US" altLang="zh-CN" sz="2400" b="1" kern="0">
              <a:solidFill>
                <a:srgbClr val="000000"/>
              </a:solidFill>
              <a:effectLst>
                <a:outerShdw blurRad="38100" dist="38100" dir="2700000" algn="tl">
                  <a:srgbClr val="FFFFFF"/>
                </a:outerShdw>
              </a:effectLst>
              <a:ea typeface="宋体" pitchFamily="2" charset="-122"/>
            </a:endParaRPr>
          </a:p>
        </p:txBody>
      </p:sp>
      <p:sp>
        <p:nvSpPr>
          <p:cNvPr id="20" name="AutoShape 6">
            <a:extLst>
              <a:ext uri="{FF2B5EF4-FFF2-40B4-BE49-F238E27FC236}">
                <a16:creationId xmlns:a16="http://schemas.microsoft.com/office/drawing/2014/main" id="{8644041D-C32F-434E-B626-224507C92631}"/>
              </a:ext>
            </a:extLst>
          </p:cNvPr>
          <p:cNvSpPr>
            <a:spLocks noChangeArrowheads="1"/>
          </p:cNvSpPr>
          <p:nvPr/>
        </p:nvSpPr>
        <p:spPr bwMode="auto">
          <a:xfrm>
            <a:off x="9084890" y="2724349"/>
            <a:ext cx="1943100" cy="576263"/>
          </a:xfrm>
          <a:prstGeom prst="wedgeRoundRectCallout">
            <a:avLst>
              <a:gd name="adj1" fmla="val -109761"/>
              <a:gd name="adj2" fmla="val -79042"/>
              <a:gd name="adj3" fmla="val 16667"/>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2400" b="1" kern="0" dirty="0">
                <a:solidFill>
                  <a:srgbClr val="000000"/>
                </a:solidFill>
                <a:effectLst>
                  <a:outerShdw blurRad="38100" dist="38100" dir="2700000" algn="tl">
                    <a:srgbClr val="FFFFFF"/>
                  </a:outerShdw>
                </a:effectLst>
                <a:ea typeface="宋体" pitchFamily="2" charset="-122"/>
              </a:rPr>
              <a:t>视域体</a:t>
            </a:r>
            <a:endParaRPr lang="en-US" altLang="zh-CN" sz="2400" b="1" kern="0" dirty="0">
              <a:solidFill>
                <a:srgbClr val="000000"/>
              </a:solidFill>
              <a:effectLst>
                <a:outerShdw blurRad="38100" dist="38100" dir="2700000" algn="tl">
                  <a:srgbClr val="FFFFFF"/>
                </a:outerShdw>
              </a:effectLst>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C3D2BB4F-28FA-4382-AA3D-98B302514E83}"/>
              </a:ext>
            </a:extLst>
          </p:cNvPr>
          <p:cNvSpPr>
            <a:spLocks noGrp="1" noChangeArrowheads="1"/>
          </p:cNvSpPr>
          <p:nvPr>
            <p:ph type="title"/>
          </p:nvPr>
        </p:nvSpPr>
        <p:spPr/>
        <p:txBody>
          <a:bodyPr/>
          <a:lstStyle/>
          <a:p>
            <a:pPr>
              <a:defRPr/>
            </a:pPr>
            <a:r>
              <a:rPr lang="en-US" altLang="zh-CN" dirty="0">
                <a:cs typeface="+mj-cs"/>
              </a:rPr>
              <a:t>8.2.2 </a:t>
            </a:r>
            <a:r>
              <a:rPr lang="zh-CN" altLang="en-US" dirty="0">
                <a:cs typeface="+mj-cs"/>
              </a:rPr>
              <a:t>拾取方法</a:t>
            </a:r>
          </a:p>
        </p:txBody>
      </p:sp>
      <p:sp>
        <p:nvSpPr>
          <p:cNvPr id="543747" name="Rectangle 3">
            <a:extLst>
              <a:ext uri="{FF2B5EF4-FFF2-40B4-BE49-F238E27FC236}">
                <a16:creationId xmlns:a16="http://schemas.microsoft.com/office/drawing/2014/main" id="{A941A363-D972-4D35-80D0-B0AF417CFCC3}"/>
              </a:ext>
            </a:extLst>
          </p:cNvPr>
          <p:cNvSpPr>
            <a:spLocks noGrp="1" noChangeArrowheads="1"/>
          </p:cNvSpPr>
          <p:nvPr>
            <p:ph type="body" idx="1"/>
          </p:nvPr>
        </p:nvSpPr>
        <p:spPr>
          <a:xfrm>
            <a:off x="2208214" y="1341438"/>
            <a:ext cx="7945437" cy="3194050"/>
          </a:xfrm>
        </p:spPr>
        <p:txBody>
          <a:bodyPr/>
          <a:lstStyle/>
          <a:p>
            <a:pPr algn="just">
              <a:buFont typeface="Wingdings" panose="05000000000000000000" pitchFamily="2" charset="2"/>
              <a:buChar char="l"/>
              <a:defRPr/>
            </a:pPr>
            <a:r>
              <a:rPr lang="zh-CN" altLang="en-US" dirty="0">
                <a:ea typeface="黑体" pitchFamily="49" charset="-122"/>
              </a:rPr>
              <a:t>我们的工作</a:t>
            </a:r>
          </a:p>
          <a:p>
            <a:pPr marL="1057275" lvl="1" indent="-457200" algn="just">
              <a:buFont typeface="Wingdings" panose="05000000000000000000" pitchFamily="2" charset="2"/>
              <a:buAutoNum type="circleNumDbPlain"/>
              <a:defRPr/>
            </a:pPr>
            <a:r>
              <a:rPr lang="zh-CN" altLang="en-US" sz="2400" dirty="0">
                <a:ea typeface="黑体" pitchFamily="49" charset="-122"/>
              </a:rPr>
              <a:t>选择模式</a:t>
            </a:r>
            <a:r>
              <a:rPr lang="en-US" altLang="zh-CN" sz="2400" dirty="0">
                <a:latin typeface="黑体" pitchFamily="49" charset="-122"/>
                <a:ea typeface="黑体" pitchFamily="49" charset="-122"/>
              </a:rPr>
              <a:t>——</a:t>
            </a:r>
            <a:r>
              <a:rPr lang="zh-CN" altLang="en-US" sz="2400" dirty="0">
                <a:ea typeface="黑体" pitchFamily="49" charset="-122"/>
              </a:rPr>
              <a:t>如何切换？何时开始？何时结束？</a:t>
            </a:r>
          </a:p>
          <a:p>
            <a:pPr marL="1057275" lvl="1" indent="-457200" algn="just">
              <a:buFont typeface="Wingdings" panose="05000000000000000000" pitchFamily="2" charset="2"/>
              <a:buAutoNum type="circleNumDbPlain"/>
              <a:defRPr/>
            </a:pPr>
            <a:r>
              <a:rPr lang="zh-CN" altLang="en-US" sz="2400" dirty="0">
                <a:ea typeface="黑体" pitchFamily="49" charset="-122"/>
              </a:rPr>
              <a:t>拾取区域</a:t>
            </a:r>
            <a:r>
              <a:rPr lang="en-US" altLang="zh-CN" sz="2400" dirty="0">
                <a:latin typeface="黑体" pitchFamily="49" charset="-122"/>
                <a:ea typeface="黑体" pitchFamily="49" charset="-122"/>
              </a:rPr>
              <a:t>——</a:t>
            </a:r>
            <a:r>
              <a:rPr lang="zh-CN" altLang="en-US" sz="2400" dirty="0">
                <a:ea typeface="黑体" pitchFamily="49" charset="-122"/>
              </a:rPr>
              <a:t>如何定义？如何提交？</a:t>
            </a:r>
          </a:p>
          <a:p>
            <a:pPr marL="1057275" lvl="1" indent="-457200" algn="just">
              <a:buFont typeface="Wingdings" panose="05000000000000000000" pitchFamily="2" charset="2"/>
              <a:buAutoNum type="circleNumDbPlain"/>
              <a:defRPr/>
            </a:pPr>
            <a:r>
              <a:rPr lang="zh-CN" altLang="en-US" sz="2400" dirty="0">
                <a:latin typeface="黑体" pitchFamily="49" charset="-122"/>
                <a:ea typeface="黑体" pitchFamily="49" charset="-122"/>
              </a:rPr>
              <a:t>“</a:t>
            </a:r>
            <a:r>
              <a:rPr lang="zh-CN" altLang="en-US" sz="2400" dirty="0">
                <a:ea typeface="黑体" pitchFamily="49" charset="-122"/>
              </a:rPr>
              <a:t>感兴趣的单元</a:t>
            </a:r>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a:t>
            </a:r>
            <a:r>
              <a:rPr lang="zh-CN" altLang="en-US" sz="2400" dirty="0">
                <a:ea typeface="黑体" pitchFamily="49" charset="-122"/>
              </a:rPr>
              <a:t>如何定义？如何提交？</a:t>
            </a:r>
          </a:p>
          <a:p>
            <a:pPr marL="1057275" lvl="1" indent="-457200" algn="just">
              <a:buFont typeface="Wingdings" panose="05000000000000000000" pitchFamily="2" charset="2"/>
              <a:buAutoNum type="circleNumDbPlain"/>
              <a:defRPr/>
            </a:pPr>
            <a:r>
              <a:rPr lang="zh-CN" altLang="en-US" sz="2400" dirty="0">
                <a:ea typeface="黑体" pitchFamily="49" charset="-122"/>
              </a:rPr>
              <a:t>名称堆栈</a:t>
            </a:r>
            <a:endParaRPr lang="en-US" altLang="zh-CN" sz="2400" dirty="0">
              <a:ea typeface="黑体" pitchFamily="49" charset="-122"/>
            </a:endParaRPr>
          </a:p>
          <a:p>
            <a:pPr marL="1057275" lvl="1" indent="-457200" algn="just">
              <a:buFont typeface="Wingdings" panose="05000000000000000000" pitchFamily="2" charset="2"/>
              <a:buAutoNum type="circleNumDbPlain"/>
              <a:defRPr/>
            </a:pPr>
            <a:r>
              <a:rPr lang="zh-CN" altLang="en-US" sz="2400" dirty="0">
                <a:ea typeface="黑体" pitchFamily="49" charset="-122"/>
              </a:rPr>
              <a:t>选择缓存</a:t>
            </a:r>
            <a:r>
              <a:rPr lang="en-US" altLang="zh-CN" sz="2400" dirty="0">
                <a:latin typeface="黑体" pitchFamily="49" charset="-122"/>
                <a:ea typeface="黑体" pitchFamily="49" charset="-122"/>
              </a:rPr>
              <a:t>——</a:t>
            </a:r>
            <a:r>
              <a:rPr lang="zh-CN" altLang="en-US" sz="2400" dirty="0">
                <a:ea typeface="黑体" pitchFamily="49" charset="-122"/>
              </a:rPr>
              <a:t>如何定义？如何提交？</a:t>
            </a:r>
            <a:endParaRPr lang="zh-CN" altLang="en-US" dirty="0">
              <a:ea typeface="黑体" pitchFamily="49" charset="-122"/>
            </a:endParaRP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a:extLst>
              <a:ext uri="{FF2B5EF4-FFF2-40B4-BE49-F238E27FC236}">
                <a16:creationId xmlns:a16="http://schemas.microsoft.com/office/drawing/2014/main" id="{01DA00A7-33DD-42F2-AEAD-8CBD3D90BD7F}"/>
              </a:ext>
            </a:extLst>
          </p:cNvPr>
          <p:cNvSpPr>
            <a:spLocks noGrp="1" noChangeArrowheads="1"/>
          </p:cNvSpPr>
          <p:nvPr>
            <p:ph type="title"/>
          </p:nvPr>
        </p:nvSpPr>
        <p:spPr/>
        <p:txBody>
          <a:bodyPr/>
          <a:lstStyle/>
          <a:p>
            <a:pPr>
              <a:defRPr/>
            </a:pPr>
            <a:r>
              <a:rPr lang="en-US" altLang="zh-CN">
                <a:latin typeface="Arial" pitchFamily="34" charset="0"/>
              </a:rPr>
              <a:t>(1) </a:t>
            </a:r>
            <a:r>
              <a:rPr lang="zh-CN" altLang="en-US">
                <a:latin typeface="Arial" pitchFamily="34" charset="0"/>
              </a:rPr>
              <a:t>选择模式</a:t>
            </a:r>
          </a:p>
        </p:txBody>
      </p:sp>
      <p:sp>
        <p:nvSpPr>
          <p:cNvPr id="546819" name="Rectangle 3">
            <a:extLst>
              <a:ext uri="{FF2B5EF4-FFF2-40B4-BE49-F238E27FC236}">
                <a16:creationId xmlns:a16="http://schemas.microsoft.com/office/drawing/2014/main" id="{3DCEE12D-3848-42BC-B34C-CB37E3643D3D}"/>
              </a:ext>
            </a:extLst>
          </p:cNvPr>
          <p:cNvSpPr>
            <a:spLocks noGrp="1" noChangeArrowheads="1"/>
          </p:cNvSpPr>
          <p:nvPr>
            <p:ph type="body" idx="1"/>
          </p:nvPr>
        </p:nvSpPr>
        <p:spPr>
          <a:xfrm>
            <a:off x="767408" y="836713"/>
            <a:ext cx="10916592" cy="5175251"/>
          </a:xfrm>
        </p:spPr>
        <p:txBody>
          <a:bodyPr/>
          <a:lstStyle/>
          <a:p>
            <a:pPr>
              <a:buFont typeface="Wingdings" panose="05000000000000000000" pitchFamily="2" charset="2"/>
              <a:buChar char="l"/>
              <a:defRPr/>
            </a:pPr>
            <a:r>
              <a:rPr lang="zh-CN" altLang="en-US" sz="2400" dirty="0">
                <a:ea typeface="黑体" pitchFamily="49" charset="-122"/>
              </a:rPr>
              <a:t>选择模式</a:t>
            </a:r>
            <a:r>
              <a:rPr lang="en-US" altLang="zh-CN" sz="2400" dirty="0">
                <a:ea typeface="黑体" pitchFamily="49" charset="-122"/>
                <a:sym typeface="Wingdings" pitchFamily="2" charset="2"/>
              </a:rPr>
              <a:t></a:t>
            </a:r>
            <a:r>
              <a:rPr lang="zh-CN" altLang="en-US" sz="2400" dirty="0">
                <a:ea typeface="黑体" pitchFamily="49" charset="-122"/>
                <a:sym typeface="Wingdings" pitchFamily="2" charset="2"/>
              </a:rPr>
              <a:t>渲染模式</a:t>
            </a:r>
          </a:p>
          <a:p>
            <a:pPr lvl="1">
              <a:defRPr/>
            </a:pPr>
            <a:r>
              <a:rPr lang="en-US" altLang="zh-CN" sz="2400" dirty="0" err="1">
                <a:solidFill>
                  <a:srgbClr val="C00000"/>
                </a:solidFill>
                <a:ea typeface="黑体" pitchFamily="49" charset="-122"/>
              </a:rPr>
              <a:t>GLint</a:t>
            </a:r>
            <a:r>
              <a:rPr lang="en-US" altLang="zh-CN" sz="2400" dirty="0">
                <a:solidFill>
                  <a:srgbClr val="C00000"/>
                </a:solidFill>
                <a:ea typeface="黑体" pitchFamily="49" charset="-122"/>
              </a:rPr>
              <a:t>   </a:t>
            </a:r>
            <a:r>
              <a:rPr lang="en-US" altLang="zh-CN" sz="2400" dirty="0" err="1">
                <a:solidFill>
                  <a:srgbClr val="C00000"/>
                </a:solidFill>
                <a:ea typeface="黑体" pitchFamily="49" charset="-122"/>
              </a:rPr>
              <a:t>glRenderMode</a:t>
            </a:r>
            <a:r>
              <a:rPr lang="en-US" altLang="zh-CN" sz="2400" dirty="0">
                <a:solidFill>
                  <a:srgbClr val="C00000"/>
                </a:solidFill>
                <a:ea typeface="黑体" pitchFamily="49" charset="-122"/>
              </a:rPr>
              <a:t>(</a:t>
            </a:r>
            <a:r>
              <a:rPr lang="en-US" altLang="zh-CN" sz="2400" dirty="0" err="1">
                <a:solidFill>
                  <a:srgbClr val="C00000"/>
                </a:solidFill>
                <a:ea typeface="黑体" pitchFamily="49" charset="-122"/>
              </a:rPr>
              <a:t>GLenum</a:t>
            </a:r>
            <a:r>
              <a:rPr lang="en-US" altLang="zh-CN" sz="2400" dirty="0">
                <a:solidFill>
                  <a:srgbClr val="C00000"/>
                </a:solidFill>
                <a:ea typeface="黑体" pitchFamily="49" charset="-122"/>
              </a:rPr>
              <a:t> mode)</a:t>
            </a:r>
          </a:p>
          <a:p>
            <a:pPr lvl="1">
              <a:defRPr/>
            </a:pPr>
            <a:r>
              <a:rPr lang="en-US" altLang="zh-CN" sz="2400" dirty="0">
                <a:ea typeface="黑体" pitchFamily="49" charset="-122"/>
              </a:rPr>
              <a:t>mode</a:t>
            </a:r>
            <a:r>
              <a:rPr lang="en-US" altLang="zh-CN" sz="2400" dirty="0">
                <a:latin typeface="黑体" pitchFamily="49" charset="-122"/>
                <a:ea typeface="黑体" pitchFamily="49" charset="-122"/>
              </a:rPr>
              <a:t>——</a:t>
            </a:r>
            <a:r>
              <a:rPr lang="en-US" altLang="zh-CN" sz="2400" dirty="0">
                <a:ea typeface="黑体" pitchFamily="49" charset="-122"/>
              </a:rPr>
              <a:t>GL_SELECT</a:t>
            </a:r>
            <a:r>
              <a:rPr lang="zh-CN" altLang="en-US" sz="2400" dirty="0">
                <a:ea typeface="黑体" pitchFamily="49" charset="-122"/>
              </a:rPr>
              <a:t>（选择模式）、</a:t>
            </a:r>
          </a:p>
          <a:p>
            <a:pPr lvl="1">
              <a:buFont typeface="Wingdings" panose="05000000000000000000" pitchFamily="2" charset="2"/>
              <a:buNone/>
              <a:defRPr/>
            </a:pPr>
            <a:r>
              <a:rPr lang="en-US" altLang="zh-CN" sz="2400" dirty="0">
                <a:ea typeface="黑体" pitchFamily="49" charset="-122"/>
              </a:rPr>
              <a:t>                     GL_RENDER(</a:t>
            </a:r>
            <a:r>
              <a:rPr lang="zh-CN" altLang="en-US" sz="2400" dirty="0">
                <a:ea typeface="黑体" pitchFamily="49" charset="-122"/>
              </a:rPr>
              <a:t>绘制到颜色缓存）（默认） </a:t>
            </a:r>
          </a:p>
          <a:p>
            <a:pPr>
              <a:buFont typeface="Wingdings" panose="05000000000000000000" pitchFamily="2" charset="2"/>
              <a:buChar char="l"/>
              <a:defRPr/>
            </a:pPr>
            <a:r>
              <a:rPr lang="zh-CN" altLang="en-US" sz="2400" dirty="0">
                <a:ea typeface="黑体" pitchFamily="49" charset="-122"/>
              </a:rPr>
              <a:t>举例：</a:t>
            </a:r>
          </a:p>
          <a:p>
            <a:pPr lvl="1">
              <a:defRPr/>
            </a:pPr>
            <a:r>
              <a:rPr lang="zh-CN" altLang="en-US" sz="2400" dirty="0">
                <a:ea typeface="黑体" pitchFamily="49" charset="-122"/>
              </a:rPr>
              <a:t>从当前模式转换到选择模式</a:t>
            </a:r>
          </a:p>
          <a:p>
            <a:pPr lvl="1">
              <a:buFont typeface="Wingdings" panose="05000000000000000000" pitchFamily="2" charset="2"/>
              <a:buNone/>
              <a:defRPr/>
            </a:pPr>
            <a:r>
              <a:rPr lang="en-US" altLang="zh-CN" sz="2400" dirty="0">
                <a:ea typeface="黑体" pitchFamily="49" charset="-122"/>
              </a:rPr>
              <a:t>                </a:t>
            </a:r>
            <a:r>
              <a:rPr lang="en-US" altLang="zh-CN" sz="2400" dirty="0" err="1">
                <a:ea typeface="黑体" pitchFamily="49" charset="-122"/>
              </a:rPr>
              <a:t>glRenderMode</a:t>
            </a:r>
            <a:r>
              <a:rPr lang="en-US" altLang="zh-CN" sz="2400" dirty="0">
                <a:ea typeface="黑体" pitchFamily="49" charset="-122"/>
              </a:rPr>
              <a:t>(GL_SELECT)</a:t>
            </a:r>
            <a:r>
              <a:rPr lang="zh-CN" altLang="en-US" sz="2400" dirty="0">
                <a:ea typeface="黑体" pitchFamily="49" charset="-122"/>
              </a:rPr>
              <a:t>；</a:t>
            </a:r>
          </a:p>
          <a:p>
            <a:pPr lvl="1">
              <a:defRPr/>
            </a:pPr>
            <a:r>
              <a:rPr lang="zh-CN" altLang="en-US" sz="2400" dirty="0">
                <a:ea typeface="黑体" pitchFamily="49" charset="-122"/>
              </a:rPr>
              <a:t>从当前模式转换到渲染模式</a:t>
            </a:r>
          </a:p>
          <a:p>
            <a:pPr lvl="1">
              <a:buFont typeface="Wingdings" panose="05000000000000000000" pitchFamily="2" charset="2"/>
              <a:buNone/>
              <a:defRPr/>
            </a:pPr>
            <a:r>
              <a:rPr lang="en-US" altLang="zh-CN" sz="2400" dirty="0">
                <a:ea typeface="黑体" pitchFamily="49" charset="-122"/>
              </a:rPr>
              <a:t>               </a:t>
            </a:r>
            <a:r>
              <a:rPr lang="en-US" altLang="zh-CN" sz="2400" dirty="0" err="1">
                <a:ea typeface="黑体" pitchFamily="49" charset="-122"/>
              </a:rPr>
              <a:t>glRenderMode</a:t>
            </a:r>
            <a:r>
              <a:rPr lang="en-US" altLang="zh-CN" sz="2400" dirty="0">
                <a:ea typeface="黑体" pitchFamily="49" charset="-122"/>
              </a:rPr>
              <a:t>(GL_RENDER)</a:t>
            </a:r>
            <a:r>
              <a:rPr lang="zh-CN" altLang="en-US" sz="2400" dirty="0">
                <a:ea typeface="黑体" pitchFamily="49" charset="-122"/>
              </a:rPr>
              <a:t>； </a:t>
            </a:r>
          </a:p>
          <a:p>
            <a:pPr>
              <a:buFont typeface="Wingdings" panose="05000000000000000000" pitchFamily="2" charset="2"/>
              <a:buChar char="l"/>
              <a:defRPr/>
            </a:pPr>
            <a:r>
              <a:rPr lang="zh-CN" altLang="en-US" sz="2400" dirty="0">
                <a:ea typeface="黑体" pitchFamily="49" charset="-122"/>
              </a:rPr>
              <a:t>注意：</a:t>
            </a:r>
            <a:r>
              <a:rPr lang="zh-CN" altLang="en-US" sz="2400" dirty="0">
                <a:solidFill>
                  <a:srgbClr val="C00000"/>
                </a:solidFill>
                <a:ea typeface="黑体" pitchFamily="49" charset="-122"/>
              </a:rPr>
              <a:t>从选择模式转换到渲染模式时，命中记录才会真正写入到选择缓存中</a:t>
            </a:r>
            <a:endParaRPr lang="en-US" altLang="zh-CN" sz="2400" dirty="0">
              <a:solidFill>
                <a:srgbClr val="C00000"/>
              </a:solidFill>
              <a:ea typeface="黑体" pitchFamily="49" charset="-122"/>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F76C2232-1887-43EC-98DC-2BF043DC9CA3}"/>
              </a:ext>
            </a:extLst>
          </p:cNvPr>
          <p:cNvSpPr>
            <a:spLocks noGrp="1" noChangeArrowheads="1"/>
          </p:cNvSpPr>
          <p:nvPr>
            <p:ph type="title"/>
          </p:nvPr>
        </p:nvSpPr>
        <p:spPr/>
        <p:txBody>
          <a:bodyPr/>
          <a:lstStyle/>
          <a:p>
            <a:pPr>
              <a:defRPr/>
            </a:pPr>
            <a:r>
              <a:rPr lang="en-US" altLang="zh-CN">
                <a:latin typeface="Arial" pitchFamily="34" charset="0"/>
              </a:rPr>
              <a:t>(1) </a:t>
            </a:r>
            <a:r>
              <a:rPr lang="zh-CN" altLang="en-US">
                <a:latin typeface="Arial" pitchFamily="34" charset="0"/>
              </a:rPr>
              <a:t>选择模式</a:t>
            </a:r>
          </a:p>
        </p:txBody>
      </p:sp>
      <p:sp>
        <p:nvSpPr>
          <p:cNvPr id="547843" name="Rectangle 3">
            <a:extLst>
              <a:ext uri="{FF2B5EF4-FFF2-40B4-BE49-F238E27FC236}">
                <a16:creationId xmlns:a16="http://schemas.microsoft.com/office/drawing/2014/main" id="{F316F8A0-80C8-455E-A9BE-63F5264AACC8}"/>
              </a:ext>
            </a:extLst>
          </p:cNvPr>
          <p:cNvSpPr>
            <a:spLocks noGrp="1" noChangeArrowheads="1"/>
          </p:cNvSpPr>
          <p:nvPr>
            <p:ph type="body" idx="1"/>
          </p:nvPr>
        </p:nvSpPr>
        <p:spPr>
          <a:xfrm>
            <a:off x="2135561" y="908721"/>
            <a:ext cx="7945437" cy="560911"/>
          </a:xfrm>
        </p:spPr>
        <p:txBody>
          <a:bodyPr/>
          <a:lstStyle/>
          <a:p>
            <a:pPr>
              <a:buFont typeface="Wingdings" panose="05000000000000000000" pitchFamily="2" charset="2"/>
              <a:buChar char="l"/>
              <a:defRPr/>
            </a:pPr>
            <a:r>
              <a:rPr lang="zh-CN" altLang="en-US" dirty="0">
                <a:ea typeface="黑体" pitchFamily="49" charset="-122"/>
              </a:rPr>
              <a:t>选择模式何时开始，何时结束？</a:t>
            </a:r>
          </a:p>
        </p:txBody>
      </p:sp>
      <p:sp>
        <p:nvSpPr>
          <p:cNvPr id="547844" name="Rectangle 4">
            <a:extLst>
              <a:ext uri="{FF2B5EF4-FFF2-40B4-BE49-F238E27FC236}">
                <a16:creationId xmlns:a16="http://schemas.microsoft.com/office/drawing/2014/main" id="{9B134055-6E6D-4634-8576-A95290696AEF}"/>
              </a:ext>
            </a:extLst>
          </p:cNvPr>
          <p:cNvSpPr>
            <a:spLocks noChangeArrowheads="1"/>
          </p:cNvSpPr>
          <p:nvPr/>
        </p:nvSpPr>
        <p:spPr bwMode="auto">
          <a:xfrm>
            <a:off x="1775520" y="1628801"/>
            <a:ext cx="9217024" cy="4478149"/>
          </a:xfrm>
          <a:prstGeom prst="rect">
            <a:avLst/>
          </a:prstGeom>
          <a:noFill/>
          <a:ln w="9525">
            <a:noFill/>
            <a:miter lim="800000"/>
            <a:headEnd/>
            <a:tailEnd/>
          </a:ln>
          <a:effectLst/>
        </p:spPr>
        <p:txBody>
          <a:bodyPr wrap="square">
            <a:spAutoFit/>
          </a:bodyPr>
          <a:lstStyle/>
          <a:p>
            <a:pPr>
              <a:spcBef>
                <a:spcPts val="600"/>
              </a:spcBef>
              <a:defRPr/>
            </a:pP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glutMouseFunc</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a:solidFill>
                  <a:schemeClr val="accent2"/>
                </a:solidFill>
                <a:effectLst>
                  <a:outerShdw blurRad="38100" dist="38100" dir="2700000" algn="tl">
                    <a:srgbClr val="C0C0C0"/>
                  </a:outerShdw>
                </a:effectLst>
                <a:latin typeface="Courier New" pitchFamily="49" charset="0"/>
                <a:ea typeface="宋体" pitchFamily="2" charset="-122"/>
              </a:rPr>
              <a:t>mouse</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 //</a:t>
            </a:r>
            <a:r>
              <a:rPr lang="zh-CN" altLang="en-US" sz="2400" b="1" dirty="0">
                <a:solidFill>
                  <a:srgbClr val="151415"/>
                </a:solidFill>
                <a:effectLst>
                  <a:outerShdw blurRad="38100" dist="38100" dir="2700000" algn="tl">
                    <a:srgbClr val="C0C0C0"/>
                  </a:outerShdw>
                </a:effectLst>
                <a:latin typeface="Courier New" pitchFamily="49" charset="0"/>
                <a:ea typeface="宋体" pitchFamily="2" charset="-122"/>
              </a:rPr>
              <a:t>注册鼠标事件回调函数</a:t>
            </a:r>
          </a:p>
          <a:p>
            <a:pPr>
              <a:spcBef>
                <a:spcPts val="600"/>
              </a:spcBef>
              <a:defRPr/>
            </a:pPr>
            <a:endPar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endParaRPr>
          </a:p>
          <a:p>
            <a:pPr>
              <a:spcBef>
                <a:spcPts val="600"/>
              </a:spcBef>
              <a:defRPr/>
            </a:pP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void </a:t>
            </a:r>
            <a:r>
              <a:rPr lang="en-US" altLang="zh-CN" sz="2400" b="1" dirty="0">
                <a:solidFill>
                  <a:schemeClr val="accent2"/>
                </a:solidFill>
                <a:effectLst>
                  <a:outerShdw blurRad="38100" dist="38100" dir="2700000" algn="tl">
                    <a:srgbClr val="C0C0C0"/>
                  </a:outerShdw>
                </a:effectLst>
                <a:latin typeface="Courier New" pitchFamily="49" charset="0"/>
                <a:ea typeface="宋体" pitchFamily="2" charset="-122"/>
              </a:rPr>
              <a:t>mouse</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int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button,int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state,int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x,int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y ){</a:t>
            </a:r>
          </a:p>
          <a:p>
            <a:pPr lvl="1">
              <a:spcBef>
                <a:spcPts val="600"/>
              </a:spcBef>
              <a:defRPr/>
            </a:pP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hits</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命中记录的个数</a:t>
            </a:r>
          </a:p>
          <a:p>
            <a:pPr lvl="1">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400" b="1" noProof="1">
                <a:solidFill>
                  <a:srgbClr val="FF0000"/>
                </a:solidFill>
                <a:effectLst>
                  <a:outerShdw blurRad="38100" dist="38100" dir="2700000" algn="tl">
                    <a:srgbClr val="C0C0C0"/>
                  </a:outerShdw>
                </a:effectLst>
                <a:latin typeface="Courier New" pitchFamily="49" charset="0"/>
                <a:ea typeface="宋体" pitchFamily="2" charset="-122"/>
              </a:rPr>
              <a:t>glRenderMode(GL_SELECT);</a:t>
            </a:r>
            <a:r>
              <a:rPr lang="en-US" altLang="zh-CN" sz="2400" b="1" dirty="0">
                <a:solidFill>
                  <a:srgbClr val="FF0000"/>
                </a:solidFill>
                <a:effectLst>
                  <a:outerShdw blurRad="38100" dist="38100" dir="2700000" algn="tl">
                    <a:srgbClr val="C0C0C0"/>
                  </a:outerShdw>
                </a:effectLst>
                <a:latin typeface="Courier New" pitchFamily="49" charset="0"/>
                <a:ea typeface="宋体" pitchFamily="2" charset="-122"/>
              </a:rPr>
              <a:t> </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选择模式开始</a:t>
            </a:r>
            <a:endParaRPr lang="zh-CN" altLang="zh-CN" sz="24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hits</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400" b="1" noProof="1">
                <a:solidFill>
                  <a:srgbClr val="FF0000"/>
                </a:solidFill>
                <a:effectLst>
                  <a:outerShdw blurRad="38100" dist="38100" dir="2700000" algn="tl">
                    <a:srgbClr val="C0C0C0"/>
                  </a:outerShdw>
                </a:effectLst>
                <a:latin typeface="Courier New" pitchFamily="49" charset="0"/>
                <a:ea typeface="宋体" pitchFamily="2" charset="-122"/>
              </a:rPr>
              <a:t>glRenderMode (GL_RENDER);</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选择模式结束</a:t>
            </a:r>
            <a:endParaRPr lang="zh-CN"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indent="-457200">
              <a:spcBef>
                <a:spcPts val="600"/>
              </a:spcBef>
              <a:defRPr/>
            </a:pPr>
            <a:r>
              <a:rPr lang="en-US" altLang="zh-CN" sz="2400" b="1" dirty="0">
                <a:solidFill>
                  <a:srgbClr val="151415"/>
                </a:solidFill>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7844"/>
                                        </p:tgtEl>
                                        <p:attrNameLst>
                                          <p:attrName>style.visibility</p:attrName>
                                        </p:attrNameLst>
                                      </p:cBhvr>
                                      <p:to>
                                        <p:strVal val="visible"/>
                                      </p:to>
                                    </p:set>
                                    <p:animEffect transition="in" filter="dissolve">
                                      <p:cBhvr>
                                        <p:cTn id="7" dur="500"/>
                                        <p:tgtEl>
                                          <p:spTgt spid="547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a:extLst>
              <a:ext uri="{FF2B5EF4-FFF2-40B4-BE49-F238E27FC236}">
                <a16:creationId xmlns:a16="http://schemas.microsoft.com/office/drawing/2014/main" id="{9B81EB90-DE60-4254-A660-2D45CD30B3BF}"/>
              </a:ext>
            </a:extLst>
          </p:cNvPr>
          <p:cNvSpPr>
            <a:spLocks noGrp="1" noChangeArrowheads="1"/>
          </p:cNvSpPr>
          <p:nvPr>
            <p:ph type="title"/>
          </p:nvPr>
        </p:nvSpPr>
        <p:spPr/>
        <p:txBody>
          <a:bodyPr/>
          <a:lstStyle/>
          <a:p>
            <a:pPr>
              <a:defRPr/>
            </a:pPr>
            <a:r>
              <a:rPr lang="en-US" altLang="zh-CN" dirty="0">
                <a:cs typeface="+mj-cs"/>
              </a:rPr>
              <a:t>(2) </a:t>
            </a:r>
            <a:r>
              <a:rPr lang="zh-CN" altLang="en-US" dirty="0">
                <a:cs typeface="+mj-cs"/>
              </a:rPr>
              <a:t>拾取区域</a:t>
            </a:r>
          </a:p>
        </p:txBody>
      </p:sp>
      <p:sp>
        <p:nvSpPr>
          <p:cNvPr id="549891" name="Rectangle 3">
            <a:extLst>
              <a:ext uri="{FF2B5EF4-FFF2-40B4-BE49-F238E27FC236}">
                <a16:creationId xmlns:a16="http://schemas.microsoft.com/office/drawing/2014/main" id="{1BCD310E-D8D0-46C4-8A32-A86EF34D2696}"/>
              </a:ext>
            </a:extLst>
          </p:cNvPr>
          <p:cNvSpPr>
            <a:spLocks noGrp="1" noChangeArrowheads="1"/>
          </p:cNvSpPr>
          <p:nvPr>
            <p:ph type="body" idx="1"/>
          </p:nvPr>
        </p:nvSpPr>
        <p:spPr>
          <a:xfrm>
            <a:off x="1991545" y="908721"/>
            <a:ext cx="7945437" cy="560911"/>
          </a:xfrm>
        </p:spPr>
        <p:txBody>
          <a:bodyPr/>
          <a:lstStyle/>
          <a:p>
            <a:pPr>
              <a:buFont typeface="Wingdings" panose="05000000000000000000" pitchFamily="2" charset="2"/>
              <a:buChar char="l"/>
              <a:defRPr/>
            </a:pPr>
            <a:r>
              <a:rPr lang="zh-CN" altLang="en-US" dirty="0">
                <a:ea typeface="黑体" pitchFamily="49" charset="-122"/>
              </a:rPr>
              <a:t>拾取区域如何定义，如何提交？</a:t>
            </a:r>
          </a:p>
        </p:txBody>
      </p:sp>
      <p:sp>
        <p:nvSpPr>
          <p:cNvPr id="549892" name="Rectangle 4">
            <a:extLst>
              <a:ext uri="{FF2B5EF4-FFF2-40B4-BE49-F238E27FC236}">
                <a16:creationId xmlns:a16="http://schemas.microsoft.com/office/drawing/2014/main" id="{D9C48721-48A8-43AE-94CF-0EC41F1988F1}"/>
              </a:ext>
            </a:extLst>
          </p:cNvPr>
          <p:cNvSpPr>
            <a:spLocks noChangeArrowheads="1"/>
          </p:cNvSpPr>
          <p:nvPr/>
        </p:nvSpPr>
        <p:spPr bwMode="auto">
          <a:xfrm>
            <a:off x="1775520" y="1556793"/>
            <a:ext cx="8604250" cy="4632037"/>
          </a:xfrm>
          <a:prstGeom prst="rect">
            <a:avLst/>
          </a:prstGeom>
          <a:noFill/>
          <a:ln w="9525">
            <a:noFill/>
            <a:miter lim="800000"/>
            <a:headEnd/>
            <a:tailEnd/>
          </a:ln>
          <a:effectLst/>
        </p:spPr>
        <p:txBody>
          <a:bodyPr>
            <a:spAutoFit/>
          </a:bodyPr>
          <a:lstStyle/>
          <a:p>
            <a:pPr>
              <a:spcBef>
                <a:spcPts val="600"/>
              </a:spcBef>
              <a:defRPr/>
            </a:pP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void mouse( int button, int state, int x, int y ){</a:t>
            </a:r>
          </a:p>
          <a:p>
            <a:pPr lvl="1">
              <a:spcBef>
                <a:spcPts val="600"/>
              </a:spcBef>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GLint viewport[4];</a:t>
            </a:r>
            <a:r>
              <a:rPr lang="en-US" altLang="zh-CN" sz="2000" b="1" dirty="0">
                <a:solidFill>
                  <a:srgbClr val="008000"/>
                </a:solidFill>
                <a:effectLst>
                  <a:outerShdw blurRad="38100" dist="38100" dir="2700000" algn="tl">
                    <a:srgbClr val="C0C0C0"/>
                  </a:outerShdw>
                </a:effectLst>
                <a:latin typeface="Courier New" pitchFamily="49" charset="0"/>
                <a:ea typeface="宋体" pitchFamily="2" charset="-122"/>
              </a:rPr>
              <a:t> </a:t>
            </a:r>
            <a:r>
              <a:rPr lang="en-US" altLang="zh-CN" sz="2000" b="1" dirty="0">
                <a:effectLst>
                  <a:outerShdw blurRad="38100" dist="38100" dir="2700000" algn="tl">
                    <a:srgbClr val="C0C0C0"/>
                  </a:outerShdw>
                </a:effectLst>
                <a:latin typeface="Courier New" pitchFamily="49" charset="0"/>
                <a:ea typeface="宋体" pitchFamily="2" charset="-122"/>
              </a:rPr>
              <a:t>//</a:t>
            </a:r>
            <a:r>
              <a:rPr lang="zh-CN" altLang="en-US" sz="2000" b="1" dirty="0">
                <a:effectLst>
                  <a:outerShdw blurRad="38100" dist="38100" dir="2700000" algn="tl">
                    <a:srgbClr val="C0C0C0"/>
                  </a:outerShdw>
                </a:effectLst>
                <a:latin typeface="Courier New" pitchFamily="49" charset="0"/>
                <a:ea typeface="宋体" pitchFamily="2" charset="-122"/>
              </a:rPr>
              <a:t>保存当前视口的位置和大小</a:t>
            </a:r>
          </a:p>
          <a:p>
            <a:pPr lvl="1">
              <a:spcBef>
                <a:spcPts val="600"/>
              </a:spcBef>
              <a:defRPr/>
            </a:pP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glGetIntegerv (GL_VIEWPORT, viewport);</a:t>
            </a:r>
            <a:r>
              <a:rPr lang="en-US" altLang="zh-CN" sz="2000" b="1" dirty="0">
                <a:effectLst>
                  <a:outerShdw blurRad="38100" dist="38100" dir="2700000" algn="tl">
                    <a:srgbClr val="C0C0C0"/>
                  </a:outerShdw>
                </a:effectLst>
                <a:latin typeface="Courier New" pitchFamily="49" charset="0"/>
                <a:ea typeface="宋体" pitchFamily="2" charset="-122"/>
              </a:rPr>
              <a:t>//</a:t>
            </a:r>
            <a:r>
              <a:rPr lang="zh-CN" altLang="en-US" sz="2000" b="1" dirty="0">
                <a:effectLst>
                  <a:outerShdw blurRad="38100" dist="38100" dir="2700000" algn="tl">
                    <a:srgbClr val="C0C0C0"/>
                  </a:outerShdw>
                </a:effectLst>
                <a:latin typeface="Courier New" pitchFamily="49" charset="0"/>
                <a:ea typeface="宋体" pitchFamily="2" charset="-122"/>
              </a:rPr>
              <a:t>获得当前视口</a:t>
            </a:r>
          </a:p>
          <a:p>
            <a:pPr lvl="1">
              <a:spcBef>
                <a:spcPts val="600"/>
              </a:spcBef>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glRenderMode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000" b="1" dirty="0">
                <a:solidFill>
                  <a:srgbClr val="141414"/>
                </a:solidFill>
                <a:effectLst>
                  <a:outerShdw blurRad="38100" dist="38100" dir="2700000" algn="tl">
                    <a:srgbClr val="C0C0C0"/>
                  </a:outerShdw>
                </a:effectLst>
                <a:latin typeface="Courier New" pitchFamily="49" charset="0"/>
                <a:ea typeface="宋体" pitchFamily="2" charset="-122"/>
              </a:rPr>
              <a:t>选择模式开始</a:t>
            </a:r>
            <a:endParaRPr lang="zh-CN" altLang="zh-CN" sz="2000" b="1" noProof="1">
              <a:solidFill>
                <a:schemeClr val="hlink"/>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000" b="1" noProof="1">
                <a:solidFill>
                  <a:srgbClr val="C00000"/>
                </a:solidFill>
                <a:effectLst>
                  <a:outerShdw blurRad="38100" dist="38100" dir="2700000" algn="tl">
                    <a:srgbClr val="C0C0C0"/>
                  </a:outerShdw>
                </a:effectLst>
                <a:latin typeface="Courier New" pitchFamily="49" charset="0"/>
                <a:ea typeface="宋体" pitchFamily="2" charset="-122"/>
              </a:rPr>
              <a:t>gluPickMatrix</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 ((GLdouble) x, (GLdouble) </a:t>
            </a:r>
            <a:endParaRPr lang="en-US" altLang="zh-CN" sz="20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(viewport[3] - y), 5.0, 5.0, viewport);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effectLst>
                  <a:outerShdw blurRad="38100" dist="38100" dir="2700000" algn="tl">
                    <a:srgbClr val="C0C0C0"/>
                  </a:outerShdw>
                </a:effectLst>
                <a:latin typeface="Courier New" pitchFamily="49" charset="0"/>
                <a:ea typeface="宋体" pitchFamily="2" charset="-122"/>
              </a:rPr>
              <a:t>//</a:t>
            </a:r>
            <a:r>
              <a:rPr lang="en-US" altLang="zh-CN" sz="2000" b="1" dirty="0" err="1">
                <a:effectLst>
                  <a:outerShdw blurRad="38100" dist="38100" dir="2700000" algn="tl">
                    <a:srgbClr val="C0C0C0"/>
                  </a:outerShdw>
                </a:effectLst>
                <a:latin typeface="Courier New" pitchFamily="49" charset="0"/>
                <a:ea typeface="宋体" pitchFamily="2" charset="-122"/>
              </a:rPr>
              <a:t>提交</a:t>
            </a:r>
            <a:r>
              <a:rPr lang="zh-CN" altLang="en-US" sz="2000" b="1" dirty="0">
                <a:effectLst>
                  <a:outerShdw blurRad="38100" dist="38100" dir="2700000" algn="tl">
                    <a:srgbClr val="C0C0C0"/>
                  </a:outerShdw>
                </a:effectLst>
                <a:latin typeface="Courier New" pitchFamily="49" charset="0"/>
                <a:ea typeface="宋体" pitchFamily="2" charset="-122"/>
              </a:rPr>
              <a:t>拾取区域</a:t>
            </a:r>
            <a:endParaRPr lang="zh-CN" altLang="zh-CN" sz="2000" b="1" dirty="0">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hits = glRenderMode (GL_RENDER); //</a:t>
            </a:r>
            <a:r>
              <a:rPr lang="zh-CN" altLang="en-US" sz="2000" b="1" dirty="0">
                <a:solidFill>
                  <a:srgbClr val="141414"/>
                </a:solidFill>
                <a:effectLst>
                  <a:outerShdw blurRad="38100" dist="38100" dir="2700000" algn="tl">
                    <a:srgbClr val="C0C0C0"/>
                  </a:outerShdw>
                </a:effectLst>
                <a:latin typeface="Courier New" pitchFamily="49" charset="0"/>
                <a:ea typeface="宋体" pitchFamily="2" charset="-122"/>
              </a:rPr>
              <a:t>选择模式结束</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endParaRPr>
          </a:p>
          <a:p>
            <a:pPr>
              <a:spcBef>
                <a:spcPts val="600"/>
              </a:spcBef>
              <a:defRPr/>
            </a:pPr>
            <a:r>
              <a:rPr lang="en-US" altLang="zh-CN" sz="2000" b="1" dirty="0">
                <a:solidFill>
                  <a:srgbClr val="151415"/>
                </a:solidFill>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9892"/>
                                        </p:tgtEl>
                                        <p:attrNameLst>
                                          <p:attrName>style.visibility</p:attrName>
                                        </p:attrNameLst>
                                      </p:cBhvr>
                                      <p:to>
                                        <p:strVal val="visible"/>
                                      </p:to>
                                    </p:set>
                                    <p:animEffect transition="in" filter="dissolve">
                                      <p:cBhvr>
                                        <p:cTn id="7" dur="500"/>
                                        <p:tgtEl>
                                          <p:spTgt spid="549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a:extLst>
              <a:ext uri="{FF2B5EF4-FFF2-40B4-BE49-F238E27FC236}">
                <a16:creationId xmlns:a16="http://schemas.microsoft.com/office/drawing/2014/main" id="{1A02310B-B203-4DF7-B14D-4D9CB28B3689}"/>
              </a:ext>
            </a:extLst>
          </p:cNvPr>
          <p:cNvSpPr>
            <a:spLocks noGrp="1" noChangeArrowheads="1"/>
          </p:cNvSpPr>
          <p:nvPr>
            <p:ph type="title"/>
          </p:nvPr>
        </p:nvSpPr>
        <p:spPr/>
        <p:txBody>
          <a:bodyPr/>
          <a:lstStyle/>
          <a:p>
            <a:pPr>
              <a:defRPr/>
            </a:pPr>
            <a:r>
              <a:rPr lang="en-US" altLang="zh-CN" dirty="0">
                <a:cs typeface="+mj-cs"/>
              </a:rPr>
              <a:t>(2) </a:t>
            </a:r>
            <a:r>
              <a:rPr lang="zh-CN" altLang="en-US" dirty="0">
                <a:cs typeface="+mj-cs"/>
              </a:rPr>
              <a:t>拾取区域</a:t>
            </a:r>
          </a:p>
        </p:txBody>
      </p:sp>
      <p:sp>
        <p:nvSpPr>
          <p:cNvPr id="550915" name="Rectangle 3">
            <a:extLst>
              <a:ext uri="{FF2B5EF4-FFF2-40B4-BE49-F238E27FC236}">
                <a16:creationId xmlns:a16="http://schemas.microsoft.com/office/drawing/2014/main" id="{3E65FE96-CDB3-4B53-AFE9-7DB34B0BBB8C}"/>
              </a:ext>
            </a:extLst>
          </p:cNvPr>
          <p:cNvSpPr>
            <a:spLocks noGrp="1" noChangeArrowheads="1"/>
          </p:cNvSpPr>
          <p:nvPr>
            <p:ph type="body" idx="1"/>
          </p:nvPr>
        </p:nvSpPr>
        <p:spPr>
          <a:xfrm>
            <a:off x="2063553" y="1052736"/>
            <a:ext cx="7945437" cy="3457858"/>
          </a:xfrm>
        </p:spPr>
        <p:txBody>
          <a:bodyPr/>
          <a:lstStyle/>
          <a:p>
            <a:pPr>
              <a:buFont typeface="Wingdings" panose="05000000000000000000" pitchFamily="2" charset="2"/>
              <a:buChar char="l"/>
              <a:defRPr/>
            </a:pPr>
            <a:r>
              <a:rPr lang="zh-CN" altLang="en-US" dirty="0">
                <a:ea typeface="黑体" pitchFamily="49" charset="-122"/>
              </a:rPr>
              <a:t>在拾取点附近定义拾取区域</a:t>
            </a:r>
          </a:p>
          <a:p>
            <a:pPr lvl="1">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gluPickMatrix</a:t>
            </a:r>
            <a:r>
              <a:rPr lang="en-US" altLang="zh-CN" sz="2400" dirty="0">
                <a:solidFill>
                  <a:srgbClr val="C00000"/>
                </a:solidFill>
                <a:ea typeface="黑体" pitchFamily="49" charset="-122"/>
              </a:rPr>
              <a:t>(</a:t>
            </a:r>
            <a:r>
              <a:rPr lang="en-US" altLang="zh-CN" sz="2400" dirty="0" err="1">
                <a:solidFill>
                  <a:srgbClr val="C00000"/>
                </a:solidFill>
                <a:ea typeface="黑体" pitchFamily="49" charset="-122"/>
              </a:rPr>
              <a:t>GLdouble</a:t>
            </a:r>
            <a:r>
              <a:rPr lang="en-US" altLang="zh-CN" sz="2400" dirty="0">
                <a:solidFill>
                  <a:srgbClr val="C00000"/>
                </a:solidFill>
                <a:ea typeface="黑体" pitchFamily="49" charset="-122"/>
              </a:rPr>
              <a:t> x, </a:t>
            </a:r>
            <a:r>
              <a:rPr lang="en-US" altLang="zh-CN" sz="2400" dirty="0" err="1">
                <a:solidFill>
                  <a:srgbClr val="C00000"/>
                </a:solidFill>
                <a:ea typeface="黑体" pitchFamily="49" charset="-122"/>
              </a:rPr>
              <a:t>GLdouble</a:t>
            </a:r>
            <a:r>
              <a:rPr lang="en-US" altLang="zh-CN" sz="2400" dirty="0">
                <a:solidFill>
                  <a:srgbClr val="C00000"/>
                </a:solidFill>
                <a:ea typeface="黑体" pitchFamily="49" charset="-122"/>
              </a:rPr>
              <a:t> y, </a:t>
            </a:r>
            <a:r>
              <a:rPr lang="en-US" altLang="zh-CN" sz="2400" dirty="0" err="1">
                <a:solidFill>
                  <a:srgbClr val="C00000"/>
                </a:solidFill>
                <a:ea typeface="黑体" pitchFamily="49" charset="-122"/>
              </a:rPr>
              <a:t>Gldouble</a:t>
            </a:r>
            <a:r>
              <a:rPr lang="en-US" altLang="zh-CN" sz="2400" dirty="0">
                <a:solidFill>
                  <a:srgbClr val="C00000"/>
                </a:solidFill>
                <a:ea typeface="黑体" pitchFamily="49" charset="-122"/>
              </a:rPr>
              <a:t> w, </a:t>
            </a:r>
            <a:r>
              <a:rPr lang="en-US" altLang="zh-CN" sz="2400" dirty="0" err="1">
                <a:solidFill>
                  <a:srgbClr val="C00000"/>
                </a:solidFill>
                <a:ea typeface="黑体" pitchFamily="49" charset="-122"/>
              </a:rPr>
              <a:t>GLdouble</a:t>
            </a:r>
            <a:r>
              <a:rPr lang="en-US" altLang="zh-CN" sz="2400" dirty="0">
                <a:solidFill>
                  <a:srgbClr val="C00000"/>
                </a:solidFill>
                <a:ea typeface="黑体" pitchFamily="49" charset="-122"/>
              </a:rPr>
              <a:t> h, </a:t>
            </a:r>
            <a:r>
              <a:rPr lang="en-US" altLang="zh-CN" sz="2400" dirty="0" err="1">
                <a:solidFill>
                  <a:srgbClr val="C00000"/>
                </a:solidFill>
                <a:ea typeface="黑体" pitchFamily="49" charset="-122"/>
              </a:rPr>
              <a:t>GLint</a:t>
            </a:r>
            <a:r>
              <a:rPr lang="en-US" altLang="zh-CN" sz="2400" dirty="0">
                <a:solidFill>
                  <a:srgbClr val="C00000"/>
                </a:solidFill>
                <a:ea typeface="黑体" pitchFamily="49" charset="-122"/>
              </a:rPr>
              <a:t> *</a:t>
            </a:r>
            <a:r>
              <a:rPr lang="en-US" altLang="zh-CN" sz="2400" dirty="0" err="1">
                <a:solidFill>
                  <a:srgbClr val="C00000"/>
                </a:solidFill>
                <a:ea typeface="黑体" pitchFamily="49" charset="-122"/>
              </a:rPr>
              <a:t>vp</a:t>
            </a:r>
            <a:r>
              <a:rPr lang="en-US" altLang="zh-CN" sz="2400" dirty="0">
                <a:solidFill>
                  <a:srgbClr val="C00000"/>
                </a:solidFill>
                <a:ea typeface="黑体" pitchFamily="49" charset="-122"/>
              </a:rPr>
              <a:t>)</a:t>
            </a:r>
          </a:p>
          <a:p>
            <a:pPr lvl="1">
              <a:buFont typeface="Wingdings" panose="05000000000000000000" pitchFamily="2" charset="2"/>
              <a:buAutoNum type="alphaLcParenR"/>
              <a:defRPr/>
            </a:pPr>
            <a:r>
              <a:rPr lang="zh-CN" altLang="en-US" sz="2400" dirty="0">
                <a:ea typeface="黑体" pitchFamily="49" charset="-122"/>
              </a:rPr>
              <a:t>在由</a:t>
            </a:r>
            <a:r>
              <a:rPr lang="en-US" altLang="zh-CN" sz="2400" dirty="0" err="1">
                <a:ea typeface="黑体" pitchFamily="49" charset="-122"/>
              </a:rPr>
              <a:t>vp</a:t>
            </a:r>
            <a:r>
              <a:rPr lang="zh-CN" altLang="en-US" sz="2400" dirty="0">
                <a:ea typeface="黑体" pitchFamily="49" charset="-122"/>
              </a:rPr>
              <a:t>指向的视口中定义了一个以窗口坐标（</a:t>
            </a:r>
            <a:r>
              <a:rPr lang="en-US" altLang="zh-CN" sz="2400" dirty="0">
                <a:ea typeface="黑体" pitchFamily="49" charset="-122"/>
              </a:rPr>
              <a:t>x</a:t>
            </a:r>
            <a:r>
              <a:rPr lang="zh-CN" altLang="en-US" sz="2400" dirty="0">
                <a:ea typeface="黑体" pitchFamily="49" charset="-122"/>
              </a:rPr>
              <a:t>，</a:t>
            </a:r>
            <a:r>
              <a:rPr lang="en-US" altLang="zh-CN" sz="2400" dirty="0">
                <a:ea typeface="黑体" pitchFamily="49" charset="-122"/>
              </a:rPr>
              <a:t>y</a:t>
            </a:r>
            <a:r>
              <a:rPr lang="zh-CN" altLang="en-US" sz="2400" dirty="0">
                <a:ea typeface="黑体" pitchFamily="49" charset="-122"/>
              </a:rPr>
              <a:t>）为中心的</a:t>
            </a:r>
            <a:r>
              <a:rPr lang="en-US" altLang="zh-CN" sz="2400" dirty="0" err="1">
                <a:ea typeface="黑体" pitchFamily="49" charset="-122"/>
              </a:rPr>
              <a:t>w×h</a:t>
            </a:r>
            <a:r>
              <a:rPr lang="zh-CN" altLang="en-US" sz="2400" dirty="0">
                <a:ea typeface="黑体" pitchFamily="49" charset="-122"/>
              </a:rPr>
              <a:t>子区域，即拾取区域</a:t>
            </a:r>
          </a:p>
          <a:p>
            <a:pPr lvl="1">
              <a:buFont typeface="Wingdings" panose="05000000000000000000" pitchFamily="2" charset="2"/>
              <a:buAutoNum type="alphaLcParenR"/>
              <a:defRPr/>
            </a:pPr>
            <a:r>
              <a:rPr lang="zh-CN" altLang="en-US" sz="2400" dirty="0">
                <a:ea typeface="黑体" pitchFamily="49" charset="-122"/>
              </a:rPr>
              <a:t>根据拾取区域该函数创建一个用于拾取的投影矩阵用于定义用于求交的虚拟视域体</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a:extLst>
              <a:ext uri="{FF2B5EF4-FFF2-40B4-BE49-F238E27FC236}">
                <a16:creationId xmlns:a16="http://schemas.microsoft.com/office/drawing/2014/main" id="{897BD48C-C040-46CC-B05B-3A8FA6890E15}"/>
              </a:ext>
            </a:extLst>
          </p:cNvPr>
          <p:cNvSpPr>
            <a:spLocks noGrp="1" noChangeArrowheads="1"/>
          </p:cNvSpPr>
          <p:nvPr>
            <p:ph type="title"/>
          </p:nvPr>
        </p:nvSpPr>
        <p:spPr/>
        <p:txBody>
          <a:bodyPr/>
          <a:lstStyle/>
          <a:p>
            <a:pPr>
              <a:defRPr/>
            </a:pPr>
            <a:r>
              <a:rPr lang="en-US" altLang="zh-CN" dirty="0">
                <a:cs typeface="+mj-cs"/>
              </a:rPr>
              <a:t>(2) </a:t>
            </a:r>
            <a:r>
              <a:rPr lang="zh-CN" altLang="en-US" dirty="0">
                <a:cs typeface="+mj-cs"/>
              </a:rPr>
              <a:t>拾取区域</a:t>
            </a:r>
          </a:p>
        </p:txBody>
      </p:sp>
      <p:sp>
        <p:nvSpPr>
          <p:cNvPr id="550915" name="Rectangle 3">
            <a:extLst>
              <a:ext uri="{FF2B5EF4-FFF2-40B4-BE49-F238E27FC236}">
                <a16:creationId xmlns:a16="http://schemas.microsoft.com/office/drawing/2014/main" id="{94873CE7-8F49-405D-8A2F-67ED791D5817}"/>
              </a:ext>
            </a:extLst>
          </p:cNvPr>
          <p:cNvSpPr>
            <a:spLocks noGrp="1" noChangeArrowheads="1"/>
          </p:cNvSpPr>
          <p:nvPr>
            <p:ph type="body" idx="1"/>
          </p:nvPr>
        </p:nvSpPr>
        <p:spPr>
          <a:xfrm>
            <a:off x="839416" y="1196752"/>
            <a:ext cx="10585176" cy="3686510"/>
          </a:xfrm>
        </p:spPr>
        <p:txBody>
          <a:bodyPr/>
          <a:lstStyle/>
          <a:p>
            <a:pPr>
              <a:buFont typeface="Wingdings" panose="05000000000000000000" pitchFamily="2" charset="2"/>
              <a:buChar char="l"/>
              <a:defRPr/>
            </a:pPr>
            <a:r>
              <a:rPr lang="zh-CN" altLang="en-US" dirty="0">
                <a:ea typeface="黑体" pitchFamily="49" charset="-122"/>
              </a:rPr>
              <a:t>运行时如何获得视口？</a:t>
            </a:r>
          </a:p>
          <a:p>
            <a:pPr lvl="1">
              <a:defRPr/>
            </a:pPr>
            <a:r>
              <a:rPr lang="en-US" altLang="zh-CN" sz="2400" noProof="1">
                <a:solidFill>
                  <a:srgbClr val="151415"/>
                </a:solidFill>
                <a:ea typeface="黑体" pitchFamily="49" charset="-122"/>
              </a:rPr>
              <a:t>GLint</a:t>
            </a:r>
            <a:r>
              <a:rPr lang="en-US" altLang="zh-CN" sz="2400" noProof="1">
                <a:solidFill>
                  <a:srgbClr val="141414"/>
                </a:solidFill>
                <a:ea typeface="黑体" pitchFamily="49" charset="-122"/>
              </a:rPr>
              <a:t> </a:t>
            </a:r>
            <a:r>
              <a:rPr lang="en-US" altLang="zh-CN" sz="2400" noProof="1">
                <a:solidFill>
                  <a:srgbClr val="151415"/>
                </a:solidFill>
                <a:ea typeface="黑体" pitchFamily="49" charset="-122"/>
              </a:rPr>
              <a:t>viewport</a:t>
            </a:r>
            <a:r>
              <a:rPr lang="en-US" altLang="zh-CN" sz="2400" noProof="1">
                <a:solidFill>
                  <a:srgbClr val="141414"/>
                </a:solidFill>
                <a:ea typeface="黑体" pitchFamily="49" charset="-122"/>
              </a:rPr>
              <a:t>[4];</a:t>
            </a:r>
            <a:endParaRPr lang="en-US" altLang="zh-CN" sz="2400" dirty="0">
              <a:solidFill>
                <a:srgbClr val="141414"/>
              </a:solidFill>
              <a:ea typeface="黑体" pitchFamily="49" charset="-122"/>
            </a:endParaRPr>
          </a:p>
          <a:p>
            <a:pPr lvl="1">
              <a:buFont typeface="Wingdings" panose="05000000000000000000" pitchFamily="2" charset="2"/>
              <a:buNone/>
              <a:defRPr/>
            </a:pPr>
            <a:r>
              <a:rPr lang="en-US" altLang="zh-CN" sz="2400" dirty="0">
                <a:solidFill>
                  <a:srgbClr val="151415"/>
                </a:solidFill>
                <a:ea typeface="黑体" pitchFamily="49" charset="-122"/>
              </a:rPr>
              <a:t>      </a:t>
            </a:r>
            <a:r>
              <a:rPr lang="en-US" altLang="zh-CN" sz="2400" noProof="1">
                <a:solidFill>
                  <a:srgbClr val="151415"/>
                </a:solidFill>
                <a:ea typeface="黑体" pitchFamily="49" charset="-122"/>
              </a:rPr>
              <a:t>glGetIntegerv</a:t>
            </a:r>
            <a:r>
              <a:rPr lang="en-US" altLang="zh-CN" sz="2400" noProof="1">
                <a:solidFill>
                  <a:srgbClr val="141414"/>
                </a:solidFill>
                <a:ea typeface="黑体" pitchFamily="49" charset="-122"/>
              </a:rPr>
              <a:t> (</a:t>
            </a:r>
            <a:r>
              <a:rPr lang="en-US" altLang="zh-CN" sz="2400" noProof="1">
                <a:solidFill>
                  <a:srgbClr val="151415"/>
                </a:solidFill>
                <a:ea typeface="黑体" pitchFamily="49" charset="-122"/>
              </a:rPr>
              <a:t>GL_VIEWPORT</a:t>
            </a:r>
            <a:r>
              <a:rPr lang="en-US" altLang="zh-CN" sz="2400" noProof="1">
                <a:solidFill>
                  <a:srgbClr val="141414"/>
                </a:solidFill>
                <a:ea typeface="黑体" pitchFamily="49" charset="-122"/>
              </a:rPr>
              <a:t>, </a:t>
            </a:r>
            <a:r>
              <a:rPr lang="en-US" altLang="zh-CN" sz="2400" noProof="1">
                <a:solidFill>
                  <a:srgbClr val="151415"/>
                </a:solidFill>
                <a:ea typeface="黑体" pitchFamily="49" charset="-122"/>
              </a:rPr>
              <a:t>viewport</a:t>
            </a:r>
            <a:r>
              <a:rPr lang="en-US" altLang="zh-CN" sz="2400" noProof="1">
                <a:solidFill>
                  <a:srgbClr val="141414"/>
                </a:solidFill>
                <a:ea typeface="黑体" pitchFamily="49" charset="-122"/>
              </a:rPr>
              <a:t>);</a:t>
            </a:r>
            <a:endParaRPr lang="zh-CN" altLang="en-US" sz="2400" dirty="0">
              <a:solidFill>
                <a:srgbClr val="141414"/>
              </a:solidFill>
              <a:ea typeface="黑体" pitchFamily="49" charset="-122"/>
            </a:endParaRPr>
          </a:p>
          <a:p>
            <a:pPr>
              <a:buFont typeface="Wingdings" panose="05000000000000000000" pitchFamily="2" charset="2"/>
              <a:buChar char="l"/>
              <a:defRPr/>
            </a:pPr>
            <a:r>
              <a:rPr lang="zh-CN" altLang="en-US" dirty="0">
                <a:ea typeface="黑体" pitchFamily="49" charset="-122"/>
              </a:rPr>
              <a:t>注意：</a:t>
            </a:r>
            <a:r>
              <a:rPr lang="en-US" altLang="zh-CN" dirty="0">
                <a:solidFill>
                  <a:srgbClr val="C00000"/>
                </a:solidFill>
                <a:ea typeface="黑体" pitchFamily="49" charset="-122"/>
              </a:rPr>
              <a:t>OpenGL</a:t>
            </a:r>
            <a:r>
              <a:rPr lang="zh-CN" altLang="en-US" dirty="0">
                <a:solidFill>
                  <a:srgbClr val="C00000"/>
                </a:solidFill>
                <a:ea typeface="黑体" pitchFamily="49" charset="-122"/>
              </a:rPr>
              <a:t>中的窗口</a:t>
            </a:r>
            <a:r>
              <a:rPr lang="en-US" altLang="zh-CN" dirty="0">
                <a:solidFill>
                  <a:srgbClr val="C00000"/>
                </a:solidFill>
                <a:ea typeface="黑体" pitchFamily="49" charset="-122"/>
              </a:rPr>
              <a:t>/</a:t>
            </a:r>
            <a:r>
              <a:rPr lang="zh-CN" altLang="en-US" dirty="0">
                <a:solidFill>
                  <a:srgbClr val="C00000"/>
                </a:solidFill>
                <a:ea typeface="黑体" pitchFamily="49" charset="-122"/>
              </a:rPr>
              <a:t>视口坐标系和鼠标回调函数的屏幕坐标系是不同的</a:t>
            </a:r>
          </a:p>
          <a:p>
            <a:pPr lvl="1">
              <a:buFont typeface="Wingdings" panose="05000000000000000000" pitchFamily="2" charset="2"/>
              <a:buNone/>
              <a:defRPr/>
            </a:pPr>
            <a:r>
              <a:rPr lang="en-US" altLang="zh-CN" sz="2400" noProof="1">
                <a:ea typeface="黑体" pitchFamily="49" charset="-122"/>
              </a:rPr>
              <a:t>gluPickMatrix (</a:t>
            </a:r>
            <a:r>
              <a:rPr lang="en-US" altLang="zh-CN" sz="2400" dirty="0">
                <a:ea typeface="黑体" pitchFamily="49" charset="-122"/>
              </a:rPr>
              <a:t> </a:t>
            </a:r>
            <a:r>
              <a:rPr lang="en-US" altLang="zh-CN" sz="2400" noProof="1">
                <a:solidFill>
                  <a:srgbClr val="C00000"/>
                </a:solidFill>
                <a:ea typeface="黑体" pitchFamily="49" charset="-122"/>
              </a:rPr>
              <a:t>(GLdouble) x, (GLdouble) (viewport[3] - y), 5.0, 5.0</a:t>
            </a:r>
            <a:r>
              <a:rPr lang="en-US" altLang="zh-CN" sz="2400" noProof="1">
                <a:ea typeface="黑体" pitchFamily="49" charset="-122"/>
              </a:rPr>
              <a:t>, viewport);</a:t>
            </a:r>
          </a:p>
        </p:txBody>
      </p:sp>
      <p:sp>
        <p:nvSpPr>
          <p:cNvPr id="2" name="矩形 1">
            <a:extLst>
              <a:ext uri="{FF2B5EF4-FFF2-40B4-BE49-F238E27FC236}">
                <a16:creationId xmlns:a16="http://schemas.microsoft.com/office/drawing/2014/main" id="{D24AA920-F681-4D8B-9307-C8E023308363}"/>
              </a:ext>
            </a:extLst>
          </p:cNvPr>
          <p:cNvSpPr/>
          <p:nvPr/>
        </p:nvSpPr>
        <p:spPr>
          <a:xfrm>
            <a:off x="840804" y="5318013"/>
            <a:ext cx="9721080" cy="574581"/>
          </a:xfrm>
          <a:prstGeom prst="rect">
            <a:avLst/>
          </a:prstGeom>
        </p:spPr>
        <p:txBody>
          <a:bodyPr wrap="square">
            <a:spAutoFit/>
          </a:bodyPr>
          <a:lstStyle/>
          <a:p>
            <a:pPr marL="0" lvl="1">
              <a:lnSpc>
                <a:spcPct val="150000"/>
              </a:lnSpc>
              <a:defRPr/>
            </a:pPr>
            <a:r>
              <a:rPr lang="en-US" altLang="zh-CN" sz="2400" b="1" dirty="0">
                <a:ea typeface="黑体" pitchFamily="49" charset="-122"/>
              </a:rPr>
              <a:t>x, y</a:t>
            </a:r>
            <a:r>
              <a:rPr lang="zh-CN" altLang="en-US" sz="2400" b="1" dirty="0">
                <a:ea typeface="黑体" pitchFamily="49" charset="-122"/>
              </a:rPr>
              <a:t>相对于视</a:t>
            </a:r>
            <a:r>
              <a:rPr lang="zh-CN" altLang="en-US" sz="2400" dirty="0">
                <a:ea typeface="黑体" pitchFamily="49" charset="-122"/>
              </a:rPr>
              <a:t>口</a:t>
            </a:r>
            <a:r>
              <a:rPr lang="zh-CN" altLang="en-US" sz="2400" b="1" dirty="0">
                <a:ea typeface="黑体" pitchFamily="49" charset="-122"/>
              </a:rPr>
              <a:t>左下角，鼠标坐标（屏幕坐标）是相对于视区左上角</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50915">
                                            <p:txEl>
                                              <p:pRg st="0" end="0"/>
                                            </p:txEl>
                                          </p:spTgt>
                                        </p:tgtEl>
                                        <p:attrNameLst>
                                          <p:attrName>style.visibility</p:attrName>
                                        </p:attrNameLst>
                                      </p:cBhvr>
                                      <p:to>
                                        <p:strVal val="visible"/>
                                      </p:to>
                                    </p:set>
                                    <p:anim calcmode="lin" valueType="num">
                                      <p:cBhvr additive="base">
                                        <p:cTn id="7" dur="500" fill="hold"/>
                                        <p:tgtEl>
                                          <p:spTgt spid="550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091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50915">
                                            <p:txEl>
                                              <p:pRg st="1" end="1"/>
                                            </p:txEl>
                                          </p:spTgt>
                                        </p:tgtEl>
                                        <p:attrNameLst>
                                          <p:attrName>style.visibility</p:attrName>
                                        </p:attrNameLst>
                                      </p:cBhvr>
                                      <p:to>
                                        <p:strVal val="visible"/>
                                      </p:to>
                                    </p:set>
                                    <p:anim calcmode="lin" valueType="num">
                                      <p:cBhvr additive="base">
                                        <p:cTn id="12" dur="500" fill="hold"/>
                                        <p:tgtEl>
                                          <p:spTgt spid="55091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5091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50915">
                                            <p:txEl>
                                              <p:pRg st="2" end="2"/>
                                            </p:txEl>
                                          </p:spTgt>
                                        </p:tgtEl>
                                        <p:attrNameLst>
                                          <p:attrName>style.visibility</p:attrName>
                                        </p:attrNameLst>
                                      </p:cBhvr>
                                      <p:to>
                                        <p:strVal val="visible"/>
                                      </p:to>
                                    </p:set>
                                    <p:anim calcmode="lin" valueType="num">
                                      <p:cBhvr additive="base">
                                        <p:cTn id="17" dur="500" fill="hold"/>
                                        <p:tgtEl>
                                          <p:spTgt spid="5509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50915">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50915">
                                            <p:txEl>
                                              <p:pRg st="3" end="3"/>
                                            </p:txEl>
                                          </p:spTgt>
                                        </p:tgtEl>
                                        <p:attrNameLst>
                                          <p:attrName>style.visibility</p:attrName>
                                        </p:attrNameLst>
                                      </p:cBhvr>
                                      <p:to>
                                        <p:strVal val="visible"/>
                                      </p:to>
                                    </p:set>
                                    <p:anim calcmode="lin" valueType="num">
                                      <p:cBhvr additive="base">
                                        <p:cTn id="22" dur="500" fill="hold"/>
                                        <p:tgtEl>
                                          <p:spTgt spid="550915">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50915">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50915">
                                            <p:txEl>
                                              <p:pRg st="4" end="4"/>
                                            </p:txEl>
                                          </p:spTgt>
                                        </p:tgtEl>
                                        <p:attrNameLst>
                                          <p:attrName>style.visibility</p:attrName>
                                        </p:attrNameLst>
                                      </p:cBhvr>
                                      <p:to>
                                        <p:strVal val="visible"/>
                                      </p:to>
                                    </p:set>
                                    <p:anim calcmode="lin" valueType="num">
                                      <p:cBhvr additive="base">
                                        <p:cTn id="27" dur="500" fill="hold"/>
                                        <p:tgtEl>
                                          <p:spTgt spid="55091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50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build="p"/>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a:extLst>
              <a:ext uri="{FF2B5EF4-FFF2-40B4-BE49-F238E27FC236}">
                <a16:creationId xmlns:a16="http://schemas.microsoft.com/office/drawing/2014/main" id="{5BD63E6C-FC57-4D39-BD97-7D8944645F06}"/>
              </a:ext>
            </a:extLst>
          </p:cNvPr>
          <p:cNvSpPr>
            <a:spLocks noGrp="1" noChangeArrowheads="1"/>
          </p:cNvSpPr>
          <p:nvPr>
            <p:ph type="title"/>
          </p:nvPr>
        </p:nvSpPr>
        <p:spPr/>
        <p:txBody>
          <a:bodyPr/>
          <a:lstStyle/>
          <a:p>
            <a:pPr>
              <a:defRPr/>
            </a:pPr>
            <a:r>
              <a:rPr lang="en-US" altLang="zh-CN">
                <a:latin typeface="Arial" pitchFamily="34" charset="0"/>
              </a:rPr>
              <a:t>(3) </a:t>
            </a:r>
            <a:r>
              <a:rPr lang="zh-CN" altLang="en-US">
                <a:latin typeface="Arial" pitchFamily="34" charset="0"/>
              </a:rPr>
              <a:t>“感兴趣单元”</a:t>
            </a:r>
          </a:p>
        </p:txBody>
      </p:sp>
      <p:sp>
        <p:nvSpPr>
          <p:cNvPr id="567299" name="Rectangle 3">
            <a:extLst>
              <a:ext uri="{FF2B5EF4-FFF2-40B4-BE49-F238E27FC236}">
                <a16:creationId xmlns:a16="http://schemas.microsoft.com/office/drawing/2014/main" id="{2CCD77A1-0949-4F8F-97F2-FE4C620273BC}"/>
              </a:ext>
            </a:extLst>
          </p:cNvPr>
          <p:cNvSpPr>
            <a:spLocks noGrp="1" noChangeArrowheads="1"/>
          </p:cNvSpPr>
          <p:nvPr>
            <p:ph type="body" idx="1"/>
          </p:nvPr>
        </p:nvSpPr>
        <p:spPr>
          <a:xfrm>
            <a:off x="839417" y="908721"/>
            <a:ext cx="10844584" cy="5159093"/>
          </a:xfrm>
        </p:spPr>
        <p:txBody>
          <a:bodyPr/>
          <a:lstStyle/>
          <a:p>
            <a:pPr>
              <a:buFont typeface="Wingdings" panose="05000000000000000000" pitchFamily="2" charset="2"/>
              <a:buChar char="l"/>
              <a:defRPr/>
            </a:pPr>
            <a:r>
              <a:rPr lang="zh-CN" altLang="en-US" dirty="0">
                <a:ea typeface="黑体" pitchFamily="49" charset="-122"/>
              </a:rPr>
              <a:t>什么是</a:t>
            </a:r>
            <a:r>
              <a:rPr lang="zh-CN" altLang="en-US" dirty="0">
                <a:latin typeface="黑体" pitchFamily="49" charset="-122"/>
                <a:ea typeface="黑体" pitchFamily="49" charset="-122"/>
              </a:rPr>
              <a:t>“</a:t>
            </a:r>
            <a:r>
              <a:rPr lang="zh-CN" altLang="en-US" dirty="0">
                <a:ea typeface="黑体" pitchFamily="49" charset="-122"/>
              </a:rPr>
              <a:t>感兴趣单元</a:t>
            </a:r>
            <a:r>
              <a:rPr lang="zh-CN" altLang="en-US" dirty="0">
                <a:latin typeface="黑体" pitchFamily="49" charset="-122"/>
                <a:ea typeface="黑体" pitchFamily="49" charset="-122"/>
              </a:rPr>
              <a:t>”</a:t>
            </a:r>
            <a:r>
              <a:rPr lang="zh-CN" altLang="en-US" dirty="0">
                <a:ea typeface="黑体" pitchFamily="49" charset="-122"/>
              </a:rPr>
              <a:t>？</a:t>
            </a:r>
          </a:p>
          <a:p>
            <a:pPr>
              <a:buFont typeface="Wingdings" panose="05000000000000000000" pitchFamily="2" charset="2"/>
              <a:buNone/>
              <a:defRPr/>
            </a:pPr>
            <a:r>
              <a:rPr lang="en-US" altLang="zh-CN" dirty="0">
                <a:ea typeface="黑体" pitchFamily="49" charset="-122"/>
              </a:rPr>
              <a:t>    </a:t>
            </a:r>
            <a:r>
              <a:rPr lang="en-US" altLang="zh-CN" dirty="0">
                <a:latin typeface="黑体" pitchFamily="49" charset="-122"/>
                <a:ea typeface="黑体" pitchFamily="49" charset="-122"/>
              </a:rPr>
              <a:t>——</a:t>
            </a:r>
            <a:r>
              <a:rPr lang="zh-CN" altLang="en-US" dirty="0">
                <a:ea typeface="黑体" pitchFamily="49" charset="-122"/>
              </a:rPr>
              <a:t>场景中有可能被选中的单个图元或一组图元</a:t>
            </a:r>
          </a:p>
          <a:p>
            <a:pPr>
              <a:buFont typeface="Wingdings" panose="05000000000000000000" pitchFamily="2" charset="2"/>
              <a:buChar char="l"/>
              <a:defRPr/>
            </a:pPr>
            <a:r>
              <a:rPr lang="zh-CN" altLang="en-US" dirty="0">
                <a:ea typeface="黑体" pitchFamily="49" charset="-122"/>
              </a:rPr>
              <a:t>如何定义</a:t>
            </a:r>
            <a:r>
              <a:rPr lang="zh-CN" altLang="en-US" dirty="0">
                <a:latin typeface="黑体" pitchFamily="49" charset="-122"/>
                <a:ea typeface="黑体" pitchFamily="49" charset="-122"/>
              </a:rPr>
              <a:t>“</a:t>
            </a:r>
            <a:r>
              <a:rPr lang="zh-CN" altLang="en-US" dirty="0">
                <a:ea typeface="黑体" pitchFamily="49" charset="-122"/>
              </a:rPr>
              <a:t>感兴趣单元</a:t>
            </a:r>
            <a:r>
              <a:rPr lang="zh-CN" altLang="en-US" dirty="0">
                <a:latin typeface="黑体" pitchFamily="49" charset="-122"/>
                <a:ea typeface="黑体" pitchFamily="49" charset="-122"/>
              </a:rPr>
              <a:t>”</a:t>
            </a:r>
            <a:r>
              <a:rPr lang="zh-CN" altLang="en-US" dirty="0">
                <a:ea typeface="黑体" pitchFamily="49" charset="-122"/>
              </a:rPr>
              <a:t>？</a:t>
            </a:r>
            <a:r>
              <a:rPr lang="en-US" altLang="zh-CN" dirty="0">
                <a:latin typeface="黑体" pitchFamily="49" charset="-122"/>
                <a:ea typeface="黑体" pitchFamily="49" charset="-122"/>
              </a:rPr>
              <a:t>——</a:t>
            </a:r>
            <a:r>
              <a:rPr lang="zh-CN" altLang="en-US" dirty="0">
                <a:ea typeface="黑体" pitchFamily="49" charset="-122"/>
              </a:rPr>
              <a:t>赋予其唯一的名称</a:t>
            </a:r>
          </a:p>
          <a:p>
            <a:pPr lvl="1">
              <a:defRPr/>
            </a:pPr>
            <a:r>
              <a:rPr lang="zh-CN" altLang="en-US" dirty="0">
                <a:ea typeface="黑体" pitchFamily="49" charset="-122"/>
              </a:rPr>
              <a:t>名称是一个整数（序列），不是一个字符串</a:t>
            </a:r>
          </a:p>
          <a:p>
            <a:pPr lvl="1">
              <a:defRPr/>
            </a:pPr>
            <a:r>
              <a:rPr lang="zh-CN" altLang="en-US" dirty="0">
                <a:latin typeface="黑体" pitchFamily="49" charset="-122"/>
                <a:ea typeface="黑体" pitchFamily="49" charset="-122"/>
              </a:rPr>
              <a:t>“</a:t>
            </a:r>
            <a:r>
              <a:rPr lang="zh-CN" altLang="en-US" dirty="0">
                <a:ea typeface="黑体" pitchFamily="49" charset="-122"/>
              </a:rPr>
              <a:t>单元</a:t>
            </a:r>
            <a:r>
              <a:rPr lang="zh-CN" altLang="en-US" dirty="0">
                <a:latin typeface="黑体" pitchFamily="49" charset="-122"/>
                <a:ea typeface="黑体" pitchFamily="49" charset="-122"/>
              </a:rPr>
              <a:t>”</a:t>
            </a:r>
            <a:r>
              <a:rPr lang="zh-CN" altLang="en-US" dirty="0">
                <a:ea typeface="黑体" pitchFamily="49" charset="-122"/>
              </a:rPr>
              <a:t>就是具有名称的单个图元，或具有相同名称的图元集合</a:t>
            </a:r>
          </a:p>
          <a:p>
            <a:pPr>
              <a:buFont typeface="Wingdings" panose="05000000000000000000" pitchFamily="2" charset="2"/>
              <a:buChar char="l"/>
              <a:defRPr/>
            </a:pPr>
            <a:r>
              <a:rPr lang="zh-CN" altLang="en-US" dirty="0">
                <a:ea typeface="黑体" pitchFamily="49" charset="-122"/>
              </a:rPr>
              <a:t>如何提交</a:t>
            </a:r>
            <a:r>
              <a:rPr lang="zh-CN" altLang="en-US" dirty="0">
                <a:latin typeface="黑体" pitchFamily="49" charset="-122"/>
                <a:ea typeface="黑体" pitchFamily="49" charset="-122"/>
              </a:rPr>
              <a:t>“</a:t>
            </a:r>
            <a:r>
              <a:rPr lang="zh-CN" altLang="en-US" dirty="0">
                <a:ea typeface="黑体" pitchFamily="49" charset="-122"/>
              </a:rPr>
              <a:t>感兴趣单元</a:t>
            </a:r>
            <a:r>
              <a:rPr lang="zh-CN" altLang="en-US" dirty="0">
                <a:latin typeface="黑体" pitchFamily="49" charset="-122"/>
                <a:ea typeface="黑体" pitchFamily="49" charset="-122"/>
              </a:rPr>
              <a:t>”</a:t>
            </a:r>
            <a:r>
              <a:rPr lang="zh-CN" altLang="en-US" dirty="0">
                <a:ea typeface="黑体" pitchFamily="49" charset="-122"/>
              </a:rPr>
              <a:t>？</a:t>
            </a:r>
            <a:r>
              <a:rPr lang="en-US" altLang="zh-CN" dirty="0">
                <a:latin typeface="黑体" pitchFamily="49" charset="-122"/>
                <a:ea typeface="黑体" pitchFamily="49" charset="-122"/>
              </a:rPr>
              <a:t>——</a:t>
            </a:r>
            <a:r>
              <a:rPr lang="zh-CN" altLang="en-US" dirty="0">
                <a:ea typeface="黑体" pitchFamily="49" charset="-122"/>
              </a:rPr>
              <a:t>在</a:t>
            </a:r>
            <a:r>
              <a:rPr lang="zh-CN" altLang="en-US" dirty="0">
                <a:solidFill>
                  <a:srgbClr val="C00000"/>
                </a:solidFill>
                <a:ea typeface="黑体" pitchFamily="49" charset="-122"/>
              </a:rPr>
              <a:t>选择模式</a:t>
            </a:r>
            <a:r>
              <a:rPr lang="zh-CN" altLang="en-US" dirty="0">
                <a:ea typeface="黑体" pitchFamily="49" charset="-122"/>
              </a:rPr>
              <a:t>下将带</a:t>
            </a:r>
            <a:r>
              <a:rPr lang="zh-CN" altLang="en-US" dirty="0">
                <a:solidFill>
                  <a:srgbClr val="C00000"/>
                </a:solidFill>
                <a:ea typeface="黑体" pitchFamily="49" charset="-122"/>
              </a:rPr>
              <a:t>名称</a:t>
            </a:r>
            <a:r>
              <a:rPr lang="zh-CN" altLang="en-US" dirty="0">
                <a:ea typeface="黑体" pitchFamily="49" charset="-122"/>
              </a:rPr>
              <a:t>的</a:t>
            </a:r>
            <a:r>
              <a:rPr lang="zh-CN" altLang="en-US" dirty="0">
                <a:latin typeface="黑体" pitchFamily="49" charset="-122"/>
                <a:ea typeface="黑体" pitchFamily="49" charset="-122"/>
              </a:rPr>
              <a:t>“</a:t>
            </a:r>
            <a:r>
              <a:rPr lang="zh-CN" altLang="en-US" dirty="0">
                <a:ea typeface="黑体" pitchFamily="49" charset="-122"/>
              </a:rPr>
              <a:t>单元</a:t>
            </a:r>
            <a:r>
              <a:rPr lang="zh-CN" altLang="en-US" dirty="0">
                <a:latin typeface="黑体" pitchFamily="49" charset="-122"/>
                <a:ea typeface="黑体" pitchFamily="49" charset="-122"/>
              </a:rPr>
              <a:t>”</a:t>
            </a:r>
            <a:r>
              <a:rPr lang="zh-CN" altLang="en-US" dirty="0">
                <a:solidFill>
                  <a:srgbClr val="C00000"/>
                </a:solidFill>
                <a:ea typeface="黑体" pitchFamily="49" charset="-122"/>
              </a:rPr>
              <a:t>重新绘制</a:t>
            </a:r>
            <a:r>
              <a:rPr lang="zh-CN" altLang="en-US" dirty="0">
                <a:ea typeface="黑体" pitchFamily="49" charset="-122"/>
              </a:rPr>
              <a:t>一遍</a:t>
            </a:r>
          </a:p>
          <a:p>
            <a:pPr>
              <a:buFont typeface="Wingdings" panose="05000000000000000000" pitchFamily="2" charset="2"/>
              <a:buChar char="l"/>
              <a:defRPr/>
            </a:pPr>
            <a:r>
              <a:rPr lang="zh-CN" altLang="en-US" dirty="0">
                <a:ea typeface="黑体" pitchFamily="49" charset="-122"/>
              </a:rPr>
              <a:t>名称从何而来？</a:t>
            </a:r>
            <a:r>
              <a:rPr lang="en-US" altLang="zh-CN" dirty="0">
                <a:latin typeface="黑体" pitchFamily="49" charset="-122"/>
                <a:ea typeface="黑体" pitchFamily="49" charset="-122"/>
              </a:rPr>
              <a:t>——</a:t>
            </a:r>
            <a:r>
              <a:rPr lang="zh-CN" altLang="en-US" dirty="0">
                <a:ea typeface="黑体" pitchFamily="49" charset="-122"/>
              </a:rPr>
              <a:t>名称堆栈</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a:extLst>
              <a:ext uri="{FF2B5EF4-FFF2-40B4-BE49-F238E27FC236}">
                <a16:creationId xmlns:a16="http://schemas.microsoft.com/office/drawing/2014/main" id="{899D764E-4B81-4909-A0B2-524DE07C2723}"/>
              </a:ext>
            </a:extLst>
          </p:cNvPr>
          <p:cNvSpPr>
            <a:spLocks noGrp="1" noChangeArrowheads="1"/>
          </p:cNvSpPr>
          <p:nvPr>
            <p:ph type="title"/>
          </p:nvPr>
        </p:nvSpPr>
        <p:spPr/>
        <p:txBody>
          <a:bodyPr/>
          <a:lstStyle/>
          <a:p>
            <a:pPr>
              <a:defRPr/>
            </a:pPr>
            <a:r>
              <a:rPr lang="en-US" altLang="zh-CN">
                <a:latin typeface="Arial" pitchFamily="34" charset="0"/>
              </a:rPr>
              <a:t>(3)</a:t>
            </a:r>
            <a:r>
              <a:rPr lang="zh-CN" altLang="en-US">
                <a:latin typeface="Arial" pitchFamily="34" charset="0"/>
              </a:rPr>
              <a:t>“感兴趣单元”</a:t>
            </a:r>
          </a:p>
        </p:txBody>
      </p:sp>
      <p:sp>
        <p:nvSpPr>
          <p:cNvPr id="552963" name="Rectangle 3">
            <a:extLst>
              <a:ext uri="{FF2B5EF4-FFF2-40B4-BE49-F238E27FC236}">
                <a16:creationId xmlns:a16="http://schemas.microsoft.com/office/drawing/2014/main" id="{FB3225D0-100A-48E9-8FEB-D66358D03D72}"/>
              </a:ext>
            </a:extLst>
          </p:cNvPr>
          <p:cNvSpPr>
            <a:spLocks noGrp="1" noChangeArrowheads="1"/>
          </p:cNvSpPr>
          <p:nvPr>
            <p:ph type="body" idx="1"/>
          </p:nvPr>
        </p:nvSpPr>
        <p:spPr>
          <a:xfrm>
            <a:off x="2207569" y="980729"/>
            <a:ext cx="7945437" cy="560911"/>
          </a:xfrm>
        </p:spPr>
        <p:txBody>
          <a:bodyPr/>
          <a:lstStyle/>
          <a:p>
            <a:pPr>
              <a:buFont typeface="Wingdings" panose="05000000000000000000" pitchFamily="2" charset="2"/>
              <a:buChar char="l"/>
              <a:defRPr/>
            </a:pPr>
            <a:r>
              <a:rPr lang="zh-CN" altLang="en-US" dirty="0">
                <a:latin typeface="黑体" pitchFamily="49" charset="-122"/>
                <a:ea typeface="黑体" pitchFamily="49" charset="-122"/>
              </a:rPr>
              <a:t>“</a:t>
            </a:r>
            <a:r>
              <a:rPr lang="zh-CN" altLang="en-US" dirty="0">
                <a:ea typeface="黑体" pitchFamily="49" charset="-122"/>
              </a:rPr>
              <a:t>感兴趣单元</a:t>
            </a:r>
            <a:r>
              <a:rPr lang="zh-CN" altLang="en-US" dirty="0">
                <a:latin typeface="黑体" pitchFamily="49" charset="-122"/>
                <a:ea typeface="黑体" pitchFamily="49" charset="-122"/>
              </a:rPr>
              <a:t>”</a:t>
            </a:r>
            <a:r>
              <a:rPr lang="zh-CN" altLang="en-US" dirty="0">
                <a:ea typeface="黑体" pitchFamily="49" charset="-122"/>
              </a:rPr>
              <a:t>的定义和提交</a:t>
            </a:r>
          </a:p>
        </p:txBody>
      </p:sp>
      <p:sp>
        <p:nvSpPr>
          <p:cNvPr id="552964" name="Rectangle 4">
            <a:extLst>
              <a:ext uri="{FF2B5EF4-FFF2-40B4-BE49-F238E27FC236}">
                <a16:creationId xmlns:a16="http://schemas.microsoft.com/office/drawing/2014/main" id="{212FE8CD-C116-473B-8BC4-92CF724A4C2D}"/>
              </a:ext>
            </a:extLst>
          </p:cNvPr>
          <p:cNvSpPr>
            <a:spLocks noChangeArrowheads="1"/>
          </p:cNvSpPr>
          <p:nvPr/>
        </p:nvSpPr>
        <p:spPr bwMode="auto">
          <a:xfrm>
            <a:off x="1703512" y="1698972"/>
            <a:ext cx="8856984" cy="4333494"/>
          </a:xfrm>
          <a:prstGeom prst="rect">
            <a:avLst/>
          </a:prstGeom>
          <a:noFill/>
          <a:ln w="9525">
            <a:noFill/>
            <a:miter lim="800000"/>
            <a:headEnd/>
            <a:tailEnd/>
          </a:ln>
          <a:effectLst/>
        </p:spPr>
        <p:txBody>
          <a:bodyPr wrap="square">
            <a:spAutoFit/>
          </a:bodyPr>
          <a:lstStyle/>
          <a:p>
            <a:pPr>
              <a:spcBef>
                <a:spcPts val="600"/>
              </a:spcBef>
              <a:defRPr/>
            </a:pP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void mouse(int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button,int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state,int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x,int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y ){</a:t>
            </a:r>
            <a:endPar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lnSpc>
                <a:spcPct val="3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lnSpc>
                <a:spcPct val="50000"/>
              </a:lnSpc>
              <a:spcBef>
                <a:spcPts val="600"/>
              </a:spcBef>
              <a:defRPr/>
            </a:pP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glRenderMode</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chemeClr val="hlink"/>
                </a:solidFill>
                <a:effectLst>
                  <a:outerShdw blurRad="38100" dist="38100" dir="2700000" algn="tl">
                    <a:srgbClr val="C0C0C0"/>
                  </a:outerShdw>
                </a:effectLst>
                <a:latin typeface="Courier New" pitchFamily="49" charset="0"/>
                <a:ea typeface="宋体" pitchFamily="2" charset="-122"/>
              </a:rPr>
              <a:t>②</a:t>
            </a:r>
            <a:endParaRPr lang="en-US" altLang="zh-CN" sz="24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glInitNames();</a:t>
            </a:r>
          </a:p>
          <a:p>
            <a:pPr lvl="1">
              <a:spcBef>
                <a:spcPts val="600"/>
              </a:spcBef>
              <a:defRPr/>
            </a:pP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glPushName(0);</a:t>
            </a:r>
          </a:p>
          <a:p>
            <a:pPr lvl="1">
              <a:lnSpc>
                <a:spcPct val="3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gluPickMatrix</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GLdouble</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x</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GLdouble</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[3] -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y</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5.0, 5.0,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400" b="1" noProof="1">
                <a:solidFill>
                  <a:schemeClr val="hlink"/>
                </a:solidFill>
                <a:effectLst>
                  <a:outerShdw blurRad="38100" dist="38100" dir="2700000" algn="tl">
                    <a:srgbClr val="C0C0C0"/>
                  </a:outerShdw>
                </a:effectLst>
                <a:latin typeface="Courier New" pitchFamily="49" charset="0"/>
                <a:ea typeface="宋体" pitchFamily="2" charset="-122"/>
              </a:rPr>
              <a:t>③</a:t>
            </a:r>
            <a:endPar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lnSpc>
                <a:spcPct val="3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400" b="1" noProof="1">
                <a:solidFill>
                  <a:srgbClr val="FF0000"/>
                </a:solidFill>
                <a:effectLst>
                  <a:outerShdw blurRad="38100" dist="38100" dir="2700000" algn="tl">
                    <a:srgbClr val="C0C0C0"/>
                  </a:outerShdw>
                </a:effectLst>
                <a:latin typeface="Courier New" pitchFamily="49" charset="0"/>
                <a:ea typeface="宋体" pitchFamily="2" charset="-122"/>
              </a:rPr>
              <a:t>drawObjects</a:t>
            </a:r>
            <a:r>
              <a:rPr lang="en-US" altLang="zh-CN" sz="2400" b="1" dirty="0">
                <a:solidFill>
                  <a:srgbClr val="FF0000"/>
                </a:solidFill>
                <a:effectLst>
                  <a:outerShdw blurRad="38100" dist="38100" dir="2700000" algn="tl">
                    <a:srgbClr val="C0C0C0"/>
                  </a:outerShdw>
                </a:effectLst>
                <a:latin typeface="Courier New" pitchFamily="49" charset="0"/>
                <a:ea typeface="宋体" pitchFamily="2" charset="-122"/>
              </a:rPr>
              <a:t>();</a:t>
            </a:r>
            <a:endParaRPr lang="zh-CN" altLang="en-US" sz="2400" b="1" dirty="0">
              <a:solidFill>
                <a:srgbClr val="FF0000"/>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hits = glRenderMode (GL_RENDER);// ⑤</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endParaRPr>
          </a:p>
          <a:p>
            <a:pPr>
              <a:spcBef>
                <a:spcPts val="600"/>
              </a:spcBef>
              <a:defRPr/>
            </a:pPr>
            <a:r>
              <a:rPr lang="en-US" altLang="zh-CN" sz="2400" b="1" dirty="0">
                <a:solidFill>
                  <a:srgbClr val="151415"/>
                </a:solidFill>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2964"/>
                                        </p:tgtEl>
                                        <p:attrNameLst>
                                          <p:attrName>style.visibility</p:attrName>
                                        </p:attrNameLst>
                                      </p:cBhvr>
                                      <p:to>
                                        <p:strVal val="visible"/>
                                      </p:to>
                                    </p:set>
                                    <p:animEffect transition="in" filter="dissolve">
                                      <p:cBhvr>
                                        <p:cTn id="7" dur="500"/>
                                        <p:tgtEl>
                                          <p:spTgt spid="552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a:extLst>
              <a:ext uri="{FF2B5EF4-FFF2-40B4-BE49-F238E27FC236}">
                <a16:creationId xmlns:a16="http://schemas.microsoft.com/office/drawing/2014/main" id="{9D76783F-F92C-4E54-A654-2D7921E9AC45}"/>
              </a:ext>
            </a:extLst>
          </p:cNvPr>
          <p:cNvSpPr>
            <a:spLocks noGrp="1" noChangeArrowheads="1"/>
          </p:cNvSpPr>
          <p:nvPr>
            <p:ph type="title"/>
          </p:nvPr>
        </p:nvSpPr>
        <p:spPr/>
        <p:txBody>
          <a:bodyPr/>
          <a:lstStyle/>
          <a:p>
            <a:pPr>
              <a:defRPr/>
            </a:pPr>
            <a:r>
              <a:rPr lang="en-US" altLang="zh-CN">
                <a:latin typeface="Arial" pitchFamily="34" charset="0"/>
              </a:rPr>
              <a:t>(3)</a:t>
            </a:r>
            <a:r>
              <a:rPr lang="zh-CN" altLang="en-US">
                <a:latin typeface="Arial" pitchFamily="34" charset="0"/>
              </a:rPr>
              <a:t>“感兴趣单元”</a:t>
            </a:r>
          </a:p>
        </p:txBody>
      </p:sp>
      <p:sp>
        <p:nvSpPr>
          <p:cNvPr id="548867" name="Rectangle 3">
            <a:extLst>
              <a:ext uri="{FF2B5EF4-FFF2-40B4-BE49-F238E27FC236}">
                <a16:creationId xmlns:a16="http://schemas.microsoft.com/office/drawing/2014/main" id="{F1CAE9AF-AD89-4239-B126-49EAEFED453F}"/>
              </a:ext>
            </a:extLst>
          </p:cNvPr>
          <p:cNvSpPr>
            <a:spLocks noGrp="1" noChangeArrowheads="1"/>
          </p:cNvSpPr>
          <p:nvPr>
            <p:ph type="body" idx="1"/>
          </p:nvPr>
        </p:nvSpPr>
        <p:spPr>
          <a:xfrm>
            <a:off x="2135561" y="1052737"/>
            <a:ext cx="7945437" cy="560911"/>
          </a:xfrm>
        </p:spPr>
        <p:txBody>
          <a:bodyPr/>
          <a:lstStyle/>
          <a:p>
            <a:pPr>
              <a:buFont typeface="Wingdings" panose="05000000000000000000" pitchFamily="2" charset="2"/>
              <a:buChar char="l"/>
              <a:defRPr/>
            </a:pPr>
            <a:r>
              <a:rPr lang="zh-CN" altLang="en-US" dirty="0">
                <a:latin typeface="黑体" pitchFamily="49" charset="-122"/>
                <a:ea typeface="黑体" pitchFamily="49" charset="-122"/>
              </a:rPr>
              <a:t>“</a:t>
            </a:r>
            <a:r>
              <a:rPr lang="zh-CN" altLang="en-US" dirty="0">
                <a:ea typeface="黑体" pitchFamily="49" charset="-122"/>
              </a:rPr>
              <a:t>感兴趣的单元</a:t>
            </a:r>
            <a:r>
              <a:rPr lang="zh-CN" altLang="en-US" dirty="0">
                <a:latin typeface="黑体" pitchFamily="49" charset="-122"/>
                <a:ea typeface="黑体" pitchFamily="49" charset="-122"/>
              </a:rPr>
              <a:t>”</a:t>
            </a:r>
            <a:r>
              <a:rPr lang="zh-CN" altLang="en-US" dirty="0">
                <a:ea typeface="黑体" pitchFamily="49" charset="-122"/>
              </a:rPr>
              <a:t>的定义和提交</a:t>
            </a:r>
          </a:p>
        </p:txBody>
      </p:sp>
      <p:sp>
        <p:nvSpPr>
          <p:cNvPr id="548869" name="Rectangle 5">
            <a:extLst>
              <a:ext uri="{FF2B5EF4-FFF2-40B4-BE49-F238E27FC236}">
                <a16:creationId xmlns:a16="http://schemas.microsoft.com/office/drawing/2014/main" id="{67CC8D73-85EA-4875-A4D4-4BF57B59C480}"/>
              </a:ext>
            </a:extLst>
          </p:cNvPr>
          <p:cNvSpPr>
            <a:spLocks noChangeArrowheads="1"/>
          </p:cNvSpPr>
          <p:nvPr/>
        </p:nvSpPr>
        <p:spPr bwMode="auto">
          <a:xfrm>
            <a:off x="2207569" y="2060848"/>
            <a:ext cx="8066087" cy="3785652"/>
          </a:xfrm>
          <a:prstGeom prst="rect">
            <a:avLst/>
          </a:prstGeom>
          <a:noFill/>
          <a:ln w="9525">
            <a:noFill/>
            <a:miter lim="800000"/>
            <a:headEnd/>
            <a:tailEnd/>
          </a:ln>
          <a:effectLst/>
        </p:spPr>
        <p:txBody>
          <a:bodyPr>
            <a:spAutoFit/>
          </a:bodyPr>
          <a:lstStyle/>
          <a:p>
            <a:pPr lvl="1">
              <a:defRPr/>
            </a:pPr>
            <a:r>
              <a:rPr lang="en-US" altLang="zh-CN" sz="2400" b="1" noProof="1">
                <a:solidFill>
                  <a:srgbClr val="0000FF"/>
                </a:solidFill>
                <a:effectLst>
                  <a:outerShdw blurRad="38100" dist="38100" dir="2700000" algn="tl">
                    <a:srgbClr val="C0C0C0"/>
                  </a:outerShdw>
                </a:effectLst>
                <a:latin typeface="Courier New" pitchFamily="49" charset="0"/>
                <a:ea typeface="宋体" pitchFamily="2" charset="-122"/>
              </a:rPr>
              <a:t>void</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FF0000"/>
                </a:solidFill>
                <a:effectLst>
                  <a:outerShdw blurRad="38100" dist="38100" dir="2700000" algn="tl">
                    <a:srgbClr val="C0C0C0"/>
                  </a:outerShdw>
                </a:effectLst>
                <a:latin typeface="Courier New" pitchFamily="49" charset="0"/>
                <a:ea typeface="宋体" pitchFamily="2" charset="-122"/>
              </a:rPr>
              <a:t>drawObjects</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glLoadName(1);</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glColor3f</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(1.0, 0.0, 0.0);</a:t>
            </a: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glRectf</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(-0.5, -0.5, 1.0, 1.0);</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名称？</a:t>
            </a:r>
          </a:p>
          <a:p>
            <a:pPr lvl="1">
              <a:defRPr/>
            </a:pPr>
            <a:endParaRPr lang="zh-CN"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zh-CN"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glLoadName(2);</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glColor3f</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(0.0, 0.0, 1.0);</a:t>
            </a:r>
          </a:p>
          <a:p>
            <a:pPr lvl="1">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glRectf</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(-1.0, -1.0, 0.5, 0.5);</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名称？</a:t>
            </a:r>
            <a:endParaRPr lang="zh-CN" altLang="zh-CN" sz="24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zh-CN"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8869"/>
                                        </p:tgtEl>
                                        <p:attrNameLst>
                                          <p:attrName>style.visibility</p:attrName>
                                        </p:attrNameLst>
                                      </p:cBhvr>
                                      <p:to>
                                        <p:strVal val="visible"/>
                                      </p:to>
                                    </p:set>
                                    <p:animEffect transition="in" filter="dissolve">
                                      <p:cBhvr>
                                        <p:cTn id="7" dur="500"/>
                                        <p:tgtEl>
                                          <p:spTgt spid="548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a:extLst>
              <a:ext uri="{FF2B5EF4-FFF2-40B4-BE49-F238E27FC236}">
                <a16:creationId xmlns:a16="http://schemas.microsoft.com/office/drawing/2014/main" id="{CD5EA390-B692-45D8-AE65-5D0E4D979A4B}"/>
              </a:ext>
            </a:extLst>
          </p:cNvPr>
          <p:cNvSpPr>
            <a:spLocks noGrp="1" noChangeArrowheads="1"/>
          </p:cNvSpPr>
          <p:nvPr>
            <p:ph type="title"/>
          </p:nvPr>
        </p:nvSpPr>
        <p:spPr/>
        <p:txBody>
          <a:bodyPr/>
          <a:lstStyle/>
          <a:p>
            <a:pPr>
              <a:defRPr/>
            </a:pPr>
            <a:r>
              <a:rPr lang="en-US" altLang="zh-CN">
                <a:latin typeface="Arial" pitchFamily="34" charset="0"/>
              </a:rPr>
              <a:t>(4) </a:t>
            </a:r>
            <a:r>
              <a:rPr lang="zh-CN" altLang="en-US">
                <a:latin typeface="Arial" pitchFamily="34" charset="0"/>
              </a:rPr>
              <a:t>名称堆栈</a:t>
            </a:r>
          </a:p>
        </p:txBody>
      </p:sp>
      <p:sp>
        <p:nvSpPr>
          <p:cNvPr id="573443" name="Rectangle 3">
            <a:extLst>
              <a:ext uri="{FF2B5EF4-FFF2-40B4-BE49-F238E27FC236}">
                <a16:creationId xmlns:a16="http://schemas.microsoft.com/office/drawing/2014/main" id="{66568585-AFD6-4BE4-BFB0-F360EBCF0C8F}"/>
              </a:ext>
            </a:extLst>
          </p:cNvPr>
          <p:cNvSpPr>
            <a:spLocks noGrp="1" noChangeArrowheads="1"/>
          </p:cNvSpPr>
          <p:nvPr>
            <p:ph type="body" idx="1"/>
          </p:nvPr>
        </p:nvSpPr>
        <p:spPr>
          <a:xfrm>
            <a:off x="839416" y="1052736"/>
            <a:ext cx="10844583" cy="4992124"/>
          </a:xfrm>
        </p:spPr>
        <p:txBody>
          <a:bodyPr/>
          <a:lstStyle/>
          <a:p>
            <a:pPr>
              <a:buFont typeface="Wingdings" panose="05000000000000000000" pitchFamily="2" charset="2"/>
              <a:buChar char="l"/>
              <a:defRPr/>
            </a:pPr>
            <a:r>
              <a:rPr lang="zh-CN" altLang="en-US" dirty="0">
                <a:ea typeface="黑体" pitchFamily="49" charset="-122"/>
              </a:rPr>
              <a:t>名称堆栈是由</a:t>
            </a:r>
            <a:r>
              <a:rPr lang="en-US" altLang="zh-CN" dirty="0">
                <a:ea typeface="黑体" pitchFamily="49" charset="-122"/>
              </a:rPr>
              <a:t>OpenGL</a:t>
            </a:r>
            <a:r>
              <a:rPr lang="zh-CN" altLang="en-US" dirty="0">
                <a:ea typeface="黑体" pitchFamily="49" charset="-122"/>
              </a:rPr>
              <a:t>内部维护的数据结构，用户可以通过</a:t>
            </a:r>
            <a:r>
              <a:rPr lang="en-US" altLang="zh-CN" dirty="0">
                <a:ea typeface="黑体" pitchFamily="49" charset="-122"/>
              </a:rPr>
              <a:t>4</a:t>
            </a:r>
            <a:r>
              <a:rPr lang="zh-CN" altLang="en-US" dirty="0">
                <a:ea typeface="黑体" pitchFamily="49" charset="-122"/>
              </a:rPr>
              <a:t>个函数来操作该堆栈</a:t>
            </a:r>
          </a:p>
          <a:p>
            <a:pPr marL="1057275" lvl="1" indent="-457200">
              <a:buFont typeface="Wingdings" panose="05000000000000000000" pitchFamily="2" charset="2"/>
              <a:buAutoNum type="circleNumDbPlain"/>
              <a:defRPr/>
            </a:pPr>
            <a:r>
              <a:rPr lang="zh-CN" altLang="en-US" sz="2400" dirty="0">
                <a:ea typeface="黑体" pitchFamily="49" charset="-122"/>
              </a:rPr>
              <a:t>初始化名称堆栈</a:t>
            </a:r>
          </a:p>
          <a:p>
            <a:pPr lvl="2">
              <a:lnSpc>
                <a:spcPct val="100000"/>
              </a:lnSpc>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glInitNames</a:t>
            </a:r>
            <a:r>
              <a:rPr lang="en-US" altLang="zh-CN" sz="2400" dirty="0">
                <a:solidFill>
                  <a:srgbClr val="C00000"/>
                </a:solidFill>
                <a:ea typeface="黑体" pitchFamily="49" charset="-122"/>
              </a:rPr>
              <a:t>()</a:t>
            </a:r>
          </a:p>
          <a:p>
            <a:pPr marL="1057275" lvl="1" indent="-457200">
              <a:buFont typeface="Wingdings" panose="05000000000000000000" pitchFamily="2" charset="2"/>
              <a:buAutoNum type="circleNumDbPlain"/>
              <a:defRPr/>
            </a:pPr>
            <a:r>
              <a:rPr lang="zh-CN" altLang="en-US" sz="2400" dirty="0">
                <a:ea typeface="黑体" pitchFamily="49" charset="-122"/>
              </a:rPr>
              <a:t>将名称压入名称堆栈</a:t>
            </a:r>
          </a:p>
          <a:p>
            <a:pPr lvl="2">
              <a:lnSpc>
                <a:spcPct val="100000"/>
              </a:lnSpc>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glPushName</a:t>
            </a:r>
            <a:r>
              <a:rPr lang="en-US" altLang="zh-CN" sz="2400" dirty="0">
                <a:solidFill>
                  <a:srgbClr val="C00000"/>
                </a:solidFill>
                <a:ea typeface="黑体" pitchFamily="49" charset="-122"/>
              </a:rPr>
              <a:t>(</a:t>
            </a:r>
            <a:r>
              <a:rPr lang="en-US" altLang="zh-CN" sz="2400" dirty="0" err="1">
                <a:solidFill>
                  <a:srgbClr val="C00000"/>
                </a:solidFill>
                <a:ea typeface="黑体" pitchFamily="49" charset="-122"/>
              </a:rPr>
              <a:t>GLuint</a:t>
            </a:r>
            <a:r>
              <a:rPr lang="en-US" altLang="zh-CN" sz="2400" dirty="0">
                <a:solidFill>
                  <a:srgbClr val="C00000"/>
                </a:solidFill>
                <a:ea typeface="黑体" pitchFamily="49" charset="-122"/>
              </a:rPr>
              <a:t> name)</a:t>
            </a:r>
          </a:p>
          <a:p>
            <a:pPr marL="1057275" lvl="1" indent="-457200">
              <a:buFont typeface="Wingdings" panose="05000000000000000000" pitchFamily="2" charset="2"/>
              <a:buAutoNum type="circleNumDbPlain"/>
              <a:defRPr/>
            </a:pPr>
            <a:r>
              <a:rPr lang="zh-CN" altLang="en-US" sz="2400" dirty="0">
                <a:ea typeface="黑体" pitchFamily="49" charset="-122"/>
              </a:rPr>
              <a:t>将栈顶名称从名称堆栈中弹出</a:t>
            </a:r>
            <a:endParaRPr lang="en-US" altLang="zh-CN" sz="2400" dirty="0">
              <a:ea typeface="黑体" pitchFamily="49" charset="-122"/>
            </a:endParaRPr>
          </a:p>
          <a:p>
            <a:pPr lvl="2">
              <a:lnSpc>
                <a:spcPct val="100000"/>
              </a:lnSpc>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glPopName</a:t>
            </a:r>
            <a:r>
              <a:rPr lang="en-US" altLang="zh-CN" sz="2400" dirty="0">
                <a:solidFill>
                  <a:srgbClr val="C00000"/>
                </a:solidFill>
                <a:ea typeface="黑体" pitchFamily="49" charset="-122"/>
              </a:rPr>
              <a:t>()</a:t>
            </a:r>
          </a:p>
          <a:p>
            <a:pPr marL="1057275" lvl="1" indent="-457200">
              <a:buFont typeface="Wingdings" panose="05000000000000000000" pitchFamily="2" charset="2"/>
              <a:buAutoNum type="circleNumDbPlain"/>
              <a:defRPr/>
            </a:pPr>
            <a:r>
              <a:rPr lang="zh-CN" altLang="en-US" sz="2400" dirty="0">
                <a:ea typeface="黑体" pitchFamily="49" charset="-122"/>
              </a:rPr>
              <a:t>用给定名称取代堆栈中的栈顶名称</a:t>
            </a:r>
          </a:p>
          <a:p>
            <a:pPr lvl="2">
              <a:lnSpc>
                <a:spcPct val="100000"/>
              </a:lnSpc>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glLoadName</a:t>
            </a:r>
            <a:r>
              <a:rPr lang="en-US" altLang="zh-CN" sz="2400" dirty="0">
                <a:solidFill>
                  <a:srgbClr val="C00000"/>
                </a:solidFill>
                <a:ea typeface="黑体" pitchFamily="49" charset="-122"/>
              </a:rPr>
              <a:t>(</a:t>
            </a:r>
            <a:r>
              <a:rPr lang="en-US" altLang="zh-CN" sz="2400" dirty="0" err="1">
                <a:solidFill>
                  <a:srgbClr val="C00000"/>
                </a:solidFill>
                <a:ea typeface="黑体" pitchFamily="49" charset="-122"/>
              </a:rPr>
              <a:t>GLuint</a:t>
            </a:r>
            <a:r>
              <a:rPr lang="en-US" altLang="zh-CN" sz="2400" dirty="0">
                <a:solidFill>
                  <a:srgbClr val="C00000"/>
                </a:solidFill>
                <a:ea typeface="黑体" pitchFamily="49" charset="-122"/>
              </a:rPr>
              <a:t> name)</a:t>
            </a:r>
            <a:endParaRPr lang="zh-CN" altLang="en-US" sz="2400" dirty="0">
              <a:solidFill>
                <a:srgbClr val="C00000"/>
              </a:solidFill>
              <a:ea typeface="黑体" pitchFamily="49" charset="-122"/>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EF0417D1-E352-475E-A972-5A67B852294A}"/>
              </a:ext>
            </a:extLst>
          </p:cNvPr>
          <p:cNvSpPr>
            <a:spLocks noGrp="1" noChangeArrowheads="1"/>
          </p:cNvSpPr>
          <p:nvPr>
            <p:ph type="title"/>
          </p:nvPr>
        </p:nvSpPr>
        <p:spPr/>
        <p:txBody>
          <a:bodyPr/>
          <a:lstStyle/>
          <a:p>
            <a:pPr>
              <a:defRPr/>
            </a:pPr>
            <a:r>
              <a:rPr lang="en-US" altLang="zh-CN">
                <a:latin typeface="Arial" pitchFamily="34" charset="0"/>
              </a:rPr>
              <a:t>(5) </a:t>
            </a:r>
            <a:r>
              <a:rPr lang="zh-CN" altLang="en-US">
                <a:latin typeface="Arial" pitchFamily="34" charset="0"/>
              </a:rPr>
              <a:t>选择缓存</a:t>
            </a:r>
          </a:p>
        </p:txBody>
      </p:sp>
      <p:sp>
        <p:nvSpPr>
          <p:cNvPr id="553987" name="Rectangle 3">
            <a:extLst>
              <a:ext uri="{FF2B5EF4-FFF2-40B4-BE49-F238E27FC236}">
                <a16:creationId xmlns:a16="http://schemas.microsoft.com/office/drawing/2014/main" id="{7471DC06-F71A-44C6-A7CD-0BE468DBB1B7}"/>
              </a:ext>
            </a:extLst>
          </p:cNvPr>
          <p:cNvSpPr>
            <a:spLocks noGrp="1" noChangeArrowheads="1"/>
          </p:cNvSpPr>
          <p:nvPr>
            <p:ph type="body" idx="1"/>
          </p:nvPr>
        </p:nvSpPr>
        <p:spPr>
          <a:xfrm>
            <a:off x="1703512" y="980729"/>
            <a:ext cx="8856984" cy="560911"/>
          </a:xfrm>
        </p:spPr>
        <p:txBody>
          <a:bodyPr/>
          <a:lstStyle/>
          <a:p>
            <a:pPr>
              <a:buFont typeface="Wingdings" panose="05000000000000000000" pitchFamily="2" charset="2"/>
              <a:buChar char="l"/>
              <a:defRPr/>
            </a:pPr>
            <a:r>
              <a:rPr lang="zh-CN" altLang="en-US" dirty="0">
                <a:ea typeface="黑体" pitchFamily="49" charset="-122"/>
              </a:rPr>
              <a:t>选择缓存</a:t>
            </a:r>
            <a:r>
              <a:rPr lang="en-US" altLang="zh-CN" dirty="0">
                <a:latin typeface="黑体" pitchFamily="49" charset="-122"/>
                <a:ea typeface="黑体" pitchFamily="49" charset="-122"/>
              </a:rPr>
              <a:t>——</a:t>
            </a:r>
            <a:r>
              <a:rPr lang="zh-CN" altLang="en-US" dirty="0">
                <a:ea typeface="黑体" pitchFamily="49" charset="-122"/>
              </a:rPr>
              <a:t>如何定义？如何提交？如何分析和处理？</a:t>
            </a:r>
          </a:p>
        </p:txBody>
      </p:sp>
      <p:sp>
        <p:nvSpPr>
          <p:cNvPr id="553988" name="Rectangle 4">
            <a:extLst>
              <a:ext uri="{FF2B5EF4-FFF2-40B4-BE49-F238E27FC236}">
                <a16:creationId xmlns:a16="http://schemas.microsoft.com/office/drawing/2014/main" id="{C23E0491-A9F3-4581-823D-F940519A9B98}"/>
              </a:ext>
            </a:extLst>
          </p:cNvPr>
          <p:cNvSpPr>
            <a:spLocks noChangeArrowheads="1"/>
          </p:cNvSpPr>
          <p:nvPr/>
        </p:nvSpPr>
        <p:spPr bwMode="auto">
          <a:xfrm>
            <a:off x="1631504" y="1700809"/>
            <a:ext cx="9036496" cy="4739759"/>
          </a:xfrm>
          <a:prstGeom prst="rect">
            <a:avLst/>
          </a:prstGeom>
          <a:noFill/>
          <a:ln w="9525">
            <a:noFill/>
            <a:miter lim="800000"/>
            <a:headEnd/>
            <a:tailEnd/>
          </a:ln>
          <a:effectLst/>
        </p:spPr>
        <p:txBody>
          <a:bodyPr wrap="square">
            <a:spAutoFit/>
          </a:bodyPr>
          <a:lstStyle/>
          <a:p>
            <a:pPr>
              <a:spcBef>
                <a:spcPts val="600"/>
              </a:spcBef>
              <a:defRPr/>
            </a:pP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void mouse(int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button,int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state,int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400" b="1" dirty="0" err="1">
                <a:solidFill>
                  <a:srgbClr val="151415"/>
                </a:solidFill>
                <a:effectLst>
                  <a:outerShdw blurRad="38100" dist="38100" dir="2700000" algn="tl">
                    <a:srgbClr val="C0C0C0"/>
                  </a:outerShdw>
                </a:effectLst>
                <a:latin typeface="Courier New" pitchFamily="49" charset="0"/>
                <a:ea typeface="宋体" pitchFamily="2" charset="-122"/>
              </a:rPr>
              <a:t>x,int</a:t>
            </a:r>
            <a:r>
              <a:rPr lang="en-US" altLang="zh-CN" sz="2400" b="1" dirty="0">
                <a:solidFill>
                  <a:srgbClr val="151415"/>
                </a:solidFill>
                <a:effectLst>
                  <a:outerShdw blurRad="38100" dist="38100" dir="2700000" algn="tl">
                    <a:srgbClr val="C0C0C0"/>
                  </a:outerShdw>
                </a:effectLst>
                <a:latin typeface="Courier New" pitchFamily="49" charset="0"/>
                <a:ea typeface="宋体" pitchFamily="2" charset="-122"/>
              </a:rPr>
              <a:t> y ){</a:t>
            </a:r>
          </a:p>
          <a:p>
            <a:pPr lvl="1">
              <a:spcBef>
                <a:spcPts val="600"/>
              </a:spcBef>
              <a:defRPr/>
            </a:pP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命中记录个数</a:t>
            </a:r>
          </a:p>
          <a:p>
            <a:pPr lvl="1">
              <a:spcBef>
                <a:spcPts val="600"/>
              </a:spcBef>
              <a:defRPr/>
            </a:pP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GLuint selectBuf[SIZE];</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chemeClr val="hlink"/>
                </a:solidFill>
                <a:effectLst>
                  <a:outerShdw blurRad="38100" dist="38100" dir="2700000" algn="tl">
                    <a:srgbClr val="C0C0C0"/>
                  </a:outerShdw>
                </a:effectLst>
                <a:latin typeface="Courier New" pitchFamily="49" charset="0"/>
                <a:ea typeface="宋体" pitchFamily="2" charset="-122"/>
              </a:rPr>
              <a:t>内存</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中分配选择缓存空间</a:t>
            </a:r>
          </a:p>
          <a:p>
            <a:pPr lvl="1">
              <a:lnSpc>
                <a:spcPct val="5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400" b="1" noProof="1">
                <a:solidFill>
                  <a:srgbClr val="008000"/>
                </a:solidFill>
                <a:effectLst>
                  <a:outerShdw blurRad="38100" dist="38100" dir="2700000" algn="tl">
                    <a:srgbClr val="C0C0C0"/>
                  </a:outerShdw>
                </a:effectLst>
                <a:latin typeface="Courier New" pitchFamily="49" charset="0"/>
                <a:ea typeface="宋体" pitchFamily="2" charset="-122"/>
              </a:rPr>
              <a:t>glSelectBuffer (SIZE, selectBuf);</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提交选择缓存</a:t>
            </a:r>
            <a:endParaRPr lang="zh-CN" altLang="en-US" sz="2400" b="1" dirty="0">
              <a:solidFill>
                <a:srgbClr val="151415"/>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glRenderMode</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选择模式开始 </a:t>
            </a:r>
            <a:endParaRPr lang="zh-CN" altLang="zh-CN" sz="24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lnSpc>
                <a:spcPct val="5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spcBef>
                <a:spcPts val="600"/>
              </a:spcBef>
              <a:defRPr/>
            </a:pPr>
            <a:r>
              <a:rPr lang="en-US" altLang="zh-CN" sz="2400" b="1" noProof="1">
                <a:solidFill>
                  <a:srgbClr val="141414"/>
                </a:solidFill>
                <a:effectLst>
                  <a:outerShdw blurRad="38100" dist="38100" dir="2700000" algn="tl">
                    <a:srgbClr val="C0C0C0"/>
                  </a:outerShdw>
                </a:effectLst>
                <a:latin typeface="Courier New" pitchFamily="49" charset="0"/>
                <a:ea typeface="宋体" pitchFamily="2" charset="-122"/>
              </a:rPr>
              <a:t>hits = glRenderMode (GL_RENDER);//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选择模式</a:t>
            </a:r>
            <a:r>
              <a:rPr lang="zh-CN" altLang="en-US" sz="2400" b="1" dirty="0">
                <a:solidFill>
                  <a:schemeClr val="hlink"/>
                </a:solidFill>
                <a:effectLst>
                  <a:outerShdw blurRad="38100" dist="38100" dir="2700000" algn="tl">
                    <a:srgbClr val="C0C0C0"/>
                  </a:outerShdw>
                </a:effectLst>
                <a:latin typeface="Courier New" pitchFamily="49" charset="0"/>
                <a:ea typeface="宋体" pitchFamily="2" charset="-122"/>
              </a:rPr>
              <a:t>结束</a:t>
            </a:r>
          </a:p>
          <a:p>
            <a:pPr lvl="1">
              <a:spcBef>
                <a:spcPts val="600"/>
              </a:spcBef>
              <a:defRPr/>
            </a:pPr>
            <a:r>
              <a:rPr lang="en-US" altLang="zh-CN" sz="2400" b="1" noProof="1">
                <a:solidFill>
                  <a:srgbClr val="FF0000"/>
                </a:solidFill>
                <a:effectLst>
                  <a:outerShdw blurRad="38100" dist="38100" dir="2700000" algn="tl">
                    <a:srgbClr val="C0C0C0"/>
                  </a:outerShdw>
                </a:effectLst>
                <a:latin typeface="Courier New" pitchFamily="49" charset="0"/>
                <a:ea typeface="宋体" pitchFamily="2" charset="-122"/>
              </a:rPr>
              <a:t>processHits (hits, selectBuf);</a:t>
            </a: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r>
              <a:rPr lang="zh-CN" altLang="en-US" sz="2400" b="1" dirty="0">
                <a:solidFill>
                  <a:srgbClr val="141414"/>
                </a:solidFill>
                <a:effectLst>
                  <a:outerShdw blurRad="38100" dist="38100" dir="2700000" algn="tl">
                    <a:srgbClr val="C0C0C0"/>
                  </a:outerShdw>
                </a:effectLst>
                <a:latin typeface="Courier New" pitchFamily="49" charset="0"/>
                <a:ea typeface="宋体" pitchFamily="2" charset="-122"/>
              </a:rPr>
              <a:t>分析和处理选择缓存</a:t>
            </a:r>
            <a:endParaRPr lang="zh-CN" altLang="zh-CN" sz="24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lnSpc>
                <a:spcPct val="50000"/>
              </a:lnSpc>
              <a:spcBef>
                <a:spcPts val="600"/>
              </a:spcBef>
              <a:defRPr/>
            </a:pPr>
            <a:r>
              <a:rPr lang="en-US" altLang="zh-CN" sz="24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spcBef>
                <a:spcPts val="600"/>
              </a:spcBef>
              <a:defRPr/>
            </a:pPr>
            <a:r>
              <a:rPr lang="en-US" altLang="zh-CN" sz="2400" b="1" dirty="0">
                <a:solidFill>
                  <a:srgbClr val="151415"/>
                </a:solidFill>
                <a:effectLst>
                  <a:outerShdw blurRad="38100" dist="38100" dir="2700000" algn="tl">
                    <a:srgbClr val="C0C0C0"/>
                  </a:outerShdw>
                </a:effectLst>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3988"/>
                                        </p:tgtEl>
                                        <p:attrNameLst>
                                          <p:attrName>style.visibility</p:attrName>
                                        </p:attrNameLst>
                                      </p:cBhvr>
                                      <p:to>
                                        <p:strVal val="visible"/>
                                      </p:to>
                                    </p:set>
                                    <p:animEffect transition="in" filter="dissolve">
                                      <p:cBhvr>
                                        <p:cTn id="7" dur="500"/>
                                        <p:tgtEl>
                                          <p:spTgt spid="553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a:extLst>
              <a:ext uri="{FF2B5EF4-FFF2-40B4-BE49-F238E27FC236}">
                <a16:creationId xmlns:a16="http://schemas.microsoft.com/office/drawing/2014/main" id="{E4631B4D-32F5-413C-ADB7-ED0A65851385}"/>
              </a:ext>
            </a:extLst>
          </p:cNvPr>
          <p:cNvSpPr>
            <a:spLocks noGrp="1" noChangeArrowheads="1"/>
          </p:cNvSpPr>
          <p:nvPr>
            <p:ph type="title"/>
          </p:nvPr>
        </p:nvSpPr>
        <p:spPr/>
        <p:txBody>
          <a:bodyPr/>
          <a:lstStyle/>
          <a:p>
            <a:pPr>
              <a:defRPr/>
            </a:pPr>
            <a:r>
              <a:rPr lang="en-US" altLang="zh-CN">
                <a:latin typeface="Arial" pitchFamily="34" charset="0"/>
              </a:rPr>
              <a:t>(5) </a:t>
            </a:r>
            <a:r>
              <a:rPr lang="zh-CN" altLang="en-US">
                <a:latin typeface="Arial" pitchFamily="34" charset="0"/>
              </a:rPr>
              <a:t>选择缓存</a:t>
            </a:r>
          </a:p>
        </p:txBody>
      </p:sp>
      <p:sp>
        <p:nvSpPr>
          <p:cNvPr id="555011" name="Rectangle 3">
            <a:extLst>
              <a:ext uri="{FF2B5EF4-FFF2-40B4-BE49-F238E27FC236}">
                <a16:creationId xmlns:a16="http://schemas.microsoft.com/office/drawing/2014/main" id="{D65A7512-BFD2-4FE5-ADEF-1B928B2139AD}"/>
              </a:ext>
            </a:extLst>
          </p:cNvPr>
          <p:cNvSpPr>
            <a:spLocks noGrp="1" noChangeArrowheads="1"/>
          </p:cNvSpPr>
          <p:nvPr>
            <p:ph type="body" idx="1"/>
          </p:nvPr>
        </p:nvSpPr>
        <p:spPr>
          <a:xfrm>
            <a:off x="2135561" y="980728"/>
            <a:ext cx="7991475" cy="5139856"/>
          </a:xfrm>
        </p:spPr>
        <p:txBody>
          <a:bodyPr/>
          <a:lstStyle/>
          <a:p>
            <a:pPr>
              <a:lnSpc>
                <a:spcPct val="100000"/>
              </a:lnSpc>
              <a:spcBef>
                <a:spcPts val="1200"/>
              </a:spcBef>
              <a:buFont typeface="Wingdings" panose="05000000000000000000" pitchFamily="2" charset="2"/>
              <a:buChar char="l"/>
              <a:defRPr/>
            </a:pPr>
            <a:r>
              <a:rPr lang="zh-CN" altLang="en-US" dirty="0">
                <a:ea typeface="黑体" pitchFamily="49" charset="-122"/>
              </a:rPr>
              <a:t>选择缓存（命中记录缓存）</a:t>
            </a:r>
          </a:p>
          <a:p>
            <a:pPr>
              <a:lnSpc>
                <a:spcPct val="100000"/>
              </a:lnSpc>
              <a:spcBef>
                <a:spcPts val="1200"/>
              </a:spcBef>
              <a:buFont typeface="Wingdings" panose="05000000000000000000" pitchFamily="2" charset="2"/>
              <a:buNone/>
              <a:defRPr/>
            </a:pPr>
            <a:r>
              <a:rPr lang="en-US" altLang="zh-CN" dirty="0">
                <a:ea typeface="黑体" pitchFamily="49" charset="-122"/>
              </a:rPr>
              <a:t>    </a:t>
            </a:r>
            <a:r>
              <a:rPr lang="en-US" altLang="zh-CN" dirty="0">
                <a:latin typeface="黑体" pitchFamily="49" charset="-122"/>
                <a:ea typeface="黑体" pitchFamily="49" charset="-122"/>
              </a:rPr>
              <a:t>——</a:t>
            </a:r>
            <a:r>
              <a:rPr lang="zh-CN" altLang="en-US" sz="2400" dirty="0">
                <a:ea typeface="黑体" pitchFamily="49" charset="-122"/>
              </a:rPr>
              <a:t>保存一个或多个命中记录</a:t>
            </a:r>
            <a:endParaRPr lang="en-US" altLang="zh-CN" sz="2400" dirty="0">
              <a:ea typeface="黑体" pitchFamily="49" charset="-122"/>
            </a:endParaRPr>
          </a:p>
          <a:p>
            <a:pPr>
              <a:lnSpc>
                <a:spcPct val="100000"/>
              </a:lnSpc>
              <a:spcBef>
                <a:spcPts val="1200"/>
              </a:spcBef>
              <a:buFont typeface="Wingdings" panose="05000000000000000000" pitchFamily="2" charset="2"/>
              <a:buChar char="l"/>
              <a:defRPr/>
            </a:pPr>
            <a:r>
              <a:rPr lang="zh-CN" altLang="en-US" dirty="0">
                <a:ea typeface="黑体" pitchFamily="49" charset="-122"/>
              </a:rPr>
              <a:t>向</a:t>
            </a:r>
            <a:r>
              <a:rPr lang="en-US" altLang="zh-CN" dirty="0">
                <a:ea typeface="黑体" pitchFamily="49" charset="-122"/>
              </a:rPr>
              <a:t>OpenGL</a:t>
            </a:r>
            <a:r>
              <a:rPr lang="zh-CN" altLang="en-US" dirty="0">
                <a:ea typeface="黑体" pitchFamily="49" charset="-122"/>
              </a:rPr>
              <a:t>注册选择缓存（命中记录缓存）</a:t>
            </a:r>
          </a:p>
          <a:p>
            <a:pPr lvl="1">
              <a:lnSpc>
                <a:spcPct val="100000"/>
              </a:lnSpc>
              <a:spcBef>
                <a:spcPts val="1200"/>
              </a:spcBef>
              <a:defRPr/>
            </a:pPr>
            <a:r>
              <a:rPr lang="en-US" altLang="zh-CN" sz="2400" dirty="0">
                <a:solidFill>
                  <a:srgbClr val="C00000"/>
                </a:solidFill>
                <a:ea typeface="黑体" pitchFamily="49" charset="-122"/>
              </a:rPr>
              <a:t>void </a:t>
            </a:r>
            <a:r>
              <a:rPr lang="en-US" altLang="zh-CN" sz="2400" dirty="0" err="1">
                <a:solidFill>
                  <a:srgbClr val="C00000"/>
                </a:solidFill>
                <a:ea typeface="黑体" pitchFamily="49" charset="-122"/>
              </a:rPr>
              <a:t>glSelectBuffer</a:t>
            </a:r>
            <a:r>
              <a:rPr lang="en-US" altLang="zh-CN" sz="2400" dirty="0">
                <a:solidFill>
                  <a:srgbClr val="C00000"/>
                </a:solidFill>
                <a:ea typeface="黑体" pitchFamily="49" charset="-122"/>
              </a:rPr>
              <a:t>(</a:t>
            </a:r>
            <a:r>
              <a:rPr lang="en-US" altLang="zh-CN" sz="2400" dirty="0" err="1">
                <a:solidFill>
                  <a:srgbClr val="C00000"/>
                </a:solidFill>
                <a:ea typeface="黑体" pitchFamily="49" charset="-122"/>
              </a:rPr>
              <a:t>GLsizei</a:t>
            </a:r>
            <a:r>
              <a:rPr lang="en-US" altLang="zh-CN" sz="2400" dirty="0">
                <a:solidFill>
                  <a:srgbClr val="C00000"/>
                </a:solidFill>
                <a:ea typeface="黑体" pitchFamily="49" charset="-122"/>
              </a:rPr>
              <a:t> n, </a:t>
            </a:r>
            <a:r>
              <a:rPr lang="en-US" altLang="zh-CN" sz="2400" dirty="0" err="1">
                <a:solidFill>
                  <a:srgbClr val="C00000"/>
                </a:solidFill>
                <a:ea typeface="黑体" pitchFamily="49" charset="-122"/>
              </a:rPr>
              <a:t>GLuint</a:t>
            </a:r>
            <a:r>
              <a:rPr lang="en-US" altLang="zh-CN" sz="2400" dirty="0">
                <a:solidFill>
                  <a:srgbClr val="C00000"/>
                </a:solidFill>
                <a:ea typeface="黑体" pitchFamily="49" charset="-122"/>
              </a:rPr>
              <a:t> * buff)</a:t>
            </a:r>
            <a:endParaRPr lang="zh-CN" altLang="en-US" sz="2400" dirty="0">
              <a:solidFill>
                <a:srgbClr val="C00000"/>
              </a:solidFill>
              <a:ea typeface="黑体" pitchFamily="49" charset="-122"/>
            </a:endParaRPr>
          </a:p>
          <a:p>
            <a:pPr>
              <a:lnSpc>
                <a:spcPct val="100000"/>
              </a:lnSpc>
              <a:spcBef>
                <a:spcPts val="1200"/>
              </a:spcBef>
              <a:buFont typeface="Wingdings" panose="05000000000000000000" pitchFamily="2" charset="2"/>
              <a:buChar char="l"/>
              <a:defRPr/>
            </a:pPr>
            <a:r>
              <a:rPr lang="zh-CN" altLang="en-US" dirty="0">
                <a:ea typeface="黑体" pitchFamily="49" charset="-122"/>
              </a:rPr>
              <a:t>选择缓存什么时候有效？</a:t>
            </a:r>
          </a:p>
          <a:p>
            <a:pPr>
              <a:lnSpc>
                <a:spcPct val="100000"/>
              </a:lnSpc>
              <a:spcBef>
                <a:spcPts val="1200"/>
              </a:spcBef>
              <a:buFont typeface="Wingdings" panose="05000000000000000000" pitchFamily="2" charset="2"/>
              <a:buNone/>
              <a:defRPr/>
            </a:pPr>
            <a:r>
              <a:rPr lang="en-US" altLang="zh-CN" dirty="0">
                <a:ea typeface="黑体" pitchFamily="49" charset="-122"/>
              </a:rPr>
              <a:t>    </a:t>
            </a:r>
            <a:r>
              <a:rPr lang="en-US" altLang="zh-CN" dirty="0">
                <a:latin typeface="黑体" pitchFamily="49" charset="-122"/>
                <a:ea typeface="黑体" pitchFamily="49" charset="-122"/>
              </a:rPr>
              <a:t>——</a:t>
            </a:r>
            <a:r>
              <a:rPr lang="zh-CN" altLang="en-US" sz="2400" dirty="0">
                <a:solidFill>
                  <a:srgbClr val="C00000"/>
                </a:solidFill>
                <a:ea typeface="黑体" pitchFamily="49" charset="-122"/>
              </a:rPr>
              <a:t>当从选择模式切换回渲染模式后</a:t>
            </a:r>
          </a:p>
          <a:p>
            <a:pPr>
              <a:lnSpc>
                <a:spcPct val="100000"/>
              </a:lnSpc>
              <a:spcBef>
                <a:spcPts val="1200"/>
              </a:spcBef>
              <a:buFont typeface="Wingdings" panose="05000000000000000000" pitchFamily="2" charset="2"/>
              <a:buChar char="l"/>
              <a:defRPr/>
            </a:pPr>
            <a:r>
              <a:rPr lang="zh-CN" altLang="en-US" dirty="0">
                <a:ea typeface="黑体" pitchFamily="49" charset="-122"/>
              </a:rPr>
              <a:t>选择缓存中的命中记录个数？</a:t>
            </a:r>
          </a:p>
          <a:p>
            <a:pPr>
              <a:lnSpc>
                <a:spcPct val="100000"/>
              </a:lnSpc>
              <a:spcBef>
                <a:spcPts val="1200"/>
              </a:spcBef>
              <a:buFont typeface="Wingdings" panose="05000000000000000000" pitchFamily="2" charset="2"/>
              <a:buNone/>
              <a:defRPr/>
            </a:pPr>
            <a:r>
              <a:rPr lang="en-US" altLang="zh-CN" dirty="0">
                <a:ea typeface="黑体" pitchFamily="49" charset="-122"/>
              </a:rPr>
              <a:t>    </a:t>
            </a:r>
            <a:r>
              <a:rPr lang="en-US" altLang="zh-CN" dirty="0">
                <a:latin typeface="黑体" pitchFamily="49" charset="-122"/>
                <a:ea typeface="黑体" pitchFamily="49" charset="-122"/>
              </a:rPr>
              <a:t>——</a:t>
            </a:r>
            <a:r>
              <a:rPr lang="en-US" altLang="zh-CN" sz="2400" dirty="0" err="1">
                <a:ea typeface="黑体" pitchFamily="49" charset="-122"/>
              </a:rPr>
              <a:t>glRenderMode</a:t>
            </a:r>
            <a:r>
              <a:rPr lang="en-US" altLang="zh-CN" sz="2400" dirty="0">
                <a:ea typeface="黑体" pitchFamily="49" charset="-122"/>
              </a:rPr>
              <a:t>()</a:t>
            </a:r>
            <a:r>
              <a:rPr lang="zh-CN" altLang="en-US" sz="2400" dirty="0">
                <a:ea typeface="黑体" pitchFamily="49" charset="-122"/>
              </a:rPr>
              <a:t>的返回值</a:t>
            </a:r>
            <a:r>
              <a:rPr lang="en-US" altLang="zh-CN" sz="2400" dirty="0">
                <a:ea typeface="黑体" pitchFamily="49" charset="-122"/>
              </a:rPr>
              <a:t>hits</a:t>
            </a:r>
          </a:p>
          <a:p>
            <a:pPr>
              <a:lnSpc>
                <a:spcPct val="100000"/>
              </a:lnSpc>
              <a:spcBef>
                <a:spcPts val="1200"/>
              </a:spcBef>
              <a:buFont typeface="Wingdings" panose="05000000000000000000" pitchFamily="2" charset="2"/>
              <a:buChar char="l"/>
              <a:defRPr/>
            </a:pPr>
            <a:r>
              <a:rPr lang="zh-CN" altLang="en-US" dirty="0">
                <a:ea typeface="黑体" pitchFamily="49" charset="-122"/>
              </a:rPr>
              <a:t>分析和处理选择缓存中的命中记录</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4FD5B3D0-5810-467A-8F14-A0C1C954BC51}"/>
              </a:ext>
            </a:extLst>
          </p:cNvPr>
          <p:cNvSpPr>
            <a:spLocks noGrp="1" noChangeArrowheads="1"/>
          </p:cNvSpPr>
          <p:nvPr>
            <p:ph type="title"/>
          </p:nvPr>
        </p:nvSpPr>
        <p:spPr/>
        <p:txBody>
          <a:bodyPr/>
          <a:lstStyle/>
          <a:p>
            <a:pPr>
              <a:defRPr/>
            </a:pPr>
            <a:r>
              <a:rPr lang="en-US" altLang="zh-CN">
                <a:latin typeface="Arial" pitchFamily="34" charset="0"/>
              </a:rPr>
              <a:t>(5) </a:t>
            </a:r>
            <a:r>
              <a:rPr lang="zh-CN" altLang="en-US">
                <a:latin typeface="Arial" pitchFamily="34" charset="0"/>
              </a:rPr>
              <a:t>选择缓存</a:t>
            </a:r>
          </a:p>
        </p:txBody>
      </p:sp>
      <p:sp>
        <p:nvSpPr>
          <p:cNvPr id="59" name="Rectangle 3">
            <a:extLst>
              <a:ext uri="{FF2B5EF4-FFF2-40B4-BE49-F238E27FC236}">
                <a16:creationId xmlns:a16="http://schemas.microsoft.com/office/drawing/2014/main" id="{B5DDB144-A394-4AD4-AE50-A4183D61ADF7}"/>
              </a:ext>
            </a:extLst>
          </p:cNvPr>
          <p:cNvSpPr txBox="1">
            <a:spLocks noChangeArrowheads="1"/>
          </p:cNvSpPr>
          <p:nvPr/>
        </p:nvSpPr>
        <p:spPr bwMode="auto">
          <a:xfrm>
            <a:off x="845285" y="1039813"/>
            <a:ext cx="7945437" cy="431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44500" indent="-444500" algn="l" rtl="0" eaLnBrk="1" fontAlgn="base" hangingPunct="1">
              <a:lnSpc>
                <a:spcPct val="120000"/>
              </a:lnSpc>
              <a:spcBef>
                <a:spcPct val="40000"/>
              </a:spcBef>
              <a:spcAft>
                <a:spcPct val="20000"/>
              </a:spcAft>
              <a:buClr>
                <a:schemeClr val="tx2"/>
              </a:buClr>
              <a:buSzPct val="125000"/>
              <a:buFont typeface="Wingdings" panose="05000000000000000000" pitchFamily="2" charset="2"/>
              <a:buChar char="8"/>
              <a:defRPr sz="2400" b="1">
                <a:solidFill>
                  <a:schemeClr val="tx1"/>
                </a:solidFill>
                <a:effectLst>
                  <a:outerShdw blurRad="38100" dist="38100" dir="2700000" algn="tl">
                    <a:srgbClr val="C0C0C0"/>
                  </a:outerShdw>
                </a:effectLst>
                <a:latin typeface="+mn-lt"/>
                <a:ea typeface="黑体" pitchFamily="2" charset="-122"/>
                <a:cs typeface="黑体" charset="0"/>
              </a:defRPr>
            </a:lvl1pPr>
            <a:lvl2pPr marL="1044575" indent="-42068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folHlink"/>
                </a:solidFill>
                <a:effectLst>
                  <a:outerShdw blurRad="38100" dist="38100" dir="2700000" algn="tl">
                    <a:srgbClr val="C0C0C0"/>
                  </a:outerShdw>
                </a:effectLst>
                <a:latin typeface="+mn-lt"/>
                <a:ea typeface="黑体" pitchFamily="2" charset="-122"/>
                <a:cs typeface="黑体" charset="0"/>
              </a:defRPr>
            </a:lvl2pPr>
            <a:lvl3pPr marL="1574800" indent="-350838"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黑体" pitchFamily="2" charset="-122"/>
                <a:cs typeface="黑体" charset="0"/>
              </a:defRPr>
            </a:lvl3pPr>
            <a:lvl4pPr marL="2084388"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Q"/>
              <a:defRPr sz="2000" b="1">
                <a:solidFill>
                  <a:schemeClr val="folHlink"/>
                </a:solidFill>
                <a:effectLst>
                  <a:outerShdw blurRad="38100" dist="38100" dir="2700000" algn="tl">
                    <a:srgbClr val="C0C0C0"/>
                  </a:outerShdw>
                </a:effectLst>
                <a:latin typeface="+mn-lt"/>
                <a:ea typeface="黑体" pitchFamily="2" charset="-122"/>
                <a:cs typeface="黑体" charset="0"/>
              </a:defRPr>
            </a:lvl4pPr>
            <a:lvl5pPr marL="2593975" indent="-330200" algn="l" rtl="0" eaLnBrk="1" fontAlgn="base" hangingPunct="1">
              <a:lnSpc>
                <a:spcPct val="120000"/>
              </a:lnSpc>
              <a:spcBef>
                <a:spcPct val="20000"/>
              </a:spcBef>
              <a:spcAft>
                <a:spcPct val="0"/>
              </a:spcAft>
              <a:buClr>
                <a:schemeClr val="tx2"/>
              </a:buClr>
              <a:buSzPct val="125000"/>
              <a:buFont typeface="Wingdings" panose="05000000000000000000" pitchFamily="2" charset="2"/>
              <a:buChar char="F"/>
              <a:defRPr sz="2000" b="1">
                <a:solidFill>
                  <a:schemeClr val="tx1"/>
                </a:solidFill>
                <a:effectLst>
                  <a:outerShdw blurRad="38100" dist="38100" dir="2700000" algn="tl">
                    <a:srgbClr val="C0C0C0"/>
                  </a:outerShdw>
                </a:effectLst>
                <a:latin typeface="+mn-lt"/>
                <a:ea typeface="黑体" pitchFamily="2" charset="-122"/>
                <a:cs typeface="黑体" charset="0"/>
              </a:defRPr>
            </a:lvl5pPr>
            <a:lvl6pPr marL="25146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6pPr>
            <a:lvl7pPr marL="29718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7pPr>
            <a:lvl8pPr marL="34290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8pPr>
            <a:lvl9pPr marL="3886200" indent="-228600" algn="l" rtl="0" eaLnBrk="1" fontAlgn="base" hangingPunct="1">
              <a:spcBef>
                <a:spcPct val="20000"/>
              </a:spcBef>
              <a:spcAft>
                <a:spcPct val="0"/>
              </a:spcAft>
              <a:buClr>
                <a:srgbClr val="5B0DAA"/>
              </a:buClr>
              <a:buFont typeface="Wingdings" pitchFamily="2" charset="2"/>
              <a:buChar char="Ø"/>
              <a:defRPr sz="1400">
                <a:solidFill>
                  <a:schemeClr val="tx1"/>
                </a:solidFill>
                <a:latin typeface="+mn-lt"/>
              </a:defRPr>
            </a:lvl9pPr>
          </a:lstStyle>
          <a:p>
            <a:pPr>
              <a:lnSpc>
                <a:spcPct val="90000"/>
              </a:lnSpc>
              <a:defRPr/>
            </a:pPr>
            <a:r>
              <a:rPr lang="zh-CN" altLang="en-US" kern="0">
                <a:ea typeface="黑体" pitchFamily="49" charset="-122"/>
              </a:rPr>
              <a:t>选择缓存的数据结构</a:t>
            </a:r>
            <a:endParaRPr lang="zh-CN" altLang="en-US" kern="0" dirty="0">
              <a:ea typeface="黑体" pitchFamily="49" charset="-122"/>
            </a:endParaRPr>
          </a:p>
        </p:txBody>
      </p:sp>
      <p:grpSp>
        <p:nvGrpSpPr>
          <p:cNvPr id="60" name="组合 29">
            <a:extLst>
              <a:ext uri="{FF2B5EF4-FFF2-40B4-BE49-F238E27FC236}">
                <a16:creationId xmlns:a16="http://schemas.microsoft.com/office/drawing/2014/main" id="{7609266E-8E66-475D-979A-566A3938D7C0}"/>
              </a:ext>
            </a:extLst>
          </p:cNvPr>
          <p:cNvGrpSpPr>
            <a:grpSpLocks/>
          </p:cNvGrpSpPr>
          <p:nvPr/>
        </p:nvGrpSpPr>
        <p:grpSpPr bwMode="auto">
          <a:xfrm>
            <a:off x="2135189" y="1773238"/>
            <a:ext cx="8137525" cy="4392612"/>
            <a:chOff x="611188" y="1773238"/>
            <a:chExt cx="8137525" cy="4392612"/>
          </a:xfrm>
        </p:grpSpPr>
        <p:sp>
          <p:nvSpPr>
            <p:cNvPr id="61" name="Rectangle 4">
              <a:extLst>
                <a:ext uri="{FF2B5EF4-FFF2-40B4-BE49-F238E27FC236}">
                  <a16:creationId xmlns:a16="http://schemas.microsoft.com/office/drawing/2014/main" id="{3C089829-EE24-4098-883E-FF24EB90BF59}"/>
                </a:ext>
              </a:extLst>
            </p:cNvPr>
            <p:cNvSpPr>
              <a:spLocks noChangeArrowheads="1"/>
            </p:cNvSpPr>
            <p:nvPr/>
          </p:nvSpPr>
          <p:spPr bwMode="auto">
            <a:xfrm>
              <a:off x="3635375" y="1844675"/>
              <a:ext cx="2736850" cy="43211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nvGrpSpPr>
            <p:cNvPr id="62" name="Group 25">
              <a:extLst>
                <a:ext uri="{FF2B5EF4-FFF2-40B4-BE49-F238E27FC236}">
                  <a16:creationId xmlns:a16="http://schemas.microsoft.com/office/drawing/2014/main" id="{34ED9DBD-7AB2-44CE-B82D-99A2A792F3DC}"/>
                </a:ext>
              </a:extLst>
            </p:cNvPr>
            <p:cNvGrpSpPr>
              <a:grpSpLocks/>
            </p:cNvGrpSpPr>
            <p:nvPr/>
          </p:nvGrpSpPr>
          <p:grpSpPr bwMode="auto">
            <a:xfrm>
              <a:off x="3635375" y="1844675"/>
              <a:ext cx="2736850" cy="4078288"/>
              <a:chOff x="2290" y="1162"/>
              <a:chExt cx="1724" cy="2569"/>
            </a:xfrm>
          </p:grpSpPr>
          <p:sp>
            <p:nvSpPr>
              <p:cNvPr id="75" name="Text Box 5">
                <a:extLst>
                  <a:ext uri="{FF2B5EF4-FFF2-40B4-BE49-F238E27FC236}">
                    <a16:creationId xmlns:a16="http://schemas.microsoft.com/office/drawing/2014/main" id="{ABC137CD-54A1-4073-830F-25ABF02D9251}"/>
                  </a:ext>
                </a:extLst>
              </p:cNvPr>
              <p:cNvSpPr txBox="1">
                <a:spLocks noChangeArrowheads="1"/>
              </p:cNvSpPr>
              <p:nvPr/>
            </p:nvSpPr>
            <p:spPr bwMode="auto">
              <a:xfrm>
                <a:off x="2290" y="1162"/>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rPr>
                  <a:t>nitems</a:t>
                </a:r>
              </a:p>
            </p:txBody>
          </p:sp>
          <p:sp>
            <p:nvSpPr>
              <p:cNvPr id="76" name="Text Box 6">
                <a:extLst>
                  <a:ext uri="{FF2B5EF4-FFF2-40B4-BE49-F238E27FC236}">
                    <a16:creationId xmlns:a16="http://schemas.microsoft.com/office/drawing/2014/main" id="{2A8571ED-DB99-47C2-9337-DB9E87EACD27}"/>
                  </a:ext>
                </a:extLst>
              </p:cNvPr>
              <p:cNvSpPr txBox="1">
                <a:spLocks noChangeArrowheads="1"/>
              </p:cNvSpPr>
              <p:nvPr/>
            </p:nvSpPr>
            <p:spPr bwMode="auto">
              <a:xfrm>
                <a:off x="2290" y="1616"/>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rPr>
                  <a:t>zmax</a:t>
                </a:r>
              </a:p>
            </p:txBody>
          </p:sp>
          <p:sp>
            <p:nvSpPr>
              <p:cNvPr id="77" name="Text Box 7">
                <a:extLst>
                  <a:ext uri="{FF2B5EF4-FFF2-40B4-BE49-F238E27FC236}">
                    <a16:creationId xmlns:a16="http://schemas.microsoft.com/office/drawing/2014/main" id="{48C40368-E8F5-4B32-A07D-A15B65346813}"/>
                  </a:ext>
                </a:extLst>
              </p:cNvPr>
              <p:cNvSpPr txBox="1">
                <a:spLocks noChangeArrowheads="1"/>
              </p:cNvSpPr>
              <p:nvPr/>
            </p:nvSpPr>
            <p:spPr bwMode="auto">
              <a:xfrm>
                <a:off x="2290" y="1389"/>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rPr>
                  <a:t>zmin</a:t>
                </a:r>
              </a:p>
            </p:txBody>
          </p:sp>
          <p:sp>
            <p:nvSpPr>
              <p:cNvPr id="78" name="Text Box 8">
                <a:extLst>
                  <a:ext uri="{FF2B5EF4-FFF2-40B4-BE49-F238E27FC236}">
                    <a16:creationId xmlns:a16="http://schemas.microsoft.com/office/drawing/2014/main" id="{202A615F-02D2-4EE9-98CC-540F77E5755B}"/>
                  </a:ext>
                </a:extLst>
              </p:cNvPr>
              <p:cNvSpPr txBox="1">
                <a:spLocks noChangeArrowheads="1"/>
              </p:cNvSpPr>
              <p:nvPr/>
            </p:nvSpPr>
            <p:spPr bwMode="auto">
              <a:xfrm>
                <a:off x="2290" y="1842"/>
                <a:ext cx="1724" cy="494"/>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拾取时名称堆栈中的</a:t>
                </a:r>
              </a:p>
              <a:p>
                <a:pPr algn="ct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名称列表</a:t>
                </a:r>
              </a:p>
            </p:txBody>
          </p:sp>
          <p:sp>
            <p:nvSpPr>
              <p:cNvPr id="79" name="Text Box 9">
                <a:extLst>
                  <a:ext uri="{FF2B5EF4-FFF2-40B4-BE49-F238E27FC236}">
                    <a16:creationId xmlns:a16="http://schemas.microsoft.com/office/drawing/2014/main" id="{A70C723F-2B62-4486-817A-D55AE363EC0A}"/>
                  </a:ext>
                </a:extLst>
              </p:cNvPr>
              <p:cNvSpPr txBox="1">
                <a:spLocks noChangeArrowheads="1"/>
              </p:cNvSpPr>
              <p:nvPr/>
            </p:nvSpPr>
            <p:spPr bwMode="auto">
              <a:xfrm>
                <a:off x="2290" y="2296"/>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rPr>
                  <a:t>nitems</a:t>
                </a:r>
              </a:p>
            </p:txBody>
          </p:sp>
          <p:sp>
            <p:nvSpPr>
              <p:cNvPr id="80" name="Text Box 10">
                <a:extLst>
                  <a:ext uri="{FF2B5EF4-FFF2-40B4-BE49-F238E27FC236}">
                    <a16:creationId xmlns:a16="http://schemas.microsoft.com/office/drawing/2014/main" id="{0C79E7CD-041A-4A07-B019-ED898305EB86}"/>
                  </a:ext>
                </a:extLst>
              </p:cNvPr>
              <p:cNvSpPr txBox="1">
                <a:spLocks noChangeArrowheads="1"/>
              </p:cNvSpPr>
              <p:nvPr/>
            </p:nvSpPr>
            <p:spPr bwMode="auto">
              <a:xfrm>
                <a:off x="2290" y="2750"/>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en-US" altLang="zh-CN" sz="1800" b="1" kern="0">
                    <a:solidFill>
                      <a:srgbClr val="000000"/>
                    </a:solidFill>
                    <a:effectLst>
                      <a:outerShdw blurRad="38100" dist="38100" dir="2700000" algn="tl">
                        <a:srgbClr val="C0C0C0"/>
                      </a:outerShdw>
                    </a:effectLst>
                  </a:rPr>
                  <a:t>zmax</a:t>
                </a:r>
              </a:p>
            </p:txBody>
          </p:sp>
          <p:sp>
            <p:nvSpPr>
              <p:cNvPr id="81" name="Text Box 11">
                <a:extLst>
                  <a:ext uri="{FF2B5EF4-FFF2-40B4-BE49-F238E27FC236}">
                    <a16:creationId xmlns:a16="http://schemas.microsoft.com/office/drawing/2014/main" id="{FCE1895D-1247-4614-A6A3-17EA1B00C323}"/>
                  </a:ext>
                </a:extLst>
              </p:cNvPr>
              <p:cNvSpPr txBox="1">
                <a:spLocks noChangeArrowheads="1"/>
              </p:cNvSpPr>
              <p:nvPr/>
            </p:nvSpPr>
            <p:spPr bwMode="auto">
              <a:xfrm>
                <a:off x="2290" y="2523"/>
                <a:ext cx="1724" cy="233"/>
              </a:xfrm>
              <a:prstGeom prst="rect">
                <a:avLst/>
              </a:prstGeom>
              <a:noFill/>
              <a:ln w="12700">
                <a:solidFill>
                  <a:srgbClr val="000000"/>
                </a:solidFill>
                <a:miter lim="800000"/>
                <a:headEnd/>
                <a:tailEnd/>
              </a:ln>
              <a:effectLst/>
            </p:spPr>
            <p:txBody>
              <a:bodyPr>
                <a:spAutoFit/>
              </a:bodyPr>
              <a:lstStyle/>
              <a:p>
                <a:pPr algn="ctr" eaLnBrk="1" fontAlgn="auto" hangingPunct="1">
                  <a:spcBef>
                    <a:spcPts val="0"/>
                  </a:spcBef>
                  <a:spcAft>
                    <a:spcPts val="0"/>
                  </a:spcAft>
                  <a:defRPr/>
                </a:pPr>
                <a:r>
                  <a:rPr lang="en-US" altLang="zh-CN" sz="1800" b="1" kern="0">
                    <a:solidFill>
                      <a:srgbClr val="000000"/>
                    </a:solidFill>
                    <a:effectLst>
                      <a:outerShdw blurRad="38100" dist="38100" dir="2700000" algn="tl">
                        <a:srgbClr val="C0C0C0"/>
                      </a:outerShdw>
                    </a:effectLst>
                  </a:rPr>
                  <a:t>zmin</a:t>
                </a:r>
              </a:p>
            </p:txBody>
          </p:sp>
          <p:sp>
            <p:nvSpPr>
              <p:cNvPr id="82" name="Text Box 12">
                <a:extLst>
                  <a:ext uri="{FF2B5EF4-FFF2-40B4-BE49-F238E27FC236}">
                    <a16:creationId xmlns:a16="http://schemas.microsoft.com/office/drawing/2014/main" id="{E5E8A8D5-1E00-4E14-8B28-DA022BDE9D93}"/>
                  </a:ext>
                </a:extLst>
              </p:cNvPr>
              <p:cNvSpPr txBox="1">
                <a:spLocks noChangeArrowheads="1"/>
              </p:cNvSpPr>
              <p:nvPr/>
            </p:nvSpPr>
            <p:spPr bwMode="auto">
              <a:xfrm>
                <a:off x="2290" y="2976"/>
                <a:ext cx="1724" cy="494"/>
              </a:xfrm>
              <a:prstGeom prst="rect">
                <a:avLst/>
              </a:prstGeom>
              <a:noFill/>
              <a:ln w="12700">
                <a:solidFill>
                  <a:srgbClr val="000000"/>
                </a:solidFill>
                <a:miter lim="800000"/>
                <a:headEnd/>
                <a:tailEnd/>
              </a:ln>
              <a:effectLst/>
            </p:spPr>
            <p:txBody>
              <a:bodyPr>
                <a:spAutoFit/>
              </a:bodyPr>
              <a:lstStyle/>
              <a:p>
                <a:pPr algn="ct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拾取时名称堆栈中的</a:t>
                </a:r>
              </a:p>
              <a:p>
                <a:pPr algn="ct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名称列表</a:t>
                </a:r>
              </a:p>
            </p:txBody>
          </p:sp>
          <p:sp>
            <p:nvSpPr>
              <p:cNvPr id="83" name="Text Box 14">
                <a:extLst>
                  <a:ext uri="{FF2B5EF4-FFF2-40B4-BE49-F238E27FC236}">
                    <a16:creationId xmlns:a16="http://schemas.microsoft.com/office/drawing/2014/main" id="{309E6066-3F30-4E71-A98E-FBEAC6BCD7FF}"/>
                  </a:ext>
                </a:extLst>
              </p:cNvPr>
              <p:cNvSpPr txBox="1">
                <a:spLocks noChangeArrowheads="1"/>
              </p:cNvSpPr>
              <p:nvPr/>
            </p:nvSpPr>
            <p:spPr bwMode="auto">
              <a:xfrm>
                <a:off x="2290" y="3430"/>
                <a:ext cx="1724" cy="301"/>
              </a:xfrm>
              <a:prstGeom prst="rect">
                <a:avLst/>
              </a:prstGeom>
              <a:noFill/>
              <a:ln w="12700">
                <a:solidFill>
                  <a:srgbClr val="000000"/>
                </a:solidFill>
                <a:miter lim="800000"/>
                <a:headEnd/>
                <a:tailEnd/>
              </a:ln>
              <a:effectLst/>
            </p:spPr>
            <p:txBody>
              <a:bodyPr>
                <a:spAutoFit/>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algn="ctr" eaLnBrk="1" fontAlgn="auto" hangingPunct="1">
                  <a:lnSpc>
                    <a:spcPct val="50000"/>
                  </a:lnSpc>
                  <a:spcBef>
                    <a:spcPts val="0"/>
                  </a:spcBef>
                  <a:spcAft>
                    <a:spcPts val="0"/>
                  </a:spcAft>
                  <a:defRPr/>
                </a:pPr>
                <a:r>
                  <a:rPr lang="en-US" altLang="zh-CN" b="1" kern="0">
                    <a:solidFill>
                      <a:srgbClr val="000000"/>
                    </a:solidFill>
                    <a:effectLst>
                      <a:outerShdw blurRad="38100" dist="38100" dir="2700000" algn="tl">
                        <a:srgbClr val="C0C0C0"/>
                      </a:outerShdw>
                    </a:effectLst>
                  </a:rPr>
                  <a:t>.</a:t>
                </a:r>
              </a:p>
              <a:p>
                <a:pPr algn="ctr" eaLnBrk="1" fontAlgn="auto" hangingPunct="1">
                  <a:lnSpc>
                    <a:spcPct val="50000"/>
                  </a:lnSpc>
                  <a:spcBef>
                    <a:spcPts val="0"/>
                  </a:spcBef>
                  <a:spcAft>
                    <a:spcPts val="0"/>
                  </a:spcAft>
                  <a:defRPr/>
                </a:pPr>
                <a:r>
                  <a:rPr lang="en-US" altLang="zh-CN" b="1" kern="0">
                    <a:solidFill>
                      <a:srgbClr val="000000"/>
                    </a:solidFill>
                    <a:effectLst>
                      <a:outerShdw blurRad="38100" dist="38100" dir="2700000" algn="tl">
                        <a:srgbClr val="C0C0C0"/>
                      </a:outerShdw>
                    </a:effectLst>
                  </a:rPr>
                  <a:t>.</a:t>
                </a:r>
              </a:p>
              <a:p>
                <a:pPr algn="ctr" eaLnBrk="1" fontAlgn="auto" hangingPunct="1">
                  <a:lnSpc>
                    <a:spcPct val="50000"/>
                  </a:lnSpc>
                  <a:spcBef>
                    <a:spcPts val="0"/>
                  </a:spcBef>
                  <a:spcAft>
                    <a:spcPts val="0"/>
                  </a:spcAft>
                  <a:defRPr/>
                </a:pPr>
                <a:r>
                  <a:rPr lang="en-US" altLang="zh-CN" b="1" kern="0">
                    <a:solidFill>
                      <a:srgbClr val="000000"/>
                    </a:solidFill>
                    <a:effectLst>
                      <a:outerShdw blurRad="38100" dist="38100" dir="2700000" algn="tl">
                        <a:srgbClr val="C0C0C0"/>
                      </a:outerShdw>
                    </a:effectLst>
                  </a:rPr>
                  <a:t>.</a:t>
                </a:r>
              </a:p>
            </p:txBody>
          </p:sp>
        </p:grpSp>
        <p:grpSp>
          <p:nvGrpSpPr>
            <p:cNvPr id="63" name="Group 21">
              <a:extLst>
                <a:ext uri="{FF2B5EF4-FFF2-40B4-BE49-F238E27FC236}">
                  <a16:creationId xmlns:a16="http://schemas.microsoft.com/office/drawing/2014/main" id="{BBBF3449-906B-49C8-800C-6701F8351F71}"/>
                </a:ext>
              </a:extLst>
            </p:cNvPr>
            <p:cNvGrpSpPr>
              <a:grpSpLocks/>
            </p:cNvGrpSpPr>
            <p:nvPr/>
          </p:nvGrpSpPr>
          <p:grpSpPr bwMode="auto">
            <a:xfrm>
              <a:off x="611188" y="1773238"/>
              <a:ext cx="2808287" cy="641350"/>
              <a:chOff x="385" y="1117"/>
              <a:chExt cx="1769" cy="404"/>
            </a:xfrm>
          </p:grpSpPr>
          <p:sp>
            <p:nvSpPr>
              <p:cNvPr id="73" name="Text Box 15">
                <a:extLst>
                  <a:ext uri="{FF2B5EF4-FFF2-40B4-BE49-F238E27FC236}">
                    <a16:creationId xmlns:a16="http://schemas.microsoft.com/office/drawing/2014/main" id="{4AE8B335-A432-4297-8BF6-03CC3CD12363}"/>
                  </a:ext>
                </a:extLst>
              </p:cNvPr>
              <p:cNvSpPr txBox="1">
                <a:spLocks noChangeArrowheads="1"/>
              </p:cNvSpPr>
              <p:nvPr/>
            </p:nvSpPr>
            <p:spPr bwMode="auto">
              <a:xfrm>
                <a:off x="385" y="1117"/>
                <a:ext cx="1134" cy="404"/>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1800" b="1" kern="0" dirty="0">
                    <a:solidFill>
                      <a:srgbClr val="000000"/>
                    </a:solidFill>
                    <a:effectLst>
                      <a:outerShdw blurRad="38100" dist="38100" dir="2700000" algn="tl">
                        <a:srgbClr val="C0C0C0"/>
                      </a:outerShdw>
                    </a:effectLst>
                    <a:ea typeface="黑体" pitchFamily="49" charset="-122"/>
                  </a:rPr>
                  <a:t>本次命中时名称堆栈中的名称数</a:t>
                </a:r>
              </a:p>
            </p:txBody>
          </p:sp>
          <p:sp>
            <p:nvSpPr>
              <p:cNvPr id="74" name="Line 16">
                <a:extLst>
                  <a:ext uri="{FF2B5EF4-FFF2-40B4-BE49-F238E27FC236}">
                    <a16:creationId xmlns:a16="http://schemas.microsoft.com/office/drawing/2014/main" id="{CE9C4791-A0B3-4915-8E20-FD3A0D9400DE}"/>
                  </a:ext>
                </a:extLst>
              </p:cNvPr>
              <p:cNvSpPr>
                <a:spLocks noChangeShapeType="1"/>
              </p:cNvSpPr>
              <p:nvPr/>
            </p:nvSpPr>
            <p:spPr bwMode="auto">
              <a:xfrm>
                <a:off x="1565" y="1298"/>
                <a:ext cx="589"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64" name="Group 22">
              <a:extLst>
                <a:ext uri="{FF2B5EF4-FFF2-40B4-BE49-F238E27FC236}">
                  <a16:creationId xmlns:a16="http://schemas.microsoft.com/office/drawing/2014/main" id="{9ABEAF3B-DDA5-4973-8BC1-90A16DDBCEF0}"/>
                </a:ext>
              </a:extLst>
            </p:cNvPr>
            <p:cNvGrpSpPr>
              <a:grpSpLocks/>
            </p:cNvGrpSpPr>
            <p:nvPr/>
          </p:nvGrpSpPr>
          <p:grpSpPr bwMode="auto">
            <a:xfrm>
              <a:off x="615950" y="2924175"/>
              <a:ext cx="2803525" cy="369888"/>
              <a:chOff x="479" y="1842"/>
              <a:chExt cx="1766" cy="233"/>
            </a:xfrm>
          </p:grpSpPr>
          <p:sp>
            <p:nvSpPr>
              <p:cNvPr id="71" name="Text Box 17">
                <a:extLst>
                  <a:ext uri="{FF2B5EF4-FFF2-40B4-BE49-F238E27FC236}">
                    <a16:creationId xmlns:a16="http://schemas.microsoft.com/office/drawing/2014/main" id="{EA63D70E-FB1C-46F0-885B-40691C33B8ED}"/>
                  </a:ext>
                </a:extLst>
              </p:cNvPr>
              <p:cNvSpPr txBox="1">
                <a:spLocks noChangeArrowheads="1"/>
              </p:cNvSpPr>
              <p:nvPr/>
            </p:nvSpPr>
            <p:spPr bwMode="auto">
              <a:xfrm>
                <a:off x="479" y="1842"/>
                <a:ext cx="1204" cy="233"/>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en-US" altLang="zh-CN" sz="1800" b="1" kern="0" dirty="0" err="1">
                    <a:solidFill>
                      <a:srgbClr val="000000"/>
                    </a:solidFill>
                    <a:effectLst>
                      <a:outerShdw blurRad="38100" dist="38100" dir="2700000" algn="tl">
                        <a:srgbClr val="C0C0C0"/>
                      </a:outerShdw>
                    </a:effectLst>
                    <a:latin typeface="Arial" charset="0"/>
                    <a:ea typeface="黑体" pitchFamily="2" charset="-122"/>
                  </a:rPr>
                  <a:t>第nitems</a:t>
                </a:r>
                <a:r>
                  <a:rPr lang="zh-CN" altLang="en-US" sz="1800" b="1" kern="0" dirty="0">
                    <a:solidFill>
                      <a:srgbClr val="000000"/>
                    </a:solidFill>
                    <a:effectLst>
                      <a:outerShdw blurRad="38100" dist="38100" dir="2700000" algn="tl">
                        <a:srgbClr val="C0C0C0"/>
                      </a:outerShdw>
                    </a:effectLst>
                    <a:latin typeface="Arial" charset="0"/>
                    <a:ea typeface="黑体" pitchFamily="2" charset="-122"/>
                  </a:rPr>
                  <a:t>个名称</a:t>
                </a:r>
              </a:p>
            </p:txBody>
          </p:sp>
          <p:sp>
            <p:nvSpPr>
              <p:cNvPr id="72" name="Line 18">
                <a:extLst>
                  <a:ext uri="{FF2B5EF4-FFF2-40B4-BE49-F238E27FC236}">
                    <a16:creationId xmlns:a16="http://schemas.microsoft.com/office/drawing/2014/main" id="{97EEE457-BF96-454C-A070-0F0B0D67D552}"/>
                  </a:ext>
                </a:extLst>
              </p:cNvPr>
              <p:cNvSpPr>
                <a:spLocks noChangeShapeType="1"/>
              </p:cNvSpPr>
              <p:nvPr/>
            </p:nvSpPr>
            <p:spPr bwMode="auto">
              <a:xfrm>
                <a:off x="1656" y="1978"/>
                <a:ext cx="589"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sz="1800" kern="0">
                  <a:solidFill>
                    <a:srgbClr val="000000"/>
                  </a:solidFill>
                </a:endParaRPr>
              </a:p>
            </p:txBody>
          </p:sp>
        </p:grpSp>
        <p:grpSp>
          <p:nvGrpSpPr>
            <p:cNvPr id="65" name="Group 24">
              <a:extLst>
                <a:ext uri="{FF2B5EF4-FFF2-40B4-BE49-F238E27FC236}">
                  <a16:creationId xmlns:a16="http://schemas.microsoft.com/office/drawing/2014/main" id="{CC762D09-A569-4E4D-978B-C4B949C224A0}"/>
                </a:ext>
              </a:extLst>
            </p:cNvPr>
            <p:cNvGrpSpPr>
              <a:grpSpLocks/>
            </p:cNvGrpSpPr>
            <p:nvPr/>
          </p:nvGrpSpPr>
          <p:grpSpPr bwMode="auto">
            <a:xfrm>
              <a:off x="6516688" y="1844675"/>
              <a:ext cx="2232025" cy="1800225"/>
              <a:chOff x="4105" y="1162"/>
              <a:chExt cx="1406" cy="1134"/>
            </a:xfrm>
          </p:grpSpPr>
          <p:sp>
            <p:nvSpPr>
              <p:cNvPr id="69" name="Text Box 19">
                <a:extLst>
                  <a:ext uri="{FF2B5EF4-FFF2-40B4-BE49-F238E27FC236}">
                    <a16:creationId xmlns:a16="http://schemas.microsoft.com/office/drawing/2014/main" id="{12404664-9C1F-43CD-A49A-171ED9FDE4F4}"/>
                  </a:ext>
                </a:extLst>
              </p:cNvPr>
              <p:cNvSpPr txBox="1">
                <a:spLocks noChangeArrowheads="1"/>
              </p:cNvSpPr>
              <p:nvPr/>
            </p:nvSpPr>
            <p:spPr bwMode="auto">
              <a:xfrm>
                <a:off x="4377" y="1525"/>
                <a:ext cx="1134" cy="404"/>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一次拾取命中对应的一个记录</a:t>
                </a:r>
              </a:p>
            </p:txBody>
          </p:sp>
          <p:sp>
            <p:nvSpPr>
              <p:cNvPr id="70" name="AutoShape 20">
                <a:extLst>
                  <a:ext uri="{FF2B5EF4-FFF2-40B4-BE49-F238E27FC236}">
                    <a16:creationId xmlns:a16="http://schemas.microsoft.com/office/drawing/2014/main" id="{291779D2-53D5-49A0-AAD6-234A5BD8A85B}"/>
                  </a:ext>
                </a:extLst>
              </p:cNvPr>
              <p:cNvSpPr>
                <a:spLocks/>
              </p:cNvSpPr>
              <p:nvPr/>
            </p:nvSpPr>
            <p:spPr bwMode="auto">
              <a:xfrm>
                <a:off x="4105" y="1162"/>
                <a:ext cx="272" cy="1134"/>
              </a:xfrm>
              <a:prstGeom prst="rightBrace">
                <a:avLst>
                  <a:gd name="adj1" fmla="val 34743"/>
                  <a:gd name="adj2" fmla="val 50000"/>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nvGrpSpPr>
            <p:cNvPr id="66" name="Group 26">
              <a:extLst>
                <a:ext uri="{FF2B5EF4-FFF2-40B4-BE49-F238E27FC236}">
                  <a16:creationId xmlns:a16="http://schemas.microsoft.com/office/drawing/2014/main" id="{652BB25C-2AC8-4A1F-8532-52C251AF8FF5}"/>
                </a:ext>
              </a:extLst>
            </p:cNvPr>
            <p:cNvGrpSpPr>
              <a:grpSpLocks/>
            </p:cNvGrpSpPr>
            <p:nvPr/>
          </p:nvGrpSpPr>
          <p:grpSpPr bwMode="auto">
            <a:xfrm>
              <a:off x="6516688" y="3644900"/>
              <a:ext cx="2232025" cy="1800225"/>
              <a:chOff x="4105" y="1162"/>
              <a:chExt cx="1406" cy="1134"/>
            </a:xfrm>
          </p:grpSpPr>
          <p:sp>
            <p:nvSpPr>
              <p:cNvPr id="67" name="Text Box 27">
                <a:extLst>
                  <a:ext uri="{FF2B5EF4-FFF2-40B4-BE49-F238E27FC236}">
                    <a16:creationId xmlns:a16="http://schemas.microsoft.com/office/drawing/2014/main" id="{E73BE18D-5C41-45DC-B464-3BFB2A640FED}"/>
                  </a:ext>
                </a:extLst>
              </p:cNvPr>
              <p:cNvSpPr txBox="1">
                <a:spLocks noChangeArrowheads="1"/>
              </p:cNvSpPr>
              <p:nvPr/>
            </p:nvSpPr>
            <p:spPr bwMode="auto">
              <a:xfrm>
                <a:off x="4377" y="1525"/>
                <a:ext cx="1134" cy="404"/>
              </a:xfrm>
              <a:prstGeom prst="rect">
                <a:avLst/>
              </a:prstGeom>
              <a:noFill/>
              <a:ln w="9525">
                <a:noFill/>
                <a:miter lim="800000"/>
                <a:headEnd/>
                <a:tailEnd/>
              </a:ln>
              <a:effectLst/>
            </p:spPr>
            <p:txBody>
              <a:bodyPr>
                <a:spAutoFit/>
              </a:bodyPr>
              <a:lstStyle/>
              <a:p>
                <a:pPr eaLnBrk="1" fontAlgn="auto" hangingPunct="1">
                  <a:spcBef>
                    <a:spcPct val="50000"/>
                  </a:spcBef>
                  <a:spcAft>
                    <a:spcPts val="0"/>
                  </a:spcAft>
                  <a:defRPr/>
                </a:pPr>
                <a:r>
                  <a:rPr lang="zh-CN" altLang="en-US" sz="1800" b="1" kern="0">
                    <a:solidFill>
                      <a:srgbClr val="000000"/>
                    </a:solidFill>
                    <a:effectLst>
                      <a:outerShdw blurRad="38100" dist="38100" dir="2700000" algn="tl">
                        <a:srgbClr val="C0C0C0"/>
                      </a:outerShdw>
                    </a:effectLst>
                    <a:ea typeface="黑体" pitchFamily="49" charset="-122"/>
                  </a:rPr>
                  <a:t>一次拾取命中对应的另一个记录</a:t>
                </a:r>
              </a:p>
            </p:txBody>
          </p:sp>
          <p:sp>
            <p:nvSpPr>
              <p:cNvPr id="68" name="AutoShape 28">
                <a:extLst>
                  <a:ext uri="{FF2B5EF4-FFF2-40B4-BE49-F238E27FC236}">
                    <a16:creationId xmlns:a16="http://schemas.microsoft.com/office/drawing/2014/main" id="{72D8FC76-C4CF-4FD9-BBA0-7C330AF298A2}"/>
                  </a:ext>
                </a:extLst>
              </p:cNvPr>
              <p:cNvSpPr>
                <a:spLocks/>
              </p:cNvSpPr>
              <p:nvPr/>
            </p:nvSpPr>
            <p:spPr bwMode="auto">
              <a:xfrm>
                <a:off x="4105" y="1162"/>
                <a:ext cx="272" cy="1134"/>
              </a:xfrm>
              <a:prstGeom prst="rightBrace">
                <a:avLst>
                  <a:gd name="adj1" fmla="val 34743"/>
                  <a:gd name="adj2" fmla="val 50000"/>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pPr eaLnBrk="1" fontAlgn="auto" hangingPunct="1">
                  <a:spcBef>
                    <a:spcPts val="0"/>
                  </a:spcBef>
                  <a:spcAft>
                    <a:spcPts val="0"/>
                  </a:spcAft>
                  <a:defRPr/>
                </a:pPr>
                <a:endParaRPr lang="zh-CN" altLang="en-US" kern="0">
                  <a:solidFill>
                    <a:srgbClr val="000000"/>
                  </a:solidFill>
                </a:endParaRPr>
              </a:p>
            </p:txBody>
          </p:sp>
        </p:grpSp>
      </p:grpSp>
      <p:sp>
        <p:nvSpPr>
          <p:cNvPr id="84" name="AutoShape 29">
            <a:extLst>
              <a:ext uri="{FF2B5EF4-FFF2-40B4-BE49-F238E27FC236}">
                <a16:creationId xmlns:a16="http://schemas.microsoft.com/office/drawing/2014/main" id="{BDD6528F-7083-46FE-8B5B-CDB63B558632}"/>
              </a:ext>
            </a:extLst>
          </p:cNvPr>
          <p:cNvSpPr>
            <a:spLocks noChangeArrowheads="1"/>
          </p:cNvSpPr>
          <p:nvPr/>
        </p:nvSpPr>
        <p:spPr bwMode="auto">
          <a:xfrm>
            <a:off x="2063751" y="4437064"/>
            <a:ext cx="2879725" cy="1081087"/>
          </a:xfrm>
          <a:prstGeom prst="wedgeRoundRectCallout">
            <a:avLst>
              <a:gd name="adj1" fmla="val 69296"/>
              <a:gd name="adj2" fmla="val -208884"/>
              <a:gd name="adj3" fmla="val 16667"/>
            </a:avLst>
          </a:prstGeom>
          <a:solidFill>
            <a:srgbClr val="FFD96D"/>
          </a:solidFill>
          <a:ln w="9525">
            <a:solidFill>
              <a:srgbClr val="000000"/>
            </a:solidFill>
            <a:miter lim="800000"/>
            <a:headEnd/>
            <a:tailEnd/>
          </a:ln>
          <a:effectLst/>
        </p:spPr>
        <p:txBody>
          <a:bodyPr/>
          <a:lstStyle/>
          <a:p>
            <a:pPr algn="ctr" eaLnBrk="1" fontAlgn="auto" hangingPunct="1">
              <a:spcBef>
                <a:spcPts val="0"/>
              </a:spcBef>
              <a:spcAft>
                <a:spcPts val="0"/>
              </a:spcAft>
              <a:defRPr/>
            </a:pPr>
            <a:r>
              <a:rPr lang="zh-CN" altLang="en-US" sz="2400" b="1" kern="0" dirty="0">
                <a:solidFill>
                  <a:srgbClr val="000000"/>
                </a:solidFill>
                <a:effectLst>
                  <a:outerShdw blurRad="38100" dist="38100" dir="2700000" algn="tl">
                    <a:srgbClr val="FFFFFF"/>
                  </a:outerShdw>
                </a:effectLst>
                <a:ea typeface="宋体" pitchFamily="2" charset="-122"/>
              </a:rPr>
              <a:t>注意：记录中的每个数据都是</a:t>
            </a:r>
            <a:r>
              <a:rPr lang="zh-CN" altLang="en-US" sz="2400" b="1" kern="0" dirty="0">
                <a:solidFill>
                  <a:srgbClr val="CC0000"/>
                </a:solidFill>
                <a:effectLst>
                  <a:outerShdw blurRad="38100" dist="38100" dir="2700000" algn="tl">
                    <a:srgbClr val="000000"/>
                  </a:outerShdw>
                </a:effectLst>
                <a:ea typeface="宋体" pitchFamily="2" charset="-122"/>
              </a:rPr>
              <a:t>整型</a:t>
            </a:r>
            <a:endParaRPr lang="en-US" altLang="zh-CN" sz="2400" b="1" kern="0" dirty="0">
              <a:solidFill>
                <a:srgbClr val="CC0000"/>
              </a:solidFill>
              <a:effectLst>
                <a:outerShdw blurRad="38100" dist="38100" dir="2700000" algn="tl">
                  <a:srgbClr val="000000"/>
                </a:outerShdw>
              </a:effectLst>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509EF183-7625-4B32-8CC4-3FBE736CF957}"/>
              </a:ext>
            </a:extLst>
          </p:cNvPr>
          <p:cNvSpPr>
            <a:spLocks noGrp="1" noChangeArrowheads="1"/>
          </p:cNvSpPr>
          <p:nvPr>
            <p:ph type="title"/>
          </p:nvPr>
        </p:nvSpPr>
        <p:spPr/>
        <p:txBody>
          <a:bodyPr/>
          <a:lstStyle/>
          <a:p>
            <a:pPr>
              <a:defRPr/>
            </a:pPr>
            <a:r>
              <a:rPr lang="en-US" altLang="zh-CN">
                <a:latin typeface="Arial" pitchFamily="34" charset="0"/>
              </a:rPr>
              <a:t>(5) </a:t>
            </a:r>
            <a:r>
              <a:rPr lang="zh-CN" altLang="en-US">
                <a:latin typeface="Arial" pitchFamily="34" charset="0"/>
              </a:rPr>
              <a:t>选择缓存</a:t>
            </a:r>
          </a:p>
        </p:txBody>
      </p:sp>
      <p:sp>
        <p:nvSpPr>
          <p:cNvPr id="558083" name="Rectangle 3">
            <a:extLst>
              <a:ext uri="{FF2B5EF4-FFF2-40B4-BE49-F238E27FC236}">
                <a16:creationId xmlns:a16="http://schemas.microsoft.com/office/drawing/2014/main" id="{F6FF7250-1D82-49ED-A1C9-A753E60C6B4E}"/>
              </a:ext>
            </a:extLst>
          </p:cNvPr>
          <p:cNvSpPr>
            <a:spLocks noGrp="1" noChangeArrowheads="1"/>
          </p:cNvSpPr>
          <p:nvPr>
            <p:ph type="body" idx="1"/>
          </p:nvPr>
        </p:nvSpPr>
        <p:spPr>
          <a:xfrm>
            <a:off x="2207569" y="908721"/>
            <a:ext cx="7945437" cy="560911"/>
          </a:xfrm>
        </p:spPr>
        <p:txBody>
          <a:bodyPr/>
          <a:lstStyle/>
          <a:p>
            <a:pPr>
              <a:buFont typeface="Wingdings" panose="05000000000000000000" pitchFamily="2" charset="2"/>
              <a:buChar char="l"/>
              <a:defRPr/>
            </a:pPr>
            <a:r>
              <a:rPr lang="zh-CN" altLang="en-US" dirty="0">
                <a:ea typeface="黑体" pitchFamily="49" charset="-122"/>
              </a:rPr>
              <a:t>选择缓存的分析和处理</a:t>
            </a:r>
          </a:p>
        </p:txBody>
      </p:sp>
      <p:sp>
        <p:nvSpPr>
          <p:cNvPr id="558085" name="Rectangle 5">
            <a:extLst>
              <a:ext uri="{FF2B5EF4-FFF2-40B4-BE49-F238E27FC236}">
                <a16:creationId xmlns:a16="http://schemas.microsoft.com/office/drawing/2014/main" id="{72B9937D-9344-4D53-AB32-AF492FC3BA1C}"/>
              </a:ext>
            </a:extLst>
          </p:cNvPr>
          <p:cNvSpPr>
            <a:spLocks noChangeArrowheads="1"/>
          </p:cNvSpPr>
          <p:nvPr/>
        </p:nvSpPr>
        <p:spPr bwMode="auto">
          <a:xfrm>
            <a:off x="2027238" y="1541877"/>
            <a:ext cx="8640762" cy="4664075"/>
          </a:xfrm>
          <a:prstGeom prst="rect">
            <a:avLst/>
          </a:prstGeom>
          <a:noFill/>
          <a:ln w="9525">
            <a:noFill/>
            <a:miter lim="800000"/>
            <a:headEnd/>
            <a:tailEnd/>
          </a:ln>
          <a:effectLst/>
        </p:spPr>
        <p:txBody>
          <a:bodyPr>
            <a:spAutoFit/>
          </a:bodyPr>
          <a:lstStyle/>
          <a:p>
            <a:pPr lvl="1">
              <a:defRPr/>
            </a:pP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void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processHits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buffer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unsigned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"hits = %d\n"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buffer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for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0;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&lt;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 for each hit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3;</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dirty="0">
                <a:solidFill>
                  <a:schemeClr val="hlink"/>
                </a:solidFill>
                <a:effectLst>
                  <a:outerShdw blurRad="38100" dist="38100" dir="2700000" algn="tl">
                    <a:srgbClr val="C0C0C0"/>
                  </a:outerShdw>
                </a:effectLst>
                <a:latin typeface="Courier New" pitchFamily="49" charset="0"/>
                <a:ea typeface="宋体" pitchFamily="2" charset="-122"/>
              </a:rPr>
              <a:t>Why</a:t>
            </a:r>
            <a:r>
              <a:rPr lang="zh-CN" altLang="en-US" sz="2000" b="1" dirty="0">
                <a:solidFill>
                  <a:schemeClr val="hlink"/>
                </a:solidFill>
                <a:effectLst>
                  <a:outerShdw blurRad="38100" dist="38100" dir="2700000" algn="tl">
                    <a:srgbClr val="C0C0C0"/>
                  </a:outerShdw>
                </a:effectLst>
                <a:latin typeface="Courier New" pitchFamily="49" charset="0"/>
                <a:ea typeface="宋体" pitchFamily="2" charset="-122"/>
              </a:rPr>
              <a:t>？</a:t>
            </a:r>
            <a:endParaRPr lang="zh-CN" altLang="zh-CN" sz="20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defRPr/>
            </a:pPr>
            <a:r>
              <a:rPr lang="zh-CN"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for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0;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&lt;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/*for each name*/</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==1)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"red rectangle\n"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else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"blue rectangle\n"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8085"/>
                                        </p:tgtEl>
                                        <p:attrNameLst>
                                          <p:attrName>style.visibility</p:attrName>
                                        </p:attrNameLst>
                                      </p:cBhvr>
                                      <p:to>
                                        <p:strVal val="visible"/>
                                      </p:to>
                                    </p:set>
                                    <p:animEffect transition="in" filter="dissolve">
                                      <p:cBhvr>
                                        <p:cTn id="7" dur="500"/>
                                        <p:tgtEl>
                                          <p:spTgt spid="558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a:extLst>
              <a:ext uri="{FF2B5EF4-FFF2-40B4-BE49-F238E27FC236}">
                <a16:creationId xmlns:a16="http://schemas.microsoft.com/office/drawing/2014/main" id="{DF25105D-EA0D-4B50-9A44-C94660E1AE0A}"/>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37603" name="Rectangle 3">
            <a:extLst>
              <a:ext uri="{FF2B5EF4-FFF2-40B4-BE49-F238E27FC236}">
                <a16:creationId xmlns:a16="http://schemas.microsoft.com/office/drawing/2014/main" id="{313307F8-A427-459A-96E8-7DCC688B87B8}"/>
              </a:ext>
            </a:extLst>
          </p:cNvPr>
          <p:cNvSpPr>
            <a:spLocks noGrp="1" noChangeArrowheads="1"/>
          </p:cNvSpPr>
          <p:nvPr>
            <p:ph type="body" idx="1"/>
          </p:nvPr>
        </p:nvSpPr>
        <p:spPr>
          <a:xfrm>
            <a:off x="2208214" y="1341439"/>
            <a:ext cx="7945437" cy="3711575"/>
          </a:xfrm>
        </p:spPr>
        <p:txBody>
          <a:bodyPr/>
          <a:lstStyle/>
          <a:p>
            <a:pPr>
              <a:buFont typeface="Wingdings" panose="05000000000000000000" pitchFamily="2" charset="2"/>
              <a:buChar char="l"/>
              <a:defRPr/>
            </a:pPr>
            <a:r>
              <a:rPr lang="zh-CN" altLang="en-US" dirty="0">
                <a:ea typeface="黑体" pitchFamily="49" charset="-122"/>
              </a:rPr>
              <a:t>编程主要步骤：</a:t>
            </a:r>
          </a:p>
          <a:p>
            <a:pPr marL="1057275" lvl="1" indent="-457200">
              <a:buFont typeface="Wingdings" panose="05000000000000000000" pitchFamily="2" charset="2"/>
              <a:buAutoNum type="circleNumDbPlain"/>
              <a:defRPr/>
            </a:pPr>
            <a:r>
              <a:rPr lang="zh-CN" altLang="en-US" sz="2400" dirty="0">
                <a:ea typeface="黑体" pitchFamily="49" charset="-122"/>
              </a:rPr>
              <a:t>建立命中记录缓存</a:t>
            </a:r>
          </a:p>
          <a:p>
            <a:pPr marL="1057275" lvl="1" indent="-457200">
              <a:buFont typeface="Wingdings" panose="05000000000000000000" pitchFamily="2" charset="2"/>
              <a:buAutoNum type="circleNumDbPlain"/>
              <a:defRPr/>
            </a:pPr>
            <a:r>
              <a:rPr lang="zh-CN" altLang="en-US" sz="2400" dirty="0">
                <a:ea typeface="黑体" pitchFamily="49" charset="-122"/>
              </a:rPr>
              <a:t>进入选择模式</a:t>
            </a:r>
          </a:p>
          <a:p>
            <a:pPr marL="1057275" lvl="1" indent="-457200">
              <a:buFont typeface="Wingdings" panose="05000000000000000000" pitchFamily="2" charset="2"/>
              <a:buAutoNum type="circleNumDbPlain"/>
              <a:defRPr/>
            </a:pPr>
            <a:r>
              <a:rPr lang="zh-CN" altLang="en-US" sz="2400" dirty="0">
                <a:ea typeface="黑体" pitchFamily="49" charset="-122"/>
              </a:rPr>
              <a:t>将</a:t>
            </a:r>
            <a:r>
              <a:rPr lang="zh-CN" altLang="en-US" sz="2400" dirty="0">
                <a:latin typeface="黑体" pitchFamily="49" charset="-122"/>
                <a:ea typeface="黑体" pitchFamily="49" charset="-122"/>
              </a:rPr>
              <a:t>“</a:t>
            </a:r>
            <a:r>
              <a:rPr lang="zh-CN" altLang="en-US" sz="2400" dirty="0">
                <a:ea typeface="黑体" pitchFamily="49" charset="-122"/>
              </a:rPr>
              <a:t>绘制</a:t>
            </a:r>
            <a:r>
              <a:rPr lang="zh-CN" altLang="en-US" sz="2400" dirty="0">
                <a:latin typeface="黑体" pitchFamily="49" charset="-122"/>
                <a:ea typeface="黑体" pitchFamily="49" charset="-122"/>
              </a:rPr>
              <a:t>”</a:t>
            </a:r>
            <a:r>
              <a:rPr lang="zh-CN" altLang="en-US" sz="2400" dirty="0">
                <a:ea typeface="黑体" pitchFamily="49" charset="-122"/>
              </a:rPr>
              <a:t>限制到拾取点附近的拾取区域</a:t>
            </a:r>
          </a:p>
          <a:p>
            <a:pPr marL="1057275" lvl="1" indent="-457200">
              <a:buFont typeface="Wingdings" panose="05000000000000000000" pitchFamily="2" charset="2"/>
              <a:buAutoNum type="circleNumDbPlain"/>
              <a:defRPr/>
            </a:pPr>
            <a:r>
              <a:rPr lang="zh-CN" altLang="en-US" sz="2400" dirty="0">
                <a:ea typeface="黑体" pitchFamily="49" charset="-122"/>
              </a:rPr>
              <a:t>重绘场景（产生命中记录）</a:t>
            </a:r>
          </a:p>
          <a:p>
            <a:pPr marL="1057275" lvl="1" indent="-457200">
              <a:buFont typeface="Wingdings" panose="05000000000000000000" pitchFamily="2" charset="2"/>
              <a:buAutoNum type="circleNumDbPlain"/>
              <a:defRPr/>
            </a:pPr>
            <a:r>
              <a:rPr lang="zh-CN" altLang="en-US" sz="2400" dirty="0">
                <a:ea typeface="黑体" pitchFamily="49" charset="-122"/>
              </a:rPr>
              <a:t>离开选择模式（将命中记录输出到选择缓存中）</a:t>
            </a:r>
          </a:p>
          <a:p>
            <a:pPr marL="1057275" lvl="1" indent="-457200">
              <a:buFont typeface="Wingdings" panose="05000000000000000000" pitchFamily="2" charset="2"/>
              <a:buAutoNum type="circleNumDbPlain"/>
              <a:defRPr/>
            </a:pPr>
            <a:r>
              <a:rPr lang="zh-CN" altLang="en-US" sz="2400" dirty="0">
                <a:ea typeface="黑体" pitchFamily="49" charset="-122"/>
              </a:rPr>
              <a:t>分析命中记录缓存中的命中记录</a:t>
            </a:r>
          </a:p>
        </p:txBody>
      </p:sp>
    </p:spTree>
    <p:extLst>
      <p:ext uri="{BB962C8B-B14F-4D97-AF65-F5344CB8AC3E}">
        <p14:creationId xmlns:p14="http://schemas.microsoft.com/office/powerpoint/2010/main" val="3860185085"/>
      </p:ext>
    </p:extLst>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a:extLst>
              <a:ext uri="{FF2B5EF4-FFF2-40B4-BE49-F238E27FC236}">
                <a16:creationId xmlns:a16="http://schemas.microsoft.com/office/drawing/2014/main" id="{0EF74760-6AA0-4A2B-AA72-7CDA21255C74}"/>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61155" name="Rectangle 3">
            <a:extLst>
              <a:ext uri="{FF2B5EF4-FFF2-40B4-BE49-F238E27FC236}">
                <a16:creationId xmlns:a16="http://schemas.microsoft.com/office/drawing/2014/main" id="{36F18441-C267-4E80-858B-33BEC4A7A696}"/>
              </a:ext>
            </a:extLst>
          </p:cNvPr>
          <p:cNvSpPr>
            <a:spLocks noChangeArrowheads="1"/>
          </p:cNvSpPr>
          <p:nvPr/>
        </p:nvSpPr>
        <p:spPr bwMode="auto">
          <a:xfrm>
            <a:off x="2135560" y="980729"/>
            <a:ext cx="8066088" cy="4968875"/>
          </a:xfrm>
          <a:prstGeom prst="rect">
            <a:avLst/>
          </a:prstGeom>
          <a:noFill/>
          <a:ln w="9525">
            <a:noFill/>
            <a:miter lim="800000"/>
            <a:headEnd/>
            <a:tailEnd/>
          </a:ln>
          <a:effectLst/>
        </p:spPr>
        <p:txBody>
          <a:bodyPr>
            <a:spAutoFit/>
          </a:bodyPr>
          <a:lstStyle/>
          <a:p>
            <a:pPr>
              <a:defRPr/>
            </a:pPr>
            <a:r>
              <a:rPr lang="en-US" altLang="zh-CN" sz="2000" b="1" dirty="0" err="1">
                <a:solidFill>
                  <a:srgbClr val="151415"/>
                </a:solidFill>
                <a:effectLst>
                  <a:outerShdw blurRad="38100" dist="38100" dir="2700000" algn="tl">
                    <a:srgbClr val="C0C0C0"/>
                  </a:outerShdw>
                </a:effectLst>
                <a:latin typeface="Courier New" pitchFamily="49" charset="0"/>
                <a:ea typeface="宋体" pitchFamily="2" charset="-122"/>
              </a:rPr>
              <a:t>glutMouseFunc</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mouse );</a:t>
            </a:r>
          </a:p>
          <a:p>
            <a:pPr>
              <a:defRPr/>
            </a:pPr>
            <a:endPar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endParaRPr>
          </a:p>
          <a:p>
            <a:pPr>
              <a:defRPr/>
            </a:pP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void mouse( </a:t>
            </a:r>
            <a:r>
              <a:rPr lang="en-US" altLang="zh-CN" sz="2000" b="1" dirty="0" err="1">
                <a:solidFill>
                  <a:srgbClr val="151415"/>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button, </a:t>
            </a:r>
            <a:r>
              <a:rPr lang="en-US" altLang="zh-CN" sz="2000" b="1" dirty="0" err="1">
                <a:solidFill>
                  <a:srgbClr val="151415"/>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state, </a:t>
            </a:r>
            <a:r>
              <a:rPr lang="en-US" altLang="zh-CN" sz="2000" b="1" dirty="0" err="1">
                <a:solidFill>
                  <a:srgbClr val="151415"/>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x, </a:t>
            </a:r>
            <a:r>
              <a:rPr lang="en-US" altLang="zh-CN" sz="2000" b="1" dirty="0" err="1">
                <a:solidFill>
                  <a:srgbClr val="151415"/>
                </a:solidFill>
                <a:effectLst>
                  <a:outerShdw blurRad="38100" dist="38100" dir="2700000" algn="tl">
                    <a:srgbClr val="C0C0C0"/>
                  </a:outerShdw>
                </a:effectLst>
                <a:latin typeface="Courier New" pitchFamily="49" charset="0"/>
                <a:ea typeface="宋体" pitchFamily="2" charset="-122"/>
              </a:rPr>
              <a:t>int</a:t>
            </a:r>
            <a:r>
              <a:rPr lang="en-US" altLang="zh-CN" sz="2000" b="1" dirty="0">
                <a:solidFill>
                  <a:srgbClr val="151415"/>
                </a:solidFill>
                <a:effectLst>
                  <a:outerShdw blurRad="38100" dist="38100" dir="2700000" algn="tl">
                    <a:srgbClr val="C0C0C0"/>
                  </a:outerShdw>
                </a:effectLst>
                <a:latin typeface="Courier New" pitchFamily="49" charset="0"/>
                <a:ea typeface="宋体" pitchFamily="2" charset="-122"/>
              </a:rPr>
              <a:t> y ){</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selectBuf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SIZE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[4];</a:t>
            </a: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effectLst>
                  <a:outerShdw blurRad="38100" dist="38100" dir="2700000" algn="tl">
                    <a:srgbClr val="C0C0C0"/>
                  </a:outerShdw>
                </a:effectLst>
                <a:latin typeface="Courier New" pitchFamily="49" charset="0"/>
                <a:ea typeface="宋体" pitchFamily="2" charset="-122"/>
              </a:rPr>
              <a:t>if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button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GLUT_LEFT_BUTTON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state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GLUT_DOWN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return;</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glGetIntegerv</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GL_VIEWPORT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2">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glSelectBuffer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SIZE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selectBuf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①</a:t>
            </a: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glRenderMode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②</a:t>
            </a: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glInitNames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glPushName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1155"/>
                                        </p:tgtEl>
                                        <p:attrNameLst>
                                          <p:attrName>style.visibility</p:attrName>
                                        </p:attrNameLst>
                                      </p:cBhvr>
                                      <p:to>
                                        <p:strVal val="visible"/>
                                      </p:to>
                                    </p:set>
                                    <p:animEffect transition="in" filter="dissolve">
                                      <p:cBhvr>
                                        <p:cTn id="7" dur="500"/>
                                        <p:tgtEl>
                                          <p:spTgt spid="561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1A6275DB-13E3-4CF7-9F00-22DAA4C1DD95}"/>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62179" name="Rectangle 3">
            <a:extLst>
              <a:ext uri="{FF2B5EF4-FFF2-40B4-BE49-F238E27FC236}">
                <a16:creationId xmlns:a16="http://schemas.microsoft.com/office/drawing/2014/main" id="{3208D044-A331-469D-AE3A-2C8D10634588}"/>
              </a:ext>
            </a:extLst>
          </p:cNvPr>
          <p:cNvSpPr>
            <a:spLocks noChangeArrowheads="1"/>
          </p:cNvSpPr>
          <p:nvPr/>
        </p:nvSpPr>
        <p:spPr bwMode="auto">
          <a:xfrm>
            <a:off x="2279577" y="1196753"/>
            <a:ext cx="8137525" cy="4664075"/>
          </a:xfrm>
          <a:prstGeom prst="rect">
            <a:avLst/>
          </a:prstGeom>
          <a:noFill/>
          <a:ln w="9525">
            <a:noFill/>
            <a:miter lim="800000"/>
            <a:headEnd/>
            <a:tailEnd/>
          </a:ln>
          <a:effectLst/>
        </p:spPr>
        <p:txBody>
          <a:bodyPr>
            <a:spAutoFit/>
          </a:bodyPr>
          <a:lstStyle/>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glMatrixMode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GL_PROJECTION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glPushMatrix</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glLoadIdentity</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  create 5x5 pixel picking region near cursor location	*/</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gluPickMatrix</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GLdouble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x</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GLdouble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[3]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y</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5.0, 5.0,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viewport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③</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err="1">
                <a:solidFill>
                  <a:srgbClr val="141414"/>
                </a:solidFill>
                <a:effectLst>
                  <a:outerShdw blurRad="38100" dist="38100" dir="2700000" algn="tl">
                    <a:srgbClr val="C0C0C0"/>
                  </a:outerShdw>
                </a:effectLst>
                <a:latin typeface="Courier New" pitchFamily="49" charset="0"/>
                <a:ea typeface="宋体" pitchFamily="2" charset="-122"/>
              </a:rPr>
              <a:t>gluPerspective</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or </a:t>
            </a:r>
            <a:r>
              <a:rPr lang="en-US" altLang="zh-CN" sz="2000" b="1" dirty="0" err="1">
                <a:solidFill>
                  <a:srgbClr val="141414"/>
                </a:solidFill>
                <a:effectLst>
                  <a:outerShdw blurRad="38100" dist="38100" dir="2700000" algn="tl">
                    <a:srgbClr val="C0C0C0"/>
                  </a:outerShdw>
                </a:effectLst>
                <a:latin typeface="Courier New" pitchFamily="49" charset="0"/>
                <a:ea typeface="宋体" pitchFamily="2" charset="-122"/>
              </a:rPr>
              <a:t>glOrtho</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or other projection*/</a:t>
            </a: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gluOrtho2D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(-2.0, 2.0, -2.0, 2.0);</a:t>
            </a:r>
          </a:p>
          <a:p>
            <a:pPr lvl="1">
              <a:defRPr/>
            </a:pP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draw something  */</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drawObjects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④</a:t>
            </a:r>
            <a:endParaRPr lang="en-US" altLang="zh-CN" sz="2000" b="1" dirty="0">
              <a:solidFill>
                <a:schemeClr val="hlink"/>
              </a:solidFill>
              <a:effectLst>
                <a:outerShdw blurRad="38100" dist="38100" dir="2700000" algn="tl">
                  <a:srgbClr val="C0C0C0"/>
                </a:outerShdw>
              </a:effectLst>
              <a:latin typeface="Courier New" pitchFamily="49" charset="0"/>
              <a:ea typeface="宋体" pitchFamily="2" charset="-122"/>
            </a:endParaRP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2179"/>
                                        </p:tgtEl>
                                        <p:attrNameLst>
                                          <p:attrName>style.visibility</p:attrName>
                                        </p:attrNameLst>
                                      </p:cBhvr>
                                      <p:to>
                                        <p:strVal val="visible"/>
                                      </p:to>
                                    </p:set>
                                    <p:animEffect transition="in" filter="dissolve">
                                      <p:cBhvr>
                                        <p:cTn id="7" dur="500"/>
                                        <p:tgtEl>
                                          <p:spTgt spid="562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a:extLst>
              <a:ext uri="{FF2B5EF4-FFF2-40B4-BE49-F238E27FC236}">
                <a16:creationId xmlns:a16="http://schemas.microsoft.com/office/drawing/2014/main" id="{AE0BC385-FAC1-4AE2-B12C-04DF7A6E87D4}"/>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63203" name="Rectangle 3">
            <a:extLst>
              <a:ext uri="{FF2B5EF4-FFF2-40B4-BE49-F238E27FC236}">
                <a16:creationId xmlns:a16="http://schemas.microsoft.com/office/drawing/2014/main" id="{90DE51B2-B792-45F1-95F7-73C25B370F6C}"/>
              </a:ext>
            </a:extLst>
          </p:cNvPr>
          <p:cNvSpPr>
            <a:spLocks noChangeArrowheads="1"/>
          </p:cNvSpPr>
          <p:nvPr/>
        </p:nvSpPr>
        <p:spPr bwMode="auto">
          <a:xfrm>
            <a:off x="2279650" y="1268414"/>
            <a:ext cx="8066088" cy="3140075"/>
          </a:xfrm>
          <a:prstGeom prst="rect">
            <a:avLst/>
          </a:prstGeom>
          <a:noFill/>
          <a:ln w="9525">
            <a:noFill/>
            <a:miter lim="800000"/>
            <a:headEnd/>
            <a:tailEnd/>
          </a:ln>
          <a:effectLst/>
        </p:spPr>
        <p:txBody>
          <a:bodyPr>
            <a:spAutoFit/>
          </a:bodyPr>
          <a:lstStyle/>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glMatrixMode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GL_PROJECTION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glPopMatrix</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glFlush</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glRenderMode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GL_RENDER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⑤</a:t>
            </a: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processHits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selectBuf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rPr>
              <a:t>⑥</a:t>
            </a:r>
          </a:p>
          <a:p>
            <a:pPr lvl="1">
              <a:defRPr/>
            </a:pPr>
            <a:endParaRPr lang="en-US" altLang="zh-CN" sz="2000" b="1" noProof="1">
              <a:solidFill>
                <a:schemeClr val="hlink"/>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glutPostRedisplay</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endParaRPr lang="en-US" altLang="zh-CN" sz="2000" b="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endParaRPr lang="en-US" altLang="zh-CN" sz="2000" b="1">
              <a:solidFill>
                <a:srgbClr val="141414"/>
              </a:solidFill>
              <a:effectLst>
                <a:outerShdw blurRad="38100" dist="38100" dir="2700000" algn="tl">
                  <a:srgbClr val="C0C0C0"/>
                </a:outerShdw>
              </a:effectLst>
              <a:latin typeface="Courier New" pitchFamily="49" charset="0"/>
              <a:ea typeface="宋体" pitchFamily="2" charset="-122"/>
            </a:endParaRPr>
          </a:p>
          <a:p>
            <a:pPr>
              <a:defRPr/>
            </a:pPr>
            <a:r>
              <a:rPr lang="en-US" altLang="zh-CN" sz="2000" b="1">
                <a:solidFill>
                  <a:srgbClr val="141414"/>
                </a:solidFill>
                <a:effectLst>
                  <a:outerShdw blurRad="38100" dist="38100" dir="2700000" algn="tl">
                    <a:srgbClr val="C0C0C0"/>
                  </a:outerShdw>
                </a:effectLst>
                <a:latin typeface="Courier New" pitchFamily="49" charset="0"/>
                <a:ea typeface="宋体" pitchFamily="2" charset="-122"/>
              </a:rPr>
              <a:t>}</a:t>
            </a: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3203"/>
                                        </p:tgtEl>
                                        <p:attrNameLst>
                                          <p:attrName>style.visibility</p:attrName>
                                        </p:attrNameLst>
                                      </p:cBhvr>
                                      <p:to>
                                        <p:strVal val="visible"/>
                                      </p:to>
                                    </p:set>
                                    <p:animEffect transition="in" filter="dissolve">
                                      <p:cBhvr>
                                        <p:cTn id="7" dur="500"/>
                                        <p:tgtEl>
                                          <p:spTgt spid="563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a:extLst>
              <a:ext uri="{FF2B5EF4-FFF2-40B4-BE49-F238E27FC236}">
                <a16:creationId xmlns:a16="http://schemas.microsoft.com/office/drawing/2014/main" id="{14B805C1-9018-476E-B97E-FD9E5E3FB92A}"/>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64227" name="Rectangle 3">
            <a:extLst>
              <a:ext uri="{FF2B5EF4-FFF2-40B4-BE49-F238E27FC236}">
                <a16:creationId xmlns:a16="http://schemas.microsoft.com/office/drawing/2014/main" id="{D4D07D54-6C96-4B5C-92EF-AB4D51BAB75A}"/>
              </a:ext>
            </a:extLst>
          </p:cNvPr>
          <p:cNvSpPr>
            <a:spLocks noChangeArrowheads="1"/>
          </p:cNvSpPr>
          <p:nvPr/>
        </p:nvSpPr>
        <p:spPr bwMode="auto">
          <a:xfrm>
            <a:off x="2279650" y="1268414"/>
            <a:ext cx="8066088" cy="4968875"/>
          </a:xfrm>
          <a:prstGeom prst="rect">
            <a:avLst/>
          </a:prstGeom>
          <a:noFill/>
          <a:ln w="9525">
            <a:noFill/>
            <a:miter lim="800000"/>
            <a:headEnd/>
            <a:tailEnd/>
          </a:ln>
          <a:effectLst/>
        </p:spPr>
        <p:txBody>
          <a:bodyPr>
            <a:spAutoFit/>
          </a:bodyPr>
          <a:lstStyle/>
          <a:p>
            <a:pPr lvl="1">
              <a:defRPr/>
            </a:pP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void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display</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glClear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GL_COLOR_BUFFER_BIT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drawObjects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GL_RENDER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glFlush</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endParaRPr lang="en-US" altLang="zh-CN" sz="2000" b="1" dirty="0">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void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drawObjects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GLenum</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glLoadName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(1);</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glColor3f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(1.0, 0.0, 0.0);</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glRectf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(-0.5, -0.5, 1.0, 1.0);</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mode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GL_SELECT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glLoadName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(2);</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glColor3f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(0.0, 0.0, 1.0);</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glRectf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(-1.0, -1.0, 0.5, 0.5);</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4227"/>
                                        </p:tgtEl>
                                        <p:attrNameLst>
                                          <p:attrName>style.visibility</p:attrName>
                                        </p:attrNameLst>
                                      </p:cBhvr>
                                      <p:to>
                                        <p:strVal val="visible"/>
                                      </p:to>
                                    </p:set>
                                    <p:animEffect transition="in" filter="dissolve">
                                      <p:cBhvr>
                                        <p:cTn id="7" dur="500"/>
                                        <p:tgtEl>
                                          <p:spTgt spid="564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B0E9AA0E-324C-405A-9F83-2DE6F7F49685}"/>
              </a:ext>
            </a:extLst>
          </p:cNvPr>
          <p:cNvSpPr>
            <a:spLocks noGrp="1" noChangeArrowheads="1"/>
          </p:cNvSpPr>
          <p:nvPr>
            <p:ph type="title"/>
          </p:nvPr>
        </p:nvSpPr>
        <p:spPr/>
        <p:txBody>
          <a:bodyPr/>
          <a:lstStyle/>
          <a:p>
            <a:pPr>
              <a:defRPr/>
            </a:pPr>
            <a:r>
              <a:rPr lang="en-US" altLang="zh-CN" dirty="0">
                <a:latin typeface="Arial" pitchFamily="34" charset="0"/>
              </a:rPr>
              <a:t>8.3 </a:t>
            </a:r>
            <a:r>
              <a:rPr lang="zh-CN" altLang="en-US" dirty="0">
                <a:latin typeface="Arial" pitchFamily="34" charset="0"/>
              </a:rPr>
              <a:t>拾取</a:t>
            </a:r>
            <a:r>
              <a:rPr lang="en-US" altLang="zh-CN" dirty="0">
                <a:latin typeface="Arial" pitchFamily="34" charset="0"/>
              </a:rPr>
              <a:t>——</a:t>
            </a:r>
            <a:r>
              <a:rPr lang="zh-CN" altLang="en-US" dirty="0">
                <a:latin typeface="Arial" pitchFamily="34" charset="0"/>
              </a:rPr>
              <a:t>完整程序</a:t>
            </a:r>
          </a:p>
        </p:txBody>
      </p:sp>
      <p:sp>
        <p:nvSpPr>
          <p:cNvPr id="565251" name="Rectangle 3">
            <a:extLst>
              <a:ext uri="{FF2B5EF4-FFF2-40B4-BE49-F238E27FC236}">
                <a16:creationId xmlns:a16="http://schemas.microsoft.com/office/drawing/2014/main" id="{2751F492-0E79-4B96-9C6F-95C8A5093FE1}"/>
              </a:ext>
            </a:extLst>
          </p:cNvPr>
          <p:cNvSpPr>
            <a:spLocks noChangeArrowheads="1"/>
          </p:cNvSpPr>
          <p:nvPr/>
        </p:nvSpPr>
        <p:spPr bwMode="auto">
          <a:xfrm>
            <a:off x="2279651" y="1268414"/>
            <a:ext cx="8640763" cy="5273675"/>
          </a:xfrm>
          <a:prstGeom prst="rect">
            <a:avLst/>
          </a:prstGeom>
          <a:noFill/>
          <a:ln w="9525">
            <a:noFill/>
            <a:miter lim="800000"/>
            <a:headEnd/>
            <a:tailEnd/>
          </a:ln>
          <a:effectLst/>
        </p:spPr>
        <p:txBody>
          <a:bodyPr>
            <a:spAutoFit/>
          </a:bodyPr>
          <a:lstStyle/>
          <a:p>
            <a:pPr lvl="1">
              <a:defRPr/>
            </a:pP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void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processHits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GLuint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buffer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unsigned</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endPar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endParaRP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"hits = %d\n"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GLint</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buffer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for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0;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&lt;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hits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i</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 for each hit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a:solidFill>
                  <a:srgbClr val="151415"/>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3;</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for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 0;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&lt;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names</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j</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008000"/>
                </a:solidFill>
                <a:effectLst>
                  <a:outerShdw blurRad="38100" dist="38100" dir="2700000" algn="tl">
                    <a:srgbClr val="C0C0C0"/>
                  </a:outerShdw>
                </a:effectLst>
                <a:latin typeface="Courier New" pitchFamily="49" charset="0"/>
                <a:ea typeface="宋体" pitchFamily="2" charset="-122"/>
              </a:rPr>
              <a:t>/*for each name*/</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if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==1)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"red rectangle\n"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0000FF"/>
                </a:solidFill>
                <a:effectLst>
                  <a:outerShdw blurRad="38100" dist="38100" dir="2700000" algn="tl">
                    <a:srgbClr val="C0C0C0"/>
                  </a:outerShdw>
                </a:effectLst>
                <a:latin typeface="Courier New" pitchFamily="49" charset="0"/>
                <a:ea typeface="宋体" pitchFamily="2" charset="-122"/>
              </a:rPr>
              <a:t>else</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"blue rectangle\n"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ptr</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151415"/>
                </a:solidFill>
                <a:effectLst>
                  <a:outerShdw blurRad="38100" dist="38100" dir="2700000" algn="tl">
                    <a:srgbClr val="C0C0C0"/>
                  </a:outerShdw>
                </a:effectLst>
                <a:latin typeface="Courier New" pitchFamily="49" charset="0"/>
                <a:ea typeface="宋体" pitchFamily="2" charset="-122"/>
              </a:rPr>
              <a:t>printf</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r>
              <a:rPr lang="en-US" altLang="zh-CN" sz="2000" b="1" noProof="1">
                <a:solidFill>
                  <a:srgbClr val="A31515"/>
                </a:solidFill>
                <a:effectLst>
                  <a:outerShdw blurRad="38100" dist="38100" dir="2700000" algn="tl">
                    <a:srgbClr val="C0C0C0"/>
                  </a:outerShdw>
                </a:effectLst>
                <a:latin typeface="Courier New" pitchFamily="49" charset="0"/>
                <a:ea typeface="宋体" pitchFamily="2" charset="-122"/>
              </a:rPr>
              <a:t>"\n"</a:t>
            </a: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   }</a:t>
            </a:r>
          </a:p>
          <a:p>
            <a:pPr lvl="1">
              <a:defRPr/>
            </a:pPr>
            <a:r>
              <a:rPr lang="en-US" altLang="zh-CN" sz="2000" b="1" noProof="1">
                <a:solidFill>
                  <a:srgbClr val="141414"/>
                </a:solidFill>
                <a:effectLst>
                  <a:outerShdw blurRad="38100" dist="38100" dir="2700000" algn="tl">
                    <a:srgbClr val="C0C0C0"/>
                  </a:outerShdw>
                </a:effectLst>
                <a:latin typeface="Courier New" pitchFamily="49" charset="0"/>
                <a:ea typeface="宋体"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5251"/>
                                        </p:tgtEl>
                                        <p:attrNameLst>
                                          <p:attrName>style.visibility</p:attrName>
                                        </p:attrNameLst>
                                      </p:cBhvr>
                                      <p:to>
                                        <p:strVal val="visible"/>
                                      </p:to>
                                    </p:set>
                                    <p:animEffect transition="in" filter="dissolve">
                                      <p:cBhvr>
                                        <p:cTn id="7" dur="500"/>
                                        <p:tgtEl>
                                          <p:spTgt spid="565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E5CE5655-EA7F-48CB-A0ED-E0C93EB66163}"/>
              </a:ext>
            </a:extLst>
          </p:cNvPr>
          <p:cNvSpPr>
            <a:spLocks noGrp="1" noChangeArrowheads="1"/>
          </p:cNvSpPr>
          <p:nvPr>
            <p:ph type="title"/>
          </p:nvPr>
        </p:nvSpPr>
        <p:spPr/>
        <p:txBody>
          <a:bodyPr/>
          <a:lstStyle/>
          <a:p>
            <a:pPr>
              <a:defRPr/>
            </a:pPr>
            <a:r>
              <a:rPr lang="zh-CN" altLang="en-US" dirty="0">
                <a:latin typeface="Arial" pitchFamily="34" charset="0"/>
              </a:rPr>
              <a:t>作业</a:t>
            </a:r>
          </a:p>
        </p:txBody>
      </p:sp>
      <p:sp>
        <p:nvSpPr>
          <p:cNvPr id="519171" name="Rectangle 3">
            <a:extLst>
              <a:ext uri="{FF2B5EF4-FFF2-40B4-BE49-F238E27FC236}">
                <a16:creationId xmlns:a16="http://schemas.microsoft.com/office/drawing/2014/main" id="{319DADCD-1859-45D7-B06A-C60855C82E80}"/>
              </a:ext>
            </a:extLst>
          </p:cNvPr>
          <p:cNvSpPr>
            <a:spLocks noGrp="1" noChangeArrowheads="1"/>
          </p:cNvSpPr>
          <p:nvPr>
            <p:ph type="body" idx="1"/>
          </p:nvPr>
        </p:nvSpPr>
        <p:spPr>
          <a:xfrm>
            <a:off x="983432" y="3429000"/>
            <a:ext cx="10585176" cy="2578514"/>
          </a:xfrm>
        </p:spPr>
        <p:txBody>
          <a:bodyPr/>
          <a:lstStyle/>
          <a:p>
            <a:pPr marL="0" indent="0">
              <a:buNone/>
              <a:defRPr/>
            </a:pPr>
            <a:r>
              <a:rPr lang="zh-CN" altLang="en-US" sz="2400" dirty="0">
                <a:solidFill>
                  <a:srgbClr val="C00000"/>
                </a:solidFill>
                <a:ea typeface="黑体" pitchFamily="49" charset="-122"/>
              </a:rPr>
              <a:t>要求：</a:t>
            </a:r>
          </a:p>
          <a:p>
            <a:pPr lvl="1">
              <a:buSzPct val="100000"/>
              <a:buFont typeface="Wingdings" panose="05000000000000000000" pitchFamily="2" charset="2"/>
              <a:buChar char="l"/>
              <a:defRPr/>
            </a:pPr>
            <a:r>
              <a:rPr lang="zh-CN" altLang="en-US" sz="2400" dirty="0">
                <a:ea typeface="黑体" pitchFamily="49" charset="-122"/>
              </a:rPr>
              <a:t>源代码（代码要有详细的注释）</a:t>
            </a:r>
          </a:p>
          <a:p>
            <a:pPr lvl="1">
              <a:buSzPct val="100000"/>
              <a:buFont typeface="Wingdings" panose="05000000000000000000" pitchFamily="2" charset="2"/>
              <a:buChar char="l"/>
              <a:defRPr/>
            </a:pPr>
            <a:r>
              <a:rPr lang="zh-CN" altLang="en-US" sz="2400" dirty="0">
                <a:ea typeface="黑体" pitchFamily="49" charset="-122"/>
              </a:rPr>
              <a:t>设计文档（</a:t>
            </a:r>
            <a:r>
              <a:rPr lang="en-US" altLang="zh-CN" sz="2400" dirty="0">
                <a:ea typeface="黑体" pitchFamily="49" charset="-122"/>
              </a:rPr>
              <a:t>Word</a:t>
            </a:r>
            <a:r>
              <a:rPr lang="zh-CN" altLang="en-US" sz="2400" dirty="0">
                <a:ea typeface="黑体" pitchFamily="49" charset="-122"/>
              </a:rPr>
              <a:t>文档，包含运行结果截图）</a:t>
            </a:r>
            <a:endParaRPr lang="en-US" altLang="zh-CN" sz="2400" dirty="0">
              <a:ea typeface="黑体" pitchFamily="49" charset="-122"/>
            </a:endParaRPr>
          </a:p>
          <a:p>
            <a:pPr lvl="1">
              <a:buSzPct val="100000"/>
              <a:buFont typeface="Wingdings" panose="05000000000000000000" pitchFamily="2" charset="2"/>
              <a:buChar char="l"/>
              <a:defRPr/>
            </a:pPr>
            <a:r>
              <a:rPr lang="zh-CN" altLang="en-US" sz="2400" dirty="0">
                <a:ea typeface="黑体" pitchFamily="49" charset="-122"/>
              </a:rPr>
              <a:t>源代码命名要求：</a:t>
            </a:r>
            <a:r>
              <a:rPr lang="en-US" altLang="zh-CN" sz="2400" dirty="0">
                <a:ea typeface="黑体" pitchFamily="49" charset="-122"/>
              </a:rPr>
              <a:t>homework1_</a:t>
            </a:r>
            <a:r>
              <a:rPr lang="zh-CN" altLang="en-US" sz="2400" dirty="0">
                <a:ea typeface="黑体" pitchFamily="49" charset="-122"/>
              </a:rPr>
              <a:t>姓名拼音</a:t>
            </a:r>
            <a:r>
              <a:rPr lang="en-US" altLang="zh-CN" sz="2400" dirty="0">
                <a:ea typeface="黑体" pitchFamily="49" charset="-122"/>
              </a:rPr>
              <a:t>.c</a:t>
            </a:r>
          </a:p>
          <a:p>
            <a:pPr lvl="1">
              <a:buSzPct val="100000"/>
              <a:buFont typeface="Wingdings" panose="05000000000000000000" pitchFamily="2" charset="2"/>
              <a:buChar char="l"/>
              <a:defRPr/>
            </a:pPr>
            <a:r>
              <a:rPr lang="zh-CN" altLang="en-US" sz="2400" dirty="0">
                <a:ea typeface="黑体" pitchFamily="49" charset="-122"/>
              </a:rPr>
              <a:t>所有文件打包，</a:t>
            </a:r>
            <a:r>
              <a:rPr lang="en-US" altLang="zh-CN" sz="2400" dirty="0">
                <a:ea typeface="黑体" pitchFamily="49" charset="-122"/>
              </a:rPr>
              <a:t>QQ</a:t>
            </a:r>
            <a:r>
              <a:rPr lang="zh-CN" altLang="en-US" sz="2400" dirty="0">
                <a:ea typeface="黑体" pitchFamily="49" charset="-122"/>
              </a:rPr>
              <a:t>私信提交</a:t>
            </a:r>
            <a:endParaRPr lang="en-US" altLang="zh-CN" sz="2400" dirty="0">
              <a:ea typeface="黑体" pitchFamily="49" charset="-122"/>
            </a:endParaRPr>
          </a:p>
        </p:txBody>
      </p:sp>
      <p:sp>
        <p:nvSpPr>
          <p:cNvPr id="4" name="Rectangle 3">
            <a:extLst>
              <a:ext uri="{FF2B5EF4-FFF2-40B4-BE49-F238E27FC236}">
                <a16:creationId xmlns:a16="http://schemas.microsoft.com/office/drawing/2014/main" id="{EED648EB-35F3-489C-A2B3-1C0A5D6C9649}"/>
              </a:ext>
            </a:extLst>
          </p:cNvPr>
          <p:cNvSpPr txBox="1">
            <a:spLocks noChangeArrowheads="1"/>
          </p:cNvSpPr>
          <p:nvPr/>
        </p:nvSpPr>
        <p:spPr bwMode="auto">
          <a:xfrm>
            <a:off x="839416" y="1423228"/>
            <a:ext cx="10844584" cy="93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spAutoFit/>
          </a:bodyPr>
          <a:lstStyle>
            <a:lvl1pPr marL="354013" indent="-354013" algn="l" rtl="0" eaLnBrk="1" fontAlgn="base" hangingPunct="1">
              <a:lnSpc>
                <a:spcPct val="120000"/>
              </a:lnSpc>
              <a:spcBef>
                <a:spcPts val="600"/>
              </a:spcBef>
              <a:spcAft>
                <a:spcPct val="0"/>
              </a:spcAft>
              <a:buClr>
                <a:schemeClr val="tx1"/>
              </a:buClr>
              <a:buSzPct val="90000"/>
              <a:buFont typeface="Wingdings" panose="05000000000000000000" pitchFamily="2" charset="2"/>
              <a:buChar char="Ø"/>
              <a:defRPr sz="2800" b="1">
                <a:solidFill>
                  <a:schemeClr val="tx1"/>
                </a:solidFill>
                <a:latin typeface="楷体_GB2312" pitchFamily="49" charset="-122"/>
                <a:ea typeface="楷体_GB2312" pitchFamily="49" charset="-122"/>
                <a:cs typeface="+mn-cs"/>
              </a:defRPr>
            </a:lvl1pPr>
            <a:lvl2pPr marL="898525" indent="-363538" algn="l" rtl="0" eaLnBrk="1" fontAlgn="base" hangingPunct="1">
              <a:lnSpc>
                <a:spcPct val="120000"/>
              </a:lnSpc>
              <a:spcBef>
                <a:spcPts val="600"/>
              </a:spcBef>
              <a:spcAft>
                <a:spcPct val="0"/>
              </a:spcAft>
              <a:buSzPct val="80000"/>
              <a:buFont typeface="Wingdings" panose="05000000000000000000" pitchFamily="2" charset="2"/>
              <a:buChar char="Ø"/>
              <a:defRPr sz="2800" b="1">
                <a:solidFill>
                  <a:schemeClr val="tx1"/>
                </a:solidFill>
                <a:latin typeface="楷体_GB2312" pitchFamily="49" charset="-122"/>
                <a:ea typeface="楷体_GB2312" pitchFamily="49" charset="-122"/>
              </a:defRPr>
            </a:lvl2pPr>
            <a:lvl3pPr marL="1522413" indent="-442913" algn="l" rtl="0" eaLnBrk="1" fontAlgn="base" hangingPunct="1">
              <a:lnSpc>
                <a:spcPct val="120000"/>
              </a:lnSpc>
              <a:spcBef>
                <a:spcPts val="600"/>
              </a:spcBef>
              <a:spcAft>
                <a:spcPct val="0"/>
              </a:spcAft>
              <a:buSzPct val="80000"/>
              <a:buFont typeface="Wingdings" panose="05000000000000000000" pitchFamily="2" charset="2"/>
              <a:buChar char="l"/>
              <a:defRPr sz="2800" b="1">
                <a:solidFill>
                  <a:schemeClr val="tx1"/>
                </a:solidFill>
                <a:latin typeface="楷体_GB2312" pitchFamily="49" charset="-122"/>
                <a:ea typeface="楷体_GB2312" pitchFamily="49" charset="-122"/>
              </a:defRPr>
            </a:lvl3pPr>
            <a:lvl4pPr marL="1600200" indent="-169863" algn="l" rtl="0" eaLnBrk="1" fontAlgn="base" hangingPunct="1">
              <a:lnSpc>
                <a:spcPct val="120000"/>
              </a:lnSpc>
              <a:spcBef>
                <a:spcPts val="600"/>
              </a:spcBef>
              <a:spcAft>
                <a:spcPct val="0"/>
              </a:spcAft>
              <a:buClr>
                <a:schemeClr val="tx2"/>
              </a:buClr>
              <a:buFont typeface="Wingdings" panose="05000000000000000000" pitchFamily="2" charset="2"/>
              <a:buChar char="§"/>
              <a:defRPr sz="2800" b="1">
                <a:solidFill>
                  <a:schemeClr val="tx1"/>
                </a:solidFill>
                <a:latin typeface="楷体_GB2312" pitchFamily="49" charset="-122"/>
                <a:ea typeface="楷体_GB2312" pitchFamily="49" charset="-122"/>
              </a:defRPr>
            </a:lvl4pPr>
            <a:lvl5pPr marL="1951038" indent="-169863" algn="l" rtl="0" eaLnBrk="1" fontAlgn="base" hangingPunct="1">
              <a:lnSpc>
                <a:spcPct val="120000"/>
              </a:lnSpc>
              <a:spcBef>
                <a:spcPts val="600"/>
              </a:spcBef>
              <a:spcAft>
                <a:spcPct val="0"/>
              </a:spcAft>
              <a:buClr>
                <a:schemeClr val="accent1"/>
              </a:buClr>
              <a:buFont typeface="Wingdings" panose="05000000000000000000" pitchFamily="2" charset="2"/>
              <a:buChar char="§"/>
              <a:defRPr sz="2800" b="1">
                <a:solidFill>
                  <a:schemeClr val="tx1"/>
                </a:solidFill>
                <a:latin typeface="楷体_GB2312" pitchFamily="49" charset="-122"/>
                <a:ea typeface="楷体_GB2312" pitchFamily="49" charset="-122"/>
              </a:defRPr>
            </a:lvl5pPr>
            <a:lvl6pPr marL="240954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6pPr>
            <a:lvl7pPr marL="2866690"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7pPr>
            <a:lvl8pPr marL="3323836"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8pPr>
            <a:lvl9pPr marL="3780983" indent="-171430" algn="l" rtl="0" eaLnBrk="1" fontAlgn="base" hangingPunct="1">
              <a:lnSpc>
                <a:spcPct val="120000"/>
              </a:lnSpc>
              <a:spcBef>
                <a:spcPct val="20000"/>
              </a:spcBef>
              <a:spcAft>
                <a:spcPct val="0"/>
              </a:spcAft>
              <a:buClr>
                <a:schemeClr val="accent1"/>
              </a:buClr>
              <a:buFont typeface="Wingdings" pitchFamily="2" charset="2"/>
              <a:buChar char="§"/>
              <a:defRPr sz="2800">
                <a:solidFill>
                  <a:schemeClr val="tx1"/>
                </a:solidFill>
                <a:latin typeface="+mn-lt"/>
                <a:ea typeface="+mn-ea"/>
              </a:defRPr>
            </a:lvl9pPr>
          </a:lstStyle>
          <a:p>
            <a:pPr marL="896938" indent="-896938">
              <a:buNone/>
              <a:defRPr/>
            </a:pPr>
            <a:r>
              <a:rPr lang="zh-CN" altLang="en-US" sz="2400" kern="0" dirty="0">
                <a:solidFill>
                  <a:srgbClr val="C00000"/>
                </a:solidFill>
                <a:ea typeface="黑体" pitchFamily="49" charset="-122"/>
              </a:rPr>
              <a:t>习题：</a:t>
            </a:r>
            <a:r>
              <a:rPr lang="zh-CN" altLang="en-US" sz="2400" kern="0" dirty="0">
                <a:ea typeface="黑体" pitchFamily="49" charset="-122"/>
              </a:rPr>
              <a:t>创建一个简单的绘图程序，鼠标右键弹出菜单，通过菜单项选择绘制线段、矩形和圆，要求使用橡皮条方法构造直线段、矩形和圆。</a:t>
            </a:r>
            <a:endParaRPr lang="en-US" altLang="zh-CN" sz="2400" kern="0" dirty="0">
              <a:ea typeface="黑体" pitchFamily="49" charset="-122"/>
            </a:endParaRPr>
          </a:p>
        </p:txBody>
      </p:sp>
    </p:spTree>
    <p:extLst>
      <p:ext uri="{BB962C8B-B14F-4D97-AF65-F5344CB8AC3E}">
        <p14:creationId xmlns:p14="http://schemas.microsoft.com/office/powerpoint/2010/main" val="1702839239"/>
      </p:ext>
    </p:extLst>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2A6CE81F-E979-4037-AA73-A2D6A683AA77}"/>
              </a:ext>
            </a:extLst>
          </p:cNvPr>
          <p:cNvSpPr>
            <a:spLocks noGrp="1" noChangeArrowheads="1"/>
          </p:cNvSpPr>
          <p:nvPr>
            <p:ph type="sldNum" sz="quarter" idx="4294967295"/>
          </p:nvPr>
        </p:nvSpPr>
        <p:spPr>
          <a:xfrm>
            <a:off x="1524000" y="123825"/>
            <a:ext cx="515938" cy="228600"/>
          </a:xfrm>
          <a:prstGeom prst="rect">
            <a:avLst/>
          </a:prstGeom>
        </p:spPr>
        <p:txBody>
          <a:bodyPr/>
          <a:lstStyle>
            <a:lvl1pPr eaLnBrk="0" hangingPunct="0">
              <a:defRPr sz="1600">
                <a:solidFill>
                  <a:schemeClr val="tx1"/>
                </a:solidFill>
                <a:latin typeface="Arial" panose="020B0604020202020204" pitchFamily="34" charset="0"/>
                <a:ea typeface="华文琥珀" panose="02010800040101010101" pitchFamily="2" charset="-122"/>
              </a:defRPr>
            </a:lvl1pPr>
            <a:lvl2pPr marL="742950" indent="-285750" eaLnBrk="0" hangingPunct="0">
              <a:defRPr sz="1600">
                <a:solidFill>
                  <a:schemeClr val="tx1"/>
                </a:solidFill>
                <a:latin typeface="Arial" panose="020B0604020202020204" pitchFamily="34" charset="0"/>
                <a:ea typeface="华文琥珀" panose="02010800040101010101" pitchFamily="2" charset="-122"/>
              </a:defRPr>
            </a:lvl2pPr>
            <a:lvl3pPr marL="1143000" indent="-228600" eaLnBrk="0" hangingPunct="0">
              <a:defRPr sz="1600">
                <a:solidFill>
                  <a:schemeClr val="tx1"/>
                </a:solidFill>
                <a:latin typeface="Arial" panose="020B0604020202020204" pitchFamily="34" charset="0"/>
                <a:ea typeface="华文琥珀" panose="02010800040101010101" pitchFamily="2" charset="-122"/>
              </a:defRPr>
            </a:lvl3pPr>
            <a:lvl4pPr marL="1600200" indent="-228600" eaLnBrk="0" hangingPunct="0">
              <a:defRPr sz="1600">
                <a:solidFill>
                  <a:schemeClr val="tx1"/>
                </a:solidFill>
                <a:latin typeface="Arial" panose="020B0604020202020204" pitchFamily="34" charset="0"/>
                <a:ea typeface="华文琥珀" panose="02010800040101010101" pitchFamily="2" charset="-122"/>
              </a:defRPr>
            </a:lvl4pPr>
            <a:lvl5pPr marL="2057400" indent="-228600" eaLnBrk="0" hangingPunct="0">
              <a:defRPr sz="1600">
                <a:solidFill>
                  <a:schemeClr val="tx1"/>
                </a:solidFill>
                <a:latin typeface="Arial" panose="020B0604020202020204" pitchFamily="34" charset="0"/>
                <a:ea typeface="华文琥珀" panose="0201080004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华文琥珀" panose="02010800040101010101" pitchFamily="2" charset="-122"/>
              </a:defRPr>
            </a:lvl9pPr>
          </a:lstStyle>
          <a:p>
            <a:fld id="{253955AF-5DEC-4327-918B-87249DCECCA3}" type="slidenum">
              <a:rPr lang="en-US" altLang="zh-CN">
                <a:solidFill>
                  <a:schemeClr val="bg1"/>
                </a:solidFill>
                <a:latin typeface="Times New Roman" panose="02020603050405020304" pitchFamily="18" charset="0"/>
                <a:ea typeface="宋体" panose="02010600030101010101" pitchFamily="2" charset="-122"/>
              </a:rPr>
              <a:pPr/>
              <a:t>67</a:t>
            </a:fld>
            <a:endParaRPr lang="en-US" altLang="zh-CN">
              <a:solidFill>
                <a:schemeClr val="bg1"/>
              </a:solidFill>
              <a:latin typeface="Times New Roman" panose="02020603050405020304" pitchFamily="18" charset="0"/>
              <a:ea typeface="宋体" panose="02010600030101010101" pitchFamily="2" charset="-122"/>
            </a:endParaRPr>
          </a:p>
        </p:txBody>
      </p:sp>
      <p:sp>
        <p:nvSpPr>
          <p:cNvPr id="430082" name="Text Box 2">
            <a:extLst>
              <a:ext uri="{FF2B5EF4-FFF2-40B4-BE49-F238E27FC236}">
                <a16:creationId xmlns:a16="http://schemas.microsoft.com/office/drawing/2014/main" id="{1058C9C8-1FAF-47E7-8812-00816C626ABE}"/>
              </a:ext>
            </a:extLst>
          </p:cNvPr>
          <p:cNvSpPr txBox="1">
            <a:spLocks noChangeArrowheads="1"/>
          </p:cNvSpPr>
          <p:nvPr/>
        </p:nvSpPr>
        <p:spPr bwMode="auto">
          <a:xfrm>
            <a:off x="3179764" y="2492897"/>
            <a:ext cx="5832475" cy="1006475"/>
          </a:xfrm>
          <a:prstGeom prst="rect">
            <a:avLst/>
          </a:prstGeom>
          <a:noFill/>
          <a:ln w="9525">
            <a:noFill/>
            <a:miter lim="800000"/>
            <a:headEnd/>
            <a:tailEnd/>
          </a:ln>
          <a:effectLst/>
        </p:spPr>
        <p:txBody>
          <a:bodyPr>
            <a:spAutoFit/>
          </a:bodyPr>
          <a:lstStyle/>
          <a:p>
            <a:pPr algn="ctr">
              <a:spcBef>
                <a:spcPct val="50000"/>
              </a:spcBef>
              <a:defRPr/>
            </a:pPr>
            <a:r>
              <a:rPr lang="en-US" altLang="zh-CN" sz="6000" b="1" dirty="0">
                <a:solidFill>
                  <a:schemeClr val="tx2"/>
                </a:solidFill>
                <a:effectLst>
                  <a:outerShdw blurRad="38100" dist="38100" dir="2700000" algn="tl">
                    <a:srgbClr val="C0C0C0"/>
                  </a:outerShdw>
                </a:effectLst>
              </a:rPr>
              <a:t>Thank You!</a:t>
            </a:r>
            <a:endParaRPr lang="zh-CN" altLang="en-US" sz="6000" b="1" dirty="0">
              <a:solidFill>
                <a:schemeClr val="tx2"/>
              </a:solidFill>
              <a:effectLst>
                <a:outerShdw blurRad="38100" dist="38100" dir="2700000" algn="tl">
                  <a:srgbClr val="C0C0C0"/>
                </a:outerShdw>
              </a:effectLst>
            </a:endParaRP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FILETITLE" val="CIS736-Basics-01-Math"/>
  <p:tag name="FOLDERNAME" val="CIS736-Basics-01-Math_270108225806"/>
  <p:tag name="PD" val="1825588"/>
  <p:tag name="WMSI" val="369"/>
  <p:tag name="WMIS" val="46646"/>
  <p:tag name="PREC" val="T"/>
  <p:tag name="NPWI" val="260"/>
</p:tagLst>
</file>

<file path=ppt/theme/theme1.xml><?xml version="1.0" encoding="utf-8"?>
<a:theme xmlns:a="http://schemas.openxmlformats.org/drawingml/2006/main" name="2_020424 Atlas Copco Dymamic Workplaces - Roadmap">
  <a:themeElements>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2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2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2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2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89161D43-D2B5-4537-8643-859E4B758028}"/>
    </a:ext>
  </a:extLst>
</a:theme>
</file>

<file path=ppt/theme/theme2.xml><?xml version="1.0" encoding="utf-8"?>
<a:theme xmlns:a="http://schemas.openxmlformats.org/drawingml/2006/main" name="1_020424 Atlas Copco Dymamic Workplaces - Roadmap">
  <a:themeElements>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1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1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BDB286B0-20F8-4BED-B459-36164EA59FE4}"/>
    </a:ext>
  </a:extLst>
</a:theme>
</file>

<file path=ppt/theme/theme3.xml><?xml version="1.0" encoding="utf-8"?>
<a:theme xmlns:a="http://schemas.openxmlformats.org/drawingml/2006/main" name="3_020424 Atlas Copco Dymamic Workplaces - Roadmap">
  <a:themeElements>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fontScheme name="1_020424 Atlas Copco Dymamic Workplaces - Roadmap">
      <a:majorFont>
        <a:latin typeface="隶书"/>
        <a:ea typeface="隶书"/>
        <a:cs typeface=""/>
      </a:majorFont>
      <a:minorFont>
        <a:latin typeface="华文楷体"/>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Arial Black" pitchFamily="34" charset="0"/>
            <a:ea typeface="华文楷体" pitchFamily="2" charset="-122"/>
          </a:defRPr>
        </a:defPPr>
      </a:lstStyle>
    </a:lnDef>
  </a:objectDefaults>
  <a:extraClrSchemeLst>
    <a:extraClrScheme>
      <a:clrScheme name="1_020424 Atlas Copco Dymamic Workplaces - Roadmap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020424 Atlas Copco Dymamic Workplaces - Roadmap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020424 Atlas Copco Dymamic Workplaces - Roadmap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020424 Atlas Copco Dymamic Workplaces - Roadma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020424 Atlas Copco Dymamic Workplaces - Roadma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020424 Atlas Copco Dymamic Workplaces - Roadma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020424 Atlas Copco Dymamic Workplaces - Roadmap 8">
        <a:dk1>
          <a:srgbClr val="000000"/>
        </a:dk1>
        <a:lt1>
          <a:srgbClr val="FFFFFF"/>
        </a:lt1>
        <a:dk2>
          <a:srgbClr val="199B9B"/>
        </a:dk2>
        <a:lt2>
          <a:srgbClr val="666666"/>
        </a:lt2>
        <a:accent1>
          <a:srgbClr val="6699CC"/>
        </a:accent1>
        <a:accent2>
          <a:srgbClr val="99CCFF"/>
        </a:accent2>
        <a:accent3>
          <a:srgbClr val="FFFFFF"/>
        </a:accent3>
        <a:accent4>
          <a:srgbClr val="000000"/>
        </a:accent4>
        <a:accent5>
          <a:srgbClr val="B8CAE2"/>
        </a:accent5>
        <a:accent6>
          <a:srgbClr val="8AB9E7"/>
        </a:accent6>
        <a:hlink>
          <a:srgbClr val="FF6B07"/>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9">
        <a:dk1>
          <a:srgbClr val="000000"/>
        </a:dk1>
        <a:lt1>
          <a:srgbClr val="FFFFFF"/>
        </a:lt1>
        <a:dk2>
          <a:srgbClr val="33CCCC"/>
        </a:dk2>
        <a:lt2>
          <a:srgbClr val="666666"/>
        </a:lt2>
        <a:accent1>
          <a:srgbClr val="6699CC"/>
        </a:accent1>
        <a:accent2>
          <a:srgbClr val="99CCFF"/>
        </a:accent2>
        <a:accent3>
          <a:srgbClr val="FFFFFF"/>
        </a:accent3>
        <a:accent4>
          <a:srgbClr val="000000"/>
        </a:accent4>
        <a:accent5>
          <a:srgbClr val="B8CAE2"/>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0">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FF9933"/>
        </a:folHlink>
      </a:clrScheme>
      <a:clrMap bg1="lt1" tx1="dk1" bg2="lt2" tx2="dk2" accent1="accent1" accent2="accent2" accent3="accent3" accent4="accent4" accent5="accent5" accent6="accent6" hlink="hlink" folHlink="folHlink"/>
    </a:extraClrScheme>
    <a:extraClrScheme>
      <a:clrScheme name="1_020424 Atlas Copco Dymamic Workplaces - Roadmap 11">
        <a:dk1>
          <a:srgbClr val="000000"/>
        </a:dk1>
        <a:lt1>
          <a:srgbClr val="FFFFFF"/>
        </a:lt1>
        <a:dk2>
          <a:srgbClr val="33CCCC"/>
        </a:dk2>
        <a:lt2>
          <a:srgbClr val="6699CC"/>
        </a:lt2>
        <a:accent1>
          <a:srgbClr val="006699"/>
        </a:accent1>
        <a:accent2>
          <a:srgbClr val="99CCFF"/>
        </a:accent2>
        <a:accent3>
          <a:srgbClr val="FFFFFF"/>
        </a:accent3>
        <a:accent4>
          <a:srgbClr val="000000"/>
        </a:accent4>
        <a:accent5>
          <a:srgbClr val="AAB8CA"/>
        </a:accent5>
        <a:accent6>
          <a:srgbClr val="8AB9E7"/>
        </a:accent6>
        <a:hlink>
          <a:srgbClr val="199B9B"/>
        </a:hlink>
        <a:folHlink>
          <a:srgbClr val="703BE5"/>
        </a:folHlink>
      </a:clrScheme>
      <a:clrMap bg1="lt1" tx1="dk1" bg2="lt2" tx2="dk2" accent1="accent1" accent2="accent2" accent3="accent3" accent4="accent4" accent5="accent5" accent6="accent6" hlink="hlink" folHlink="folHlink"/>
    </a:extraClrScheme>
    <a:extraClrScheme>
      <a:clrScheme name="1_020424 Atlas Copco Dymamic Workplaces - Roadmap 12">
        <a:dk1>
          <a:srgbClr val="000000"/>
        </a:dk1>
        <a:lt1>
          <a:srgbClr val="FFFFFF"/>
        </a:lt1>
        <a:dk2>
          <a:srgbClr val="199B9B"/>
        </a:dk2>
        <a:lt2>
          <a:srgbClr val="B2B2B2"/>
        </a:lt2>
        <a:accent1>
          <a:srgbClr val="006699"/>
        </a:accent1>
        <a:accent2>
          <a:srgbClr val="33CCCC"/>
        </a:accent2>
        <a:accent3>
          <a:srgbClr val="FFFFFF"/>
        </a:accent3>
        <a:accent4>
          <a:srgbClr val="000000"/>
        </a:accent4>
        <a:accent5>
          <a:srgbClr val="AAB8CA"/>
        </a:accent5>
        <a:accent6>
          <a:srgbClr val="2DB9B9"/>
        </a:accent6>
        <a:hlink>
          <a:srgbClr val="777777"/>
        </a:hlink>
        <a:folHlink>
          <a:srgbClr val="6699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00章 引言.pptx" id="{8E336CD8-9F79-48AD-9569-E70DB49E1A8F}" vid="{1F1E4A66-E27C-4C99-99BB-460485372897}"/>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高级计算机图形学-模版</Template>
  <TotalTime>608</TotalTime>
  <Words>4142</Words>
  <Application>Microsoft Office PowerPoint</Application>
  <PresentationFormat>宽屏</PresentationFormat>
  <Paragraphs>785</Paragraphs>
  <Slides>67</Slides>
  <Notes>2</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67</vt:i4>
      </vt:variant>
    </vt:vector>
  </HeadingPairs>
  <TitlesOfParts>
    <vt:vector size="84" baseType="lpstr">
      <vt:lpstr>黑体</vt:lpstr>
      <vt:lpstr>华文琥珀</vt:lpstr>
      <vt:lpstr>华文楷体</vt:lpstr>
      <vt:lpstr>华文新魏</vt:lpstr>
      <vt:lpstr>楷体_GB2312</vt:lpstr>
      <vt:lpstr>隶书</vt:lpstr>
      <vt:lpstr>宋体</vt:lpstr>
      <vt:lpstr>Arial</vt:lpstr>
      <vt:lpstr>Arial Black</vt:lpstr>
      <vt:lpstr>Courier New</vt:lpstr>
      <vt:lpstr>Tahoma</vt:lpstr>
      <vt:lpstr>Times New Roman</vt:lpstr>
      <vt:lpstr>Wingdings</vt:lpstr>
      <vt:lpstr>Wingdings 2</vt:lpstr>
      <vt:lpstr>2_020424 Atlas Copco Dymamic Workplaces - Roadmap</vt:lpstr>
      <vt:lpstr>1_020424 Atlas Copco Dymamic Workplaces - Roadmap</vt:lpstr>
      <vt:lpstr>3_020424 Atlas Copco Dymamic Workplaces - Roadmap</vt:lpstr>
      <vt:lpstr>PowerPoint 演示文稿</vt:lpstr>
      <vt:lpstr>内容提要</vt:lpstr>
      <vt:lpstr>1. 什么是OpenGL？——多种理解</vt:lpstr>
      <vt:lpstr>什么是OpenGL？——多种理解</vt:lpstr>
      <vt:lpstr>2. OpenGL函数库</vt:lpstr>
      <vt:lpstr>2. OpenGL函数库</vt:lpstr>
      <vt:lpstr>3. OpenGL编程规范</vt:lpstr>
      <vt:lpstr>3. OpenGL编程规范</vt:lpstr>
      <vt:lpstr>3. OpenGL编程规范</vt:lpstr>
      <vt:lpstr>4. 二维图元绘制</vt:lpstr>
      <vt:lpstr>4.1 什么是图元</vt:lpstr>
      <vt:lpstr>4.2 几何图元</vt:lpstr>
      <vt:lpstr>4.2 几何图元</vt:lpstr>
      <vt:lpstr>4.2 几何图元</vt:lpstr>
      <vt:lpstr>4.2 几何图元</vt:lpstr>
      <vt:lpstr>5. 一个简单的OpenGL例子</vt:lpstr>
      <vt:lpstr>5. 一个简单的OpenGL例子</vt:lpstr>
      <vt:lpstr>6. GLUT库与程序框架</vt:lpstr>
      <vt:lpstr>6.1 窗口系统与GLUT</vt:lpstr>
      <vt:lpstr>6.2 框架结构</vt:lpstr>
      <vt:lpstr>深入GLUT</vt:lpstr>
      <vt:lpstr>深入GLUT</vt:lpstr>
      <vt:lpstr>深入GLUT</vt:lpstr>
      <vt:lpstr>深入GLUT</vt:lpstr>
      <vt:lpstr>深入GLUT</vt:lpstr>
      <vt:lpstr>深入GLUT</vt:lpstr>
      <vt:lpstr>7.事件处理方式—回调函数</vt:lpstr>
      <vt:lpstr>7.事件处理方式—回调函数</vt:lpstr>
      <vt:lpstr>7.1 Display Callback</vt:lpstr>
      <vt:lpstr>7.1 Display Callback</vt:lpstr>
      <vt:lpstr>7.2 Keyboard Callback</vt:lpstr>
      <vt:lpstr>7.2 Keyboard Callback</vt:lpstr>
      <vt:lpstr>7.2 Keyboard Callback</vt:lpstr>
      <vt:lpstr>7.2 Keyboard Callback</vt:lpstr>
      <vt:lpstr>7.3 Mouse Callback</vt:lpstr>
      <vt:lpstr>7.3.1 鼠标的移动</vt:lpstr>
      <vt:lpstr>8. 选择与拾取</vt:lpstr>
      <vt:lpstr>8.1 绘制模式</vt:lpstr>
      <vt:lpstr>8.1 绘制模式</vt:lpstr>
      <vt:lpstr>8.1 绘制模式</vt:lpstr>
      <vt:lpstr>8.1 绘制模式</vt:lpstr>
      <vt:lpstr>8.1 绘制模式</vt:lpstr>
      <vt:lpstr>8.2 选择模式与拾取操作</vt:lpstr>
      <vt:lpstr>8.2 选择模式与拾取操作</vt:lpstr>
      <vt:lpstr>8.2.1 拾取的基本原理</vt:lpstr>
      <vt:lpstr>8.2.2 拾取方法</vt:lpstr>
      <vt:lpstr>(1) 选择模式</vt:lpstr>
      <vt:lpstr>(1) 选择模式</vt:lpstr>
      <vt:lpstr>(2) 拾取区域</vt:lpstr>
      <vt:lpstr>(2) 拾取区域</vt:lpstr>
      <vt:lpstr>(2) 拾取区域</vt:lpstr>
      <vt:lpstr>(3) “感兴趣单元”</vt:lpstr>
      <vt:lpstr>(3)“感兴趣单元”</vt:lpstr>
      <vt:lpstr>(3)“感兴趣单元”</vt:lpstr>
      <vt:lpstr>(4) 名称堆栈</vt:lpstr>
      <vt:lpstr>(5) 选择缓存</vt:lpstr>
      <vt:lpstr>(5) 选择缓存</vt:lpstr>
      <vt:lpstr>(5) 选择缓存</vt:lpstr>
      <vt:lpstr>(5) 选择缓存</vt:lpstr>
      <vt:lpstr>8.3 拾取——完整程序</vt:lpstr>
      <vt:lpstr>8.3 拾取——完整程序</vt:lpstr>
      <vt:lpstr>8.3 拾取——完整程序</vt:lpstr>
      <vt:lpstr>8.3 拾取——完整程序</vt:lpstr>
      <vt:lpstr>8.3 拾取——完整程序</vt:lpstr>
      <vt:lpstr>8.3 拾取——完整程序</vt:lpstr>
      <vt:lpstr>作业</vt:lpstr>
      <vt:lpstr>PowerPoint 演示文稿</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二维图形编程</dc:title>
  <dc:creator>Windows 用户</dc:creator>
  <cp:lastModifiedBy>Windows 用户</cp:lastModifiedBy>
  <cp:revision>61</cp:revision>
  <dcterms:created xsi:type="dcterms:W3CDTF">2020-02-11T23:10:39Z</dcterms:created>
  <dcterms:modified xsi:type="dcterms:W3CDTF">2025-09-02T00:50:15Z</dcterms:modified>
</cp:coreProperties>
</file>