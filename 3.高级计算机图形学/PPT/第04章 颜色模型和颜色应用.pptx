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927" r:id="rId1"/>
    <p:sldMasterId id="2147483931" r:id="rId2"/>
    <p:sldMasterId id="2147483933" r:id="rId3"/>
    <p:sldMasterId id="2147483939" r:id="rId4"/>
  </p:sldMasterIdLst>
  <p:notesMasterIdLst>
    <p:notesMasterId r:id="rId48"/>
  </p:notesMasterIdLst>
  <p:sldIdLst>
    <p:sldId id="328" r:id="rId5"/>
    <p:sldId id="257" r:id="rId6"/>
    <p:sldId id="327" r:id="rId7"/>
    <p:sldId id="359" r:id="rId8"/>
    <p:sldId id="590" r:id="rId9"/>
    <p:sldId id="330" r:id="rId10"/>
    <p:sldId id="589" r:id="rId11"/>
    <p:sldId id="314" r:id="rId12"/>
    <p:sldId id="299" r:id="rId13"/>
    <p:sldId id="315" r:id="rId14"/>
    <p:sldId id="300" r:id="rId15"/>
    <p:sldId id="329" r:id="rId16"/>
    <p:sldId id="301" r:id="rId17"/>
    <p:sldId id="302" r:id="rId18"/>
    <p:sldId id="317" r:id="rId19"/>
    <p:sldId id="591" r:id="rId20"/>
    <p:sldId id="592" r:id="rId21"/>
    <p:sldId id="303" r:id="rId22"/>
    <p:sldId id="304" r:id="rId23"/>
    <p:sldId id="318" r:id="rId24"/>
    <p:sldId id="305" r:id="rId25"/>
    <p:sldId id="319" r:id="rId26"/>
    <p:sldId id="306" r:id="rId27"/>
    <p:sldId id="320" r:id="rId28"/>
    <p:sldId id="308" r:id="rId29"/>
    <p:sldId id="321" r:id="rId30"/>
    <p:sldId id="309" r:id="rId31"/>
    <p:sldId id="323" r:id="rId32"/>
    <p:sldId id="324" r:id="rId33"/>
    <p:sldId id="310" r:id="rId34"/>
    <p:sldId id="311" r:id="rId35"/>
    <p:sldId id="312" r:id="rId36"/>
    <p:sldId id="325" r:id="rId37"/>
    <p:sldId id="313" r:id="rId38"/>
    <p:sldId id="358" r:id="rId39"/>
    <p:sldId id="583" r:id="rId40"/>
    <p:sldId id="582" r:id="rId41"/>
    <p:sldId id="588" r:id="rId42"/>
    <p:sldId id="584" r:id="rId43"/>
    <p:sldId id="585" r:id="rId44"/>
    <p:sldId id="586" r:id="rId45"/>
    <p:sldId id="587" r:id="rId46"/>
    <p:sldId id="357" r:id="rId47"/>
  </p:sldIdLst>
  <p:sldSz cx="12192000" cy="6858000"/>
  <p:notesSz cx="6858000" cy="9144000"/>
  <p:defaultTextStyle>
    <a:defPPr>
      <a:defRPr lang="en-US"/>
    </a:defPPr>
    <a:lvl1pPr algn="l" rtl="0" eaLnBrk="0" fontAlgn="base" hangingPunct="0">
      <a:spcBef>
        <a:spcPct val="0"/>
      </a:spcBef>
      <a:spcAft>
        <a:spcPct val="0"/>
      </a:spcAft>
      <a:defRPr sz="1600" kern="1200">
        <a:solidFill>
          <a:schemeClr val="tx1"/>
        </a:solidFill>
        <a:latin typeface="Arial" panose="020B0604020202020204" pitchFamily="34" charset="0"/>
        <a:ea typeface="华文琥珀" panose="02010800040101010101" pitchFamily="2" charset="-122"/>
        <a:cs typeface="+mn-cs"/>
      </a:defRPr>
    </a:lvl1pPr>
    <a:lvl2pPr marL="457200" algn="l" rtl="0" eaLnBrk="0" fontAlgn="base" hangingPunct="0">
      <a:spcBef>
        <a:spcPct val="0"/>
      </a:spcBef>
      <a:spcAft>
        <a:spcPct val="0"/>
      </a:spcAft>
      <a:defRPr sz="1600" kern="1200">
        <a:solidFill>
          <a:schemeClr val="tx1"/>
        </a:solidFill>
        <a:latin typeface="Arial" panose="020B0604020202020204" pitchFamily="34" charset="0"/>
        <a:ea typeface="华文琥珀" panose="02010800040101010101" pitchFamily="2" charset="-122"/>
        <a:cs typeface="+mn-cs"/>
      </a:defRPr>
    </a:lvl2pPr>
    <a:lvl3pPr marL="914400" algn="l" rtl="0" eaLnBrk="0" fontAlgn="base" hangingPunct="0">
      <a:spcBef>
        <a:spcPct val="0"/>
      </a:spcBef>
      <a:spcAft>
        <a:spcPct val="0"/>
      </a:spcAft>
      <a:defRPr sz="1600" kern="1200">
        <a:solidFill>
          <a:schemeClr val="tx1"/>
        </a:solidFill>
        <a:latin typeface="Arial" panose="020B0604020202020204" pitchFamily="34" charset="0"/>
        <a:ea typeface="华文琥珀" panose="02010800040101010101" pitchFamily="2" charset="-122"/>
        <a:cs typeface="+mn-cs"/>
      </a:defRPr>
    </a:lvl3pPr>
    <a:lvl4pPr marL="1371600" algn="l" rtl="0" eaLnBrk="0" fontAlgn="base" hangingPunct="0">
      <a:spcBef>
        <a:spcPct val="0"/>
      </a:spcBef>
      <a:spcAft>
        <a:spcPct val="0"/>
      </a:spcAft>
      <a:defRPr sz="1600" kern="1200">
        <a:solidFill>
          <a:schemeClr val="tx1"/>
        </a:solidFill>
        <a:latin typeface="Arial" panose="020B0604020202020204" pitchFamily="34" charset="0"/>
        <a:ea typeface="华文琥珀" panose="02010800040101010101" pitchFamily="2" charset="-122"/>
        <a:cs typeface="+mn-cs"/>
      </a:defRPr>
    </a:lvl4pPr>
    <a:lvl5pPr marL="1828800" algn="l" rtl="0" eaLnBrk="0" fontAlgn="base" hangingPunct="0">
      <a:spcBef>
        <a:spcPct val="0"/>
      </a:spcBef>
      <a:spcAft>
        <a:spcPct val="0"/>
      </a:spcAft>
      <a:defRPr sz="1600" kern="1200">
        <a:solidFill>
          <a:schemeClr val="tx1"/>
        </a:solidFill>
        <a:latin typeface="Arial" panose="020B0604020202020204" pitchFamily="34" charset="0"/>
        <a:ea typeface="华文琥珀" panose="02010800040101010101" pitchFamily="2" charset="-122"/>
        <a:cs typeface="+mn-cs"/>
      </a:defRPr>
    </a:lvl5pPr>
    <a:lvl6pPr marL="2286000" algn="l" defTabSz="914400" rtl="0" eaLnBrk="1" latinLnBrk="0" hangingPunct="1">
      <a:defRPr sz="1600" kern="1200">
        <a:solidFill>
          <a:schemeClr val="tx1"/>
        </a:solidFill>
        <a:latin typeface="Arial" panose="020B0604020202020204" pitchFamily="34" charset="0"/>
        <a:ea typeface="华文琥珀" panose="02010800040101010101" pitchFamily="2" charset="-122"/>
        <a:cs typeface="+mn-cs"/>
      </a:defRPr>
    </a:lvl6pPr>
    <a:lvl7pPr marL="2743200" algn="l" defTabSz="914400" rtl="0" eaLnBrk="1" latinLnBrk="0" hangingPunct="1">
      <a:defRPr sz="1600" kern="1200">
        <a:solidFill>
          <a:schemeClr val="tx1"/>
        </a:solidFill>
        <a:latin typeface="Arial" panose="020B0604020202020204" pitchFamily="34" charset="0"/>
        <a:ea typeface="华文琥珀" panose="02010800040101010101" pitchFamily="2" charset="-122"/>
        <a:cs typeface="+mn-cs"/>
      </a:defRPr>
    </a:lvl7pPr>
    <a:lvl8pPr marL="3200400" algn="l" defTabSz="914400" rtl="0" eaLnBrk="1" latinLnBrk="0" hangingPunct="1">
      <a:defRPr sz="1600" kern="1200">
        <a:solidFill>
          <a:schemeClr val="tx1"/>
        </a:solidFill>
        <a:latin typeface="Arial" panose="020B0604020202020204" pitchFamily="34" charset="0"/>
        <a:ea typeface="华文琥珀" panose="02010800040101010101" pitchFamily="2" charset="-122"/>
        <a:cs typeface="+mn-cs"/>
      </a:defRPr>
    </a:lvl8pPr>
    <a:lvl9pPr marL="3657600" algn="l" defTabSz="914400" rtl="0" eaLnBrk="1" latinLnBrk="0" hangingPunct="1">
      <a:defRPr sz="1600" kern="1200">
        <a:solidFill>
          <a:schemeClr val="tx1"/>
        </a:solidFill>
        <a:latin typeface="Arial" panose="020B0604020202020204" pitchFamily="34" charset="0"/>
        <a:ea typeface="华文琥珀" panose="02010800040101010101" pitchFamily="2" charset="-122"/>
        <a:cs typeface="+mn-cs"/>
      </a:defRPr>
    </a:lvl9pPr>
  </p:defaultTextStyle>
  <p:extLst>
    <p:ext uri="{EFAFB233-063F-42B5-8137-9DF3F51BA10A}">
      <p15:sldGuideLst xmlns:p15="http://schemas.microsoft.com/office/powerpoint/2012/main">
        <p15:guide id="1" orient="horz" pos="3339"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6B600"/>
    <a:srgbClr val="FFFFFF"/>
    <a:srgbClr val="317200"/>
    <a:srgbClr val="1ECE06"/>
    <a:srgbClr val="83F327"/>
    <a:srgbClr val="67CB08"/>
    <a:srgbClr val="FFAF17"/>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849" autoAdjust="0"/>
    <p:restoredTop sz="81028" autoAdjust="0"/>
  </p:normalViewPr>
  <p:slideViewPr>
    <p:cSldViewPr snapToGrid="0" showGuides="1">
      <p:cViewPr varScale="1">
        <p:scale>
          <a:sx n="44" d="100"/>
          <a:sy n="44" d="100"/>
        </p:scale>
        <p:origin x="699" y="0"/>
      </p:cViewPr>
      <p:guideLst>
        <p:guide orient="horz" pos="3339"/>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slideMaster" Target="slideMasters/slideMaster1.xml"/><Relationship Id="rId6"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0.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image" Target="../media/image42.wmf"/><Relationship Id="rId1" Type="http://schemas.openxmlformats.org/officeDocument/2006/relationships/image" Target="../media/image41.wmf"/><Relationship Id="rId4" Type="http://schemas.openxmlformats.org/officeDocument/2006/relationships/image" Target="../media/image44.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5.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6.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0B9ED55A-8A0F-41D9-B782-5CB6AA9AB53A}"/>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a:extLst>
              <a:ext uri="{FF2B5EF4-FFF2-40B4-BE49-F238E27FC236}">
                <a16:creationId xmlns:a16="http://schemas.microsoft.com/office/drawing/2014/main" id="{2246F30F-A725-43DD-9D8B-5678D549CF95}"/>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9A130F76-144A-4A86-A537-91E36D64BA6E}" type="datetimeFigureOut">
              <a:rPr lang="zh-CN" altLang="en-US"/>
              <a:pPr>
                <a:defRPr/>
              </a:pPr>
              <a:t>2025/9/16</a:t>
            </a:fld>
            <a:endParaRPr lang="zh-CN" altLang="en-US"/>
          </a:p>
        </p:txBody>
      </p:sp>
      <p:sp>
        <p:nvSpPr>
          <p:cNvPr id="4" name="幻灯片图像占位符 3">
            <a:extLst>
              <a:ext uri="{FF2B5EF4-FFF2-40B4-BE49-F238E27FC236}">
                <a16:creationId xmlns:a16="http://schemas.microsoft.com/office/drawing/2014/main" id="{B0D2CB91-422D-453D-AE0D-F0915827A142}"/>
              </a:ext>
            </a:extLst>
          </p:cNvPr>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F5278309-BA66-44C0-9D6B-F53EFBDFEBE7}"/>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A9824191-5711-44B5-9F4B-96CA8D935987}"/>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a:extLst>
              <a:ext uri="{FF2B5EF4-FFF2-40B4-BE49-F238E27FC236}">
                <a16:creationId xmlns:a16="http://schemas.microsoft.com/office/drawing/2014/main" id="{41A5FE52-0884-4AEE-9DD3-887DB69BC519}"/>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50B6BF52-6F90-47C4-B80C-D1C9D4B5FD3A}" type="slidenum">
              <a:rPr lang="zh-CN" altLang="en-US"/>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u="none" strike="noStrike" kern="1200" baseline="0" dirty="0">
                <a:solidFill>
                  <a:schemeClr val="tx1"/>
                </a:solidFill>
                <a:latin typeface="+mn-lt"/>
                <a:ea typeface="+mn-ea"/>
                <a:cs typeface="+mn-cs"/>
              </a:rPr>
              <a:t>c</a:t>
            </a:r>
            <a:r>
              <a:rPr lang="zh-CN" altLang="en-US" sz="1200" b="0" i="0" u="none" strike="noStrike" kern="1200" baseline="0" dirty="0">
                <a:solidFill>
                  <a:schemeClr val="tx1"/>
                </a:solidFill>
                <a:latin typeface="+mn-lt"/>
                <a:ea typeface="+mn-ea"/>
                <a:cs typeface="+mn-cs"/>
              </a:rPr>
              <a:t>（光速）</a:t>
            </a:r>
            <a:r>
              <a:rPr lang="en-US" altLang="zh-CN" sz="1200" b="0" i="0" u="none" strike="noStrike" kern="1200" baseline="0" dirty="0">
                <a:solidFill>
                  <a:schemeClr val="tx1"/>
                </a:solidFill>
                <a:latin typeface="+mn-lt"/>
                <a:ea typeface="+mn-ea"/>
                <a:cs typeface="+mn-cs"/>
              </a:rPr>
              <a:t> </a:t>
            </a:r>
            <a:r>
              <a:rPr lang="zh-CN" altLang="en-US" sz="1200" b="0" i="0" u="none" strike="noStrike" kern="1200" baseline="0" dirty="0">
                <a:solidFill>
                  <a:schemeClr val="tx1"/>
                </a:solidFill>
                <a:latin typeface="+mn-lt"/>
                <a:ea typeface="+mn-ea"/>
                <a:cs typeface="+mn-cs"/>
              </a:rPr>
              <a:t>＝ </a:t>
            </a:r>
            <a:r>
              <a:rPr lang="el-GR" altLang="zh-CN" sz="1200" b="0" i="0" u="none" strike="noStrike" kern="1200" baseline="0" dirty="0">
                <a:solidFill>
                  <a:schemeClr val="tx1"/>
                </a:solidFill>
                <a:latin typeface="+mn-lt"/>
                <a:ea typeface="+mn-ea"/>
                <a:cs typeface="+mn-cs"/>
              </a:rPr>
              <a:t>λ</a:t>
            </a:r>
            <a:r>
              <a:rPr lang="zh-CN" altLang="en-US" sz="1200" b="0" i="0" u="none" strike="noStrike" kern="1200" baseline="0" dirty="0">
                <a:solidFill>
                  <a:schemeClr val="tx1"/>
                </a:solidFill>
                <a:latin typeface="+mn-lt"/>
                <a:ea typeface="+mn-ea"/>
                <a:cs typeface="+mn-cs"/>
              </a:rPr>
              <a:t>（波长）</a:t>
            </a:r>
            <a:r>
              <a:rPr lang="en-US" altLang="zh-CN" sz="1200" b="0" i="0" u="none" strike="noStrike" kern="1200" baseline="0" dirty="0">
                <a:solidFill>
                  <a:schemeClr val="tx1"/>
                </a:solidFill>
                <a:latin typeface="+mn-lt"/>
                <a:ea typeface="+mn-ea"/>
                <a:cs typeface="+mn-cs"/>
              </a:rPr>
              <a:t>* f</a:t>
            </a:r>
            <a:r>
              <a:rPr lang="zh-CN" altLang="en-US" sz="1200" b="0" i="0" u="none" strike="noStrike" kern="1200" baseline="0" dirty="0">
                <a:solidFill>
                  <a:schemeClr val="tx1"/>
                </a:solidFill>
                <a:latin typeface="+mn-lt"/>
                <a:ea typeface="+mn-ea"/>
                <a:cs typeface="+mn-cs"/>
              </a:rPr>
              <a:t>（频率）</a:t>
            </a:r>
            <a:r>
              <a:rPr lang="en-US" altLang="zh-CN" sz="1200" b="0" i="0" u="none" strike="noStrike" kern="1200" baseline="0" dirty="0">
                <a:solidFill>
                  <a:schemeClr val="tx1"/>
                </a:solidFill>
                <a:latin typeface="+mn-lt"/>
                <a:ea typeface="+mn-ea"/>
                <a:cs typeface="+mn-cs"/>
              </a:rPr>
              <a:t> </a:t>
            </a:r>
            <a:endParaRPr lang="zh-CN" altLang="en-US" dirty="0"/>
          </a:p>
        </p:txBody>
      </p:sp>
      <p:sp>
        <p:nvSpPr>
          <p:cNvPr id="4" name="灯片编号占位符 3"/>
          <p:cNvSpPr>
            <a:spLocks noGrp="1"/>
          </p:cNvSpPr>
          <p:nvPr>
            <p:ph type="sldNum" sz="quarter" idx="5"/>
          </p:nvPr>
        </p:nvSpPr>
        <p:spPr/>
        <p:txBody>
          <a:bodyPr/>
          <a:lstStyle/>
          <a:p>
            <a:fld id="{50B6BF52-6F90-47C4-B80C-D1C9D4B5FD3A}" type="slidenum">
              <a:rPr lang="zh-CN" altLang="en-US" smtClean="0"/>
              <a:pPr/>
              <a:t>3</a:t>
            </a:fld>
            <a:endParaRPr lang="zh-CN" altLang="en-US"/>
          </a:p>
        </p:txBody>
      </p:sp>
    </p:spTree>
    <p:extLst>
      <p:ext uri="{BB962C8B-B14F-4D97-AF65-F5344CB8AC3E}">
        <p14:creationId xmlns:p14="http://schemas.microsoft.com/office/powerpoint/2010/main" val="13387302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u="none" strike="noStrike" kern="1200" baseline="0" dirty="0">
                <a:solidFill>
                  <a:schemeClr val="tx1"/>
                </a:solidFill>
                <a:latin typeface="+mn-lt"/>
                <a:ea typeface="+mn-ea"/>
                <a:cs typeface="+mn-cs"/>
              </a:rPr>
              <a:t>主频率的</a:t>
            </a:r>
            <a:r>
              <a:rPr lang="en-US" altLang="zh-CN" sz="1200" b="0" i="0" u="none" strike="noStrike" kern="1200" baseline="0" dirty="0">
                <a:solidFill>
                  <a:schemeClr val="tx1"/>
                </a:solidFill>
                <a:latin typeface="+mn-lt"/>
                <a:ea typeface="+mn-ea"/>
                <a:cs typeface="+mn-cs"/>
              </a:rPr>
              <a:t>E</a:t>
            </a:r>
            <a:r>
              <a:rPr lang="en-US" altLang="zh-CN" sz="1200" b="0" i="0" u="none" strike="noStrike" kern="1200" baseline="-25000" dirty="0">
                <a:solidFill>
                  <a:schemeClr val="tx1"/>
                </a:solidFill>
                <a:latin typeface="+mn-lt"/>
                <a:ea typeface="+mn-ea"/>
                <a:cs typeface="+mn-cs"/>
              </a:rPr>
              <a:t>D</a:t>
            </a:r>
            <a:r>
              <a:rPr lang="zh-CN" altLang="en-US" sz="1200" b="0" i="0" u="none" strike="noStrike" kern="1200" baseline="0" dirty="0">
                <a:solidFill>
                  <a:schemeClr val="tx1"/>
                </a:solidFill>
                <a:latin typeface="+mn-lt"/>
                <a:ea typeface="+mn-ea"/>
                <a:cs typeface="+mn-cs"/>
              </a:rPr>
              <a:t>与白色光线成分</a:t>
            </a:r>
            <a:r>
              <a:rPr lang="en-US" altLang="zh-CN" sz="1200" b="0" i="0" u="none" strike="noStrike" kern="1200" baseline="0" dirty="0" err="1">
                <a:solidFill>
                  <a:schemeClr val="tx1"/>
                </a:solidFill>
                <a:latin typeface="+mn-lt"/>
                <a:ea typeface="+mn-ea"/>
                <a:cs typeface="+mn-cs"/>
              </a:rPr>
              <a:t>E</a:t>
            </a:r>
            <a:r>
              <a:rPr lang="en-US" altLang="zh-CN" sz="1200" b="0" i="0" u="none" strike="noStrike" kern="1200" baseline="-25000" dirty="0" err="1">
                <a:solidFill>
                  <a:schemeClr val="tx1"/>
                </a:solidFill>
                <a:latin typeface="+mn-lt"/>
                <a:ea typeface="+mn-ea"/>
                <a:cs typeface="+mn-cs"/>
              </a:rPr>
              <a:t>w</a:t>
            </a:r>
            <a:r>
              <a:rPr lang="zh-CN" altLang="en-US" sz="1200" b="0" i="0" u="none" strike="noStrike" kern="1200" baseline="0" dirty="0">
                <a:solidFill>
                  <a:schemeClr val="tx1"/>
                </a:solidFill>
                <a:latin typeface="+mn-lt"/>
                <a:ea typeface="+mn-ea"/>
                <a:cs typeface="+mn-cs"/>
              </a:rPr>
              <a:t>相比越大，则光的纯度越大。当</a:t>
            </a:r>
            <a:r>
              <a:rPr lang="en-US" altLang="zh-CN" sz="1200" b="0" i="0" u="none" strike="noStrike" kern="1200" baseline="0" dirty="0" err="1">
                <a:solidFill>
                  <a:schemeClr val="tx1"/>
                </a:solidFill>
                <a:latin typeface="+mn-lt"/>
                <a:ea typeface="+mn-ea"/>
                <a:cs typeface="+mn-cs"/>
              </a:rPr>
              <a:t>E</a:t>
            </a:r>
            <a:r>
              <a:rPr lang="en-US" altLang="zh-CN" sz="1200" b="0" i="0" u="none" strike="noStrike" kern="1200" baseline="-25000" dirty="0" err="1">
                <a:solidFill>
                  <a:schemeClr val="tx1"/>
                </a:solidFill>
                <a:latin typeface="+mn-lt"/>
                <a:ea typeface="+mn-ea"/>
                <a:cs typeface="+mn-cs"/>
              </a:rPr>
              <a:t>w</a:t>
            </a:r>
            <a:r>
              <a:rPr lang="en-US" altLang="zh-CN" sz="1200" b="0" i="0" u="none" strike="noStrike" kern="1200" baseline="0" dirty="0">
                <a:solidFill>
                  <a:schemeClr val="tx1"/>
                </a:solidFill>
                <a:latin typeface="+mn-lt"/>
                <a:ea typeface="+mn-ea"/>
                <a:cs typeface="+mn-cs"/>
              </a:rPr>
              <a:t> =0 </a:t>
            </a:r>
            <a:r>
              <a:rPr lang="zh-CN" altLang="en-US" sz="1200" b="0" i="0" u="none" strike="noStrike" kern="1200" baseline="0" dirty="0">
                <a:solidFill>
                  <a:schemeClr val="tx1"/>
                </a:solidFill>
                <a:latin typeface="+mn-lt"/>
                <a:ea typeface="+mn-ea"/>
                <a:cs typeface="+mn-cs"/>
              </a:rPr>
              <a:t>时纯度为</a:t>
            </a:r>
            <a:r>
              <a:rPr lang="en-US" altLang="zh-CN" sz="1200" b="0" i="0" u="none" strike="noStrike" kern="1200" baseline="0" dirty="0">
                <a:solidFill>
                  <a:schemeClr val="tx1"/>
                </a:solidFill>
                <a:latin typeface="+mn-lt"/>
                <a:ea typeface="+mn-ea"/>
                <a:cs typeface="+mn-cs"/>
              </a:rPr>
              <a:t>100% </a:t>
            </a:r>
            <a:r>
              <a:rPr lang="zh-CN" altLang="en-US" sz="1200" b="0" i="0" u="none" strike="noStrike" kern="1200" baseline="0" dirty="0">
                <a:solidFill>
                  <a:schemeClr val="tx1"/>
                </a:solidFill>
                <a:latin typeface="+mn-lt"/>
                <a:ea typeface="+mn-ea"/>
                <a:cs typeface="+mn-cs"/>
              </a:rPr>
              <a:t>，而两者相等时纯度为</a:t>
            </a:r>
            <a:r>
              <a:rPr lang="en-US" altLang="zh-CN" sz="1200" b="0" i="0" u="none" strike="noStrike" kern="1200" baseline="0" dirty="0">
                <a:solidFill>
                  <a:schemeClr val="tx1"/>
                </a:solidFill>
                <a:latin typeface="+mn-lt"/>
                <a:ea typeface="+mn-ea"/>
                <a:cs typeface="+mn-cs"/>
              </a:rPr>
              <a:t>0%</a:t>
            </a:r>
            <a:endParaRPr lang="zh-CN" altLang="en-US" dirty="0"/>
          </a:p>
        </p:txBody>
      </p:sp>
      <p:sp>
        <p:nvSpPr>
          <p:cNvPr id="4" name="灯片编号占位符 3"/>
          <p:cNvSpPr>
            <a:spLocks noGrp="1"/>
          </p:cNvSpPr>
          <p:nvPr>
            <p:ph type="sldNum" sz="quarter" idx="5"/>
          </p:nvPr>
        </p:nvSpPr>
        <p:spPr/>
        <p:txBody>
          <a:bodyPr/>
          <a:lstStyle/>
          <a:p>
            <a:fld id="{50B6BF52-6F90-47C4-B80C-D1C9D4B5FD3A}" type="slidenum">
              <a:rPr lang="zh-CN" altLang="en-US" smtClean="0"/>
              <a:pPr/>
              <a:t>4</a:t>
            </a:fld>
            <a:endParaRPr lang="zh-CN" altLang="en-US"/>
          </a:p>
        </p:txBody>
      </p:sp>
    </p:spTree>
    <p:extLst>
      <p:ext uri="{BB962C8B-B14F-4D97-AF65-F5344CB8AC3E}">
        <p14:creationId xmlns:p14="http://schemas.microsoft.com/office/powerpoint/2010/main" val="42272040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0B6BF52-6F90-47C4-B80C-D1C9D4B5FD3A}" type="slidenum">
              <a:rPr lang="zh-CN" altLang="en-US" smtClean="0"/>
              <a:pPr/>
              <a:t>8</a:t>
            </a:fld>
            <a:endParaRPr lang="zh-CN" altLang="en-US"/>
          </a:p>
        </p:txBody>
      </p:sp>
    </p:spTree>
    <p:extLst>
      <p:ext uri="{BB962C8B-B14F-4D97-AF65-F5344CB8AC3E}">
        <p14:creationId xmlns:p14="http://schemas.microsoft.com/office/powerpoint/2010/main" val="37578658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幻灯片图像占位符 1">
            <a:extLst>
              <a:ext uri="{FF2B5EF4-FFF2-40B4-BE49-F238E27FC236}">
                <a16:creationId xmlns:a16="http://schemas.microsoft.com/office/drawing/2014/main" id="{5CC84A0A-18D1-4E2F-8256-784A46E17697}"/>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备注占位符 2">
            <a:extLst>
              <a:ext uri="{FF2B5EF4-FFF2-40B4-BE49-F238E27FC236}">
                <a16:creationId xmlns:a16="http://schemas.microsoft.com/office/drawing/2014/main" id="{0787B9D0-AACD-4577-9418-EBF70CA45B1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34820" name="灯片编号占位符 3">
            <a:extLst>
              <a:ext uri="{FF2B5EF4-FFF2-40B4-BE49-F238E27FC236}">
                <a16:creationId xmlns:a16="http://schemas.microsoft.com/office/drawing/2014/main" id="{59B6D56B-4996-4BFE-BDF3-B82C86839C5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2C5FA2B4-50DB-4240-ADA7-DEAFCF726781}" type="slidenum">
              <a:rPr lang="zh-CN" altLang="en-US" sz="1200"/>
              <a:pPr eaLnBrk="1" hangingPunct="1"/>
              <a:t>14</a:t>
            </a:fld>
            <a:endParaRPr lang="zh-CN" alt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0B6BF52-6F90-47C4-B80C-D1C9D4B5FD3A}" type="slidenum">
              <a:rPr lang="zh-CN" altLang="en-US" smtClean="0"/>
              <a:pPr/>
              <a:t>22</a:t>
            </a:fld>
            <a:endParaRPr lang="zh-CN" altLang="en-US"/>
          </a:p>
        </p:txBody>
      </p:sp>
    </p:spTree>
    <p:extLst>
      <p:ext uri="{BB962C8B-B14F-4D97-AF65-F5344CB8AC3E}">
        <p14:creationId xmlns:p14="http://schemas.microsoft.com/office/powerpoint/2010/main" val="14610128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0B6BF52-6F90-47C4-B80C-D1C9D4B5FD3A}" type="slidenum">
              <a:rPr lang="zh-CN" altLang="en-US" smtClean="0"/>
              <a:pPr/>
              <a:t>31</a:t>
            </a:fld>
            <a:endParaRPr lang="zh-CN" altLang="en-US"/>
          </a:p>
        </p:txBody>
      </p:sp>
    </p:spTree>
    <p:extLst>
      <p:ext uri="{BB962C8B-B14F-4D97-AF65-F5344CB8AC3E}">
        <p14:creationId xmlns:p14="http://schemas.microsoft.com/office/powerpoint/2010/main" val="32938185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0B6BF52-6F90-47C4-B80C-D1C9D4B5FD3A}" type="slidenum">
              <a:rPr lang="zh-CN" altLang="en-US" smtClean="0"/>
              <a:pPr/>
              <a:t>35</a:t>
            </a:fld>
            <a:endParaRPr lang="zh-CN" altLang="en-US"/>
          </a:p>
        </p:txBody>
      </p:sp>
    </p:spTree>
    <p:extLst>
      <p:ext uri="{BB962C8B-B14F-4D97-AF65-F5344CB8AC3E}">
        <p14:creationId xmlns:p14="http://schemas.microsoft.com/office/powerpoint/2010/main" val="29240144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遗留问题？</a:t>
            </a:r>
          </a:p>
        </p:txBody>
      </p:sp>
      <p:sp>
        <p:nvSpPr>
          <p:cNvPr id="4" name="灯片编号占位符 3"/>
          <p:cNvSpPr>
            <a:spLocks noGrp="1"/>
          </p:cNvSpPr>
          <p:nvPr>
            <p:ph type="sldNum" sz="quarter" idx="5"/>
          </p:nvPr>
        </p:nvSpPr>
        <p:spPr/>
        <p:txBody>
          <a:bodyPr/>
          <a:lstStyle/>
          <a:p>
            <a:fld id="{50B6BF52-6F90-47C4-B80C-D1C9D4B5FD3A}" type="slidenum">
              <a:rPr lang="zh-CN" altLang="en-US" smtClean="0"/>
              <a:pPr/>
              <a:t>39</a:t>
            </a:fld>
            <a:endParaRPr lang="zh-CN" altLang="en-US"/>
          </a:p>
        </p:txBody>
      </p:sp>
    </p:spTree>
    <p:extLst>
      <p:ext uri="{BB962C8B-B14F-4D97-AF65-F5344CB8AC3E}">
        <p14:creationId xmlns:p14="http://schemas.microsoft.com/office/powerpoint/2010/main" val="28073191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0B6BF52-6F90-47C4-B80C-D1C9D4B5FD3A}" type="slidenum">
              <a:rPr lang="zh-CN" altLang="en-US" smtClean="0"/>
              <a:pPr/>
              <a:t>42</a:t>
            </a:fld>
            <a:endParaRPr lang="zh-CN" altLang="en-US"/>
          </a:p>
        </p:txBody>
      </p:sp>
    </p:spTree>
    <p:extLst>
      <p:ext uri="{BB962C8B-B14F-4D97-AF65-F5344CB8AC3E}">
        <p14:creationId xmlns:p14="http://schemas.microsoft.com/office/powerpoint/2010/main" val="552159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8098434"/>
      </p:ext>
    </p:extLst>
  </p:cSld>
  <p:clrMapOvr>
    <a:masterClrMapping/>
  </p:clrMapOvr>
  <p:transition>
    <p:random/>
  </p:transition>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7" name="Rectangle 3"/>
          <p:cNvSpPr>
            <a:spLocks noGrp="1" noChangeArrowheads="1"/>
          </p:cNvSpPr>
          <p:nvPr>
            <p:ph idx="4294967295"/>
          </p:nvPr>
        </p:nvSpPr>
        <p:spPr>
          <a:xfrm>
            <a:off x="880534" y="1162052"/>
            <a:ext cx="10866967" cy="298542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Rectangle 5"/>
          <p:cNvSpPr>
            <a:spLocks noGrp="1" noChangeArrowheads="1"/>
          </p:cNvSpPr>
          <p:nvPr>
            <p:ph type="title"/>
          </p:nvPr>
        </p:nvSpPr>
        <p:spPr bwMode="auto">
          <a:xfrm>
            <a:off x="1064195" y="50802"/>
            <a:ext cx="11017739" cy="701675"/>
          </a:xfrm>
          <a:prstGeom prst="rect">
            <a:avLst/>
          </a:prstGeom>
          <a:noFill/>
          <a:ln w="9525">
            <a:noFill/>
            <a:miter lim="800000"/>
            <a:headEnd/>
            <a:tailEnd/>
          </a:ln>
        </p:spPr>
        <p:txBody>
          <a:bodyPr/>
          <a:lstStyle>
            <a:lvl1pPr>
              <a:defRPr>
                <a:latin typeface="Times New Roman" panose="02020603050405020304" pitchFamily="18" charset="0"/>
                <a:cs typeface="Times New Roman" panose="02020603050405020304" pitchFamily="18" charset="0"/>
              </a:defRPr>
            </a:lvl1pPr>
          </a:lstStyle>
          <a:p>
            <a:pPr lvl="0"/>
            <a:r>
              <a:rPr lang="zh-CN" altLang="en-US" dirty="0"/>
              <a:t>单击此处编辑母版标题样式</a:t>
            </a:r>
            <a:endParaRPr lang="en-GB" altLang="zh-CN" dirty="0"/>
          </a:p>
        </p:txBody>
      </p:sp>
    </p:spTree>
    <p:extLst>
      <p:ext uri="{BB962C8B-B14F-4D97-AF65-F5344CB8AC3E}">
        <p14:creationId xmlns:p14="http://schemas.microsoft.com/office/powerpoint/2010/main" val="4224289978"/>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5" name="Rectangle 5"/>
          <p:cNvSpPr>
            <a:spLocks noGrp="1" noChangeArrowheads="1"/>
          </p:cNvSpPr>
          <p:nvPr>
            <p:ph type="title"/>
          </p:nvPr>
        </p:nvSpPr>
        <p:spPr bwMode="auto">
          <a:xfrm>
            <a:off x="1064195" y="50802"/>
            <a:ext cx="11017739" cy="701675"/>
          </a:xfrm>
          <a:prstGeom prst="rect">
            <a:avLst/>
          </a:prstGeom>
          <a:noFill/>
          <a:ln w="9525">
            <a:noFill/>
            <a:miter lim="800000"/>
            <a:headEnd/>
            <a:tailEnd/>
          </a:ln>
        </p:spPr>
        <p:txBody>
          <a:bodyPr/>
          <a:lstStyle/>
          <a:p>
            <a:pPr lvl="0"/>
            <a:r>
              <a:rPr lang="zh-CN" altLang="en-US"/>
              <a:t>单击此处编辑母版标题样式</a:t>
            </a:r>
            <a:endParaRPr lang="en-GB" altLang="zh-CN" dirty="0"/>
          </a:p>
        </p:txBody>
      </p:sp>
    </p:spTree>
    <p:extLst>
      <p:ext uri="{BB962C8B-B14F-4D97-AF65-F5344CB8AC3E}">
        <p14:creationId xmlns:p14="http://schemas.microsoft.com/office/powerpoint/2010/main" val="783996217"/>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6350603"/>
      </p:ext>
    </p:extLst>
  </p:cSld>
  <p:clrMapOvr>
    <a:masterClrMapping/>
  </p:clrMapOvr>
  <p:transition>
    <p:random/>
  </p:transition>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4.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4" name="Rectangle 20">
            <a:extLst>
              <a:ext uri="{FF2B5EF4-FFF2-40B4-BE49-F238E27FC236}">
                <a16:creationId xmlns:a16="http://schemas.microsoft.com/office/drawing/2014/main" id="{82AC8A9E-D3EE-4E4F-A317-3CBB3282FB63}"/>
              </a:ext>
            </a:extLst>
          </p:cNvPr>
          <p:cNvSpPr>
            <a:spLocks noChangeArrowheads="1"/>
          </p:cNvSpPr>
          <p:nvPr/>
        </p:nvSpPr>
        <p:spPr bwMode="auto">
          <a:xfrm>
            <a:off x="0" y="6366414"/>
            <a:ext cx="12192000" cy="492125"/>
          </a:xfrm>
          <a:prstGeom prst="rect">
            <a:avLst/>
          </a:prstGeom>
          <a:gradFill rotWithShape="1">
            <a:gsLst>
              <a:gs pos="0">
                <a:srgbClr val="7889FB"/>
              </a:gs>
              <a:gs pos="100000">
                <a:srgbClr val="383F74"/>
              </a:gs>
            </a:gsLst>
            <a:lin ang="0" scaled="1"/>
          </a:gradFill>
          <a:ln w="9525">
            <a:noFill/>
            <a:miter lim="800000"/>
            <a:headEnd/>
            <a:tailEnd/>
          </a:ln>
        </p:spPr>
        <p:txBody>
          <a:bodyPr wrap="none" lIns="91429" tIns="45714" rIns="91429" bIns="45714" anchor="ctr"/>
          <a:lstStyle/>
          <a:p>
            <a:pPr>
              <a:defRPr/>
            </a:pPr>
            <a:r>
              <a:rPr lang="zh-CN" altLang="en-US" sz="2000" b="1" dirty="0">
                <a:solidFill>
                  <a:schemeClr val="bg1"/>
                </a:solidFill>
                <a:latin typeface="华文新魏" pitchFamily="2" charset="-122"/>
                <a:ea typeface="华文新魏" pitchFamily="2" charset="-122"/>
              </a:rPr>
              <a:t>电子科技大学</a:t>
            </a:r>
          </a:p>
        </p:txBody>
      </p:sp>
      <p:sp>
        <p:nvSpPr>
          <p:cNvPr id="2050" name="Rectangle 2">
            <a:extLst>
              <a:ext uri="{FF2B5EF4-FFF2-40B4-BE49-F238E27FC236}">
                <a16:creationId xmlns:a16="http://schemas.microsoft.com/office/drawing/2014/main" id="{7A6AEEDB-A218-431B-A1B9-F5B413B1776B}"/>
              </a:ext>
            </a:extLst>
          </p:cNvPr>
          <p:cNvSpPr>
            <a:spLocks noChangeArrowheads="1"/>
          </p:cNvSpPr>
          <p:nvPr/>
        </p:nvSpPr>
        <p:spPr bwMode="auto">
          <a:xfrm>
            <a:off x="3945467" y="6016626"/>
            <a:ext cx="4773084" cy="555625"/>
          </a:xfrm>
          <a:prstGeom prst="rect">
            <a:avLst/>
          </a:prstGeom>
          <a:noFill/>
          <a:ln w="9525">
            <a:noFill/>
            <a:miter lim="800000"/>
            <a:headEnd/>
            <a:tailEnd/>
          </a:ln>
        </p:spPr>
        <p:txBody>
          <a:bodyPr lIns="91429" tIns="45714" rIns="91429" bIns="45714"/>
          <a:lstStyle/>
          <a:p>
            <a:pPr eaLnBrk="0" hangingPunct="0">
              <a:defRPr/>
            </a:pPr>
            <a:endParaRPr lang="en-US" altLang="zh-CN" sz="1600">
              <a:latin typeface="Times New Roman" pitchFamily="18" charset="0"/>
            </a:endParaRPr>
          </a:p>
        </p:txBody>
      </p:sp>
      <p:sp>
        <p:nvSpPr>
          <p:cNvPr id="139266" name="AutoShape 2" descr="http://t11.baidu.com/it/u=975435960,157200472&amp;fm=21&amp;gp=0.jpg">
            <a:extLst>
              <a:ext uri="{FF2B5EF4-FFF2-40B4-BE49-F238E27FC236}">
                <a16:creationId xmlns:a16="http://schemas.microsoft.com/office/drawing/2014/main" id="{17A1FF9F-8B16-4FF8-89C6-EE525A8D10A7}"/>
              </a:ext>
            </a:extLst>
          </p:cNvPr>
          <p:cNvSpPr>
            <a:spLocks noChangeAspect="1" noChangeArrowheads="1"/>
          </p:cNvSpPr>
          <p:nvPr/>
        </p:nvSpPr>
        <p:spPr bwMode="auto">
          <a:xfrm>
            <a:off x="218017" y="-144463"/>
            <a:ext cx="406400" cy="304801"/>
          </a:xfrm>
          <a:prstGeom prst="rect">
            <a:avLst/>
          </a:prstGeom>
          <a:noFill/>
        </p:spPr>
        <p:txBody>
          <a:bodyPr lIns="91429" tIns="45714" rIns="91429" bIns="45714"/>
          <a:lstStyle/>
          <a:p>
            <a:pPr>
              <a:defRPr/>
            </a:pPr>
            <a:endParaRPr lang="zh-CN" altLang="en-US" sz="1600"/>
          </a:p>
        </p:txBody>
      </p:sp>
      <p:pic>
        <p:nvPicPr>
          <p:cNvPr id="1026" name="Picture 2" descr="http://t13.baidu.com/it/u=1814656950,1493058970&amp;fm=224&amp;app=112&amp;f=JPEG?w=500&amp;h=500">
            <a:extLst>
              <a:ext uri="{FF2B5EF4-FFF2-40B4-BE49-F238E27FC236}">
                <a16:creationId xmlns:a16="http://schemas.microsoft.com/office/drawing/2014/main" id="{2ED4CD40-7817-4634-AA1E-5F8765822AE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1500" t="10689" r="21272" b="9176"/>
          <a:stretch/>
        </p:blipFill>
        <p:spPr bwMode="auto">
          <a:xfrm>
            <a:off x="5507710" y="152776"/>
            <a:ext cx="1199756" cy="1260000"/>
          </a:xfrm>
          <a:prstGeom prst="rect">
            <a:avLst/>
          </a:prstGeom>
          <a:noFill/>
          <a:extLst>
            <a:ext uri="{909E8E84-426E-40DD-AFC4-6F175D3DCCD1}">
              <a14:hiddenFill xmlns:a14="http://schemas.microsoft.com/office/drawing/2010/main">
                <a:solidFill>
                  <a:srgbClr val="FFFFFF"/>
                </a:solidFill>
              </a14:hiddenFill>
            </a:ext>
          </a:extLst>
        </p:spPr>
      </p:pic>
      <p:pic>
        <p:nvPicPr>
          <p:cNvPr id="7" name="图片 6">
            <a:extLst>
              <a:ext uri="{FF2B5EF4-FFF2-40B4-BE49-F238E27FC236}">
                <a16:creationId xmlns:a16="http://schemas.microsoft.com/office/drawing/2014/main" id="{F44A2DB1-B297-4062-9648-DC005C16DF0E}"/>
              </a:ext>
            </a:extLst>
          </p:cNvPr>
          <p:cNvPicPr>
            <a:picLocks noChangeAspect="1"/>
          </p:cNvPicPr>
          <p:nvPr/>
        </p:nvPicPr>
        <p:blipFill rotWithShape="1">
          <a:blip r:embed="rId4">
            <a:extLst>
              <a:ext uri="{28A0092B-C50C-407E-A947-70E740481C1C}">
                <a14:useLocalDpi xmlns:a14="http://schemas.microsoft.com/office/drawing/2010/main" val="0"/>
              </a:ext>
            </a:extLst>
          </a:blip>
          <a:srcRect l="11235" r="11644"/>
          <a:stretch/>
        </p:blipFill>
        <p:spPr>
          <a:xfrm>
            <a:off x="2846970" y="152776"/>
            <a:ext cx="2291785" cy="1260000"/>
          </a:xfrm>
          <a:prstGeom prst="rect">
            <a:avLst/>
          </a:prstGeom>
        </p:spPr>
      </p:pic>
      <p:pic>
        <p:nvPicPr>
          <p:cNvPr id="21" name="图片 20">
            <a:extLst>
              <a:ext uri="{FF2B5EF4-FFF2-40B4-BE49-F238E27FC236}">
                <a16:creationId xmlns:a16="http://schemas.microsoft.com/office/drawing/2014/main" id="{35E3252F-1C7D-4D00-AD04-B79C5E2AE058}"/>
              </a:ext>
            </a:extLst>
          </p:cNvPr>
          <p:cNvPicPr>
            <a:picLocks noChangeAspect="1"/>
          </p:cNvPicPr>
          <p:nvPr/>
        </p:nvPicPr>
        <p:blipFill rotWithShape="1">
          <a:blip r:embed="rId5"/>
          <a:srcRect l="49891" r="-1" b="49796"/>
          <a:stretch/>
        </p:blipFill>
        <p:spPr>
          <a:xfrm>
            <a:off x="239350" y="152776"/>
            <a:ext cx="2238665" cy="1260000"/>
          </a:xfrm>
          <a:prstGeom prst="rect">
            <a:avLst/>
          </a:prstGeom>
        </p:spPr>
      </p:pic>
      <p:pic>
        <p:nvPicPr>
          <p:cNvPr id="22" name="图片 21">
            <a:extLst>
              <a:ext uri="{FF2B5EF4-FFF2-40B4-BE49-F238E27FC236}">
                <a16:creationId xmlns:a16="http://schemas.microsoft.com/office/drawing/2014/main" id="{E5CC1C3E-381E-4CE6-8E4B-CB87EDE9907C}"/>
              </a:ext>
            </a:extLst>
          </p:cNvPr>
          <p:cNvPicPr>
            <a:picLocks noChangeAspect="1"/>
          </p:cNvPicPr>
          <p:nvPr/>
        </p:nvPicPr>
        <p:blipFill rotWithShape="1">
          <a:blip r:embed="rId5"/>
          <a:srcRect t="49796" r="49890"/>
          <a:stretch/>
        </p:blipFill>
        <p:spPr>
          <a:xfrm>
            <a:off x="7076420" y="152776"/>
            <a:ext cx="2238667" cy="1260000"/>
          </a:xfrm>
          <a:prstGeom prst="rect">
            <a:avLst/>
          </a:prstGeom>
        </p:spPr>
      </p:pic>
      <p:pic>
        <p:nvPicPr>
          <p:cNvPr id="23" name="图片 22">
            <a:extLst>
              <a:ext uri="{FF2B5EF4-FFF2-40B4-BE49-F238E27FC236}">
                <a16:creationId xmlns:a16="http://schemas.microsoft.com/office/drawing/2014/main" id="{59726EE5-F41E-4A75-82F2-3B895A90CCA8}"/>
              </a:ext>
            </a:extLst>
          </p:cNvPr>
          <p:cNvPicPr>
            <a:picLocks noChangeAspect="1"/>
          </p:cNvPicPr>
          <p:nvPr/>
        </p:nvPicPr>
        <p:blipFill rotWithShape="1">
          <a:blip r:embed="rId5"/>
          <a:srcRect l="49621" t="50192"/>
          <a:stretch/>
        </p:blipFill>
        <p:spPr>
          <a:xfrm>
            <a:off x="9684043" y="152776"/>
            <a:ext cx="2268608" cy="1260000"/>
          </a:xfrm>
          <a:prstGeom prst="rect">
            <a:avLst/>
          </a:prstGeom>
        </p:spPr>
      </p:pic>
      <p:pic>
        <p:nvPicPr>
          <p:cNvPr id="24" name="图片 23">
            <a:extLst>
              <a:ext uri="{FF2B5EF4-FFF2-40B4-BE49-F238E27FC236}">
                <a16:creationId xmlns:a16="http://schemas.microsoft.com/office/drawing/2014/main" id="{8567F5C1-B9AD-4F30-B5C2-2342C7046E50}"/>
              </a:ext>
            </a:extLst>
          </p:cNvPr>
          <p:cNvPicPr>
            <a:picLocks/>
          </p:cNvPicPr>
          <p:nvPr/>
        </p:nvPicPr>
        <p:blipFill>
          <a:blip r:embed="rId6"/>
          <a:stretch>
            <a:fillRect/>
          </a:stretch>
        </p:blipFill>
        <p:spPr>
          <a:xfrm>
            <a:off x="11655479" y="6365875"/>
            <a:ext cx="493200" cy="493200"/>
          </a:xfrm>
          <a:prstGeom prst="rect">
            <a:avLst/>
          </a:prstGeom>
        </p:spPr>
      </p:pic>
    </p:spTree>
    <p:extLst>
      <p:ext uri="{BB962C8B-B14F-4D97-AF65-F5344CB8AC3E}">
        <p14:creationId xmlns:p14="http://schemas.microsoft.com/office/powerpoint/2010/main" val="3016141305"/>
      </p:ext>
    </p:extLst>
  </p:cSld>
  <p:clrMap bg1="lt1" tx1="dk1" bg2="lt2" tx2="dk2" accent1="accent1" accent2="accent2" accent3="accent3" accent4="accent4" accent5="accent5" accent6="accent6" hlink="hlink" folHlink="folHlink"/>
  <p:sldLayoutIdLst>
    <p:sldLayoutId id="2147483928" r:id="rId1"/>
  </p:sldLayoutIdLst>
  <p:transition/>
  <p:hf sldNum="0" hdr="0" dt="0"/>
  <p:txStyles>
    <p:titleStyle>
      <a:lvl1pPr algn="l" rtl="0" eaLnBrk="1" fontAlgn="base" hangingPunct="1">
        <a:spcBef>
          <a:spcPct val="0"/>
        </a:spcBef>
        <a:spcAft>
          <a:spcPct val="0"/>
        </a:spcAft>
        <a:defRPr sz="4000" b="1">
          <a:solidFill>
            <a:schemeClr val="tx1"/>
          </a:solidFill>
          <a:latin typeface="+mj-lt"/>
          <a:ea typeface="+mj-ea"/>
          <a:cs typeface="+mj-cs"/>
        </a:defRPr>
      </a:lvl1pPr>
      <a:lvl2pPr algn="l" rtl="0" eaLnBrk="1" fontAlgn="base" hangingPunct="1">
        <a:spcBef>
          <a:spcPct val="0"/>
        </a:spcBef>
        <a:spcAft>
          <a:spcPct val="0"/>
        </a:spcAft>
        <a:defRPr sz="4000" b="1">
          <a:solidFill>
            <a:schemeClr val="tx1"/>
          </a:solidFill>
          <a:latin typeface="隶书" pitchFamily="49" charset="-122"/>
          <a:ea typeface="隶书" pitchFamily="49" charset="-122"/>
        </a:defRPr>
      </a:lvl2pPr>
      <a:lvl3pPr algn="l" rtl="0" eaLnBrk="1" fontAlgn="base" hangingPunct="1">
        <a:spcBef>
          <a:spcPct val="0"/>
        </a:spcBef>
        <a:spcAft>
          <a:spcPct val="0"/>
        </a:spcAft>
        <a:defRPr sz="4000" b="1">
          <a:solidFill>
            <a:schemeClr val="tx1"/>
          </a:solidFill>
          <a:latin typeface="隶书" pitchFamily="49" charset="-122"/>
          <a:ea typeface="隶书" pitchFamily="49" charset="-122"/>
        </a:defRPr>
      </a:lvl3pPr>
      <a:lvl4pPr algn="l" rtl="0" eaLnBrk="1" fontAlgn="base" hangingPunct="1">
        <a:spcBef>
          <a:spcPct val="0"/>
        </a:spcBef>
        <a:spcAft>
          <a:spcPct val="0"/>
        </a:spcAft>
        <a:defRPr sz="4000" b="1">
          <a:solidFill>
            <a:schemeClr val="tx1"/>
          </a:solidFill>
          <a:latin typeface="隶书" pitchFamily="49" charset="-122"/>
          <a:ea typeface="隶书" pitchFamily="49" charset="-122"/>
        </a:defRPr>
      </a:lvl4pPr>
      <a:lvl5pPr algn="l" rtl="0" eaLnBrk="1" fontAlgn="base" hangingPunct="1">
        <a:spcBef>
          <a:spcPct val="0"/>
        </a:spcBef>
        <a:spcAft>
          <a:spcPct val="0"/>
        </a:spcAft>
        <a:defRPr sz="4000" b="1">
          <a:solidFill>
            <a:schemeClr val="tx1"/>
          </a:solidFill>
          <a:latin typeface="隶书" pitchFamily="49" charset="-122"/>
          <a:ea typeface="隶书" pitchFamily="49" charset="-122"/>
        </a:defRPr>
      </a:lvl5pPr>
      <a:lvl6pPr marL="457146" algn="l" rtl="0" eaLnBrk="1" fontAlgn="base" hangingPunct="1">
        <a:spcBef>
          <a:spcPct val="0"/>
        </a:spcBef>
        <a:spcAft>
          <a:spcPct val="0"/>
        </a:spcAft>
        <a:defRPr sz="4000" b="1">
          <a:solidFill>
            <a:schemeClr val="tx1"/>
          </a:solidFill>
          <a:latin typeface="隶书" pitchFamily="49" charset="-122"/>
          <a:ea typeface="隶书" pitchFamily="49" charset="-122"/>
        </a:defRPr>
      </a:lvl6pPr>
      <a:lvl7pPr marL="914293" algn="l" rtl="0" eaLnBrk="1" fontAlgn="base" hangingPunct="1">
        <a:spcBef>
          <a:spcPct val="0"/>
        </a:spcBef>
        <a:spcAft>
          <a:spcPct val="0"/>
        </a:spcAft>
        <a:defRPr sz="4000" b="1">
          <a:solidFill>
            <a:schemeClr val="tx1"/>
          </a:solidFill>
          <a:latin typeface="隶书" pitchFamily="49" charset="-122"/>
          <a:ea typeface="隶书" pitchFamily="49" charset="-122"/>
        </a:defRPr>
      </a:lvl7pPr>
      <a:lvl8pPr marL="1371440" algn="l" rtl="0" eaLnBrk="1" fontAlgn="base" hangingPunct="1">
        <a:spcBef>
          <a:spcPct val="0"/>
        </a:spcBef>
        <a:spcAft>
          <a:spcPct val="0"/>
        </a:spcAft>
        <a:defRPr sz="4000" b="1">
          <a:solidFill>
            <a:schemeClr val="tx1"/>
          </a:solidFill>
          <a:latin typeface="隶书" pitchFamily="49" charset="-122"/>
          <a:ea typeface="隶书" pitchFamily="49" charset="-122"/>
        </a:defRPr>
      </a:lvl8pPr>
      <a:lvl9pPr marL="1828586" algn="l" rtl="0" eaLnBrk="1" fontAlgn="base" hangingPunct="1">
        <a:spcBef>
          <a:spcPct val="0"/>
        </a:spcBef>
        <a:spcAft>
          <a:spcPct val="0"/>
        </a:spcAft>
        <a:defRPr sz="4000" b="1">
          <a:solidFill>
            <a:schemeClr val="tx1"/>
          </a:solidFill>
          <a:latin typeface="隶书" pitchFamily="49" charset="-122"/>
          <a:ea typeface="隶书" pitchFamily="49" charset="-122"/>
        </a:defRPr>
      </a:lvl9pPr>
    </p:titleStyle>
    <p:bodyStyle>
      <a:lvl1pPr marL="354013" indent="-354013" algn="l" rtl="0" eaLnBrk="1" fontAlgn="base" hangingPunct="1">
        <a:lnSpc>
          <a:spcPct val="120000"/>
        </a:lnSpc>
        <a:spcBef>
          <a:spcPct val="20000"/>
        </a:spcBef>
        <a:spcAft>
          <a:spcPct val="0"/>
        </a:spcAft>
        <a:buClr>
          <a:schemeClr val="tx1"/>
        </a:buClr>
        <a:buSzPct val="90000"/>
        <a:buFont typeface="Wingdings" panose="05000000000000000000" pitchFamily="2" charset="2"/>
        <a:buChar char="Ø"/>
        <a:defRPr sz="2800">
          <a:solidFill>
            <a:schemeClr val="tx1"/>
          </a:solidFill>
          <a:latin typeface="+mn-lt"/>
          <a:ea typeface="+mn-ea"/>
          <a:cs typeface="+mn-cs"/>
        </a:defRPr>
      </a:lvl1pPr>
      <a:lvl2pPr marL="898525" indent="-363538" algn="l" rtl="0" eaLnBrk="1" fontAlgn="base" hangingPunct="1">
        <a:lnSpc>
          <a:spcPct val="120000"/>
        </a:lnSpc>
        <a:spcBef>
          <a:spcPct val="20000"/>
        </a:spcBef>
        <a:spcAft>
          <a:spcPct val="0"/>
        </a:spcAft>
        <a:buClr>
          <a:srgbClr val="000066"/>
        </a:buClr>
        <a:buSzPct val="70000"/>
        <a:buFont typeface="Wingdings" panose="05000000000000000000" pitchFamily="2" charset="2"/>
        <a:buChar char="u"/>
        <a:defRPr sz="2800">
          <a:solidFill>
            <a:schemeClr val="tx1"/>
          </a:solidFill>
          <a:latin typeface="+mn-lt"/>
          <a:ea typeface="+mn-ea"/>
        </a:defRPr>
      </a:lvl2pPr>
      <a:lvl3pPr marL="1249363" indent="-169863" algn="l" rtl="0" eaLnBrk="1" fontAlgn="base" hangingPunct="1">
        <a:lnSpc>
          <a:spcPct val="120000"/>
        </a:lnSpc>
        <a:spcBef>
          <a:spcPct val="20000"/>
        </a:spcBef>
        <a:spcAft>
          <a:spcPct val="0"/>
        </a:spcAft>
        <a:buClr>
          <a:schemeClr val="tx2"/>
        </a:buClr>
        <a:buFont typeface="Wingdings" panose="05000000000000000000" pitchFamily="2" charset="2"/>
        <a:buChar char="§"/>
        <a:defRPr sz="2800">
          <a:solidFill>
            <a:schemeClr val="tx1"/>
          </a:solidFill>
          <a:latin typeface="+mn-lt"/>
          <a:ea typeface="+mn-ea"/>
        </a:defRPr>
      </a:lvl3pPr>
      <a:lvl4pPr marL="1600200" indent="-169863" algn="l" rtl="0" eaLnBrk="1" fontAlgn="base" hangingPunct="1">
        <a:lnSpc>
          <a:spcPct val="120000"/>
        </a:lnSpc>
        <a:spcBef>
          <a:spcPct val="20000"/>
        </a:spcBef>
        <a:spcAft>
          <a:spcPct val="0"/>
        </a:spcAft>
        <a:buClr>
          <a:schemeClr val="tx2"/>
        </a:buClr>
        <a:buFont typeface="Wingdings" panose="05000000000000000000" pitchFamily="2" charset="2"/>
        <a:buChar char="§"/>
        <a:defRPr sz="2800">
          <a:solidFill>
            <a:schemeClr val="tx1"/>
          </a:solidFill>
          <a:latin typeface="+mn-lt"/>
          <a:ea typeface="+mn-ea"/>
        </a:defRPr>
      </a:lvl4pPr>
      <a:lvl5pPr marL="1951038" indent="-169863" algn="l" rtl="0" eaLnBrk="1" fontAlgn="base" hangingPunct="1">
        <a:lnSpc>
          <a:spcPct val="120000"/>
        </a:lnSpc>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5pPr>
      <a:lvl6pPr marL="2409543" indent="-171430" algn="l" rtl="0" eaLnBrk="1" fontAlgn="base" hangingPunct="1">
        <a:lnSpc>
          <a:spcPct val="120000"/>
        </a:lnSpc>
        <a:spcBef>
          <a:spcPct val="20000"/>
        </a:spcBef>
        <a:spcAft>
          <a:spcPct val="0"/>
        </a:spcAft>
        <a:buClr>
          <a:schemeClr val="accent1"/>
        </a:buClr>
        <a:buFont typeface="Wingdings" pitchFamily="2" charset="2"/>
        <a:buChar char="§"/>
        <a:defRPr sz="2800">
          <a:solidFill>
            <a:schemeClr val="tx1"/>
          </a:solidFill>
          <a:latin typeface="+mn-lt"/>
          <a:ea typeface="+mn-ea"/>
        </a:defRPr>
      </a:lvl6pPr>
      <a:lvl7pPr marL="2866690" indent="-171430" algn="l" rtl="0" eaLnBrk="1" fontAlgn="base" hangingPunct="1">
        <a:lnSpc>
          <a:spcPct val="120000"/>
        </a:lnSpc>
        <a:spcBef>
          <a:spcPct val="20000"/>
        </a:spcBef>
        <a:spcAft>
          <a:spcPct val="0"/>
        </a:spcAft>
        <a:buClr>
          <a:schemeClr val="accent1"/>
        </a:buClr>
        <a:buFont typeface="Wingdings" pitchFamily="2" charset="2"/>
        <a:buChar char="§"/>
        <a:defRPr sz="2800">
          <a:solidFill>
            <a:schemeClr val="tx1"/>
          </a:solidFill>
          <a:latin typeface="+mn-lt"/>
          <a:ea typeface="+mn-ea"/>
        </a:defRPr>
      </a:lvl7pPr>
      <a:lvl8pPr marL="3323836" indent="-171430" algn="l" rtl="0" eaLnBrk="1" fontAlgn="base" hangingPunct="1">
        <a:lnSpc>
          <a:spcPct val="120000"/>
        </a:lnSpc>
        <a:spcBef>
          <a:spcPct val="20000"/>
        </a:spcBef>
        <a:spcAft>
          <a:spcPct val="0"/>
        </a:spcAft>
        <a:buClr>
          <a:schemeClr val="accent1"/>
        </a:buClr>
        <a:buFont typeface="Wingdings" pitchFamily="2" charset="2"/>
        <a:buChar char="§"/>
        <a:defRPr sz="2800">
          <a:solidFill>
            <a:schemeClr val="tx1"/>
          </a:solidFill>
          <a:latin typeface="+mn-lt"/>
          <a:ea typeface="+mn-ea"/>
        </a:defRPr>
      </a:lvl8pPr>
      <a:lvl9pPr marL="3780983" indent="-171430" algn="l" rtl="0" eaLnBrk="1" fontAlgn="base" hangingPunct="1">
        <a:lnSpc>
          <a:spcPct val="120000"/>
        </a:lnSpc>
        <a:spcBef>
          <a:spcPct val="20000"/>
        </a:spcBef>
        <a:spcAft>
          <a:spcPct val="0"/>
        </a:spcAft>
        <a:buClr>
          <a:schemeClr val="accent1"/>
        </a:buClr>
        <a:buFont typeface="Wingdings" pitchFamily="2" charset="2"/>
        <a:buChar char="§"/>
        <a:defRPr sz="2800">
          <a:solidFill>
            <a:schemeClr val="tx1"/>
          </a:solidFill>
          <a:latin typeface="+mn-lt"/>
          <a:ea typeface="+mn-ea"/>
        </a:defRPr>
      </a:lvl9pPr>
    </p:bodyStyle>
    <p:otherStyle>
      <a:defPPr>
        <a:defRPr lang="zh-CN"/>
      </a:defPPr>
      <a:lvl1pPr marL="0" algn="l" defTabSz="914293" rtl="0" eaLnBrk="1" latinLnBrk="0" hangingPunct="1">
        <a:defRPr sz="1800" kern="1200">
          <a:solidFill>
            <a:schemeClr val="tx1"/>
          </a:solidFill>
          <a:latin typeface="+mn-lt"/>
          <a:ea typeface="+mn-ea"/>
          <a:cs typeface="+mn-cs"/>
        </a:defRPr>
      </a:lvl1pPr>
      <a:lvl2pPr marL="457146" algn="l" defTabSz="914293" rtl="0" eaLnBrk="1" latinLnBrk="0" hangingPunct="1">
        <a:defRPr sz="1800" kern="1200">
          <a:solidFill>
            <a:schemeClr val="tx1"/>
          </a:solidFill>
          <a:latin typeface="+mn-lt"/>
          <a:ea typeface="+mn-ea"/>
          <a:cs typeface="+mn-cs"/>
        </a:defRPr>
      </a:lvl2pPr>
      <a:lvl3pPr marL="914293" algn="l" defTabSz="914293" rtl="0" eaLnBrk="1" latinLnBrk="0" hangingPunct="1">
        <a:defRPr sz="1800" kern="1200">
          <a:solidFill>
            <a:schemeClr val="tx1"/>
          </a:solidFill>
          <a:latin typeface="+mn-lt"/>
          <a:ea typeface="+mn-ea"/>
          <a:cs typeface="+mn-cs"/>
        </a:defRPr>
      </a:lvl3pPr>
      <a:lvl4pPr marL="1371440" algn="l" defTabSz="914293" rtl="0" eaLnBrk="1" latinLnBrk="0" hangingPunct="1">
        <a:defRPr sz="1800" kern="1200">
          <a:solidFill>
            <a:schemeClr val="tx1"/>
          </a:solidFill>
          <a:latin typeface="+mn-lt"/>
          <a:ea typeface="+mn-ea"/>
          <a:cs typeface="+mn-cs"/>
        </a:defRPr>
      </a:lvl4pPr>
      <a:lvl5pPr marL="1828586" algn="l" defTabSz="914293" rtl="0" eaLnBrk="1" latinLnBrk="0" hangingPunct="1">
        <a:defRPr sz="1800" kern="1200">
          <a:solidFill>
            <a:schemeClr val="tx1"/>
          </a:solidFill>
          <a:latin typeface="+mn-lt"/>
          <a:ea typeface="+mn-ea"/>
          <a:cs typeface="+mn-cs"/>
        </a:defRPr>
      </a:lvl5pPr>
      <a:lvl6pPr marL="2285733" algn="l" defTabSz="914293" rtl="0" eaLnBrk="1" latinLnBrk="0" hangingPunct="1">
        <a:defRPr sz="1800" kern="1200">
          <a:solidFill>
            <a:schemeClr val="tx1"/>
          </a:solidFill>
          <a:latin typeface="+mn-lt"/>
          <a:ea typeface="+mn-ea"/>
          <a:cs typeface="+mn-cs"/>
        </a:defRPr>
      </a:lvl6pPr>
      <a:lvl7pPr marL="2742879" algn="l" defTabSz="914293" rtl="0" eaLnBrk="1" latinLnBrk="0" hangingPunct="1">
        <a:defRPr sz="1800" kern="1200">
          <a:solidFill>
            <a:schemeClr val="tx1"/>
          </a:solidFill>
          <a:latin typeface="+mn-lt"/>
          <a:ea typeface="+mn-ea"/>
          <a:cs typeface="+mn-cs"/>
        </a:defRPr>
      </a:lvl7pPr>
      <a:lvl8pPr marL="3200026" algn="l" defTabSz="914293" rtl="0" eaLnBrk="1" latinLnBrk="0" hangingPunct="1">
        <a:defRPr sz="1800" kern="1200">
          <a:solidFill>
            <a:schemeClr val="tx1"/>
          </a:solidFill>
          <a:latin typeface="+mn-lt"/>
          <a:ea typeface="+mn-ea"/>
          <a:cs typeface="+mn-cs"/>
        </a:defRPr>
      </a:lvl8pPr>
      <a:lvl9pPr marL="3657172" algn="l" defTabSz="914293"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E1A12E8C-66A6-42B7-A1BE-9738155CDA3E}"/>
              </a:ext>
            </a:extLst>
          </p:cNvPr>
          <p:cNvSpPr>
            <a:spLocks noGrp="1" noChangeArrowheads="1"/>
          </p:cNvSpPr>
          <p:nvPr>
            <p:ph type="body" idx="1"/>
          </p:nvPr>
        </p:nvSpPr>
        <p:spPr bwMode="auto">
          <a:xfrm>
            <a:off x="666751" y="1357314"/>
            <a:ext cx="11049000" cy="298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9" tIns="45714" rIns="91429" bIns="45714" numCol="1" anchor="t" anchorCtr="0" compatLnSpc="1">
            <a:prstTxWarp prst="textNoShape">
              <a:avLst/>
            </a:prstTxWarp>
            <a:sp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GB" altLang="zh-CN"/>
          </a:p>
        </p:txBody>
      </p:sp>
      <p:sp>
        <p:nvSpPr>
          <p:cNvPr id="1028" name="Line 4">
            <a:extLst>
              <a:ext uri="{FF2B5EF4-FFF2-40B4-BE49-F238E27FC236}">
                <a16:creationId xmlns:a16="http://schemas.microsoft.com/office/drawing/2014/main" id="{5E710E63-936A-4B88-9A86-69503832E9E6}"/>
              </a:ext>
            </a:extLst>
          </p:cNvPr>
          <p:cNvSpPr>
            <a:spLocks noChangeShapeType="1"/>
          </p:cNvSpPr>
          <p:nvPr/>
        </p:nvSpPr>
        <p:spPr bwMode="auto">
          <a:xfrm rot="16200000">
            <a:off x="6220884" y="-4660900"/>
            <a:ext cx="0" cy="10934700"/>
          </a:xfrm>
          <a:prstGeom prst="line">
            <a:avLst/>
          </a:prstGeom>
          <a:noFill/>
          <a:ln w="28575">
            <a:solidFill>
              <a:srgbClr val="C00000"/>
            </a:solidFill>
            <a:round/>
            <a:headEnd/>
            <a:tailEnd/>
          </a:ln>
        </p:spPr>
        <p:txBody>
          <a:bodyPr lIns="91429" tIns="45714" rIns="91429" bIns="45714" anchor="ctr"/>
          <a:lstStyle/>
          <a:p>
            <a:pPr>
              <a:defRPr/>
            </a:pPr>
            <a:endParaRPr lang="zh-CN" altLang="en-US" sz="1600"/>
          </a:p>
        </p:txBody>
      </p:sp>
      <p:sp>
        <p:nvSpPr>
          <p:cNvPr id="5124" name="Rectangle 5">
            <a:extLst>
              <a:ext uri="{FF2B5EF4-FFF2-40B4-BE49-F238E27FC236}">
                <a16:creationId xmlns:a16="http://schemas.microsoft.com/office/drawing/2014/main" id="{E4C51550-117B-4787-8984-F095893D6A60}"/>
              </a:ext>
            </a:extLst>
          </p:cNvPr>
          <p:cNvSpPr>
            <a:spLocks noGrp="1" noChangeArrowheads="1"/>
          </p:cNvSpPr>
          <p:nvPr>
            <p:ph type="title"/>
          </p:nvPr>
        </p:nvSpPr>
        <p:spPr bwMode="auto">
          <a:xfrm>
            <a:off x="753534" y="60326"/>
            <a:ext cx="10930466"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9" tIns="45714" rIns="91429" bIns="45714" numCol="1" anchor="b" anchorCtr="0" compatLnSpc="1">
            <a:prstTxWarp prst="textNoShape">
              <a:avLst/>
            </a:prstTxWarp>
            <a:spAutoFit/>
          </a:bodyPr>
          <a:lstStyle/>
          <a:p>
            <a:pPr lvl="0"/>
            <a:r>
              <a:rPr lang="zh-CN" altLang="en-US" dirty="0"/>
              <a:t>单击此处编辑母版标题样式</a:t>
            </a:r>
            <a:endParaRPr lang="en-GB" altLang="zh-CN" dirty="0"/>
          </a:p>
        </p:txBody>
      </p:sp>
      <p:sp>
        <p:nvSpPr>
          <p:cNvPr id="1030" name="Text Box 7">
            <a:extLst>
              <a:ext uri="{FF2B5EF4-FFF2-40B4-BE49-F238E27FC236}">
                <a16:creationId xmlns:a16="http://schemas.microsoft.com/office/drawing/2014/main" id="{66768A21-2C50-484A-906D-7E9ED8140836}"/>
              </a:ext>
            </a:extLst>
          </p:cNvPr>
          <p:cNvSpPr txBox="1">
            <a:spLocks noChangeArrowheads="1"/>
          </p:cNvSpPr>
          <p:nvPr/>
        </p:nvSpPr>
        <p:spPr bwMode="auto">
          <a:xfrm>
            <a:off x="11495618" y="6419850"/>
            <a:ext cx="560916" cy="336550"/>
          </a:xfrm>
          <a:prstGeom prst="rect">
            <a:avLst/>
          </a:prstGeom>
          <a:noFill/>
          <a:ln w="9525">
            <a:noFill/>
            <a:miter lim="800000"/>
            <a:headEnd/>
            <a:tailEnd/>
          </a:ln>
        </p:spPr>
        <p:txBody>
          <a:bodyPr lIns="91429" tIns="45714" rIns="91429" bIns="45714">
            <a:spAutoFit/>
          </a:bodyPr>
          <a:lstStyle/>
          <a:p>
            <a:pPr>
              <a:spcBef>
                <a:spcPct val="50000"/>
              </a:spcBef>
              <a:defRPr/>
            </a:pPr>
            <a:endParaRPr lang="en-US" altLang="zh-CN" sz="1600" dirty="0">
              <a:latin typeface="Arial" charset="0"/>
            </a:endParaRPr>
          </a:p>
        </p:txBody>
      </p:sp>
      <p:sp>
        <p:nvSpPr>
          <p:cNvPr id="1031" name="Rectangle 20">
            <a:extLst>
              <a:ext uri="{FF2B5EF4-FFF2-40B4-BE49-F238E27FC236}">
                <a16:creationId xmlns:a16="http://schemas.microsoft.com/office/drawing/2014/main" id="{A256FC3B-4A92-4A7E-B387-2FCDC38090D3}"/>
              </a:ext>
            </a:extLst>
          </p:cNvPr>
          <p:cNvSpPr>
            <a:spLocks noChangeArrowheads="1"/>
          </p:cNvSpPr>
          <p:nvPr/>
        </p:nvSpPr>
        <p:spPr bwMode="auto">
          <a:xfrm>
            <a:off x="0" y="6365876"/>
            <a:ext cx="12192000" cy="492125"/>
          </a:xfrm>
          <a:prstGeom prst="rect">
            <a:avLst/>
          </a:prstGeom>
          <a:gradFill rotWithShape="1">
            <a:gsLst>
              <a:gs pos="0">
                <a:srgbClr val="7889FB"/>
              </a:gs>
              <a:gs pos="100000">
                <a:srgbClr val="383F74"/>
              </a:gs>
            </a:gsLst>
            <a:lin ang="0" scaled="1"/>
          </a:gradFill>
          <a:ln w="9525">
            <a:noFill/>
            <a:miter lim="800000"/>
            <a:headEnd/>
            <a:tailEnd/>
          </a:ln>
        </p:spPr>
        <p:txBody>
          <a:bodyPr wrap="none" lIns="91429" tIns="45714" rIns="91429" bIns="45714" anchor="ctr"/>
          <a:lstStyle/>
          <a:p>
            <a:pPr>
              <a:defRPr/>
            </a:pPr>
            <a:r>
              <a:rPr lang="zh-CN" altLang="en-US" sz="2000" b="1" dirty="0">
                <a:solidFill>
                  <a:schemeClr val="bg1"/>
                </a:solidFill>
                <a:latin typeface="华文新魏" pitchFamily="2" charset="-122"/>
                <a:ea typeface="华文新魏" pitchFamily="2" charset="-122"/>
              </a:rPr>
              <a:t>高级计算机图形学</a:t>
            </a:r>
          </a:p>
        </p:txBody>
      </p:sp>
      <p:sp>
        <p:nvSpPr>
          <p:cNvPr id="10" name="矩形 9">
            <a:extLst>
              <a:ext uri="{FF2B5EF4-FFF2-40B4-BE49-F238E27FC236}">
                <a16:creationId xmlns:a16="http://schemas.microsoft.com/office/drawing/2014/main" id="{689C7DBC-50B4-43AB-9597-C4A540A76212}"/>
              </a:ext>
            </a:extLst>
          </p:cNvPr>
          <p:cNvSpPr/>
          <p:nvPr/>
        </p:nvSpPr>
        <p:spPr>
          <a:xfrm>
            <a:off x="11025376" y="6451600"/>
            <a:ext cx="1066295" cy="338542"/>
          </a:xfrm>
          <a:prstGeom prst="rect">
            <a:avLst/>
          </a:prstGeom>
        </p:spPr>
        <p:txBody>
          <a:bodyPr wrap="none" lIns="91429" tIns="45714" rIns="91429" bIns="45714">
            <a:spAutoFit/>
          </a:bodyPr>
          <a:lstStyle/>
          <a:p>
            <a:pPr>
              <a:defRPr/>
            </a:pPr>
            <a:r>
              <a:rPr lang="en-US" altLang="zh-CN" sz="1600" b="1" i="1">
                <a:solidFill>
                  <a:schemeClr val="bg1"/>
                </a:solidFill>
                <a:latin typeface="华文新魏" pitchFamily="2" charset="-122"/>
                <a:ea typeface="华文新魏" pitchFamily="2" charset="-122"/>
              </a:rPr>
              <a:t>2025</a:t>
            </a:r>
            <a:r>
              <a:rPr lang="zh-CN" altLang="en-US" sz="1600" b="1" i="1">
                <a:solidFill>
                  <a:schemeClr val="bg1"/>
                </a:solidFill>
                <a:latin typeface="华文新魏" pitchFamily="2" charset="-122"/>
                <a:ea typeface="华文新魏" pitchFamily="2" charset="-122"/>
              </a:rPr>
              <a:t>年秋</a:t>
            </a:r>
            <a:endParaRPr lang="zh-CN" altLang="en-US" sz="1600" b="1" i="1" dirty="0">
              <a:solidFill>
                <a:schemeClr val="bg1"/>
              </a:solidFill>
              <a:latin typeface="华文新魏" pitchFamily="2" charset="-122"/>
              <a:ea typeface="华文新魏" pitchFamily="2" charset="-122"/>
            </a:endParaRPr>
          </a:p>
        </p:txBody>
      </p:sp>
      <p:pic>
        <p:nvPicPr>
          <p:cNvPr id="5128" name="Picture 21" descr="uestc">
            <a:extLst>
              <a:ext uri="{FF2B5EF4-FFF2-40B4-BE49-F238E27FC236}">
                <a16:creationId xmlns:a16="http://schemas.microsoft.com/office/drawing/2014/main" id="{F68C6BB5-95AD-4FD4-BA61-512A5A6AAF5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127" y="34836"/>
            <a:ext cx="720000" cy="720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97067334"/>
      </p:ext>
    </p:extLst>
  </p:cSld>
  <p:clrMap bg1="lt1" tx1="dk1" bg2="lt2" tx2="dk2" accent1="accent1" accent2="accent2" accent3="accent3" accent4="accent4" accent5="accent5" accent6="accent6" hlink="hlink" folHlink="folHlink"/>
  <p:sldLayoutIdLst>
    <p:sldLayoutId id="2147483932" r:id="rId1"/>
  </p:sldLayoutIdLst>
  <p:transition/>
  <p:txStyles>
    <p:titleStyle>
      <a:lvl1pPr algn="l" rtl="0" eaLnBrk="1" fontAlgn="base" hangingPunct="1">
        <a:spcBef>
          <a:spcPct val="0"/>
        </a:spcBef>
        <a:spcAft>
          <a:spcPct val="0"/>
        </a:spcAft>
        <a:defRPr sz="4000" b="1">
          <a:solidFill>
            <a:srgbClr val="C00000"/>
          </a:solidFill>
          <a:latin typeface="Times New Roman" panose="02020603050405020304" pitchFamily="18" charset="0"/>
          <a:ea typeface="+mj-ea"/>
          <a:cs typeface="Times New Roman" panose="02020603050405020304" pitchFamily="18" charset="0"/>
        </a:defRPr>
      </a:lvl1pPr>
      <a:lvl2pPr algn="l" rtl="0" eaLnBrk="1" fontAlgn="base" hangingPunct="1">
        <a:spcBef>
          <a:spcPct val="0"/>
        </a:spcBef>
        <a:spcAft>
          <a:spcPct val="0"/>
        </a:spcAft>
        <a:defRPr sz="4000" b="1">
          <a:solidFill>
            <a:schemeClr val="tx1"/>
          </a:solidFill>
          <a:latin typeface="隶书" pitchFamily="49" charset="-122"/>
          <a:ea typeface="隶书" pitchFamily="49" charset="-122"/>
        </a:defRPr>
      </a:lvl2pPr>
      <a:lvl3pPr algn="l" rtl="0" eaLnBrk="1" fontAlgn="base" hangingPunct="1">
        <a:spcBef>
          <a:spcPct val="0"/>
        </a:spcBef>
        <a:spcAft>
          <a:spcPct val="0"/>
        </a:spcAft>
        <a:defRPr sz="4000" b="1">
          <a:solidFill>
            <a:schemeClr val="tx1"/>
          </a:solidFill>
          <a:latin typeface="隶书" pitchFamily="49" charset="-122"/>
          <a:ea typeface="隶书" pitchFamily="49" charset="-122"/>
        </a:defRPr>
      </a:lvl3pPr>
      <a:lvl4pPr algn="l" rtl="0" eaLnBrk="1" fontAlgn="base" hangingPunct="1">
        <a:spcBef>
          <a:spcPct val="0"/>
        </a:spcBef>
        <a:spcAft>
          <a:spcPct val="0"/>
        </a:spcAft>
        <a:defRPr sz="4000" b="1">
          <a:solidFill>
            <a:schemeClr val="tx1"/>
          </a:solidFill>
          <a:latin typeface="隶书" pitchFamily="49" charset="-122"/>
          <a:ea typeface="隶书" pitchFamily="49" charset="-122"/>
        </a:defRPr>
      </a:lvl4pPr>
      <a:lvl5pPr algn="l" rtl="0" eaLnBrk="1" fontAlgn="base" hangingPunct="1">
        <a:spcBef>
          <a:spcPct val="0"/>
        </a:spcBef>
        <a:spcAft>
          <a:spcPct val="0"/>
        </a:spcAft>
        <a:defRPr sz="4000" b="1">
          <a:solidFill>
            <a:schemeClr val="tx1"/>
          </a:solidFill>
          <a:latin typeface="隶书" pitchFamily="49" charset="-122"/>
          <a:ea typeface="隶书" pitchFamily="49" charset="-122"/>
        </a:defRPr>
      </a:lvl5pPr>
      <a:lvl6pPr marL="457146" algn="l" rtl="0" eaLnBrk="1" fontAlgn="base" hangingPunct="1">
        <a:spcBef>
          <a:spcPct val="0"/>
        </a:spcBef>
        <a:spcAft>
          <a:spcPct val="0"/>
        </a:spcAft>
        <a:defRPr sz="4000" b="1">
          <a:solidFill>
            <a:schemeClr val="tx1"/>
          </a:solidFill>
          <a:latin typeface="隶书" pitchFamily="49" charset="-122"/>
          <a:ea typeface="隶书" pitchFamily="49" charset="-122"/>
        </a:defRPr>
      </a:lvl6pPr>
      <a:lvl7pPr marL="914293" algn="l" rtl="0" eaLnBrk="1" fontAlgn="base" hangingPunct="1">
        <a:spcBef>
          <a:spcPct val="0"/>
        </a:spcBef>
        <a:spcAft>
          <a:spcPct val="0"/>
        </a:spcAft>
        <a:defRPr sz="4000" b="1">
          <a:solidFill>
            <a:schemeClr val="tx1"/>
          </a:solidFill>
          <a:latin typeface="隶书" pitchFamily="49" charset="-122"/>
          <a:ea typeface="隶书" pitchFamily="49" charset="-122"/>
        </a:defRPr>
      </a:lvl7pPr>
      <a:lvl8pPr marL="1371440" algn="l" rtl="0" eaLnBrk="1" fontAlgn="base" hangingPunct="1">
        <a:spcBef>
          <a:spcPct val="0"/>
        </a:spcBef>
        <a:spcAft>
          <a:spcPct val="0"/>
        </a:spcAft>
        <a:defRPr sz="4000" b="1">
          <a:solidFill>
            <a:schemeClr val="tx1"/>
          </a:solidFill>
          <a:latin typeface="隶书" pitchFamily="49" charset="-122"/>
          <a:ea typeface="隶书" pitchFamily="49" charset="-122"/>
        </a:defRPr>
      </a:lvl8pPr>
      <a:lvl9pPr marL="1828586" algn="l" rtl="0" eaLnBrk="1" fontAlgn="base" hangingPunct="1">
        <a:spcBef>
          <a:spcPct val="0"/>
        </a:spcBef>
        <a:spcAft>
          <a:spcPct val="0"/>
        </a:spcAft>
        <a:defRPr sz="4000" b="1">
          <a:solidFill>
            <a:schemeClr val="tx1"/>
          </a:solidFill>
          <a:latin typeface="隶书" pitchFamily="49" charset="-122"/>
          <a:ea typeface="隶书" pitchFamily="49" charset="-122"/>
        </a:defRPr>
      </a:lvl9pPr>
    </p:titleStyle>
    <p:bodyStyle>
      <a:lvl1pPr marL="354013" indent="-354013" algn="l" rtl="0" eaLnBrk="1" fontAlgn="base" hangingPunct="1">
        <a:lnSpc>
          <a:spcPct val="120000"/>
        </a:lnSpc>
        <a:spcBef>
          <a:spcPts val="600"/>
        </a:spcBef>
        <a:spcAft>
          <a:spcPct val="0"/>
        </a:spcAft>
        <a:buClr>
          <a:schemeClr val="tx1"/>
        </a:buClr>
        <a:buSzPct val="90000"/>
        <a:buFont typeface="Wingdings" panose="05000000000000000000" pitchFamily="2" charset="2"/>
        <a:buChar char="Ø"/>
        <a:defRPr sz="2800" b="1">
          <a:solidFill>
            <a:schemeClr val="tx1"/>
          </a:solidFill>
          <a:latin typeface="楷体_GB2312" pitchFamily="49" charset="-122"/>
          <a:ea typeface="楷体_GB2312" pitchFamily="49" charset="-122"/>
          <a:cs typeface="+mn-cs"/>
        </a:defRPr>
      </a:lvl1pPr>
      <a:lvl2pPr marL="898525" indent="-363538" algn="l" rtl="0" eaLnBrk="1" fontAlgn="base" hangingPunct="1">
        <a:lnSpc>
          <a:spcPct val="120000"/>
        </a:lnSpc>
        <a:spcBef>
          <a:spcPts val="600"/>
        </a:spcBef>
        <a:spcAft>
          <a:spcPct val="0"/>
        </a:spcAft>
        <a:buSzPct val="80000"/>
        <a:buFont typeface="Wingdings" panose="05000000000000000000" pitchFamily="2" charset="2"/>
        <a:buChar char="Ø"/>
        <a:defRPr sz="2800" b="1">
          <a:solidFill>
            <a:schemeClr val="tx1"/>
          </a:solidFill>
          <a:latin typeface="楷体_GB2312" pitchFamily="49" charset="-122"/>
          <a:ea typeface="楷体_GB2312" pitchFamily="49" charset="-122"/>
        </a:defRPr>
      </a:lvl2pPr>
      <a:lvl3pPr marL="1522413" indent="-442913" algn="l" rtl="0" eaLnBrk="1" fontAlgn="base" hangingPunct="1">
        <a:lnSpc>
          <a:spcPct val="120000"/>
        </a:lnSpc>
        <a:spcBef>
          <a:spcPts val="600"/>
        </a:spcBef>
        <a:spcAft>
          <a:spcPct val="0"/>
        </a:spcAft>
        <a:buSzPct val="80000"/>
        <a:buFont typeface="Wingdings" panose="05000000000000000000" pitchFamily="2" charset="2"/>
        <a:buChar char="l"/>
        <a:defRPr sz="2800" b="1">
          <a:solidFill>
            <a:schemeClr val="tx1"/>
          </a:solidFill>
          <a:latin typeface="楷体_GB2312" pitchFamily="49" charset="-122"/>
          <a:ea typeface="楷体_GB2312" pitchFamily="49" charset="-122"/>
        </a:defRPr>
      </a:lvl3pPr>
      <a:lvl4pPr marL="1600200" indent="-169863" algn="l" rtl="0" eaLnBrk="1" fontAlgn="base" hangingPunct="1">
        <a:lnSpc>
          <a:spcPct val="120000"/>
        </a:lnSpc>
        <a:spcBef>
          <a:spcPts val="600"/>
        </a:spcBef>
        <a:spcAft>
          <a:spcPct val="0"/>
        </a:spcAft>
        <a:buClr>
          <a:schemeClr val="tx2"/>
        </a:buClr>
        <a:buFont typeface="Wingdings" panose="05000000000000000000" pitchFamily="2" charset="2"/>
        <a:buChar char="§"/>
        <a:defRPr sz="2800" b="1">
          <a:solidFill>
            <a:schemeClr val="tx1"/>
          </a:solidFill>
          <a:latin typeface="楷体_GB2312" pitchFamily="49" charset="-122"/>
          <a:ea typeface="楷体_GB2312" pitchFamily="49" charset="-122"/>
        </a:defRPr>
      </a:lvl4pPr>
      <a:lvl5pPr marL="1951038" indent="-169863" algn="l" rtl="0" eaLnBrk="1" fontAlgn="base" hangingPunct="1">
        <a:lnSpc>
          <a:spcPct val="120000"/>
        </a:lnSpc>
        <a:spcBef>
          <a:spcPts val="600"/>
        </a:spcBef>
        <a:spcAft>
          <a:spcPct val="0"/>
        </a:spcAft>
        <a:buClr>
          <a:schemeClr val="accent1"/>
        </a:buClr>
        <a:buFont typeface="Wingdings" panose="05000000000000000000" pitchFamily="2" charset="2"/>
        <a:buChar char="§"/>
        <a:defRPr sz="2800" b="1">
          <a:solidFill>
            <a:schemeClr val="tx1"/>
          </a:solidFill>
          <a:latin typeface="楷体_GB2312" pitchFamily="49" charset="-122"/>
          <a:ea typeface="楷体_GB2312" pitchFamily="49" charset="-122"/>
        </a:defRPr>
      </a:lvl5pPr>
      <a:lvl6pPr marL="2409543" indent="-171430" algn="l" rtl="0" eaLnBrk="1" fontAlgn="base" hangingPunct="1">
        <a:lnSpc>
          <a:spcPct val="120000"/>
        </a:lnSpc>
        <a:spcBef>
          <a:spcPct val="20000"/>
        </a:spcBef>
        <a:spcAft>
          <a:spcPct val="0"/>
        </a:spcAft>
        <a:buClr>
          <a:schemeClr val="accent1"/>
        </a:buClr>
        <a:buFont typeface="Wingdings" pitchFamily="2" charset="2"/>
        <a:buChar char="§"/>
        <a:defRPr sz="2800">
          <a:solidFill>
            <a:schemeClr val="tx1"/>
          </a:solidFill>
          <a:latin typeface="+mn-lt"/>
          <a:ea typeface="+mn-ea"/>
        </a:defRPr>
      </a:lvl6pPr>
      <a:lvl7pPr marL="2866690" indent="-171430" algn="l" rtl="0" eaLnBrk="1" fontAlgn="base" hangingPunct="1">
        <a:lnSpc>
          <a:spcPct val="120000"/>
        </a:lnSpc>
        <a:spcBef>
          <a:spcPct val="20000"/>
        </a:spcBef>
        <a:spcAft>
          <a:spcPct val="0"/>
        </a:spcAft>
        <a:buClr>
          <a:schemeClr val="accent1"/>
        </a:buClr>
        <a:buFont typeface="Wingdings" pitchFamily="2" charset="2"/>
        <a:buChar char="§"/>
        <a:defRPr sz="2800">
          <a:solidFill>
            <a:schemeClr val="tx1"/>
          </a:solidFill>
          <a:latin typeface="+mn-lt"/>
          <a:ea typeface="+mn-ea"/>
        </a:defRPr>
      </a:lvl7pPr>
      <a:lvl8pPr marL="3323836" indent="-171430" algn="l" rtl="0" eaLnBrk="1" fontAlgn="base" hangingPunct="1">
        <a:lnSpc>
          <a:spcPct val="120000"/>
        </a:lnSpc>
        <a:spcBef>
          <a:spcPct val="20000"/>
        </a:spcBef>
        <a:spcAft>
          <a:spcPct val="0"/>
        </a:spcAft>
        <a:buClr>
          <a:schemeClr val="accent1"/>
        </a:buClr>
        <a:buFont typeface="Wingdings" pitchFamily="2" charset="2"/>
        <a:buChar char="§"/>
        <a:defRPr sz="2800">
          <a:solidFill>
            <a:schemeClr val="tx1"/>
          </a:solidFill>
          <a:latin typeface="+mn-lt"/>
          <a:ea typeface="+mn-ea"/>
        </a:defRPr>
      </a:lvl8pPr>
      <a:lvl9pPr marL="3780983" indent="-171430" algn="l" rtl="0" eaLnBrk="1" fontAlgn="base" hangingPunct="1">
        <a:lnSpc>
          <a:spcPct val="120000"/>
        </a:lnSpc>
        <a:spcBef>
          <a:spcPct val="20000"/>
        </a:spcBef>
        <a:spcAft>
          <a:spcPct val="0"/>
        </a:spcAft>
        <a:buClr>
          <a:schemeClr val="accent1"/>
        </a:buClr>
        <a:buFont typeface="Wingdings" pitchFamily="2" charset="2"/>
        <a:buChar char="§"/>
        <a:defRPr sz="2800">
          <a:solidFill>
            <a:schemeClr val="tx1"/>
          </a:solidFill>
          <a:latin typeface="+mn-lt"/>
          <a:ea typeface="+mn-ea"/>
        </a:defRPr>
      </a:lvl9pPr>
    </p:bodyStyle>
    <p:otherStyle>
      <a:defPPr>
        <a:defRPr lang="zh-CN"/>
      </a:defPPr>
      <a:lvl1pPr marL="0" algn="l" defTabSz="914293" rtl="0" eaLnBrk="1" latinLnBrk="0" hangingPunct="1">
        <a:defRPr sz="1800" kern="1200">
          <a:solidFill>
            <a:schemeClr val="tx1"/>
          </a:solidFill>
          <a:latin typeface="+mn-lt"/>
          <a:ea typeface="+mn-ea"/>
          <a:cs typeface="+mn-cs"/>
        </a:defRPr>
      </a:lvl1pPr>
      <a:lvl2pPr marL="457146" algn="l" defTabSz="914293" rtl="0" eaLnBrk="1" latinLnBrk="0" hangingPunct="1">
        <a:defRPr sz="1800" kern="1200">
          <a:solidFill>
            <a:schemeClr val="tx1"/>
          </a:solidFill>
          <a:latin typeface="+mn-lt"/>
          <a:ea typeface="+mn-ea"/>
          <a:cs typeface="+mn-cs"/>
        </a:defRPr>
      </a:lvl2pPr>
      <a:lvl3pPr marL="914293" algn="l" defTabSz="914293" rtl="0" eaLnBrk="1" latinLnBrk="0" hangingPunct="1">
        <a:defRPr sz="1800" kern="1200">
          <a:solidFill>
            <a:schemeClr val="tx1"/>
          </a:solidFill>
          <a:latin typeface="+mn-lt"/>
          <a:ea typeface="+mn-ea"/>
          <a:cs typeface="+mn-cs"/>
        </a:defRPr>
      </a:lvl3pPr>
      <a:lvl4pPr marL="1371440" algn="l" defTabSz="914293" rtl="0" eaLnBrk="1" latinLnBrk="0" hangingPunct="1">
        <a:defRPr sz="1800" kern="1200">
          <a:solidFill>
            <a:schemeClr val="tx1"/>
          </a:solidFill>
          <a:latin typeface="+mn-lt"/>
          <a:ea typeface="+mn-ea"/>
          <a:cs typeface="+mn-cs"/>
        </a:defRPr>
      </a:lvl4pPr>
      <a:lvl5pPr marL="1828586" algn="l" defTabSz="914293" rtl="0" eaLnBrk="1" latinLnBrk="0" hangingPunct="1">
        <a:defRPr sz="1800" kern="1200">
          <a:solidFill>
            <a:schemeClr val="tx1"/>
          </a:solidFill>
          <a:latin typeface="+mn-lt"/>
          <a:ea typeface="+mn-ea"/>
          <a:cs typeface="+mn-cs"/>
        </a:defRPr>
      </a:lvl5pPr>
      <a:lvl6pPr marL="2285733" algn="l" defTabSz="914293" rtl="0" eaLnBrk="1" latinLnBrk="0" hangingPunct="1">
        <a:defRPr sz="1800" kern="1200">
          <a:solidFill>
            <a:schemeClr val="tx1"/>
          </a:solidFill>
          <a:latin typeface="+mn-lt"/>
          <a:ea typeface="+mn-ea"/>
          <a:cs typeface="+mn-cs"/>
        </a:defRPr>
      </a:lvl6pPr>
      <a:lvl7pPr marL="2742879" algn="l" defTabSz="914293" rtl="0" eaLnBrk="1" latinLnBrk="0" hangingPunct="1">
        <a:defRPr sz="1800" kern="1200">
          <a:solidFill>
            <a:schemeClr val="tx1"/>
          </a:solidFill>
          <a:latin typeface="+mn-lt"/>
          <a:ea typeface="+mn-ea"/>
          <a:cs typeface="+mn-cs"/>
        </a:defRPr>
      </a:lvl7pPr>
      <a:lvl8pPr marL="3200026" algn="l" defTabSz="914293" rtl="0" eaLnBrk="1" latinLnBrk="0" hangingPunct="1">
        <a:defRPr sz="1800" kern="1200">
          <a:solidFill>
            <a:schemeClr val="tx1"/>
          </a:solidFill>
          <a:latin typeface="+mn-lt"/>
          <a:ea typeface="+mn-ea"/>
          <a:cs typeface="+mn-cs"/>
        </a:defRPr>
      </a:lvl8pPr>
      <a:lvl9pPr marL="3657172" algn="l" defTabSz="914293"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E1A12E8C-66A6-42B7-A1BE-9738155CDA3E}"/>
              </a:ext>
            </a:extLst>
          </p:cNvPr>
          <p:cNvSpPr>
            <a:spLocks noGrp="1" noChangeArrowheads="1"/>
          </p:cNvSpPr>
          <p:nvPr>
            <p:ph type="body" idx="1"/>
          </p:nvPr>
        </p:nvSpPr>
        <p:spPr bwMode="auto">
          <a:xfrm>
            <a:off x="666751" y="1357314"/>
            <a:ext cx="11049000" cy="298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9" tIns="45714" rIns="91429" bIns="45714" numCol="1" anchor="t" anchorCtr="0" compatLnSpc="1">
            <a:prstTxWarp prst="textNoShape">
              <a:avLst/>
            </a:prstTxWarp>
            <a:sp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GB" altLang="zh-CN"/>
          </a:p>
        </p:txBody>
      </p:sp>
      <p:sp>
        <p:nvSpPr>
          <p:cNvPr id="1028" name="Line 4">
            <a:extLst>
              <a:ext uri="{FF2B5EF4-FFF2-40B4-BE49-F238E27FC236}">
                <a16:creationId xmlns:a16="http://schemas.microsoft.com/office/drawing/2014/main" id="{5E710E63-936A-4B88-9A86-69503832E9E6}"/>
              </a:ext>
            </a:extLst>
          </p:cNvPr>
          <p:cNvSpPr>
            <a:spLocks noChangeShapeType="1"/>
          </p:cNvSpPr>
          <p:nvPr/>
        </p:nvSpPr>
        <p:spPr bwMode="auto">
          <a:xfrm rot="16200000">
            <a:off x="6220884" y="-4660900"/>
            <a:ext cx="0" cy="10934700"/>
          </a:xfrm>
          <a:prstGeom prst="line">
            <a:avLst/>
          </a:prstGeom>
          <a:noFill/>
          <a:ln w="28575">
            <a:solidFill>
              <a:srgbClr val="C00000"/>
            </a:solidFill>
            <a:round/>
            <a:headEnd/>
            <a:tailEnd/>
          </a:ln>
        </p:spPr>
        <p:txBody>
          <a:bodyPr lIns="91429" tIns="45714" rIns="91429" bIns="45714" anchor="ctr"/>
          <a:lstStyle/>
          <a:p>
            <a:pPr>
              <a:defRPr/>
            </a:pPr>
            <a:endParaRPr lang="zh-CN" altLang="en-US" sz="1600"/>
          </a:p>
        </p:txBody>
      </p:sp>
      <p:sp>
        <p:nvSpPr>
          <p:cNvPr id="5124" name="Rectangle 5">
            <a:extLst>
              <a:ext uri="{FF2B5EF4-FFF2-40B4-BE49-F238E27FC236}">
                <a16:creationId xmlns:a16="http://schemas.microsoft.com/office/drawing/2014/main" id="{E4C51550-117B-4787-8984-F095893D6A60}"/>
              </a:ext>
            </a:extLst>
          </p:cNvPr>
          <p:cNvSpPr>
            <a:spLocks noGrp="1" noChangeArrowheads="1"/>
          </p:cNvSpPr>
          <p:nvPr>
            <p:ph type="title"/>
          </p:nvPr>
        </p:nvSpPr>
        <p:spPr bwMode="auto">
          <a:xfrm>
            <a:off x="753534" y="60326"/>
            <a:ext cx="10930466"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9" tIns="45714" rIns="91429" bIns="45714" numCol="1" anchor="b" anchorCtr="0" compatLnSpc="1">
            <a:prstTxWarp prst="textNoShape">
              <a:avLst/>
            </a:prstTxWarp>
            <a:spAutoFit/>
          </a:bodyPr>
          <a:lstStyle/>
          <a:p>
            <a:pPr lvl="0"/>
            <a:r>
              <a:rPr lang="zh-CN" altLang="en-US" dirty="0"/>
              <a:t>单击此处编辑母版标题样式</a:t>
            </a:r>
            <a:endParaRPr lang="en-GB" altLang="zh-CN" dirty="0"/>
          </a:p>
        </p:txBody>
      </p:sp>
      <p:sp>
        <p:nvSpPr>
          <p:cNvPr id="1030" name="Text Box 7">
            <a:extLst>
              <a:ext uri="{FF2B5EF4-FFF2-40B4-BE49-F238E27FC236}">
                <a16:creationId xmlns:a16="http://schemas.microsoft.com/office/drawing/2014/main" id="{66768A21-2C50-484A-906D-7E9ED8140836}"/>
              </a:ext>
            </a:extLst>
          </p:cNvPr>
          <p:cNvSpPr txBox="1">
            <a:spLocks noChangeArrowheads="1"/>
          </p:cNvSpPr>
          <p:nvPr/>
        </p:nvSpPr>
        <p:spPr bwMode="auto">
          <a:xfrm>
            <a:off x="11495618" y="6419850"/>
            <a:ext cx="560916" cy="336550"/>
          </a:xfrm>
          <a:prstGeom prst="rect">
            <a:avLst/>
          </a:prstGeom>
          <a:noFill/>
          <a:ln w="9525">
            <a:noFill/>
            <a:miter lim="800000"/>
            <a:headEnd/>
            <a:tailEnd/>
          </a:ln>
        </p:spPr>
        <p:txBody>
          <a:bodyPr lIns="91429" tIns="45714" rIns="91429" bIns="45714">
            <a:spAutoFit/>
          </a:bodyPr>
          <a:lstStyle/>
          <a:p>
            <a:pPr>
              <a:spcBef>
                <a:spcPct val="50000"/>
              </a:spcBef>
              <a:defRPr/>
            </a:pPr>
            <a:endParaRPr lang="en-US" altLang="zh-CN" sz="1600" dirty="0">
              <a:latin typeface="Arial" charset="0"/>
            </a:endParaRPr>
          </a:p>
        </p:txBody>
      </p:sp>
      <p:sp>
        <p:nvSpPr>
          <p:cNvPr id="10" name="矩形 9">
            <a:extLst>
              <a:ext uri="{FF2B5EF4-FFF2-40B4-BE49-F238E27FC236}">
                <a16:creationId xmlns:a16="http://schemas.microsoft.com/office/drawing/2014/main" id="{689C7DBC-50B4-43AB-9597-C4A540A76212}"/>
              </a:ext>
            </a:extLst>
          </p:cNvPr>
          <p:cNvSpPr/>
          <p:nvPr/>
        </p:nvSpPr>
        <p:spPr>
          <a:xfrm>
            <a:off x="10581218" y="6451600"/>
            <a:ext cx="1069501" cy="338542"/>
          </a:xfrm>
          <a:prstGeom prst="rect">
            <a:avLst/>
          </a:prstGeom>
        </p:spPr>
        <p:txBody>
          <a:bodyPr wrap="none" lIns="91429" tIns="45714" rIns="91429" bIns="45714">
            <a:spAutoFit/>
          </a:bodyPr>
          <a:lstStyle/>
          <a:p>
            <a:pPr>
              <a:defRPr/>
            </a:pPr>
            <a:r>
              <a:rPr lang="en-US" altLang="zh-CN" sz="1600" b="1" i="1" dirty="0">
                <a:solidFill>
                  <a:schemeClr val="bg1"/>
                </a:solidFill>
                <a:latin typeface="华文新魏" pitchFamily="2" charset="-122"/>
                <a:ea typeface="华文新魏" pitchFamily="2" charset="-122"/>
              </a:rPr>
              <a:t>2020</a:t>
            </a:r>
            <a:r>
              <a:rPr lang="zh-CN" altLang="en-US" sz="1600" b="1" i="1" dirty="0">
                <a:solidFill>
                  <a:schemeClr val="bg1"/>
                </a:solidFill>
                <a:latin typeface="华文新魏" pitchFamily="2" charset="-122"/>
                <a:ea typeface="华文新魏" pitchFamily="2" charset="-122"/>
              </a:rPr>
              <a:t>年春</a:t>
            </a:r>
          </a:p>
        </p:txBody>
      </p:sp>
      <p:pic>
        <p:nvPicPr>
          <p:cNvPr id="8" name="Picture 21" descr="uestc">
            <a:extLst>
              <a:ext uri="{FF2B5EF4-FFF2-40B4-BE49-F238E27FC236}">
                <a16:creationId xmlns:a16="http://schemas.microsoft.com/office/drawing/2014/main" id="{C88D69BC-C6DE-4BBA-9D1A-F9C075254C41}"/>
              </a:ext>
            </a:extLst>
          </p:cNvPr>
          <p:cNvPicPr>
            <a:picLocks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6127" y="34836"/>
            <a:ext cx="720000" cy="720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06628269"/>
      </p:ext>
    </p:extLst>
  </p:cSld>
  <p:clrMap bg1="lt1" tx1="dk1" bg2="lt2" tx2="dk2" accent1="accent1" accent2="accent2" accent3="accent3" accent4="accent4" accent5="accent5" accent6="accent6" hlink="hlink" folHlink="folHlink"/>
  <p:sldLayoutIdLst>
    <p:sldLayoutId id="2147483934" r:id="rId1"/>
  </p:sldLayoutIdLst>
  <p:transition/>
  <p:txStyles>
    <p:titleStyle>
      <a:lvl1pPr algn="l" rtl="0" eaLnBrk="1" fontAlgn="base" hangingPunct="1">
        <a:spcBef>
          <a:spcPct val="0"/>
        </a:spcBef>
        <a:spcAft>
          <a:spcPct val="0"/>
        </a:spcAft>
        <a:defRPr sz="4000" b="1">
          <a:solidFill>
            <a:srgbClr val="C00000"/>
          </a:solidFill>
          <a:latin typeface="Times New Roman" panose="02020603050405020304" pitchFamily="18" charset="0"/>
          <a:ea typeface="+mj-ea"/>
          <a:cs typeface="Times New Roman" panose="02020603050405020304" pitchFamily="18" charset="0"/>
        </a:defRPr>
      </a:lvl1pPr>
      <a:lvl2pPr algn="l" rtl="0" eaLnBrk="1" fontAlgn="base" hangingPunct="1">
        <a:spcBef>
          <a:spcPct val="0"/>
        </a:spcBef>
        <a:spcAft>
          <a:spcPct val="0"/>
        </a:spcAft>
        <a:defRPr sz="4000" b="1">
          <a:solidFill>
            <a:schemeClr val="tx1"/>
          </a:solidFill>
          <a:latin typeface="隶书" pitchFamily="49" charset="-122"/>
          <a:ea typeface="隶书" pitchFamily="49" charset="-122"/>
        </a:defRPr>
      </a:lvl2pPr>
      <a:lvl3pPr algn="l" rtl="0" eaLnBrk="1" fontAlgn="base" hangingPunct="1">
        <a:spcBef>
          <a:spcPct val="0"/>
        </a:spcBef>
        <a:spcAft>
          <a:spcPct val="0"/>
        </a:spcAft>
        <a:defRPr sz="4000" b="1">
          <a:solidFill>
            <a:schemeClr val="tx1"/>
          </a:solidFill>
          <a:latin typeface="隶书" pitchFamily="49" charset="-122"/>
          <a:ea typeface="隶书" pitchFamily="49" charset="-122"/>
        </a:defRPr>
      </a:lvl3pPr>
      <a:lvl4pPr algn="l" rtl="0" eaLnBrk="1" fontAlgn="base" hangingPunct="1">
        <a:spcBef>
          <a:spcPct val="0"/>
        </a:spcBef>
        <a:spcAft>
          <a:spcPct val="0"/>
        </a:spcAft>
        <a:defRPr sz="4000" b="1">
          <a:solidFill>
            <a:schemeClr val="tx1"/>
          </a:solidFill>
          <a:latin typeface="隶书" pitchFamily="49" charset="-122"/>
          <a:ea typeface="隶书" pitchFamily="49" charset="-122"/>
        </a:defRPr>
      </a:lvl4pPr>
      <a:lvl5pPr algn="l" rtl="0" eaLnBrk="1" fontAlgn="base" hangingPunct="1">
        <a:spcBef>
          <a:spcPct val="0"/>
        </a:spcBef>
        <a:spcAft>
          <a:spcPct val="0"/>
        </a:spcAft>
        <a:defRPr sz="4000" b="1">
          <a:solidFill>
            <a:schemeClr val="tx1"/>
          </a:solidFill>
          <a:latin typeface="隶书" pitchFamily="49" charset="-122"/>
          <a:ea typeface="隶书" pitchFamily="49" charset="-122"/>
        </a:defRPr>
      </a:lvl5pPr>
      <a:lvl6pPr marL="457146" algn="l" rtl="0" eaLnBrk="1" fontAlgn="base" hangingPunct="1">
        <a:spcBef>
          <a:spcPct val="0"/>
        </a:spcBef>
        <a:spcAft>
          <a:spcPct val="0"/>
        </a:spcAft>
        <a:defRPr sz="4000" b="1">
          <a:solidFill>
            <a:schemeClr val="tx1"/>
          </a:solidFill>
          <a:latin typeface="隶书" pitchFamily="49" charset="-122"/>
          <a:ea typeface="隶书" pitchFamily="49" charset="-122"/>
        </a:defRPr>
      </a:lvl6pPr>
      <a:lvl7pPr marL="914293" algn="l" rtl="0" eaLnBrk="1" fontAlgn="base" hangingPunct="1">
        <a:spcBef>
          <a:spcPct val="0"/>
        </a:spcBef>
        <a:spcAft>
          <a:spcPct val="0"/>
        </a:spcAft>
        <a:defRPr sz="4000" b="1">
          <a:solidFill>
            <a:schemeClr val="tx1"/>
          </a:solidFill>
          <a:latin typeface="隶书" pitchFamily="49" charset="-122"/>
          <a:ea typeface="隶书" pitchFamily="49" charset="-122"/>
        </a:defRPr>
      </a:lvl7pPr>
      <a:lvl8pPr marL="1371440" algn="l" rtl="0" eaLnBrk="1" fontAlgn="base" hangingPunct="1">
        <a:spcBef>
          <a:spcPct val="0"/>
        </a:spcBef>
        <a:spcAft>
          <a:spcPct val="0"/>
        </a:spcAft>
        <a:defRPr sz="4000" b="1">
          <a:solidFill>
            <a:schemeClr val="tx1"/>
          </a:solidFill>
          <a:latin typeface="隶书" pitchFamily="49" charset="-122"/>
          <a:ea typeface="隶书" pitchFamily="49" charset="-122"/>
        </a:defRPr>
      </a:lvl8pPr>
      <a:lvl9pPr marL="1828586" algn="l" rtl="0" eaLnBrk="1" fontAlgn="base" hangingPunct="1">
        <a:spcBef>
          <a:spcPct val="0"/>
        </a:spcBef>
        <a:spcAft>
          <a:spcPct val="0"/>
        </a:spcAft>
        <a:defRPr sz="4000" b="1">
          <a:solidFill>
            <a:schemeClr val="tx1"/>
          </a:solidFill>
          <a:latin typeface="隶书" pitchFamily="49" charset="-122"/>
          <a:ea typeface="隶书" pitchFamily="49" charset="-122"/>
        </a:defRPr>
      </a:lvl9pPr>
    </p:titleStyle>
    <p:bodyStyle>
      <a:lvl1pPr marL="354013" indent="-354013" algn="l" rtl="0" eaLnBrk="1" fontAlgn="base" hangingPunct="1">
        <a:lnSpc>
          <a:spcPct val="120000"/>
        </a:lnSpc>
        <a:spcBef>
          <a:spcPts val="600"/>
        </a:spcBef>
        <a:spcAft>
          <a:spcPct val="0"/>
        </a:spcAft>
        <a:buClr>
          <a:schemeClr val="tx1"/>
        </a:buClr>
        <a:buSzPct val="90000"/>
        <a:buFont typeface="Wingdings" panose="05000000000000000000" pitchFamily="2" charset="2"/>
        <a:buChar char="Ø"/>
        <a:defRPr sz="2800" b="1">
          <a:solidFill>
            <a:schemeClr val="tx1"/>
          </a:solidFill>
          <a:latin typeface="楷体_GB2312" pitchFamily="49" charset="-122"/>
          <a:ea typeface="楷体_GB2312" pitchFamily="49" charset="-122"/>
          <a:cs typeface="+mn-cs"/>
        </a:defRPr>
      </a:lvl1pPr>
      <a:lvl2pPr marL="898525" indent="-363538" algn="l" rtl="0" eaLnBrk="1" fontAlgn="base" hangingPunct="1">
        <a:lnSpc>
          <a:spcPct val="120000"/>
        </a:lnSpc>
        <a:spcBef>
          <a:spcPts val="600"/>
        </a:spcBef>
        <a:spcAft>
          <a:spcPct val="0"/>
        </a:spcAft>
        <a:buSzPct val="80000"/>
        <a:buFont typeface="Wingdings" panose="05000000000000000000" pitchFamily="2" charset="2"/>
        <a:buChar char="Ø"/>
        <a:defRPr sz="2800" b="1">
          <a:solidFill>
            <a:schemeClr val="tx1"/>
          </a:solidFill>
          <a:latin typeface="楷体_GB2312" pitchFamily="49" charset="-122"/>
          <a:ea typeface="楷体_GB2312" pitchFamily="49" charset="-122"/>
        </a:defRPr>
      </a:lvl2pPr>
      <a:lvl3pPr marL="1522413" indent="-442913" algn="l" rtl="0" eaLnBrk="1" fontAlgn="base" hangingPunct="1">
        <a:lnSpc>
          <a:spcPct val="120000"/>
        </a:lnSpc>
        <a:spcBef>
          <a:spcPts val="600"/>
        </a:spcBef>
        <a:spcAft>
          <a:spcPct val="0"/>
        </a:spcAft>
        <a:buSzPct val="80000"/>
        <a:buFont typeface="Wingdings" panose="05000000000000000000" pitchFamily="2" charset="2"/>
        <a:buChar char="l"/>
        <a:defRPr sz="2800" b="1">
          <a:solidFill>
            <a:schemeClr val="tx1"/>
          </a:solidFill>
          <a:latin typeface="楷体_GB2312" pitchFamily="49" charset="-122"/>
          <a:ea typeface="楷体_GB2312" pitchFamily="49" charset="-122"/>
        </a:defRPr>
      </a:lvl3pPr>
      <a:lvl4pPr marL="1600200" indent="-169863" algn="l" rtl="0" eaLnBrk="1" fontAlgn="base" hangingPunct="1">
        <a:lnSpc>
          <a:spcPct val="120000"/>
        </a:lnSpc>
        <a:spcBef>
          <a:spcPts val="600"/>
        </a:spcBef>
        <a:spcAft>
          <a:spcPct val="0"/>
        </a:spcAft>
        <a:buClr>
          <a:schemeClr val="tx2"/>
        </a:buClr>
        <a:buFont typeface="Wingdings" panose="05000000000000000000" pitchFamily="2" charset="2"/>
        <a:buChar char="§"/>
        <a:defRPr sz="2800" b="1">
          <a:solidFill>
            <a:schemeClr val="tx1"/>
          </a:solidFill>
          <a:latin typeface="楷体_GB2312" pitchFamily="49" charset="-122"/>
          <a:ea typeface="楷体_GB2312" pitchFamily="49" charset="-122"/>
        </a:defRPr>
      </a:lvl4pPr>
      <a:lvl5pPr marL="1951038" indent="-169863" algn="l" rtl="0" eaLnBrk="1" fontAlgn="base" hangingPunct="1">
        <a:lnSpc>
          <a:spcPct val="120000"/>
        </a:lnSpc>
        <a:spcBef>
          <a:spcPts val="600"/>
        </a:spcBef>
        <a:spcAft>
          <a:spcPct val="0"/>
        </a:spcAft>
        <a:buClr>
          <a:schemeClr val="accent1"/>
        </a:buClr>
        <a:buFont typeface="Wingdings" panose="05000000000000000000" pitchFamily="2" charset="2"/>
        <a:buChar char="§"/>
        <a:defRPr sz="2800" b="1">
          <a:solidFill>
            <a:schemeClr val="tx1"/>
          </a:solidFill>
          <a:latin typeface="楷体_GB2312" pitchFamily="49" charset="-122"/>
          <a:ea typeface="楷体_GB2312" pitchFamily="49" charset="-122"/>
        </a:defRPr>
      </a:lvl5pPr>
      <a:lvl6pPr marL="2409543" indent="-171430" algn="l" rtl="0" eaLnBrk="1" fontAlgn="base" hangingPunct="1">
        <a:lnSpc>
          <a:spcPct val="120000"/>
        </a:lnSpc>
        <a:spcBef>
          <a:spcPct val="20000"/>
        </a:spcBef>
        <a:spcAft>
          <a:spcPct val="0"/>
        </a:spcAft>
        <a:buClr>
          <a:schemeClr val="accent1"/>
        </a:buClr>
        <a:buFont typeface="Wingdings" pitchFamily="2" charset="2"/>
        <a:buChar char="§"/>
        <a:defRPr sz="2800">
          <a:solidFill>
            <a:schemeClr val="tx1"/>
          </a:solidFill>
          <a:latin typeface="+mn-lt"/>
          <a:ea typeface="+mn-ea"/>
        </a:defRPr>
      </a:lvl6pPr>
      <a:lvl7pPr marL="2866690" indent="-171430" algn="l" rtl="0" eaLnBrk="1" fontAlgn="base" hangingPunct="1">
        <a:lnSpc>
          <a:spcPct val="120000"/>
        </a:lnSpc>
        <a:spcBef>
          <a:spcPct val="20000"/>
        </a:spcBef>
        <a:spcAft>
          <a:spcPct val="0"/>
        </a:spcAft>
        <a:buClr>
          <a:schemeClr val="accent1"/>
        </a:buClr>
        <a:buFont typeface="Wingdings" pitchFamily="2" charset="2"/>
        <a:buChar char="§"/>
        <a:defRPr sz="2800">
          <a:solidFill>
            <a:schemeClr val="tx1"/>
          </a:solidFill>
          <a:latin typeface="+mn-lt"/>
          <a:ea typeface="+mn-ea"/>
        </a:defRPr>
      </a:lvl7pPr>
      <a:lvl8pPr marL="3323836" indent="-171430" algn="l" rtl="0" eaLnBrk="1" fontAlgn="base" hangingPunct="1">
        <a:lnSpc>
          <a:spcPct val="120000"/>
        </a:lnSpc>
        <a:spcBef>
          <a:spcPct val="20000"/>
        </a:spcBef>
        <a:spcAft>
          <a:spcPct val="0"/>
        </a:spcAft>
        <a:buClr>
          <a:schemeClr val="accent1"/>
        </a:buClr>
        <a:buFont typeface="Wingdings" pitchFamily="2" charset="2"/>
        <a:buChar char="§"/>
        <a:defRPr sz="2800">
          <a:solidFill>
            <a:schemeClr val="tx1"/>
          </a:solidFill>
          <a:latin typeface="+mn-lt"/>
          <a:ea typeface="+mn-ea"/>
        </a:defRPr>
      </a:lvl8pPr>
      <a:lvl9pPr marL="3780983" indent="-171430" algn="l" rtl="0" eaLnBrk="1" fontAlgn="base" hangingPunct="1">
        <a:lnSpc>
          <a:spcPct val="120000"/>
        </a:lnSpc>
        <a:spcBef>
          <a:spcPct val="20000"/>
        </a:spcBef>
        <a:spcAft>
          <a:spcPct val="0"/>
        </a:spcAft>
        <a:buClr>
          <a:schemeClr val="accent1"/>
        </a:buClr>
        <a:buFont typeface="Wingdings" pitchFamily="2" charset="2"/>
        <a:buChar char="§"/>
        <a:defRPr sz="2800">
          <a:solidFill>
            <a:schemeClr val="tx1"/>
          </a:solidFill>
          <a:latin typeface="+mn-lt"/>
          <a:ea typeface="+mn-ea"/>
        </a:defRPr>
      </a:lvl9pPr>
    </p:bodyStyle>
    <p:otherStyle>
      <a:defPPr>
        <a:defRPr lang="zh-CN"/>
      </a:defPPr>
      <a:lvl1pPr marL="0" algn="l" defTabSz="914293" rtl="0" eaLnBrk="1" latinLnBrk="0" hangingPunct="1">
        <a:defRPr sz="1800" kern="1200">
          <a:solidFill>
            <a:schemeClr val="tx1"/>
          </a:solidFill>
          <a:latin typeface="+mn-lt"/>
          <a:ea typeface="+mn-ea"/>
          <a:cs typeface="+mn-cs"/>
        </a:defRPr>
      </a:lvl1pPr>
      <a:lvl2pPr marL="457146" algn="l" defTabSz="914293" rtl="0" eaLnBrk="1" latinLnBrk="0" hangingPunct="1">
        <a:defRPr sz="1800" kern="1200">
          <a:solidFill>
            <a:schemeClr val="tx1"/>
          </a:solidFill>
          <a:latin typeface="+mn-lt"/>
          <a:ea typeface="+mn-ea"/>
          <a:cs typeface="+mn-cs"/>
        </a:defRPr>
      </a:lvl2pPr>
      <a:lvl3pPr marL="914293" algn="l" defTabSz="914293" rtl="0" eaLnBrk="1" latinLnBrk="0" hangingPunct="1">
        <a:defRPr sz="1800" kern="1200">
          <a:solidFill>
            <a:schemeClr val="tx1"/>
          </a:solidFill>
          <a:latin typeface="+mn-lt"/>
          <a:ea typeface="+mn-ea"/>
          <a:cs typeface="+mn-cs"/>
        </a:defRPr>
      </a:lvl3pPr>
      <a:lvl4pPr marL="1371440" algn="l" defTabSz="914293" rtl="0" eaLnBrk="1" latinLnBrk="0" hangingPunct="1">
        <a:defRPr sz="1800" kern="1200">
          <a:solidFill>
            <a:schemeClr val="tx1"/>
          </a:solidFill>
          <a:latin typeface="+mn-lt"/>
          <a:ea typeface="+mn-ea"/>
          <a:cs typeface="+mn-cs"/>
        </a:defRPr>
      </a:lvl4pPr>
      <a:lvl5pPr marL="1828586" algn="l" defTabSz="914293" rtl="0" eaLnBrk="1" latinLnBrk="0" hangingPunct="1">
        <a:defRPr sz="1800" kern="1200">
          <a:solidFill>
            <a:schemeClr val="tx1"/>
          </a:solidFill>
          <a:latin typeface="+mn-lt"/>
          <a:ea typeface="+mn-ea"/>
          <a:cs typeface="+mn-cs"/>
        </a:defRPr>
      </a:lvl5pPr>
      <a:lvl6pPr marL="2285733" algn="l" defTabSz="914293" rtl="0" eaLnBrk="1" latinLnBrk="0" hangingPunct="1">
        <a:defRPr sz="1800" kern="1200">
          <a:solidFill>
            <a:schemeClr val="tx1"/>
          </a:solidFill>
          <a:latin typeface="+mn-lt"/>
          <a:ea typeface="+mn-ea"/>
          <a:cs typeface="+mn-cs"/>
        </a:defRPr>
      </a:lvl6pPr>
      <a:lvl7pPr marL="2742879" algn="l" defTabSz="914293" rtl="0" eaLnBrk="1" latinLnBrk="0" hangingPunct="1">
        <a:defRPr sz="1800" kern="1200">
          <a:solidFill>
            <a:schemeClr val="tx1"/>
          </a:solidFill>
          <a:latin typeface="+mn-lt"/>
          <a:ea typeface="+mn-ea"/>
          <a:cs typeface="+mn-cs"/>
        </a:defRPr>
      </a:lvl7pPr>
      <a:lvl8pPr marL="3200026" algn="l" defTabSz="914293" rtl="0" eaLnBrk="1" latinLnBrk="0" hangingPunct="1">
        <a:defRPr sz="1800" kern="1200">
          <a:solidFill>
            <a:schemeClr val="tx1"/>
          </a:solidFill>
          <a:latin typeface="+mn-lt"/>
          <a:ea typeface="+mn-ea"/>
          <a:cs typeface="+mn-cs"/>
        </a:defRPr>
      </a:lvl8pPr>
      <a:lvl9pPr marL="3657172" algn="l" defTabSz="914293"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4" name="Rectangle 20">
            <a:extLst>
              <a:ext uri="{FF2B5EF4-FFF2-40B4-BE49-F238E27FC236}">
                <a16:creationId xmlns:a16="http://schemas.microsoft.com/office/drawing/2014/main" id="{82AC8A9E-D3EE-4E4F-A317-3CBB3282FB63}"/>
              </a:ext>
            </a:extLst>
          </p:cNvPr>
          <p:cNvSpPr>
            <a:spLocks noChangeArrowheads="1"/>
          </p:cNvSpPr>
          <p:nvPr/>
        </p:nvSpPr>
        <p:spPr bwMode="auto">
          <a:xfrm>
            <a:off x="0" y="6366414"/>
            <a:ext cx="12192000" cy="492125"/>
          </a:xfrm>
          <a:prstGeom prst="rect">
            <a:avLst/>
          </a:prstGeom>
          <a:gradFill rotWithShape="1">
            <a:gsLst>
              <a:gs pos="0">
                <a:srgbClr val="7889FB"/>
              </a:gs>
              <a:gs pos="100000">
                <a:srgbClr val="383F74"/>
              </a:gs>
            </a:gsLst>
            <a:lin ang="0" scaled="1"/>
          </a:gradFill>
          <a:ln w="9525">
            <a:noFill/>
            <a:miter lim="800000"/>
            <a:headEnd/>
            <a:tailEnd/>
          </a:ln>
        </p:spPr>
        <p:txBody>
          <a:bodyPr wrap="none" lIns="91429" tIns="45714" rIns="91429" bIns="45714" anchor="ctr"/>
          <a:lstStyle/>
          <a:p>
            <a:pPr>
              <a:defRPr/>
            </a:pPr>
            <a:r>
              <a:rPr lang="zh-CN" altLang="en-US" sz="2000" b="1" dirty="0">
                <a:solidFill>
                  <a:schemeClr val="bg1"/>
                </a:solidFill>
                <a:latin typeface="华文新魏" pitchFamily="2" charset="-122"/>
                <a:ea typeface="华文新魏" pitchFamily="2" charset="-122"/>
              </a:rPr>
              <a:t>电子科技大学</a:t>
            </a:r>
          </a:p>
        </p:txBody>
      </p:sp>
      <p:sp>
        <p:nvSpPr>
          <p:cNvPr id="2050" name="Rectangle 2">
            <a:extLst>
              <a:ext uri="{FF2B5EF4-FFF2-40B4-BE49-F238E27FC236}">
                <a16:creationId xmlns:a16="http://schemas.microsoft.com/office/drawing/2014/main" id="{7A6AEEDB-A218-431B-A1B9-F5B413B1776B}"/>
              </a:ext>
            </a:extLst>
          </p:cNvPr>
          <p:cNvSpPr>
            <a:spLocks noChangeArrowheads="1"/>
          </p:cNvSpPr>
          <p:nvPr/>
        </p:nvSpPr>
        <p:spPr bwMode="auto">
          <a:xfrm>
            <a:off x="3945467" y="6016626"/>
            <a:ext cx="4773084" cy="555625"/>
          </a:xfrm>
          <a:prstGeom prst="rect">
            <a:avLst/>
          </a:prstGeom>
          <a:noFill/>
          <a:ln w="9525">
            <a:noFill/>
            <a:miter lim="800000"/>
            <a:headEnd/>
            <a:tailEnd/>
          </a:ln>
        </p:spPr>
        <p:txBody>
          <a:bodyPr lIns="91429" tIns="45714" rIns="91429" bIns="45714"/>
          <a:lstStyle/>
          <a:p>
            <a:pPr eaLnBrk="0" hangingPunct="0">
              <a:defRPr/>
            </a:pPr>
            <a:endParaRPr lang="en-US" altLang="zh-CN" sz="1600">
              <a:latin typeface="Times New Roman" pitchFamily="18" charset="0"/>
            </a:endParaRPr>
          </a:p>
        </p:txBody>
      </p:sp>
      <p:sp>
        <p:nvSpPr>
          <p:cNvPr id="139266" name="AutoShape 2" descr="http://t11.baidu.com/it/u=975435960,157200472&amp;fm=21&amp;gp=0.jpg">
            <a:extLst>
              <a:ext uri="{FF2B5EF4-FFF2-40B4-BE49-F238E27FC236}">
                <a16:creationId xmlns:a16="http://schemas.microsoft.com/office/drawing/2014/main" id="{17A1FF9F-8B16-4FF8-89C6-EE525A8D10A7}"/>
              </a:ext>
            </a:extLst>
          </p:cNvPr>
          <p:cNvSpPr>
            <a:spLocks noChangeAspect="1" noChangeArrowheads="1"/>
          </p:cNvSpPr>
          <p:nvPr/>
        </p:nvSpPr>
        <p:spPr bwMode="auto">
          <a:xfrm>
            <a:off x="218017" y="-144463"/>
            <a:ext cx="406400" cy="304801"/>
          </a:xfrm>
          <a:prstGeom prst="rect">
            <a:avLst/>
          </a:prstGeom>
          <a:noFill/>
        </p:spPr>
        <p:txBody>
          <a:bodyPr lIns="91429" tIns="45714" rIns="91429" bIns="45714"/>
          <a:lstStyle/>
          <a:p>
            <a:pPr>
              <a:defRPr/>
            </a:pPr>
            <a:endParaRPr lang="zh-CN" altLang="en-US" sz="1600"/>
          </a:p>
        </p:txBody>
      </p:sp>
      <p:pic>
        <p:nvPicPr>
          <p:cNvPr id="1026" name="Picture 2" descr="http://t13.baidu.com/it/u=1814656950,1493058970&amp;fm=224&amp;app=112&amp;f=JPEG?w=500&amp;h=500">
            <a:extLst>
              <a:ext uri="{FF2B5EF4-FFF2-40B4-BE49-F238E27FC236}">
                <a16:creationId xmlns:a16="http://schemas.microsoft.com/office/drawing/2014/main" id="{2ED4CD40-7817-4634-AA1E-5F8765822AE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1500" t="10689" r="21272" b="9176"/>
          <a:stretch/>
        </p:blipFill>
        <p:spPr bwMode="auto">
          <a:xfrm>
            <a:off x="5507710" y="152776"/>
            <a:ext cx="1199756" cy="1260000"/>
          </a:xfrm>
          <a:prstGeom prst="rect">
            <a:avLst/>
          </a:prstGeom>
          <a:noFill/>
          <a:extLst>
            <a:ext uri="{909E8E84-426E-40DD-AFC4-6F175D3DCCD1}">
              <a14:hiddenFill xmlns:a14="http://schemas.microsoft.com/office/drawing/2010/main">
                <a:solidFill>
                  <a:srgbClr val="FFFFFF"/>
                </a:solidFill>
              </a14:hiddenFill>
            </a:ext>
          </a:extLst>
        </p:spPr>
      </p:pic>
      <p:pic>
        <p:nvPicPr>
          <p:cNvPr id="7" name="图片 6">
            <a:extLst>
              <a:ext uri="{FF2B5EF4-FFF2-40B4-BE49-F238E27FC236}">
                <a16:creationId xmlns:a16="http://schemas.microsoft.com/office/drawing/2014/main" id="{F44A2DB1-B297-4062-9648-DC005C16DF0E}"/>
              </a:ext>
            </a:extLst>
          </p:cNvPr>
          <p:cNvPicPr>
            <a:picLocks noChangeAspect="1"/>
          </p:cNvPicPr>
          <p:nvPr/>
        </p:nvPicPr>
        <p:blipFill rotWithShape="1">
          <a:blip r:embed="rId4">
            <a:extLst>
              <a:ext uri="{28A0092B-C50C-407E-A947-70E740481C1C}">
                <a14:useLocalDpi xmlns:a14="http://schemas.microsoft.com/office/drawing/2010/main" val="0"/>
              </a:ext>
            </a:extLst>
          </a:blip>
          <a:srcRect l="11235" r="11644"/>
          <a:stretch/>
        </p:blipFill>
        <p:spPr>
          <a:xfrm>
            <a:off x="2846970" y="152776"/>
            <a:ext cx="2291785" cy="1260000"/>
          </a:xfrm>
          <a:prstGeom prst="rect">
            <a:avLst/>
          </a:prstGeom>
        </p:spPr>
      </p:pic>
      <p:pic>
        <p:nvPicPr>
          <p:cNvPr id="21" name="图片 20">
            <a:extLst>
              <a:ext uri="{FF2B5EF4-FFF2-40B4-BE49-F238E27FC236}">
                <a16:creationId xmlns:a16="http://schemas.microsoft.com/office/drawing/2014/main" id="{35E3252F-1C7D-4D00-AD04-B79C5E2AE058}"/>
              </a:ext>
            </a:extLst>
          </p:cNvPr>
          <p:cNvPicPr>
            <a:picLocks noChangeAspect="1"/>
          </p:cNvPicPr>
          <p:nvPr/>
        </p:nvPicPr>
        <p:blipFill rotWithShape="1">
          <a:blip r:embed="rId5"/>
          <a:srcRect l="49891" r="-1" b="49796"/>
          <a:stretch/>
        </p:blipFill>
        <p:spPr>
          <a:xfrm>
            <a:off x="239350" y="152776"/>
            <a:ext cx="2238665" cy="1260000"/>
          </a:xfrm>
          <a:prstGeom prst="rect">
            <a:avLst/>
          </a:prstGeom>
        </p:spPr>
      </p:pic>
      <p:pic>
        <p:nvPicPr>
          <p:cNvPr id="22" name="图片 21">
            <a:extLst>
              <a:ext uri="{FF2B5EF4-FFF2-40B4-BE49-F238E27FC236}">
                <a16:creationId xmlns:a16="http://schemas.microsoft.com/office/drawing/2014/main" id="{E5CC1C3E-381E-4CE6-8E4B-CB87EDE9907C}"/>
              </a:ext>
            </a:extLst>
          </p:cNvPr>
          <p:cNvPicPr>
            <a:picLocks noChangeAspect="1"/>
          </p:cNvPicPr>
          <p:nvPr/>
        </p:nvPicPr>
        <p:blipFill rotWithShape="1">
          <a:blip r:embed="rId5"/>
          <a:srcRect t="49796" r="49890"/>
          <a:stretch/>
        </p:blipFill>
        <p:spPr>
          <a:xfrm>
            <a:off x="7076420" y="152776"/>
            <a:ext cx="2238667" cy="1260000"/>
          </a:xfrm>
          <a:prstGeom prst="rect">
            <a:avLst/>
          </a:prstGeom>
        </p:spPr>
      </p:pic>
      <p:pic>
        <p:nvPicPr>
          <p:cNvPr id="23" name="图片 22">
            <a:extLst>
              <a:ext uri="{FF2B5EF4-FFF2-40B4-BE49-F238E27FC236}">
                <a16:creationId xmlns:a16="http://schemas.microsoft.com/office/drawing/2014/main" id="{59726EE5-F41E-4A75-82F2-3B895A90CCA8}"/>
              </a:ext>
            </a:extLst>
          </p:cNvPr>
          <p:cNvPicPr>
            <a:picLocks noChangeAspect="1"/>
          </p:cNvPicPr>
          <p:nvPr/>
        </p:nvPicPr>
        <p:blipFill rotWithShape="1">
          <a:blip r:embed="rId5"/>
          <a:srcRect l="49621" t="50192"/>
          <a:stretch/>
        </p:blipFill>
        <p:spPr>
          <a:xfrm>
            <a:off x="9684043" y="152776"/>
            <a:ext cx="2268608" cy="1260000"/>
          </a:xfrm>
          <a:prstGeom prst="rect">
            <a:avLst/>
          </a:prstGeom>
        </p:spPr>
      </p:pic>
      <p:pic>
        <p:nvPicPr>
          <p:cNvPr id="24" name="图片 23">
            <a:extLst>
              <a:ext uri="{FF2B5EF4-FFF2-40B4-BE49-F238E27FC236}">
                <a16:creationId xmlns:a16="http://schemas.microsoft.com/office/drawing/2014/main" id="{8567F5C1-B9AD-4F30-B5C2-2342C7046E50}"/>
              </a:ext>
            </a:extLst>
          </p:cNvPr>
          <p:cNvPicPr>
            <a:picLocks/>
          </p:cNvPicPr>
          <p:nvPr/>
        </p:nvPicPr>
        <p:blipFill>
          <a:blip r:embed="rId6"/>
          <a:stretch>
            <a:fillRect/>
          </a:stretch>
        </p:blipFill>
        <p:spPr>
          <a:xfrm>
            <a:off x="11655479" y="6365875"/>
            <a:ext cx="493200" cy="493200"/>
          </a:xfrm>
          <a:prstGeom prst="rect">
            <a:avLst/>
          </a:prstGeom>
        </p:spPr>
      </p:pic>
    </p:spTree>
    <p:extLst>
      <p:ext uri="{BB962C8B-B14F-4D97-AF65-F5344CB8AC3E}">
        <p14:creationId xmlns:p14="http://schemas.microsoft.com/office/powerpoint/2010/main" val="2247593098"/>
      </p:ext>
    </p:extLst>
  </p:cSld>
  <p:clrMap bg1="lt1" tx1="dk1" bg2="lt2" tx2="dk2" accent1="accent1" accent2="accent2" accent3="accent3" accent4="accent4" accent5="accent5" accent6="accent6" hlink="hlink" folHlink="folHlink"/>
  <p:sldLayoutIdLst>
    <p:sldLayoutId id="2147483940" r:id="rId1"/>
  </p:sldLayoutIdLst>
  <p:transition/>
  <p:hf hdr="0"/>
  <p:txStyles>
    <p:titleStyle>
      <a:lvl1pPr algn="l" rtl="0" eaLnBrk="1" fontAlgn="base" hangingPunct="1">
        <a:spcBef>
          <a:spcPct val="0"/>
        </a:spcBef>
        <a:spcAft>
          <a:spcPct val="0"/>
        </a:spcAft>
        <a:defRPr sz="4000" b="1">
          <a:solidFill>
            <a:schemeClr val="tx1"/>
          </a:solidFill>
          <a:latin typeface="+mj-lt"/>
          <a:ea typeface="+mj-ea"/>
          <a:cs typeface="+mj-cs"/>
        </a:defRPr>
      </a:lvl1pPr>
      <a:lvl2pPr algn="l" rtl="0" eaLnBrk="1" fontAlgn="base" hangingPunct="1">
        <a:spcBef>
          <a:spcPct val="0"/>
        </a:spcBef>
        <a:spcAft>
          <a:spcPct val="0"/>
        </a:spcAft>
        <a:defRPr sz="4000" b="1">
          <a:solidFill>
            <a:schemeClr val="tx1"/>
          </a:solidFill>
          <a:latin typeface="隶书" pitchFamily="49" charset="-122"/>
          <a:ea typeface="隶书" pitchFamily="49" charset="-122"/>
        </a:defRPr>
      </a:lvl2pPr>
      <a:lvl3pPr algn="l" rtl="0" eaLnBrk="1" fontAlgn="base" hangingPunct="1">
        <a:spcBef>
          <a:spcPct val="0"/>
        </a:spcBef>
        <a:spcAft>
          <a:spcPct val="0"/>
        </a:spcAft>
        <a:defRPr sz="4000" b="1">
          <a:solidFill>
            <a:schemeClr val="tx1"/>
          </a:solidFill>
          <a:latin typeface="隶书" pitchFamily="49" charset="-122"/>
          <a:ea typeface="隶书" pitchFamily="49" charset="-122"/>
        </a:defRPr>
      </a:lvl3pPr>
      <a:lvl4pPr algn="l" rtl="0" eaLnBrk="1" fontAlgn="base" hangingPunct="1">
        <a:spcBef>
          <a:spcPct val="0"/>
        </a:spcBef>
        <a:spcAft>
          <a:spcPct val="0"/>
        </a:spcAft>
        <a:defRPr sz="4000" b="1">
          <a:solidFill>
            <a:schemeClr val="tx1"/>
          </a:solidFill>
          <a:latin typeface="隶书" pitchFamily="49" charset="-122"/>
          <a:ea typeface="隶书" pitchFamily="49" charset="-122"/>
        </a:defRPr>
      </a:lvl4pPr>
      <a:lvl5pPr algn="l" rtl="0" eaLnBrk="1" fontAlgn="base" hangingPunct="1">
        <a:spcBef>
          <a:spcPct val="0"/>
        </a:spcBef>
        <a:spcAft>
          <a:spcPct val="0"/>
        </a:spcAft>
        <a:defRPr sz="4000" b="1">
          <a:solidFill>
            <a:schemeClr val="tx1"/>
          </a:solidFill>
          <a:latin typeface="隶书" pitchFamily="49" charset="-122"/>
          <a:ea typeface="隶书" pitchFamily="49" charset="-122"/>
        </a:defRPr>
      </a:lvl5pPr>
      <a:lvl6pPr marL="457146" algn="l" rtl="0" eaLnBrk="1" fontAlgn="base" hangingPunct="1">
        <a:spcBef>
          <a:spcPct val="0"/>
        </a:spcBef>
        <a:spcAft>
          <a:spcPct val="0"/>
        </a:spcAft>
        <a:defRPr sz="4000" b="1">
          <a:solidFill>
            <a:schemeClr val="tx1"/>
          </a:solidFill>
          <a:latin typeface="隶书" pitchFamily="49" charset="-122"/>
          <a:ea typeface="隶书" pitchFamily="49" charset="-122"/>
        </a:defRPr>
      </a:lvl6pPr>
      <a:lvl7pPr marL="914293" algn="l" rtl="0" eaLnBrk="1" fontAlgn="base" hangingPunct="1">
        <a:spcBef>
          <a:spcPct val="0"/>
        </a:spcBef>
        <a:spcAft>
          <a:spcPct val="0"/>
        </a:spcAft>
        <a:defRPr sz="4000" b="1">
          <a:solidFill>
            <a:schemeClr val="tx1"/>
          </a:solidFill>
          <a:latin typeface="隶书" pitchFamily="49" charset="-122"/>
          <a:ea typeface="隶书" pitchFamily="49" charset="-122"/>
        </a:defRPr>
      </a:lvl7pPr>
      <a:lvl8pPr marL="1371440" algn="l" rtl="0" eaLnBrk="1" fontAlgn="base" hangingPunct="1">
        <a:spcBef>
          <a:spcPct val="0"/>
        </a:spcBef>
        <a:spcAft>
          <a:spcPct val="0"/>
        </a:spcAft>
        <a:defRPr sz="4000" b="1">
          <a:solidFill>
            <a:schemeClr val="tx1"/>
          </a:solidFill>
          <a:latin typeface="隶书" pitchFamily="49" charset="-122"/>
          <a:ea typeface="隶书" pitchFamily="49" charset="-122"/>
        </a:defRPr>
      </a:lvl8pPr>
      <a:lvl9pPr marL="1828586" algn="l" rtl="0" eaLnBrk="1" fontAlgn="base" hangingPunct="1">
        <a:spcBef>
          <a:spcPct val="0"/>
        </a:spcBef>
        <a:spcAft>
          <a:spcPct val="0"/>
        </a:spcAft>
        <a:defRPr sz="4000" b="1">
          <a:solidFill>
            <a:schemeClr val="tx1"/>
          </a:solidFill>
          <a:latin typeface="隶书" pitchFamily="49" charset="-122"/>
          <a:ea typeface="隶书" pitchFamily="49" charset="-122"/>
        </a:defRPr>
      </a:lvl9pPr>
    </p:titleStyle>
    <p:bodyStyle>
      <a:lvl1pPr marL="354013" indent="-354013" algn="l" rtl="0" eaLnBrk="1" fontAlgn="base" hangingPunct="1">
        <a:lnSpc>
          <a:spcPct val="120000"/>
        </a:lnSpc>
        <a:spcBef>
          <a:spcPct val="20000"/>
        </a:spcBef>
        <a:spcAft>
          <a:spcPct val="0"/>
        </a:spcAft>
        <a:buClr>
          <a:schemeClr val="tx1"/>
        </a:buClr>
        <a:buSzPct val="90000"/>
        <a:buFont typeface="Wingdings" panose="05000000000000000000" pitchFamily="2" charset="2"/>
        <a:buChar char="Ø"/>
        <a:defRPr sz="2800">
          <a:solidFill>
            <a:schemeClr val="tx1"/>
          </a:solidFill>
          <a:latin typeface="+mn-lt"/>
          <a:ea typeface="+mn-ea"/>
          <a:cs typeface="+mn-cs"/>
        </a:defRPr>
      </a:lvl1pPr>
      <a:lvl2pPr marL="898525" indent="-363538" algn="l" rtl="0" eaLnBrk="1" fontAlgn="base" hangingPunct="1">
        <a:lnSpc>
          <a:spcPct val="120000"/>
        </a:lnSpc>
        <a:spcBef>
          <a:spcPct val="20000"/>
        </a:spcBef>
        <a:spcAft>
          <a:spcPct val="0"/>
        </a:spcAft>
        <a:buClr>
          <a:srgbClr val="000066"/>
        </a:buClr>
        <a:buSzPct val="70000"/>
        <a:buFont typeface="Wingdings" panose="05000000000000000000" pitchFamily="2" charset="2"/>
        <a:buChar char="u"/>
        <a:defRPr sz="2800">
          <a:solidFill>
            <a:schemeClr val="tx1"/>
          </a:solidFill>
          <a:latin typeface="+mn-lt"/>
          <a:ea typeface="+mn-ea"/>
        </a:defRPr>
      </a:lvl2pPr>
      <a:lvl3pPr marL="1249363" indent="-169863" algn="l" rtl="0" eaLnBrk="1" fontAlgn="base" hangingPunct="1">
        <a:lnSpc>
          <a:spcPct val="120000"/>
        </a:lnSpc>
        <a:spcBef>
          <a:spcPct val="20000"/>
        </a:spcBef>
        <a:spcAft>
          <a:spcPct val="0"/>
        </a:spcAft>
        <a:buClr>
          <a:schemeClr val="tx2"/>
        </a:buClr>
        <a:buFont typeface="Wingdings" panose="05000000000000000000" pitchFamily="2" charset="2"/>
        <a:buChar char="§"/>
        <a:defRPr sz="2800">
          <a:solidFill>
            <a:schemeClr val="tx1"/>
          </a:solidFill>
          <a:latin typeface="+mn-lt"/>
          <a:ea typeface="+mn-ea"/>
        </a:defRPr>
      </a:lvl3pPr>
      <a:lvl4pPr marL="1600200" indent="-169863" algn="l" rtl="0" eaLnBrk="1" fontAlgn="base" hangingPunct="1">
        <a:lnSpc>
          <a:spcPct val="120000"/>
        </a:lnSpc>
        <a:spcBef>
          <a:spcPct val="20000"/>
        </a:spcBef>
        <a:spcAft>
          <a:spcPct val="0"/>
        </a:spcAft>
        <a:buClr>
          <a:schemeClr val="tx2"/>
        </a:buClr>
        <a:buFont typeface="Wingdings" panose="05000000000000000000" pitchFamily="2" charset="2"/>
        <a:buChar char="§"/>
        <a:defRPr sz="2800">
          <a:solidFill>
            <a:schemeClr val="tx1"/>
          </a:solidFill>
          <a:latin typeface="+mn-lt"/>
          <a:ea typeface="+mn-ea"/>
        </a:defRPr>
      </a:lvl4pPr>
      <a:lvl5pPr marL="1951038" indent="-169863" algn="l" rtl="0" eaLnBrk="1" fontAlgn="base" hangingPunct="1">
        <a:lnSpc>
          <a:spcPct val="120000"/>
        </a:lnSpc>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5pPr>
      <a:lvl6pPr marL="2409543" indent="-171430" algn="l" rtl="0" eaLnBrk="1" fontAlgn="base" hangingPunct="1">
        <a:lnSpc>
          <a:spcPct val="120000"/>
        </a:lnSpc>
        <a:spcBef>
          <a:spcPct val="20000"/>
        </a:spcBef>
        <a:spcAft>
          <a:spcPct val="0"/>
        </a:spcAft>
        <a:buClr>
          <a:schemeClr val="accent1"/>
        </a:buClr>
        <a:buFont typeface="Wingdings" pitchFamily="2" charset="2"/>
        <a:buChar char="§"/>
        <a:defRPr sz="2800">
          <a:solidFill>
            <a:schemeClr val="tx1"/>
          </a:solidFill>
          <a:latin typeface="+mn-lt"/>
          <a:ea typeface="+mn-ea"/>
        </a:defRPr>
      </a:lvl6pPr>
      <a:lvl7pPr marL="2866690" indent="-171430" algn="l" rtl="0" eaLnBrk="1" fontAlgn="base" hangingPunct="1">
        <a:lnSpc>
          <a:spcPct val="120000"/>
        </a:lnSpc>
        <a:spcBef>
          <a:spcPct val="20000"/>
        </a:spcBef>
        <a:spcAft>
          <a:spcPct val="0"/>
        </a:spcAft>
        <a:buClr>
          <a:schemeClr val="accent1"/>
        </a:buClr>
        <a:buFont typeface="Wingdings" pitchFamily="2" charset="2"/>
        <a:buChar char="§"/>
        <a:defRPr sz="2800">
          <a:solidFill>
            <a:schemeClr val="tx1"/>
          </a:solidFill>
          <a:latin typeface="+mn-lt"/>
          <a:ea typeface="+mn-ea"/>
        </a:defRPr>
      </a:lvl7pPr>
      <a:lvl8pPr marL="3323836" indent="-171430" algn="l" rtl="0" eaLnBrk="1" fontAlgn="base" hangingPunct="1">
        <a:lnSpc>
          <a:spcPct val="120000"/>
        </a:lnSpc>
        <a:spcBef>
          <a:spcPct val="20000"/>
        </a:spcBef>
        <a:spcAft>
          <a:spcPct val="0"/>
        </a:spcAft>
        <a:buClr>
          <a:schemeClr val="accent1"/>
        </a:buClr>
        <a:buFont typeface="Wingdings" pitchFamily="2" charset="2"/>
        <a:buChar char="§"/>
        <a:defRPr sz="2800">
          <a:solidFill>
            <a:schemeClr val="tx1"/>
          </a:solidFill>
          <a:latin typeface="+mn-lt"/>
          <a:ea typeface="+mn-ea"/>
        </a:defRPr>
      </a:lvl8pPr>
      <a:lvl9pPr marL="3780983" indent="-171430" algn="l" rtl="0" eaLnBrk="1" fontAlgn="base" hangingPunct="1">
        <a:lnSpc>
          <a:spcPct val="120000"/>
        </a:lnSpc>
        <a:spcBef>
          <a:spcPct val="20000"/>
        </a:spcBef>
        <a:spcAft>
          <a:spcPct val="0"/>
        </a:spcAft>
        <a:buClr>
          <a:schemeClr val="accent1"/>
        </a:buClr>
        <a:buFont typeface="Wingdings" pitchFamily="2" charset="2"/>
        <a:buChar char="§"/>
        <a:defRPr sz="2800">
          <a:solidFill>
            <a:schemeClr val="tx1"/>
          </a:solidFill>
          <a:latin typeface="+mn-lt"/>
          <a:ea typeface="+mn-ea"/>
        </a:defRPr>
      </a:lvl9pPr>
    </p:bodyStyle>
    <p:otherStyle>
      <a:defPPr>
        <a:defRPr lang="zh-CN"/>
      </a:defPPr>
      <a:lvl1pPr marL="0" algn="l" defTabSz="914293" rtl="0" eaLnBrk="1" latinLnBrk="0" hangingPunct="1">
        <a:defRPr sz="1800" kern="1200">
          <a:solidFill>
            <a:schemeClr val="tx1"/>
          </a:solidFill>
          <a:latin typeface="+mn-lt"/>
          <a:ea typeface="+mn-ea"/>
          <a:cs typeface="+mn-cs"/>
        </a:defRPr>
      </a:lvl1pPr>
      <a:lvl2pPr marL="457146" algn="l" defTabSz="914293" rtl="0" eaLnBrk="1" latinLnBrk="0" hangingPunct="1">
        <a:defRPr sz="1800" kern="1200">
          <a:solidFill>
            <a:schemeClr val="tx1"/>
          </a:solidFill>
          <a:latin typeface="+mn-lt"/>
          <a:ea typeface="+mn-ea"/>
          <a:cs typeface="+mn-cs"/>
        </a:defRPr>
      </a:lvl2pPr>
      <a:lvl3pPr marL="914293" algn="l" defTabSz="914293" rtl="0" eaLnBrk="1" latinLnBrk="0" hangingPunct="1">
        <a:defRPr sz="1800" kern="1200">
          <a:solidFill>
            <a:schemeClr val="tx1"/>
          </a:solidFill>
          <a:latin typeface="+mn-lt"/>
          <a:ea typeface="+mn-ea"/>
          <a:cs typeface="+mn-cs"/>
        </a:defRPr>
      </a:lvl3pPr>
      <a:lvl4pPr marL="1371440" algn="l" defTabSz="914293" rtl="0" eaLnBrk="1" latinLnBrk="0" hangingPunct="1">
        <a:defRPr sz="1800" kern="1200">
          <a:solidFill>
            <a:schemeClr val="tx1"/>
          </a:solidFill>
          <a:latin typeface="+mn-lt"/>
          <a:ea typeface="+mn-ea"/>
          <a:cs typeface="+mn-cs"/>
        </a:defRPr>
      </a:lvl4pPr>
      <a:lvl5pPr marL="1828586" algn="l" defTabSz="914293" rtl="0" eaLnBrk="1" latinLnBrk="0" hangingPunct="1">
        <a:defRPr sz="1800" kern="1200">
          <a:solidFill>
            <a:schemeClr val="tx1"/>
          </a:solidFill>
          <a:latin typeface="+mn-lt"/>
          <a:ea typeface="+mn-ea"/>
          <a:cs typeface="+mn-cs"/>
        </a:defRPr>
      </a:lvl5pPr>
      <a:lvl6pPr marL="2285733" algn="l" defTabSz="914293" rtl="0" eaLnBrk="1" latinLnBrk="0" hangingPunct="1">
        <a:defRPr sz="1800" kern="1200">
          <a:solidFill>
            <a:schemeClr val="tx1"/>
          </a:solidFill>
          <a:latin typeface="+mn-lt"/>
          <a:ea typeface="+mn-ea"/>
          <a:cs typeface="+mn-cs"/>
        </a:defRPr>
      </a:lvl6pPr>
      <a:lvl7pPr marL="2742879" algn="l" defTabSz="914293" rtl="0" eaLnBrk="1" latinLnBrk="0" hangingPunct="1">
        <a:defRPr sz="1800" kern="1200">
          <a:solidFill>
            <a:schemeClr val="tx1"/>
          </a:solidFill>
          <a:latin typeface="+mn-lt"/>
          <a:ea typeface="+mn-ea"/>
          <a:cs typeface="+mn-cs"/>
        </a:defRPr>
      </a:lvl7pPr>
      <a:lvl8pPr marL="3200026" algn="l" defTabSz="914293" rtl="0" eaLnBrk="1" latinLnBrk="0" hangingPunct="1">
        <a:defRPr sz="1800" kern="1200">
          <a:solidFill>
            <a:schemeClr val="tx1"/>
          </a:solidFill>
          <a:latin typeface="+mn-lt"/>
          <a:ea typeface="+mn-ea"/>
          <a:cs typeface="+mn-cs"/>
        </a:defRPr>
      </a:lvl8pPr>
      <a:lvl9pPr marL="3657172" algn="l" defTabSz="91429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9.jpe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8.png"/><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14.wmf"/><Relationship Id="rId5" Type="http://schemas.openxmlformats.org/officeDocument/2006/relationships/oleObject" Target="../embeddings/oleObject1.bin"/><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 Id="rId4" Type="http://schemas.openxmlformats.org/officeDocument/2006/relationships/image" Target="../media/image17.jpe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5.png"/><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22.png"/><Relationship Id="rId4" Type="http://schemas.openxmlformats.org/officeDocument/2006/relationships/image" Target="../media/image21.wmf"/></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notesSlide" Target="../notesSlides/notesSlide4.xml"/><Relationship Id="rId7" Type="http://schemas.openxmlformats.org/officeDocument/2006/relationships/image" Target="../media/image25.jpeg"/><Relationship Id="rId2" Type="http://schemas.openxmlformats.org/officeDocument/2006/relationships/slideLayout" Target="../slideLayouts/slideLayout3.xml"/><Relationship Id="rId1" Type="http://schemas.openxmlformats.org/officeDocument/2006/relationships/vmlDrawing" Target="../drawings/vmlDrawing3.vml"/><Relationship Id="rId6" Type="http://schemas.openxmlformats.org/officeDocument/2006/relationships/image" Target="../media/image15.png"/><Relationship Id="rId5" Type="http://schemas.openxmlformats.org/officeDocument/2006/relationships/image" Target="../media/image24.wmf"/><Relationship Id="rId4" Type="http://schemas.openxmlformats.org/officeDocument/2006/relationships/oleObject" Target="../embeddings/oleObject3.bin"/></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5.png"/><Relationship Id="rId1" Type="http://schemas.openxmlformats.org/officeDocument/2006/relationships/slideLayout" Target="../slideLayouts/slideLayout3.xml"/><Relationship Id="rId5" Type="http://schemas.openxmlformats.org/officeDocument/2006/relationships/image" Target="../media/image29.pn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34.png"/><Relationship Id="rId4" Type="http://schemas.openxmlformats.org/officeDocument/2006/relationships/image" Target="../media/image33.wmf"/></Relationships>
</file>

<file path=ppt/slides/_rels/slide22.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http://www.lnnu.edu.cn/xdjyjx/CG_HTML/05/05030301.JPG" TargetMode="Externa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http://www.lnnu.edu.cn/xdjyjx/CG_HTML/05/05030302.JPG" TargetMode="External"/><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39.wmf"/></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3.xml"/><Relationship Id="rId1" Type="http://schemas.openxmlformats.org/officeDocument/2006/relationships/vmlDrawing" Target="../drawings/vmlDrawing6.vml"/><Relationship Id="rId5" Type="http://schemas.openxmlformats.org/officeDocument/2006/relationships/image" Target="../media/image40.wmf"/><Relationship Id="rId4" Type="http://schemas.openxmlformats.org/officeDocument/2006/relationships/oleObject" Target="../embeddings/oleObject6.bin"/></Relationships>
</file>

<file path=ppt/slides/_rels/slide31.xml.rels><?xml version="1.0" encoding="UTF-8" standalone="yes"?>
<Relationships xmlns="http://schemas.openxmlformats.org/package/2006/relationships"><Relationship Id="rId8" Type="http://schemas.openxmlformats.org/officeDocument/2006/relationships/image" Target="../media/image42.wmf"/><Relationship Id="rId3" Type="http://schemas.openxmlformats.org/officeDocument/2006/relationships/notesSlide" Target="../notesSlides/notesSlide6.xml"/><Relationship Id="rId7" Type="http://schemas.openxmlformats.org/officeDocument/2006/relationships/oleObject" Target="../embeddings/oleObject8.bin"/><Relationship Id="rId12" Type="http://schemas.openxmlformats.org/officeDocument/2006/relationships/image" Target="../media/image44.wmf"/><Relationship Id="rId2" Type="http://schemas.openxmlformats.org/officeDocument/2006/relationships/slideLayout" Target="../slideLayouts/slideLayout3.xml"/><Relationship Id="rId1" Type="http://schemas.openxmlformats.org/officeDocument/2006/relationships/vmlDrawing" Target="../drawings/vmlDrawing7.vml"/><Relationship Id="rId6" Type="http://schemas.openxmlformats.org/officeDocument/2006/relationships/image" Target="../media/image41.wmf"/><Relationship Id="rId11" Type="http://schemas.openxmlformats.org/officeDocument/2006/relationships/oleObject" Target="../embeddings/oleObject10.bin"/><Relationship Id="rId5" Type="http://schemas.openxmlformats.org/officeDocument/2006/relationships/oleObject" Target="../embeddings/oleObject7.bin"/><Relationship Id="rId10" Type="http://schemas.openxmlformats.org/officeDocument/2006/relationships/image" Target="../media/image43.wmf"/><Relationship Id="rId4" Type="http://schemas.openxmlformats.org/officeDocument/2006/relationships/image" Target="../media/image15.png"/><Relationship Id="rId9" Type="http://schemas.openxmlformats.org/officeDocument/2006/relationships/oleObject" Target="../embeddings/oleObject9.bin"/></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45.wmf"/><Relationship Id="rId4" Type="http://schemas.openxmlformats.org/officeDocument/2006/relationships/oleObject" Target="../embeddings/oleObject11.bin"/></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46.wmf"/><Relationship Id="rId4" Type="http://schemas.openxmlformats.org/officeDocument/2006/relationships/oleObject" Target="../embeddings/oleObject12.bin"/></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vmlDrawing" Target="../drawings/vmlDrawing10.vml"/><Relationship Id="rId5" Type="http://schemas.openxmlformats.org/officeDocument/2006/relationships/image" Target="../media/image47.wmf"/><Relationship Id="rId4" Type="http://schemas.openxmlformats.org/officeDocument/2006/relationships/oleObject" Target="../embeddings/oleObject13.bin"/></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41" name="图片 6" descr="image_6.png">
            <a:extLst>
              <a:ext uri="{FF2B5EF4-FFF2-40B4-BE49-F238E27FC236}">
                <a16:creationId xmlns:a16="http://schemas.microsoft.com/office/drawing/2014/main" id="{53762B5F-59B9-465A-A38C-321E85F1814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888039" y="3247337"/>
            <a:ext cx="3735387" cy="298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2" name="图片 7" descr="10082111326173bee2db897905.jpg">
            <a:extLst>
              <a:ext uri="{FF2B5EF4-FFF2-40B4-BE49-F238E27FC236}">
                <a16:creationId xmlns:a16="http://schemas.microsoft.com/office/drawing/2014/main" id="{BCA361C7-D05C-4248-9712-D27D4F533A19}"/>
              </a:ext>
            </a:extLst>
          </p:cNvPr>
          <p:cNvPicPr>
            <a:picLocks noChangeAspect="1"/>
          </p:cNvPicPr>
          <p:nvPr/>
        </p:nvPicPr>
        <p:blipFill>
          <a:blip r:embed="rId3">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2430464" y="3255275"/>
            <a:ext cx="2987675" cy="298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4">
            <a:extLst>
              <a:ext uri="{FF2B5EF4-FFF2-40B4-BE49-F238E27FC236}">
                <a16:creationId xmlns:a16="http://schemas.microsoft.com/office/drawing/2014/main" id="{9A59A6AB-1749-46DB-86FF-D22167510A09}"/>
              </a:ext>
            </a:extLst>
          </p:cNvPr>
          <p:cNvSpPr txBox="1">
            <a:spLocks noChangeArrowheads="1"/>
          </p:cNvSpPr>
          <p:nvPr/>
        </p:nvSpPr>
        <p:spPr>
          <a:xfrm>
            <a:off x="0" y="1784748"/>
            <a:ext cx="12192000" cy="923318"/>
          </a:xfrm>
          <a:prstGeom prst="rect">
            <a:avLst/>
          </a:prstGeom>
          <a:solidFill>
            <a:schemeClr val="tx2">
              <a:lumMod val="20000"/>
              <a:lumOff val="80000"/>
            </a:schemeClr>
          </a:solidFill>
        </p:spPr>
        <p:txBody>
          <a:bodyPr wrap="square" lIns="91429" tIns="45714" rIns="91429" bIns="45714">
            <a:spAutoFit/>
          </a:bodyPr>
          <a:lstStyle>
            <a:lvl1pPr algn="l" rtl="0" eaLnBrk="1" fontAlgn="base" hangingPunct="1">
              <a:spcBef>
                <a:spcPct val="0"/>
              </a:spcBef>
              <a:spcAft>
                <a:spcPct val="0"/>
              </a:spcAft>
              <a:defRPr sz="4000" b="1">
                <a:solidFill>
                  <a:schemeClr val="tx1"/>
                </a:solidFill>
                <a:latin typeface="+mj-lt"/>
                <a:ea typeface="+mj-ea"/>
                <a:cs typeface="+mj-cs"/>
              </a:defRPr>
            </a:lvl1pPr>
            <a:lvl2pPr algn="l" rtl="0" eaLnBrk="1" fontAlgn="base" hangingPunct="1">
              <a:spcBef>
                <a:spcPct val="0"/>
              </a:spcBef>
              <a:spcAft>
                <a:spcPct val="0"/>
              </a:spcAft>
              <a:defRPr sz="4000" b="1">
                <a:solidFill>
                  <a:schemeClr val="tx1"/>
                </a:solidFill>
                <a:latin typeface="隶书" pitchFamily="49" charset="-122"/>
                <a:ea typeface="隶书" pitchFamily="49" charset="-122"/>
              </a:defRPr>
            </a:lvl2pPr>
            <a:lvl3pPr algn="l" rtl="0" eaLnBrk="1" fontAlgn="base" hangingPunct="1">
              <a:spcBef>
                <a:spcPct val="0"/>
              </a:spcBef>
              <a:spcAft>
                <a:spcPct val="0"/>
              </a:spcAft>
              <a:defRPr sz="4000" b="1">
                <a:solidFill>
                  <a:schemeClr val="tx1"/>
                </a:solidFill>
                <a:latin typeface="隶书" pitchFamily="49" charset="-122"/>
                <a:ea typeface="隶书" pitchFamily="49" charset="-122"/>
              </a:defRPr>
            </a:lvl3pPr>
            <a:lvl4pPr algn="l" rtl="0" eaLnBrk="1" fontAlgn="base" hangingPunct="1">
              <a:spcBef>
                <a:spcPct val="0"/>
              </a:spcBef>
              <a:spcAft>
                <a:spcPct val="0"/>
              </a:spcAft>
              <a:defRPr sz="4000" b="1">
                <a:solidFill>
                  <a:schemeClr val="tx1"/>
                </a:solidFill>
                <a:latin typeface="隶书" pitchFamily="49" charset="-122"/>
                <a:ea typeface="隶书" pitchFamily="49" charset="-122"/>
              </a:defRPr>
            </a:lvl4pPr>
            <a:lvl5pPr algn="l" rtl="0" eaLnBrk="1" fontAlgn="base" hangingPunct="1">
              <a:spcBef>
                <a:spcPct val="0"/>
              </a:spcBef>
              <a:spcAft>
                <a:spcPct val="0"/>
              </a:spcAft>
              <a:defRPr sz="4000" b="1">
                <a:solidFill>
                  <a:schemeClr val="tx1"/>
                </a:solidFill>
                <a:latin typeface="隶书" pitchFamily="49" charset="-122"/>
                <a:ea typeface="隶书" pitchFamily="49" charset="-122"/>
              </a:defRPr>
            </a:lvl5pPr>
            <a:lvl6pPr marL="457146" algn="l" rtl="0" eaLnBrk="1" fontAlgn="base" hangingPunct="1">
              <a:spcBef>
                <a:spcPct val="0"/>
              </a:spcBef>
              <a:spcAft>
                <a:spcPct val="0"/>
              </a:spcAft>
              <a:defRPr sz="4000" b="1">
                <a:solidFill>
                  <a:schemeClr val="tx1"/>
                </a:solidFill>
                <a:latin typeface="隶书" pitchFamily="49" charset="-122"/>
                <a:ea typeface="隶书" pitchFamily="49" charset="-122"/>
              </a:defRPr>
            </a:lvl6pPr>
            <a:lvl7pPr marL="914293" algn="l" rtl="0" eaLnBrk="1" fontAlgn="base" hangingPunct="1">
              <a:spcBef>
                <a:spcPct val="0"/>
              </a:spcBef>
              <a:spcAft>
                <a:spcPct val="0"/>
              </a:spcAft>
              <a:defRPr sz="4000" b="1">
                <a:solidFill>
                  <a:schemeClr val="tx1"/>
                </a:solidFill>
                <a:latin typeface="隶书" pitchFamily="49" charset="-122"/>
                <a:ea typeface="隶书" pitchFamily="49" charset="-122"/>
              </a:defRPr>
            </a:lvl7pPr>
            <a:lvl8pPr marL="1371440" algn="l" rtl="0" eaLnBrk="1" fontAlgn="base" hangingPunct="1">
              <a:spcBef>
                <a:spcPct val="0"/>
              </a:spcBef>
              <a:spcAft>
                <a:spcPct val="0"/>
              </a:spcAft>
              <a:defRPr sz="4000" b="1">
                <a:solidFill>
                  <a:schemeClr val="tx1"/>
                </a:solidFill>
                <a:latin typeface="隶书" pitchFamily="49" charset="-122"/>
                <a:ea typeface="隶书" pitchFamily="49" charset="-122"/>
              </a:defRPr>
            </a:lvl8pPr>
            <a:lvl9pPr marL="1828586" algn="l" rtl="0" eaLnBrk="1" fontAlgn="base" hangingPunct="1">
              <a:spcBef>
                <a:spcPct val="0"/>
              </a:spcBef>
              <a:spcAft>
                <a:spcPct val="0"/>
              </a:spcAft>
              <a:defRPr sz="4000" b="1">
                <a:solidFill>
                  <a:schemeClr val="tx1"/>
                </a:solidFill>
                <a:latin typeface="隶书" pitchFamily="49" charset="-122"/>
                <a:ea typeface="隶书" pitchFamily="49" charset="-122"/>
              </a:defRPr>
            </a:lvl9pPr>
          </a:lstStyle>
          <a:p>
            <a:pPr algn="ctr">
              <a:defRPr/>
            </a:pPr>
            <a:r>
              <a:rPr lang="zh-CN" altLang="en-US" sz="5400" kern="0">
                <a:solidFill>
                  <a:srgbClr val="C00000"/>
                </a:solidFill>
              </a:rPr>
              <a:t>第四章 </a:t>
            </a:r>
            <a:r>
              <a:rPr lang="zh-CN" altLang="en-US" sz="5400" kern="0" dirty="0">
                <a:solidFill>
                  <a:srgbClr val="C00000"/>
                </a:solidFill>
              </a:rPr>
              <a:t>颜色模型和颜色应用</a:t>
            </a:r>
          </a:p>
        </p:txBody>
      </p:sp>
    </p:spTree>
  </p:cSld>
  <p:clrMapOvr>
    <a:masterClrMapping/>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7" name="Rectangle 3">
            <a:extLst>
              <a:ext uri="{FF2B5EF4-FFF2-40B4-BE49-F238E27FC236}">
                <a16:creationId xmlns:a16="http://schemas.microsoft.com/office/drawing/2014/main" id="{5891AF65-0976-49E1-8E23-D6D369B39622}"/>
              </a:ext>
            </a:extLst>
          </p:cNvPr>
          <p:cNvSpPr>
            <a:spLocks noGrp="1" noChangeArrowheads="1"/>
          </p:cNvSpPr>
          <p:nvPr>
            <p:ph idx="4294967295"/>
          </p:nvPr>
        </p:nvSpPr>
        <p:spPr>
          <a:xfrm>
            <a:off x="2184401" y="973273"/>
            <a:ext cx="8150225" cy="4534819"/>
          </a:xfrm>
        </p:spPr>
        <p:txBody>
          <a:bodyPr/>
          <a:lstStyle/>
          <a:p>
            <a:pPr marL="514350" indent="-514350">
              <a:lnSpc>
                <a:spcPct val="150000"/>
              </a:lnSpc>
              <a:spcBef>
                <a:spcPts val="0"/>
              </a:spcBef>
              <a:buFont typeface="+mj-lt"/>
              <a:buAutoNum type="arabicPeriod"/>
              <a:defRPr/>
            </a:pPr>
            <a:r>
              <a:rPr lang="zh-CN" altLang="en-US" dirty="0">
                <a:latin typeface="Times New Roman" panose="02020603050405020304" pitchFamily="18" charset="0"/>
                <a:ea typeface="黑体" pitchFamily="49" charset="-122"/>
                <a:cs typeface="Times New Roman" panose="02020603050405020304" pitchFamily="18" charset="0"/>
              </a:rPr>
              <a:t>概述</a:t>
            </a:r>
          </a:p>
          <a:p>
            <a:pPr marL="514350" indent="-514350">
              <a:lnSpc>
                <a:spcPct val="150000"/>
              </a:lnSpc>
              <a:spcBef>
                <a:spcPts val="0"/>
              </a:spcBef>
              <a:buFont typeface="+mj-lt"/>
              <a:buAutoNum type="arabicPeriod"/>
              <a:defRPr/>
            </a:pPr>
            <a:r>
              <a:rPr lang="en-US" altLang="zh-CN" dirty="0">
                <a:latin typeface="Times New Roman" panose="02020603050405020304" pitchFamily="18" charset="0"/>
                <a:ea typeface="黑体" pitchFamily="49" charset="-122"/>
                <a:cs typeface="Times New Roman" panose="02020603050405020304" pitchFamily="18" charset="0"/>
              </a:rPr>
              <a:t>RGB</a:t>
            </a:r>
            <a:r>
              <a:rPr lang="zh-CN" altLang="en-US" dirty="0">
                <a:latin typeface="Times New Roman" panose="02020603050405020304" pitchFamily="18" charset="0"/>
                <a:ea typeface="黑体" pitchFamily="49" charset="-122"/>
                <a:cs typeface="Times New Roman" panose="02020603050405020304" pitchFamily="18" charset="0"/>
              </a:rPr>
              <a:t>颜色模型</a:t>
            </a:r>
          </a:p>
          <a:p>
            <a:pPr marL="514350" indent="-514350">
              <a:lnSpc>
                <a:spcPct val="150000"/>
              </a:lnSpc>
              <a:spcBef>
                <a:spcPts val="0"/>
              </a:spcBef>
              <a:buFont typeface="+mj-lt"/>
              <a:buAutoNum type="arabicPeriod"/>
              <a:defRPr/>
            </a:pPr>
            <a:r>
              <a:rPr lang="en-US" altLang="zh-CN" dirty="0">
                <a:latin typeface="Times New Roman" panose="02020603050405020304" pitchFamily="18" charset="0"/>
                <a:ea typeface="黑体" pitchFamily="49" charset="-122"/>
                <a:cs typeface="Times New Roman" panose="02020603050405020304" pitchFamily="18" charset="0"/>
              </a:rPr>
              <a:t>CMY</a:t>
            </a:r>
            <a:r>
              <a:rPr lang="zh-CN" altLang="en-US" dirty="0">
                <a:latin typeface="Times New Roman" panose="02020603050405020304" pitchFamily="18" charset="0"/>
                <a:ea typeface="黑体" pitchFamily="49" charset="-122"/>
                <a:cs typeface="Times New Roman" panose="02020603050405020304" pitchFamily="18" charset="0"/>
              </a:rPr>
              <a:t>颜色模型</a:t>
            </a:r>
          </a:p>
          <a:p>
            <a:pPr marL="514350" indent="-514350">
              <a:lnSpc>
                <a:spcPct val="150000"/>
              </a:lnSpc>
              <a:spcBef>
                <a:spcPts val="0"/>
              </a:spcBef>
              <a:buFont typeface="+mj-lt"/>
              <a:buAutoNum type="arabicPeriod"/>
              <a:defRPr/>
            </a:pPr>
            <a:r>
              <a:rPr lang="en-US" altLang="zh-CN" dirty="0">
                <a:latin typeface="Times New Roman" panose="02020603050405020304" pitchFamily="18" charset="0"/>
                <a:ea typeface="黑体" pitchFamily="49" charset="-122"/>
                <a:cs typeface="Times New Roman" panose="02020603050405020304" pitchFamily="18" charset="0"/>
              </a:rPr>
              <a:t>HSV</a:t>
            </a:r>
            <a:r>
              <a:rPr lang="zh-CN" altLang="en-US" dirty="0">
                <a:latin typeface="Times New Roman" panose="02020603050405020304" pitchFamily="18" charset="0"/>
                <a:ea typeface="黑体" pitchFamily="49" charset="-122"/>
                <a:cs typeface="Times New Roman" panose="02020603050405020304" pitchFamily="18" charset="0"/>
              </a:rPr>
              <a:t>颜色模型</a:t>
            </a:r>
          </a:p>
          <a:p>
            <a:pPr marL="514350" indent="-514350">
              <a:lnSpc>
                <a:spcPct val="150000"/>
              </a:lnSpc>
              <a:spcBef>
                <a:spcPts val="0"/>
              </a:spcBef>
              <a:buFont typeface="+mj-lt"/>
              <a:buAutoNum type="arabicPeriod"/>
              <a:defRPr/>
            </a:pPr>
            <a:r>
              <a:rPr lang="en-US" altLang="zh-CN" dirty="0">
                <a:latin typeface="Times New Roman" panose="02020603050405020304" pitchFamily="18" charset="0"/>
                <a:ea typeface="黑体" pitchFamily="49" charset="-122"/>
                <a:cs typeface="Times New Roman" panose="02020603050405020304" pitchFamily="18" charset="0"/>
              </a:rPr>
              <a:t>CIE</a:t>
            </a:r>
            <a:r>
              <a:rPr lang="zh-CN" altLang="en-US" dirty="0">
                <a:latin typeface="Times New Roman" panose="02020603050405020304" pitchFamily="18" charset="0"/>
                <a:ea typeface="黑体" pitchFamily="49" charset="-122"/>
                <a:cs typeface="Times New Roman" panose="02020603050405020304" pitchFamily="18" charset="0"/>
              </a:rPr>
              <a:t>颜色模型</a:t>
            </a:r>
            <a:endParaRPr lang="en-US" altLang="zh-CN" dirty="0">
              <a:latin typeface="Times New Roman" panose="02020603050405020304" pitchFamily="18" charset="0"/>
              <a:ea typeface="黑体" pitchFamily="49" charset="-122"/>
              <a:cs typeface="Times New Roman" panose="02020603050405020304" pitchFamily="18" charset="0"/>
            </a:endParaRPr>
          </a:p>
          <a:p>
            <a:pPr marL="514350" indent="-514350">
              <a:lnSpc>
                <a:spcPct val="150000"/>
              </a:lnSpc>
              <a:spcBef>
                <a:spcPts val="0"/>
              </a:spcBef>
              <a:buFont typeface="+mj-lt"/>
              <a:buAutoNum type="arabicPeriod"/>
              <a:defRPr/>
            </a:pPr>
            <a:r>
              <a:rPr lang="zh-CN" altLang="en-US" dirty="0">
                <a:latin typeface="Times New Roman" panose="02020603050405020304" pitchFamily="18" charset="0"/>
                <a:ea typeface="黑体" pitchFamily="49" charset="-122"/>
                <a:cs typeface="Times New Roman" panose="02020603050405020304" pitchFamily="18" charset="0"/>
              </a:rPr>
              <a:t>颜色模型之间的转换算法</a:t>
            </a:r>
            <a:endParaRPr lang="en-US" altLang="zh-CN" dirty="0">
              <a:latin typeface="Times New Roman" panose="02020603050405020304" pitchFamily="18" charset="0"/>
              <a:ea typeface="黑体" pitchFamily="49" charset="-122"/>
              <a:cs typeface="Times New Roman" panose="02020603050405020304" pitchFamily="18" charset="0"/>
            </a:endParaRPr>
          </a:p>
          <a:p>
            <a:pPr marL="514350" indent="-514350">
              <a:lnSpc>
                <a:spcPct val="150000"/>
              </a:lnSpc>
              <a:spcBef>
                <a:spcPts val="0"/>
              </a:spcBef>
              <a:buFont typeface="+mj-lt"/>
              <a:buAutoNum type="arabicPeriod"/>
              <a:defRPr/>
            </a:pPr>
            <a:r>
              <a:rPr lang="en-US" altLang="zh-CN" dirty="0">
                <a:latin typeface="Times New Roman" panose="02020603050405020304" pitchFamily="18" charset="0"/>
                <a:ea typeface="黑体" pitchFamily="49" charset="-122"/>
                <a:cs typeface="Times New Roman" panose="02020603050405020304" pitchFamily="18" charset="0"/>
              </a:rPr>
              <a:t>OpenGL</a:t>
            </a:r>
            <a:r>
              <a:rPr lang="zh-CN" altLang="en-US" dirty="0">
                <a:latin typeface="Times New Roman" panose="02020603050405020304" pitchFamily="18" charset="0"/>
                <a:ea typeface="黑体" pitchFamily="49" charset="-122"/>
                <a:cs typeface="Times New Roman" panose="02020603050405020304" pitchFamily="18" charset="0"/>
              </a:rPr>
              <a:t>颜色模型</a:t>
            </a:r>
            <a:endParaRPr lang="en-US" altLang="zh-CN" dirty="0">
              <a:latin typeface="Times New Roman" panose="02020603050405020304" pitchFamily="18" charset="0"/>
              <a:ea typeface="黑体" pitchFamily="49" charset="-122"/>
              <a:cs typeface="Times New Roman" panose="02020603050405020304" pitchFamily="18" charset="0"/>
            </a:endParaRPr>
          </a:p>
        </p:txBody>
      </p:sp>
      <p:sp>
        <p:nvSpPr>
          <p:cNvPr id="226306" name="Rectangle 2">
            <a:extLst>
              <a:ext uri="{FF2B5EF4-FFF2-40B4-BE49-F238E27FC236}">
                <a16:creationId xmlns:a16="http://schemas.microsoft.com/office/drawing/2014/main" id="{7F964891-EF81-4266-A268-24BAB3832EB8}"/>
              </a:ext>
            </a:extLst>
          </p:cNvPr>
          <p:cNvSpPr>
            <a:spLocks noGrp="1" noChangeArrowheads="1"/>
          </p:cNvSpPr>
          <p:nvPr>
            <p:ph type="title"/>
          </p:nvPr>
        </p:nvSpPr>
        <p:spPr>
          <a:prstGeom prst="rect">
            <a:avLst/>
          </a:prstGeom>
        </p:spPr>
        <p:txBody>
          <a:bodyPr/>
          <a:lstStyle/>
          <a:p>
            <a:pPr>
              <a:defRPr/>
            </a:pPr>
            <a:r>
              <a:rPr lang="zh-CN" altLang="en-US">
                <a:cs typeface="+mj-cs"/>
              </a:rPr>
              <a:t>内容提要</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8">
            <a:extLst>
              <a:ext uri="{FF2B5EF4-FFF2-40B4-BE49-F238E27FC236}">
                <a16:creationId xmlns:a16="http://schemas.microsoft.com/office/drawing/2014/main" id="{CC620731-677E-44A0-9556-208FD3B9D8E8}"/>
              </a:ext>
            </a:extLst>
          </p:cNvPr>
          <p:cNvSpPr>
            <a:spLocks noGrp="1"/>
          </p:cNvSpPr>
          <p:nvPr>
            <p:ph type="title"/>
          </p:nvPr>
        </p:nvSpPr>
        <p:spPr/>
        <p:txBody>
          <a:bodyPr/>
          <a:lstStyle/>
          <a:p>
            <a:r>
              <a:rPr lang="en-US" altLang="zh-CN" dirty="0"/>
              <a:t>1. </a:t>
            </a:r>
            <a:r>
              <a:rPr lang="zh-CN" altLang="en-US" dirty="0"/>
              <a:t>概述</a:t>
            </a:r>
          </a:p>
        </p:txBody>
      </p:sp>
      <p:sp>
        <p:nvSpPr>
          <p:cNvPr id="9223" name="Rectangle 3">
            <a:extLst>
              <a:ext uri="{FF2B5EF4-FFF2-40B4-BE49-F238E27FC236}">
                <a16:creationId xmlns:a16="http://schemas.microsoft.com/office/drawing/2014/main" id="{DF65E499-46B4-4050-8C8F-51DF349D9DC3}"/>
              </a:ext>
            </a:extLst>
          </p:cNvPr>
          <p:cNvSpPr>
            <a:spLocks noChangeArrowheads="1"/>
          </p:cNvSpPr>
          <p:nvPr/>
        </p:nvSpPr>
        <p:spPr bwMode="auto">
          <a:xfrm>
            <a:off x="871220" y="1061455"/>
            <a:ext cx="10963729" cy="497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58775" indent="-358775" defTabSz="912813"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912813"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ts val="1200"/>
              </a:spcBef>
              <a:buClr>
                <a:schemeClr val="accent2"/>
              </a:buClr>
              <a:buSzPct val="85000"/>
              <a:buBlip>
                <a:blip r:embed="rId3"/>
              </a:buBlip>
            </a:pPr>
            <a:r>
              <a:rPr lang="zh-CN" altLang="en-US" b="1" dirty="0">
                <a:solidFill>
                  <a:srgbClr val="C00000"/>
                </a:solidFill>
                <a:ea typeface="楷体_GB2312" pitchFamily="49" charset="-122"/>
              </a:rPr>
              <a:t>可见光</a:t>
            </a:r>
            <a:r>
              <a:rPr lang="zh-CN" altLang="en-US" b="1" dirty="0">
                <a:ea typeface="楷体_GB2312" pitchFamily="49" charset="-122"/>
              </a:rPr>
              <a:t> </a:t>
            </a:r>
          </a:p>
        </p:txBody>
      </p:sp>
      <p:sp>
        <p:nvSpPr>
          <p:cNvPr id="9224" name="Rectangle 4">
            <a:extLst>
              <a:ext uri="{FF2B5EF4-FFF2-40B4-BE49-F238E27FC236}">
                <a16:creationId xmlns:a16="http://schemas.microsoft.com/office/drawing/2014/main" id="{2514768C-919C-47CA-8DAE-8F0746A1BBBD}"/>
              </a:ext>
            </a:extLst>
          </p:cNvPr>
          <p:cNvSpPr>
            <a:spLocks noChangeArrowheads="1"/>
          </p:cNvSpPr>
          <p:nvPr/>
        </p:nvSpPr>
        <p:spPr bwMode="auto">
          <a:xfrm>
            <a:off x="731520" y="1671836"/>
            <a:ext cx="11103429" cy="907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40000"/>
              </a:lnSpc>
              <a:spcBef>
                <a:spcPts val="1200"/>
              </a:spcBef>
            </a:pPr>
            <a:r>
              <a:rPr kumimoji="0" lang="zh-CN" altLang="en-US" sz="2000" b="1" dirty="0">
                <a:ea typeface="楷体_GB2312" pitchFamily="49" charset="-122"/>
              </a:rPr>
              <a:t>电磁波波长范围很大，但只有波长在</a:t>
            </a:r>
            <a:r>
              <a:rPr kumimoji="0" lang="en-US" altLang="zh-CN" sz="2000" b="1" dirty="0">
                <a:solidFill>
                  <a:srgbClr val="C00000"/>
                </a:solidFill>
                <a:ea typeface="楷体_GB2312" pitchFamily="49" charset="-122"/>
                <a:cs typeface="Times New Roman" panose="02020603050405020304" pitchFamily="18" charset="0"/>
              </a:rPr>
              <a:t>400~760nm</a:t>
            </a:r>
            <a:r>
              <a:rPr kumimoji="0" lang="zh-CN" altLang="en-US" sz="2000" b="1" dirty="0">
                <a:ea typeface="楷体_GB2312" pitchFamily="49" charset="-122"/>
              </a:rPr>
              <a:t>这样很小范围内的电磁波，才能使人产生视觉，感到明亮和颜色。把这个波长范围内的电磁波叫可见光</a:t>
            </a:r>
          </a:p>
        </p:txBody>
      </p:sp>
      <p:pic>
        <p:nvPicPr>
          <p:cNvPr id="6" name="图片 5" descr="104032-146efa6b-f646-4cdb-91c3-a64f906c58aa480images.jpg">
            <a:extLst>
              <a:ext uri="{FF2B5EF4-FFF2-40B4-BE49-F238E27FC236}">
                <a16:creationId xmlns:a16="http://schemas.microsoft.com/office/drawing/2014/main" id="{FC80A492-F468-477A-8207-2144E84C4DF6}"/>
              </a:ext>
            </a:extLst>
          </p:cNvPr>
          <p:cNvPicPr>
            <a:picLocks noChangeAspect="1"/>
          </p:cNvPicPr>
          <p:nvPr/>
        </p:nvPicPr>
        <p:blipFill>
          <a:blip r:embed="rId4">
            <a:extLst>
              <a:ext uri="{28A0092B-C50C-407E-A947-70E740481C1C}">
                <a14:useLocalDpi xmlns:a14="http://schemas.microsoft.com/office/drawing/2010/main" val="0"/>
              </a:ext>
            </a:extLst>
          </a:blip>
          <a:srcRect b="12512"/>
          <a:stretch>
            <a:fillRect/>
          </a:stretch>
        </p:blipFill>
        <p:spPr bwMode="auto">
          <a:xfrm>
            <a:off x="1834960" y="3069772"/>
            <a:ext cx="8522081" cy="3665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9223"/>
                                        </p:tgtEl>
                                        <p:attrNameLst>
                                          <p:attrName>style.visibility</p:attrName>
                                        </p:attrNameLst>
                                      </p:cBhvr>
                                      <p:to>
                                        <p:strVal val="visible"/>
                                      </p:to>
                                    </p:set>
                                    <p:animEffect transition="in" filter="wheel(4)">
                                      <p:cBhvr>
                                        <p:cTn id="7" dur="1000"/>
                                        <p:tgtEl>
                                          <p:spTgt spid="9223"/>
                                        </p:tgtEl>
                                      </p:cBhvr>
                                    </p:animEffect>
                                  </p:childTnLst>
                                </p:cTn>
                              </p:par>
                              <p:par>
                                <p:cTn id="8" presetID="21" presetClass="entr" presetSubtype="4" fill="hold" grpId="0" nodeType="withEffect">
                                  <p:stCondLst>
                                    <p:cond delay="0"/>
                                  </p:stCondLst>
                                  <p:childTnLst>
                                    <p:set>
                                      <p:cBhvr>
                                        <p:cTn id="9" dur="1" fill="hold">
                                          <p:stCondLst>
                                            <p:cond delay="0"/>
                                          </p:stCondLst>
                                        </p:cTn>
                                        <p:tgtEl>
                                          <p:spTgt spid="9224"/>
                                        </p:tgtEl>
                                        <p:attrNameLst>
                                          <p:attrName>style.visibility</p:attrName>
                                        </p:attrNameLst>
                                      </p:cBhvr>
                                      <p:to>
                                        <p:strVal val="visible"/>
                                      </p:to>
                                    </p:set>
                                    <p:animEffect transition="in" filter="wheel(4)">
                                      <p:cBhvr>
                                        <p:cTn id="10" dur="1000"/>
                                        <p:tgtEl>
                                          <p:spTgt spid="9224"/>
                                        </p:tgtEl>
                                      </p:cBhvr>
                                    </p:animEffect>
                                  </p:childTnLst>
                                </p:cTn>
                              </p:par>
                            </p:childTnLst>
                          </p:cTn>
                        </p:par>
                        <p:par>
                          <p:cTn id="11" fill="hold" nodeType="afterGroup">
                            <p:stCondLst>
                              <p:cond delay="1000"/>
                            </p:stCondLst>
                            <p:childTnLst>
                              <p:par>
                                <p:cTn id="12" presetID="22" presetClass="entr" presetSubtype="8" fill="hold"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left)">
                                      <p:cBhvr>
                                        <p:cTn id="14"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3" grpId="0"/>
      <p:bldP spid="922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8">
            <a:extLst>
              <a:ext uri="{FF2B5EF4-FFF2-40B4-BE49-F238E27FC236}">
                <a16:creationId xmlns:a16="http://schemas.microsoft.com/office/drawing/2014/main" id="{CC620731-677E-44A0-9556-208FD3B9D8E8}"/>
              </a:ext>
            </a:extLst>
          </p:cNvPr>
          <p:cNvSpPr>
            <a:spLocks noGrp="1"/>
          </p:cNvSpPr>
          <p:nvPr>
            <p:ph type="title"/>
          </p:nvPr>
        </p:nvSpPr>
        <p:spPr/>
        <p:txBody>
          <a:bodyPr/>
          <a:lstStyle/>
          <a:p>
            <a:r>
              <a:rPr lang="en-US" altLang="zh-CN" dirty="0"/>
              <a:t>1. </a:t>
            </a:r>
            <a:r>
              <a:rPr lang="zh-CN" altLang="en-US" dirty="0"/>
              <a:t>概述</a:t>
            </a:r>
          </a:p>
        </p:txBody>
      </p:sp>
      <p:sp>
        <p:nvSpPr>
          <p:cNvPr id="9223" name="Rectangle 3">
            <a:extLst>
              <a:ext uri="{FF2B5EF4-FFF2-40B4-BE49-F238E27FC236}">
                <a16:creationId xmlns:a16="http://schemas.microsoft.com/office/drawing/2014/main" id="{DF65E499-46B4-4050-8C8F-51DF349D9DC3}"/>
              </a:ext>
            </a:extLst>
          </p:cNvPr>
          <p:cNvSpPr>
            <a:spLocks noChangeArrowheads="1"/>
          </p:cNvSpPr>
          <p:nvPr/>
        </p:nvSpPr>
        <p:spPr bwMode="auto">
          <a:xfrm>
            <a:off x="856800" y="1022706"/>
            <a:ext cx="8699500" cy="497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58775" indent="-358775" defTabSz="912813"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912813"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ts val="1200"/>
              </a:spcBef>
              <a:buClr>
                <a:schemeClr val="accent2"/>
              </a:buClr>
              <a:buSzPct val="85000"/>
              <a:buBlip>
                <a:blip r:embed="rId3"/>
              </a:buBlip>
            </a:pPr>
            <a:r>
              <a:rPr lang="zh-CN" altLang="en-US" b="1" dirty="0">
                <a:solidFill>
                  <a:srgbClr val="C00000"/>
                </a:solidFill>
                <a:ea typeface="楷体_GB2312" pitchFamily="49" charset="-122"/>
              </a:rPr>
              <a:t>颜色的心理学特征 </a:t>
            </a:r>
          </a:p>
        </p:txBody>
      </p:sp>
      <p:sp>
        <p:nvSpPr>
          <p:cNvPr id="9224" name="Rectangle 4">
            <a:extLst>
              <a:ext uri="{FF2B5EF4-FFF2-40B4-BE49-F238E27FC236}">
                <a16:creationId xmlns:a16="http://schemas.microsoft.com/office/drawing/2014/main" id="{2514768C-919C-47CA-8DAE-8F0746A1BBBD}"/>
              </a:ext>
            </a:extLst>
          </p:cNvPr>
          <p:cNvSpPr>
            <a:spLocks noChangeArrowheads="1"/>
          </p:cNvSpPr>
          <p:nvPr/>
        </p:nvSpPr>
        <p:spPr bwMode="auto">
          <a:xfrm>
            <a:off x="1188719" y="1617707"/>
            <a:ext cx="10476411" cy="2061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457200" indent="-457200" eaLnBrk="1" hangingPunct="1">
              <a:lnSpc>
                <a:spcPct val="120000"/>
              </a:lnSpc>
              <a:spcBef>
                <a:spcPts val="600"/>
              </a:spcBef>
              <a:buFont typeface="Wingdings" panose="05000000000000000000" pitchFamily="2" charset="2"/>
              <a:buChar char="Ø"/>
            </a:pPr>
            <a:r>
              <a:rPr kumimoji="0" lang="zh-CN" altLang="en-US" sz="2000" b="1" dirty="0">
                <a:solidFill>
                  <a:srgbClr val="C00000"/>
                </a:solidFill>
                <a:ea typeface="楷体_GB2312" pitchFamily="49" charset="-122"/>
              </a:rPr>
              <a:t>亮度</a:t>
            </a:r>
            <a:r>
              <a:rPr kumimoji="0" lang="zh-CN" altLang="en-US" sz="2000" b="1" dirty="0">
                <a:ea typeface="楷体_GB2312" pitchFamily="49" charset="-122"/>
              </a:rPr>
              <a:t>：对应于全部</a:t>
            </a:r>
            <a:r>
              <a:rPr kumimoji="0" lang="zh-CN" altLang="en-US" sz="2000" b="1" dirty="0">
                <a:solidFill>
                  <a:srgbClr val="C00000"/>
                </a:solidFill>
                <a:ea typeface="楷体_GB2312" pitchFamily="49" charset="-122"/>
              </a:rPr>
              <a:t>光能</a:t>
            </a:r>
            <a:r>
              <a:rPr kumimoji="0" lang="zh-CN" altLang="en-US" sz="2000" b="1" dirty="0">
                <a:ea typeface="楷体_GB2312" pitchFamily="49" charset="-122"/>
              </a:rPr>
              <a:t>且可量化为光源亮度。计算曲线以下的面积来获得光源亮度，即发射的整体能量</a:t>
            </a:r>
            <a:endParaRPr kumimoji="0" lang="en-US" altLang="zh-CN" sz="2000" b="1" dirty="0">
              <a:ea typeface="楷体_GB2312" pitchFamily="49" charset="-122"/>
            </a:endParaRPr>
          </a:p>
          <a:p>
            <a:pPr marL="457200" indent="-457200" eaLnBrk="1" hangingPunct="1">
              <a:lnSpc>
                <a:spcPct val="120000"/>
              </a:lnSpc>
              <a:spcBef>
                <a:spcPts val="600"/>
              </a:spcBef>
              <a:buFont typeface="Wingdings" panose="05000000000000000000" pitchFamily="2" charset="2"/>
              <a:buChar char="Ø"/>
            </a:pPr>
            <a:r>
              <a:rPr kumimoji="0" lang="zh-CN" altLang="en-US" sz="2000" b="1" dirty="0">
                <a:solidFill>
                  <a:srgbClr val="C00000"/>
                </a:solidFill>
                <a:ea typeface="楷体_GB2312" pitchFamily="49" charset="-122"/>
              </a:rPr>
              <a:t>饱和度或纯度</a:t>
            </a:r>
            <a:r>
              <a:rPr kumimoji="0" lang="zh-CN" altLang="en-US" sz="2000" b="1" dirty="0">
                <a:ea typeface="楷体_GB2312" pitchFamily="49" charset="-122"/>
              </a:rPr>
              <a:t>：说明光的颜色表现接近光谱色的程度。纯度依赖于</a:t>
            </a:r>
            <a:r>
              <a:rPr kumimoji="0" lang="en-US" altLang="zh-CN" sz="2000" b="1" dirty="0">
                <a:ea typeface="楷体_GB2312" pitchFamily="49" charset="-122"/>
              </a:rPr>
              <a:t>E</a:t>
            </a:r>
            <a:r>
              <a:rPr kumimoji="0" lang="en-US" altLang="zh-CN" sz="2000" b="1" baseline="-25000" dirty="0">
                <a:ea typeface="楷体_GB2312" pitchFamily="49" charset="-122"/>
              </a:rPr>
              <a:t>D</a:t>
            </a:r>
            <a:r>
              <a:rPr kumimoji="0" lang="zh-CN" altLang="en-US" sz="2000" b="1" dirty="0">
                <a:ea typeface="楷体_GB2312" pitchFamily="49" charset="-122"/>
              </a:rPr>
              <a:t>和</a:t>
            </a:r>
            <a:r>
              <a:rPr kumimoji="0" lang="en-US" altLang="zh-CN" sz="2000" b="1" dirty="0">
                <a:ea typeface="楷体_GB2312" pitchFamily="49" charset="-122"/>
              </a:rPr>
              <a:t>E</a:t>
            </a:r>
            <a:r>
              <a:rPr kumimoji="0" lang="en-US" altLang="zh-CN" sz="2000" b="1" baseline="-25000" dirty="0">
                <a:ea typeface="楷体_GB2312" pitchFamily="49" charset="-122"/>
              </a:rPr>
              <a:t>W</a:t>
            </a:r>
            <a:r>
              <a:rPr kumimoji="0" lang="zh-CN" altLang="en-US" sz="2000" b="1" dirty="0">
                <a:ea typeface="楷体_GB2312" pitchFamily="49" charset="-122"/>
              </a:rPr>
              <a:t>之间的差别，主频率的</a:t>
            </a:r>
            <a:r>
              <a:rPr kumimoji="0" lang="en-US" altLang="zh-CN" sz="2000" b="1" dirty="0">
                <a:ea typeface="楷体_GB2312" pitchFamily="49" charset="-122"/>
              </a:rPr>
              <a:t>E</a:t>
            </a:r>
            <a:r>
              <a:rPr kumimoji="0" lang="en-US" altLang="zh-CN" sz="2000" b="1" baseline="-25000" dirty="0">
                <a:ea typeface="楷体_GB2312" pitchFamily="49" charset="-122"/>
              </a:rPr>
              <a:t>D</a:t>
            </a:r>
            <a:r>
              <a:rPr kumimoji="0" lang="zh-CN" altLang="en-US" sz="2000" b="1" dirty="0">
                <a:ea typeface="楷体_GB2312" pitchFamily="49" charset="-122"/>
              </a:rPr>
              <a:t>与</a:t>
            </a:r>
            <a:r>
              <a:rPr kumimoji="0" lang="en-US" altLang="zh-CN" sz="2000" b="1" dirty="0">
                <a:ea typeface="楷体_GB2312" pitchFamily="49" charset="-122"/>
              </a:rPr>
              <a:t>E</a:t>
            </a:r>
            <a:r>
              <a:rPr kumimoji="0" lang="en-US" altLang="zh-CN" sz="2000" b="1" baseline="-25000" dirty="0">
                <a:ea typeface="楷体_GB2312" pitchFamily="49" charset="-122"/>
              </a:rPr>
              <a:t>W</a:t>
            </a:r>
            <a:r>
              <a:rPr kumimoji="0" lang="zh-CN" altLang="en-US" sz="2000" b="1" dirty="0">
                <a:ea typeface="楷体_GB2312" pitchFamily="49" charset="-122"/>
              </a:rPr>
              <a:t>相比越大，光的纯度越大</a:t>
            </a:r>
          </a:p>
          <a:p>
            <a:pPr marL="457200" indent="-457200" eaLnBrk="1" hangingPunct="1">
              <a:lnSpc>
                <a:spcPct val="120000"/>
              </a:lnSpc>
              <a:spcBef>
                <a:spcPts val="600"/>
              </a:spcBef>
              <a:buFont typeface="Wingdings" panose="05000000000000000000" pitchFamily="2" charset="2"/>
              <a:buChar char="Ø"/>
            </a:pPr>
            <a:r>
              <a:rPr kumimoji="0" lang="zh-CN" altLang="en-US" sz="2000" b="1" dirty="0">
                <a:solidFill>
                  <a:srgbClr val="C00000"/>
                </a:solidFill>
                <a:ea typeface="楷体_GB2312" pitchFamily="49" charset="-122"/>
              </a:rPr>
              <a:t>色度</a:t>
            </a:r>
            <a:r>
              <a:rPr kumimoji="0" lang="zh-CN" altLang="en-US" sz="2000" b="1" dirty="0">
                <a:ea typeface="楷体_GB2312" pitchFamily="49" charset="-122"/>
              </a:rPr>
              <a:t>：说明</a:t>
            </a:r>
            <a:r>
              <a:rPr kumimoji="0" lang="zh-CN" altLang="en-US" sz="2000" b="1" dirty="0">
                <a:solidFill>
                  <a:srgbClr val="C00000"/>
                </a:solidFill>
                <a:ea typeface="楷体_GB2312" pitchFamily="49" charset="-122"/>
              </a:rPr>
              <a:t>纯度和主频率（颜色）</a:t>
            </a:r>
            <a:r>
              <a:rPr kumimoji="0" lang="zh-CN" altLang="en-US" sz="2000" b="1" dirty="0">
                <a:ea typeface="楷体_GB2312" pitchFamily="49" charset="-122"/>
              </a:rPr>
              <a:t>这两种颜色特征</a:t>
            </a:r>
          </a:p>
        </p:txBody>
      </p:sp>
      <p:pic>
        <p:nvPicPr>
          <p:cNvPr id="5" name="图片 4">
            <a:extLst>
              <a:ext uri="{FF2B5EF4-FFF2-40B4-BE49-F238E27FC236}">
                <a16:creationId xmlns:a16="http://schemas.microsoft.com/office/drawing/2014/main" id="{7C011FF6-CDC9-4DEC-80A5-25B747643B95}"/>
              </a:ext>
            </a:extLst>
          </p:cNvPr>
          <p:cNvPicPr>
            <a:picLocks noChangeAspect="1"/>
          </p:cNvPicPr>
          <p:nvPr/>
        </p:nvPicPr>
        <p:blipFill rotWithShape="1">
          <a:blip r:embed="rId4">
            <a:extLst>
              <a:ext uri="{28A0092B-C50C-407E-A947-70E740481C1C}">
                <a14:useLocalDpi xmlns:a14="http://schemas.microsoft.com/office/drawing/2010/main" val="0"/>
              </a:ext>
            </a:extLst>
          </a:blip>
          <a:srcRect l="52916"/>
          <a:stretch/>
        </p:blipFill>
        <p:spPr>
          <a:xfrm>
            <a:off x="7397599" y="3679105"/>
            <a:ext cx="3467830" cy="2710425"/>
          </a:xfrm>
          <a:prstGeom prst="rect">
            <a:avLst/>
          </a:prstGeom>
        </p:spPr>
      </p:pic>
      <p:sp>
        <p:nvSpPr>
          <p:cNvPr id="7" name="Rectangle 4">
            <a:extLst>
              <a:ext uri="{FF2B5EF4-FFF2-40B4-BE49-F238E27FC236}">
                <a16:creationId xmlns:a16="http://schemas.microsoft.com/office/drawing/2014/main" id="{6BEA44CD-8152-4A9A-B2A9-4819F106B462}"/>
              </a:ext>
            </a:extLst>
          </p:cNvPr>
          <p:cNvSpPr>
            <a:spLocks noChangeArrowheads="1"/>
          </p:cNvSpPr>
          <p:nvPr/>
        </p:nvSpPr>
        <p:spPr bwMode="auto">
          <a:xfrm>
            <a:off x="1878651" y="6404241"/>
            <a:ext cx="3028120" cy="359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ts val="600"/>
              </a:spcBef>
            </a:pPr>
            <a:r>
              <a:rPr lang="zh-CN" altLang="en-US" sz="1600" dirty="0"/>
              <a:t>白色光源的能量分布</a:t>
            </a:r>
            <a:endParaRPr kumimoji="0" lang="zh-CN" altLang="en-US" sz="1600" b="1" dirty="0">
              <a:ea typeface="楷体_GB2312" pitchFamily="49" charset="-122"/>
            </a:endParaRPr>
          </a:p>
        </p:txBody>
      </p:sp>
      <p:sp>
        <p:nvSpPr>
          <p:cNvPr id="8" name="Rectangle 4">
            <a:extLst>
              <a:ext uri="{FF2B5EF4-FFF2-40B4-BE49-F238E27FC236}">
                <a16:creationId xmlns:a16="http://schemas.microsoft.com/office/drawing/2014/main" id="{6A06810D-A8CD-48B3-ADE7-76FBD63C8859}"/>
              </a:ext>
            </a:extLst>
          </p:cNvPr>
          <p:cNvSpPr>
            <a:spLocks noChangeArrowheads="1"/>
          </p:cNvSpPr>
          <p:nvPr/>
        </p:nvSpPr>
        <p:spPr bwMode="auto">
          <a:xfrm>
            <a:off x="6796744" y="6389530"/>
            <a:ext cx="466954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sz="1400" dirty="0"/>
              <a:t>频率范围中，每近红色端的主频率的光源能量分布</a:t>
            </a:r>
            <a:endParaRPr kumimoji="0" lang="zh-CN" altLang="en-US" sz="1400" b="1" dirty="0">
              <a:ea typeface="楷体_GB2312" pitchFamily="49" charset="-122"/>
            </a:endParaRPr>
          </a:p>
        </p:txBody>
      </p:sp>
      <p:pic>
        <p:nvPicPr>
          <p:cNvPr id="9" name="图片 8">
            <a:extLst>
              <a:ext uri="{FF2B5EF4-FFF2-40B4-BE49-F238E27FC236}">
                <a16:creationId xmlns:a16="http://schemas.microsoft.com/office/drawing/2014/main" id="{0BA9B250-D20B-4E2A-B003-8E2FC3AF4F4C}"/>
              </a:ext>
            </a:extLst>
          </p:cNvPr>
          <p:cNvPicPr>
            <a:picLocks noChangeAspect="1"/>
          </p:cNvPicPr>
          <p:nvPr/>
        </p:nvPicPr>
        <p:blipFill rotWithShape="1">
          <a:blip r:embed="rId4">
            <a:extLst>
              <a:ext uri="{28A0092B-C50C-407E-A947-70E740481C1C}">
                <a14:useLocalDpi xmlns:a14="http://schemas.microsoft.com/office/drawing/2010/main" val="0"/>
              </a:ext>
            </a:extLst>
          </a:blip>
          <a:srcRect r="50746"/>
          <a:stretch/>
        </p:blipFill>
        <p:spPr>
          <a:xfrm>
            <a:off x="1578872" y="3740017"/>
            <a:ext cx="3627678" cy="2710425"/>
          </a:xfrm>
          <a:prstGeom prst="rect">
            <a:avLst/>
          </a:prstGeom>
        </p:spPr>
      </p:pic>
    </p:spTree>
    <p:extLst>
      <p:ext uri="{BB962C8B-B14F-4D97-AF65-F5344CB8AC3E}">
        <p14:creationId xmlns:p14="http://schemas.microsoft.com/office/powerpoint/2010/main" val="371651503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1" presetClass="entr" presetSubtype="4" fill="hold" grpId="0" nodeType="afterEffect">
                                  <p:stCondLst>
                                    <p:cond delay="0"/>
                                  </p:stCondLst>
                                  <p:childTnLst>
                                    <p:set>
                                      <p:cBhvr>
                                        <p:cTn id="6" dur="1" fill="hold">
                                          <p:stCondLst>
                                            <p:cond delay="0"/>
                                          </p:stCondLst>
                                        </p:cTn>
                                        <p:tgtEl>
                                          <p:spTgt spid="9223"/>
                                        </p:tgtEl>
                                        <p:attrNameLst>
                                          <p:attrName>style.visibility</p:attrName>
                                        </p:attrNameLst>
                                      </p:cBhvr>
                                      <p:to>
                                        <p:strVal val="visible"/>
                                      </p:to>
                                    </p:set>
                                    <p:animEffect transition="in" filter="wheel(4)">
                                      <p:cBhvr>
                                        <p:cTn id="7" dur="1000"/>
                                        <p:tgtEl>
                                          <p:spTgt spid="9223"/>
                                        </p:tgtEl>
                                      </p:cBhvr>
                                    </p:animEffect>
                                  </p:childTnLst>
                                </p:cTn>
                              </p:par>
                              <p:par>
                                <p:cTn id="8" presetID="21" presetClass="entr" presetSubtype="4" fill="hold" grpId="0" nodeType="withEffect">
                                  <p:stCondLst>
                                    <p:cond delay="0"/>
                                  </p:stCondLst>
                                  <p:childTnLst>
                                    <p:set>
                                      <p:cBhvr>
                                        <p:cTn id="9" dur="1" fill="hold">
                                          <p:stCondLst>
                                            <p:cond delay="0"/>
                                          </p:stCondLst>
                                        </p:cTn>
                                        <p:tgtEl>
                                          <p:spTgt spid="9224"/>
                                        </p:tgtEl>
                                        <p:attrNameLst>
                                          <p:attrName>style.visibility</p:attrName>
                                        </p:attrNameLst>
                                      </p:cBhvr>
                                      <p:to>
                                        <p:strVal val="visible"/>
                                      </p:to>
                                    </p:set>
                                    <p:animEffect transition="in" filter="wheel(4)">
                                      <p:cBhvr>
                                        <p:cTn id="10" dur="1000"/>
                                        <p:tgtEl>
                                          <p:spTgt spid="9224"/>
                                        </p:tgtEl>
                                      </p:cBhvr>
                                    </p:animEffect>
                                  </p:childTnLst>
                                </p:cTn>
                              </p:par>
                            </p:childTnLst>
                          </p:cTn>
                        </p:par>
                        <p:par>
                          <p:cTn id="11" fill="hold">
                            <p:stCondLst>
                              <p:cond delay="1000"/>
                            </p:stCondLst>
                            <p:childTnLst>
                              <p:par>
                                <p:cTn id="12" presetID="2" presetClass="entr" presetSubtype="4"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additive="base">
                                        <p:cTn id="14" dur="500" fill="hold"/>
                                        <p:tgtEl>
                                          <p:spTgt spid="5"/>
                                        </p:tgtEl>
                                        <p:attrNameLst>
                                          <p:attrName>ppt_x</p:attrName>
                                        </p:attrNameLst>
                                      </p:cBhvr>
                                      <p:tavLst>
                                        <p:tav tm="0">
                                          <p:val>
                                            <p:strVal val="#ppt_x"/>
                                          </p:val>
                                        </p:tav>
                                        <p:tav tm="100000">
                                          <p:val>
                                            <p:strVal val="#ppt_x"/>
                                          </p:val>
                                        </p:tav>
                                      </p:tavLst>
                                    </p:anim>
                                    <p:anim calcmode="lin" valueType="num">
                                      <p:cBhvr additive="base">
                                        <p:cTn id="15" dur="500" fill="hold"/>
                                        <p:tgtEl>
                                          <p:spTgt spid="5"/>
                                        </p:tgtEl>
                                        <p:attrNameLst>
                                          <p:attrName>ppt_y</p:attrName>
                                        </p:attrNameLst>
                                      </p:cBhvr>
                                      <p:tavLst>
                                        <p:tav tm="0">
                                          <p:val>
                                            <p:strVal val="1+#ppt_h/2"/>
                                          </p:val>
                                        </p:tav>
                                        <p:tav tm="100000">
                                          <p:val>
                                            <p:strVal val="#ppt_y"/>
                                          </p:val>
                                        </p:tav>
                                      </p:tavLst>
                                    </p:anim>
                                  </p:childTnLst>
                                </p:cTn>
                              </p:par>
                              <p:par>
                                <p:cTn id="16" presetID="21" presetClass="entr" presetSubtype="4"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heel(4)">
                                      <p:cBhvr>
                                        <p:cTn id="18" dur="1000"/>
                                        <p:tgtEl>
                                          <p:spTgt spid="7"/>
                                        </p:tgtEl>
                                      </p:cBhvr>
                                    </p:animEffect>
                                  </p:childTnLst>
                                </p:cTn>
                              </p:par>
                              <p:par>
                                <p:cTn id="19" presetID="21" presetClass="entr" presetSubtype="4"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heel(4)">
                                      <p:cBhvr>
                                        <p:cTn id="21" dur="1000"/>
                                        <p:tgtEl>
                                          <p:spTgt spid="8"/>
                                        </p:tgtEl>
                                      </p:cBhvr>
                                    </p:animEffect>
                                  </p:childTnLst>
                                </p:cTn>
                              </p:par>
                            </p:childTnLst>
                          </p:cTn>
                        </p:par>
                        <p:par>
                          <p:cTn id="22" fill="hold">
                            <p:stCondLst>
                              <p:cond delay="2000"/>
                            </p:stCondLst>
                            <p:childTnLst>
                              <p:par>
                                <p:cTn id="23" presetID="2" presetClass="entr" presetSubtype="4" fill="hold" nodeType="after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3" grpId="0"/>
      <p:bldP spid="9224" grpId="0"/>
      <p:bldP spid="7" grpId="0"/>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8">
            <a:extLst>
              <a:ext uri="{FF2B5EF4-FFF2-40B4-BE49-F238E27FC236}">
                <a16:creationId xmlns:a16="http://schemas.microsoft.com/office/drawing/2014/main" id="{CC620731-677E-44A0-9556-208FD3B9D8E8}"/>
              </a:ext>
            </a:extLst>
          </p:cNvPr>
          <p:cNvSpPr>
            <a:spLocks noGrp="1"/>
          </p:cNvSpPr>
          <p:nvPr>
            <p:ph type="title"/>
          </p:nvPr>
        </p:nvSpPr>
        <p:spPr/>
        <p:txBody>
          <a:bodyPr/>
          <a:lstStyle/>
          <a:p>
            <a:r>
              <a:rPr lang="en-US" altLang="zh-CN" dirty="0"/>
              <a:t>1. </a:t>
            </a:r>
            <a:r>
              <a:rPr lang="zh-CN" altLang="en-US" dirty="0"/>
              <a:t>概述</a:t>
            </a:r>
          </a:p>
        </p:txBody>
      </p:sp>
      <p:sp>
        <p:nvSpPr>
          <p:cNvPr id="9223" name="Rectangle 3">
            <a:extLst>
              <a:ext uri="{FF2B5EF4-FFF2-40B4-BE49-F238E27FC236}">
                <a16:creationId xmlns:a16="http://schemas.microsoft.com/office/drawing/2014/main" id="{DF65E499-46B4-4050-8C8F-51DF349D9DC3}"/>
              </a:ext>
            </a:extLst>
          </p:cNvPr>
          <p:cNvSpPr>
            <a:spLocks noChangeArrowheads="1"/>
          </p:cNvSpPr>
          <p:nvPr/>
        </p:nvSpPr>
        <p:spPr bwMode="auto">
          <a:xfrm>
            <a:off x="856800" y="887591"/>
            <a:ext cx="8699500" cy="497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58775" indent="-358775" defTabSz="912813"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912813"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ts val="1200"/>
              </a:spcBef>
              <a:buClr>
                <a:schemeClr val="accent2"/>
              </a:buClr>
              <a:buSzPct val="85000"/>
              <a:buBlip>
                <a:blip r:embed="rId2"/>
              </a:buBlip>
            </a:pPr>
            <a:r>
              <a:rPr lang="zh-CN" altLang="en-US" b="1" dirty="0">
                <a:solidFill>
                  <a:srgbClr val="C00000"/>
                </a:solidFill>
                <a:ea typeface="楷体_GB2312" pitchFamily="49" charset="-122"/>
              </a:rPr>
              <a:t>直观的颜色概念</a:t>
            </a:r>
          </a:p>
        </p:txBody>
      </p:sp>
      <p:sp>
        <p:nvSpPr>
          <p:cNvPr id="9224" name="Rectangle 4">
            <a:extLst>
              <a:ext uri="{FF2B5EF4-FFF2-40B4-BE49-F238E27FC236}">
                <a16:creationId xmlns:a16="http://schemas.microsoft.com/office/drawing/2014/main" id="{2514768C-919C-47CA-8DAE-8F0746A1BBBD}"/>
              </a:ext>
            </a:extLst>
          </p:cNvPr>
          <p:cNvSpPr>
            <a:spLocks noChangeArrowheads="1"/>
          </p:cNvSpPr>
          <p:nvPr/>
        </p:nvSpPr>
        <p:spPr bwMode="auto">
          <a:xfrm>
            <a:off x="1261024" y="1398418"/>
            <a:ext cx="10469422" cy="2877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457200" indent="-457200" eaLnBrk="1" hangingPunct="1">
              <a:lnSpc>
                <a:spcPct val="120000"/>
              </a:lnSpc>
              <a:spcBef>
                <a:spcPts val="600"/>
              </a:spcBef>
              <a:buFont typeface="Wingdings" panose="05000000000000000000" pitchFamily="2" charset="2"/>
              <a:buChar char="Ø"/>
            </a:pPr>
            <a:r>
              <a:rPr kumimoji="0" lang="zh-CN" altLang="en-US" sz="2000" b="1" dirty="0">
                <a:ea typeface="楷体_GB2312" pitchFamily="49" charset="-122"/>
              </a:rPr>
              <a:t>艺术家在创作彩色画时，使用彩色颜料与黑、白颜料混合以获得各种</a:t>
            </a:r>
            <a:r>
              <a:rPr kumimoji="0" lang="zh-CN" altLang="en-US" sz="2000" b="1" dirty="0">
                <a:solidFill>
                  <a:srgbClr val="C00000"/>
                </a:solidFill>
                <a:ea typeface="楷体_GB2312" pitchFamily="49" charset="-122"/>
              </a:rPr>
              <a:t>明暗效果、色泽和色调</a:t>
            </a:r>
            <a:endParaRPr kumimoji="0" lang="en-US" altLang="zh-CN" sz="2000" b="1" dirty="0">
              <a:solidFill>
                <a:srgbClr val="C00000"/>
              </a:solidFill>
              <a:ea typeface="楷体_GB2312" pitchFamily="49" charset="-122"/>
            </a:endParaRPr>
          </a:p>
          <a:p>
            <a:pPr marL="457200" indent="-457200" eaLnBrk="1" hangingPunct="1">
              <a:lnSpc>
                <a:spcPct val="120000"/>
              </a:lnSpc>
              <a:spcBef>
                <a:spcPts val="600"/>
              </a:spcBef>
              <a:buFont typeface="Wingdings" panose="05000000000000000000" pitchFamily="2" charset="2"/>
              <a:buChar char="Ø"/>
            </a:pPr>
            <a:r>
              <a:rPr kumimoji="0" lang="zh-CN" altLang="en-US" sz="2000" b="1" dirty="0">
                <a:ea typeface="楷体_GB2312" pitchFamily="49" charset="-122"/>
              </a:rPr>
              <a:t>往纯色颜料里添加黑色颜料来生成各种有不同</a:t>
            </a:r>
            <a:r>
              <a:rPr kumimoji="0" lang="zh-CN" altLang="en-US" sz="2000" b="1" dirty="0">
                <a:solidFill>
                  <a:srgbClr val="C00000"/>
                </a:solidFill>
                <a:ea typeface="楷体_GB2312" pitchFamily="49" charset="-122"/>
              </a:rPr>
              <a:t>明暗</a:t>
            </a:r>
            <a:r>
              <a:rPr kumimoji="0" lang="zh-CN" altLang="en-US" sz="2000" b="1" dirty="0">
                <a:ea typeface="楷体_GB2312" pitchFamily="49" charset="-122"/>
              </a:rPr>
              <a:t>（ </a:t>
            </a:r>
            <a:r>
              <a:rPr kumimoji="0" lang="en-US" altLang="zh-CN" sz="2000" b="1" dirty="0">
                <a:ea typeface="楷体_GB2312" pitchFamily="49" charset="-122"/>
              </a:rPr>
              <a:t>shades</a:t>
            </a:r>
            <a:r>
              <a:rPr kumimoji="0" lang="zh-CN" altLang="en-US" sz="2000" b="1" dirty="0">
                <a:ea typeface="楷体_GB2312" pitchFamily="49" charset="-122"/>
              </a:rPr>
              <a:t>）效果的彩色。黑色颜料越多，就会更暗</a:t>
            </a:r>
            <a:endParaRPr kumimoji="0" lang="en-US" altLang="zh-CN" sz="2000" b="1" dirty="0">
              <a:ea typeface="楷体_GB2312" pitchFamily="49" charset="-122"/>
            </a:endParaRPr>
          </a:p>
          <a:p>
            <a:pPr marL="457200" indent="-457200" eaLnBrk="1" hangingPunct="1">
              <a:lnSpc>
                <a:spcPct val="120000"/>
              </a:lnSpc>
              <a:spcBef>
                <a:spcPts val="600"/>
              </a:spcBef>
              <a:buFont typeface="Wingdings" panose="05000000000000000000" pitchFamily="2" charset="2"/>
              <a:buChar char="Ø"/>
            </a:pPr>
            <a:r>
              <a:rPr kumimoji="0" lang="zh-CN" altLang="en-US" sz="2000" b="1" dirty="0">
                <a:ea typeface="楷体_GB2312" pitchFamily="49" charset="-122"/>
              </a:rPr>
              <a:t>往原色中添加白色颜料可以获得不同的</a:t>
            </a:r>
            <a:r>
              <a:rPr kumimoji="0" lang="zh-CN" altLang="en-US" sz="2000" b="1" dirty="0">
                <a:solidFill>
                  <a:srgbClr val="C00000"/>
                </a:solidFill>
                <a:ea typeface="楷体_GB2312" pitchFamily="49" charset="-122"/>
              </a:rPr>
              <a:t>色泽</a:t>
            </a:r>
            <a:r>
              <a:rPr kumimoji="0" lang="zh-CN" altLang="en-US" sz="2000" b="1" dirty="0">
                <a:ea typeface="楷体_GB2312" pitchFamily="49" charset="-122"/>
              </a:rPr>
              <a:t>（</a:t>
            </a:r>
            <a:r>
              <a:rPr kumimoji="0" lang="en-US" altLang="zh-CN" sz="2000" b="1" dirty="0">
                <a:ea typeface="楷体_GB2312" pitchFamily="49" charset="-122"/>
              </a:rPr>
              <a:t>tints</a:t>
            </a:r>
            <a:r>
              <a:rPr kumimoji="0" lang="zh-CN" altLang="en-US" sz="2000" b="1" dirty="0">
                <a:ea typeface="楷体_GB2312" pitchFamily="49" charset="-122"/>
              </a:rPr>
              <a:t>），加入较多的白色颜料时，可以使其更亮</a:t>
            </a:r>
            <a:endParaRPr kumimoji="0" lang="en-US" altLang="zh-CN" sz="2000" b="1" dirty="0">
              <a:ea typeface="楷体_GB2312" pitchFamily="49" charset="-122"/>
            </a:endParaRPr>
          </a:p>
          <a:p>
            <a:pPr marL="457200" indent="-457200" eaLnBrk="1" hangingPunct="1">
              <a:lnSpc>
                <a:spcPct val="120000"/>
              </a:lnSpc>
              <a:spcBef>
                <a:spcPts val="600"/>
              </a:spcBef>
              <a:buFont typeface="Wingdings" panose="05000000000000000000" pitchFamily="2" charset="2"/>
              <a:buChar char="Ø"/>
            </a:pPr>
            <a:r>
              <a:rPr kumimoji="0" lang="zh-CN" altLang="en-US" sz="2000" b="1" dirty="0">
                <a:solidFill>
                  <a:srgbClr val="C00000"/>
                </a:solidFill>
                <a:ea typeface="楷体_GB2312" pitchFamily="49" charset="-122"/>
              </a:rPr>
              <a:t>色调</a:t>
            </a:r>
            <a:r>
              <a:rPr kumimoji="0" lang="zh-CN" altLang="en-US" sz="2000" b="1" dirty="0">
                <a:ea typeface="楷体_GB2312" pitchFamily="49" charset="-122"/>
              </a:rPr>
              <a:t>（</a:t>
            </a:r>
            <a:r>
              <a:rPr kumimoji="0" lang="en-US" altLang="zh-CN" sz="2000" b="1" dirty="0">
                <a:ea typeface="楷体_GB2312" pitchFamily="49" charset="-122"/>
              </a:rPr>
              <a:t>tones</a:t>
            </a:r>
            <a:r>
              <a:rPr kumimoji="0" lang="zh-CN" altLang="en-US" sz="2000" b="1" dirty="0">
                <a:ea typeface="楷体_GB2312" pitchFamily="49" charset="-122"/>
              </a:rPr>
              <a:t>）则通过同时添加黑、白颜料来获得</a:t>
            </a:r>
          </a:p>
        </p:txBody>
      </p:sp>
      <p:pic>
        <p:nvPicPr>
          <p:cNvPr id="2" name="图片 1">
            <a:extLst>
              <a:ext uri="{FF2B5EF4-FFF2-40B4-BE49-F238E27FC236}">
                <a16:creationId xmlns:a16="http://schemas.microsoft.com/office/drawing/2014/main" id="{0704DDA7-1676-484F-AF60-9EBACE6E9B13}"/>
              </a:ext>
            </a:extLst>
          </p:cNvPr>
          <p:cNvPicPr>
            <a:picLocks noChangeAspect="1"/>
          </p:cNvPicPr>
          <p:nvPr/>
        </p:nvPicPr>
        <p:blipFill>
          <a:blip r:embed="rId3"/>
          <a:stretch>
            <a:fillRect/>
          </a:stretch>
        </p:blipFill>
        <p:spPr>
          <a:xfrm>
            <a:off x="6741197" y="4652122"/>
            <a:ext cx="3074188" cy="2050922"/>
          </a:xfrm>
          <a:prstGeom prst="rect">
            <a:avLst/>
          </a:prstGeom>
        </p:spPr>
      </p:pic>
      <p:pic>
        <p:nvPicPr>
          <p:cNvPr id="3" name="图片 2">
            <a:extLst>
              <a:ext uri="{FF2B5EF4-FFF2-40B4-BE49-F238E27FC236}">
                <a16:creationId xmlns:a16="http://schemas.microsoft.com/office/drawing/2014/main" id="{2B0BE548-76D1-41FD-9E7B-762DFA2C1BFA}"/>
              </a:ext>
            </a:extLst>
          </p:cNvPr>
          <p:cNvPicPr>
            <a:picLocks noChangeAspect="1"/>
          </p:cNvPicPr>
          <p:nvPr/>
        </p:nvPicPr>
        <p:blipFill>
          <a:blip r:embed="rId4"/>
          <a:stretch>
            <a:fillRect/>
          </a:stretch>
        </p:blipFill>
        <p:spPr>
          <a:xfrm>
            <a:off x="2496635" y="4665570"/>
            <a:ext cx="3191593" cy="2129249"/>
          </a:xfrm>
          <a:prstGeom prst="rect">
            <a:avLst/>
          </a:prstGeom>
        </p:spPr>
      </p:pic>
    </p:spTree>
    <p:extLst>
      <p:ext uri="{BB962C8B-B14F-4D97-AF65-F5344CB8AC3E}">
        <p14:creationId xmlns:p14="http://schemas.microsoft.com/office/powerpoint/2010/main" val="354867956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1" presetClass="entr" presetSubtype="4" fill="hold" grpId="0" nodeType="afterEffect">
                                  <p:stCondLst>
                                    <p:cond delay="0"/>
                                  </p:stCondLst>
                                  <p:childTnLst>
                                    <p:set>
                                      <p:cBhvr>
                                        <p:cTn id="6" dur="1" fill="hold">
                                          <p:stCondLst>
                                            <p:cond delay="0"/>
                                          </p:stCondLst>
                                        </p:cTn>
                                        <p:tgtEl>
                                          <p:spTgt spid="9223"/>
                                        </p:tgtEl>
                                        <p:attrNameLst>
                                          <p:attrName>style.visibility</p:attrName>
                                        </p:attrNameLst>
                                      </p:cBhvr>
                                      <p:to>
                                        <p:strVal val="visible"/>
                                      </p:to>
                                    </p:set>
                                    <p:animEffect transition="in" filter="wheel(4)">
                                      <p:cBhvr>
                                        <p:cTn id="7" dur="1000"/>
                                        <p:tgtEl>
                                          <p:spTgt spid="9223"/>
                                        </p:tgtEl>
                                      </p:cBhvr>
                                    </p:animEffect>
                                  </p:childTnLst>
                                </p:cTn>
                              </p:par>
                              <p:par>
                                <p:cTn id="8" presetID="21" presetClass="entr" presetSubtype="4" fill="hold" grpId="0" nodeType="withEffect">
                                  <p:stCondLst>
                                    <p:cond delay="0"/>
                                  </p:stCondLst>
                                  <p:childTnLst>
                                    <p:set>
                                      <p:cBhvr>
                                        <p:cTn id="9" dur="1" fill="hold">
                                          <p:stCondLst>
                                            <p:cond delay="0"/>
                                          </p:stCondLst>
                                        </p:cTn>
                                        <p:tgtEl>
                                          <p:spTgt spid="9224"/>
                                        </p:tgtEl>
                                        <p:attrNameLst>
                                          <p:attrName>style.visibility</p:attrName>
                                        </p:attrNameLst>
                                      </p:cBhvr>
                                      <p:to>
                                        <p:strVal val="visible"/>
                                      </p:to>
                                    </p:set>
                                    <p:animEffect transition="in" filter="wheel(4)">
                                      <p:cBhvr>
                                        <p:cTn id="10" dur="1000"/>
                                        <p:tgtEl>
                                          <p:spTgt spid="92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3" grpId="0"/>
      <p:bldP spid="922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3" name="Rectangle 3">
            <a:extLst>
              <a:ext uri="{FF2B5EF4-FFF2-40B4-BE49-F238E27FC236}">
                <a16:creationId xmlns:a16="http://schemas.microsoft.com/office/drawing/2014/main" id="{0E958F2A-16DB-4D73-B45E-9D8F7953E78B}"/>
              </a:ext>
            </a:extLst>
          </p:cNvPr>
          <p:cNvSpPr>
            <a:spLocks noChangeArrowheads="1"/>
          </p:cNvSpPr>
          <p:nvPr/>
        </p:nvSpPr>
        <p:spPr bwMode="auto">
          <a:xfrm>
            <a:off x="856800" y="1136650"/>
            <a:ext cx="8699500" cy="497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58775" indent="-358775" defTabSz="912813"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912813"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ts val="1200"/>
              </a:spcBef>
              <a:buClr>
                <a:schemeClr val="accent2"/>
              </a:buClr>
              <a:buSzPct val="85000"/>
              <a:buBlip>
                <a:blip r:embed="rId2"/>
              </a:buBlip>
            </a:pPr>
            <a:r>
              <a:rPr lang="zh-CN" altLang="en-US" b="1" dirty="0">
                <a:solidFill>
                  <a:srgbClr val="C00000"/>
                </a:solidFill>
                <a:ea typeface="楷体_GB2312" pitchFamily="49" charset="-122"/>
              </a:rPr>
              <a:t>颜色模型</a:t>
            </a:r>
          </a:p>
        </p:txBody>
      </p:sp>
      <p:sp>
        <p:nvSpPr>
          <p:cNvPr id="9229" name="Rectangle 11">
            <a:extLst>
              <a:ext uri="{FF2B5EF4-FFF2-40B4-BE49-F238E27FC236}">
                <a16:creationId xmlns:a16="http://schemas.microsoft.com/office/drawing/2014/main" id="{1E44AE66-34E6-4BB8-AFF9-935A4076EB2C}"/>
              </a:ext>
            </a:extLst>
          </p:cNvPr>
          <p:cNvSpPr>
            <a:spLocks noChangeArrowheads="1"/>
          </p:cNvSpPr>
          <p:nvPr/>
        </p:nvSpPr>
        <p:spPr bwMode="auto">
          <a:xfrm>
            <a:off x="1245870" y="1865482"/>
            <a:ext cx="10458450" cy="8764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342900" indent="-342900" eaLnBrk="1" hangingPunct="1">
              <a:lnSpc>
                <a:spcPct val="120000"/>
              </a:lnSpc>
              <a:spcBef>
                <a:spcPts val="600"/>
              </a:spcBef>
              <a:buFont typeface="Wingdings" panose="05000000000000000000" pitchFamily="2" charset="2"/>
              <a:buChar char="Ø"/>
            </a:pPr>
            <a:r>
              <a:rPr kumimoji="0" lang="zh-CN" altLang="en-US" sz="2000" b="1" dirty="0">
                <a:ea typeface="楷体_GB2312" pitchFamily="49" charset="-122"/>
              </a:rPr>
              <a:t>某个三维颜色空间中的一个</a:t>
            </a:r>
            <a:r>
              <a:rPr kumimoji="0" lang="zh-CN" altLang="en-US" sz="2000" b="1" dirty="0">
                <a:solidFill>
                  <a:srgbClr val="C00000"/>
                </a:solidFill>
                <a:ea typeface="楷体_GB2312" pitchFamily="49" charset="-122"/>
              </a:rPr>
              <a:t>可见光子集</a:t>
            </a:r>
            <a:r>
              <a:rPr kumimoji="0" lang="zh-CN" altLang="en-US" sz="2000" b="1" dirty="0">
                <a:ea typeface="楷体_GB2312" pitchFamily="49" charset="-122"/>
              </a:rPr>
              <a:t>。它包含某个色彩域的所有色彩</a:t>
            </a:r>
            <a:endParaRPr kumimoji="0" lang="en-US" altLang="zh-CN" sz="2000" b="1" dirty="0">
              <a:ea typeface="楷体_GB2312" pitchFamily="49" charset="-122"/>
            </a:endParaRPr>
          </a:p>
          <a:p>
            <a:pPr marL="342900" indent="-342900" eaLnBrk="1" hangingPunct="1">
              <a:lnSpc>
                <a:spcPct val="120000"/>
              </a:lnSpc>
              <a:spcBef>
                <a:spcPts val="600"/>
              </a:spcBef>
              <a:buFont typeface="Wingdings" panose="05000000000000000000" pitchFamily="2" charset="2"/>
              <a:buChar char="Ø"/>
            </a:pPr>
            <a:r>
              <a:rPr kumimoji="0" lang="zh-CN" altLang="en-US" sz="2000" b="1" dirty="0">
                <a:ea typeface="楷体_GB2312" pitchFamily="49" charset="-122"/>
              </a:rPr>
              <a:t>任何一个色彩域都只是可见光的子集，</a:t>
            </a:r>
            <a:r>
              <a:rPr kumimoji="0" lang="zh-CN" altLang="en-US" sz="2000" b="1" dirty="0">
                <a:solidFill>
                  <a:srgbClr val="C00000"/>
                </a:solidFill>
                <a:ea typeface="楷体_GB2312" pitchFamily="49" charset="-122"/>
              </a:rPr>
              <a:t>任何一个颜色模型都无法包含所有的可见光</a:t>
            </a:r>
          </a:p>
        </p:txBody>
      </p:sp>
      <p:pic>
        <p:nvPicPr>
          <p:cNvPr id="6" name="图片 5" descr="31.jpg">
            <a:extLst>
              <a:ext uri="{FF2B5EF4-FFF2-40B4-BE49-F238E27FC236}">
                <a16:creationId xmlns:a16="http://schemas.microsoft.com/office/drawing/2014/main" id="{C03F01C4-383A-43ED-9462-619DD3E7A98A}"/>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21649" y="2905424"/>
            <a:ext cx="7348702" cy="34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标题 2">
            <a:extLst>
              <a:ext uri="{FF2B5EF4-FFF2-40B4-BE49-F238E27FC236}">
                <a16:creationId xmlns:a16="http://schemas.microsoft.com/office/drawing/2014/main" id="{5C4EB3D0-C357-4BFF-9E42-9B67530A9B69}"/>
              </a:ext>
            </a:extLst>
          </p:cNvPr>
          <p:cNvSpPr>
            <a:spLocks noGrp="1"/>
          </p:cNvSpPr>
          <p:nvPr>
            <p:ph type="title"/>
          </p:nvPr>
        </p:nvSpPr>
        <p:spPr/>
        <p:txBody>
          <a:bodyPr/>
          <a:lstStyle/>
          <a:p>
            <a:r>
              <a:rPr lang="en-US" altLang="zh-CN" dirty="0"/>
              <a:t>1. </a:t>
            </a:r>
            <a:r>
              <a:rPr lang="zh-CN" altLang="en-US" dirty="0"/>
              <a:t>概述</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9223"/>
                                        </p:tgtEl>
                                        <p:attrNameLst>
                                          <p:attrName>style.visibility</p:attrName>
                                        </p:attrNameLst>
                                      </p:cBhvr>
                                      <p:to>
                                        <p:strVal val="visible"/>
                                      </p:to>
                                    </p:set>
                                    <p:animEffect transition="in" filter="wheel(4)">
                                      <p:cBhvr>
                                        <p:cTn id="7" dur="1000"/>
                                        <p:tgtEl>
                                          <p:spTgt spid="9223"/>
                                        </p:tgtEl>
                                      </p:cBhvr>
                                    </p:animEffect>
                                  </p:childTnLst>
                                </p:cTn>
                              </p:par>
                            </p:childTnLst>
                          </p:cTn>
                        </p:par>
                        <p:par>
                          <p:cTn id="8" fill="hold" nodeType="afterGroup">
                            <p:stCondLst>
                              <p:cond delay="1000"/>
                            </p:stCondLst>
                            <p:childTnLst>
                              <p:par>
                                <p:cTn id="9" presetID="21" presetClass="entr" presetSubtype="4" fill="hold" grpId="0" nodeType="afterEffect">
                                  <p:stCondLst>
                                    <p:cond delay="0"/>
                                  </p:stCondLst>
                                  <p:childTnLst>
                                    <p:set>
                                      <p:cBhvr>
                                        <p:cTn id="10" dur="1" fill="hold">
                                          <p:stCondLst>
                                            <p:cond delay="0"/>
                                          </p:stCondLst>
                                        </p:cTn>
                                        <p:tgtEl>
                                          <p:spTgt spid="9229"/>
                                        </p:tgtEl>
                                        <p:attrNameLst>
                                          <p:attrName>style.visibility</p:attrName>
                                        </p:attrNameLst>
                                      </p:cBhvr>
                                      <p:to>
                                        <p:strVal val="visible"/>
                                      </p:to>
                                    </p:set>
                                    <p:animEffect transition="in" filter="wheel(4)">
                                      <p:cBhvr>
                                        <p:cTn id="11" dur="2000"/>
                                        <p:tgtEl>
                                          <p:spTgt spid="9229"/>
                                        </p:tgtEl>
                                      </p:cBhvr>
                                    </p:animEffect>
                                  </p:childTnLst>
                                </p:cTn>
                              </p:par>
                            </p:childTnLst>
                          </p:cTn>
                        </p:par>
                        <p:par>
                          <p:cTn id="12" fill="hold" nodeType="afterGroup">
                            <p:stCondLst>
                              <p:cond delay="3000"/>
                            </p:stCondLst>
                            <p:childTnLst>
                              <p:par>
                                <p:cTn id="13" presetID="21" presetClass="entr" presetSubtype="4"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heel(4)">
                                      <p:cBhvr>
                                        <p:cTn id="15"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3" grpId="0"/>
      <p:bldP spid="922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3" name="Rectangle 3">
            <a:extLst>
              <a:ext uri="{FF2B5EF4-FFF2-40B4-BE49-F238E27FC236}">
                <a16:creationId xmlns:a16="http://schemas.microsoft.com/office/drawing/2014/main" id="{0E958F2A-16DB-4D73-B45E-9D8F7953E78B}"/>
              </a:ext>
            </a:extLst>
          </p:cNvPr>
          <p:cNvSpPr>
            <a:spLocks noChangeArrowheads="1"/>
          </p:cNvSpPr>
          <p:nvPr/>
        </p:nvSpPr>
        <p:spPr bwMode="auto">
          <a:xfrm>
            <a:off x="856800" y="937783"/>
            <a:ext cx="8699500" cy="497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58775" indent="-358775" defTabSz="912813"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912813"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ts val="1200"/>
              </a:spcBef>
              <a:buClr>
                <a:schemeClr val="accent2"/>
              </a:buClr>
              <a:buSzPct val="85000"/>
              <a:buBlip>
                <a:blip r:embed="rId2"/>
              </a:buBlip>
            </a:pPr>
            <a:r>
              <a:rPr lang="zh-CN" altLang="en-US" b="1" dirty="0">
                <a:solidFill>
                  <a:srgbClr val="C00000"/>
                </a:solidFill>
                <a:ea typeface="楷体_GB2312" pitchFamily="49" charset="-122"/>
              </a:rPr>
              <a:t>颜色模型</a:t>
            </a:r>
          </a:p>
        </p:txBody>
      </p:sp>
      <p:sp>
        <p:nvSpPr>
          <p:cNvPr id="9229" name="Rectangle 11">
            <a:extLst>
              <a:ext uri="{FF2B5EF4-FFF2-40B4-BE49-F238E27FC236}">
                <a16:creationId xmlns:a16="http://schemas.microsoft.com/office/drawing/2014/main" id="{1E44AE66-34E6-4BB8-AFF9-935A4076EB2C}"/>
              </a:ext>
            </a:extLst>
          </p:cNvPr>
          <p:cNvSpPr>
            <a:spLocks noChangeArrowheads="1"/>
          </p:cNvSpPr>
          <p:nvPr/>
        </p:nvSpPr>
        <p:spPr bwMode="auto">
          <a:xfrm>
            <a:off x="1149532" y="1620854"/>
            <a:ext cx="10672354" cy="310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342900" indent="-342900" eaLnBrk="1" hangingPunct="1">
              <a:lnSpc>
                <a:spcPct val="120000"/>
              </a:lnSpc>
              <a:spcBef>
                <a:spcPts val="1200"/>
              </a:spcBef>
              <a:buFont typeface="Wingdings" panose="05000000000000000000" pitchFamily="2" charset="2"/>
              <a:buChar char="Ø"/>
            </a:pPr>
            <a:r>
              <a:rPr kumimoji="0" lang="zh-CN" altLang="en-US" sz="2000" b="1" dirty="0">
                <a:ea typeface="楷体_GB2312" pitchFamily="49" charset="-122"/>
              </a:rPr>
              <a:t>颜色模型的构造方法：用来生成其他颜色的光源的色彩称为</a:t>
            </a:r>
            <a:r>
              <a:rPr kumimoji="0" lang="zh-CN" altLang="en-US" sz="2000" b="1" dirty="0">
                <a:solidFill>
                  <a:srgbClr val="C00000"/>
                </a:solidFill>
                <a:ea typeface="楷体_GB2312" pitchFamily="49" charset="-122"/>
              </a:rPr>
              <a:t>基色</a:t>
            </a:r>
            <a:r>
              <a:rPr kumimoji="0" lang="zh-CN" altLang="en-US" sz="2000" b="1" dirty="0">
                <a:ea typeface="楷体_GB2312" pitchFamily="49" charset="-122"/>
              </a:rPr>
              <a:t>，通过基色可以产生的所有颜色的集合称其该颜色模型的颜色范围</a:t>
            </a:r>
            <a:endParaRPr kumimoji="0" lang="en-US" altLang="zh-CN" sz="2000" b="1" dirty="0">
              <a:ea typeface="楷体_GB2312" pitchFamily="49" charset="-122"/>
            </a:endParaRPr>
          </a:p>
          <a:p>
            <a:pPr marL="342900" indent="-342900" eaLnBrk="1" hangingPunct="1">
              <a:lnSpc>
                <a:spcPct val="120000"/>
              </a:lnSpc>
              <a:spcBef>
                <a:spcPts val="1200"/>
              </a:spcBef>
              <a:buFont typeface="Wingdings" panose="05000000000000000000" pitchFamily="2" charset="2"/>
              <a:buChar char="Ø"/>
            </a:pPr>
            <a:r>
              <a:rPr kumimoji="0" lang="zh-CN" altLang="en-US" sz="2000" b="1" dirty="0">
                <a:solidFill>
                  <a:srgbClr val="C00000"/>
                </a:solidFill>
                <a:ea typeface="楷体_GB2312" pitchFamily="49" charset="-122"/>
              </a:rPr>
              <a:t>互补色</a:t>
            </a:r>
            <a:r>
              <a:rPr kumimoji="0" lang="zh-CN" altLang="en-US" sz="2000" b="1" dirty="0">
                <a:ea typeface="楷体_GB2312" pitchFamily="49" charset="-122"/>
              </a:rPr>
              <a:t>：两种基色混合生成白色光，如红色和青色、绿色和品红及蓝色和黄色</a:t>
            </a:r>
            <a:endParaRPr kumimoji="0" lang="en-US" altLang="zh-CN" sz="2000" b="1" dirty="0">
              <a:ea typeface="楷体_GB2312" pitchFamily="49" charset="-122"/>
            </a:endParaRPr>
          </a:p>
          <a:p>
            <a:pPr marL="342900" indent="-342900" eaLnBrk="1" hangingPunct="1">
              <a:lnSpc>
                <a:spcPct val="120000"/>
              </a:lnSpc>
              <a:spcBef>
                <a:spcPts val="1200"/>
              </a:spcBef>
              <a:buFont typeface="Wingdings" panose="05000000000000000000" pitchFamily="2" charset="2"/>
              <a:buChar char="Ø"/>
            </a:pPr>
            <a:r>
              <a:rPr kumimoji="0" lang="zh-CN" altLang="en-US" sz="2000" b="1" dirty="0">
                <a:ea typeface="楷体_GB2312" pitchFamily="49" charset="-122"/>
              </a:rPr>
              <a:t>在实际的基本颜色中， 没有哪一组集合能组合生成所有可见的颜色。然而， 三种基色（</a:t>
            </a:r>
            <a:r>
              <a:rPr kumimoji="0" lang="en-US" altLang="zh-CN" sz="2000" b="1" dirty="0">
                <a:ea typeface="楷体_GB2312" pitchFamily="49" charset="-122"/>
              </a:rPr>
              <a:t>RGB</a:t>
            </a:r>
            <a:r>
              <a:rPr kumimoji="0" lang="zh-CN" altLang="en-US" sz="2000" b="1" dirty="0">
                <a:ea typeface="楷体_GB2312" pitchFamily="49" charset="-122"/>
              </a:rPr>
              <a:t>）对多数应用来说是足够的</a:t>
            </a:r>
            <a:endParaRPr kumimoji="0" lang="en-US" altLang="zh-CN" sz="2000" b="1" dirty="0">
              <a:ea typeface="楷体_GB2312" pitchFamily="49" charset="-122"/>
            </a:endParaRPr>
          </a:p>
          <a:p>
            <a:pPr marL="342900" indent="-342900" eaLnBrk="1" hangingPunct="1">
              <a:lnSpc>
                <a:spcPct val="120000"/>
              </a:lnSpc>
              <a:spcBef>
                <a:spcPts val="1200"/>
              </a:spcBef>
              <a:buFont typeface="Wingdings" panose="05000000000000000000" pitchFamily="2" charset="2"/>
              <a:buChar char="Ø"/>
            </a:pPr>
            <a:r>
              <a:rPr kumimoji="0" lang="zh-CN" altLang="en-US" sz="2000" b="1" dirty="0">
                <a:ea typeface="楷体_GB2312" pitchFamily="49" charset="-122"/>
              </a:rPr>
              <a:t>给定</a:t>
            </a:r>
            <a:r>
              <a:rPr kumimoji="0" lang="zh-CN" altLang="en-US" sz="2000" b="1" dirty="0">
                <a:solidFill>
                  <a:srgbClr val="C00000"/>
                </a:solidFill>
                <a:ea typeface="楷体_GB2312" pitchFamily="49" charset="-122"/>
              </a:rPr>
              <a:t>三种基色</a:t>
            </a:r>
            <a:r>
              <a:rPr kumimoji="0" lang="zh-CN" altLang="en-US" sz="2000" b="1" dirty="0">
                <a:ea typeface="楷体_GB2312" pitchFamily="49" charset="-122"/>
              </a:rPr>
              <a:t>，通过混色处理可以表现任意第四种颜色。将一种或两种基色与第四种颜色混合，产生的颜色可以与余下基色的混合色相匹配</a:t>
            </a:r>
          </a:p>
        </p:txBody>
      </p:sp>
      <p:sp>
        <p:nvSpPr>
          <p:cNvPr id="3" name="标题 2">
            <a:extLst>
              <a:ext uri="{FF2B5EF4-FFF2-40B4-BE49-F238E27FC236}">
                <a16:creationId xmlns:a16="http://schemas.microsoft.com/office/drawing/2014/main" id="{66593913-5200-4487-AABA-FE089C299692}"/>
              </a:ext>
            </a:extLst>
          </p:cNvPr>
          <p:cNvSpPr>
            <a:spLocks noGrp="1"/>
          </p:cNvSpPr>
          <p:nvPr>
            <p:ph type="title"/>
          </p:nvPr>
        </p:nvSpPr>
        <p:spPr/>
        <p:txBody>
          <a:bodyPr/>
          <a:lstStyle/>
          <a:p>
            <a:r>
              <a:rPr lang="en-US" altLang="zh-CN" dirty="0"/>
              <a:t>1. </a:t>
            </a:r>
            <a:r>
              <a:rPr lang="zh-CN" altLang="en-US" dirty="0"/>
              <a:t>概述</a:t>
            </a:r>
          </a:p>
        </p:txBody>
      </p:sp>
    </p:spTree>
    <p:extLst>
      <p:ext uri="{BB962C8B-B14F-4D97-AF65-F5344CB8AC3E}">
        <p14:creationId xmlns:p14="http://schemas.microsoft.com/office/powerpoint/2010/main" val="254037442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9223"/>
                                        </p:tgtEl>
                                        <p:attrNameLst>
                                          <p:attrName>style.visibility</p:attrName>
                                        </p:attrNameLst>
                                      </p:cBhvr>
                                      <p:to>
                                        <p:strVal val="visible"/>
                                      </p:to>
                                    </p:set>
                                    <p:animEffect transition="in" filter="wheel(4)">
                                      <p:cBhvr>
                                        <p:cTn id="7" dur="1000"/>
                                        <p:tgtEl>
                                          <p:spTgt spid="9223"/>
                                        </p:tgtEl>
                                      </p:cBhvr>
                                    </p:animEffect>
                                  </p:childTnLst>
                                </p:cTn>
                              </p:par>
                            </p:childTnLst>
                          </p:cTn>
                        </p:par>
                        <p:par>
                          <p:cTn id="8" fill="hold" nodeType="afterGroup">
                            <p:stCondLst>
                              <p:cond delay="1000"/>
                            </p:stCondLst>
                            <p:childTnLst>
                              <p:par>
                                <p:cTn id="9" presetID="21" presetClass="entr" presetSubtype="4" fill="hold" grpId="0" nodeType="afterEffect">
                                  <p:stCondLst>
                                    <p:cond delay="0"/>
                                  </p:stCondLst>
                                  <p:childTnLst>
                                    <p:set>
                                      <p:cBhvr>
                                        <p:cTn id="10" dur="1" fill="hold">
                                          <p:stCondLst>
                                            <p:cond delay="0"/>
                                          </p:stCondLst>
                                        </p:cTn>
                                        <p:tgtEl>
                                          <p:spTgt spid="9229"/>
                                        </p:tgtEl>
                                        <p:attrNameLst>
                                          <p:attrName>style.visibility</p:attrName>
                                        </p:attrNameLst>
                                      </p:cBhvr>
                                      <p:to>
                                        <p:strVal val="visible"/>
                                      </p:to>
                                    </p:set>
                                    <p:animEffect transition="in" filter="wheel(4)">
                                      <p:cBhvr>
                                        <p:cTn id="11" dur="2000"/>
                                        <p:tgtEl>
                                          <p:spTgt spid="92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3" grpId="0"/>
      <p:bldP spid="922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圆角矩形 14">
            <a:extLst>
              <a:ext uri="{FF2B5EF4-FFF2-40B4-BE49-F238E27FC236}">
                <a16:creationId xmlns:a16="http://schemas.microsoft.com/office/drawing/2014/main" id="{93060A4F-8657-4D6B-A70B-FD9677DDD61B}"/>
              </a:ext>
            </a:extLst>
          </p:cNvPr>
          <p:cNvSpPr/>
          <p:nvPr/>
        </p:nvSpPr>
        <p:spPr bwMode="auto">
          <a:xfrm>
            <a:off x="4283825" y="3739394"/>
            <a:ext cx="4389120" cy="1477433"/>
          </a:xfrm>
          <a:prstGeom prst="roundRect">
            <a:avLst/>
          </a:prstGeom>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wrap="none"/>
          <a:lstStyle/>
          <a:p>
            <a:pPr>
              <a:defRPr/>
            </a:pPr>
            <a:endParaRPr lang="zh-CN" altLang="en-US">
              <a:solidFill>
                <a:srgbClr val="002060"/>
              </a:solidFill>
              <a:latin typeface="Times New Roman" pitchFamily="18" charset="0"/>
            </a:endParaRPr>
          </a:p>
        </p:txBody>
      </p:sp>
      <p:sp>
        <p:nvSpPr>
          <p:cNvPr id="9225" name="Rectangle 5">
            <a:extLst>
              <a:ext uri="{FF2B5EF4-FFF2-40B4-BE49-F238E27FC236}">
                <a16:creationId xmlns:a16="http://schemas.microsoft.com/office/drawing/2014/main" id="{F1EBC119-4B5F-4446-A878-B1CD21600259}"/>
              </a:ext>
            </a:extLst>
          </p:cNvPr>
          <p:cNvSpPr>
            <a:spLocks noChangeArrowheads="1"/>
          </p:cNvSpPr>
          <p:nvPr/>
        </p:nvSpPr>
        <p:spPr bwMode="auto">
          <a:xfrm>
            <a:off x="856800" y="1104900"/>
            <a:ext cx="8699500" cy="562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96875" indent="-396875" defTabSz="912813"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912813"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ts val="4000"/>
              </a:lnSpc>
              <a:spcBef>
                <a:spcPct val="20000"/>
              </a:spcBef>
              <a:buClr>
                <a:schemeClr val="accent2"/>
              </a:buClr>
              <a:buBlip>
                <a:blip r:embed="rId4"/>
              </a:buBlip>
            </a:pPr>
            <a:r>
              <a:rPr kumimoji="0" lang="zh-CN" altLang="en-US" b="1" dirty="0">
                <a:latin typeface="楷体_GB2312" pitchFamily="49" charset="-122"/>
                <a:ea typeface="楷体_GB2312" pitchFamily="49" charset="-122"/>
              </a:rPr>
              <a:t>三基色</a:t>
            </a:r>
          </a:p>
        </p:txBody>
      </p:sp>
      <p:sp>
        <p:nvSpPr>
          <p:cNvPr id="9226" name="Rectangle 6">
            <a:extLst>
              <a:ext uri="{FF2B5EF4-FFF2-40B4-BE49-F238E27FC236}">
                <a16:creationId xmlns:a16="http://schemas.microsoft.com/office/drawing/2014/main" id="{8975C7DB-3C20-4ADE-AD1C-32A2227051BD}"/>
              </a:ext>
            </a:extLst>
          </p:cNvPr>
          <p:cNvSpPr>
            <a:spLocks noChangeArrowheads="1"/>
          </p:cNvSpPr>
          <p:nvPr/>
        </p:nvSpPr>
        <p:spPr bwMode="auto">
          <a:xfrm>
            <a:off x="1319349" y="1731964"/>
            <a:ext cx="10424159" cy="1075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ts val="4000"/>
              </a:lnSpc>
            </a:pPr>
            <a:r>
              <a:rPr kumimoji="0" lang="en-US" altLang="zh-CN" sz="2000" b="1" dirty="0">
                <a:ea typeface="楷体_GB2312" pitchFamily="49" charset="-122"/>
                <a:cs typeface="Times New Roman" panose="02020603050405020304" pitchFamily="18" charset="0"/>
              </a:rPr>
              <a:t>1931</a:t>
            </a:r>
            <a:r>
              <a:rPr kumimoji="0" lang="zh-CN" altLang="en-US" sz="2000" b="1" dirty="0">
                <a:ea typeface="楷体_GB2312" pitchFamily="49" charset="-122"/>
                <a:cs typeface="Times New Roman" panose="02020603050405020304" pitchFamily="18" charset="0"/>
              </a:rPr>
              <a:t>年，国际照明委员会（</a:t>
            </a:r>
            <a:r>
              <a:rPr kumimoji="0" lang="en-US" altLang="zh-CN" sz="2000" b="1" dirty="0">
                <a:ea typeface="楷体_GB2312" pitchFamily="49" charset="-122"/>
                <a:cs typeface="Times New Roman" panose="02020603050405020304" pitchFamily="18" charset="0"/>
              </a:rPr>
              <a:t>CIE</a:t>
            </a:r>
            <a:r>
              <a:rPr kumimoji="0" lang="zh-CN" altLang="en-US" sz="2000" b="1" dirty="0">
                <a:ea typeface="楷体_GB2312" pitchFamily="49" charset="-122"/>
                <a:cs typeface="Times New Roman" panose="02020603050405020304" pitchFamily="18" charset="0"/>
              </a:rPr>
              <a:t>）规定用波长为</a:t>
            </a:r>
            <a:r>
              <a:rPr kumimoji="0" lang="en-US" altLang="zh-CN" sz="2000" b="1" dirty="0">
                <a:ea typeface="楷体_GB2312" pitchFamily="49" charset="-122"/>
                <a:cs typeface="Times New Roman" panose="02020603050405020304" pitchFamily="18" charset="0"/>
              </a:rPr>
              <a:t>700nm</a:t>
            </a:r>
            <a:r>
              <a:rPr kumimoji="0" lang="zh-CN" altLang="en-US" sz="2000" b="1" dirty="0">
                <a:ea typeface="楷体_GB2312" pitchFamily="49" charset="-122"/>
                <a:cs typeface="Times New Roman" panose="02020603050405020304" pitchFamily="18" charset="0"/>
              </a:rPr>
              <a:t>、</a:t>
            </a:r>
            <a:r>
              <a:rPr kumimoji="0" lang="en-US" altLang="zh-CN" sz="2000" b="1" dirty="0">
                <a:ea typeface="楷体_GB2312" pitchFamily="49" charset="-122"/>
                <a:cs typeface="Times New Roman" panose="02020603050405020304" pitchFamily="18" charset="0"/>
              </a:rPr>
              <a:t>546.1nm</a:t>
            </a:r>
            <a:r>
              <a:rPr kumimoji="0" lang="zh-CN" altLang="en-US" sz="2000" b="1" dirty="0">
                <a:ea typeface="楷体_GB2312" pitchFamily="49" charset="-122"/>
                <a:cs typeface="Times New Roman" panose="02020603050405020304" pitchFamily="18" charset="0"/>
              </a:rPr>
              <a:t>和</a:t>
            </a:r>
            <a:r>
              <a:rPr kumimoji="0" lang="en-US" altLang="zh-CN" sz="2000" b="1" dirty="0">
                <a:ea typeface="楷体_GB2312" pitchFamily="49" charset="-122"/>
                <a:cs typeface="Times New Roman" panose="02020603050405020304" pitchFamily="18" charset="0"/>
              </a:rPr>
              <a:t>435.8nm</a:t>
            </a:r>
            <a:r>
              <a:rPr kumimoji="0" lang="zh-CN" altLang="en-US" sz="2000" b="1" dirty="0">
                <a:ea typeface="楷体_GB2312" pitchFamily="49" charset="-122"/>
                <a:cs typeface="Times New Roman" panose="02020603050405020304" pitchFamily="18" charset="0"/>
              </a:rPr>
              <a:t>的单色光作为</a:t>
            </a:r>
            <a:r>
              <a:rPr kumimoji="0" lang="zh-CN" altLang="en-US" sz="2000" b="1" dirty="0">
                <a:solidFill>
                  <a:srgbClr val="FF0000"/>
                </a:solidFill>
                <a:ea typeface="楷体_GB2312" pitchFamily="49" charset="-122"/>
                <a:cs typeface="Times New Roman" panose="02020603050405020304" pitchFamily="18" charset="0"/>
              </a:rPr>
              <a:t>红（</a:t>
            </a:r>
            <a:r>
              <a:rPr kumimoji="0" lang="en-US" altLang="zh-CN" sz="2000" b="1" dirty="0">
                <a:solidFill>
                  <a:srgbClr val="FF0000"/>
                </a:solidFill>
                <a:ea typeface="楷体_GB2312" pitchFamily="49" charset="-122"/>
                <a:cs typeface="Times New Roman" panose="02020603050405020304" pitchFamily="18" charset="0"/>
              </a:rPr>
              <a:t>R</a:t>
            </a:r>
            <a:r>
              <a:rPr kumimoji="0" lang="zh-CN" altLang="en-US" sz="2000" b="1" dirty="0">
                <a:solidFill>
                  <a:srgbClr val="FF0000"/>
                </a:solidFill>
                <a:ea typeface="楷体_GB2312" pitchFamily="49" charset="-122"/>
                <a:cs typeface="Times New Roman" panose="02020603050405020304" pitchFamily="18" charset="0"/>
              </a:rPr>
              <a:t>）、绿（</a:t>
            </a:r>
            <a:r>
              <a:rPr kumimoji="0" lang="en-US" altLang="zh-CN" sz="2000" b="1" dirty="0">
                <a:solidFill>
                  <a:srgbClr val="FF0000"/>
                </a:solidFill>
                <a:ea typeface="楷体_GB2312" pitchFamily="49" charset="-122"/>
                <a:cs typeface="Times New Roman" panose="02020603050405020304" pitchFamily="18" charset="0"/>
              </a:rPr>
              <a:t>G</a:t>
            </a:r>
            <a:r>
              <a:rPr kumimoji="0" lang="zh-CN" altLang="en-US" sz="2000" b="1" dirty="0">
                <a:solidFill>
                  <a:srgbClr val="FF0000"/>
                </a:solidFill>
                <a:ea typeface="楷体_GB2312" pitchFamily="49" charset="-122"/>
                <a:cs typeface="Times New Roman" panose="02020603050405020304" pitchFamily="18" charset="0"/>
              </a:rPr>
              <a:t>）、蓝（</a:t>
            </a:r>
            <a:r>
              <a:rPr kumimoji="0" lang="en-US" altLang="zh-CN" sz="2000" b="1" dirty="0">
                <a:solidFill>
                  <a:srgbClr val="FF0000"/>
                </a:solidFill>
                <a:ea typeface="楷体_GB2312" pitchFamily="49" charset="-122"/>
                <a:cs typeface="Times New Roman" panose="02020603050405020304" pitchFamily="18" charset="0"/>
              </a:rPr>
              <a:t>B</a:t>
            </a:r>
            <a:r>
              <a:rPr kumimoji="0" lang="zh-CN" altLang="en-US" sz="2000" b="1" dirty="0">
                <a:solidFill>
                  <a:srgbClr val="FF0000"/>
                </a:solidFill>
                <a:ea typeface="楷体_GB2312" pitchFamily="49" charset="-122"/>
                <a:cs typeface="Times New Roman" panose="02020603050405020304" pitchFamily="18" charset="0"/>
              </a:rPr>
              <a:t>）</a:t>
            </a:r>
            <a:r>
              <a:rPr kumimoji="0" lang="zh-CN" altLang="en-US" sz="2000" b="1" dirty="0">
                <a:ea typeface="楷体_GB2312" pitchFamily="49" charset="-122"/>
                <a:cs typeface="Times New Roman" panose="02020603050405020304" pitchFamily="18" charset="0"/>
              </a:rPr>
              <a:t>三基色 </a:t>
            </a:r>
          </a:p>
        </p:txBody>
      </p:sp>
      <p:sp>
        <p:nvSpPr>
          <p:cNvPr id="9227" name="Rectangle 7">
            <a:extLst>
              <a:ext uri="{FF2B5EF4-FFF2-40B4-BE49-F238E27FC236}">
                <a16:creationId xmlns:a16="http://schemas.microsoft.com/office/drawing/2014/main" id="{2989F9A6-4CFF-4650-9F84-D2B888A80CAF}"/>
              </a:ext>
            </a:extLst>
          </p:cNvPr>
          <p:cNvSpPr>
            <a:spLocks noChangeArrowheads="1"/>
          </p:cNvSpPr>
          <p:nvPr/>
        </p:nvSpPr>
        <p:spPr bwMode="auto">
          <a:xfrm>
            <a:off x="1341529" y="3066778"/>
            <a:ext cx="8529637" cy="538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ts val="4000"/>
              </a:lnSpc>
              <a:buClr>
                <a:schemeClr val="accent2"/>
              </a:buClr>
            </a:pPr>
            <a:r>
              <a:rPr kumimoji="0" lang="zh-CN" altLang="en-US" sz="2000" b="1" dirty="0">
                <a:latin typeface="楷体_GB2312" pitchFamily="49" charset="-122"/>
                <a:ea typeface="楷体_GB2312" pitchFamily="49" charset="-122"/>
              </a:rPr>
              <a:t>任意彩色的颜色方程为： </a:t>
            </a:r>
          </a:p>
        </p:txBody>
      </p:sp>
      <p:graphicFrame>
        <p:nvGraphicFramePr>
          <p:cNvPr id="9218" name="Object 8">
            <a:extLst>
              <a:ext uri="{FF2B5EF4-FFF2-40B4-BE49-F238E27FC236}">
                <a16:creationId xmlns:a16="http://schemas.microsoft.com/office/drawing/2014/main" id="{A3EC96B8-A9F0-41D3-87DD-156D23035DDD}"/>
              </a:ext>
            </a:extLst>
          </p:cNvPr>
          <p:cNvGraphicFramePr>
            <a:graphicFrameLocks noChangeAspect="1"/>
          </p:cNvGraphicFramePr>
          <p:nvPr>
            <p:extLst>
              <p:ext uri="{D42A27DB-BD31-4B8C-83A1-F6EECF244321}">
                <p14:modId xmlns:p14="http://schemas.microsoft.com/office/powerpoint/2010/main" val="2161708972"/>
              </p:ext>
            </p:extLst>
          </p:nvPr>
        </p:nvGraphicFramePr>
        <p:xfrm>
          <a:off x="4616970" y="4000226"/>
          <a:ext cx="3739630" cy="1033463"/>
        </p:xfrm>
        <a:graphic>
          <a:graphicData uri="http://schemas.openxmlformats.org/presentationml/2006/ole">
            <mc:AlternateContent xmlns:mc="http://schemas.openxmlformats.org/markup-compatibility/2006">
              <mc:Choice xmlns:v="urn:schemas-microsoft-com:vml" Requires="v">
                <p:oleObj spid="_x0000_s1091" name="Microsoft 公式 3.0" r:id="rId5" imgW="1523880" imgH="431640" progId="Equation.3">
                  <p:embed/>
                </p:oleObj>
              </mc:Choice>
              <mc:Fallback>
                <p:oleObj name="Microsoft 公式 3.0" r:id="rId5" imgW="1523880" imgH="43164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16970" y="4000226"/>
                        <a:ext cx="3739630" cy="1033463"/>
                      </a:xfrm>
                      <a:prstGeom prst="rect">
                        <a:avLst/>
                      </a:prstGeom>
                      <a:noFill/>
                      <a:extLst/>
                    </p:spPr>
                  </p:pic>
                </p:oleObj>
              </mc:Fallback>
            </mc:AlternateContent>
          </a:graphicData>
        </a:graphic>
      </p:graphicFrame>
      <p:sp>
        <p:nvSpPr>
          <p:cNvPr id="9228" name="Rectangle 10">
            <a:extLst>
              <a:ext uri="{FF2B5EF4-FFF2-40B4-BE49-F238E27FC236}">
                <a16:creationId xmlns:a16="http://schemas.microsoft.com/office/drawing/2014/main" id="{401737B0-D8C7-47F5-A587-25378CF3BE38}"/>
              </a:ext>
            </a:extLst>
          </p:cNvPr>
          <p:cNvSpPr>
            <a:spLocks noChangeArrowheads="1"/>
          </p:cNvSpPr>
          <p:nvPr/>
        </p:nvSpPr>
        <p:spPr bwMode="auto">
          <a:xfrm>
            <a:off x="1849802" y="5567907"/>
            <a:ext cx="8499475"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ts val="4000"/>
              </a:lnSpc>
              <a:buClr>
                <a:schemeClr val="accent2"/>
              </a:buClr>
            </a:pPr>
            <a:r>
              <a:rPr kumimoji="0" lang="en-US" altLang="zh-CN" sz="2000" b="1" i="1" dirty="0">
                <a:ea typeface="楷体_GB2312" pitchFamily="49" charset="-122"/>
                <a:cs typeface="Times New Roman" panose="02020603050405020304" pitchFamily="18" charset="0"/>
              </a:rPr>
              <a:t>α</a:t>
            </a:r>
            <a:r>
              <a:rPr kumimoji="0" lang="zh-CN" altLang="en-US" sz="2000" b="1" dirty="0">
                <a:ea typeface="楷体_GB2312" pitchFamily="49" charset="-122"/>
                <a:cs typeface="Times New Roman" panose="02020603050405020304" pitchFamily="18" charset="0"/>
              </a:rPr>
              <a:t>、</a:t>
            </a:r>
            <a:r>
              <a:rPr kumimoji="0" lang="en-US" altLang="zh-CN" sz="2000" b="1" i="1" dirty="0">
                <a:ea typeface="楷体_GB2312" pitchFamily="49" charset="-122"/>
                <a:cs typeface="Times New Roman" panose="02020603050405020304" pitchFamily="18" charset="0"/>
              </a:rPr>
              <a:t>β</a:t>
            </a:r>
            <a:r>
              <a:rPr kumimoji="0" lang="zh-CN" altLang="en-US" sz="2000" b="1" dirty="0">
                <a:ea typeface="楷体_GB2312" pitchFamily="49" charset="-122"/>
                <a:cs typeface="Times New Roman" panose="02020603050405020304" pitchFamily="18" charset="0"/>
              </a:rPr>
              <a:t>、</a:t>
            </a:r>
            <a:r>
              <a:rPr kumimoji="0" lang="en-US" altLang="zh-CN" sz="2000" b="1" i="1" dirty="0">
                <a:ea typeface="楷体_GB2312" pitchFamily="49" charset="-122"/>
                <a:cs typeface="Times New Roman" panose="02020603050405020304" pitchFamily="18" charset="0"/>
              </a:rPr>
              <a:t>γ</a:t>
            </a:r>
            <a:r>
              <a:rPr kumimoji="0" lang="zh-CN" altLang="en-US" sz="2000" b="1" dirty="0">
                <a:ea typeface="楷体_GB2312" pitchFamily="49" charset="-122"/>
                <a:cs typeface="Times New Roman" panose="02020603050405020304" pitchFamily="18" charset="0"/>
              </a:rPr>
              <a:t>是红、绿、蓝三色混合比例，称为</a:t>
            </a:r>
            <a:r>
              <a:rPr kumimoji="0" lang="zh-CN" altLang="en-US" sz="2000" b="1" dirty="0">
                <a:solidFill>
                  <a:srgbClr val="FF0000"/>
                </a:solidFill>
                <a:ea typeface="楷体_GB2312" pitchFamily="49" charset="-122"/>
                <a:cs typeface="Times New Roman" panose="02020603050405020304" pitchFamily="18" charset="0"/>
              </a:rPr>
              <a:t>三色系数 </a:t>
            </a:r>
          </a:p>
        </p:txBody>
      </p:sp>
      <p:sp>
        <p:nvSpPr>
          <p:cNvPr id="3" name="标题 2">
            <a:extLst>
              <a:ext uri="{FF2B5EF4-FFF2-40B4-BE49-F238E27FC236}">
                <a16:creationId xmlns:a16="http://schemas.microsoft.com/office/drawing/2014/main" id="{E115CE78-C5D2-490D-ABC2-DF60BD6FD131}"/>
              </a:ext>
            </a:extLst>
          </p:cNvPr>
          <p:cNvSpPr>
            <a:spLocks noGrp="1"/>
          </p:cNvSpPr>
          <p:nvPr>
            <p:ph type="title"/>
          </p:nvPr>
        </p:nvSpPr>
        <p:spPr/>
        <p:txBody>
          <a:bodyPr/>
          <a:lstStyle/>
          <a:p>
            <a:r>
              <a:rPr lang="en-US" altLang="zh-CN" dirty="0"/>
              <a:t>2. RGB</a:t>
            </a:r>
            <a:r>
              <a:rPr lang="zh-CN" altLang="en-US" dirty="0"/>
              <a:t>颜色模型</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1" presetClass="entr" presetSubtype="4" fill="hold" grpId="0" nodeType="withEffect">
                                  <p:stCondLst>
                                    <p:cond delay="0"/>
                                  </p:stCondLst>
                                  <p:childTnLst>
                                    <p:set>
                                      <p:cBhvr>
                                        <p:cTn id="6" dur="1" fill="hold">
                                          <p:stCondLst>
                                            <p:cond delay="0"/>
                                          </p:stCondLst>
                                        </p:cTn>
                                        <p:tgtEl>
                                          <p:spTgt spid="9225"/>
                                        </p:tgtEl>
                                        <p:attrNameLst>
                                          <p:attrName>style.visibility</p:attrName>
                                        </p:attrNameLst>
                                      </p:cBhvr>
                                      <p:to>
                                        <p:strVal val="visible"/>
                                      </p:to>
                                    </p:set>
                                    <p:animEffect transition="in" filter="wheel(4)">
                                      <p:cBhvr>
                                        <p:cTn id="7" dur="1000"/>
                                        <p:tgtEl>
                                          <p:spTgt spid="9225"/>
                                        </p:tgtEl>
                                      </p:cBhvr>
                                    </p:animEffect>
                                  </p:childTnLst>
                                </p:cTn>
                              </p:par>
                              <p:par>
                                <p:cTn id="8" presetID="21" presetClass="entr" presetSubtype="4" fill="hold" grpId="0" nodeType="withEffect">
                                  <p:stCondLst>
                                    <p:cond delay="0"/>
                                  </p:stCondLst>
                                  <p:childTnLst>
                                    <p:set>
                                      <p:cBhvr>
                                        <p:cTn id="9" dur="1" fill="hold">
                                          <p:stCondLst>
                                            <p:cond delay="0"/>
                                          </p:stCondLst>
                                        </p:cTn>
                                        <p:tgtEl>
                                          <p:spTgt spid="9226"/>
                                        </p:tgtEl>
                                        <p:attrNameLst>
                                          <p:attrName>style.visibility</p:attrName>
                                        </p:attrNameLst>
                                      </p:cBhvr>
                                      <p:to>
                                        <p:strVal val="visible"/>
                                      </p:to>
                                    </p:set>
                                    <p:animEffect transition="in" filter="wheel(4)">
                                      <p:cBhvr>
                                        <p:cTn id="10" dur="1000"/>
                                        <p:tgtEl>
                                          <p:spTgt spid="9226"/>
                                        </p:tgtEl>
                                      </p:cBhvr>
                                    </p:animEffect>
                                  </p:childTnLst>
                                </p:cTn>
                              </p:par>
                              <p:par>
                                <p:cTn id="11" presetID="21" presetClass="entr" presetSubtype="4" fill="hold" grpId="0" nodeType="withEffect">
                                  <p:stCondLst>
                                    <p:cond delay="0"/>
                                  </p:stCondLst>
                                  <p:childTnLst>
                                    <p:set>
                                      <p:cBhvr>
                                        <p:cTn id="12" dur="1" fill="hold">
                                          <p:stCondLst>
                                            <p:cond delay="0"/>
                                          </p:stCondLst>
                                        </p:cTn>
                                        <p:tgtEl>
                                          <p:spTgt spid="9227"/>
                                        </p:tgtEl>
                                        <p:attrNameLst>
                                          <p:attrName>style.visibility</p:attrName>
                                        </p:attrNameLst>
                                      </p:cBhvr>
                                      <p:to>
                                        <p:strVal val="visible"/>
                                      </p:to>
                                    </p:set>
                                    <p:animEffect transition="in" filter="wheel(4)">
                                      <p:cBhvr>
                                        <p:cTn id="13" dur="1000"/>
                                        <p:tgtEl>
                                          <p:spTgt spid="9227"/>
                                        </p:tgtEl>
                                      </p:cBhvr>
                                    </p:animEffect>
                                  </p:childTnLst>
                                </p:cTn>
                              </p:par>
                            </p:childTnLst>
                          </p:cTn>
                        </p:par>
                        <p:par>
                          <p:cTn id="14" fill="hold" nodeType="afterGroup">
                            <p:stCondLst>
                              <p:cond delay="1000"/>
                            </p:stCondLst>
                            <p:childTnLst>
                              <p:par>
                                <p:cTn id="15" presetID="21" presetClass="entr" presetSubtype="4" fill="hold" nodeType="afterEffect">
                                  <p:stCondLst>
                                    <p:cond delay="0"/>
                                  </p:stCondLst>
                                  <p:childTnLst>
                                    <p:set>
                                      <p:cBhvr>
                                        <p:cTn id="16" dur="1" fill="hold">
                                          <p:stCondLst>
                                            <p:cond delay="0"/>
                                          </p:stCondLst>
                                        </p:cTn>
                                        <p:tgtEl>
                                          <p:spTgt spid="9218"/>
                                        </p:tgtEl>
                                        <p:attrNameLst>
                                          <p:attrName>style.visibility</p:attrName>
                                        </p:attrNameLst>
                                      </p:cBhvr>
                                      <p:to>
                                        <p:strVal val="visible"/>
                                      </p:to>
                                    </p:set>
                                    <p:animEffect transition="in" filter="wheel(4)">
                                      <p:cBhvr>
                                        <p:cTn id="17" dur="2000"/>
                                        <p:tgtEl>
                                          <p:spTgt spid="9218"/>
                                        </p:tgtEl>
                                      </p:cBhvr>
                                    </p:animEffect>
                                  </p:childTnLst>
                                </p:cTn>
                              </p:par>
                              <p:par>
                                <p:cTn id="18" presetID="21" presetClass="entr" presetSubtype="4" fill="hold"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wheel(4)">
                                      <p:cBhvr>
                                        <p:cTn id="20" dur="2000"/>
                                        <p:tgtEl>
                                          <p:spTgt spid="15"/>
                                        </p:tgtEl>
                                      </p:cBhvr>
                                    </p:animEffect>
                                  </p:childTnLst>
                                </p:cTn>
                              </p:par>
                            </p:childTnLst>
                          </p:cTn>
                        </p:par>
                        <p:par>
                          <p:cTn id="21" fill="hold" nodeType="afterGroup">
                            <p:stCondLst>
                              <p:cond delay="3000"/>
                            </p:stCondLst>
                            <p:childTnLst>
                              <p:par>
                                <p:cTn id="22" presetID="21" presetClass="entr" presetSubtype="4" fill="hold" grpId="0" nodeType="afterEffect">
                                  <p:stCondLst>
                                    <p:cond delay="0"/>
                                  </p:stCondLst>
                                  <p:childTnLst>
                                    <p:set>
                                      <p:cBhvr>
                                        <p:cTn id="23" dur="1" fill="hold">
                                          <p:stCondLst>
                                            <p:cond delay="0"/>
                                          </p:stCondLst>
                                        </p:cTn>
                                        <p:tgtEl>
                                          <p:spTgt spid="9228"/>
                                        </p:tgtEl>
                                        <p:attrNameLst>
                                          <p:attrName>style.visibility</p:attrName>
                                        </p:attrNameLst>
                                      </p:cBhvr>
                                      <p:to>
                                        <p:strVal val="visible"/>
                                      </p:to>
                                    </p:set>
                                    <p:animEffect transition="in" filter="wheel(4)">
                                      <p:cBhvr>
                                        <p:cTn id="24" dur="2000"/>
                                        <p:tgtEl>
                                          <p:spTgt spid="92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5" grpId="0"/>
      <p:bldP spid="9226" grpId="0"/>
      <p:bldP spid="9227" grpId="0"/>
      <p:bldP spid="922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1" name="Rectangle 3">
            <a:extLst>
              <a:ext uri="{FF2B5EF4-FFF2-40B4-BE49-F238E27FC236}">
                <a16:creationId xmlns:a16="http://schemas.microsoft.com/office/drawing/2014/main" id="{A301891C-5038-4E13-AA09-5517AE32A4BA}"/>
              </a:ext>
            </a:extLst>
          </p:cNvPr>
          <p:cNvSpPr>
            <a:spLocks noChangeArrowheads="1"/>
          </p:cNvSpPr>
          <p:nvPr/>
        </p:nvSpPr>
        <p:spPr bwMode="auto">
          <a:xfrm>
            <a:off x="1968500" y="1057266"/>
            <a:ext cx="8699500" cy="562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96875" indent="-396875" defTabSz="912813"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912813"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ts val="4000"/>
              </a:lnSpc>
              <a:spcBef>
                <a:spcPct val="20000"/>
              </a:spcBef>
              <a:buClr>
                <a:schemeClr val="accent2"/>
              </a:buClr>
              <a:buBlip>
                <a:blip r:embed="rId2"/>
              </a:buBlip>
            </a:pPr>
            <a:r>
              <a:rPr kumimoji="0" lang="zh-CN" altLang="en-US" b="1" dirty="0">
                <a:latin typeface="楷体_GB2312" pitchFamily="49" charset="-122"/>
                <a:ea typeface="楷体_GB2312" pitchFamily="49" charset="-122"/>
              </a:rPr>
              <a:t>三维直角坐标颜色系统中的一个单位正方体</a:t>
            </a:r>
          </a:p>
        </p:txBody>
      </p:sp>
      <p:pic>
        <p:nvPicPr>
          <p:cNvPr id="6" name="图片 5">
            <a:extLst>
              <a:ext uri="{FF2B5EF4-FFF2-40B4-BE49-F238E27FC236}">
                <a16:creationId xmlns:a16="http://schemas.microsoft.com/office/drawing/2014/main" id="{09B92A34-5697-4B5C-A3D5-957679C1D8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03353" y="1619792"/>
            <a:ext cx="4704400" cy="3347624"/>
          </a:xfrm>
          <a:prstGeom prst="rect">
            <a:avLst/>
          </a:prstGeom>
        </p:spPr>
      </p:pic>
      <p:grpSp>
        <p:nvGrpSpPr>
          <p:cNvPr id="39" name="组合 35">
            <a:extLst>
              <a:ext uri="{FF2B5EF4-FFF2-40B4-BE49-F238E27FC236}">
                <a16:creationId xmlns:a16="http://schemas.microsoft.com/office/drawing/2014/main" id="{D5C6998C-8F92-40F0-A53A-79031D657C2F}"/>
              </a:ext>
            </a:extLst>
          </p:cNvPr>
          <p:cNvGrpSpPr>
            <a:grpSpLocks noChangeAspect="1"/>
          </p:cNvGrpSpPr>
          <p:nvPr/>
        </p:nvGrpSpPr>
        <p:grpSpPr bwMode="auto">
          <a:xfrm>
            <a:off x="6784890" y="2145241"/>
            <a:ext cx="3140075" cy="2393950"/>
            <a:chOff x="3965575" y="1809750"/>
            <a:chExt cx="5178425" cy="4308875"/>
          </a:xfrm>
        </p:grpSpPr>
        <p:pic>
          <p:nvPicPr>
            <p:cNvPr id="40" name="Picture 9" descr="colorcube">
              <a:extLst>
                <a:ext uri="{FF2B5EF4-FFF2-40B4-BE49-F238E27FC236}">
                  <a16:creationId xmlns:a16="http://schemas.microsoft.com/office/drawing/2014/main" id="{5930AB8D-6D6F-4EE2-89E5-10F6EC6E3F60}"/>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462463" y="2141538"/>
              <a:ext cx="3895725" cy="348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 name="Text Box 10">
              <a:extLst>
                <a:ext uri="{FF2B5EF4-FFF2-40B4-BE49-F238E27FC236}">
                  <a16:creationId xmlns:a16="http://schemas.microsoft.com/office/drawing/2014/main" id="{845F2276-7A27-4C04-AC39-EAB979C941E0}"/>
                </a:ext>
              </a:extLst>
            </p:cNvPr>
            <p:cNvSpPr txBox="1">
              <a:spLocks noChangeArrowheads="1"/>
            </p:cNvSpPr>
            <p:nvPr/>
          </p:nvSpPr>
          <p:spPr bwMode="auto">
            <a:xfrm>
              <a:off x="3965575" y="5500459"/>
              <a:ext cx="1471322" cy="605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a:t>红</a:t>
              </a:r>
              <a:r>
                <a:rPr lang="en-US" altLang="zh-CN" sz="1600" b="1"/>
                <a:t>(1,0,0)</a:t>
              </a:r>
            </a:p>
          </p:txBody>
        </p:sp>
        <p:sp>
          <p:nvSpPr>
            <p:cNvPr id="42" name="Text Box 11">
              <a:extLst>
                <a:ext uri="{FF2B5EF4-FFF2-40B4-BE49-F238E27FC236}">
                  <a16:creationId xmlns:a16="http://schemas.microsoft.com/office/drawing/2014/main" id="{955EAF72-6D75-4ECF-A091-E3EC8835D040}"/>
                </a:ext>
              </a:extLst>
            </p:cNvPr>
            <p:cNvSpPr txBox="1">
              <a:spLocks noChangeArrowheads="1"/>
            </p:cNvSpPr>
            <p:nvPr/>
          </p:nvSpPr>
          <p:spPr bwMode="auto">
            <a:xfrm>
              <a:off x="5062521" y="1809750"/>
              <a:ext cx="1471322" cy="605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a:t>蓝</a:t>
              </a:r>
              <a:r>
                <a:rPr lang="en-US" altLang="zh-CN" sz="1600" b="1"/>
                <a:t>(0,0,1)</a:t>
              </a:r>
            </a:p>
          </p:txBody>
        </p:sp>
        <p:sp>
          <p:nvSpPr>
            <p:cNvPr id="43" name="Text Box 12">
              <a:extLst>
                <a:ext uri="{FF2B5EF4-FFF2-40B4-BE49-F238E27FC236}">
                  <a16:creationId xmlns:a16="http://schemas.microsoft.com/office/drawing/2014/main" id="{542CC742-12F4-4A58-AC48-B59E1247315F}"/>
                </a:ext>
              </a:extLst>
            </p:cNvPr>
            <p:cNvSpPr txBox="1">
              <a:spLocks noChangeArrowheads="1"/>
            </p:cNvSpPr>
            <p:nvPr/>
          </p:nvSpPr>
          <p:spPr bwMode="auto">
            <a:xfrm>
              <a:off x="7672678" y="1849742"/>
              <a:ext cx="1471322" cy="605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a:t>青</a:t>
              </a:r>
              <a:r>
                <a:rPr lang="en-US" altLang="zh-CN" sz="1600" b="1"/>
                <a:t>(0,1,1)</a:t>
              </a:r>
            </a:p>
          </p:txBody>
        </p:sp>
        <p:sp>
          <p:nvSpPr>
            <p:cNvPr id="44" name="Text Box 13">
              <a:extLst>
                <a:ext uri="{FF2B5EF4-FFF2-40B4-BE49-F238E27FC236}">
                  <a16:creationId xmlns:a16="http://schemas.microsoft.com/office/drawing/2014/main" id="{A4745090-B50F-4222-83F0-2DBC312C7421}"/>
                </a:ext>
              </a:extLst>
            </p:cNvPr>
            <p:cNvSpPr txBox="1">
              <a:spLocks noChangeArrowheads="1"/>
            </p:cNvSpPr>
            <p:nvPr/>
          </p:nvSpPr>
          <p:spPr bwMode="auto">
            <a:xfrm>
              <a:off x="6311313" y="2798129"/>
              <a:ext cx="1471321" cy="605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dirty="0"/>
                <a:t>白</a:t>
              </a:r>
              <a:r>
                <a:rPr lang="en-US" altLang="zh-CN" sz="1600" b="1" dirty="0"/>
                <a:t>(1,1,1)</a:t>
              </a:r>
            </a:p>
          </p:txBody>
        </p:sp>
        <p:sp>
          <p:nvSpPr>
            <p:cNvPr id="45" name="Text Box 14">
              <a:extLst>
                <a:ext uri="{FF2B5EF4-FFF2-40B4-BE49-F238E27FC236}">
                  <a16:creationId xmlns:a16="http://schemas.microsoft.com/office/drawing/2014/main" id="{3DE3DE41-178E-417F-BAEF-388062C9808F}"/>
                </a:ext>
              </a:extLst>
            </p:cNvPr>
            <p:cNvSpPr txBox="1">
              <a:spLocks noChangeArrowheads="1"/>
            </p:cNvSpPr>
            <p:nvPr/>
          </p:nvSpPr>
          <p:spPr bwMode="auto">
            <a:xfrm>
              <a:off x="6371527" y="5512868"/>
              <a:ext cx="1471322" cy="605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a:t>黄</a:t>
              </a:r>
              <a:r>
                <a:rPr lang="en-US" altLang="zh-CN" sz="1600" b="1"/>
                <a:t>(1,1,0)</a:t>
              </a:r>
            </a:p>
          </p:txBody>
        </p:sp>
        <p:sp>
          <p:nvSpPr>
            <p:cNvPr id="46" name="Text Box 15">
              <a:extLst>
                <a:ext uri="{FF2B5EF4-FFF2-40B4-BE49-F238E27FC236}">
                  <a16:creationId xmlns:a16="http://schemas.microsoft.com/office/drawing/2014/main" id="{6699B36A-D721-4EDB-A021-CB1AA830F3B9}"/>
                </a:ext>
              </a:extLst>
            </p:cNvPr>
            <p:cNvSpPr txBox="1">
              <a:spLocks noChangeArrowheads="1"/>
            </p:cNvSpPr>
            <p:nvPr/>
          </p:nvSpPr>
          <p:spPr bwMode="auto">
            <a:xfrm>
              <a:off x="7672678" y="4507083"/>
              <a:ext cx="1471322" cy="605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a:t>绿</a:t>
              </a:r>
              <a:r>
                <a:rPr lang="en-US" altLang="zh-CN" sz="1600" b="1"/>
                <a:t>(0,1,0)</a:t>
              </a:r>
            </a:p>
          </p:txBody>
        </p:sp>
        <p:sp>
          <p:nvSpPr>
            <p:cNvPr id="47" name="Text Box 16">
              <a:extLst>
                <a:ext uri="{FF2B5EF4-FFF2-40B4-BE49-F238E27FC236}">
                  <a16:creationId xmlns:a16="http://schemas.microsoft.com/office/drawing/2014/main" id="{60F33528-0D48-4DEE-AC09-06C4A0DCE081}"/>
                </a:ext>
              </a:extLst>
            </p:cNvPr>
            <p:cNvSpPr txBox="1">
              <a:spLocks noChangeArrowheads="1"/>
            </p:cNvSpPr>
            <p:nvPr/>
          </p:nvSpPr>
          <p:spPr bwMode="auto">
            <a:xfrm>
              <a:off x="4033643" y="2798391"/>
              <a:ext cx="1801192" cy="605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a:t>品红</a:t>
              </a:r>
              <a:r>
                <a:rPr lang="en-US" altLang="zh-CN" sz="1600" b="1"/>
                <a:t>(1,0,1)</a:t>
              </a:r>
            </a:p>
          </p:txBody>
        </p:sp>
      </p:grpSp>
      <p:sp>
        <p:nvSpPr>
          <p:cNvPr id="48" name="Rectangle 20">
            <a:extLst>
              <a:ext uri="{FF2B5EF4-FFF2-40B4-BE49-F238E27FC236}">
                <a16:creationId xmlns:a16="http://schemas.microsoft.com/office/drawing/2014/main" id="{2E35BCA8-4FAA-444B-B5B8-E6F5C86029E7}"/>
              </a:ext>
            </a:extLst>
          </p:cNvPr>
          <p:cNvSpPr>
            <a:spLocks noChangeArrowheads="1"/>
          </p:cNvSpPr>
          <p:nvPr/>
        </p:nvSpPr>
        <p:spPr bwMode="auto">
          <a:xfrm>
            <a:off x="744511" y="5406354"/>
            <a:ext cx="10702977" cy="1050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ts val="4000"/>
              </a:lnSpc>
              <a:buClr>
                <a:schemeClr val="accent2"/>
              </a:buClr>
            </a:pPr>
            <a:r>
              <a:rPr kumimoji="0" lang="zh-CN" altLang="en-US" sz="2000" b="1" dirty="0">
                <a:ea typeface="楷体_GB2312" pitchFamily="49" charset="-122"/>
              </a:rPr>
              <a:t>正方体主对角线上各原色的量相等，产生由暗到亮的白色，即灰度。（</a:t>
            </a:r>
            <a:r>
              <a:rPr kumimoji="0" lang="en-US" altLang="zh-CN" sz="2000" b="1" dirty="0">
                <a:ea typeface="楷体_GB2312" pitchFamily="49" charset="-122"/>
                <a:cs typeface="Times New Roman" panose="02020603050405020304" pitchFamily="18" charset="0"/>
              </a:rPr>
              <a:t>0</a:t>
            </a:r>
            <a:r>
              <a:rPr kumimoji="0" lang="zh-CN" altLang="en-US" sz="2000" b="1" dirty="0">
                <a:ea typeface="楷体_GB2312" pitchFamily="49" charset="-122"/>
              </a:rPr>
              <a:t>，</a:t>
            </a:r>
            <a:r>
              <a:rPr kumimoji="0" lang="en-US" altLang="zh-CN" sz="2000" b="1" dirty="0">
                <a:ea typeface="楷体_GB2312" pitchFamily="49" charset="-122"/>
              </a:rPr>
              <a:t>0</a:t>
            </a:r>
            <a:r>
              <a:rPr kumimoji="0" lang="zh-CN" altLang="en-US" sz="2000" b="1" dirty="0">
                <a:ea typeface="楷体_GB2312" pitchFamily="49" charset="-122"/>
              </a:rPr>
              <a:t>，</a:t>
            </a:r>
            <a:r>
              <a:rPr kumimoji="0" lang="en-US" altLang="zh-CN" sz="2000" b="1" dirty="0">
                <a:ea typeface="楷体_GB2312" pitchFamily="49" charset="-122"/>
              </a:rPr>
              <a:t>0</a:t>
            </a:r>
            <a:r>
              <a:rPr kumimoji="0" lang="zh-CN" altLang="en-US" sz="2000" b="1" dirty="0">
                <a:ea typeface="楷体_GB2312" pitchFamily="49" charset="-122"/>
              </a:rPr>
              <a:t>）为黑，（</a:t>
            </a:r>
            <a:r>
              <a:rPr kumimoji="0" lang="en-US" altLang="zh-CN" sz="2000" b="1" dirty="0">
                <a:ea typeface="楷体_GB2312" pitchFamily="49" charset="-122"/>
              </a:rPr>
              <a:t>1</a:t>
            </a:r>
            <a:r>
              <a:rPr kumimoji="0" lang="zh-CN" altLang="en-US" sz="2000" b="1" dirty="0">
                <a:ea typeface="楷体_GB2312" pitchFamily="49" charset="-122"/>
              </a:rPr>
              <a:t>，</a:t>
            </a:r>
            <a:r>
              <a:rPr kumimoji="0" lang="en-US" altLang="zh-CN" sz="2000" b="1" dirty="0">
                <a:ea typeface="楷体_GB2312" pitchFamily="49" charset="-122"/>
              </a:rPr>
              <a:t>1</a:t>
            </a:r>
            <a:r>
              <a:rPr kumimoji="0" lang="zh-CN" altLang="en-US" sz="2000" b="1" dirty="0">
                <a:ea typeface="楷体_GB2312" pitchFamily="49" charset="-122"/>
              </a:rPr>
              <a:t>，</a:t>
            </a:r>
            <a:r>
              <a:rPr kumimoji="0" lang="en-US" altLang="zh-CN" sz="2000" b="1" dirty="0">
                <a:ea typeface="楷体_GB2312" pitchFamily="49" charset="-122"/>
              </a:rPr>
              <a:t>1</a:t>
            </a:r>
            <a:r>
              <a:rPr kumimoji="0" lang="zh-CN" altLang="en-US" sz="2000" b="1" dirty="0">
                <a:ea typeface="楷体_GB2312" pitchFamily="49" charset="-122"/>
              </a:rPr>
              <a:t>）为白，正方体的其他</a:t>
            </a:r>
            <a:r>
              <a:rPr kumimoji="0" lang="en-US" altLang="zh-CN" sz="2000" b="1" dirty="0">
                <a:ea typeface="楷体_GB2312" pitchFamily="49" charset="-122"/>
              </a:rPr>
              <a:t>6</a:t>
            </a:r>
            <a:r>
              <a:rPr kumimoji="0" lang="zh-CN" altLang="en-US" sz="2000" b="1" dirty="0">
                <a:ea typeface="楷体_GB2312" pitchFamily="49" charset="-122"/>
              </a:rPr>
              <a:t>个角点分别为</a:t>
            </a:r>
            <a:r>
              <a:rPr kumimoji="0" lang="zh-CN" altLang="en-US" sz="2000" b="1" dirty="0">
                <a:solidFill>
                  <a:srgbClr val="FF0000"/>
                </a:solidFill>
                <a:ea typeface="楷体_GB2312" pitchFamily="49" charset="-122"/>
              </a:rPr>
              <a:t>红、黄、绿、青、蓝和品红 </a:t>
            </a:r>
          </a:p>
        </p:txBody>
      </p:sp>
      <p:sp>
        <p:nvSpPr>
          <p:cNvPr id="17" name="标题 2">
            <a:extLst>
              <a:ext uri="{FF2B5EF4-FFF2-40B4-BE49-F238E27FC236}">
                <a16:creationId xmlns:a16="http://schemas.microsoft.com/office/drawing/2014/main" id="{C7ED4F2C-FC00-4F6A-A627-8200238A3C8A}"/>
              </a:ext>
            </a:extLst>
          </p:cNvPr>
          <p:cNvSpPr>
            <a:spLocks noGrp="1"/>
          </p:cNvSpPr>
          <p:nvPr>
            <p:ph type="title"/>
          </p:nvPr>
        </p:nvSpPr>
        <p:spPr>
          <a:xfrm>
            <a:off x="1063625" y="50800"/>
            <a:ext cx="11018838" cy="701675"/>
          </a:xfrm>
        </p:spPr>
        <p:txBody>
          <a:bodyPr/>
          <a:lstStyle/>
          <a:p>
            <a:r>
              <a:rPr lang="en-US" altLang="zh-CN" dirty="0"/>
              <a:t>2. RGB</a:t>
            </a:r>
            <a:r>
              <a:rPr lang="zh-CN" altLang="en-US" dirty="0"/>
              <a:t>颜色模型</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45411"/>
                                        </p:tgtEl>
                                        <p:attrNameLst>
                                          <p:attrName>style.visibility</p:attrName>
                                        </p:attrNameLst>
                                      </p:cBhvr>
                                      <p:to>
                                        <p:strVal val="visible"/>
                                      </p:to>
                                    </p:set>
                                    <p:animEffect transition="in" filter="fade">
                                      <p:cBhvr>
                                        <p:cTn id="7" dur="500"/>
                                        <p:tgtEl>
                                          <p:spTgt spid="145411"/>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fade">
                                      <p:cBhvr>
                                        <p:cTn id="11"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1" grpId="0"/>
      <p:bldP spid="4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29" name="Rectangle 21">
            <a:extLst>
              <a:ext uri="{FF2B5EF4-FFF2-40B4-BE49-F238E27FC236}">
                <a16:creationId xmlns:a16="http://schemas.microsoft.com/office/drawing/2014/main" id="{3A47EC7B-00F5-4F28-BA8E-F07F60FE8EEF}"/>
              </a:ext>
            </a:extLst>
          </p:cNvPr>
          <p:cNvSpPr>
            <a:spLocks noChangeArrowheads="1"/>
          </p:cNvSpPr>
          <p:nvPr/>
        </p:nvSpPr>
        <p:spPr bwMode="auto">
          <a:xfrm>
            <a:off x="696366" y="1137264"/>
            <a:ext cx="11018838" cy="17237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defTabSz="912813" eaLnBrk="0" hangingPunct="0">
              <a:defRPr kumimoji="1" sz="2400">
                <a:solidFill>
                  <a:schemeClr val="tx1"/>
                </a:solidFill>
                <a:latin typeface="Times New Roman" panose="02020603050405020304" pitchFamily="18" charset="0"/>
                <a:ea typeface="宋体" panose="02010600030101010101" pitchFamily="2" charset="-122"/>
              </a:defRPr>
            </a:lvl1pPr>
            <a:lvl2pPr marL="396875" indent="-396875" defTabSz="912813"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1" eaLnBrk="1" hangingPunct="1">
              <a:lnSpc>
                <a:spcPts val="4000"/>
              </a:lnSpc>
              <a:spcBef>
                <a:spcPct val="20000"/>
              </a:spcBef>
              <a:buClr>
                <a:schemeClr val="accent2"/>
              </a:buClr>
              <a:buBlip>
                <a:blip r:embed="rId2"/>
              </a:buBlip>
            </a:pPr>
            <a:r>
              <a:rPr kumimoji="0" lang="en-US" altLang="zh-CN" b="1" dirty="0">
                <a:solidFill>
                  <a:srgbClr val="FF0000"/>
                </a:solidFill>
                <a:ea typeface="楷体_GB2312" pitchFamily="49" charset="-122"/>
                <a:cs typeface="Times New Roman" panose="02020603050405020304" pitchFamily="18" charset="0"/>
              </a:rPr>
              <a:t>RGB</a:t>
            </a:r>
            <a:r>
              <a:rPr kumimoji="0" lang="zh-CN" altLang="en-US" b="1" dirty="0">
                <a:solidFill>
                  <a:srgbClr val="FF0000"/>
                </a:solidFill>
                <a:ea typeface="楷体_GB2312" pitchFamily="49" charset="-122"/>
                <a:cs typeface="Times New Roman" panose="02020603050405020304" pitchFamily="18" charset="0"/>
              </a:rPr>
              <a:t>颜色模型</a:t>
            </a:r>
            <a:r>
              <a:rPr kumimoji="0" lang="zh-CN" altLang="en-US" b="1" dirty="0">
                <a:ea typeface="楷体_GB2312" pitchFamily="49" charset="-122"/>
                <a:cs typeface="Times New Roman" panose="02020603050405020304" pitchFamily="18" charset="0"/>
              </a:rPr>
              <a:t>构成的颜色空间是</a:t>
            </a:r>
            <a:r>
              <a:rPr kumimoji="0" lang="en-US" altLang="zh-CN" b="1" dirty="0">
                <a:ea typeface="楷体_GB2312" pitchFamily="49" charset="-122"/>
                <a:cs typeface="Times New Roman" panose="02020603050405020304" pitchFamily="18" charset="0"/>
              </a:rPr>
              <a:t>CIE</a:t>
            </a:r>
            <a:r>
              <a:rPr kumimoji="0" lang="zh-CN" altLang="en-US" b="1" dirty="0">
                <a:ea typeface="楷体_GB2312" pitchFamily="49" charset="-122"/>
                <a:cs typeface="Times New Roman" panose="02020603050405020304" pitchFamily="18" charset="0"/>
              </a:rPr>
              <a:t>原色空间的一个</a:t>
            </a:r>
            <a:r>
              <a:rPr kumimoji="0" lang="zh-CN" altLang="en-US" b="1" dirty="0">
                <a:solidFill>
                  <a:srgbClr val="FF0000"/>
                </a:solidFill>
                <a:ea typeface="楷体_GB2312" pitchFamily="49" charset="-122"/>
                <a:cs typeface="Times New Roman" panose="02020603050405020304" pitchFamily="18" charset="0"/>
              </a:rPr>
              <a:t>真子集</a:t>
            </a:r>
            <a:endParaRPr kumimoji="0" lang="en-US" altLang="zh-CN" b="1" dirty="0">
              <a:solidFill>
                <a:srgbClr val="002060"/>
              </a:solidFill>
              <a:ea typeface="楷体_GB2312" pitchFamily="49" charset="-122"/>
              <a:cs typeface="Times New Roman" panose="02020603050405020304" pitchFamily="18" charset="0"/>
            </a:endParaRPr>
          </a:p>
          <a:p>
            <a:pPr lvl="1" eaLnBrk="1" hangingPunct="1">
              <a:lnSpc>
                <a:spcPts val="4000"/>
              </a:lnSpc>
              <a:spcBef>
                <a:spcPct val="20000"/>
              </a:spcBef>
              <a:buClr>
                <a:schemeClr val="accent2"/>
              </a:buClr>
              <a:buBlip>
                <a:blip r:embed="rId2"/>
              </a:buBlip>
            </a:pPr>
            <a:r>
              <a:rPr kumimoji="0" lang="en-US" altLang="zh-CN" b="1" dirty="0">
                <a:ea typeface="楷体_GB2312" pitchFamily="49" charset="-122"/>
                <a:cs typeface="Times New Roman" panose="02020603050405020304" pitchFamily="18" charset="0"/>
              </a:rPr>
              <a:t>RGB</a:t>
            </a:r>
            <a:r>
              <a:rPr kumimoji="0" lang="zh-CN" altLang="en-US" b="1" dirty="0">
                <a:ea typeface="楷体_GB2312" pitchFamily="49" charset="-122"/>
                <a:cs typeface="Times New Roman" panose="02020603050405020304" pitchFamily="18" charset="0"/>
              </a:rPr>
              <a:t>三基色是</a:t>
            </a:r>
            <a:r>
              <a:rPr kumimoji="0" lang="zh-CN" altLang="en-US" b="1" dirty="0">
                <a:solidFill>
                  <a:srgbClr val="FF0000"/>
                </a:solidFill>
                <a:ea typeface="楷体_GB2312" pitchFamily="49" charset="-122"/>
                <a:cs typeface="Times New Roman" panose="02020603050405020304" pitchFamily="18" charset="0"/>
              </a:rPr>
              <a:t>加性基色</a:t>
            </a:r>
            <a:endParaRPr kumimoji="0" lang="en-US" altLang="zh-CN" b="1" dirty="0">
              <a:solidFill>
                <a:srgbClr val="FF0000"/>
              </a:solidFill>
              <a:ea typeface="楷体_GB2312" pitchFamily="49" charset="-122"/>
              <a:cs typeface="Times New Roman" panose="02020603050405020304" pitchFamily="18" charset="0"/>
            </a:endParaRPr>
          </a:p>
          <a:p>
            <a:pPr lvl="1" eaLnBrk="1" hangingPunct="1">
              <a:lnSpc>
                <a:spcPts val="4000"/>
              </a:lnSpc>
              <a:spcBef>
                <a:spcPct val="20000"/>
              </a:spcBef>
              <a:buClr>
                <a:schemeClr val="accent2"/>
              </a:buClr>
              <a:buBlip>
                <a:blip r:embed="rId2"/>
              </a:buBlip>
            </a:pPr>
            <a:r>
              <a:rPr kumimoji="0" lang="en-US" altLang="zh-CN" b="1" dirty="0">
                <a:ea typeface="楷体_GB2312" pitchFamily="49" charset="-122"/>
                <a:cs typeface="Times New Roman" panose="02020603050405020304" pitchFamily="18" charset="0"/>
              </a:rPr>
              <a:t>RGB</a:t>
            </a:r>
            <a:r>
              <a:rPr kumimoji="0" lang="zh-CN" altLang="en-US" b="1" dirty="0">
                <a:ea typeface="楷体_GB2312" pitchFamily="49" charset="-122"/>
                <a:cs typeface="Times New Roman" panose="02020603050405020304" pitchFamily="18" charset="0"/>
              </a:rPr>
              <a:t>颜色模型通常用于彩色阴极射线管和彩色光栅图形显示器</a:t>
            </a:r>
          </a:p>
        </p:txBody>
      </p:sp>
      <p:sp>
        <p:nvSpPr>
          <p:cNvPr id="15" name="圆角矩形 14">
            <a:extLst>
              <a:ext uri="{FF2B5EF4-FFF2-40B4-BE49-F238E27FC236}">
                <a16:creationId xmlns:a16="http://schemas.microsoft.com/office/drawing/2014/main" id="{F7E8C28D-598B-495B-BA66-4613AECB1CC6}"/>
              </a:ext>
            </a:extLst>
          </p:cNvPr>
          <p:cNvSpPr/>
          <p:nvPr/>
        </p:nvSpPr>
        <p:spPr bwMode="auto">
          <a:xfrm>
            <a:off x="6748370" y="3245795"/>
            <a:ext cx="4322246" cy="3092669"/>
          </a:xfrm>
          <a:prstGeom prst="roundRect">
            <a:avLst/>
          </a:prstGeom>
          <a:ln>
            <a:headEnd type="none" w="med" len="med"/>
            <a:tailEnd type="none" w="med" len="med"/>
          </a:ln>
          <a:effectLst>
            <a:outerShdw blurRad="40000" dist="23000" dir="5400000" rotWithShape="0">
              <a:srgbClr val="000000">
                <a:alpha val="35000"/>
              </a:srgbClr>
            </a:outerShdw>
            <a:reflection blurRad="6350" stA="52000" endA="300" endPos="35000" dir="5400000" sy="-100000" algn="bl" rotWithShape="0"/>
          </a:effectLst>
        </p:spPr>
        <p:style>
          <a:lnRef idx="0">
            <a:schemeClr val="accent3"/>
          </a:lnRef>
          <a:fillRef idx="3">
            <a:schemeClr val="accent3"/>
          </a:fillRef>
          <a:effectRef idx="3">
            <a:schemeClr val="accent3"/>
          </a:effectRef>
          <a:fontRef idx="minor">
            <a:schemeClr val="lt1"/>
          </a:fontRef>
        </p:style>
        <p:txBody>
          <a:bodyPr wrap="none"/>
          <a:lstStyle/>
          <a:p>
            <a:pPr>
              <a:defRPr/>
            </a:pPr>
            <a:endParaRPr lang="zh-CN" altLang="en-US">
              <a:solidFill>
                <a:schemeClr val="tx1"/>
              </a:solidFill>
              <a:latin typeface="Times New Roman" pitchFamily="18" charset="0"/>
            </a:endParaRPr>
          </a:p>
        </p:txBody>
      </p:sp>
      <p:sp>
        <p:nvSpPr>
          <p:cNvPr id="12" name="圆角矩形 11">
            <a:extLst>
              <a:ext uri="{FF2B5EF4-FFF2-40B4-BE49-F238E27FC236}">
                <a16:creationId xmlns:a16="http://schemas.microsoft.com/office/drawing/2014/main" id="{113960F0-378B-4CB8-B178-E8DDA17C257E}"/>
              </a:ext>
            </a:extLst>
          </p:cNvPr>
          <p:cNvSpPr/>
          <p:nvPr/>
        </p:nvSpPr>
        <p:spPr bwMode="auto">
          <a:xfrm>
            <a:off x="1054860" y="3261034"/>
            <a:ext cx="4322246" cy="3110680"/>
          </a:xfrm>
          <a:prstGeom prst="roundRect">
            <a:avLst/>
          </a:prstGeom>
          <a:ln>
            <a:headEnd type="none" w="med" len="med"/>
            <a:tailEnd type="none" w="med" len="med"/>
          </a:ln>
          <a:effectLst>
            <a:outerShdw blurRad="40000" dist="23000" dir="5400000" rotWithShape="0">
              <a:srgbClr val="000000">
                <a:alpha val="35000"/>
              </a:srgbClr>
            </a:outerShdw>
            <a:reflection blurRad="6350" stA="52000" endA="300" endPos="35000" dir="5400000" sy="-100000" algn="bl" rotWithShape="0"/>
          </a:effectLst>
        </p:spPr>
        <p:style>
          <a:lnRef idx="0">
            <a:schemeClr val="accent3"/>
          </a:lnRef>
          <a:fillRef idx="3">
            <a:schemeClr val="accent3"/>
          </a:fillRef>
          <a:effectRef idx="3">
            <a:schemeClr val="accent3"/>
          </a:effectRef>
          <a:fontRef idx="minor">
            <a:schemeClr val="lt1"/>
          </a:fontRef>
        </p:style>
        <p:txBody>
          <a:bodyPr wrap="none"/>
          <a:lstStyle/>
          <a:p>
            <a:pPr>
              <a:defRPr/>
            </a:pPr>
            <a:endParaRPr lang="zh-CN" altLang="en-US">
              <a:solidFill>
                <a:schemeClr val="tx1"/>
              </a:solidFill>
              <a:latin typeface="Times New Roman" pitchFamily="18" charset="0"/>
            </a:endParaRPr>
          </a:p>
        </p:txBody>
      </p:sp>
      <p:pic>
        <p:nvPicPr>
          <p:cNvPr id="18438" name="Picture 11" descr="未命名">
            <a:extLst>
              <a:ext uri="{FF2B5EF4-FFF2-40B4-BE49-F238E27FC236}">
                <a16:creationId xmlns:a16="http://schemas.microsoft.com/office/drawing/2014/main" id="{D8927E13-75F3-4B02-831C-8AF4D642F5D1}"/>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406134" y="3376074"/>
            <a:ext cx="3600450" cy="283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9" name="Picture 13" descr="RGB">
            <a:extLst>
              <a:ext uri="{FF2B5EF4-FFF2-40B4-BE49-F238E27FC236}">
                <a16:creationId xmlns:a16="http://schemas.microsoft.com/office/drawing/2014/main" id="{BFBF8A47-53CB-480F-8251-0B86D7D05CA6}"/>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505409" y="3406236"/>
            <a:ext cx="2800350" cy="272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标题 2">
            <a:extLst>
              <a:ext uri="{FF2B5EF4-FFF2-40B4-BE49-F238E27FC236}">
                <a16:creationId xmlns:a16="http://schemas.microsoft.com/office/drawing/2014/main" id="{BB254B59-9B53-4BD0-BE19-386C9FC47F69}"/>
              </a:ext>
            </a:extLst>
          </p:cNvPr>
          <p:cNvSpPr>
            <a:spLocks noGrp="1"/>
          </p:cNvSpPr>
          <p:nvPr>
            <p:ph type="title"/>
          </p:nvPr>
        </p:nvSpPr>
        <p:spPr>
          <a:xfrm>
            <a:off x="1063625" y="50800"/>
            <a:ext cx="11018838" cy="701675"/>
          </a:xfrm>
        </p:spPr>
        <p:txBody>
          <a:bodyPr/>
          <a:lstStyle/>
          <a:p>
            <a:r>
              <a:rPr lang="en-US" altLang="zh-CN" dirty="0"/>
              <a:t>2. RGB</a:t>
            </a:r>
            <a:r>
              <a:rPr lang="zh-CN" altLang="en-US" dirty="0"/>
              <a:t>颜色模型</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45429"/>
                                        </p:tgtEl>
                                        <p:attrNameLst>
                                          <p:attrName>style.visibility</p:attrName>
                                        </p:attrNameLst>
                                      </p:cBhvr>
                                      <p:to>
                                        <p:strVal val="visible"/>
                                      </p:to>
                                    </p:set>
                                    <p:animEffect transition="in" filter="fade">
                                      <p:cBhvr>
                                        <p:cTn id="7" dur="2000"/>
                                        <p:tgtEl>
                                          <p:spTgt spid="145429"/>
                                        </p:tgtEl>
                                      </p:cBhvr>
                                    </p:animEffect>
                                  </p:childTnLst>
                                </p:cTn>
                              </p:par>
                              <p:par>
                                <p:cTn id="8" presetID="35"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000"/>
                                        <p:tgtEl>
                                          <p:spTgt spid="12"/>
                                        </p:tgtEl>
                                      </p:cBhvr>
                                    </p:animEffect>
                                    <p:anim calcmode="lin" valueType="num">
                                      <p:cBhvr>
                                        <p:cTn id="11" dur="2000" fill="hold"/>
                                        <p:tgtEl>
                                          <p:spTgt spid="12"/>
                                        </p:tgtEl>
                                        <p:attrNameLst>
                                          <p:attrName>style.rotation</p:attrName>
                                        </p:attrNameLst>
                                      </p:cBhvr>
                                      <p:tavLst>
                                        <p:tav tm="0">
                                          <p:val>
                                            <p:fltVal val="720"/>
                                          </p:val>
                                        </p:tav>
                                        <p:tav tm="100000">
                                          <p:val>
                                            <p:fltVal val="0"/>
                                          </p:val>
                                        </p:tav>
                                      </p:tavLst>
                                    </p:anim>
                                    <p:anim calcmode="lin" valueType="num">
                                      <p:cBhvr>
                                        <p:cTn id="12" dur="2000" fill="hold"/>
                                        <p:tgtEl>
                                          <p:spTgt spid="12"/>
                                        </p:tgtEl>
                                        <p:attrNameLst>
                                          <p:attrName>ppt_h</p:attrName>
                                        </p:attrNameLst>
                                      </p:cBhvr>
                                      <p:tavLst>
                                        <p:tav tm="0">
                                          <p:val>
                                            <p:fltVal val="0"/>
                                          </p:val>
                                        </p:tav>
                                        <p:tav tm="100000">
                                          <p:val>
                                            <p:strVal val="#ppt_h"/>
                                          </p:val>
                                        </p:tav>
                                      </p:tavLst>
                                    </p:anim>
                                    <p:anim calcmode="lin" valueType="num">
                                      <p:cBhvr>
                                        <p:cTn id="13" dur="2000" fill="hold"/>
                                        <p:tgtEl>
                                          <p:spTgt spid="12"/>
                                        </p:tgtEl>
                                        <p:attrNameLst>
                                          <p:attrName>ppt_w</p:attrName>
                                        </p:attrNameLst>
                                      </p:cBhvr>
                                      <p:tavLst>
                                        <p:tav tm="0">
                                          <p:val>
                                            <p:fltVal val="0"/>
                                          </p:val>
                                        </p:tav>
                                        <p:tav tm="100000">
                                          <p:val>
                                            <p:strVal val="#ppt_w"/>
                                          </p:val>
                                        </p:tav>
                                      </p:tavLst>
                                    </p:anim>
                                  </p:childTnLst>
                                </p:cTn>
                              </p:par>
                              <p:par>
                                <p:cTn id="14" presetID="35" presetClass="entr" presetSubtype="0"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2000"/>
                                        <p:tgtEl>
                                          <p:spTgt spid="15"/>
                                        </p:tgtEl>
                                      </p:cBhvr>
                                    </p:animEffect>
                                    <p:anim calcmode="lin" valueType="num">
                                      <p:cBhvr>
                                        <p:cTn id="17" dur="2000" fill="hold"/>
                                        <p:tgtEl>
                                          <p:spTgt spid="15"/>
                                        </p:tgtEl>
                                        <p:attrNameLst>
                                          <p:attrName>style.rotation</p:attrName>
                                        </p:attrNameLst>
                                      </p:cBhvr>
                                      <p:tavLst>
                                        <p:tav tm="0">
                                          <p:val>
                                            <p:fltVal val="720"/>
                                          </p:val>
                                        </p:tav>
                                        <p:tav tm="100000">
                                          <p:val>
                                            <p:fltVal val="0"/>
                                          </p:val>
                                        </p:tav>
                                      </p:tavLst>
                                    </p:anim>
                                    <p:anim calcmode="lin" valueType="num">
                                      <p:cBhvr>
                                        <p:cTn id="18" dur="2000" fill="hold"/>
                                        <p:tgtEl>
                                          <p:spTgt spid="15"/>
                                        </p:tgtEl>
                                        <p:attrNameLst>
                                          <p:attrName>ppt_h</p:attrName>
                                        </p:attrNameLst>
                                      </p:cBhvr>
                                      <p:tavLst>
                                        <p:tav tm="0">
                                          <p:val>
                                            <p:fltVal val="0"/>
                                          </p:val>
                                        </p:tav>
                                        <p:tav tm="100000">
                                          <p:val>
                                            <p:strVal val="#ppt_h"/>
                                          </p:val>
                                        </p:tav>
                                      </p:tavLst>
                                    </p:anim>
                                    <p:anim calcmode="lin" valueType="num">
                                      <p:cBhvr>
                                        <p:cTn id="19" dur="2000" fill="hold"/>
                                        <p:tgtEl>
                                          <p:spTgt spid="15"/>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2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1BAD2055-868C-449C-8EAC-98EEE68964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4997" y="2659369"/>
            <a:ext cx="4114800" cy="3514725"/>
          </a:xfrm>
          <a:prstGeom prst="rect">
            <a:avLst/>
          </a:prstGeom>
        </p:spPr>
      </p:pic>
      <p:sp>
        <p:nvSpPr>
          <p:cNvPr id="146435" name="Text Box 3">
            <a:extLst>
              <a:ext uri="{FF2B5EF4-FFF2-40B4-BE49-F238E27FC236}">
                <a16:creationId xmlns:a16="http://schemas.microsoft.com/office/drawing/2014/main" id="{AB651178-3882-4F13-B64B-802C1BE5E607}"/>
              </a:ext>
            </a:extLst>
          </p:cNvPr>
          <p:cNvSpPr txBox="1">
            <a:spLocks noChangeArrowheads="1"/>
          </p:cNvSpPr>
          <p:nvPr/>
        </p:nvSpPr>
        <p:spPr bwMode="auto">
          <a:xfrm>
            <a:off x="839449" y="1022605"/>
            <a:ext cx="10830394" cy="1568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96875" indent="-396875" defTabSz="912813"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912813"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Clr>
                <a:schemeClr val="accent2"/>
              </a:buClr>
              <a:buFontTx/>
              <a:buBlip>
                <a:blip r:embed="rId3"/>
              </a:buBlip>
            </a:pPr>
            <a:r>
              <a:rPr kumimoji="0" lang="en-US" altLang="zh-CN" b="1" dirty="0">
                <a:solidFill>
                  <a:srgbClr val="FF0000"/>
                </a:solidFill>
                <a:ea typeface="楷体_GB2312" pitchFamily="49" charset="-122"/>
                <a:cs typeface="Times New Roman" panose="02020603050405020304" pitchFamily="18" charset="0"/>
              </a:rPr>
              <a:t>CMY</a:t>
            </a:r>
            <a:r>
              <a:rPr kumimoji="0" lang="zh-CN" altLang="en-US" b="1" dirty="0">
                <a:solidFill>
                  <a:srgbClr val="FF0000"/>
                </a:solidFill>
                <a:ea typeface="楷体_GB2312" pitchFamily="49" charset="-122"/>
                <a:cs typeface="Times New Roman" panose="02020603050405020304" pitchFamily="18" charset="0"/>
              </a:rPr>
              <a:t>颜色模型</a:t>
            </a:r>
            <a:r>
              <a:rPr kumimoji="0" lang="zh-CN" altLang="en-US" b="1" dirty="0">
                <a:ea typeface="楷体_GB2312" pitchFamily="49" charset="-122"/>
                <a:cs typeface="Times New Roman" panose="02020603050405020304" pitchFamily="18" charset="0"/>
              </a:rPr>
              <a:t>是以红、绿、蓝三色的补色</a:t>
            </a:r>
            <a:r>
              <a:rPr kumimoji="0" lang="zh-CN" altLang="en-US" b="1" dirty="0">
                <a:solidFill>
                  <a:srgbClr val="FF0000"/>
                </a:solidFill>
                <a:ea typeface="楷体_GB2312" pitchFamily="49" charset="-122"/>
                <a:cs typeface="Times New Roman" panose="02020603050405020304" pitchFamily="18" charset="0"/>
              </a:rPr>
              <a:t>青</a:t>
            </a:r>
            <a:r>
              <a:rPr kumimoji="0" lang="zh-CN" altLang="en-US" b="1" dirty="0">
                <a:ea typeface="楷体_GB2312" pitchFamily="49" charset="-122"/>
                <a:cs typeface="Times New Roman" panose="02020603050405020304" pitchFamily="18" charset="0"/>
              </a:rPr>
              <a:t>（</a:t>
            </a:r>
            <a:r>
              <a:rPr kumimoji="0" lang="en-US" altLang="zh-CN" b="1" dirty="0">
                <a:ea typeface="楷体_GB2312" pitchFamily="49" charset="-122"/>
                <a:cs typeface="Times New Roman" panose="02020603050405020304" pitchFamily="18" charset="0"/>
              </a:rPr>
              <a:t>Cyan</a:t>
            </a:r>
            <a:r>
              <a:rPr kumimoji="0" lang="zh-CN" altLang="en-US" b="1" dirty="0">
                <a:ea typeface="楷体_GB2312" pitchFamily="49" charset="-122"/>
                <a:cs typeface="Times New Roman" panose="02020603050405020304" pitchFamily="18" charset="0"/>
              </a:rPr>
              <a:t>）</a:t>
            </a:r>
            <a:r>
              <a:rPr kumimoji="0" lang="zh-CN" altLang="en-US" b="1" dirty="0">
                <a:solidFill>
                  <a:srgbClr val="002060"/>
                </a:solidFill>
                <a:ea typeface="楷体_GB2312" pitchFamily="49" charset="-122"/>
                <a:cs typeface="Times New Roman" panose="02020603050405020304" pitchFamily="18" charset="0"/>
              </a:rPr>
              <a:t>、</a:t>
            </a:r>
            <a:r>
              <a:rPr kumimoji="0" lang="zh-CN" altLang="en-US" b="1" dirty="0">
                <a:solidFill>
                  <a:srgbClr val="FF0000"/>
                </a:solidFill>
                <a:ea typeface="楷体_GB2312" pitchFamily="49" charset="-122"/>
                <a:cs typeface="Times New Roman" panose="02020603050405020304" pitchFamily="18" charset="0"/>
              </a:rPr>
              <a:t>品红</a:t>
            </a:r>
            <a:r>
              <a:rPr kumimoji="0" lang="zh-CN" altLang="en-US" b="1" dirty="0">
                <a:ea typeface="楷体_GB2312" pitchFamily="49" charset="-122"/>
                <a:cs typeface="Times New Roman" panose="02020603050405020304" pitchFamily="18" charset="0"/>
              </a:rPr>
              <a:t>（</a:t>
            </a:r>
            <a:r>
              <a:rPr kumimoji="0" lang="en-US" altLang="zh-CN" b="1" dirty="0">
                <a:ea typeface="楷体_GB2312" pitchFamily="49" charset="-122"/>
                <a:cs typeface="Times New Roman" panose="02020603050405020304" pitchFamily="18" charset="0"/>
              </a:rPr>
              <a:t>Magenta</a:t>
            </a:r>
            <a:r>
              <a:rPr kumimoji="0" lang="zh-CN" altLang="en-US" b="1" dirty="0">
                <a:ea typeface="楷体_GB2312" pitchFamily="49" charset="-122"/>
                <a:cs typeface="Times New Roman" panose="02020603050405020304" pitchFamily="18" charset="0"/>
              </a:rPr>
              <a:t>）</a:t>
            </a:r>
            <a:r>
              <a:rPr kumimoji="0" lang="zh-CN" altLang="en-US" b="1" dirty="0">
                <a:solidFill>
                  <a:srgbClr val="002060"/>
                </a:solidFill>
                <a:ea typeface="楷体_GB2312" pitchFamily="49" charset="-122"/>
                <a:cs typeface="Times New Roman" panose="02020603050405020304" pitchFamily="18" charset="0"/>
              </a:rPr>
              <a:t>、</a:t>
            </a:r>
            <a:r>
              <a:rPr kumimoji="0" lang="zh-CN" altLang="en-US" b="1" dirty="0">
                <a:solidFill>
                  <a:srgbClr val="FF0000"/>
                </a:solidFill>
                <a:ea typeface="楷体_GB2312" pitchFamily="49" charset="-122"/>
                <a:cs typeface="Times New Roman" panose="02020603050405020304" pitchFamily="18" charset="0"/>
              </a:rPr>
              <a:t>黄</a:t>
            </a:r>
            <a:r>
              <a:rPr kumimoji="0" lang="zh-CN" altLang="en-US" b="1" dirty="0">
                <a:ea typeface="楷体_GB2312" pitchFamily="49" charset="-122"/>
                <a:cs typeface="Times New Roman" panose="02020603050405020304" pitchFamily="18" charset="0"/>
              </a:rPr>
              <a:t>（</a:t>
            </a:r>
            <a:r>
              <a:rPr kumimoji="0" lang="en-US" altLang="zh-CN" b="1" dirty="0">
                <a:ea typeface="楷体_GB2312" pitchFamily="49" charset="-122"/>
                <a:cs typeface="Times New Roman" panose="02020603050405020304" pitchFamily="18" charset="0"/>
              </a:rPr>
              <a:t>Yellow</a:t>
            </a:r>
            <a:r>
              <a:rPr kumimoji="0" lang="zh-CN" altLang="en-US" b="1" dirty="0">
                <a:ea typeface="楷体_GB2312" pitchFamily="49" charset="-122"/>
                <a:cs typeface="Times New Roman" panose="02020603050405020304" pitchFamily="18" charset="0"/>
              </a:rPr>
              <a:t>）为基色构成的颜色模型</a:t>
            </a:r>
          </a:p>
          <a:p>
            <a:pPr eaLnBrk="1" hangingPunct="1">
              <a:lnSpc>
                <a:spcPct val="120000"/>
              </a:lnSpc>
              <a:spcBef>
                <a:spcPct val="50000"/>
              </a:spcBef>
              <a:buClr>
                <a:schemeClr val="accent2"/>
              </a:buClr>
              <a:buFontTx/>
              <a:buBlip>
                <a:blip r:embed="rId3"/>
              </a:buBlip>
            </a:pPr>
            <a:r>
              <a:rPr kumimoji="0" lang="en-US" altLang="zh-CN" b="1" dirty="0">
                <a:ea typeface="楷体_GB2312" pitchFamily="49" charset="-122"/>
                <a:cs typeface="Times New Roman" panose="02020603050405020304" pitchFamily="18" charset="0"/>
              </a:rPr>
              <a:t>CMY</a:t>
            </a:r>
            <a:r>
              <a:rPr kumimoji="0" lang="zh-CN" altLang="en-US" b="1" dirty="0">
                <a:ea typeface="楷体_GB2312" pitchFamily="49" charset="-122"/>
                <a:cs typeface="Times New Roman" panose="02020603050405020304" pitchFamily="18" charset="0"/>
              </a:rPr>
              <a:t>颜色模型常用于从白光中滤去某种颜色，故称为</a:t>
            </a:r>
            <a:r>
              <a:rPr kumimoji="0" lang="zh-CN" altLang="en-US" b="1" dirty="0">
                <a:solidFill>
                  <a:srgbClr val="FF0000"/>
                </a:solidFill>
                <a:ea typeface="楷体_GB2312" pitchFamily="49" charset="-122"/>
                <a:cs typeface="Times New Roman" panose="02020603050405020304" pitchFamily="18" charset="0"/>
              </a:rPr>
              <a:t>减色基色空间</a:t>
            </a:r>
            <a:endParaRPr kumimoji="0" lang="zh-CN" altLang="en-US" b="1" dirty="0">
              <a:ea typeface="楷体_GB2312" pitchFamily="49" charset="-122"/>
              <a:cs typeface="Times New Roman" panose="02020603050405020304" pitchFamily="18" charset="0"/>
            </a:endParaRPr>
          </a:p>
        </p:txBody>
      </p:sp>
      <p:sp>
        <p:nvSpPr>
          <p:cNvPr id="19460" name="Rectangle 5">
            <a:extLst>
              <a:ext uri="{FF2B5EF4-FFF2-40B4-BE49-F238E27FC236}">
                <a16:creationId xmlns:a16="http://schemas.microsoft.com/office/drawing/2014/main" id="{2118233E-ABD5-47D8-89A5-EA4528328128}"/>
              </a:ext>
            </a:extLst>
          </p:cNvPr>
          <p:cNvSpPr>
            <a:spLocks noChangeArrowheads="1"/>
          </p:cNvSpPr>
          <p:nvPr/>
        </p:nvSpPr>
        <p:spPr bwMode="auto">
          <a:xfrm>
            <a:off x="4381500" y="2319339"/>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 name="Text Box 3">
            <a:extLst>
              <a:ext uri="{FF2B5EF4-FFF2-40B4-BE49-F238E27FC236}">
                <a16:creationId xmlns:a16="http://schemas.microsoft.com/office/drawing/2014/main" id="{5D40A6FF-3213-479C-BB3B-44BC447A87CB}"/>
              </a:ext>
            </a:extLst>
          </p:cNvPr>
          <p:cNvSpPr txBox="1">
            <a:spLocks noChangeArrowheads="1"/>
          </p:cNvSpPr>
          <p:nvPr/>
        </p:nvSpPr>
        <p:spPr bwMode="auto">
          <a:xfrm>
            <a:off x="839449" y="3032570"/>
            <a:ext cx="6648138" cy="940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96875" indent="-396875" defTabSz="912813"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912813"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Clr>
                <a:schemeClr val="accent2"/>
              </a:buClr>
              <a:buFontTx/>
              <a:buBlip>
                <a:blip r:embed="rId3"/>
              </a:buBlip>
            </a:pPr>
            <a:r>
              <a:rPr kumimoji="0" lang="en-US" altLang="zh-CN" b="1" dirty="0">
                <a:ea typeface="楷体_GB2312" pitchFamily="49" charset="-122"/>
                <a:cs typeface="Times New Roman" panose="02020603050405020304" pitchFamily="18" charset="0"/>
              </a:rPr>
              <a:t>CMY</a:t>
            </a:r>
            <a:r>
              <a:rPr kumimoji="0" lang="zh-CN" altLang="en-US" b="1" dirty="0">
                <a:ea typeface="楷体_GB2312" pitchFamily="49" charset="-122"/>
                <a:cs typeface="Times New Roman" panose="02020603050405020304" pitchFamily="18" charset="0"/>
              </a:rPr>
              <a:t>颜色模型对应的直角坐标系的子空间与</a:t>
            </a:r>
            <a:r>
              <a:rPr kumimoji="0" lang="en-US" altLang="zh-CN" b="1" dirty="0">
                <a:ea typeface="楷体_GB2312" pitchFamily="49" charset="-122"/>
                <a:cs typeface="Times New Roman" panose="02020603050405020304" pitchFamily="18" charset="0"/>
              </a:rPr>
              <a:t>RGB</a:t>
            </a:r>
            <a:r>
              <a:rPr kumimoji="0" lang="zh-CN" altLang="en-US" b="1" dirty="0">
                <a:ea typeface="楷体_GB2312" pitchFamily="49" charset="-122"/>
                <a:cs typeface="Times New Roman" panose="02020603050405020304" pitchFamily="18" charset="0"/>
              </a:rPr>
              <a:t>颜色模型对应的子空间几乎完全相同 </a:t>
            </a:r>
          </a:p>
        </p:txBody>
      </p:sp>
      <p:sp>
        <p:nvSpPr>
          <p:cNvPr id="4" name="标题 3">
            <a:extLst>
              <a:ext uri="{FF2B5EF4-FFF2-40B4-BE49-F238E27FC236}">
                <a16:creationId xmlns:a16="http://schemas.microsoft.com/office/drawing/2014/main" id="{C31CCE1D-102D-48E1-8743-B389AC1618D1}"/>
              </a:ext>
            </a:extLst>
          </p:cNvPr>
          <p:cNvSpPr>
            <a:spLocks noGrp="1"/>
          </p:cNvSpPr>
          <p:nvPr>
            <p:ph type="title"/>
          </p:nvPr>
        </p:nvSpPr>
        <p:spPr/>
        <p:txBody>
          <a:bodyPr/>
          <a:lstStyle/>
          <a:p>
            <a:r>
              <a:rPr lang="en-US" altLang="zh-CN" dirty="0"/>
              <a:t>3. CMY</a:t>
            </a:r>
            <a:r>
              <a:rPr lang="zh-CN" altLang="en-US" dirty="0"/>
              <a:t>颜色模型</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46435">
                                            <p:txEl>
                                              <p:pRg st="0" end="0"/>
                                            </p:txEl>
                                          </p:spTgt>
                                        </p:tgtEl>
                                        <p:attrNameLst>
                                          <p:attrName>style.visibility</p:attrName>
                                        </p:attrNameLst>
                                      </p:cBhvr>
                                      <p:to>
                                        <p:strVal val="visible"/>
                                      </p:to>
                                    </p:set>
                                    <p:animEffect transition="in" filter="fade">
                                      <p:cBhvr>
                                        <p:cTn id="7" dur="2000"/>
                                        <p:tgtEl>
                                          <p:spTgt spid="146435">
                                            <p:txEl>
                                              <p:pRg st="0" end="0"/>
                                            </p:txEl>
                                          </p:spTgt>
                                        </p:tgtEl>
                                      </p:cBhvr>
                                    </p:animEffect>
                                  </p:childTnLst>
                                </p:cTn>
                              </p:par>
                            </p:childTnLst>
                          </p:cTn>
                        </p:par>
                        <p:par>
                          <p:cTn id="8" fill="hold" nodeType="afterGroup">
                            <p:stCondLst>
                              <p:cond delay="2000"/>
                            </p:stCondLst>
                            <p:childTnLst>
                              <p:par>
                                <p:cTn id="9" presetID="10" presetClass="entr" presetSubtype="0" fill="hold" nodeType="afterEffect">
                                  <p:stCondLst>
                                    <p:cond delay="0"/>
                                  </p:stCondLst>
                                  <p:childTnLst>
                                    <p:set>
                                      <p:cBhvr>
                                        <p:cTn id="10" dur="1" fill="hold">
                                          <p:stCondLst>
                                            <p:cond delay="0"/>
                                          </p:stCondLst>
                                        </p:cTn>
                                        <p:tgtEl>
                                          <p:spTgt spid="146435">
                                            <p:txEl>
                                              <p:pRg st="1" end="1"/>
                                            </p:txEl>
                                          </p:spTgt>
                                        </p:tgtEl>
                                        <p:attrNameLst>
                                          <p:attrName>style.visibility</p:attrName>
                                        </p:attrNameLst>
                                      </p:cBhvr>
                                      <p:to>
                                        <p:strVal val="visible"/>
                                      </p:to>
                                    </p:set>
                                    <p:animEffect transition="in" filter="fade">
                                      <p:cBhvr>
                                        <p:cTn id="11" dur="2000"/>
                                        <p:tgtEl>
                                          <p:spTgt spid="146435">
                                            <p:txEl>
                                              <p:pRg st="1" end="1"/>
                                            </p:txEl>
                                          </p:spTgt>
                                        </p:tgtEl>
                                      </p:cBhvr>
                                    </p:animEffect>
                                  </p:childTnLst>
                                </p:cTn>
                              </p:par>
                            </p:childTnLst>
                          </p:cTn>
                        </p:par>
                        <p:par>
                          <p:cTn id="12" fill="hold">
                            <p:stCondLst>
                              <p:cond delay="4000"/>
                            </p:stCondLst>
                            <p:childTnLst>
                              <p:par>
                                <p:cTn id="13" presetID="10" presetClass="entr" presetSubtype="0" fill="hold" nodeType="after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animEffect transition="in" filter="fade">
                                      <p:cBhvr>
                                        <p:cTn id="15" dur="20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5">
            <a:extLst>
              <a:ext uri="{FF2B5EF4-FFF2-40B4-BE49-F238E27FC236}">
                <a16:creationId xmlns:a16="http://schemas.microsoft.com/office/drawing/2014/main" id="{7E2DCA7C-65FF-4412-9807-8F5AFCE2CA9E}"/>
              </a:ext>
            </a:extLst>
          </p:cNvPr>
          <p:cNvSpPr>
            <a:spLocks noChangeArrowheads="1"/>
          </p:cNvSpPr>
          <p:nvPr/>
        </p:nvSpPr>
        <p:spPr bwMode="auto">
          <a:xfrm>
            <a:off x="4381500" y="2319339"/>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 name="圆角矩形 10">
            <a:extLst>
              <a:ext uri="{FF2B5EF4-FFF2-40B4-BE49-F238E27FC236}">
                <a16:creationId xmlns:a16="http://schemas.microsoft.com/office/drawing/2014/main" id="{0B9EACBC-D432-4E0A-BEF7-7874CF56B30B}"/>
              </a:ext>
            </a:extLst>
          </p:cNvPr>
          <p:cNvSpPr/>
          <p:nvPr/>
        </p:nvSpPr>
        <p:spPr bwMode="auto">
          <a:xfrm>
            <a:off x="785863" y="1193832"/>
            <a:ext cx="4965571" cy="2941845"/>
          </a:xfrm>
          <a:prstGeom prst="roundRect">
            <a:avLst/>
          </a:prstGeom>
          <a:ln>
            <a:headEnd type="none" w="med" len="med"/>
            <a:tailEnd type="none" w="med" len="med"/>
          </a:ln>
          <a:effectLst>
            <a:outerShdw blurRad="40000" dist="23000" dir="5400000" rotWithShape="0">
              <a:srgbClr val="000000">
                <a:alpha val="35000"/>
              </a:srgbClr>
            </a:outerShdw>
            <a:reflection blurRad="6350" stA="52000" endA="300" endPos="35000" dir="5400000" sy="-100000" algn="bl" rotWithShape="0"/>
          </a:effectLst>
        </p:spPr>
        <p:style>
          <a:lnRef idx="0">
            <a:schemeClr val="accent3"/>
          </a:lnRef>
          <a:fillRef idx="3">
            <a:schemeClr val="accent3"/>
          </a:fillRef>
          <a:effectRef idx="3">
            <a:schemeClr val="accent3"/>
          </a:effectRef>
          <a:fontRef idx="minor">
            <a:schemeClr val="lt1"/>
          </a:fontRef>
        </p:style>
        <p:txBody>
          <a:bodyPr wrap="none"/>
          <a:lstStyle/>
          <a:p>
            <a:pPr>
              <a:defRPr/>
            </a:pPr>
            <a:endParaRPr lang="zh-CN" altLang="en-US">
              <a:solidFill>
                <a:schemeClr val="tx1"/>
              </a:solidFill>
              <a:latin typeface="Times New Roman" pitchFamily="18" charset="0"/>
            </a:endParaRPr>
          </a:p>
        </p:txBody>
      </p:sp>
      <p:graphicFrame>
        <p:nvGraphicFramePr>
          <p:cNvPr id="146436" name="Object 4">
            <a:extLst>
              <a:ext uri="{FF2B5EF4-FFF2-40B4-BE49-F238E27FC236}">
                <a16:creationId xmlns:a16="http://schemas.microsoft.com/office/drawing/2014/main" id="{FD79004C-0C08-4140-95A6-156D70E0B5B8}"/>
              </a:ext>
            </a:extLst>
          </p:cNvPr>
          <p:cNvGraphicFramePr>
            <a:graphicFrameLocks noChangeAspect="1"/>
          </p:cNvGraphicFramePr>
          <p:nvPr>
            <p:extLst>
              <p:ext uri="{D42A27DB-BD31-4B8C-83A1-F6EECF244321}">
                <p14:modId xmlns:p14="http://schemas.microsoft.com/office/powerpoint/2010/main" val="3531980885"/>
              </p:ext>
            </p:extLst>
          </p:nvPr>
        </p:nvGraphicFramePr>
        <p:xfrm>
          <a:off x="863788" y="1189220"/>
          <a:ext cx="4692650" cy="2806700"/>
        </p:xfrm>
        <a:graphic>
          <a:graphicData uri="http://schemas.openxmlformats.org/presentationml/2006/ole">
            <mc:AlternateContent xmlns:mc="http://schemas.openxmlformats.org/markup-compatibility/2006">
              <mc:Choice xmlns:v="urn:schemas-microsoft-com:vml" Requires="v">
                <p:oleObj spid="_x0000_s2113" name="图片" r:id="rId3" imgW="3429000" imgH="2050920" progId="Word.Picture.8">
                  <p:embed/>
                </p:oleObj>
              </mc:Choice>
              <mc:Fallback>
                <p:oleObj name="图片" r:id="rId3" imgW="3429000" imgH="2050920" progId="Word.Picture.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3788" y="1189220"/>
                        <a:ext cx="4692650" cy="2806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4" name="Text Box 6">
            <a:extLst>
              <a:ext uri="{FF2B5EF4-FFF2-40B4-BE49-F238E27FC236}">
                <a16:creationId xmlns:a16="http://schemas.microsoft.com/office/drawing/2014/main" id="{85BDE57F-7D9B-4881-8500-45BB100E04F8}"/>
              </a:ext>
            </a:extLst>
          </p:cNvPr>
          <p:cNvSpPr txBox="1">
            <a:spLocks noChangeArrowheads="1"/>
          </p:cNvSpPr>
          <p:nvPr/>
        </p:nvSpPr>
        <p:spPr bwMode="auto">
          <a:xfrm>
            <a:off x="3924300" y="5883276"/>
            <a:ext cx="44783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sz="2000" b="1">
                <a:ea typeface="楷体_GB2312" pitchFamily="49" charset="-122"/>
                <a:cs typeface="Times New Roman" panose="02020603050405020304" pitchFamily="18" charset="0"/>
              </a:rPr>
              <a:t>CMY</a:t>
            </a:r>
            <a:r>
              <a:rPr kumimoji="0" lang="zh-CN" altLang="en-US" sz="2000" b="1">
                <a:ea typeface="楷体_GB2312" pitchFamily="49" charset="-122"/>
                <a:cs typeface="Times New Roman" panose="02020603050405020304" pitchFamily="18" charset="0"/>
              </a:rPr>
              <a:t>在原色的减色效果示意图 </a:t>
            </a:r>
          </a:p>
        </p:txBody>
      </p:sp>
      <p:sp>
        <p:nvSpPr>
          <p:cNvPr id="2" name="圆角矩形 10">
            <a:extLst>
              <a:ext uri="{FF2B5EF4-FFF2-40B4-BE49-F238E27FC236}">
                <a16:creationId xmlns:a16="http://schemas.microsoft.com/office/drawing/2014/main" id="{49F92213-A892-471A-A8A1-E30B1010A337}"/>
              </a:ext>
            </a:extLst>
          </p:cNvPr>
          <p:cNvSpPr/>
          <p:nvPr/>
        </p:nvSpPr>
        <p:spPr bwMode="auto">
          <a:xfrm>
            <a:off x="6499006" y="2641450"/>
            <a:ext cx="4965571" cy="2941845"/>
          </a:xfrm>
          <a:prstGeom prst="roundRect">
            <a:avLst/>
          </a:prstGeom>
          <a:ln>
            <a:headEnd type="none" w="med" len="med"/>
            <a:tailEnd type="none" w="med" len="med"/>
          </a:ln>
          <a:effectLst>
            <a:outerShdw blurRad="40000" dist="23000" dir="5400000" rotWithShape="0">
              <a:srgbClr val="000000">
                <a:alpha val="35000"/>
              </a:srgbClr>
            </a:outerShdw>
            <a:reflection blurRad="6350" stA="52000" endA="300" endPos="35000" dir="5400000" sy="-100000" algn="bl" rotWithShape="0"/>
          </a:effectLst>
        </p:spPr>
        <p:style>
          <a:lnRef idx="0">
            <a:schemeClr val="accent3"/>
          </a:lnRef>
          <a:fillRef idx="3">
            <a:schemeClr val="accent3"/>
          </a:fillRef>
          <a:effectRef idx="3">
            <a:schemeClr val="accent3"/>
          </a:effectRef>
          <a:fontRef idx="minor">
            <a:schemeClr val="lt1"/>
          </a:fontRef>
        </p:style>
        <p:txBody>
          <a:bodyPr wrap="none"/>
          <a:lstStyle/>
          <a:p>
            <a:pPr>
              <a:defRPr/>
            </a:pPr>
            <a:endParaRPr lang="zh-CN" altLang="en-US">
              <a:solidFill>
                <a:schemeClr val="tx1"/>
              </a:solidFill>
              <a:latin typeface="Times New Roman" pitchFamily="18" charset="0"/>
            </a:endParaRPr>
          </a:p>
        </p:txBody>
      </p:sp>
      <p:pic>
        <p:nvPicPr>
          <p:cNvPr id="2056" name="Picture 12" descr="CMY">
            <a:extLst>
              <a:ext uri="{FF2B5EF4-FFF2-40B4-BE49-F238E27FC236}">
                <a16:creationId xmlns:a16="http://schemas.microsoft.com/office/drawing/2014/main" id="{FF10C1AE-0837-4AA0-8FAA-F83250B377A8}"/>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619920" y="2695575"/>
            <a:ext cx="2962275" cy="290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3">
            <a:extLst>
              <a:ext uri="{FF2B5EF4-FFF2-40B4-BE49-F238E27FC236}">
                <a16:creationId xmlns:a16="http://schemas.microsoft.com/office/drawing/2014/main" id="{60EBFA9B-AE07-4018-A94A-6D74D7AEFA6E}"/>
              </a:ext>
            </a:extLst>
          </p:cNvPr>
          <p:cNvSpPr>
            <a:spLocks noGrp="1"/>
          </p:cNvSpPr>
          <p:nvPr>
            <p:ph type="title"/>
          </p:nvPr>
        </p:nvSpPr>
        <p:spPr/>
        <p:txBody>
          <a:bodyPr/>
          <a:lstStyle/>
          <a:p>
            <a:r>
              <a:rPr lang="en-US" altLang="zh-CN" dirty="0"/>
              <a:t>3. CMY</a:t>
            </a:r>
            <a:r>
              <a:rPr lang="zh-CN" altLang="en-US" dirty="0"/>
              <a:t>颜色模型</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5" presetClass="entr" presetSubtype="0" fill="hold" nodeType="afterEffect">
                                  <p:stCondLst>
                                    <p:cond delay="0"/>
                                  </p:stCondLst>
                                  <p:childTnLst>
                                    <p:set>
                                      <p:cBhvr>
                                        <p:cTn id="6" dur="1" fill="hold">
                                          <p:stCondLst>
                                            <p:cond delay="0"/>
                                          </p:stCondLst>
                                        </p:cTn>
                                        <p:tgtEl>
                                          <p:spTgt spid="146436"/>
                                        </p:tgtEl>
                                        <p:attrNameLst>
                                          <p:attrName>style.visibility</p:attrName>
                                        </p:attrNameLst>
                                      </p:cBhvr>
                                      <p:to>
                                        <p:strVal val="visible"/>
                                      </p:to>
                                    </p:set>
                                    <p:animEffect transition="in" filter="fade">
                                      <p:cBhvr>
                                        <p:cTn id="7" dur="2000"/>
                                        <p:tgtEl>
                                          <p:spTgt spid="146436"/>
                                        </p:tgtEl>
                                      </p:cBhvr>
                                    </p:animEffect>
                                    <p:anim calcmode="lin" valueType="num">
                                      <p:cBhvr>
                                        <p:cTn id="8" dur="2000" fill="hold"/>
                                        <p:tgtEl>
                                          <p:spTgt spid="146436"/>
                                        </p:tgtEl>
                                        <p:attrNameLst>
                                          <p:attrName>style.rotation</p:attrName>
                                        </p:attrNameLst>
                                      </p:cBhvr>
                                      <p:tavLst>
                                        <p:tav tm="0">
                                          <p:val>
                                            <p:fltVal val="720"/>
                                          </p:val>
                                        </p:tav>
                                        <p:tav tm="100000">
                                          <p:val>
                                            <p:fltVal val="0"/>
                                          </p:val>
                                        </p:tav>
                                      </p:tavLst>
                                    </p:anim>
                                    <p:anim calcmode="lin" valueType="num">
                                      <p:cBhvr>
                                        <p:cTn id="9" dur="2000" fill="hold"/>
                                        <p:tgtEl>
                                          <p:spTgt spid="146436"/>
                                        </p:tgtEl>
                                        <p:attrNameLst>
                                          <p:attrName>ppt_h</p:attrName>
                                        </p:attrNameLst>
                                      </p:cBhvr>
                                      <p:tavLst>
                                        <p:tav tm="0">
                                          <p:val>
                                            <p:fltVal val="0"/>
                                          </p:val>
                                        </p:tav>
                                        <p:tav tm="100000">
                                          <p:val>
                                            <p:strVal val="#ppt_h"/>
                                          </p:val>
                                        </p:tav>
                                      </p:tavLst>
                                    </p:anim>
                                    <p:anim calcmode="lin" valueType="num">
                                      <p:cBhvr>
                                        <p:cTn id="10" dur="2000" fill="hold"/>
                                        <p:tgtEl>
                                          <p:spTgt spid="146436"/>
                                        </p:tgtEl>
                                        <p:attrNameLst>
                                          <p:attrName>ppt_w</p:attrName>
                                        </p:attrNameLst>
                                      </p:cBhvr>
                                      <p:tavLst>
                                        <p:tav tm="0">
                                          <p:val>
                                            <p:fltVal val="0"/>
                                          </p:val>
                                        </p:tav>
                                        <p:tav tm="100000">
                                          <p:val>
                                            <p:strVal val="#ppt_w"/>
                                          </p:val>
                                        </p:tav>
                                      </p:tavLst>
                                    </p:anim>
                                  </p:childTnLst>
                                </p:cTn>
                              </p:par>
                              <p:par>
                                <p:cTn id="11" presetID="35"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2000"/>
                                        <p:tgtEl>
                                          <p:spTgt spid="11"/>
                                        </p:tgtEl>
                                      </p:cBhvr>
                                    </p:animEffect>
                                    <p:anim calcmode="lin" valueType="num">
                                      <p:cBhvr>
                                        <p:cTn id="14" dur="2000" fill="hold"/>
                                        <p:tgtEl>
                                          <p:spTgt spid="11"/>
                                        </p:tgtEl>
                                        <p:attrNameLst>
                                          <p:attrName>style.rotation</p:attrName>
                                        </p:attrNameLst>
                                      </p:cBhvr>
                                      <p:tavLst>
                                        <p:tav tm="0">
                                          <p:val>
                                            <p:fltVal val="720"/>
                                          </p:val>
                                        </p:tav>
                                        <p:tav tm="100000">
                                          <p:val>
                                            <p:fltVal val="0"/>
                                          </p:val>
                                        </p:tav>
                                      </p:tavLst>
                                    </p:anim>
                                    <p:anim calcmode="lin" valueType="num">
                                      <p:cBhvr>
                                        <p:cTn id="15" dur="2000" fill="hold"/>
                                        <p:tgtEl>
                                          <p:spTgt spid="11"/>
                                        </p:tgtEl>
                                        <p:attrNameLst>
                                          <p:attrName>ppt_h</p:attrName>
                                        </p:attrNameLst>
                                      </p:cBhvr>
                                      <p:tavLst>
                                        <p:tav tm="0">
                                          <p:val>
                                            <p:fltVal val="0"/>
                                          </p:val>
                                        </p:tav>
                                        <p:tav tm="100000">
                                          <p:val>
                                            <p:strVal val="#ppt_h"/>
                                          </p:val>
                                        </p:tav>
                                      </p:tavLst>
                                    </p:anim>
                                    <p:anim calcmode="lin" valueType="num">
                                      <p:cBhvr>
                                        <p:cTn id="16" dur="2000" fill="hold"/>
                                        <p:tgtEl>
                                          <p:spTgt spid="11"/>
                                        </p:tgtEl>
                                        <p:attrNameLst>
                                          <p:attrName>ppt_w</p:attrName>
                                        </p:attrNameLst>
                                      </p:cBhvr>
                                      <p:tavLst>
                                        <p:tav tm="0">
                                          <p:val>
                                            <p:fltVal val="0"/>
                                          </p:val>
                                        </p:tav>
                                        <p:tav tm="100000">
                                          <p:val>
                                            <p:strVal val="#ppt_w"/>
                                          </p:val>
                                        </p:tav>
                                      </p:tavLst>
                                    </p:anim>
                                  </p:childTnLst>
                                </p:cTn>
                              </p:par>
                              <p:par>
                                <p:cTn id="17" presetID="35" presetClass="entr" presetSubtype="0" fill="hold" nodeType="with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2000"/>
                                        <p:tgtEl>
                                          <p:spTgt spid="2"/>
                                        </p:tgtEl>
                                      </p:cBhvr>
                                    </p:animEffect>
                                    <p:anim calcmode="lin" valueType="num">
                                      <p:cBhvr>
                                        <p:cTn id="20" dur="2000" fill="hold"/>
                                        <p:tgtEl>
                                          <p:spTgt spid="2"/>
                                        </p:tgtEl>
                                        <p:attrNameLst>
                                          <p:attrName>style.rotation</p:attrName>
                                        </p:attrNameLst>
                                      </p:cBhvr>
                                      <p:tavLst>
                                        <p:tav tm="0">
                                          <p:val>
                                            <p:fltVal val="720"/>
                                          </p:val>
                                        </p:tav>
                                        <p:tav tm="100000">
                                          <p:val>
                                            <p:fltVal val="0"/>
                                          </p:val>
                                        </p:tav>
                                      </p:tavLst>
                                    </p:anim>
                                    <p:anim calcmode="lin" valueType="num">
                                      <p:cBhvr>
                                        <p:cTn id="21" dur="2000" fill="hold"/>
                                        <p:tgtEl>
                                          <p:spTgt spid="2"/>
                                        </p:tgtEl>
                                        <p:attrNameLst>
                                          <p:attrName>ppt_h</p:attrName>
                                        </p:attrNameLst>
                                      </p:cBhvr>
                                      <p:tavLst>
                                        <p:tav tm="0">
                                          <p:val>
                                            <p:fltVal val="0"/>
                                          </p:val>
                                        </p:tav>
                                        <p:tav tm="100000">
                                          <p:val>
                                            <p:strVal val="#ppt_h"/>
                                          </p:val>
                                        </p:tav>
                                      </p:tavLst>
                                    </p:anim>
                                    <p:anim calcmode="lin" valueType="num">
                                      <p:cBhvr>
                                        <p:cTn id="22" dur="2000" fill="hold"/>
                                        <p:tgtEl>
                                          <p:spTgt spid="2"/>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462" name="Picture 6">
            <a:extLst>
              <a:ext uri="{FF2B5EF4-FFF2-40B4-BE49-F238E27FC236}">
                <a16:creationId xmlns:a16="http://schemas.microsoft.com/office/drawing/2014/main" id="{FBE11D78-7F17-4E21-ACD7-2A88C7EA1242}"/>
              </a:ext>
            </a:extLst>
          </p:cNvPr>
          <p:cNvPicPr>
            <a:picLocks noChangeAspect="1" noChangeArrowheads="1"/>
          </p:cNvPicPr>
          <p:nvPr/>
        </p:nvPicPr>
        <p:blipFill>
          <a:blip r:embed="rId2"/>
          <a:srcRect/>
          <a:stretch>
            <a:fillRect/>
          </a:stretch>
        </p:blipFill>
        <p:spPr bwMode="auto">
          <a:xfrm>
            <a:off x="1630161" y="1140757"/>
            <a:ext cx="8931679" cy="5499885"/>
          </a:xfrm>
          <a:prstGeom prst="rect">
            <a:avLst/>
          </a:prstGeom>
          <a:ln>
            <a:noFill/>
          </a:ln>
          <a:effectLst>
            <a:softEdge rad="112500"/>
          </a:effectLst>
        </p:spPr>
      </p:pic>
      <p:sp>
        <p:nvSpPr>
          <p:cNvPr id="4" name="标题 3">
            <a:extLst>
              <a:ext uri="{FF2B5EF4-FFF2-40B4-BE49-F238E27FC236}">
                <a16:creationId xmlns:a16="http://schemas.microsoft.com/office/drawing/2014/main" id="{EB773928-20A9-404B-A7BA-BB4511244B92}"/>
              </a:ext>
            </a:extLst>
          </p:cNvPr>
          <p:cNvSpPr>
            <a:spLocks noGrp="1"/>
          </p:cNvSpPr>
          <p:nvPr>
            <p:ph type="title"/>
          </p:nvPr>
        </p:nvSpPr>
        <p:spPr/>
        <p:txBody>
          <a:bodyPr/>
          <a:lstStyle/>
          <a:p>
            <a:r>
              <a:rPr lang="en-US" altLang="zh-CN" dirty="0"/>
              <a:t>RGB</a:t>
            </a:r>
            <a:r>
              <a:rPr lang="zh-CN" altLang="en-US" dirty="0"/>
              <a:t>和</a:t>
            </a:r>
            <a:r>
              <a:rPr lang="en-US" altLang="zh-CN" dirty="0"/>
              <a:t>CMY</a:t>
            </a:r>
            <a:r>
              <a:rPr lang="zh-CN" altLang="en-US" dirty="0"/>
              <a:t>颜色模型比较</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9" presetClass="entr" presetSubtype="0" fill="hold" nodeType="clickEffect">
                                  <p:stCondLst>
                                    <p:cond delay="0"/>
                                  </p:stCondLst>
                                  <p:childTnLst>
                                    <p:set>
                                      <p:cBhvr>
                                        <p:cTn id="6" dur="1" fill="hold">
                                          <p:stCondLst>
                                            <p:cond delay="0"/>
                                          </p:stCondLst>
                                        </p:cTn>
                                        <p:tgtEl>
                                          <p:spTgt spid="147462"/>
                                        </p:tgtEl>
                                        <p:attrNameLst>
                                          <p:attrName>style.visibility</p:attrName>
                                        </p:attrNameLst>
                                      </p:cBhvr>
                                      <p:to>
                                        <p:strVal val="visible"/>
                                      </p:to>
                                    </p:set>
                                    <p:anim calcmode="lin" valueType="num">
                                      <p:cBhvr>
                                        <p:cTn id="7" dur="1000" fill="hold"/>
                                        <p:tgtEl>
                                          <p:spTgt spid="147462"/>
                                        </p:tgtEl>
                                        <p:attrNameLst>
                                          <p:attrName>ppt_x</p:attrName>
                                        </p:attrNameLst>
                                      </p:cBhvr>
                                      <p:tavLst>
                                        <p:tav tm="0">
                                          <p:val>
                                            <p:strVal val="#ppt_x-.2"/>
                                          </p:val>
                                        </p:tav>
                                        <p:tav tm="100000">
                                          <p:val>
                                            <p:strVal val="#ppt_x"/>
                                          </p:val>
                                        </p:tav>
                                      </p:tavLst>
                                    </p:anim>
                                    <p:anim calcmode="lin" valueType="num">
                                      <p:cBhvr>
                                        <p:cTn id="8" dur="1000" fill="hold"/>
                                        <p:tgtEl>
                                          <p:spTgt spid="147462"/>
                                        </p:tgtEl>
                                        <p:attrNameLst>
                                          <p:attrName>ppt_y</p:attrName>
                                        </p:attrNameLst>
                                      </p:cBhvr>
                                      <p:tavLst>
                                        <p:tav tm="0">
                                          <p:val>
                                            <p:strVal val="#ppt_y"/>
                                          </p:val>
                                        </p:tav>
                                        <p:tav tm="100000">
                                          <p:val>
                                            <p:strVal val="#ppt_y"/>
                                          </p:val>
                                        </p:tav>
                                      </p:tavLst>
                                    </p:anim>
                                    <p:animEffect transition="in" filter="wipe(right)" prLst="gradientSize: 0.1">
                                      <p:cBhvr>
                                        <p:cTn id="9" dur="1000"/>
                                        <p:tgtEl>
                                          <p:spTgt spid="1474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4">
            <a:extLst>
              <a:ext uri="{FF2B5EF4-FFF2-40B4-BE49-F238E27FC236}">
                <a16:creationId xmlns:a16="http://schemas.microsoft.com/office/drawing/2014/main" id="{04F597D3-FA02-4461-B393-48E09608A8DB}"/>
              </a:ext>
            </a:extLst>
          </p:cNvPr>
          <p:cNvSpPr>
            <a:spLocks noChangeArrowheads="1"/>
          </p:cNvSpPr>
          <p:nvPr/>
        </p:nvSpPr>
        <p:spPr bwMode="auto">
          <a:xfrm>
            <a:off x="4724400" y="2390776"/>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148483" name="Object 3">
            <a:extLst>
              <a:ext uri="{FF2B5EF4-FFF2-40B4-BE49-F238E27FC236}">
                <a16:creationId xmlns:a16="http://schemas.microsoft.com/office/drawing/2014/main" id="{C972DA78-4378-44FB-9565-3A3100DB444C}"/>
              </a:ext>
            </a:extLst>
          </p:cNvPr>
          <p:cNvGraphicFramePr>
            <a:graphicFrameLocks noChangeAspect="1"/>
          </p:cNvGraphicFramePr>
          <p:nvPr>
            <p:extLst>
              <p:ext uri="{D42A27DB-BD31-4B8C-83A1-F6EECF244321}">
                <p14:modId xmlns:p14="http://schemas.microsoft.com/office/powerpoint/2010/main" val="1051984737"/>
              </p:ext>
            </p:extLst>
          </p:nvPr>
        </p:nvGraphicFramePr>
        <p:xfrm>
          <a:off x="669561" y="3394766"/>
          <a:ext cx="3748088" cy="3367087"/>
        </p:xfrm>
        <a:graphic>
          <a:graphicData uri="http://schemas.openxmlformats.org/presentationml/2006/ole">
            <mc:AlternateContent xmlns:mc="http://schemas.openxmlformats.org/markup-compatibility/2006">
              <mc:Choice xmlns:v="urn:schemas-microsoft-com:vml" Requires="v">
                <p:oleObj spid="_x0000_s3139" name="图片" r:id="rId4" imgW="2743200" imgH="1824480" progId="Word.Picture.8">
                  <p:embed/>
                </p:oleObj>
              </mc:Choice>
              <mc:Fallback>
                <p:oleObj name="图片" r:id="rId4" imgW="2743200" imgH="1824480" progId="Word.Picture.8">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l="14516" r="16530" b="6973"/>
                      <a:stretch>
                        <a:fillRect/>
                      </a:stretch>
                    </p:blipFill>
                    <p:spPr bwMode="auto">
                      <a:xfrm>
                        <a:off x="669561" y="3394766"/>
                        <a:ext cx="3748088" cy="3367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8486" name="Text Box 6">
            <a:extLst>
              <a:ext uri="{FF2B5EF4-FFF2-40B4-BE49-F238E27FC236}">
                <a16:creationId xmlns:a16="http://schemas.microsoft.com/office/drawing/2014/main" id="{4FF3AE0D-84F2-4A02-B368-BE410F7D5D24}"/>
              </a:ext>
            </a:extLst>
          </p:cNvPr>
          <p:cNvSpPr txBox="1">
            <a:spLocks noChangeArrowheads="1"/>
          </p:cNvSpPr>
          <p:nvPr/>
        </p:nvSpPr>
        <p:spPr bwMode="auto">
          <a:xfrm>
            <a:off x="794479" y="1050116"/>
            <a:ext cx="10875364" cy="2138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96875" indent="-396875" defTabSz="912813"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912813"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ts val="600"/>
              </a:spcBef>
              <a:buClr>
                <a:schemeClr val="accent2"/>
              </a:buClr>
              <a:buBlip>
                <a:blip r:embed="rId6"/>
              </a:buBlip>
            </a:pPr>
            <a:r>
              <a:rPr kumimoji="0" lang="en-US" altLang="zh-CN" sz="2000" b="1" dirty="0">
                <a:solidFill>
                  <a:srgbClr val="C00000"/>
                </a:solidFill>
                <a:ea typeface="楷体_GB2312" pitchFamily="49" charset="-122"/>
              </a:rPr>
              <a:t> HSV </a:t>
            </a:r>
            <a:r>
              <a:rPr kumimoji="0" lang="zh-CN" altLang="en-US" sz="2000" b="1" dirty="0">
                <a:ea typeface="楷体_GB2312" pitchFamily="49" charset="-122"/>
              </a:rPr>
              <a:t>模型：描述一种颜色，用户需选择一种光谱色并加入一定量白色和黑色来在得不同的明暗、色泽和色调</a:t>
            </a:r>
            <a:endParaRPr kumimoji="0" lang="en-US" altLang="zh-CN" sz="2000" b="1" dirty="0">
              <a:ea typeface="楷体_GB2312" pitchFamily="49" charset="-122"/>
            </a:endParaRPr>
          </a:p>
          <a:p>
            <a:pPr eaLnBrk="1" hangingPunct="1">
              <a:lnSpc>
                <a:spcPct val="120000"/>
              </a:lnSpc>
              <a:spcBef>
                <a:spcPts val="600"/>
              </a:spcBef>
              <a:buClr>
                <a:schemeClr val="accent2"/>
              </a:buClr>
              <a:buBlip>
                <a:blip r:embed="rId6"/>
              </a:buBlip>
            </a:pPr>
            <a:r>
              <a:rPr kumimoji="0" lang="zh-CN" altLang="en-US" sz="2000" b="1" dirty="0">
                <a:ea typeface="楷体_GB2312" pitchFamily="49" charset="-122"/>
              </a:rPr>
              <a:t>色相</a:t>
            </a:r>
            <a:r>
              <a:rPr kumimoji="0" lang="en-US" altLang="zh-CN" sz="2000" b="1" dirty="0">
                <a:ea typeface="楷体_GB2312" pitchFamily="49" charset="-122"/>
              </a:rPr>
              <a:t>Hue</a:t>
            </a:r>
            <a:r>
              <a:rPr kumimoji="0" lang="zh-CN" altLang="en-US" sz="2000" b="1" dirty="0">
                <a:ea typeface="楷体_GB2312" pitchFamily="49" charset="-122"/>
              </a:rPr>
              <a:t>：区分色彩，如红色、蓝色、绿色</a:t>
            </a:r>
          </a:p>
          <a:p>
            <a:pPr eaLnBrk="1" hangingPunct="1">
              <a:lnSpc>
                <a:spcPct val="120000"/>
              </a:lnSpc>
              <a:spcBef>
                <a:spcPts val="600"/>
              </a:spcBef>
              <a:buClr>
                <a:schemeClr val="accent2"/>
              </a:buClr>
              <a:buBlip>
                <a:blip r:embed="rId6"/>
              </a:buBlip>
            </a:pPr>
            <a:r>
              <a:rPr kumimoji="0" lang="zh-CN" altLang="en-US" sz="2000" b="1" dirty="0">
                <a:ea typeface="楷体_GB2312" pitchFamily="49" charset="-122"/>
              </a:rPr>
              <a:t>彩度或饱和度</a:t>
            </a:r>
            <a:r>
              <a:rPr kumimoji="0" lang="en-US" altLang="zh-CN" sz="2000" b="1" dirty="0">
                <a:ea typeface="楷体_GB2312" pitchFamily="49" charset="-122"/>
              </a:rPr>
              <a:t>Saturation </a:t>
            </a:r>
            <a:r>
              <a:rPr kumimoji="0" lang="zh-CN" altLang="en-US" sz="2000" b="1" dirty="0">
                <a:ea typeface="楷体_GB2312" pitchFamily="49" charset="-122"/>
              </a:rPr>
              <a:t>：色彩的纯正程度，即鲜明度</a:t>
            </a:r>
          </a:p>
          <a:p>
            <a:pPr eaLnBrk="1" hangingPunct="1">
              <a:lnSpc>
                <a:spcPct val="120000"/>
              </a:lnSpc>
              <a:spcBef>
                <a:spcPts val="600"/>
              </a:spcBef>
              <a:buClr>
                <a:schemeClr val="accent2"/>
              </a:buClr>
              <a:buBlip>
                <a:blip r:embed="rId6"/>
              </a:buBlip>
            </a:pPr>
            <a:r>
              <a:rPr kumimoji="0" lang="zh-CN" altLang="en-US" sz="2000" b="1" dirty="0">
                <a:ea typeface="楷体_GB2312" pitchFamily="49" charset="-122"/>
              </a:rPr>
              <a:t>明度</a:t>
            </a:r>
            <a:r>
              <a:rPr kumimoji="0" lang="en-US" altLang="zh-CN" sz="2000" b="1" dirty="0">
                <a:ea typeface="楷体_GB2312" pitchFamily="49" charset="-122"/>
              </a:rPr>
              <a:t>Value </a:t>
            </a:r>
            <a:r>
              <a:rPr kumimoji="0" lang="zh-CN" altLang="en-US" sz="2000" b="1" dirty="0">
                <a:ea typeface="楷体_GB2312" pitchFamily="49" charset="-122"/>
              </a:rPr>
              <a:t>：即亮度</a:t>
            </a:r>
          </a:p>
        </p:txBody>
      </p:sp>
      <p:pic>
        <p:nvPicPr>
          <p:cNvPr id="3079" name="Picture 11" descr="002">
            <a:extLst>
              <a:ext uri="{FF2B5EF4-FFF2-40B4-BE49-F238E27FC236}">
                <a16:creationId xmlns:a16="http://schemas.microsoft.com/office/drawing/2014/main" id="{B4D6242F-1130-4A90-8E43-F68625E179A4}"/>
              </a:ext>
            </a:extLst>
          </p:cNvPr>
          <p:cNvPicPr>
            <a:picLocks noChangeAspect="1" noChangeArrowheads="1"/>
          </p:cNvPicPr>
          <p:nvPr/>
        </p:nvPicPr>
        <p:blipFill>
          <a:blip r:embed="rId7">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5173234" y="3524475"/>
            <a:ext cx="2871787" cy="320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a:extLst>
              <a:ext uri="{FF2B5EF4-FFF2-40B4-BE49-F238E27FC236}">
                <a16:creationId xmlns:a16="http://schemas.microsoft.com/office/drawing/2014/main" id="{4DCA10BD-30B3-4D51-B113-8DBEA7DAD8D4}"/>
              </a:ext>
            </a:extLst>
          </p:cNvPr>
          <p:cNvPicPr>
            <a:picLocks noChangeAspect="1"/>
          </p:cNvPicPr>
          <p:nvPr/>
        </p:nvPicPr>
        <p:blipFill>
          <a:blip r:embed="rId8"/>
          <a:stretch>
            <a:fillRect/>
          </a:stretch>
        </p:blipFill>
        <p:spPr>
          <a:xfrm>
            <a:off x="9229299" y="3977885"/>
            <a:ext cx="2206943" cy="2200847"/>
          </a:xfrm>
          <a:prstGeom prst="rect">
            <a:avLst/>
          </a:prstGeom>
        </p:spPr>
      </p:pic>
      <p:sp>
        <p:nvSpPr>
          <p:cNvPr id="4" name="标题 3">
            <a:extLst>
              <a:ext uri="{FF2B5EF4-FFF2-40B4-BE49-F238E27FC236}">
                <a16:creationId xmlns:a16="http://schemas.microsoft.com/office/drawing/2014/main" id="{1AE81216-2A75-4E80-9E18-1DC38CCDE529}"/>
              </a:ext>
            </a:extLst>
          </p:cNvPr>
          <p:cNvSpPr>
            <a:spLocks noGrp="1"/>
          </p:cNvSpPr>
          <p:nvPr>
            <p:ph type="title"/>
          </p:nvPr>
        </p:nvSpPr>
        <p:spPr/>
        <p:txBody>
          <a:bodyPr/>
          <a:lstStyle/>
          <a:p>
            <a:r>
              <a:rPr lang="en-US" altLang="zh-CN" dirty="0"/>
              <a:t>4. HSV</a:t>
            </a:r>
            <a:r>
              <a:rPr lang="zh-CN" altLang="en-US" dirty="0"/>
              <a:t>颜色模型</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8486"/>
                                        </p:tgtEl>
                                        <p:attrNameLst>
                                          <p:attrName>style.visibility</p:attrName>
                                        </p:attrNameLst>
                                      </p:cBhvr>
                                      <p:to>
                                        <p:strVal val="visible"/>
                                      </p:to>
                                    </p:set>
                                    <p:animEffect transition="in" filter="fade">
                                      <p:cBhvr>
                                        <p:cTn id="7" dur="1000"/>
                                        <p:tgtEl>
                                          <p:spTgt spid="148486"/>
                                        </p:tgtEl>
                                      </p:cBhvr>
                                    </p:animEffect>
                                  </p:childTnLst>
                                </p:cTn>
                              </p:par>
                            </p:childTnLst>
                          </p:cTn>
                        </p:par>
                        <p:par>
                          <p:cTn id="8" fill="hold" nodeType="afterGroup">
                            <p:stCondLst>
                              <p:cond delay="1000"/>
                            </p:stCondLst>
                            <p:childTnLst>
                              <p:par>
                                <p:cTn id="9" presetID="18" presetClass="entr" presetSubtype="12" fill="hold" nodeType="afterEffect">
                                  <p:stCondLst>
                                    <p:cond delay="0"/>
                                  </p:stCondLst>
                                  <p:childTnLst>
                                    <p:set>
                                      <p:cBhvr>
                                        <p:cTn id="10" dur="1" fill="hold">
                                          <p:stCondLst>
                                            <p:cond delay="0"/>
                                          </p:stCondLst>
                                        </p:cTn>
                                        <p:tgtEl>
                                          <p:spTgt spid="148483"/>
                                        </p:tgtEl>
                                        <p:attrNameLst>
                                          <p:attrName>style.visibility</p:attrName>
                                        </p:attrNameLst>
                                      </p:cBhvr>
                                      <p:to>
                                        <p:strVal val="visible"/>
                                      </p:to>
                                    </p:set>
                                    <p:animEffect transition="in" filter="strips(downLeft)">
                                      <p:cBhvr>
                                        <p:cTn id="11" dur="500"/>
                                        <p:tgtEl>
                                          <p:spTgt spid="1484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7" name="Text Box 7">
            <a:extLst>
              <a:ext uri="{FF2B5EF4-FFF2-40B4-BE49-F238E27FC236}">
                <a16:creationId xmlns:a16="http://schemas.microsoft.com/office/drawing/2014/main" id="{F619BA43-0FC6-403E-9BE7-50E49CE3C43C}"/>
              </a:ext>
            </a:extLst>
          </p:cNvPr>
          <p:cNvSpPr txBox="1">
            <a:spLocks noChangeArrowheads="1"/>
          </p:cNvSpPr>
          <p:nvPr/>
        </p:nvSpPr>
        <p:spPr bwMode="auto">
          <a:xfrm>
            <a:off x="742013" y="1031189"/>
            <a:ext cx="10867868" cy="1769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96875" indent="-396875" defTabSz="912813"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912813"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ts val="600"/>
              </a:spcBef>
              <a:buClr>
                <a:schemeClr val="accent2"/>
              </a:buClr>
              <a:buBlip>
                <a:blip r:embed="rId2"/>
              </a:buBlip>
            </a:pPr>
            <a:r>
              <a:rPr kumimoji="0" lang="zh-CN" altLang="en-US" sz="2000" b="1" dirty="0">
                <a:ea typeface="楷体_GB2312" pitchFamily="49" charset="-122"/>
              </a:rPr>
              <a:t>在</a:t>
            </a:r>
            <a:r>
              <a:rPr kumimoji="0" lang="en-US" altLang="zh-CN" sz="2000" b="1" dirty="0">
                <a:ea typeface="楷体_GB2312" pitchFamily="49" charset="-122"/>
              </a:rPr>
              <a:t>HSV</a:t>
            </a:r>
            <a:r>
              <a:rPr kumimoji="0" lang="zh-CN" altLang="en-US" sz="2000" b="1" dirty="0">
                <a:ea typeface="楷体_GB2312" pitchFamily="49" charset="-122"/>
              </a:rPr>
              <a:t>颜色模型中，用六棱锥表示</a:t>
            </a:r>
            <a:endParaRPr kumimoji="0" lang="en-US" altLang="zh-CN" sz="2000" b="1" dirty="0">
              <a:ea typeface="楷体_GB2312" pitchFamily="49" charset="-122"/>
            </a:endParaRPr>
          </a:p>
          <a:p>
            <a:pPr marL="800100" lvl="1" indent="-342900" eaLnBrk="1" hangingPunct="1">
              <a:lnSpc>
                <a:spcPct val="120000"/>
              </a:lnSpc>
              <a:spcBef>
                <a:spcPts val="600"/>
              </a:spcBef>
              <a:buFont typeface="Wingdings" panose="05000000000000000000" pitchFamily="2" charset="2"/>
              <a:buChar char="Ø"/>
            </a:pPr>
            <a:r>
              <a:rPr kumimoji="0" lang="zh-CN" altLang="en-US" sz="2000" b="1" dirty="0">
                <a:ea typeface="楷体_GB2312" pitchFamily="49" charset="-122"/>
              </a:rPr>
              <a:t>色饱和度沿水平轴测量</a:t>
            </a:r>
            <a:endParaRPr kumimoji="0" lang="en-US" altLang="zh-CN" sz="2000" b="1" dirty="0">
              <a:ea typeface="楷体_GB2312" pitchFamily="49" charset="-122"/>
            </a:endParaRPr>
          </a:p>
          <a:p>
            <a:pPr marL="800100" lvl="1" indent="-342900" eaLnBrk="1" hangingPunct="1">
              <a:lnSpc>
                <a:spcPct val="120000"/>
              </a:lnSpc>
              <a:spcBef>
                <a:spcPts val="600"/>
              </a:spcBef>
              <a:buFont typeface="Wingdings" panose="05000000000000000000" pitchFamily="2" charset="2"/>
              <a:buChar char="Ø"/>
            </a:pPr>
            <a:r>
              <a:rPr kumimoji="0" lang="zh-CN" altLang="en-US" sz="2000" b="1" dirty="0">
                <a:ea typeface="楷体_GB2312" pitchFamily="49" charset="-122"/>
              </a:rPr>
              <a:t>明度值沿通过六棱锥中心的垂直轴进行测量</a:t>
            </a:r>
          </a:p>
          <a:p>
            <a:pPr marL="800100" lvl="1" indent="-342900" eaLnBrk="1" hangingPunct="1">
              <a:lnSpc>
                <a:spcPct val="120000"/>
              </a:lnSpc>
              <a:spcBef>
                <a:spcPts val="600"/>
              </a:spcBef>
              <a:buFont typeface="Wingdings" panose="05000000000000000000" pitchFamily="2" charset="2"/>
              <a:buChar char="Ø"/>
            </a:pPr>
            <a:r>
              <a:rPr kumimoji="0" lang="zh-CN" altLang="en-US" sz="2000" b="1" dirty="0">
                <a:ea typeface="楷体_GB2312" pitchFamily="49" charset="-122"/>
              </a:rPr>
              <a:t>色彩则使用与水平轴之间的角度来表示</a:t>
            </a:r>
            <a:endParaRPr kumimoji="0" lang="en-US" altLang="zh-CN" sz="2000" b="1" dirty="0">
              <a:ea typeface="楷体_GB2312" pitchFamily="49" charset="-122"/>
            </a:endParaRPr>
          </a:p>
        </p:txBody>
      </p:sp>
      <p:pic>
        <p:nvPicPr>
          <p:cNvPr id="3" name="图片 2">
            <a:extLst>
              <a:ext uri="{FF2B5EF4-FFF2-40B4-BE49-F238E27FC236}">
                <a16:creationId xmlns:a16="http://schemas.microsoft.com/office/drawing/2014/main" id="{0E2475B1-7938-4C0A-9171-450A988F9E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908" y="3286730"/>
            <a:ext cx="2872868" cy="2692845"/>
          </a:xfrm>
          <a:prstGeom prst="rect">
            <a:avLst/>
          </a:prstGeom>
        </p:spPr>
      </p:pic>
      <p:pic>
        <p:nvPicPr>
          <p:cNvPr id="5" name="图片 4">
            <a:extLst>
              <a:ext uri="{FF2B5EF4-FFF2-40B4-BE49-F238E27FC236}">
                <a16:creationId xmlns:a16="http://schemas.microsoft.com/office/drawing/2014/main" id="{25BD094B-626A-4EE7-9741-7D1BCC7B6E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80015" y="3490462"/>
            <a:ext cx="2386821" cy="2489113"/>
          </a:xfrm>
          <a:prstGeom prst="rect">
            <a:avLst/>
          </a:prstGeom>
        </p:spPr>
      </p:pic>
      <p:pic>
        <p:nvPicPr>
          <p:cNvPr id="7" name="图片 6">
            <a:extLst>
              <a:ext uri="{FF2B5EF4-FFF2-40B4-BE49-F238E27FC236}">
                <a16:creationId xmlns:a16="http://schemas.microsoft.com/office/drawing/2014/main" id="{2D501CC2-E4EB-4BA7-9A6B-4CFF5716F849}"/>
              </a:ext>
            </a:extLst>
          </p:cNvPr>
          <p:cNvPicPr>
            <a:picLocks noChangeAspect="1"/>
          </p:cNvPicPr>
          <p:nvPr/>
        </p:nvPicPr>
        <p:blipFill rotWithShape="1">
          <a:blip r:embed="rId5">
            <a:extLst>
              <a:ext uri="{28A0092B-C50C-407E-A947-70E740481C1C}">
                <a14:useLocalDpi xmlns:a14="http://schemas.microsoft.com/office/drawing/2010/main" val="0"/>
              </a:ext>
            </a:extLst>
          </a:blip>
          <a:srcRect r="6080"/>
          <a:stretch/>
        </p:blipFill>
        <p:spPr>
          <a:xfrm>
            <a:off x="7914480" y="2800199"/>
            <a:ext cx="3435468" cy="4022250"/>
          </a:xfrm>
          <a:prstGeom prst="rect">
            <a:avLst/>
          </a:prstGeom>
        </p:spPr>
      </p:pic>
      <p:sp>
        <p:nvSpPr>
          <p:cNvPr id="4" name="标题 3">
            <a:extLst>
              <a:ext uri="{FF2B5EF4-FFF2-40B4-BE49-F238E27FC236}">
                <a16:creationId xmlns:a16="http://schemas.microsoft.com/office/drawing/2014/main" id="{50658713-09EE-4AFB-BB2A-86502B7260D1}"/>
              </a:ext>
            </a:extLst>
          </p:cNvPr>
          <p:cNvSpPr>
            <a:spLocks noGrp="1"/>
          </p:cNvSpPr>
          <p:nvPr>
            <p:ph type="title"/>
          </p:nvPr>
        </p:nvSpPr>
        <p:spPr/>
        <p:txBody>
          <a:bodyPr/>
          <a:lstStyle/>
          <a:p>
            <a:r>
              <a:rPr lang="en-US" altLang="zh-CN" dirty="0"/>
              <a:t>4. HSV</a:t>
            </a:r>
            <a:r>
              <a:rPr lang="zh-CN" altLang="en-US" dirty="0"/>
              <a:t>颜色模型</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48487"/>
                                        </p:tgtEl>
                                        <p:attrNameLst>
                                          <p:attrName>style.visibility</p:attrName>
                                        </p:attrNameLst>
                                      </p:cBhvr>
                                      <p:to>
                                        <p:strVal val="visible"/>
                                      </p:to>
                                    </p:set>
                                    <p:animEffect transition="in" filter="fade">
                                      <p:cBhvr>
                                        <p:cTn id="7" dur="2000"/>
                                        <p:tgtEl>
                                          <p:spTgt spid="1484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7" name="Text Box 7">
            <a:extLst>
              <a:ext uri="{FF2B5EF4-FFF2-40B4-BE49-F238E27FC236}">
                <a16:creationId xmlns:a16="http://schemas.microsoft.com/office/drawing/2014/main" id="{F619BA43-0FC6-403E-9BE7-50E49CE3C43C}"/>
              </a:ext>
            </a:extLst>
          </p:cNvPr>
          <p:cNvSpPr txBox="1">
            <a:spLocks noChangeArrowheads="1"/>
          </p:cNvSpPr>
          <p:nvPr/>
        </p:nvSpPr>
        <p:spPr bwMode="auto">
          <a:xfrm>
            <a:off x="637082" y="1871233"/>
            <a:ext cx="6940446" cy="3115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96875" indent="-396875" defTabSz="912813"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912813"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ts val="600"/>
              </a:spcBef>
              <a:buClr>
                <a:schemeClr val="accent2"/>
              </a:buClr>
              <a:buBlip>
                <a:blip r:embed="rId2"/>
              </a:buBlip>
            </a:pPr>
            <a:r>
              <a:rPr kumimoji="0" lang="zh-CN" altLang="en-US" sz="2000" b="1" dirty="0">
                <a:ea typeface="楷体_GB2312" pitchFamily="49" charset="-122"/>
              </a:rPr>
              <a:t>每一种颜色和它的</a:t>
            </a:r>
            <a:r>
              <a:rPr kumimoji="0" lang="zh-CN" altLang="en-US" sz="2000" b="1" dirty="0">
                <a:solidFill>
                  <a:srgbClr val="C00000"/>
                </a:solidFill>
                <a:ea typeface="楷体_GB2312" pitchFamily="49" charset="-122"/>
              </a:rPr>
              <a:t>补色相差</a:t>
            </a:r>
            <a:r>
              <a:rPr kumimoji="0" lang="en-US" altLang="zh-CN" sz="2000" b="1" dirty="0">
                <a:solidFill>
                  <a:srgbClr val="C00000"/>
                </a:solidFill>
                <a:ea typeface="楷体_GB2312" pitchFamily="49" charset="-122"/>
              </a:rPr>
              <a:t>180</a:t>
            </a:r>
            <a:r>
              <a:rPr kumimoji="0" lang="en-US" altLang="zh-CN" sz="2000" b="1" baseline="30000" dirty="0">
                <a:solidFill>
                  <a:srgbClr val="C00000"/>
                </a:solidFill>
                <a:ea typeface="楷体_GB2312" pitchFamily="49" charset="-122"/>
              </a:rPr>
              <a:t>o</a:t>
            </a:r>
            <a:endParaRPr kumimoji="0" lang="en-US" altLang="zh-CN" sz="2000" b="1" dirty="0">
              <a:ea typeface="楷体_GB2312" pitchFamily="49" charset="-122"/>
            </a:endParaRPr>
          </a:p>
          <a:p>
            <a:pPr eaLnBrk="1" hangingPunct="1">
              <a:lnSpc>
                <a:spcPct val="150000"/>
              </a:lnSpc>
              <a:spcBef>
                <a:spcPts val="600"/>
              </a:spcBef>
              <a:buClr>
                <a:schemeClr val="accent2"/>
              </a:buClr>
              <a:buBlip>
                <a:blip r:embed="rId2"/>
              </a:buBlip>
            </a:pPr>
            <a:r>
              <a:rPr kumimoji="0" lang="zh-CN" altLang="en-US" sz="2000" b="1" dirty="0">
                <a:ea typeface="楷体_GB2312" pitchFamily="49" charset="-122"/>
              </a:rPr>
              <a:t>圆锥的</a:t>
            </a:r>
            <a:r>
              <a:rPr kumimoji="0" lang="zh-CN" altLang="en-US" sz="2000" b="1" dirty="0">
                <a:solidFill>
                  <a:srgbClr val="C00000"/>
                </a:solidFill>
                <a:ea typeface="楷体_GB2312" pitchFamily="49" charset="-122"/>
              </a:rPr>
              <a:t>顶面对应于</a:t>
            </a:r>
            <a:r>
              <a:rPr kumimoji="0" lang="en-US" altLang="zh-CN" sz="2000" b="1" dirty="0">
                <a:solidFill>
                  <a:srgbClr val="C00000"/>
                </a:solidFill>
                <a:ea typeface="楷体_GB2312" pitchFamily="49" charset="-122"/>
              </a:rPr>
              <a:t>V=1</a:t>
            </a:r>
            <a:r>
              <a:rPr kumimoji="0" lang="zh-CN" altLang="en-US" sz="2000" b="1" dirty="0">
                <a:ea typeface="楷体_GB2312" pitchFamily="49" charset="-122"/>
              </a:rPr>
              <a:t>，它包含</a:t>
            </a:r>
            <a:r>
              <a:rPr kumimoji="0" lang="en-US" altLang="zh-CN" sz="2000" b="1" dirty="0">
                <a:ea typeface="楷体_GB2312" pitchFamily="49" charset="-122"/>
              </a:rPr>
              <a:t>RGB</a:t>
            </a:r>
            <a:r>
              <a:rPr kumimoji="0" lang="zh-CN" altLang="en-US" sz="2000" b="1" dirty="0">
                <a:ea typeface="楷体_GB2312" pitchFamily="49" charset="-122"/>
              </a:rPr>
              <a:t>模型中的</a:t>
            </a:r>
            <a:r>
              <a:rPr kumimoji="0" lang="en-US" altLang="zh-CN" sz="2000" b="1" dirty="0">
                <a:ea typeface="楷体_GB2312" pitchFamily="49" charset="-122"/>
              </a:rPr>
              <a:t>R=1</a:t>
            </a:r>
            <a:r>
              <a:rPr kumimoji="0" lang="zh-CN" altLang="en-US" sz="2000" b="1" dirty="0">
                <a:ea typeface="楷体_GB2312" pitchFamily="49" charset="-122"/>
              </a:rPr>
              <a:t>，</a:t>
            </a:r>
            <a:r>
              <a:rPr kumimoji="0" lang="en-US" altLang="zh-CN" sz="2000" b="1" dirty="0">
                <a:ea typeface="楷体_GB2312" pitchFamily="49" charset="-122"/>
              </a:rPr>
              <a:t>G=1</a:t>
            </a:r>
            <a:r>
              <a:rPr kumimoji="0" lang="zh-CN" altLang="en-US" sz="2000" b="1" dirty="0">
                <a:ea typeface="楷体_GB2312" pitchFamily="49" charset="-122"/>
              </a:rPr>
              <a:t>，</a:t>
            </a:r>
            <a:r>
              <a:rPr kumimoji="0" lang="en-US" altLang="zh-CN" sz="2000" b="1" dirty="0">
                <a:ea typeface="楷体_GB2312" pitchFamily="49" charset="-122"/>
              </a:rPr>
              <a:t>B=1</a:t>
            </a:r>
            <a:r>
              <a:rPr kumimoji="0" lang="zh-CN" altLang="en-US" sz="2000" b="1" dirty="0">
                <a:ea typeface="楷体_GB2312" pitchFamily="49" charset="-122"/>
              </a:rPr>
              <a:t>三个面，故所代表的颜色较亮</a:t>
            </a:r>
            <a:endParaRPr kumimoji="0" lang="en-US" altLang="zh-CN" sz="2000" b="1" dirty="0">
              <a:ea typeface="楷体_GB2312" pitchFamily="49" charset="-122"/>
            </a:endParaRPr>
          </a:p>
          <a:p>
            <a:pPr eaLnBrk="1" hangingPunct="1">
              <a:lnSpc>
                <a:spcPct val="150000"/>
              </a:lnSpc>
              <a:spcBef>
                <a:spcPts val="600"/>
              </a:spcBef>
              <a:buClr>
                <a:schemeClr val="accent2"/>
              </a:buClr>
              <a:buBlip>
                <a:blip r:embed="rId2"/>
              </a:buBlip>
            </a:pPr>
            <a:r>
              <a:rPr kumimoji="0" lang="zh-CN" altLang="en-US" sz="2000" b="1" dirty="0">
                <a:ea typeface="楷体_GB2312" pitchFamily="49" charset="-122"/>
              </a:rPr>
              <a:t>红色对应</a:t>
            </a:r>
            <a:r>
              <a:rPr kumimoji="0" lang="en-US" altLang="zh-CN" sz="2000" b="1" dirty="0">
                <a:ea typeface="楷体_GB2312" pitchFamily="49" charset="-122"/>
              </a:rPr>
              <a:t>0</a:t>
            </a:r>
            <a:r>
              <a:rPr kumimoji="0" lang="en-US" altLang="zh-CN" sz="2000" b="1" baseline="30000" dirty="0">
                <a:ea typeface="楷体_GB2312" pitchFamily="49" charset="-122"/>
              </a:rPr>
              <a:t>o</a:t>
            </a:r>
            <a:r>
              <a:rPr kumimoji="0" lang="zh-CN" altLang="en-US" sz="2000" b="1" dirty="0">
                <a:ea typeface="楷体_GB2312" pitchFamily="49" charset="-122"/>
              </a:rPr>
              <a:t>角度，绿色</a:t>
            </a:r>
            <a:r>
              <a:rPr kumimoji="0" lang="en-US" altLang="zh-CN" sz="2000" b="1" dirty="0">
                <a:ea typeface="楷体_GB2312" pitchFamily="49" charset="-122"/>
              </a:rPr>
              <a:t>120</a:t>
            </a:r>
            <a:r>
              <a:rPr kumimoji="0" lang="en-US" altLang="zh-CN" sz="2000" b="1" baseline="30000" dirty="0">
                <a:ea typeface="楷体_GB2312" pitchFamily="49" charset="-122"/>
              </a:rPr>
              <a:t>o</a:t>
            </a:r>
            <a:r>
              <a:rPr kumimoji="0" lang="zh-CN" altLang="en-US" sz="2000" b="1" dirty="0">
                <a:ea typeface="楷体_GB2312" pitchFamily="49" charset="-122"/>
              </a:rPr>
              <a:t>，蓝色</a:t>
            </a:r>
            <a:r>
              <a:rPr kumimoji="0" lang="en-US" altLang="zh-CN" sz="2000" b="1" dirty="0">
                <a:ea typeface="楷体_GB2312" pitchFamily="49" charset="-122"/>
              </a:rPr>
              <a:t>240</a:t>
            </a:r>
            <a:r>
              <a:rPr kumimoji="0" lang="en-US" altLang="zh-CN" sz="2000" b="1" baseline="30000" dirty="0">
                <a:ea typeface="楷体_GB2312" pitchFamily="49" charset="-122"/>
              </a:rPr>
              <a:t>o</a:t>
            </a:r>
            <a:r>
              <a:rPr kumimoji="0" lang="zh-CN" altLang="en-US" sz="2000" b="1" dirty="0">
                <a:ea typeface="楷体_GB2312" pitchFamily="49" charset="-122"/>
              </a:rPr>
              <a:t> </a:t>
            </a:r>
          </a:p>
          <a:p>
            <a:pPr eaLnBrk="1" hangingPunct="1">
              <a:lnSpc>
                <a:spcPct val="150000"/>
              </a:lnSpc>
              <a:spcBef>
                <a:spcPts val="600"/>
              </a:spcBef>
              <a:buClr>
                <a:schemeClr val="accent2"/>
              </a:buClr>
              <a:buBlip>
                <a:blip r:embed="rId2"/>
              </a:buBlip>
            </a:pPr>
            <a:r>
              <a:rPr kumimoji="0" lang="zh-CN" altLang="en-US" sz="2000" b="1" dirty="0">
                <a:ea typeface="楷体_GB2312" pitchFamily="49" charset="-122"/>
              </a:rPr>
              <a:t>在圆锥的顶点处，</a:t>
            </a:r>
            <a:r>
              <a:rPr kumimoji="0" lang="en-US" altLang="zh-CN" sz="2000" b="1" dirty="0">
                <a:ea typeface="楷体_GB2312" pitchFamily="49" charset="-122"/>
              </a:rPr>
              <a:t>V=0</a:t>
            </a:r>
            <a:r>
              <a:rPr kumimoji="0" lang="zh-CN" altLang="en-US" sz="2000" b="1" dirty="0">
                <a:ea typeface="楷体_GB2312" pitchFamily="49" charset="-122"/>
              </a:rPr>
              <a:t>，</a:t>
            </a:r>
            <a:r>
              <a:rPr kumimoji="0" lang="en-US" altLang="zh-CN" sz="2000" b="1" dirty="0">
                <a:ea typeface="楷体_GB2312" pitchFamily="49" charset="-122"/>
              </a:rPr>
              <a:t>H</a:t>
            </a:r>
            <a:r>
              <a:rPr kumimoji="0" lang="zh-CN" altLang="en-US" sz="2000" b="1" dirty="0">
                <a:ea typeface="楷体_GB2312" pitchFamily="49" charset="-122"/>
              </a:rPr>
              <a:t>和</a:t>
            </a:r>
            <a:r>
              <a:rPr kumimoji="0" lang="en-US" altLang="zh-CN" sz="2000" b="1" dirty="0">
                <a:ea typeface="楷体_GB2312" pitchFamily="49" charset="-122"/>
              </a:rPr>
              <a:t>S</a:t>
            </a:r>
            <a:r>
              <a:rPr kumimoji="0" lang="zh-CN" altLang="en-US" sz="2000" b="1" dirty="0">
                <a:ea typeface="楷体_GB2312" pitchFamily="49" charset="-122"/>
              </a:rPr>
              <a:t>无定义，代表黑色 </a:t>
            </a:r>
          </a:p>
          <a:p>
            <a:pPr eaLnBrk="1" hangingPunct="1">
              <a:lnSpc>
                <a:spcPct val="150000"/>
              </a:lnSpc>
              <a:spcBef>
                <a:spcPts val="600"/>
              </a:spcBef>
              <a:buClr>
                <a:schemeClr val="accent2"/>
              </a:buClr>
              <a:buBlip>
                <a:blip r:embed="rId2"/>
              </a:buBlip>
            </a:pPr>
            <a:r>
              <a:rPr kumimoji="0" lang="zh-CN" altLang="en-US" sz="2000" b="1" dirty="0">
                <a:ea typeface="楷体_GB2312" pitchFamily="49" charset="-122"/>
              </a:rPr>
              <a:t>圆锥顶面中心处</a:t>
            </a:r>
            <a:r>
              <a:rPr kumimoji="0" lang="en-US" altLang="zh-CN" sz="2000" b="1" dirty="0">
                <a:ea typeface="楷体_GB2312" pitchFamily="49" charset="-122"/>
              </a:rPr>
              <a:t>S=0</a:t>
            </a:r>
            <a:r>
              <a:rPr kumimoji="0" lang="zh-CN" altLang="en-US" sz="2000" b="1" dirty="0">
                <a:ea typeface="楷体_GB2312" pitchFamily="49" charset="-122"/>
              </a:rPr>
              <a:t>，</a:t>
            </a:r>
            <a:r>
              <a:rPr kumimoji="0" lang="en-US" altLang="zh-CN" sz="2000" b="1" dirty="0">
                <a:ea typeface="楷体_GB2312" pitchFamily="49" charset="-122"/>
              </a:rPr>
              <a:t>V=1</a:t>
            </a:r>
            <a:r>
              <a:rPr kumimoji="0" lang="zh-CN" altLang="en-US" sz="2000" b="1" dirty="0">
                <a:ea typeface="楷体_GB2312" pitchFamily="49" charset="-122"/>
              </a:rPr>
              <a:t>，</a:t>
            </a:r>
            <a:r>
              <a:rPr kumimoji="0" lang="en-US" altLang="zh-CN" sz="2000" b="1" dirty="0">
                <a:ea typeface="楷体_GB2312" pitchFamily="49" charset="-122"/>
              </a:rPr>
              <a:t>H</a:t>
            </a:r>
            <a:r>
              <a:rPr kumimoji="0" lang="zh-CN" altLang="en-US" sz="2000" b="1" dirty="0">
                <a:ea typeface="楷体_GB2312" pitchFamily="49" charset="-122"/>
              </a:rPr>
              <a:t>无定义，代表白色</a:t>
            </a:r>
            <a:endParaRPr kumimoji="0" lang="zh-CN" altLang="en-US" sz="2000" b="1" baseline="30000" dirty="0">
              <a:ea typeface="楷体_GB2312" pitchFamily="49" charset="-122"/>
            </a:endParaRPr>
          </a:p>
        </p:txBody>
      </p:sp>
      <p:pic>
        <p:nvPicPr>
          <p:cNvPr id="2" name="图片 1">
            <a:extLst>
              <a:ext uri="{FF2B5EF4-FFF2-40B4-BE49-F238E27FC236}">
                <a16:creationId xmlns:a16="http://schemas.microsoft.com/office/drawing/2014/main" id="{15244D8A-437F-4D58-9590-E124613979DA}"/>
              </a:ext>
            </a:extLst>
          </p:cNvPr>
          <p:cNvPicPr>
            <a:picLocks noChangeAspect="1"/>
          </p:cNvPicPr>
          <p:nvPr/>
        </p:nvPicPr>
        <p:blipFill>
          <a:blip r:embed="rId3"/>
          <a:stretch>
            <a:fillRect/>
          </a:stretch>
        </p:blipFill>
        <p:spPr>
          <a:xfrm>
            <a:off x="8002589" y="1715333"/>
            <a:ext cx="3816563" cy="3427334"/>
          </a:xfrm>
          <a:prstGeom prst="rect">
            <a:avLst/>
          </a:prstGeom>
        </p:spPr>
      </p:pic>
      <p:sp>
        <p:nvSpPr>
          <p:cNvPr id="4" name="标题 3">
            <a:extLst>
              <a:ext uri="{FF2B5EF4-FFF2-40B4-BE49-F238E27FC236}">
                <a16:creationId xmlns:a16="http://schemas.microsoft.com/office/drawing/2014/main" id="{2873F850-E780-4087-8F6F-772171073276}"/>
              </a:ext>
            </a:extLst>
          </p:cNvPr>
          <p:cNvSpPr>
            <a:spLocks noGrp="1"/>
          </p:cNvSpPr>
          <p:nvPr>
            <p:ph type="title"/>
          </p:nvPr>
        </p:nvSpPr>
        <p:spPr/>
        <p:txBody>
          <a:bodyPr/>
          <a:lstStyle/>
          <a:p>
            <a:r>
              <a:rPr lang="en-US" altLang="zh-CN" dirty="0"/>
              <a:t>4. HSV</a:t>
            </a:r>
            <a:r>
              <a:rPr lang="zh-CN" altLang="en-US" dirty="0"/>
              <a:t>颜色模型</a:t>
            </a:r>
          </a:p>
        </p:txBody>
      </p:sp>
    </p:spTree>
    <p:extLst>
      <p:ext uri="{BB962C8B-B14F-4D97-AF65-F5344CB8AC3E}">
        <p14:creationId xmlns:p14="http://schemas.microsoft.com/office/powerpoint/2010/main" val="166403742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48487"/>
                                        </p:tgtEl>
                                        <p:attrNameLst>
                                          <p:attrName>style.visibility</p:attrName>
                                        </p:attrNameLst>
                                      </p:cBhvr>
                                      <p:to>
                                        <p:strVal val="visible"/>
                                      </p:to>
                                    </p:set>
                                    <p:animEffect transition="in" filter="fade">
                                      <p:cBhvr>
                                        <p:cTn id="7" dur="2000"/>
                                        <p:tgtEl>
                                          <p:spTgt spid="1484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7" name="Text Box 7">
            <a:extLst>
              <a:ext uri="{FF2B5EF4-FFF2-40B4-BE49-F238E27FC236}">
                <a16:creationId xmlns:a16="http://schemas.microsoft.com/office/drawing/2014/main" id="{F619BA43-0FC6-403E-9BE7-50E49CE3C43C}"/>
              </a:ext>
            </a:extLst>
          </p:cNvPr>
          <p:cNvSpPr txBox="1">
            <a:spLocks noChangeArrowheads="1"/>
          </p:cNvSpPr>
          <p:nvPr/>
        </p:nvSpPr>
        <p:spPr bwMode="auto">
          <a:xfrm>
            <a:off x="622091" y="965323"/>
            <a:ext cx="11077732" cy="1843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96875" indent="-396875" defTabSz="912813"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912813"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eaLnBrk="1" hangingPunct="1">
              <a:lnSpc>
                <a:spcPct val="120000"/>
              </a:lnSpc>
              <a:spcBef>
                <a:spcPts val="600"/>
              </a:spcBef>
              <a:buClr>
                <a:schemeClr val="accent2"/>
              </a:buClr>
            </a:pPr>
            <a:r>
              <a:rPr kumimoji="0" lang="zh-CN" altLang="en-US" b="1" dirty="0">
                <a:ea typeface="楷体_GB2312" pitchFamily="49" charset="-122"/>
              </a:rPr>
              <a:t>选择明晴、色泽和色调</a:t>
            </a:r>
          </a:p>
          <a:p>
            <a:pPr eaLnBrk="1" hangingPunct="1">
              <a:lnSpc>
                <a:spcPct val="120000"/>
              </a:lnSpc>
              <a:spcBef>
                <a:spcPts val="600"/>
              </a:spcBef>
              <a:buClr>
                <a:schemeClr val="accent2"/>
              </a:buClr>
              <a:buBlip>
                <a:blip r:embed="rId2"/>
              </a:buBlip>
            </a:pPr>
            <a:r>
              <a:rPr kumimoji="0" lang="zh-CN" altLang="en-US" sz="2000" b="1" dirty="0">
                <a:ea typeface="楷体_GB2312" pitchFamily="49" charset="-122"/>
              </a:rPr>
              <a:t>往纯色影中添加黑色时，把</a:t>
            </a:r>
            <a:r>
              <a:rPr kumimoji="0" lang="en-US" altLang="zh-CN" sz="2000" b="1" dirty="0">
                <a:ea typeface="楷体_GB2312" pitchFamily="49" charset="-122"/>
              </a:rPr>
              <a:t>V </a:t>
            </a:r>
            <a:r>
              <a:rPr kumimoji="0" lang="zh-CN" altLang="en-US" sz="2000" b="1" dirty="0">
                <a:ea typeface="楷体_GB2312" pitchFamily="49" charset="-122"/>
              </a:rPr>
              <a:t>减小到六棱锥的下方。因此，各种</a:t>
            </a:r>
            <a:r>
              <a:rPr kumimoji="0" lang="zh-CN" altLang="en-US" sz="2000" b="1" dirty="0">
                <a:solidFill>
                  <a:srgbClr val="C00000"/>
                </a:solidFill>
                <a:ea typeface="楷体_GB2312" pitchFamily="49" charset="-122"/>
              </a:rPr>
              <a:t>明暗</a:t>
            </a:r>
            <a:r>
              <a:rPr kumimoji="0" lang="zh-CN" altLang="en-US" sz="2000" b="1" dirty="0">
                <a:ea typeface="楷体_GB2312" pitchFamily="49" charset="-122"/>
              </a:rPr>
              <a:t>用</a:t>
            </a:r>
            <a:r>
              <a:rPr kumimoji="0" lang="en-US" altLang="zh-CN" sz="2000" b="1" dirty="0">
                <a:ea typeface="楷体_GB2312" pitchFamily="49" charset="-122"/>
              </a:rPr>
              <a:t>S=1</a:t>
            </a:r>
            <a:r>
              <a:rPr kumimoji="0" lang="zh-CN" altLang="en-US" sz="2000" b="1" dirty="0">
                <a:ea typeface="楷体_GB2312" pitchFamily="49" charset="-122"/>
              </a:rPr>
              <a:t>且</a:t>
            </a:r>
            <a:r>
              <a:rPr kumimoji="0" lang="en-US" altLang="zh-CN" sz="2000" b="1" dirty="0">
                <a:ea typeface="楷体_GB2312" pitchFamily="49" charset="-122"/>
              </a:rPr>
              <a:t>0≤V≤ 1</a:t>
            </a:r>
            <a:r>
              <a:rPr kumimoji="0" lang="zh-CN" altLang="en-US" sz="2000" b="1" dirty="0">
                <a:ea typeface="楷体_GB2312" pitchFamily="49" charset="-122"/>
              </a:rPr>
              <a:t>来表示</a:t>
            </a:r>
            <a:endParaRPr kumimoji="0" lang="en-US" altLang="zh-CN" sz="2000" b="1" dirty="0">
              <a:ea typeface="楷体_GB2312" pitchFamily="49" charset="-122"/>
            </a:endParaRPr>
          </a:p>
          <a:p>
            <a:pPr eaLnBrk="1" hangingPunct="1">
              <a:lnSpc>
                <a:spcPct val="120000"/>
              </a:lnSpc>
              <a:spcBef>
                <a:spcPts val="600"/>
              </a:spcBef>
              <a:buClr>
                <a:schemeClr val="accent2"/>
              </a:buClr>
              <a:buBlip>
                <a:blip r:embed="rId2"/>
              </a:buBlip>
            </a:pPr>
            <a:r>
              <a:rPr kumimoji="0" lang="zh-CN" altLang="en-US" sz="2000" b="1" dirty="0">
                <a:ea typeface="楷体_GB2312" pitchFamily="49" charset="-122"/>
              </a:rPr>
              <a:t>向纯色调中添加白色生成六棱锥顶平面的各种</a:t>
            </a:r>
            <a:r>
              <a:rPr kumimoji="0" lang="zh-CN" altLang="en-US" sz="2000" b="1" dirty="0">
                <a:solidFill>
                  <a:srgbClr val="C00000"/>
                </a:solidFill>
                <a:ea typeface="楷体_GB2312" pitchFamily="49" charset="-122"/>
              </a:rPr>
              <a:t>色泽</a:t>
            </a:r>
            <a:r>
              <a:rPr kumimoji="0" lang="zh-CN" altLang="en-US" sz="2000" b="1" dirty="0">
                <a:ea typeface="楷体_GB2312" pitchFamily="49" charset="-122"/>
              </a:rPr>
              <a:t>，该平面上</a:t>
            </a:r>
            <a:r>
              <a:rPr kumimoji="0" lang="en-US" altLang="zh-CN" sz="2000" b="1" dirty="0">
                <a:ea typeface="楷体_GB2312" pitchFamily="49" charset="-122"/>
              </a:rPr>
              <a:t>V=l </a:t>
            </a:r>
            <a:r>
              <a:rPr kumimoji="0" lang="zh-CN" altLang="en-US" sz="2000" b="1" dirty="0">
                <a:ea typeface="楷体_GB2312" pitchFamily="49" charset="-122"/>
              </a:rPr>
              <a:t>且</a:t>
            </a:r>
            <a:r>
              <a:rPr kumimoji="0" lang="en-US" altLang="zh-CN" sz="2000" b="1" dirty="0">
                <a:ea typeface="楷体_GB2312" pitchFamily="49" charset="-122"/>
              </a:rPr>
              <a:t>0 ≤ S ≤ 1</a:t>
            </a:r>
          </a:p>
          <a:p>
            <a:pPr eaLnBrk="1" hangingPunct="1">
              <a:lnSpc>
                <a:spcPct val="120000"/>
              </a:lnSpc>
              <a:spcBef>
                <a:spcPts val="600"/>
              </a:spcBef>
              <a:buClr>
                <a:schemeClr val="accent2"/>
              </a:buClr>
              <a:buBlip>
                <a:blip r:embed="rId2"/>
              </a:buBlip>
            </a:pPr>
            <a:r>
              <a:rPr kumimoji="0" lang="zh-CN" altLang="en-US" sz="2000" b="1" dirty="0">
                <a:ea typeface="楷体_GB2312" pitchFamily="49" charset="-122"/>
              </a:rPr>
              <a:t>同时添加白色和黑色可以指定各种</a:t>
            </a:r>
            <a:r>
              <a:rPr kumimoji="0" lang="zh-CN" altLang="en-US" sz="2000" b="1" dirty="0">
                <a:solidFill>
                  <a:srgbClr val="C00000"/>
                </a:solidFill>
                <a:ea typeface="楷体_GB2312" pitchFamily="49" charset="-122"/>
              </a:rPr>
              <a:t>色调</a:t>
            </a:r>
            <a:r>
              <a:rPr kumimoji="0" lang="zh-CN" altLang="en-US" sz="2000" b="1" dirty="0">
                <a:ea typeface="楷体_GB2312" pitchFamily="49" charset="-122"/>
              </a:rPr>
              <a:t>，生成六棱锥体三角形剖切面范围内的颜色点</a:t>
            </a:r>
            <a:endParaRPr kumimoji="0" lang="zh-CN" altLang="en-US" sz="2000" b="1" baseline="30000" dirty="0">
              <a:ea typeface="楷体_GB2312" pitchFamily="49" charset="-122"/>
            </a:endParaRPr>
          </a:p>
        </p:txBody>
      </p:sp>
      <p:pic>
        <p:nvPicPr>
          <p:cNvPr id="4" name="图片 3">
            <a:extLst>
              <a:ext uri="{FF2B5EF4-FFF2-40B4-BE49-F238E27FC236}">
                <a16:creationId xmlns:a16="http://schemas.microsoft.com/office/drawing/2014/main" id="{428BE1E8-61A7-46E0-A5EB-502954816B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75717" y="2808392"/>
            <a:ext cx="3985240" cy="3534081"/>
          </a:xfrm>
          <a:prstGeom prst="rect">
            <a:avLst/>
          </a:prstGeom>
        </p:spPr>
      </p:pic>
      <p:pic>
        <p:nvPicPr>
          <p:cNvPr id="5" name="图片 4">
            <a:extLst>
              <a:ext uri="{FF2B5EF4-FFF2-40B4-BE49-F238E27FC236}">
                <a16:creationId xmlns:a16="http://schemas.microsoft.com/office/drawing/2014/main" id="{2845FCA3-FC7D-41D7-9539-1D655A315298}"/>
              </a:ext>
            </a:extLst>
          </p:cNvPr>
          <p:cNvPicPr>
            <a:picLocks noChangeAspect="1"/>
          </p:cNvPicPr>
          <p:nvPr/>
        </p:nvPicPr>
        <p:blipFill>
          <a:blip r:embed="rId4"/>
          <a:stretch>
            <a:fillRect/>
          </a:stretch>
        </p:blipFill>
        <p:spPr>
          <a:xfrm>
            <a:off x="7781065" y="3715421"/>
            <a:ext cx="2777007" cy="2074391"/>
          </a:xfrm>
          <a:prstGeom prst="rect">
            <a:avLst/>
          </a:prstGeom>
        </p:spPr>
      </p:pic>
      <p:sp>
        <p:nvSpPr>
          <p:cNvPr id="3" name="标题 2">
            <a:extLst>
              <a:ext uri="{FF2B5EF4-FFF2-40B4-BE49-F238E27FC236}">
                <a16:creationId xmlns:a16="http://schemas.microsoft.com/office/drawing/2014/main" id="{1B98D63B-AA86-4F59-80A3-FDE1183DB9DD}"/>
              </a:ext>
            </a:extLst>
          </p:cNvPr>
          <p:cNvSpPr>
            <a:spLocks noGrp="1"/>
          </p:cNvSpPr>
          <p:nvPr>
            <p:ph type="title"/>
          </p:nvPr>
        </p:nvSpPr>
        <p:spPr/>
        <p:txBody>
          <a:bodyPr/>
          <a:lstStyle/>
          <a:p>
            <a:r>
              <a:rPr lang="en-US" altLang="zh-CN" dirty="0"/>
              <a:t>4. HSV</a:t>
            </a:r>
            <a:r>
              <a:rPr lang="zh-CN" altLang="en-US" dirty="0"/>
              <a:t>颜色模型</a:t>
            </a:r>
          </a:p>
        </p:txBody>
      </p:sp>
    </p:spTree>
    <p:extLst>
      <p:ext uri="{BB962C8B-B14F-4D97-AF65-F5344CB8AC3E}">
        <p14:creationId xmlns:p14="http://schemas.microsoft.com/office/powerpoint/2010/main" val="207854212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48487"/>
                                        </p:tgtEl>
                                        <p:attrNameLst>
                                          <p:attrName>style.visibility</p:attrName>
                                        </p:attrNameLst>
                                      </p:cBhvr>
                                      <p:to>
                                        <p:strVal val="visible"/>
                                      </p:to>
                                    </p:set>
                                    <p:animEffect transition="in" filter="fade">
                                      <p:cBhvr>
                                        <p:cTn id="7" dur="2000"/>
                                        <p:tgtEl>
                                          <p:spTgt spid="1484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ext Box 3">
            <a:extLst>
              <a:ext uri="{FF2B5EF4-FFF2-40B4-BE49-F238E27FC236}">
                <a16:creationId xmlns:a16="http://schemas.microsoft.com/office/drawing/2014/main" id="{509E742F-921C-4B82-8F67-E4F60E59F6CE}"/>
              </a:ext>
            </a:extLst>
          </p:cNvPr>
          <p:cNvSpPr txBox="1">
            <a:spLocks noChangeArrowheads="1"/>
          </p:cNvSpPr>
          <p:nvPr/>
        </p:nvSpPr>
        <p:spPr bwMode="auto">
          <a:xfrm>
            <a:off x="747506" y="1066800"/>
            <a:ext cx="8713787"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defTabSz="912813" eaLnBrk="0" hangingPunct="0">
              <a:defRPr kumimoji="1" sz="2400">
                <a:solidFill>
                  <a:schemeClr val="tx1"/>
                </a:solidFill>
                <a:latin typeface="Times New Roman" panose="02020603050405020304" pitchFamily="18" charset="0"/>
                <a:ea typeface="宋体" panose="02010600030101010101" pitchFamily="2" charset="-122"/>
              </a:defRPr>
            </a:lvl1pPr>
            <a:lvl2pPr marL="396875" indent="-396875" defTabSz="912813"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1" eaLnBrk="1" hangingPunct="1">
              <a:lnSpc>
                <a:spcPct val="90000"/>
              </a:lnSpc>
              <a:spcBef>
                <a:spcPct val="20000"/>
              </a:spcBef>
              <a:buClr>
                <a:schemeClr val="accent2"/>
              </a:buClr>
              <a:buFontTx/>
              <a:buBlip>
                <a:blip r:embed="rId2"/>
              </a:buBlip>
            </a:pPr>
            <a:r>
              <a:rPr kumimoji="0" lang="en-US" altLang="zh-CN" b="1" dirty="0">
                <a:ea typeface="楷体_GB2312" pitchFamily="49" charset="-122"/>
              </a:rPr>
              <a:t>HSV</a:t>
            </a:r>
            <a:r>
              <a:rPr kumimoji="0" lang="zh-CN" altLang="en-US" b="1" dirty="0">
                <a:ea typeface="楷体_GB2312" pitchFamily="49" charset="-122"/>
              </a:rPr>
              <a:t>颜色模型具有以下的优点 </a:t>
            </a:r>
          </a:p>
        </p:txBody>
      </p:sp>
      <p:sp>
        <p:nvSpPr>
          <p:cNvPr id="47107" name="Text Box 4">
            <a:extLst>
              <a:ext uri="{FF2B5EF4-FFF2-40B4-BE49-F238E27FC236}">
                <a16:creationId xmlns:a16="http://schemas.microsoft.com/office/drawing/2014/main" id="{09C8926F-8AC3-4700-917F-D6357A8D7458}"/>
              </a:ext>
            </a:extLst>
          </p:cNvPr>
          <p:cNvSpPr txBox="1">
            <a:spLocks noChangeArrowheads="1"/>
          </p:cNvSpPr>
          <p:nvPr/>
        </p:nvSpPr>
        <p:spPr bwMode="auto">
          <a:xfrm>
            <a:off x="599607" y="1582739"/>
            <a:ext cx="11362543" cy="2807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defTabSz="912813" eaLnBrk="0" hangingPunct="0">
              <a:defRPr kumimoji="1" sz="2400">
                <a:solidFill>
                  <a:schemeClr val="tx1"/>
                </a:solidFill>
                <a:latin typeface="Times New Roman" panose="02020603050405020304" pitchFamily="18" charset="0"/>
                <a:ea typeface="宋体" panose="02010600030101010101" pitchFamily="2" charset="-122"/>
              </a:defRPr>
            </a:lvl1pPr>
            <a:lvl2pPr marL="914400" indent="-396875" defTabSz="912813"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1" eaLnBrk="1" hangingPunct="1">
              <a:lnSpc>
                <a:spcPct val="150000"/>
              </a:lnSpc>
              <a:buFont typeface="Wingdings" panose="05000000000000000000" pitchFamily="2" charset="2"/>
              <a:buChar char="Ø"/>
            </a:pPr>
            <a:r>
              <a:rPr kumimoji="0" lang="zh-CN" altLang="en-US" sz="2000" b="1" dirty="0">
                <a:ea typeface="楷体_GB2312" pitchFamily="49" charset="-122"/>
              </a:rPr>
              <a:t>符合</a:t>
            </a:r>
            <a:r>
              <a:rPr kumimoji="0" lang="zh-CN" altLang="en-US" sz="2000" b="1" dirty="0">
                <a:solidFill>
                  <a:srgbClr val="FF0000"/>
                </a:solidFill>
                <a:ea typeface="楷体_GB2312" pitchFamily="49" charset="-122"/>
              </a:rPr>
              <a:t>人眼</a:t>
            </a:r>
            <a:r>
              <a:rPr kumimoji="0" lang="zh-CN" altLang="en-US" sz="2000" b="1" dirty="0">
                <a:ea typeface="楷体_GB2312" pitchFamily="49" charset="-122"/>
              </a:rPr>
              <a:t>对颜色的感觉</a:t>
            </a:r>
          </a:p>
          <a:p>
            <a:pPr lvl="1" eaLnBrk="1" hangingPunct="1">
              <a:lnSpc>
                <a:spcPct val="150000"/>
              </a:lnSpc>
              <a:buFont typeface="Wingdings" panose="05000000000000000000" pitchFamily="2" charset="2"/>
              <a:buChar char="Ø"/>
            </a:pPr>
            <a:r>
              <a:rPr kumimoji="0" lang="zh-CN" altLang="en-US" sz="2000" b="1" dirty="0">
                <a:ea typeface="楷体_GB2312" pitchFamily="49" charset="-122"/>
              </a:rPr>
              <a:t>当采用</a:t>
            </a:r>
            <a:r>
              <a:rPr kumimoji="0" lang="en-US" altLang="zh-CN" sz="2000" b="1" dirty="0">
                <a:ea typeface="楷体_GB2312" pitchFamily="49" charset="-122"/>
              </a:rPr>
              <a:t>RGB</a:t>
            </a:r>
            <a:r>
              <a:rPr kumimoji="0" lang="zh-CN" altLang="en-US" sz="2000" b="1" dirty="0">
                <a:ea typeface="楷体_GB2312" pitchFamily="49" charset="-122"/>
              </a:rPr>
              <a:t>（或者</a:t>
            </a:r>
            <a:r>
              <a:rPr kumimoji="0" lang="en-US" altLang="zh-CN" sz="2000" b="1" dirty="0">
                <a:ea typeface="楷体_GB2312" pitchFamily="49" charset="-122"/>
              </a:rPr>
              <a:t>CMY</a:t>
            </a:r>
            <a:r>
              <a:rPr kumimoji="0" lang="zh-CN" altLang="en-US" sz="2000" b="1" dirty="0">
                <a:ea typeface="楷体_GB2312" pitchFamily="49" charset="-122"/>
              </a:rPr>
              <a:t>）颜色模型时，改变某一颜色的属性，比如改变</a:t>
            </a:r>
            <a:r>
              <a:rPr kumimoji="0" lang="zh-CN" altLang="en-US" sz="2000" b="1" dirty="0">
                <a:solidFill>
                  <a:srgbClr val="FF0000"/>
                </a:solidFill>
                <a:ea typeface="楷体_GB2312" pitchFamily="49" charset="-122"/>
              </a:rPr>
              <a:t>色调</a:t>
            </a:r>
            <a:r>
              <a:rPr kumimoji="0" lang="zh-CN" altLang="en-US" sz="2000" b="1" dirty="0">
                <a:ea typeface="楷体_GB2312" pitchFamily="49" charset="-122"/>
              </a:rPr>
              <a:t>就必须同时改变</a:t>
            </a:r>
            <a:r>
              <a:rPr kumimoji="0" lang="en-US" altLang="zh-CN" sz="2000" b="1" dirty="0">
                <a:ea typeface="楷体_GB2312" pitchFamily="49" charset="-122"/>
              </a:rPr>
              <a:t>R</a:t>
            </a:r>
            <a:r>
              <a:rPr kumimoji="0" lang="zh-CN" altLang="en-US" sz="2000" b="1" dirty="0">
                <a:ea typeface="楷体_GB2312" pitchFamily="49" charset="-122"/>
              </a:rPr>
              <a:t>、</a:t>
            </a:r>
            <a:r>
              <a:rPr kumimoji="0" lang="en-US" altLang="zh-CN" sz="2000" b="1" dirty="0">
                <a:ea typeface="楷体_GB2312" pitchFamily="49" charset="-122"/>
              </a:rPr>
              <a:t>G</a:t>
            </a:r>
            <a:r>
              <a:rPr kumimoji="0" lang="zh-CN" altLang="en-US" sz="2000" b="1" dirty="0">
                <a:ea typeface="楷体_GB2312" pitchFamily="49" charset="-122"/>
              </a:rPr>
              <a:t>、</a:t>
            </a:r>
            <a:r>
              <a:rPr kumimoji="0" lang="en-US" altLang="zh-CN" sz="2000" b="1" dirty="0">
                <a:ea typeface="楷体_GB2312" pitchFamily="49" charset="-122"/>
              </a:rPr>
              <a:t>B</a:t>
            </a:r>
            <a:r>
              <a:rPr kumimoji="0" lang="zh-CN" altLang="en-US" sz="2000" b="1" dirty="0">
                <a:ea typeface="楷体_GB2312" pitchFamily="49" charset="-122"/>
              </a:rPr>
              <a:t>（或者</a:t>
            </a:r>
            <a:r>
              <a:rPr kumimoji="0" lang="en-US" altLang="zh-CN" sz="2000" b="1" dirty="0">
                <a:ea typeface="楷体_GB2312" pitchFamily="49" charset="-122"/>
              </a:rPr>
              <a:t>C</a:t>
            </a:r>
            <a:r>
              <a:rPr kumimoji="0" lang="zh-CN" altLang="en-US" sz="2000" b="1" dirty="0">
                <a:ea typeface="楷体_GB2312" pitchFamily="49" charset="-122"/>
              </a:rPr>
              <a:t>、</a:t>
            </a:r>
            <a:r>
              <a:rPr kumimoji="0" lang="en-US" altLang="zh-CN" sz="2000" b="1" dirty="0">
                <a:ea typeface="楷体_GB2312" pitchFamily="49" charset="-122"/>
              </a:rPr>
              <a:t>M</a:t>
            </a:r>
            <a:r>
              <a:rPr kumimoji="0" lang="zh-CN" altLang="en-US" sz="2000" b="1" dirty="0">
                <a:ea typeface="楷体_GB2312" pitchFamily="49" charset="-122"/>
              </a:rPr>
              <a:t>、</a:t>
            </a:r>
            <a:r>
              <a:rPr kumimoji="0" lang="en-US" altLang="zh-CN" sz="2000" b="1" dirty="0">
                <a:ea typeface="楷体_GB2312" pitchFamily="49" charset="-122"/>
              </a:rPr>
              <a:t>Y</a:t>
            </a:r>
            <a:r>
              <a:rPr kumimoji="0" lang="zh-CN" altLang="en-US" sz="2000" b="1" dirty="0">
                <a:ea typeface="楷体_GB2312" pitchFamily="49" charset="-122"/>
              </a:rPr>
              <a:t>）三个坐标；而采用</a:t>
            </a:r>
            <a:r>
              <a:rPr kumimoji="0" lang="en-US" altLang="zh-CN" sz="2000" b="1" dirty="0">
                <a:ea typeface="楷体_GB2312" pitchFamily="49" charset="-122"/>
              </a:rPr>
              <a:t>HSV</a:t>
            </a:r>
            <a:r>
              <a:rPr kumimoji="0" lang="zh-CN" altLang="en-US" sz="2000" b="1" dirty="0">
                <a:ea typeface="楷体_GB2312" pitchFamily="49" charset="-122"/>
              </a:rPr>
              <a:t>颜色模型时只需改变</a:t>
            </a:r>
            <a:r>
              <a:rPr kumimoji="0" lang="en-US" altLang="zh-CN" sz="2000" b="1" dirty="0">
                <a:ea typeface="楷体_GB2312" pitchFamily="49" charset="-122"/>
              </a:rPr>
              <a:t>H</a:t>
            </a:r>
            <a:r>
              <a:rPr kumimoji="0" lang="zh-CN" altLang="en-US" sz="2000" b="1" dirty="0">
                <a:ea typeface="楷体_GB2312" pitchFamily="49" charset="-122"/>
              </a:rPr>
              <a:t>坐标。即它的</a:t>
            </a:r>
            <a:r>
              <a:rPr kumimoji="0" lang="zh-CN" altLang="en-US" sz="2000" b="1" dirty="0">
                <a:solidFill>
                  <a:srgbClr val="FF0000"/>
                </a:solidFill>
                <a:ea typeface="楷体_GB2312" pitchFamily="49" charset="-122"/>
              </a:rPr>
              <a:t>三个坐标是独立的</a:t>
            </a:r>
            <a:r>
              <a:rPr kumimoji="0" lang="zh-CN" altLang="en-US" sz="2000" b="1" dirty="0">
                <a:solidFill>
                  <a:srgbClr val="002060"/>
                </a:solidFill>
                <a:ea typeface="楷体_GB2312" pitchFamily="49" charset="-122"/>
              </a:rPr>
              <a:t>  </a:t>
            </a:r>
          </a:p>
          <a:p>
            <a:pPr lvl="1" eaLnBrk="1" hangingPunct="1">
              <a:lnSpc>
                <a:spcPct val="150000"/>
              </a:lnSpc>
              <a:buFont typeface="Wingdings" panose="05000000000000000000" pitchFamily="2" charset="2"/>
              <a:buChar char="Ø"/>
            </a:pPr>
            <a:r>
              <a:rPr kumimoji="0" lang="en-US" altLang="zh-CN" sz="2000" b="1" dirty="0">
                <a:ea typeface="楷体_GB2312" pitchFamily="49" charset="-122"/>
              </a:rPr>
              <a:t>HSV</a:t>
            </a:r>
            <a:r>
              <a:rPr kumimoji="0" lang="zh-CN" altLang="en-US" sz="2000" b="1" dirty="0">
                <a:ea typeface="楷体_GB2312" pitchFamily="49" charset="-122"/>
              </a:rPr>
              <a:t>颜色模型构成的是一个</a:t>
            </a:r>
            <a:r>
              <a:rPr kumimoji="0" lang="zh-CN" altLang="en-US" sz="2000" b="1" dirty="0">
                <a:solidFill>
                  <a:srgbClr val="FF0000"/>
                </a:solidFill>
                <a:ea typeface="楷体_GB2312" pitchFamily="49" charset="-122"/>
              </a:rPr>
              <a:t>均匀的颜色空间</a:t>
            </a:r>
            <a:r>
              <a:rPr kumimoji="0" lang="zh-CN" altLang="en-US" sz="2000" b="1" dirty="0">
                <a:ea typeface="楷体_GB2312" pitchFamily="49" charset="-122"/>
              </a:rPr>
              <a:t>，采用线性的标尺，彩色之间感觉上的距离与</a:t>
            </a:r>
            <a:r>
              <a:rPr kumimoji="0" lang="en-US" altLang="zh-CN" sz="2000" b="1" dirty="0">
                <a:ea typeface="楷体_GB2312" pitchFamily="49" charset="-122"/>
              </a:rPr>
              <a:t>HSV</a:t>
            </a:r>
            <a:r>
              <a:rPr kumimoji="0" lang="zh-CN" altLang="en-US" sz="2000" b="1" dirty="0">
                <a:ea typeface="楷体_GB2312" pitchFamily="49" charset="-122"/>
              </a:rPr>
              <a:t>颜色模型坐标上点的欧几里德距离成正比 </a:t>
            </a:r>
          </a:p>
        </p:txBody>
      </p:sp>
      <p:sp>
        <p:nvSpPr>
          <p:cNvPr id="3" name="标题 2">
            <a:extLst>
              <a:ext uri="{FF2B5EF4-FFF2-40B4-BE49-F238E27FC236}">
                <a16:creationId xmlns:a16="http://schemas.microsoft.com/office/drawing/2014/main" id="{C7A4B28A-041E-4D87-808A-93EDE89F0324}"/>
              </a:ext>
            </a:extLst>
          </p:cNvPr>
          <p:cNvSpPr>
            <a:spLocks noGrp="1"/>
          </p:cNvSpPr>
          <p:nvPr>
            <p:ph type="title"/>
          </p:nvPr>
        </p:nvSpPr>
        <p:spPr/>
        <p:txBody>
          <a:bodyPr/>
          <a:lstStyle/>
          <a:p>
            <a:r>
              <a:rPr lang="en-US" altLang="zh-CN" dirty="0"/>
              <a:t>4. HSV</a:t>
            </a:r>
            <a:r>
              <a:rPr lang="zh-CN" altLang="en-US" dirty="0"/>
              <a:t>颜色模型</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5" presetClass="entr" presetSubtype="0" fill="hold" grpId="0" nodeType="clickEffect">
                                  <p:stCondLst>
                                    <p:cond delay="0"/>
                                  </p:stCondLst>
                                  <p:iterate type="lt">
                                    <p:tmPct val="10000"/>
                                  </p:iterate>
                                  <p:childTnLst>
                                    <p:set>
                                      <p:cBhvr>
                                        <p:cTn id="6" dur="1" fill="hold">
                                          <p:stCondLst>
                                            <p:cond delay="0"/>
                                          </p:stCondLst>
                                        </p:cTn>
                                        <p:tgtEl>
                                          <p:spTgt spid="47106"/>
                                        </p:tgtEl>
                                        <p:attrNameLst>
                                          <p:attrName>style.visibility</p:attrName>
                                        </p:attrNameLst>
                                      </p:cBhvr>
                                      <p:to>
                                        <p:strVal val="visible"/>
                                      </p:to>
                                    </p:set>
                                    <p:animEffect transition="in" filter="fade">
                                      <p:cBhvr>
                                        <p:cTn id="7" dur="500"/>
                                        <p:tgtEl>
                                          <p:spTgt spid="47106"/>
                                        </p:tgtEl>
                                      </p:cBhvr>
                                    </p:animEffect>
                                    <p:anim calcmode="lin" valueType="num">
                                      <p:cBhvr>
                                        <p:cTn id="8" dur="500" fill="hold"/>
                                        <p:tgtEl>
                                          <p:spTgt spid="47106"/>
                                        </p:tgtEl>
                                        <p:attrNameLst>
                                          <p:attrName>ppt_w</p:attrName>
                                        </p:attrNameLst>
                                      </p:cBhvr>
                                      <p:tavLst>
                                        <p:tav tm="0" fmla="#ppt_w*sin(2.5*pi*$)">
                                          <p:val>
                                            <p:fltVal val="0"/>
                                          </p:val>
                                        </p:tav>
                                        <p:tav tm="100000">
                                          <p:val>
                                            <p:fltVal val="1"/>
                                          </p:val>
                                        </p:tav>
                                      </p:tavLst>
                                    </p:anim>
                                    <p:anim calcmode="lin" valueType="num">
                                      <p:cBhvr>
                                        <p:cTn id="9" dur="500" fill="hold"/>
                                        <p:tgtEl>
                                          <p:spTgt spid="47106"/>
                                        </p:tgtEl>
                                        <p:attrNameLst>
                                          <p:attrName>ppt_h</p:attrName>
                                        </p:attrNameLst>
                                      </p:cBhvr>
                                      <p:tavLst>
                                        <p:tav tm="0">
                                          <p:val>
                                            <p:strVal val="#ppt_h"/>
                                          </p:val>
                                        </p:tav>
                                        <p:tav tm="100000">
                                          <p:val>
                                            <p:strVal val="#ppt_h"/>
                                          </p:val>
                                        </p:tav>
                                      </p:tavLst>
                                    </p:anim>
                                  </p:childTnLst>
                                </p:cTn>
                              </p:par>
                              <p:par>
                                <p:cTn id="10" presetID="45" presetClass="entr" presetSubtype="0" fill="hold" grpId="0" nodeType="withEffect">
                                  <p:stCondLst>
                                    <p:cond delay="0"/>
                                  </p:stCondLst>
                                  <p:iterate type="lt">
                                    <p:tmPct val="10000"/>
                                  </p:iterate>
                                  <p:childTnLst>
                                    <p:set>
                                      <p:cBhvr>
                                        <p:cTn id="11" dur="1" fill="hold">
                                          <p:stCondLst>
                                            <p:cond delay="0"/>
                                          </p:stCondLst>
                                        </p:cTn>
                                        <p:tgtEl>
                                          <p:spTgt spid="47107"/>
                                        </p:tgtEl>
                                        <p:attrNameLst>
                                          <p:attrName>style.visibility</p:attrName>
                                        </p:attrNameLst>
                                      </p:cBhvr>
                                      <p:to>
                                        <p:strVal val="visible"/>
                                      </p:to>
                                    </p:set>
                                    <p:animEffect transition="in" filter="fade">
                                      <p:cBhvr>
                                        <p:cTn id="12" dur="500"/>
                                        <p:tgtEl>
                                          <p:spTgt spid="47107"/>
                                        </p:tgtEl>
                                      </p:cBhvr>
                                    </p:animEffect>
                                    <p:anim calcmode="lin" valueType="num">
                                      <p:cBhvr>
                                        <p:cTn id="13" dur="500" fill="hold"/>
                                        <p:tgtEl>
                                          <p:spTgt spid="47107"/>
                                        </p:tgtEl>
                                        <p:attrNameLst>
                                          <p:attrName>ppt_w</p:attrName>
                                        </p:attrNameLst>
                                      </p:cBhvr>
                                      <p:tavLst>
                                        <p:tav tm="0" fmla="#ppt_w*sin(2.5*pi*$)">
                                          <p:val>
                                            <p:fltVal val="0"/>
                                          </p:val>
                                        </p:tav>
                                        <p:tav tm="100000">
                                          <p:val>
                                            <p:fltVal val="1"/>
                                          </p:val>
                                        </p:tav>
                                      </p:tavLst>
                                    </p:anim>
                                    <p:anim calcmode="lin" valueType="num">
                                      <p:cBhvr>
                                        <p:cTn id="14" dur="500" fill="hold"/>
                                        <p:tgtEl>
                                          <p:spTgt spid="4710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6" grpId="0"/>
      <p:bldP spid="4710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5">
            <a:extLst>
              <a:ext uri="{FF2B5EF4-FFF2-40B4-BE49-F238E27FC236}">
                <a16:creationId xmlns:a16="http://schemas.microsoft.com/office/drawing/2014/main" id="{99F90A9A-7E4E-47DF-B7E2-DB4D3F9DCDE0}"/>
              </a:ext>
            </a:extLst>
          </p:cNvPr>
          <p:cNvSpPr>
            <a:spLocks noChangeArrowheads="1"/>
          </p:cNvSpPr>
          <p:nvPr/>
        </p:nvSpPr>
        <p:spPr bwMode="auto">
          <a:xfrm>
            <a:off x="839449" y="1778329"/>
            <a:ext cx="10882859" cy="9610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441325" indent="-441325" defTabSz="912813" eaLnBrk="1" hangingPunct="1">
              <a:lnSpc>
                <a:spcPct val="150000"/>
              </a:lnSpc>
              <a:buClr>
                <a:schemeClr val="tx1"/>
              </a:buClr>
              <a:buFont typeface="Wingdings" panose="05000000000000000000" pitchFamily="2" charset="2"/>
              <a:buChar char="Ø"/>
            </a:pPr>
            <a:r>
              <a:rPr kumimoji="0" lang="en-US" altLang="zh-CN" sz="2000" b="1" dirty="0">
                <a:ea typeface="楷体_GB2312" pitchFamily="49" charset="-122"/>
              </a:rPr>
              <a:t>CIE</a:t>
            </a:r>
            <a:r>
              <a:rPr kumimoji="0" lang="zh-CN" altLang="en-US" sz="2000" b="1" dirty="0">
                <a:ea typeface="楷体_GB2312" pitchFamily="49" charset="-122"/>
              </a:rPr>
              <a:t>颜色模型包括一系列颜色模型，这些颜色模型是由国际照明委员会提出的</a:t>
            </a:r>
            <a:endParaRPr kumimoji="0" lang="en-US" altLang="zh-CN" sz="2000" b="1" dirty="0">
              <a:ea typeface="楷体_GB2312" pitchFamily="49" charset="-122"/>
            </a:endParaRPr>
          </a:p>
          <a:p>
            <a:pPr marL="441325" indent="-441325" defTabSz="912813" eaLnBrk="1" hangingPunct="1">
              <a:lnSpc>
                <a:spcPct val="150000"/>
              </a:lnSpc>
              <a:buClr>
                <a:schemeClr val="tx1"/>
              </a:buClr>
              <a:buFont typeface="Wingdings" panose="05000000000000000000" pitchFamily="2" charset="2"/>
              <a:buChar char="Ø"/>
            </a:pPr>
            <a:r>
              <a:rPr kumimoji="0" lang="zh-CN" altLang="en-US" sz="2000" b="1" dirty="0">
                <a:ea typeface="楷体_GB2312" pitchFamily="49" charset="-122"/>
              </a:rPr>
              <a:t>是基于人的眼睛对</a:t>
            </a:r>
            <a:r>
              <a:rPr kumimoji="0" lang="en-US" altLang="zh-CN" sz="2000" b="1" dirty="0">
                <a:ea typeface="楷体_GB2312" pitchFamily="49" charset="-122"/>
              </a:rPr>
              <a:t>RGB</a:t>
            </a:r>
            <a:r>
              <a:rPr kumimoji="0" lang="zh-CN" altLang="en-US" sz="2000" b="1" dirty="0">
                <a:ea typeface="楷体_GB2312" pitchFamily="49" charset="-122"/>
              </a:rPr>
              <a:t>的反应，被用于精确表示对色彩的接收</a:t>
            </a:r>
          </a:p>
        </p:txBody>
      </p:sp>
      <p:sp>
        <p:nvSpPr>
          <p:cNvPr id="23556" name="Rectangle 6">
            <a:extLst>
              <a:ext uri="{FF2B5EF4-FFF2-40B4-BE49-F238E27FC236}">
                <a16:creationId xmlns:a16="http://schemas.microsoft.com/office/drawing/2014/main" id="{DCB30E25-7FBE-487C-9C26-CFF3DDDE6A8D}"/>
              </a:ext>
            </a:extLst>
          </p:cNvPr>
          <p:cNvSpPr>
            <a:spLocks noChangeArrowheads="1"/>
          </p:cNvSpPr>
          <p:nvPr/>
        </p:nvSpPr>
        <p:spPr bwMode="auto">
          <a:xfrm>
            <a:off x="965616" y="4136378"/>
            <a:ext cx="10336968" cy="142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marL="441325" indent="-441325" defTabSz="912813"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912813"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buClr>
                <a:schemeClr val="tx1"/>
              </a:buClr>
              <a:buFont typeface="Wingdings" panose="05000000000000000000" pitchFamily="2" charset="2"/>
              <a:buChar char="Ø"/>
            </a:pPr>
            <a:r>
              <a:rPr kumimoji="0" lang="zh-CN" altLang="en-US" sz="2000" b="1" dirty="0">
                <a:ea typeface="楷体_GB2312" pitchFamily="49" charset="-122"/>
              </a:rPr>
              <a:t>被用来定义所谓的</a:t>
            </a:r>
            <a:r>
              <a:rPr kumimoji="0" lang="zh-CN" altLang="en-US" sz="2000" b="1" dirty="0">
                <a:solidFill>
                  <a:srgbClr val="C00000"/>
                </a:solidFill>
                <a:ea typeface="楷体_GB2312" pitchFamily="49" charset="-122"/>
              </a:rPr>
              <a:t>独立于设备</a:t>
            </a:r>
            <a:r>
              <a:rPr kumimoji="0" lang="zh-CN" altLang="en-US" sz="2000" b="1" dirty="0">
                <a:ea typeface="楷体_GB2312" pitchFamily="49" charset="-122"/>
              </a:rPr>
              <a:t>的颜色</a:t>
            </a:r>
          </a:p>
          <a:p>
            <a:pPr eaLnBrk="1" hangingPunct="1">
              <a:lnSpc>
                <a:spcPct val="150000"/>
              </a:lnSpc>
              <a:buClr>
                <a:schemeClr val="tx1"/>
              </a:buClr>
              <a:buFont typeface="Wingdings" panose="05000000000000000000" pitchFamily="2" charset="2"/>
              <a:buChar char="Ø"/>
            </a:pPr>
            <a:r>
              <a:rPr kumimoji="0" lang="zh-CN" altLang="en-US" sz="2000" b="1" dirty="0">
                <a:ea typeface="楷体_GB2312" pitchFamily="49" charset="-122"/>
              </a:rPr>
              <a:t>它能够在任何类型的设备上产生真实的颜色，例如：扫描仪、监视器和打印机</a:t>
            </a:r>
          </a:p>
          <a:p>
            <a:pPr eaLnBrk="1" hangingPunct="1">
              <a:lnSpc>
                <a:spcPct val="150000"/>
              </a:lnSpc>
              <a:buClr>
                <a:schemeClr val="tx1"/>
              </a:buClr>
              <a:buFont typeface="Wingdings" panose="05000000000000000000" pitchFamily="2" charset="2"/>
              <a:buChar char="Ø"/>
            </a:pPr>
            <a:r>
              <a:rPr kumimoji="0" lang="zh-CN" altLang="en-US" sz="2000" b="1" dirty="0">
                <a:ea typeface="楷体_GB2312" pitchFamily="49" charset="-122"/>
              </a:rPr>
              <a:t>很适合</a:t>
            </a:r>
            <a:r>
              <a:rPr kumimoji="0" lang="zh-CN" altLang="en-US" sz="2000" b="1" dirty="0">
                <a:solidFill>
                  <a:srgbClr val="C00000"/>
                </a:solidFill>
                <a:ea typeface="楷体_GB2312" pitchFamily="49" charset="-122"/>
              </a:rPr>
              <a:t>计算机</a:t>
            </a:r>
            <a:r>
              <a:rPr kumimoji="0" lang="zh-CN" altLang="en-US" sz="2000" b="1" dirty="0">
                <a:ea typeface="楷体_GB2312" pitchFamily="49" charset="-122"/>
              </a:rPr>
              <a:t>描述颜色的范围</a:t>
            </a:r>
          </a:p>
        </p:txBody>
      </p:sp>
      <p:sp>
        <p:nvSpPr>
          <p:cNvPr id="23557" name="Rectangle 8">
            <a:extLst>
              <a:ext uri="{FF2B5EF4-FFF2-40B4-BE49-F238E27FC236}">
                <a16:creationId xmlns:a16="http://schemas.microsoft.com/office/drawing/2014/main" id="{DE6C592B-AB53-4939-812E-F03D015DF06A}"/>
              </a:ext>
            </a:extLst>
          </p:cNvPr>
          <p:cNvSpPr>
            <a:spLocks noChangeArrowheads="1"/>
          </p:cNvSpPr>
          <p:nvPr/>
        </p:nvSpPr>
        <p:spPr bwMode="auto">
          <a:xfrm>
            <a:off x="718062" y="3480125"/>
            <a:ext cx="8702675" cy="55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396875" indent="-396875" defTabSz="912813"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912813"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ts val="4000"/>
              </a:lnSpc>
              <a:spcBef>
                <a:spcPct val="20000"/>
              </a:spcBef>
              <a:buClr>
                <a:schemeClr val="accent2"/>
              </a:buClr>
              <a:buBlip>
                <a:blip r:embed="rId2"/>
              </a:buBlip>
            </a:pPr>
            <a:r>
              <a:rPr kumimoji="0" lang="en-US" altLang="zh-CN" b="1" dirty="0"/>
              <a:t> </a:t>
            </a:r>
            <a:r>
              <a:rPr kumimoji="0" lang="zh-CN" altLang="en-US" b="1" dirty="0">
                <a:ea typeface="楷体_GB2312" pitchFamily="49" charset="-122"/>
              </a:rPr>
              <a:t>设备无关性</a:t>
            </a:r>
          </a:p>
        </p:txBody>
      </p:sp>
      <p:sp>
        <p:nvSpPr>
          <p:cNvPr id="23558" name="Rectangle 9">
            <a:extLst>
              <a:ext uri="{FF2B5EF4-FFF2-40B4-BE49-F238E27FC236}">
                <a16:creationId xmlns:a16="http://schemas.microsoft.com/office/drawing/2014/main" id="{764B0890-84D8-43B8-AAA8-4D07CECD1E0F}"/>
              </a:ext>
            </a:extLst>
          </p:cNvPr>
          <p:cNvSpPr>
            <a:spLocks noChangeArrowheads="1"/>
          </p:cNvSpPr>
          <p:nvPr/>
        </p:nvSpPr>
        <p:spPr bwMode="auto">
          <a:xfrm>
            <a:off x="706156" y="1006071"/>
            <a:ext cx="8702675" cy="55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396875" indent="-396875" defTabSz="912813"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912813"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ts val="4000"/>
              </a:lnSpc>
              <a:spcBef>
                <a:spcPct val="20000"/>
              </a:spcBef>
              <a:buClr>
                <a:schemeClr val="accent2"/>
              </a:buClr>
              <a:buBlip>
                <a:blip r:embed="rId2"/>
              </a:buBlip>
            </a:pPr>
            <a:r>
              <a:rPr kumimoji="0" lang="en-US" altLang="zh-CN" b="1" dirty="0"/>
              <a:t> </a:t>
            </a:r>
            <a:r>
              <a:rPr kumimoji="0" lang="en-US" altLang="zh-CN" b="1" dirty="0">
                <a:ea typeface="楷体_GB2312" pitchFamily="49" charset="-122"/>
              </a:rPr>
              <a:t>CIE</a:t>
            </a:r>
            <a:r>
              <a:rPr kumimoji="0" lang="zh-CN" altLang="en-US" b="1" dirty="0">
                <a:ea typeface="楷体_GB2312" pitchFamily="49" charset="-122"/>
              </a:rPr>
              <a:t>颜色模型的提出</a:t>
            </a:r>
          </a:p>
        </p:txBody>
      </p:sp>
      <p:sp>
        <p:nvSpPr>
          <p:cNvPr id="3" name="标题 2">
            <a:extLst>
              <a:ext uri="{FF2B5EF4-FFF2-40B4-BE49-F238E27FC236}">
                <a16:creationId xmlns:a16="http://schemas.microsoft.com/office/drawing/2014/main" id="{2F816DA7-32E6-40F0-9B4B-EB342E9BC3EA}"/>
              </a:ext>
            </a:extLst>
          </p:cNvPr>
          <p:cNvSpPr>
            <a:spLocks noGrp="1"/>
          </p:cNvSpPr>
          <p:nvPr>
            <p:ph type="title"/>
          </p:nvPr>
        </p:nvSpPr>
        <p:spPr/>
        <p:txBody>
          <a:bodyPr/>
          <a:lstStyle/>
          <a:p>
            <a:r>
              <a:rPr lang="en-US" altLang="zh-CN" dirty="0"/>
              <a:t>5. CIE(</a:t>
            </a:r>
            <a:r>
              <a:rPr lang="zh-CN" altLang="en-US" dirty="0"/>
              <a:t>国际照明委员会</a:t>
            </a:r>
            <a:r>
              <a:rPr lang="en-US" altLang="zh-CN" dirty="0"/>
              <a:t>)</a:t>
            </a:r>
            <a:r>
              <a:rPr lang="zh-CN" altLang="en-US" dirty="0"/>
              <a:t>颜色模型</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166BB956-6B1F-4FE1-8CBB-76DA2E4D4067}"/>
              </a:ext>
            </a:extLst>
          </p:cNvPr>
          <p:cNvSpPr>
            <a:spLocks noChangeArrowheads="1"/>
          </p:cNvSpPr>
          <p:nvPr/>
        </p:nvSpPr>
        <p:spPr bwMode="auto">
          <a:xfrm>
            <a:off x="2230361" y="1835292"/>
            <a:ext cx="8385175" cy="1899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342900" indent="-342900" defTabSz="912813" eaLnBrk="0" hangingPunct="0">
              <a:defRPr kumimoji="1" sz="2400">
                <a:solidFill>
                  <a:schemeClr val="tx1"/>
                </a:solidFill>
                <a:latin typeface="Times New Roman" panose="02020603050405020304" pitchFamily="18" charset="0"/>
                <a:ea typeface="宋体" panose="02010600030101010101" pitchFamily="2" charset="-122"/>
              </a:defRPr>
            </a:lvl1pPr>
            <a:lvl2pPr marL="914400" indent="-396875" defTabSz="912813"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1" eaLnBrk="1" hangingPunct="1">
              <a:lnSpc>
                <a:spcPts val="4500"/>
              </a:lnSpc>
              <a:spcBef>
                <a:spcPct val="20000"/>
              </a:spcBef>
              <a:buFont typeface="Wingdings" panose="05000000000000000000" pitchFamily="2" charset="2"/>
              <a:buChar char="Ø"/>
            </a:pPr>
            <a:r>
              <a:rPr kumimoji="0" lang="en-US" altLang="zh-CN" b="1" dirty="0">
                <a:ea typeface="楷体_GB2312" pitchFamily="49" charset="-122"/>
                <a:cs typeface="Times New Roman" panose="02020603050405020304" pitchFamily="18" charset="0"/>
              </a:rPr>
              <a:t>CIE XYZ</a:t>
            </a:r>
          </a:p>
          <a:p>
            <a:pPr lvl="1" eaLnBrk="1" hangingPunct="1">
              <a:lnSpc>
                <a:spcPts val="4500"/>
              </a:lnSpc>
              <a:spcBef>
                <a:spcPct val="20000"/>
              </a:spcBef>
              <a:buFont typeface="Wingdings" panose="05000000000000000000" pitchFamily="2" charset="2"/>
              <a:buChar char="Ø"/>
            </a:pPr>
            <a:r>
              <a:rPr kumimoji="0" lang="en-US" altLang="zh-CN" b="1" dirty="0">
                <a:ea typeface="楷体_GB2312" pitchFamily="49" charset="-122"/>
                <a:cs typeface="Times New Roman" panose="02020603050405020304" pitchFamily="18" charset="0"/>
              </a:rPr>
              <a:t>CIE L*a*b*</a:t>
            </a:r>
          </a:p>
          <a:p>
            <a:pPr lvl="1" eaLnBrk="1" hangingPunct="1">
              <a:lnSpc>
                <a:spcPts val="4500"/>
              </a:lnSpc>
              <a:spcBef>
                <a:spcPct val="20000"/>
              </a:spcBef>
              <a:buFont typeface="Wingdings" panose="05000000000000000000" pitchFamily="2" charset="2"/>
              <a:buChar char="Ø"/>
            </a:pPr>
            <a:r>
              <a:rPr kumimoji="0" lang="en-US" altLang="zh-CN" b="1" dirty="0">
                <a:ea typeface="楷体_GB2312" pitchFamily="49" charset="-122"/>
                <a:cs typeface="Times New Roman" panose="02020603050405020304" pitchFamily="18" charset="0"/>
              </a:rPr>
              <a:t>CIE YUV</a:t>
            </a:r>
            <a:endParaRPr kumimoji="0" lang="zh-CN" altLang="en-US" b="1" dirty="0">
              <a:ea typeface="楷体_GB2312" pitchFamily="49" charset="-122"/>
              <a:cs typeface="Times New Roman" panose="02020603050405020304" pitchFamily="18" charset="0"/>
            </a:endParaRPr>
          </a:p>
        </p:txBody>
      </p:sp>
      <p:sp>
        <p:nvSpPr>
          <p:cNvPr id="24579" name="Rectangle 10">
            <a:extLst>
              <a:ext uri="{FF2B5EF4-FFF2-40B4-BE49-F238E27FC236}">
                <a16:creationId xmlns:a16="http://schemas.microsoft.com/office/drawing/2014/main" id="{D17F4B1F-3322-4E65-9D8D-A0DAEADAF07B}"/>
              </a:ext>
            </a:extLst>
          </p:cNvPr>
          <p:cNvSpPr>
            <a:spLocks noChangeArrowheads="1"/>
          </p:cNvSpPr>
          <p:nvPr/>
        </p:nvSpPr>
        <p:spPr bwMode="auto">
          <a:xfrm>
            <a:off x="1193333" y="1024732"/>
            <a:ext cx="8702675" cy="60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396875" indent="-396875" defTabSz="912813"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912813"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ts val="4500"/>
              </a:lnSpc>
              <a:spcBef>
                <a:spcPct val="20000"/>
              </a:spcBef>
              <a:buClr>
                <a:schemeClr val="accent2"/>
              </a:buClr>
              <a:buBlip>
                <a:blip r:embed="rId2"/>
              </a:buBlip>
            </a:pPr>
            <a:r>
              <a:rPr kumimoji="0" lang="en-US" altLang="zh-CN" sz="2800" b="1" dirty="0">
                <a:cs typeface="Times New Roman" panose="02020603050405020304" pitchFamily="18" charset="0"/>
              </a:rPr>
              <a:t> </a:t>
            </a:r>
            <a:r>
              <a:rPr kumimoji="0" lang="en-US" altLang="zh-CN" sz="2800" b="1" dirty="0">
                <a:ea typeface="楷体_GB2312" pitchFamily="49" charset="-122"/>
                <a:cs typeface="Times New Roman" panose="02020603050405020304" pitchFamily="18" charset="0"/>
              </a:rPr>
              <a:t>CIE</a:t>
            </a:r>
            <a:r>
              <a:rPr kumimoji="0" lang="zh-CN" altLang="en-US" sz="2800" b="1" dirty="0">
                <a:ea typeface="楷体_GB2312" pitchFamily="49" charset="-122"/>
                <a:cs typeface="Times New Roman" panose="02020603050405020304" pitchFamily="18" charset="0"/>
              </a:rPr>
              <a:t>颜色模型的类型</a:t>
            </a:r>
          </a:p>
        </p:txBody>
      </p:sp>
      <p:sp>
        <p:nvSpPr>
          <p:cNvPr id="3" name="标题 2">
            <a:extLst>
              <a:ext uri="{FF2B5EF4-FFF2-40B4-BE49-F238E27FC236}">
                <a16:creationId xmlns:a16="http://schemas.microsoft.com/office/drawing/2014/main" id="{852D7773-41F5-4C51-8735-15D52031D212}"/>
              </a:ext>
            </a:extLst>
          </p:cNvPr>
          <p:cNvSpPr>
            <a:spLocks noGrp="1"/>
          </p:cNvSpPr>
          <p:nvPr>
            <p:ph type="title"/>
          </p:nvPr>
        </p:nvSpPr>
        <p:spPr/>
        <p:txBody>
          <a:bodyPr/>
          <a:lstStyle/>
          <a:p>
            <a:r>
              <a:rPr lang="en-US" altLang="zh-CN" dirty="0"/>
              <a:t>5. CIE(</a:t>
            </a:r>
            <a:r>
              <a:rPr lang="zh-CN" altLang="en-US" dirty="0"/>
              <a:t>国际照明委员会</a:t>
            </a:r>
            <a:r>
              <a:rPr lang="en-US" altLang="zh-CN" dirty="0"/>
              <a:t>)</a:t>
            </a:r>
            <a:r>
              <a:rPr lang="zh-CN" altLang="en-US" dirty="0"/>
              <a:t>颜色模型</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6" name="Rectangle 4">
            <a:extLst>
              <a:ext uri="{FF2B5EF4-FFF2-40B4-BE49-F238E27FC236}">
                <a16:creationId xmlns:a16="http://schemas.microsoft.com/office/drawing/2014/main" id="{8EE8E05A-76EF-4D6D-A5D5-41D43BA2DCE7}"/>
              </a:ext>
            </a:extLst>
          </p:cNvPr>
          <p:cNvSpPr>
            <a:spLocks noChangeArrowheads="1"/>
          </p:cNvSpPr>
          <p:nvPr/>
        </p:nvSpPr>
        <p:spPr bwMode="auto">
          <a:xfrm>
            <a:off x="732449" y="966745"/>
            <a:ext cx="10912839" cy="1050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ts val="4000"/>
              </a:lnSpc>
            </a:pPr>
            <a:r>
              <a:rPr kumimoji="0" lang="en-US" altLang="zh-CN" sz="2000" b="1" dirty="0">
                <a:ea typeface="楷体_GB2312" pitchFamily="49" charset="-122"/>
              </a:rPr>
              <a:t>XYZ</a:t>
            </a:r>
            <a:r>
              <a:rPr kumimoji="0" lang="zh-CN" altLang="en-US" sz="2000" b="1" dirty="0">
                <a:ea typeface="楷体_GB2312" pitchFamily="49" charset="-122"/>
              </a:rPr>
              <a:t>三</a:t>
            </a:r>
            <a:r>
              <a:rPr kumimoji="0" lang="zh-CN" altLang="en-US" sz="2000" b="1" dirty="0">
                <a:solidFill>
                  <a:srgbClr val="C00000"/>
                </a:solidFill>
                <a:ea typeface="楷体_GB2312" pitchFamily="49" charset="-122"/>
              </a:rPr>
              <a:t>刺激值</a:t>
            </a:r>
            <a:r>
              <a:rPr kumimoji="0" lang="zh-CN" altLang="en-US" sz="2000" b="1" dirty="0">
                <a:ea typeface="楷体_GB2312" pitchFamily="49" charset="-122"/>
              </a:rPr>
              <a:t>的概念是以色视觉的三元理论为根据的，它说明人眼具有接受三基色（红、绿、蓝）的接受器，而所有的颜色均被视作该三基色的混合色</a:t>
            </a:r>
          </a:p>
        </p:txBody>
      </p:sp>
      <p:sp>
        <p:nvSpPr>
          <p:cNvPr id="10" name="矩形 9">
            <a:extLst>
              <a:ext uri="{FF2B5EF4-FFF2-40B4-BE49-F238E27FC236}">
                <a16:creationId xmlns:a16="http://schemas.microsoft.com/office/drawing/2014/main" id="{488724E0-00F5-4E7E-8852-53575FF0C468}"/>
              </a:ext>
            </a:extLst>
          </p:cNvPr>
          <p:cNvSpPr/>
          <p:nvPr/>
        </p:nvSpPr>
        <p:spPr bwMode="auto">
          <a:xfrm>
            <a:off x="1924022" y="3205024"/>
            <a:ext cx="3330054" cy="955591"/>
          </a:xfrm>
          <a:prstGeom prst="rect">
            <a:avLst/>
          </a:prstGeom>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wrap="none"/>
          <a:lstStyle/>
          <a:p>
            <a:pPr>
              <a:defRPr/>
            </a:pPr>
            <a:endParaRPr lang="zh-CN" altLang="en-US">
              <a:solidFill>
                <a:srgbClr val="002060"/>
              </a:solidFill>
              <a:latin typeface="Times New Roman" pitchFamily="18" charset="0"/>
            </a:endParaRPr>
          </a:p>
        </p:txBody>
      </p:sp>
      <p:sp>
        <p:nvSpPr>
          <p:cNvPr id="12297" name="Rectangle 6">
            <a:extLst>
              <a:ext uri="{FF2B5EF4-FFF2-40B4-BE49-F238E27FC236}">
                <a16:creationId xmlns:a16="http://schemas.microsoft.com/office/drawing/2014/main" id="{19832130-737A-407D-BC58-AD668E6D34CE}"/>
              </a:ext>
            </a:extLst>
          </p:cNvPr>
          <p:cNvSpPr>
            <a:spLocks noChangeArrowheads="1"/>
          </p:cNvSpPr>
          <p:nvPr/>
        </p:nvSpPr>
        <p:spPr bwMode="auto">
          <a:xfrm>
            <a:off x="1706016" y="2283376"/>
            <a:ext cx="8231188"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ts val="4000"/>
              </a:lnSpc>
            </a:pPr>
            <a:r>
              <a:rPr kumimoji="0" lang="en-US" altLang="zh-CN" sz="2000" b="1" dirty="0">
                <a:ea typeface="楷体_GB2312" pitchFamily="49" charset="-122"/>
              </a:rPr>
              <a:t>1931</a:t>
            </a:r>
            <a:r>
              <a:rPr kumimoji="0" lang="zh-CN" altLang="en-US" sz="2000" b="1" dirty="0">
                <a:ea typeface="楷体_GB2312" pitchFamily="49" charset="-122"/>
              </a:rPr>
              <a:t>年</a:t>
            </a:r>
            <a:r>
              <a:rPr kumimoji="0" lang="en-US" altLang="zh-CN" sz="2000" b="1" dirty="0">
                <a:ea typeface="楷体_GB2312" pitchFamily="49" charset="-122"/>
              </a:rPr>
              <a:t>CIE</a:t>
            </a:r>
            <a:r>
              <a:rPr kumimoji="0" lang="zh-CN" altLang="en-US" sz="2000" b="1" dirty="0">
                <a:ea typeface="楷体_GB2312" pitchFamily="49" charset="-122"/>
              </a:rPr>
              <a:t>制定一种假想的标准观察者</a:t>
            </a:r>
            <a:r>
              <a:rPr kumimoji="0" lang="zh-CN" altLang="en-US" sz="2000" b="1" dirty="0">
                <a:solidFill>
                  <a:srgbClr val="002060"/>
                </a:solidFill>
                <a:ea typeface="楷体_GB2312" pitchFamily="49" charset="-122"/>
              </a:rPr>
              <a:t>，</a:t>
            </a:r>
            <a:r>
              <a:rPr kumimoji="0" lang="zh-CN" altLang="en-US" sz="2000" b="1" dirty="0">
                <a:solidFill>
                  <a:srgbClr val="FF0000"/>
                </a:solidFill>
                <a:ea typeface="楷体_GB2312" pitchFamily="49" charset="-122"/>
              </a:rPr>
              <a:t>配色函数</a:t>
            </a:r>
          </a:p>
        </p:txBody>
      </p:sp>
      <p:sp>
        <p:nvSpPr>
          <p:cNvPr id="12298" name="Rectangle 7">
            <a:extLst>
              <a:ext uri="{FF2B5EF4-FFF2-40B4-BE49-F238E27FC236}">
                <a16:creationId xmlns:a16="http://schemas.microsoft.com/office/drawing/2014/main" id="{CA2FABD1-162E-48F9-B1E3-29323949374C}"/>
              </a:ext>
            </a:extLst>
          </p:cNvPr>
          <p:cNvSpPr>
            <a:spLocks noChangeArrowheads="1"/>
          </p:cNvSpPr>
          <p:nvPr/>
        </p:nvSpPr>
        <p:spPr bwMode="auto">
          <a:xfrm>
            <a:off x="2053677" y="5294416"/>
            <a:ext cx="8002588" cy="537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ts val="4000"/>
              </a:lnSpc>
            </a:pPr>
            <a:r>
              <a:rPr kumimoji="0" lang="en-US" altLang="zh-CN" sz="2000" b="1" i="1" dirty="0">
                <a:ea typeface="楷体_GB2312" pitchFamily="49" charset="-122"/>
              </a:rPr>
              <a:t>XYZ</a:t>
            </a:r>
            <a:r>
              <a:rPr kumimoji="0" lang="zh-CN" altLang="en-US" sz="2000" b="1" dirty="0">
                <a:ea typeface="楷体_GB2312" pitchFamily="49" charset="-122"/>
                <a:cs typeface="Times New Roman" panose="02020603050405020304" pitchFamily="18" charset="0"/>
              </a:rPr>
              <a:t>是利用这些标准观察者配色函数计算得来的</a:t>
            </a:r>
            <a:r>
              <a:rPr kumimoji="0" lang="zh-CN" altLang="en-US" sz="2000" b="1" dirty="0">
                <a:ea typeface="楷体_GB2312" pitchFamily="49" charset="-122"/>
              </a:rPr>
              <a:t> </a:t>
            </a:r>
          </a:p>
        </p:txBody>
      </p:sp>
      <p:graphicFrame>
        <p:nvGraphicFramePr>
          <p:cNvPr id="12290" name="Object 8">
            <a:extLst>
              <a:ext uri="{FF2B5EF4-FFF2-40B4-BE49-F238E27FC236}">
                <a16:creationId xmlns:a16="http://schemas.microsoft.com/office/drawing/2014/main" id="{FF1E2DAD-D2F6-416F-AB4E-0B5974EBF11E}"/>
              </a:ext>
            </a:extLst>
          </p:cNvPr>
          <p:cNvGraphicFramePr>
            <a:graphicFrameLocks noChangeAspect="1"/>
          </p:cNvGraphicFramePr>
          <p:nvPr>
            <p:extLst>
              <p:ext uri="{D42A27DB-BD31-4B8C-83A1-F6EECF244321}">
                <p14:modId xmlns:p14="http://schemas.microsoft.com/office/powerpoint/2010/main" val="451517363"/>
              </p:ext>
            </p:extLst>
          </p:nvPr>
        </p:nvGraphicFramePr>
        <p:xfrm>
          <a:off x="2053677" y="3367298"/>
          <a:ext cx="3184525" cy="611187"/>
        </p:xfrm>
        <a:graphic>
          <a:graphicData uri="http://schemas.openxmlformats.org/presentationml/2006/ole">
            <mc:AlternateContent xmlns:mc="http://schemas.openxmlformats.org/markup-compatibility/2006">
              <mc:Choice xmlns:v="urn:schemas-microsoft-com:vml" Requires="v">
                <p:oleObj spid="_x0000_s4163" name="公式" r:id="rId3" imgW="1244520" imgH="241200" progId="Equation.3">
                  <p:embed/>
                </p:oleObj>
              </mc:Choice>
              <mc:Fallback>
                <p:oleObj name="公式" r:id="rId3" imgW="1244520" imgH="241200"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3677" y="3367298"/>
                        <a:ext cx="3184525" cy="6111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标题 2">
            <a:extLst>
              <a:ext uri="{FF2B5EF4-FFF2-40B4-BE49-F238E27FC236}">
                <a16:creationId xmlns:a16="http://schemas.microsoft.com/office/drawing/2014/main" id="{F095A7F8-DD65-40DE-B9D6-E6A942898EA6}"/>
              </a:ext>
            </a:extLst>
          </p:cNvPr>
          <p:cNvSpPr>
            <a:spLocks noGrp="1"/>
          </p:cNvSpPr>
          <p:nvPr>
            <p:ph type="title"/>
          </p:nvPr>
        </p:nvSpPr>
        <p:spPr/>
        <p:txBody>
          <a:bodyPr/>
          <a:lstStyle/>
          <a:p>
            <a:r>
              <a:rPr lang="en-US" altLang="zh-CN" dirty="0"/>
              <a:t>5.1 CIE XYZ</a:t>
            </a:r>
            <a:endParaRPr lang="zh-CN" altLang="en-US" dirty="0"/>
          </a:p>
        </p:txBody>
      </p:sp>
      <p:pic>
        <p:nvPicPr>
          <p:cNvPr id="2" name="图片 1">
            <a:extLst>
              <a:ext uri="{FF2B5EF4-FFF2-40B4-BE49-F238E27FC236}">
                <a16:creationId xmlns:a16="http://schemas.microsoft.com/office/drawing/2014/main" id="{2DC07949-FFE1-46B9-865D-2AD544369BDC}"/>
              </a:ext>
            </a:extLst>
          </p:cNvPr>
          <p:cNvPicPr>
            <a:picLocks noChangeAspect="1"/>
          </p:cNvPicPr>
          <p:nvPr/>
        </p:nvPicPr>
        <p:blipFill>
          <a:blip r:embed="rId5"/>
          <a:stretch>
            <a:fillRect/>
          </a:stretch>
        </p:blipFill>
        <p:spPr>
          <a:xfrm>
            <a:off x="6096000" y="2768810"/>
            <a:ext cx="3600450" cy="241935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296"/>
                                        </p:tgtEl>
                                        <p:attrNameLst>
                                          <p:attrName>style.visibility</p:attrName>
                                        </p:attrNameLst>
                                      </p:cBhvr>
                                      <p:to>
                                        <p:strVal val="visible"/>
                                      </p:to>
                                    </p:set>
                                    <p:animEffect transition="in" filter="fade">
                                      <p:cBhvr>
                                        <p:cTn id="7" dur="2000"/>
                                        <p:tgtEl>
                                          <p:spTgt spid="12296"/>
                                        </p:tgtEl>
                                      </p:cBhvr>
                                    </p:animEffect>
                                  </p:childTnLst>
                                </p:cTn>
                              </p:par>
                            </p:childTnLst>
                          </p:cTn>
                        </p:par>
                        <p:par>
                          <p:cTn id="8" fill="hold" nodeType="afterGroup">
                            <p:stCondLst>
                              <p:cond delay="2000"/>
                            </p:stCondLst>
                            <p:childTnLst>
                              <p:par>
                                <p:cTn id="9" presetID="10" presetClass="entr" presetSubtype="0" fill="hold" grpId="0" nodeType="afterEffect">
                                  <p:stCondLst>
                                    <p:cond delay="0"/>
                                  </p:stCondLst>
                                  <p:childTnLst>
                                    <p:set>
                                      <p:cBhvr>
                                        <p:cTn id="10" dur="1" fill="hold">
                                          <p:stCondLst>
                                            <p:cond delay="0"/>
                                          </p:stCondLst>
                                        </p:cTn>
                                        <p:tgtEl>
                                          <p:spTgt spid="12297"/>
                                        </p:tgtEl>
                                        <p:attrNameLst>
                                          <p:attrName>style.visibility</p:attrName>
                                        </p:attrNameLst>
                                      </p:cBhvr>
                                      <p:to>
                                        <p:strVal val="visible"/>
                                      </p:to>
                                    </p:set>
                                    <p:animEffect transition="in" filter="fade">
                                      <p:cBhvr>
                                        <p:cTn id="11" dur="2000"/>
                                        <p:tgtEl>
                                          <p:spTgt spid="12297"/>
                                        </p:tgtEl>
                                      </p:cBhvr>
                                    </p:animEffect>
                                  </p:childTnLst>
                                </p:cTn>
                              </p:par>
                            </p:childTnLst>
                          </p:cTn>
                        </p:par>
                        <p:par>
                          <p:cTn id="12" fill="hold" nodeType="afterGroup">
                            <p:stCondLst>
                              <p:cond delay="4000"/>
                            </p:stCondLst>
                            <p:childTnLst>
                              <p:par>
                                <p:cTn id="13" presetID="10" presetClass="entr" presetSubtype="0" fill="hold" nodeType="afterEffect">
                                  <p:stCondLst>
                                    <p:cond delay="0"/>
                                  </p:stCondLst>
                                  <p:childTnLst>
                                    <p:set>
                                      <p:cBhvr>
                                        <p:cTn id="14" dur="1" fill="hold">
                                          <p:stCondLst>
                                            <p:cond delay="0"/>
                                          </p:stCondLst>
                                        </p:cTn>
                                        <p:tgtEl>
                                          <p:spTgt spid="12290"/>
                                        </p:tgtEl>
                                        <p:attrNameLst>
                                          <p:attrName>style.visibility</p:attrName>
                                        </p:attrNameLst>
                                      </p:cBhvr>
                                      <p:to>
                                        <p:strVal val="visible"/>
                                      </p:to>
                                    </p:set>
                                    <p:animEffect transition="in" filter="fade">
                                      <p:cBhvr>
                                        <p:cTn id="15" dur="2000"/>
                                        <p:tgtEl>
                                          <p:spTgt spid="12290"/>
                                        </p:tgtEl>
                                      </p:cBhvr>
                                    </p:animEffect>
                                  </p:childTnLst>
                                </p:cTn>
                              </p:par>
                              <p:par>
                                <p:cTn id="16" presetID="10" presetClass="entr" presetSubtype="0"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000"/>
                                        <p:tgtEl>
                                          <p:spTgt spid="10"/>
                                        </p:tgtEl>
                                      </p:cBhvr>
                                    </p:animEffect>
                                  </p:childTnLst>
                                </p:cTn>
                              </p:par>
                            </p:childTnLst>
                          </p:cTn>
                        </p:par>
                        <p:par>
                          <p:cTn id="19" fill="hold" nodeType="afterGroup">
                            <p:stCondLst>
                              <p:cond delay="6000"/>
                            </p:stCondLst>
                            <p:childTnLst>
                              <p:par>
                                <p:cTn id="20" presetID="10" presetClass="entr" presetSubtype="0" fill="hold" grpId="0" nodeType="afterEffect">
                                  <p:stCondLst>
                                    <p:cond delay="0"/>
                                  </p:stCondLst>
                                  <p:childTnLst>
                                    <p:set>
                                      <p:cBhvr>
                                        <p:cTn id="21" dur="1" fill="hold">
                                          <p:stCondLst>
                                            <p:cond delay="0"/>
                                          </p:stCondLst>
                                        </p:cTn>
                                        <p:tgtEl>
                                          <p:spTgt spid="12298"/>
                                        </p:tgtEl>
                                        <p:attrNameLst>
                                          <p:attrName>style.visibility</p:attrName>
                                        </p:attrNameLst>
                                      </p:cBhvr>
                                      <p:to>
                                        <p:strVal val="visible"/>
                                      </p:to>
                                    </p:set>
                                    <p:animEffect transition="in" filter="fade">
                                      <p:cBhvr>
                                        <p:cTn id="22" dur="2000"/>
                                        <p:tgtEl>
                                          <p:spTgt spid="122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6" grpId="0"/>
      <p:bldP spid="12297" grpId="0"/>
      <p:bldP spid="1229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5" name="Picture 3" descr="http://www.lnnu.edu.cn/xdjyjx/CG_HTML/05/05030301.JPG">
            <a:extLst>
              <a:ext uri="{FF2B5EF4-FFF2-40B4-BE49-F238E27FC236}">
                <a16:creationId xmlns:a16="http://schemas.microsoft.com/office/drawing/2014/main" id="{48E944CD-75CE-4F03-BC6F-490D26327776}"/>
              </a:ext>
            </a:extLst>
          </p:cNvPr>
          <p:cNvPicPr>
            <a:picLocks noChangeAspect="1" noChangeArrowheads="1"/>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8409446" y="1804906"/>
            <a:ext cx="3494731" cy="3641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9" name="Rectangle 10">
            <a:extLst>
              <a:ext uri="{FF2B5EF4-FFF2-40B4-BE49-F238E27FC236}">
                <a16:creationId xmlns:a16="http://schemas.microsoft.com/office/drawing/2014/main" id="{01FA721A-D14E-450C-A19D-63EB20DA825E}"/>
              </a:ext>
            </a:extLst>
          </p:cNvPr>
          <p:cNvSpPr>
            <a:spLocks noChangeArrowheads="1"/>
          </p:cNvSpPr>
          <p:nvPr/>
        </p:nvSpPr>
        <p:spPr bwMode="auto">
          <a:xfrm>
            <a:off x="664340" y="2777588"/>
            <a:ext cx="7035062" cy="142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kumimoji="0" lang="zh-CN" altLang="en-US" sz="2000" b="1" dirty="0">
                <a:ea typeface="楷体_GB2312" pitchFamily="49" charset="-122"/>
              </a:rPr>
              <a:t>在此基础上，</a:t>
            </a:r>
            <a:r>
              <a:rPr kumimoji="0" lang="en-US" altLang="zh-CN" sz="2000" b="1" dirty="0">
                <a:ea typeface="楷体_GB2312" pitchFamily="49" charset="-122"/>
              </a:rPr>
              <a:t>CIE</a:t>
            </a:r>
            <a:r>
              <a:rPr kumimoji="0" lang="zh-CN" altLang="en-US" sz="2000" b="1" dirty="0">
                <a:ea typeface="楷体_GB2312" pitchFamily="49" charset="-122"/>
              </a:rPr>
              <a:t>于</a:t>
            </a:r>
            <a:r>
              <a:rPr kumimoji="0" lang="en-US" altLang="zh-CN" sz="2000" b="1" dirty="0">
                <a:ea typeface="楷体_GB2312" pitchFamily="49" charset="-122"/>
              </a:rPr>
              <a:t>1931</a:t>
            </a:r>
            <a:r>
              <a:rPr kumimoji="0" lang="zh-CN" altLang="en-US" sz="2000" b="1" dirty="0">
                <a:ea typeface="楷体_GB2312" pitchFamily="49" charset="-122"/>
              </a:rPr>
              <a:t>年规定了</a:t>
            </a:r>
            <a:r>
              <a:rPr kumimoji="0" lang="en-US" altLang="zh-CN" sz="2000" b="1" i="1" dirty="0" err="1">
                <a:ea typeface="楷体_GB2312" pitchFamily="49" charset="-122"/>
              </a:rPr>
              <a:t>Yxy</a:t>
            </a:r>
            <a:r>
              <a:rPr kumimoji="0" lang="zh-CN" altLang="en-US" sz="2000" b="1" dirty="0">
                <a:ea typeface="楷体_GB2312" pitchFamily="49" charset="-122"/>
              </a:rPr>
              <a:t>颜色空间，其中</a:t>
            </a:r>
            <a:r>
              <a:rPr kumimoji="0" lang="en-US" altLang="zh-CN" sz="2000" b="1" dirty="0">
                <a:solidFill>
                  <a:srgbClr val="C00000"/>
                </a:solidFill>
                <a:ea typeface="楷体_GB2312" pitchFamily="49" charset="-122"/>
              </a:rPr>
              <a:t>Y</a:t>
            </a:r>
            <a:r>
              <a:rPr kumimoji="0" lang="zh-CN" altLang="en-US" sz="2000" b="1" dirty="0">
                <a:solidFill>
                  <a:srgbClr val="C00000"/>
                </a:solidFill>
                <a:ea typeface="楷体_GB2312" pitchFamily="49" charset="-122"/>
              </a:rPr>
              <a:t>为亮度</a:t>
            </a:r>
            <a:r>
              <a:rPr kumimoji="0" lang="zh-CN" altLang="en-US" sz="2000" b="1" dirty="0">
                <a:ea typeface="楷体_GB2312" pitchFamily="49" charset="-122"/>
              </a:rPr>
              <a:t>，</a:t>
            </a:r>
            <a:r>
              <a:rPr kumimoji="0" lang="en-US" altLang="zh-CN" sz="2000" b="1" i="1" dirty="0">
                <a:solidFill>
                  <a:srgbClr val="C00000"/>
                </a:solidFill>
                <a:ea typeface="楷体_GB2312" pitchFamily="49" charset="-122"/>
              </a:rPr>
              <a:t>x</a:t>
            </a:r>
            <a:r>
              <a:rPr kumimoji="0" lang="en-US" altLang="zh-CN" sz="2000" b="1" dirty="0">
                <a:solidFill>
                  <a:srgbClr val="C00000"/>
                </a:solidFill>
                <a:ea typeface="楷体_GB2312" pitchFamily="49" charset="-122"/>
              </a:rPr>
              <a:t>, </a:t>
            </a:r>
            <a:r>
              <a:rPr kumimoji="0" lang="en-US" altLang="zh-CN" sz="2000" b="1" i="1" dirty="0">
                <a:solidFill>
                  <a:srgbClr val="C00000"/>
                </a:solidFill>
                <a:ea typeface="楷体_GB2312" pitchFamily="49" charset="-122"/>
              </a:rPr>
              <a:t>y</a:t>
            </a:r>
            <a:r>
              <a:rPr kumimoji="0" lang="zh-CN" altLang="en-US" sz="2000" b="1" dirty="0">
                <a:ea typeface="楷体_GB2312" pitchFamily="49" charset="-122"/>
              </a:rPr>
              <a:t>是从三刺激值</a:t>
            </a:r>
            <a:r>
              <a:rPr kumimoji="0" lang="en-US" altLang="zh-CN" sz="2000" b="1" i="1" dirty="0">
                <a:ea typeface="楷体_GB2312" pitchFamily="49" charset="-122"/>
              </a:rPr>
              <a:t>XYZ</a:t>
            </a:r>
            <a:r>
              <a:rPr kumimoji="0" lang="zh-CN" altLang="en-US" sz="2000" b="1" dirty="0">
                <a:ea typeface="楷体_GB2312" pitchFamily="49" charset="-122"/>
              </a:rPr>
              <a:t>计算得来的色坐标，称为</a:t>
            </a:r>
            <a:r>
              <a:rPr kumimoji="0" lang="zh-CN" altLang="en-US" sz="2000" b="1" dirty="0">
                <a:solidFill>
                  <a:srgbClr val="C00000"/>
                </a:solidFill>
                <a:ea typeface="楷体_GB2312" pitchFamily="49" charset="-122"/>
              </a:rPr>
              <a:t>色度值</a:t>
            </a:r>
            <a:r>
              <a:rPr kumimoji="0" lang="zh-CN" altLang="en-US" sz="2000" b="1" dirty="0">
                <a:ea typeface="楷体_GB2312" pitchFamily="49" charset="-122"/>
              </a:rPr>
              <a:t>。它代表人类可见的颜色范围 </a:t>
            </a:r>
          </a:p>
        </p:txBody>
      </p:sp>
      <p:sp>
        <p:nvSpPr>
          <p:cNvPr id="25605" name="Rectangle 11">
            <a:extLst>
              <a:ext uri="{FF2B5EF4-FFF2-40B4-BE49-F238E27FC236}">
                <a16:creationId xmlns:a16="http://schemas.microsoft.com/office/drawing/2014/main" id="{F067B822-C078-4C40-91B9-CB321ADAF2A8}"/>
              </a:ext>
            </a:extLst>
          </p:cNvPr>
          <p:cNvSpPr>
            <a:spLocks noChangeArrowheads="1"/>
          </p:cNvSpPr>
          <p:nvPr/>
        </p:nvSpPr>
        <p:spPr bwMode="auto">
          <a:xfrm>
            <a:off x="9575251" y="5446660"/>
            <a:ext cx="15183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kumimoji="0" lang="en-US" altLang="zh-CN" sz="1800" b="1" dirty="0">
                <a:ea typeface="楷体_GB2312" pitchFamily="49" charset="-122"/>
              </a:rPr>
              <a:t>CIE</a:t>
            </a:r>
            <a:r>
              <a:rPr kumimoji="0" lang="zh-CN" altLang="en-US" sz="1800" b="1" dirty="0">
                <a:ea typeface="楷体_GB2312" pitchFamily="49" charset="-122"/>
              </a:rPr>
              <a:t>彩色图表</a:t>
            </a:r>
          </a:p>
        </p:txBody>
      </p:sp>
      <p:sp>
        <p:nvSpPr>
          <p:cNvPr id="3" name="标题 2">
            <a:extLst>
              <a:ext uri="{FF2B5EF4-FFF2-40B4-BE49-F238E27FC236}">
                <a16:creationId xmlns:a16="http://schemas.microsoft.com/office/drawing/2014/main" id="{FED97F93-4BDB-4763-8983-4ED8FD532183}"/>
              </a:ext>
            </a:extLst>
          </p:cNvPr>
          <p:cNvSpPr>
            <a:spLocks noGrp="1"/>
          </p:cNvSpPr>
          <p:nvPr>
            <p:ph type="title"/>
          </p:nvPr>
        </p:nvSpPr>
        <p:spPr/>
        <p:txBody>
          <a:bodyPr/>
          <a:lstStyle/>
          <a:p>
            <a:r>
              <a:rPr lang="en-US" altLang="zh-CN" dirty="0"/>
              <a:t>5.1 CIE XYZ</a:t>
            </a:r>
            <a:endParaRPr lang="zh-CN" altLang="en-US" dirty="0"/>
          </a:p>
        </p:txBody>
      </p:sp>
      <p:pic>
        <p:nvPicPr>
          <p:cNvPr id="2" name="图片 1">
            <a:extLst>
              <a:ext uri="{FF2B5EF4-FFF2-40B4-BE49-F238E27FC236}">
                <a16:creationId xmlns:a16="http://schemas.microsoft.com/office/drawing/2014/main" id="{33984240-0189-4959-8A1E-EE615C6584E5}"/>
              </a:ext>
            </a:extLst>
          </p:cNvPr>
          <p:cNvPicPr>
            <a:picLocks noChangeAspect="1"/>
          </p:cNvPicPr>
          <p:nvPr/>
        </p:nvPicPr>
        <p:blipFill>
          <a:blip r:embed="rId5"/>
          <a:stretch>
            <a:fillRect/>
          </a:stretch>
        </p:blipFill>
        <p:spPr>
          <a:xfrm>
            <a:off x="1169306" y="1515098"/>
            <a:ext cx="6929630" cy="793540"/>
          </a:xfrm>
          <a:prstGeom prst="rect">
            <a:avLst/>
          </a:prstGeom>
        </p:spPr>
      </p:pic>
      <p:sp>
        <p:nvSpPr>
          <p:cNvPr id="7" name="Rectangle 10">
            <a:extLst>
              <a:ext uri="{FF2B5EF4-FFF2-40B4-BE49-F238E27FC236}">
                <a16:creationId xmlns:a16="http://schemas.microsoft.com/office/drawing/2014/main" id="{32F3571F-526C-4E37-98B8-60A168F7AA71}"/>
              </a:ext>
            </a:extLst>
          </p:cNvPr>
          <p:cNvSpPr>
            <a:spLocks noChangeArrowheads="1"/>
          </p:cNvSpPr>
          <p:nvPr/>
        </p:nvSpPr>
        <p:spPr bwMode="auto">
          <a:xfrm>
            <a:off x="825305" y="939540"/>
            <a:ext cx="7207624" cy="499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kumimoji="0" lang="en-US" altLang="zh-CN" sz="2000" b="1" dirty="0">
                <a:ea typeface="楷体_GB2312" pitchFamily="49" charset="-122"/>
              </a:rPr>
              <a:t>XYZ</a:t>
            </a:r>
            <a:r>
              <a:rPr kumimoji="0" lang="zh-CN" altLang="en-US" sz="2000" b="1" dirty="0">
                <a:ea typeface="楷体_GB2312" pitchFamily="49" charset="-122"/>
              </a:rPr>
              <a:t>量对照光能量总和（ </a:t>
            </a:r>
            <a:r>
              <a:rPr kumimoji="0" lang="en-US" altLang="zh-CN" sz="2000" b="1" dirty="0">
                <a:ea typeface="楷体_GB2312" pitchFamily="49" charset="-122"/>
              </a:rPr>
              <a:t>X+Y+Z </a:t>
            </a:r>
            <a:r>
              <a:rPr kumimoji="0" lang="zh-CN" altLang="en-US" sz="2000" b="1" dirty="0">
                <a:ea typeface="楷体_GB2312" pitchFamily="49" charset="-122"/>
              </a:rPr>
              <a:t>） 进行规范化</a:t>
            </a:r>
            <a:r>
              <a:rPr kumimoji="0" lang="en-US" altLang="zh-CN" sz="2000" b="1" dirty="0">
                <a:ea typeface="楷体_GB2312" pitchFamily="49" charset="-122"/>
              </a:rPr>
              <a:t>:</a:t>
            </a:r>
            <a:endParaRPr kumimoji="0" lang="zh-CN" altLang="en-US" sz="2000" b="1" dirty="0">
              <a:ea typeface="楷体_GB2312" pitchFamily="49" charset="-122"/>
            </a:endParaRPr>
          </a:p>
        </p:txBody>
      </p:sp>
      <p:pic>
        <p:nvPicPr>
          <p:cNvPr id="4" name="图片 3">
            <a:extLst>
              <a:ext uri="{FF2B5EF4-FFF2-40B4-BE49-F238E27FC236}">
                <a16:creationId xmlns:a16="http://schemas.microsoft.com/office/drawing/2014/main" id="{74586C89-86FF-4019-BE91-0366AF687AF7}"/>
              </a:ext>
            </a:extLst>
          </p:cNvPr>
          <p:cNvPicPr>
            <a:picLocks noChangeAspect="1"/>
          </p:cNvPicPr>
          <p:nvPr/>
        </p:nvPicPr>
        <p:blipFill>
          <a:blip r:embed="rId6"/>
          <a:stretch>
            <a:fillRect/>
          </a:stretch>
        </p:blipFill>
        <p:spPr>
          <a:xfrm>
            <a:off x="1574447" y="4713235"/>
            <a:ext cx="2695575" cy="73342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12295"/>
                                        </p:tgtEl>
                                        <p:attrNameLst>
                                          <p:attrName>style.visibility</p:attrName>
                                        </p:attrNameLst>
                                      </p:cBhvr>
                                      <p:to>
                                        <p:strVal val="visible"/>
                                      </p:to>
                                    </p:set>
                                    <p:animEffect transition="in" filter="fade">
                                      <p:cBhvr>
                                        <p:cTn id="7" dur="2000"/>
                                        <p:tgtEl>
                                          <p:spTgt spid="12295"/>
                                        </p:tgtEl>
                                      </p:cBhvr>
                                    </p:animEffect>
                                  </p:childTnLst>
                                </p:cTn>
                              </p:par>
                            </p:childTnLst>
                          </p:cTn>
                        </p:par>
                        <p:par>
                          <p:cTn id="8" fill="hold" nodeType="afterGroup">
                            <p:stCondLst>
                              <p:cond delay="2000"/>
                            </p:stCondLst>
                            <p:childTnLst>
                              <p:par>
                                <p:cTn id="9" presetID="10" presetClass="entr" presetSubtype="0" fill="hold" grpId="0" nodeType="afterEffect">
                                  <p:stCondLst>
                                    <p:cond delay="0"/>
                                  </p:stCondLst>
                                  <p:childTnLst>
                                    <p:set>
                                      <p:cBhvr>
                                        <p:cTn id="10" dur="1" fill="hold">
                                          <p:stCondLst>
                                            <p:cond delay="0"/>
                                          </p:stCondLst>
                                        </p:cTn>
                                        <p:tgtEl>
                                          <p:spTgt spid="12299"/>
                                        </p:tgtEl>
                                        <p:attrNameLst>
                                          <p:attrName>style.visibility</p:attrName>
                                        </p:attrNameLst>
                                      </p:cBhvr>
                                      <p:to>
                                        <p:strVal val="visible"/>
                                      </p:to>
                                    </p:set>
                                    <p:animEffect transition="in" filter="fade">
                                      <p:cBhvr>
                                        <p:cTn id="11" dur="2000"/>
                                        <p:tgtEl>
                                          <p:spTgt spid="12299"/>
                                        </p:tgtEl>
                                      </p:cBhvr>
                                    </p:animEffect>
                                  </p:childTnLst>
                                </p:cTn>
                              </p:par>
                            </p:childTnLst>
                          </p:cTn>
                        </p:par>
                        <p:par>
                          <p:cTn id="12" fill="hold">
                            <p:stCondLst>
                              <p:cond delay="4000"/>
                            </p:stCondLst>
                            <p:childTnLst>
                              <p:par>
                                <p:cTn id="13" presetID="10" presetClass="entr" presetSubtype="0"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9" grpId="0"/>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a:extLst>
              <a:ext uri="{FF2B5EF4-FFF2-40B4-BE49-F238E27FC236}">
                <a16:creationId xmlns:a16="http://schemas.microsoft.com/office/drawing/2014/main" id="{AE64E449-8963-4EE0-8339-B00C23E6012B}"/>
              </a:ext>
            </a:extLst>
          </p:cNvPr>
          <p:cNvSpPr>
            <a:spLocks noChangeArrowheads="1"/>
          </p:cNvSpPr>
          <p:nvPr/>
        </p:nvSpPr>
        <p:spPr bwMode="auto">
          <a:xfrm>
            <a:off x="667063" y="1135775"/>
            <a:ext cx="11070236" cy="4015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marL="342900" indent="-342900" defTabSz="912813" eaLnBrk="0" hangingPunct="0">
              <a:defRPr kumimoji="1" sz="2400">
                <a:solidFill>
                  <a:schemeClr val="tx1"/>
                </a:solidFill>
                <a:latin typeface="Times New Roman" panose="02020603050405020304" pitchFamily="18" charset="0"/>
                <a:ea typeface="宋体" panose="02010600030101010101" pitchFamily="2" charset="-122"/>
              </a:defRPr>
            </a:lvl1pPr>
            <a:lvl2pPr marL="396875" indent="-396875" defTabSz="912813"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1" eaLnBrk="1" hangingPunct="1">
              <a:lnSpc>
                <a:spcPct val="150000"/>
              </a:lnSpc>
              <a:spcBef>
                <a:spcPct val="10000"/>
              </a:spcBef>
              <a:buClr>
                <a:schemeClr val="accent2"/>
              </a:buClr>
              <a:buFontTx/>
              <a:buBlip>
                <a:blip r:embed="rId2"/>
              </a:buBlip>
            </a:pPr>
            <a:r>
              <a:rPr kumimoji="0" lang="en-US" altLang="zh-CN" b="1" dirty="0">
                <a:ea typeface="楷体_GB2312" pitchFamily="49" charset="-122"/>
              </a:rPr>
              <a:t>L*a*b*</a:t>
            </a:r>
            <a:r>
              <a:rPr kumimoji="0" lang="zh-CN" altLang="en-US" b="1" dirty="0">
                <a:ea typeface="楷体_GB2312" pitchFamily="49" charset="-122"/>
              </a:rPr>
              <a:t>颜色空间是在</a:t>
            </a:r>
            <a:r>
              <a:rPr kumimoji="0" lang="en-US" altLang="zh-CN" b="1" dirty="0">
                <a:ea typeface="楷体_GB2312" pitchFamily="49" charset="-122"/>
              </a:rPr>
              <a:t>1976</a:t>
            </a:r>
            <a:r>
              <a:rPr kumimoji="0" lang="zh-CN" altLang="en-US" b="1" dirty="0">
                <a:ea typeface="楷体_GB2312" pitchFamily="49" charset="-122"/>
              </a:rPr>
              <a:t>年制定的，它是</a:t>
            </a:r>
            <a:r>
              <a:rPr kumimoji="0" lang="en-US" altLang="zh-CN" b="1" dirty="0">
                <a:ea typeface="楷体_GB2312" pitchFamily="49" charset="-122"/>
              </a:rPr>
              <a:t>CIE XYZ</a:t>
            </a:r>
            <a:r>
              <a:rPr kumimoji="0" lang="zh-CN" altLang="en-US" b="1" dirty="0">
                <a:ea typeface="楷体_GB2312" pitchFamily="49" charset="-122"/>
              </a:rPr>
              <a:t>颜色模型的</a:t>
            </a:r>
            <a:r>
              <a:rPr kumimoji="0" lang="zh-CN" altLang="en-US" b="1" dirty="0">
                <a:solidFill>
                  <a:srgbClr val="FF0000"/>
                </a:solidFill>
                <a:ea typeface="楷体_GB2312" pitchFamily="49" charset="-122"/>
              </a:rPr>
              <a:t>改进型</a:t>
            </a:r>
            <a:r>
              <a:rPr kumimoji="0" lang="zh-CN" altLang="en-US" b="1" dirty="0">
                <a:solidFill>
                  <a:srgbClr val="002060"/>
                </a:solidFill>
                <a:ea typeface="楷体_GB2312" pitchFamily="49" charset="-122"/>
              </a:rPr>
              <a:t>，</a:t>
            </a:r>
            <a:r>
              <a:rPr kumimoji="0" lang="zh-CN" altLang="en-US" b="1" dirty="0">
                <a:ea typeface="楷体_GB2312" pitchFamily="49" charset="-122"/>
              </a:rPr>
              <a:t>以便克服</a:t>
            </a:r>
            <a:r>
              <a:rPr kumimoji="0" lang="en-US" altLang="zh-CN" b="1" dirty="0" err="1">
                <a:ea typeface="楷体_GB2312" pitchFamily="49" charset="-122"/>
              </a:rPr>
              <a:t>Yxy</a:t>
            </a:r>
            <a:r>
              <a:rPr kumimoji="0" lang="zh-CN" altLang="en-US" b="1" dirty="0">
                <a:ea typeface="楷体_GB2312" pitchFamily="49" charset="-122"/>
              </a:rPr>
              <a:t>颜色空间存在的在</a:t>
            </a:r>
            <a:r>
              <a:rPr kumimoji="0" lang="en-US" altLang="zh-CN" b="1" dirty="0">
                <a:ea typeface="楷体_GB2312" pitchFamily="49" charset="-122"/>
              </a:rPr>
              <a:t>x</a:t>
            </a:r>
            <a:r>
              <a:rPr kumimoji="0" lang="zh-CN" altLang="en-US" b="1" dirty="0">
                <a:ea typeface="楷体_GB2312" pitchFamily="49" charset="-122"/>
              </a:rPr>
              <a:t>，</a:t>
            </a:r>
            <a:r>
              <a:rPr kumimoji="0" lang="en-US" altLang="zh-CN" b="1" dirty="0">
                <a:ea typeface="楷体_GB2312" pitchFamily="49" charset="-122"/>
              </a:rPr>
              <a:t>y</a:t>
            </a:r>
            <a:r>
              <a:rPr kumimoji="0" lang="zh-CN" altLang="en-US" b="1" dirty="0">
                <a:ea typeface="楷体_GB2312" pitchFamily="49" charset="-122"/>
              </a:rPr>
              <a:t>色度图上</a:t>
            </a:r>
            <a:r>
              <a:rPr kumimoji="0" lang="zh-CN" altLang="en-US" b="1" dirty="0">
                <a:solidFill>
                  <a:srgbClr val="FF0000"/>
                </a:solidFill>
                <a:ea typeface="楷体_GB2312" pitchFamily="49" charset="-122"/>
              </a:rPr>
              <a:t>相等的距离</a:t>
            </a:r>
            <a:r>
              <a:rPr kumimoji="0" lang="zh-CN" altLang="en-US" b="1" dirty="0">
                <a:ea typeface="楷体_GB2312" pitchFamily="49" charset="-122"/>
              </a:rPr>
              <a:t>并不相当于所觉察到的</a:t>
            </a:r>
            <a:r>
              <a:rPr kumimoji="0" lang="zh-CN" altLang="en-US" b="1" dirty="0">
                <a:solidFill>
                  <a:srgbClr val="FF0000"/>
                </a:solidFill>
                <a:ea typeface="楷体_GB2312" pitchFamily="49" charset="-122"/>
              </a:rPr>
              <a:t>相等色差</a:t>
            </a:r>
            <a:r>
              <a:rPr kumimoji="0" lang="zh-CN" altLang="en-US" b="1" dirty="0">
                <a:ea typeface="楷体_GB2312" pitchFamily="49" charset="-122"/>
              </a:rPr>
              <a:t>的问题</a:t>
            </a:r>
            <a:endParaRPr kumimoji="0" lang="en-US" altLang="zh-CN" b="1" dirty="0">
              <a:ea typeface="楷体_GB2312" pitchFamily="49" charset="-122"/>
            </a:endParaRPr>
          </a:p>
          <a:p>
            <a:pPr lvl="1" eaLnBrk="1" hangingPunct="1">
              <a:lnSpc>
                <a:spcPct val="150000"/>
              </a:lnSpc>
              <a:spcBef>
                <a:spcPct val="10000"/>
              </a:spcBef>
              <a:buClr>
                <a:schemeClr val="accent2"/>
              </a:buClr>
              <a:buFontTx/>
              <a:buBlip>
                <a:blip r:embed="rId2"/>
              </a:buBlip>
            </a:pPr>
            <a:r>
              <a:rPr kumimoji="0" lang="zh-CN" altLang="en-US" b="1" dirty="0">
                <a:ea typeface="楷体_GB2312" pitchFamily="49" charset="-122"/>
              </a:rPr>
              <a:t>“</a:t>
            </a:r>
            <a:r>
              <a:rPr kumimoji="0" lang="en-US" altLang="zh-CN" b="1" dirty="0">
                <a:ea typeface="楷体_GB2312" pitchFamily="49" charset="-122"/>
              </a:rPr>
              <a:t>L”</a:t>
            </a:r>
            <a:r>
              <a:rPr kumimoji="0" lang="zh-CN" altLang="en-US" b="1" dirty="0">
                <a:ea typeface="楷体_GB2312" pitchFamily="49" charset="-122"/>
              </a:rPr>
              <a:t>（明亮度），“</a:t>
            </a:r>
            <a:r>
              <a:rPr kumimoji="0" lang="en-US" altLang="zh-CN" b="1" dirty="0">
                <a:ea typeface="楷体_GB2312" pitchFamily="49" charset="-122"/>
              </a:rPr>
              <a:t>a </a:t>
            </a:r>
            <a:r>
              <a:rPr kumimoji="0" lang="en-US" altLang="zh-CN" b="1" dirty="0"/>
              <a:t>”</a:t>
            </a:r>
            <a:r>
              <a:rPr kumimoji="0" lang="en-US" altLang="zh-CN" dirty="0"/>
              <a:t> </a:t>
            </a:r>
            <a:r>
              <a:rPr kumimoji="0" lang="zh-CN" altLang="en-US" b="1" dirty="0">
                <a:ea typeface="楷体_GB2312" pitchFamily="49" charset="-122"/>
              </a:rPr>
              <a:t>（绿色到红色）和“</a:t>
            </a:r>
            <a:r>
              <a:rPr kumimoji="0" lang="en-US" altLang="zh-CN" b="1" dirty="0">
                <a:ea typeface="楷体_GB2312" pitchFamily="49" charset="-122"/>
              </a:rPr>
              <a:t>b”(</a:t>
            </a:r>
            <a:r>
              <a:rPr kumimoji="0" lang="zh-CN" altLang="en-US" b="1" dirty="0">
                <a:ea typeface="楷体_GB2312" pitchFamily="49" charset="-122"/>
              </a:rPr>
              <a:t>蓝色到黄色</a:t>
            </a:r>
            <a:r>
              <a:rPr kumimoji="0" lang="en-US" altLang="zh-CN" b="1" dirty="0">
                <a:ea typeface="楷体_GB2312" pitchFamily="49" charset="-122"/>
              </a:rPr>
              <a:t>)</a:t>
            </a:r>
            <a:r>
              <a:rPr kumimoji="0" lang="zh-CN" altLang="en-US" b="1" dirty="0">
                <a:ea typeface="楷体_GB2312" pitchFamily="49" charset="-122"/>
              </a:rPr>
              <a:t>代表许多的值</a:t>
            </a:r>
            <a:endParaRPr kumimoji="0" lang="en-US" altLang="zh-CN" b="1" dirty="0">
              <a:ea typeface="楷体_GB2312" pitchFamily="49" charset="-122"/>
            </a:endParaRPr>
          </a:p>
          <a:p>
            <a:pPr lvl="1" eaLnBrk="1" hangingPunct="1">
              <a:lnSpc>
                <a:spcPct val="150000"/>
              </a:lnSpc>
              <a:spcBef>
                <a:spcPct val="10000"/>
              </a:spcBef>
              <a:buClr>
                <a:schemeClr val="accent2"/>
              </a:buClr>
              <a:buFontTx/>
              <a:buBlip>
                <a:blip r:embed="rId2"/>
              </a:buBlip>
            </a:pPr>
            <a:r>
              <a:rPr kumimoji="0" lang="zh-CN" altLang="en-US" b="1" dirty="0">
                <a:ea typeface="楷体_GB2312" pitchFamily="49" charset="-122"/>
              </a:rPr>
              <a:t>与</a:t>
            </a:r>
            <a:r>
              <a:rPr kumimoji="0" lang="en-US" altLang="zh-CN" b="1" dirty="0">
                <a:ea typeface="楷体_GB2312" pitchFamily="49" charset="-122"/>
              </a:rPr>
              <a:t>XYZ</a:t>
            </a:r>
            <a:r>
              <a:rPr kumimoji="0" lang="zh-CN" altLang="en-US" b="1" dirty="0">
                <a:ea typeface="楷体_GB2312" pitchFamily="49" charset="-122"/>
              </a:rPr>
              <a:t>比较，</a:t>
            </a:r>
            <a:r>
              <a:rPr kumimoji="0" lang="en-US" altLang="zh-CN" b="1" dirty="0">
                <a:ea typeface="楷体_GB2312" pitchFamily="49" charset="-122"/>
              </a:rPr>
              <a:t>CIE L*a*b*</a:t>
            </a:r>
            <a:r>
              <a:rPr kumimoji="0" lang="zh-CN" altLang="en-US" b="1" dirty="0">
                <a:ea typeface="楷体_GB2312" pitchFamily="49" charset="-122"/>
              </a:rPr>
              <a:t>颜色</a:t>
            </a:r>
            <a:r>
              <a:rPr kumimoji="0" lang="zh-CN" altLang="en-US" b="1" dirty="0">
                <a:solidFill>
                  <a:srgbClr val="FF0000"/>
                </a:solidFill>
                <a:ea typeface="楷体_GB2312" pitchFamily="49" charset="-122"/>
              </a:rPr>
              <a:t>更适合人眼</a:t>
            </a:r>
            <a:r>
              <a:rPr kumimoji="0" lang="zh-CN" altLang="en-US" b="1" dirty="0">
                <a:ea typeface="楷体_GB2312" pitchFamily="49" charset="-122"/>
              </a:rPr>
              <a:t>的感觉</a:t>
            </a:r>
            <a:endParaRPr kumimoji="0" lang="en-US" altLang="zh-CN" b="1" dirty="0">
              <a:ea typeface="楷体_GB2312" pitchFamily="49" charset="-122"/>
            </a:endParaRPr>
          </a:p>
          <a:p>
            <a:pPr lvl="1" eaLnBrk="1" hangingPunct="1">
              <a:lnSpc>
                <a:spcPct val="150000"/>
              </a:lnSpc>
              <a:spcBef>
                <a:spcPct val="10000"/>
              </a:spcBef>
              <a:buClr>
                <a:schemeClr val="accent2"/>
              </a:buClr>
              <a:buFontTx/>
              <a:buBlip>
                <a:blip r:embed="rId2"/>
              </a:buBlip>
            </a:pPr>
            <a:r>
              <a:rPr kumimoji="0" lang="zh-CN" altLang="en-US" b="1" dirty="0">
                <a:ea typeface="楷体_GB2312" pitchFamily="49" charset="-122"/>
              </a:rPr>
              <a:t>利用</a:t>
            </a:r>
            <a:r>
              <a:rPr kumimoji="0" lang="en-US" altLang="zh-CN" b="1" dirty="0">
                <a:ea typeface="楷体_GB2312" pitchFamily="49" charset="-122"/>
              </a:rPr>
              <a:t>CIE L*a*b*</a:t>
            </a:r>
            <a:r>
              <a:rPr kumimoji="0" lang="zh-CN" altLang="en-US" b="1" dirty="0">
                <a:ea typeface="楷体_GB2312" pitchFamily="49" charset="-122"/>
              </a:rPr>
              <a:t>，颜色的亮度（</a:t>
            </a:r>
            <a:r>
              <a:rPr kumimoji="0" lang="en-US" altLang="zh-CN" b="1" dirty="0">
                <a:ea typeface="楷体_GB2312" pitchFamily="49" charset="-122"/>
              </a:rPr>
              <a:t>L</a:t>
            </a:r>
            <a:r>
              <a:rPr kumimoji="0" lang="zh-CN" altLang="en-US" b="1" dirty="0">
                <a:ea typeface="楷体_GB2312" pitchFamily="49" charset="-122"/>
              </a:rPr>
              <a:t>）、灰阶和饱和度（</a:t>
            </a:r>
            <a:r>
              <a:rPr kumimoji="0" lang="en-US" altLang="zh-CN" b="1" dirty="0">
                <a:ea typeface="楷体_GB2312" pitchFamily="49" charset="-122"/>
              </a:rPr>
              <a:t>a, b</a:t>
            </a:r>
            <a:r>
              <a:rPr kumimoji="0" lang="zh-CN" altLang="en-US" b="1" dirty="0">
                <a:ea typeface="楷体_GB2312" pitchFamily="49" charset="-122"/>
              </a:rPr>
              <a:t>）可以</a:t>
            </a:r>
            <a:r>
              <a:rPr kumimoji="0" lang="zh-CN" altLang="en-US" b="1" dirty="0">
                <a:solidFill>
                  <a:srgbClr val="FF0000"/>
                </a:solidFill>
                <a:ea typeface="楷体_GB2312" pitchFamily="49" charset="-122"/>
              </a:rPr>
              <a:t>单独修正</a:t>
            </a:r>
            <a:r>
              <a:rPr kumimoji="0" lang="zh-CN" altLang="en-US" b="1" dirty="0">
                <a:ea typeface="楷体_GB2312" pitchFamily="49" charset="-122"/>
              </a:rPr>
              <a:t>，这样，图像的整个颜色都可以在不改变图像或其亮度的情况下，发生改变</a:t>
            </a:r>
          </a:p>
        </p:txBody>
      </p:sp>
      <p:sp>
        <p:nvSpPr>
          <p:cNvPr id="3" name="标题 2">
            <a:extLst>
              <a:ext uri="{FF2B5EF4-FFF2-40B4-BE49-F238E27FC236}">
                <a16:creationId xmlns:a16="http://schemas.microsoft.com/office/drawing/2014/main" id="{9CC5FC7B-A075-47AF-AD5B-242CBE8E6789}"/>
              </a:ext>
            </a:extLst>
          </p:cNvPr>
          <p:cNvSpPr>
            <a:spLocks noGrp="1"/>
          </p:cNvSpPr>
          <p:nvPr>
            <p:ph type="title"/>
          </p:nvPr>
        </p:nvSpPr>
        <p:spPr/>
        <p:txBody>
          <a:bodyPr/>
          <a:lstStyle/>
          <a:p>
            <a:r>
              <a:rPr lang="en-US" altLang="zh-CN" dirty="0"/>
              <a:t>5.2 CIE L*a*b*</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2"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6" name="Picture 4" descr="http://www.lnnu.edu.cn/xdjyjx/CG_HTML/05/05030302.JPG">
            <a:extLst>
              <a:ext uri="{FF2B5EF4-FFF2-40B4-BE49-F238E27FC236}">
                <a16:creationId xmlns:a16="http://schemas.microsoft.com/office/drawing/2014/main" id="{D4C6F65D-FFE4-4D34-9DBF-8DAA83C259CA}"/>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1895475" y="1554164"/>
            <a:ext cx="4241800" cy="374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7" name="Rectangle 5">
            <a:extLst>
              <a:ext uri="{FF2B5EF4-FFF2-40B4-BE49-F238E27FC236}">
                <a16:creationId xmlns:a16="http://schemas.microsoft.com/office/drawing/2014/main" id="{9227FD43-16FE-4441-993A-289A73778C67}"/>
              </a:ext>
            </a:extLst>
          </p:cNvPr>
          <p:cNvSpPr>
            <a:spLocks noChangeArrowheads="1"/>
          </p:cNvSpPr>
          <p:nvPr/>
        </p:nvSpPr>
        <p:spPr bwMode="auto">
          <a:xfrm>
            <a:off x="6639941" y="2122619"/>
            <a:ext cx="3494087"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ts val="4000"/>
              </a:lnSpc>
            </a:pPr>
            <a:r>
              <a:rPr kumimoji="0" lang="en-US" altLang="zh-CN" b="1" dirty="0">
                <a:ea typeface="楷体_GB2312" pitchFamily="49" charset="-122"/>
                <a:cs typeface="Times New Roman" panose="02020603050405020304" pitchFamily="18" charset="0"/>
              </a:rPr>
              <a:t>L*a*b* </a:t>
            </a:r>
            <a:r>
              <a:rPr kumimoji="0" lang="zh-CN" altLang="en-US" b="1" dirty="0">
                <a:ea typeface="楷体_GB2312" pitchFamily="49" charset="-122"/>
                <a:cs typeface="Times New Roman" panose="02020603050405020304" pitchFamily="18" charset="0"/>
              </a:rPr>
              <a:t>的概念图</a:t>
            </a:r>
            <a:endParaRPr kumimoji="0" lang="en-US" altLang="zh-CN" b="1" dirty="0">
              <a:ea typeface="楷体_GB2312" pitchFamily="49" charset="-122"/>
              <a:cs typeface="Times New Roman" panose="02020603050405020304" pitchFamily="18" charset="0"/>
            </a:endParaRPr>
          </a:p>
          <a:p>
            <a:pPr lvl="1" eaLnBrk="1" hangingPunct="1">
              <a:lnSpc>
                <a:spcPts val="4000"/>
              </a:lnSpc>
            </a:pPr>
            <a:r>
              <a:rPr kumimoji="0" lang="en-US" altLang="zh-CN" b="1" dirty="0">
                <a:ea typeface="楷体_GB2312" pitchFamily="49" charset="-122"/>
                <a:cs typeface="Times New Roman" panose="02020603050405020304" pitchFamily="18" charset="0"/>
              </a:rPr>
              <a:t>L:  </a:t>
            </a:r>
            <a:r>
              <a:rPr kumimoji="0" lang="zh-CN" altLang="en-US" b="1" dirty="0">
                <a:ea typeface="楷体_GB2312" pitchFamily="49" charset="-122"/>
                <a:cs typeface="Times New Roman" panose="02020603050405020304" pitchFamily="18" charset="0"/>
              </a:rPr>
              <a:t>明亮度</a:t>
            </a:r>
          </a:p>
          <a:p>
            <a:pPr lvl="1" eaLnBrk="1" hangingPunct="1">
              <a:lnSpc>
                <a:spcPts val="4000"/>
              </a:lnSpc>
            </a:pPr>
            <a:r>
              <a:rPr kumimoji="0" lang="en-US" altLang="zh-CN" b="1" dirty="0">
                <a:ea typeface="楷体_GB2312" pitchFamily="49" charset="-122"/>
                <a:cs typeface="Times New Roman" panose="02020603050405020304" pitchFamily="18" charset="0"/>
              </a:rPr>
              <a:t>a:  </a:t>
            </a:r>
            <a:r>
              <a:rPr kumimoji="0" lang="zh-CN" altLang="en-US" b="1" dirty="0">
                <a:ea typeface="楷体_GB2312" pitchFamily="49" charset="-122"/>
                <a:cs typeface="Times New Roman" panose="02020603050405020304" pitchFamily="18" charset="0"/>
              </a:rPr>
              <a:t>从绿色到红色</a:t>
            </a:r>
          </a:p>
          <a:p>
            <a:pPr lvl="1" eaLnBrk="1" hangingPunct="1">
              <a:lnSpc>
                <a:spcPts val="4000"/>
              </a:lnSpc>
            </a:pPr>
            <a:r>
              <a:rPr kumimoji="0" lang="en-US" altLang="zh-CN" b="1" dirty="0">
                <a:ea typeface="楷体_GB2312" pitchFamily="49" charset="-122"/>
                <a:cs typeface="Times New Roman" panose="02020603050405020304" pitchFamily="18" charset="0"/>
              </a:rPr>
              <a:t>b:  </a:t>
            </a:r>
            <a:r>
              <a:rPr kumimoji="0" lang="zh-CN" altLang="en-US" b="1" dirty="0">
                <a:ea typeface="楷体_GB2312" pitchFamily="49" charset="-122"/>
                <a:cs typeface="Times New Roman" panose="02020603050405020304" pitchFamily="18" charset="0"/>
              </a:rPr>
              <a:t>从蓝色到黄色</a:t>
            </a:r>
          </a:p>
        </p:txBody>
      </p:sp>
      <p:sp>
        <p:nvSpPr>
          <p:cNvPr id="3" name="标题 2">
            <a:extLst>
              <a:ext uri="{FF2B5EF4-FFF2-40B4-BE49-F238E27FC236}">
                <a16:creationId xmlns:a16="http://schemas.microsoft.com/office/drawing/2014/main" id="{721C6800-1ED3-4B52-A662-0CA2DE90E439}"/>
              </a:ext>
            </a:extLst>
          </p:cNvPr>
          <p:cNvSpPr>
            <a:spLocks noGrp="1"/>
          </p:cNvSpPr>
          <p:nvPr>
            <p:ph type="title"/>
          </p:nvPr>
        </p:nvSpPr>
        <p:spPr/>
        <p:txBody>
          <a:bodyPr/>
          <a:lstStyle/>
          <a:p>
            <a:r>
              <a:rPr lang="en-US" altLang="zh-CN" dirty="0"/>
              <a:t>5.2 CIE L*a*b*</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2" fill="hold" nodeType="afterEffect">
                                  <p:stCondLst>
                                    <p:cond delay="0"/>
                                  </p:stCondLst>
                                  <p:childTnLst>
                                    <p:set>
                                      <p:cBhvr>
                                        <p:cTn id="6" dur="1" fill="hold">
                                          <p:stCondLst>
                                            <p:cond delay="0"/>
                                          </p:stCondLst>
                                        </p:cTn>
                                        <p:tgtEl>
                                          <p:spTgt spid="49156"/>
                                        </p:tgtEl>
                                        <p:attrNameLst>
                                          <p:attrName>style.visibility</p:attrName>
                                        </p:attrNameLst>
                                      </p:cBhvr>
                                      <p:to>
                                        <p:strVal val="visible"/>
                                      </p:to>
                                    </p:set>
                                    <p:anim calcmode="lin" valueType="num">
                                      <p:cBhvr additive="base">
                                        <p:cTn id="7" dur="500" fill="hold"/>
                                        <p:tgtEl>
                                          <p:spTgt spid="49156"/>
                                        </p:tgtEl>
                                        <p:attrNameLst>
                                          <p:attrName>ppt_x</p:attrName>
                                        </p:attrNameLst>
                                      </p:cBhvr>
                                      <p:tavLst>
                                        <p:tav tm="0">
                                          <p:val>
                                            <p:strVal val="0-#ppt_w/2"/>
                                          </p:val>
                                        </p:tav>
                                        <p:tav tm="100000">
                                          <p:val>
                                            <p:strVal val="#ppt_x"/>
                                          </p:val>
                                        </p:tav>
                                      </p:tavLst>
                                    </p:anim>
                                    <p:anim calcmode="lin" valueType="num">
                                      <p:cBhvr additive="base">
                                        <p:cTn id="8" dur="500" fill="hold"/>
                                        <p:tgtEl>
                                          <p:spTgt spid="49156"/>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12" fill="hold" grpId="0" nodeType="afterEffect">
                                  <p:stCondLst>
                                    <p:cond delay="0"/>
                                  </p:stCondLst>
                                  <p:childTnLst>
                                    <p:set>
                                      <p:cBhvr>
                                        <p:cTn id="11" dur="1" fill="hold">
                                          <p:stCondLst>
                                            <p:cond delay="0"/>
                                          </p:stCondLst>
                                        </p:cTn>
                                        <p:tgtEl>
                                          <p:spTgt spid="49157"/>
                                        </p:tgtEl>
                                        <p:attrNameLst>
                                          <p:attrName>style.visibility</p:attrName>
                                        </p:attrNameLst>
                                      </p:cBhvr>
                                      <p:to>
                                        <p:strVal val="visible"/>
                                      </p:to>
                                    </p:set>
                                    <p:anim calcmode="lin" valueType="num">
                                      <p:cBhvr additive="base">
                                        <p:cTn id="12" dur="500" fill="hold"/>
                                        <p:tgtEl>
                                          <p:spTgt spid="49157"/>
                                        </p:tgtEl>
                                        <p:attrNameLst>
                                          <p:attrName>ppt_x</p:attrName>
                                        </p:attrNameLst>
                                      </p:cBhvr>
                                      <p:tavLst>
                                        <p:tav tm="0">
                                          <p:val>
                                            <p:strVal val="0-#ppt_w/2"/>
                                          </p:val>
                                        </p:tav>
                                        <p:tav tm="100000">
                                          <p:val>
                                            <p:strVal val="#ppt_x"/>
                                          </p:val>
                                        </p:tav>
                                      </p:tavLst>
                                    </p:anim>
                                    <p:anim calcmode="lin" valueType="num">
                                      <p:cBhvr additive="base">
                                        <p:cTn id="13" dur="500" fill="hold"/>
                                        <p:tgtEl>
                                          <p:spTgt spid="4915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9" name="Rectangle 3">
            <a:extLst>
              <a:ext uri="{FF2B5EF4-FFF2-40B4-BE49-F238E27FC236}">
                <a16:creationId xmlns:a16="http://schemas.microsoft.com/office/drawing/2014/main" id="{B3B7E85B-79BB-45E7-A38A-31CEDF7F156F}"/>
              </a:ext>
            </a:extLst>
          </p:cNvPr>
          <p:cNvSpPr>
            <a:spLocks noChangeArrowheads="1"/>
          </p:cNvSpPr>
          <p:nvPr/>
        </p:nvSpPr>
        <p:spPr bwMode="auto">
          <a:xfrm>
            <a:off x="587130" y="996995"/>
            <a:ext cx="11017739" cy="5025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marL="342900" indent="-342900" defTabSz="912813" eaLnBrk="0" hangingPunct="0">
              <a:defRPr kumimoji="1" sz="2400">
                <a:solidFill>
                  <a:schemeClr val="tx1"/>
                </a:solidFill>
                <a:latin typeface="Times New Roman" panose="02020603050405020304" pitchFamily="18" charset="0"/>
                <a:ea typeface="宋体" panose="02010600030101010101" pitchFamily="2" charset="-122"/>
              </a:defRPr>
            </a:lvl1pPr>
            <a:lvl2pPr marL="396875" indent="-396875" defTabSz="912813" eaLnBrk="0" hangingPunct="0">
              <a:defRPr kumimoji="1" sz="2400">
                <a:solidFill>
                  <a:schemeClr val="tx1"/>
                </a:solidFill>
                <a:latin typeface="Times New Roman" panose="02020603050405020304" pitchFamily="18" charset="0"/>
                <a:ea typeface="宋体" panose="02010600030101010101" pitchFamily="2" charset="-122"/>
              </a:defRPr>
            </a:lvl2pPr>
            <a:lvl3pPr marL="990600" indent="-365125" defTabSz="912813"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1" eaLnBrk="1" hangingPunct="1">
              <a:lnSpc>
                <a:spcPct val="120000"/>
              </a:lnSpc>
              <a:spcBef>
                <a:spcPts val="600"/>
              </a:spcBef>
              <a:buClr>
                <a:schemeClr val="accent2"/>
              </a:buClr>
              <a:buBlip>
                <a:blip r:embed="rId2"/>
              </a:buBlip>
            </a:pPr>
            <a:r>
              <a:rPr kumimoji="0" lang="zh-CN" altLang="en-US" b="1" dirty="0">
                <a:ea typeface="楷体_GB2312" pitchFamily="49" charset="-122"/>
              </a:rPr>
              <a:t>在现代彩色电视系统中，通常采用三管彩色摄像机或彩色</a:t>
            </a:r>
            <a:r>
              <a:rPr kumimoji="0" lang="en-US" altLang="zh-CN" b="1" dirty="0">
                <a:ea typeface="楷体_GB2312" pitchFamily="49" charset="-122"/>
              </a:rPr>
              <a:t>CCD</a:t>
            </a:r>
            <a:r>
              <a:rPr kumimoji="0" lang="zh-CN" altLang="en-US" b="1" dirty="0">
                <a:ea typeface="楷体_GB2312" pitchFamily="49" charset="-122"/>
              </a:rPr>
              <a:t>（点耦合器件）摄像机，它把摄得的彩色图像信号</a:t>
            </a:r>
            <a:endParaRPr kumimoji="0" lang="en-US" altLang="zh-CN" b="1" dirty="0">
              <a:ea typeface="楷体_GB2312" pitchFamily="49" charset="-122"/>
            </a:endParaRPr>
          </a:p>
          <a:p>
            <a:pPr lvl="2" eaLnBrk="1" hangingPunct="1">
              <a:lnSpc>
                <a:spcPct val="120000"/>
              </a:lnSpc>
              <a:spcBef>
                <a:spcPts val="600"/>
              </a:spcBef>
              <a:buFont typeface="Wingdings" panose="05000000000000000000" pitchFamily="2" charset="2"/>
              <a:buChar char="Ø"/>
            </a:pPr>
            <a:r>
              <a:rPr kumimoji="0" lang="zh-CN" altLang="en-US" b="1" dirty="0">
                <a:ea typeface="楷体_GB2312" pitchFamily="49" charset="-122"/>
              </a:rPr>
              <a:t>经分色、分别放大校正得到</a:t>
            </a:r>
            <a:r>
              <a:rPr kumimoji="0" lang="en-US" altLang="zh-CN" b="1" dirty="0">
                <a:ea typeface="楷体_GB2312" pitchFamily="49" charset="-122"/>
              </a:rPr>
              <a:t>RGB</a:t>
            </a:r>
          </a:p>
          <a:p>
            <a:pPr lvl="2" eaLnBrk="1" hangingPunct="1">
              <a:lnSpc>
                <a:spcPct val="120000"/>
              </a:lnSpc>
              <a:spcBef>
                <a:spcPts val="600"/>
              </a:spcBef>
              <a:buFont typeface="Wingdings" panose="05000000000000000000" pitchFamily="2" charset="2"/>
              <a:buChar char="Ø"/>
            </a:pPr>
            <a:r>
              <a:rPr kumimoji="0" lang="zh-CN" altLang="en-US" b="1" dirty="0">
                <a:ea typeface="楷体_GB2312" pitchFamily="49" charset="-122"/>
              </a:rPr>
              <a:t>再经过矩阵变换电路得到</a:t>
            </a:r>
            <a:r>
              <a:rPr kumimoji="0" lang="zh-CN" altLang="en-US" b="1" dirty="0">
                <a:solidFill>
                  <a:srgbClr val="FF0000"/>
                </a:solidFill>
                <a:ea typeface="楷体_GB2312" pitchFamily="49" charset="-122"/>
              </a:rPr>
              <a:t>亮度信号</a:t>
            </a:r>
            <a:r>
              <a:rPr kumimoji="0" lang="en-US" altLang="zh-CN" b="1" dirty="0">
                <a:solidFill>
                  <a:srgbClr val="FF0000"/>
                </a:solidFill>
                <a:ea typeface="楷体_GB2312" pitchFamily="49" charset="-122"/>
              </a:rPr>
              <a:t>Y</a:t>
            </a:r>
            <a:r>
              <a:rPr kumimoji="0" lang="zh-CN" altLang="en-US" b="1" dirty="0">
                <a:ea typeface="楷体_GB2312" pitchFamily="49" charset="-122"/>
              </a:rPr>
              <a:t>和两个</a:t>
            </a:r>
            <a:r>
              <a:rPr kumimoji="0" lang="zh-CN" altLang="en-US" b="1" dirty="0">
                <a:solidFill>
                  <a:srgbClr val="FF0000"/>
                </a:solidFill>
                <a:ea typeface="楷体_GB2312" pitchFamily="49" charset="-122"/>
              </a:rPr>
              <a:t>色差信号</a:t>
            </a:r>
            <a:r>
              <a:rPr kumimoji="0" lang="en-US" altLang="zh-CN" b="1" dirty="0">
                <a:ea typeface="楷体_GB2312" pitchFamily="49" charset="-122"/>
              </a:rPr>
              <a:t>R</a:t>
            </a:r>
            <a:r>
              <a:rPr kumimoji="0" lang="zh-CN" altLang="en-US" b="1" dirty="0">
                <a:ea typeface="楷体_GB2312" pitchFamily="49" charset="-122"/>
              </a:rPr>
              <a:t>－</a:t>
            </a:r>
            <a:r>
              <a:rPr kumimoji="0" lang="en-US" altLang="zh-CN" b="1" dirty="0">
                <a:ea typeface="楷体_GB2312" pitchFamily="49" charset="-122"/>
              </a:rPr>
              <a:t>Y</a:t>
            </a:r>
            <a:r>
              <a:rPr kumimoji="0" lang="zh-CN" altLang="en-US" b="1" dirty="0">
                <a:ea typeface="楷体_GB2312" pitchFamily="49" charset="-122"/>
              </a:rPr>
              <a:t>、</a:t>
            </a:r>
            <a:r>
              <a:rPr kumimoji="0" lang="en-US" altLang="zh-CN" b="1" dirty="0">
                <a:ea typeface="楷体_GB2312" pitchFamily="49" charset="-122"/>
              </a:rPr>
              <a:t>B</a:t>
            </a:r>
            <a:r>
              <a:rPr kumimoji="0" lang="zh-CN" altLang="en-US" b="1" dirty="0">
                <a:ea typeface="楷体_GB2312" pitchFamily="49" charset="-122"/>
              </a:rPr>
              <a:t>－</a:t>
            </a:r>
            <a:r>
              <a:rPr kumimoji="0" lang="en-US" altLang="zh-CN" b="1" dirty="0">
                <a:ea typeface="楷体_GB2312" pitchFamily="49" charset="-122"/>
              </a:rPr>
              <a:t>Y</a:t>
            </a:r>
          </a:p>
          <a:p>
            <a:pPr lvl="2" eaLnBrk="1" hangingPunct="1">
              <a:lnSpc>
                <a:spcPct val="120000"/>
              </a:lnSpc>
              <a:spcBef>
                <a:spcPts val="600"/>
              </a:spcBef>
              <a:buFont typeface="Wingdings" panose="05000000000000000000" pitchFamily="2" charset="2"/>
              <a:buChar char="Ø"/>
            </a:pPr>
            <a:r>
              <a:rPr kumimoji="0" lang="zh-CN" altLang="en-US" b="1" dirty="0">
                <a:ea typeface="楷体_GB2312" pitchFamily="49" charset="-122"/>
              </a:rPr>
              <a:t>最后发送端将亮度和色差三个信号分别进行编码，用同一信道发送出去</a:t>
            </a:r>
            <a:endParaRPr kumimoji="0" lang="en-US" altLang="zh-CN" b="1" dirty="0">
              <a:ea typeface="楷体_GB2312" pitchFamily="49" charset="-122"/>
            </a:endParaRPr>
          </a:p>
          <a:p>
            <a:pPr lvl="1" eaLnBrk="1" hangingPunct="1">
              <a:lnSpc>
                <a:spcPct val="120000"/>
              </a:lnSpc>
              <a:spcBef>
                <a:spcPts val="600"/>
              </a:spcBef>
              <a:buClr>
                <a:schemeClr val="accent2"/>
              </a:buClr>
              <a:buBlip>
                <a:blip r:embed="rId2"/>
              </a:buBlip>
            </a:pPr>
            <a:r>
              <a:rPr kumimoji="0" lang="zh-CN" altLang="en-US" b="1" dirty="0">
                <a:ea typeface="楷体_GB2312" pitchFamily="49" charset="-122"/>
              </a:rPr>
              <a:t>这就是常用的</a:t>
            </a:r>
            <a:r>
              <a:rPr kumimoji="0" lang="en-US" altLang="zh-CN" b="1" dirty="0">
                <a:solidFill>
                  <a:srgbClr val="FF0000"/>
                </a:solidFill>
                <a:ea typeface="楷体_GB2312" pitchFamily="49" charset="-122"/>
              </a:rPr>
              <a:t>YUV</a:t>
            </a:r>
            <a:r>
              <a:rPr kumimoji="0" lang="zh-CN" altLang="en-US" b="1" dirty="0">
                <a:solidFill>
                  <a:srgbClr val="FF0000"/>
                </a:solidFill>
                <a:ea typeface="楷体_GB2312" pitchFamily="49" charset="-122"/>
              </a:rPr>
              <a:t>颜色空间</a:t>
            </a:r>
            <a:endParaRPr kumimoji="0" lang="en-US" altLang="zh-CN" b="1" dirty="0">
              <a:solidFill>
                <a:srgbClr val="FF0000"/>
              </a:solidFill>
              <a:ea typeface="楷体_GB2312" pitchFamily="49" charset="-122"/>
            </a:endParaRPr>
          </a:p>
          <a:p>
            <a:pPr lvl="1" eaLnBrk="1" hangingPunct="1">
              <a:lnSpc>
                <a:spcPct val="120000"/>
              </a:lnSpc>
              <a:spcBef>
                <a:spcPts val="600"/>
              </a:spcBef>
              <a:buClr>
                <a:schemeClr val="accent2"/>
              </a:buClr>
              <a:buBlip>
                <a:blip r:embed="rId2"/>
              </a:buBlip>
            </a:pPr>
            <a:r>
              <a:rPr kumimoji="0" lang="zh-CN" altLang="en-US" b="1" dirty="0">
                <a:ea typeface="楷体_GB2312" pitchFamily="49" charset="-122"/>
              </a:rPr>
              <a:t>采用</a:t>
            </a:r>
            <a:r>
              <a:rPr kumimoji="0" lang="en-US" altLang="zh-CN" b="1" dirty="0">
                <a:ea typeface="楷体_GB2312" pitchFamily="49" charset="-122"/>
              </a:rPr>
              <a:t>YUV</a:t>
            </a:r>
            <a:r>
              <a:rPr kumimoji="0" lang="zh-CN" altLang="en-US" b="1" dirty="0">
                <a:ea typeface="楷体_GB2312" pitchFamily="49" charset="-122"/>
              </a:rPr>
              <a:t>颜色空间的重要性是它的</a:t>
            </a:r>
            <a:r>
              <a:rPr kumimoji="0" lang="zh-CN" altLang="en-US" b="1" dirty="0">
                <a:solidFill>
                  <a:srgbClr val="FF0000"/>
                </a:solidFill>
                <a:ea typeface="楷体_GB2312" pitchFamily="49" charset="-122"/>
              </a:rPr>
              <a:t>亮度信号</a:t>
            </a:r>
            <a:r>
              <a:rPr kumimoji="0" lang="en-US" altLang="zh-CN" b="1" dirty="0">
                <a:solidFill>
                  <a:srgbClr val="FF0000"/>
                </a:solidFill>
                <a:ea typeface="楷体_GB2312" pitchFamily="49" charset="-122"/>
              </a:rPr>
              <a:t>Y</a:t>
            </a:r>
            <a:r>
              <a:rPr kumimoji="0" lang="zh-CN" altLang="en-US" b="1" dirty="0">
                <a:solidFill>
                  <a:srgbClr val="FF0000"/>
                </a:solidFill>
                <a:ea typeface="楷体_GB2312" pitchFamily="49" charset="-122"/>
              </a:rPr>
              <a:t>和色度信号</a:t>
            </a:r>
            <a:r>
              <a:rPr kumimoji="0" lang="en-US" altLang="zh-CN" b="1" dirty="0">
                <a:solidFill>
                  <a:srgbClr val="FF0000"/>
                </a:solidFill>
                <a:ea typeface="楷体_GB2312" pitchFamily="49" charset="-122"/>
              </a:rPr>
              <a:t>U</a:t>
            </a:r>
            <a:r>
              <a:rPr kumimoji="0" lang="zh-CN" altLang="en-US" b="1" dirty="0">
                <a:solidFill>
                  <a:srgbClr val="FF0000"/>
                </a:solidFill>
                <a:ea typeface="楷体_GB2312" pitchFamily="49" charset="-122"/>
              </a:rPr>
              <a:t>、</a:t>
            </a:r>
            <a:r>
              <a:rPr kumimoji="0" lang="en-US" altLang="zh-CN" b="1" dirty="0">
                <a:solidFill>
                  <a:srgbClr val="FF0000"/>
                </a:solidFill>
                <a:ea typeface="楷体_GB2312" pitchFamily="49" charset="-122"/>
              </a:rPr>
              <a:t>V</a:t>
            </a:r>
            <a:r>
              <a:rPr kumimoji="0" lang="zh-CN" altLang="en-US" b="1" dirty="0">
                <a:solidFill>
                  <a:srgbClr val="FF0000"/>
                </a:solidFill>
                <a:ea typeface="楷体_GB2312" pitchFamily="49" charset="-122"/>
              </a:rPr>
              <a:t>是分离的</a:t>
            </a:r>
            <a:endParaRPr kumimoji="0" lang="en-US" altLang="zh-CN" b="1" dirty="0">
              <a:solidFill>
                <a:srgbClr val="FF0000"/>
              </a:solidFill>
              <a:ea typeface="楷体_GB2312" pitchFamily="49" charset="-122"/>
            </a:endParaRPr>
          </a:p>
          <a:p>
            <a:pPr lvl="1" eaLnBrk="1" hangingPunct="1">
              <a:lnSpc>
                <a:spcPct val="120000"/>
              </a:lnSpc>
              <a:spcBef>
                <a:spcPts val="600"/>
              </a:spcBef>
              <a:buClr>
                <a:schemeClr val="accent2"/>
              </a:buClr>
              <a:buBlip>
                <a:blip r:embed="rId2"/>
              </a:buBlip>
            </a:pPr>
            <a:r>
              <a:rPr kumimoji="0" lang="zh-CN" altLang="en-US" b="1" dirty="0">
                <a:ea typeface="楷体_GB2312" pitchFamily="49" charset="-122"/>
              </a:rPr>
              <a:t>如果</a:t>
            </a:r>
            <a:r>
              <a:rPr kumimoji="0" lang="zh-CN" altLang="en-US" b="1" dirty="0">
                <a:solidFill>
                  <a:srgbClr val="FF0000"/>
                </a:solidFill>
                <a:ea typeface="楷体_GB2312" pitchFamily="49" charset="-122"/>
              </a:rPr>
              <a:t>只有</a:t>
            </a:r>
            <a:r>
              <a:rPr kumimoji="0" lang="en-US" altLang="zh-CN" b="1" dirty="0">
                <a:solidFill>
                  <a:srgbClr val="FF0000"/>
                </a:solidFill>
                <a:ea typeface="楷体_GB2312" pitchFamily="49" charset="-122"/>
              </a:rPr>
              <a:t>Y</a:t>
            </a:r>
            <a:r>
              <a:rPr kumimoji="0" lang="zh-CN" altLang="en-US" b="1" dirty="0">
                <a:solidFill>
                  <a:srgbClr val="FF0000"/>
                </a:solidFill>
                <a:ea typeface="楷体_GB2312" pitchFamily="49" charset="-122"/>
              </a:rPr>
              <a:t>信号分量</a:t>
            </a:r>
            <a:r>
              <a:rPr kumimoji="0" lang="zh-CN" altLang="en-US" b="1" dirty="0">
                <a:ea typeface="楷体_GB2312" pitchFamily="49" charset="-122"/>
              </a:rPr>
              <a:t>而没有</a:t>
            </a:r>
            <a:r>
              <a:rPr kumimoji="0" lang="en-US" altLang="zh-CN" b="1" dirty="0">
                <a:ea typeface="楷体_GB2312" pitchFamily="49" charset="-122"/>
              </a:rPr>
              <a:t>U</a:t>
            </a:r>
            <a:r>
              <a:rPr kumimoji="0" lang="zh-CN" altLang="en-US" b="1" dirty="0">
                <a:ea typeface="楷体_GB2312" pitchFamily="49" charset="-122"/>
              </a:rPr>
              <a:t>、</a:t>
            </a:r>
            <a:r>
              <a:rPr kumimoji="0" lang="en-US" altLang="zh-CN" b="1" dirty="0">
                <a:ea typeface="楷体_GB2312" pitchFamily="49" charset="-122"/>
              </a:rPr>
              <a:t>V</a:t>
            </a:r>
            <a:r>
              <a:rPr kumimoji="0" lang="zh-CN" altLang="en-US" b="1" dirty="0">
                <a:ea typeface="楷体_GB2312" pitchFamily="49" charset="-122"/>
              </a:rPr>
              <a:t>分量，那么这样表示的图就是</a:t>
            </a:r>
            <a:r>
              <a:rPr kumimoji="0" lang="zh-CN" altLang="en-US" b="1" dirty="0">
                <a:solidFill>
                  <a:srgbClr val="FF0000"/>
                </a:solidFill>
                <a:ea typeface="楷体_GB2312" pitchFamily="49" charset="-122"/>
              </a:rPr>
              <a:t>黑白灰度图</a:t>
            </a:r>
            <a:endParaRPr kumimoji="0" lang="en-US" altLang="zh-CN" b="1" dirty="0">
              <a:solidFill>
                <a:srgbClr val="FF0000"/>
              </a:solidFill>
              <a:ea typeface="楷体_GB2312" pitchFamily="49" charset="-122"/>
            </a:endParaRPr>
          </a:p>
          <a:p>
            <a:pPr lvl="1" eaLnBrk="1" hangingPunct="1">
              <a:lnSpc>
                <a:spcPct val="120000"/>
              </a:lnSpc>
              <a:spcBef>
                <a:spcPts val="600"/>
              </a:spcBef>
              <a:buClr>
                <a:schemeClr val="accent2"/>
              </a:buClr>
              <a:buBlip>
                <a:blip r:embed="rId2"/>
              </a:buBlip>
            </a:pPr>
            <a:r>
              <a:rPr kumimoji="0" lang="zh-CN" altLang="en-US" b="1" dirty="0">
                <a:ea typeface="楷体_GB2312" pitchFamily="49" charset="-122"/>
              </a:rPr>
              <a:t>彩色电视采用</a:t>
            </a:r>
            <a:r>
              <a:rPr kumimoji="0" lang="en-US" altLang="zh-CN" b="1" dirty="0">
                <a:ea typeface="楷体_GB2312" pitchFamily="49" charset="-122"/>
              </a:rPr>
              <a:t>YUV</a:t>
            </a:r>
            <a:r>
              <a:rPr kumimoji="0" lang="zh-CN" altLang="en-US" b="1" dirty="0">
                <a:ea typeface="楷体_GB2312" pitchFamily="49" charset="-122"/>
              </a:rPr>
              <a:t>空间正是为了用亮度信号</a:t>
            </a:r>
            <a:r>
              <a:rPr kumimoji="0" lang="en-US" altLang="zh-CN" b="1" dirty="0">
                <a:ea typeface="楷体_GB2312" pitchFamily="49" charset="-122"/>
              </a:rPr>
              <a:t>Y</a:t>
            </a:r>
            <a:r>
              <a:rPr kumimoji="0" lang="zh-CN" altLang="en-US" b="1" dirty="0">
                <a:ea typeface="楷体_GB2312" pitchFamily="49" charset="-122"/>
              </a:rPr>
              <a:t>解决彩色电视机与黑白电视机的兼容问题，使黑白电视机也能接收彩色信号</a:t>
            </a:r>
            <a:r>
              <a:rPr kumimoji="0" lang="zh-CN" altLang="en-US" b="1" dirty="0">
                <a:solidFill>
                  <a:srgbClr val="002060"/>
                </a:solidFill>
                <a:ea typeface="楷体_GB2312" pitchFamily="49" charset="-122"/>
              </a:rPr>
              <a:t> </a:t>
            </a:r>
          </a:p>
        </p:txBody>
      </p:sp>
      <p:sp>
        <p:nvSpPr>
          <p:cNvPr id="3" name="标题 2">
            <a:extLst>
              <a:ext uri="{FF2B5EF4-FFF2-40B4-BE49-F238E27FC236}">
                <a16:creationId xmlns:a16="http://schemas.microsoft.com/office/drawing/2014/main" id="{55F007A5-70CB-44D6-B49F-E65DB89013CE}"/>
              </a:ext>
            </a:extLst>
          </p:cNvPr>
          <p:cNvSpPr>
            <a:spLocks noGrp="1"/>
          </p:cNvSpPr>
          <p:nvPr>
            <p:ph type="title"/>
          </p:nvPr>
        </p:nvSpPr>
        <p:spPr/>
        <p:txBody>
          <a:bodyPr/>
          <a:lstStyle/>
          <a:p>
            <a:r>
              <a:rPr lang="en-US" altLang="zh-CN" dirty="0"/>
              <a:t>5.3 CIE YUV</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withEffect">
                                  <p:stCondLst>
                                    <p:cond delay="0"/>
                                  </p:stCondLst>
                                  <p:childTnLst>
                                    <p:set>
                                      <p:cBhvr>
                                        <p:cTn id="6" dur="1" fill="hold">
                                          <p:stCondLst>
                                            <p:cond delay="0"/>
                                          </p:stCondLst>
                                        </p:cTn>
                                        <p:tgtEl>
                                          <p:spTgt spid="13319"/>
                                        </p:tgtEl>
                                        <p:attrNameLst>
                                          <p:attrName>style.visibility</p:attrName>
                                        </p:attrNameLst>
                                      </p:cBhvr>
                                      <p:to>
                                        <p:strVal val="visible"/>
                                      </p:to>
                                    </p:set>
                                    <p:animEffect transition="in" filter="checkerboard(across)">
                                      <p:cBhvr>
                                        <p:cTn id="7" dur="500"/>
                                        <p:tgtEl>
                                          <p:spTgt spid="133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21" name="Rectangle 5">
            <a:extLst>
              <a:ext uri="{FF2B5EF4-FFF2-40B4-BE49-F238E27FC236}">
                <a16:creationId xmlns:a16="http://schemas.microsoft.com/office/drawing/2014/main" id="{92310B58-D278-4512-BF9D-9BB3F03C8489}"/>
              </a:ext>
            </a:extLst>
          </p:cNvPr>
          <p:cNvSpPr>
            <a:spLocks noChangeArrowheads="1"/>
          </p:cNvSpPr>
          <p:nvPr/>
        </p:nvSpPr>
        <p:spPr bwMode="auto">
          <a:xfrm>
            <a:off x="771994" y="1218241"/>
            <a:ext cx="10950315" cy="1075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ts val="4000"/>
              </a:lnSpc>
            </a:pPr>
            <a:r>
              <a:rPr kumimoji="0" lang="zh-CN" altLang="en-US" b="1" dirty="0">
                <a:ea typeface="楷体_GB2312" pitchFamily="49" charset="-122"/>
              </a:rPr>
              <a:t>根据美国国家电视制式委员会，</a:t>
            </a:r>
            <a:r>
              <a:rPr kumimoji="0" lang="en-US" altLang="zh-CN" b="1" dirty="0">
                <a:ea typeface="楷体_GB2312" pitchFamily="49" charset="-122"/>
              </a:rPr>
              <a:t>NTSC</a:t>
            </a:r>
            <a:r>
              <a:rPr kumimoji="0" lang="zh-CN" altLang="en-US" b="1" dirty="0">
                <a:ea typeface="楷体_GB2312" pitchFamily="49" charset="-122"/>
              </a:rPr>
              <a:t>制式的标准，当白光的亮度用</a:t>
            </a:r>
            <a:r>
              <a:rPr kumimoji="0" lang="en-US" altLang="zh-CN" b="1" dirty="0">
                <a:ea typeface="楷体_GB2312" pitchFamily="49" charset="-122"/>
              </a:rPr>
              <a:t>Y</a:t>
            </a:r>
            <a:r>
              <a:rPr kumimoji="0" lang="zh-CN" altLang="en-US" b="1" dirty="0">
                <a:ea typeface="楷体_GB2312" pitchFamily="49" charset="-122"/>
              </a:rPr>
              <a:t>来表示时，它和红、绿、蓝三色光的关系可用如下式的方程描述： </a:t>
            </a:r>
          </a:p>
        </p:txBody>
      </p:sp>
      <p:sp>
        <p:nvSpPr>
          <p:cNvPr id="12" name="圆角矩形 11">
            <a:extLst>
              <a:ext uri="{FF2B5EF4-FFF2-40B4-BE49-F238E27FC236}">
                <a16:creationId xmlns:a16="http://schemas.microsoft.com/office/drawing/2014/main" id="{B6F3ED3B-2990-4120-A9F8-9A06B3F5BEE2}"/>
              </a:ext>
            </a:extLst>
          </p:cNvPr>
          <p:cNvSpPr/>
          <p:nvPr/>
        </p:nvSpPr>
        <p:spPr bwMode="auto">
          <a:xfrm>
            <a:off x="3104409" y="2826468"/>
            <a:ext cx="5551911" cy="1027550"/>
          </a:xfrm>
          <a:prstGeom prst="roundRect">
            <a:avLst/>
          </a:prstGeom>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wrap="none"/>
          <a:lstStyle/>
          <a:p>
            <a:pPr>
              <a:defRPr/>
            </a:pPr>
            <a:endParaRPr lang="zh-CN" altLang="en-US">
              <a:solidFill>
                <a:schemeClr val="tx1"/>
              </a:solidFill>
              <a:latin typeface="Times New Roman" pitchFamily="18" charset="0"/>
            </a:endParaRPr>
          </a:p>
        </p:txBody>
      </p:sp>
      <p:graphicFrame>
        <p:nvGraphicFramePr>
          <p:cNvPr id="13314" name="Object 6">
            <a:extLst>
              <a:ext uri="{FF2B5EF4-FFF2-40B4-BE49-F238E27FC236}">
                <a16:creationId xmlns:a16="http://schemas.microsoft.com/office/drawing/2014/main" id="{7FBC05AF-D490-4BEC-95C5-E8F5248CB516}"/>
              </a:ext>
            </a:extLst>
          </p:cNvPr>
          <p:cNvGraphicFramePr>
            <a:graphicFrameLocks noChangeAspect="1"/>
          </p:cNvGraphicFramePr>
          <p:nvPr>
            <p:extLst>
              <p:ext uri="{D42A27DB-BD31-4B8C-83A1-F6EECF244321}">
                <p14:modId xmlns:p14="http://schemas.microsoft.com/office/powerpoint/2010/main" val="2044928282"/>
              </p:ext>
            </p:extLst>
          </p:nvPr>
        </p:nvGraphicFramePr>
        <p:xfrm>
          <a:off x="3192464" y="2992781"/>
          <a:ext cx="5303837" cy="595313"/>
        </p:xfrm>
        <a:graphic>
          <a:graphicData uri="http://schemas.openxmlformats.org/presentationml/2006/ole">
            <mc:AlternateContent xmlns:mc="http://schemas.openxmlformats.org/markup-compatibility/2006">
              <mc:Choice xmlns:v="urn:schemas-microsoft-com:vml" Requires="v">
                <p:oleObj spid="_x0000_s5185" name="公式" r:id="rId3" imgW="1434477" imgH="165028" progId="Equation.3">
                  <p:embed/>
                </p:oleObj>
              </mc:Choice>
              <mc:Fallback>
                <p:oleObj name="公式" r:id="rId3" imgW="1434477" imgH="165028"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92464" y="2992781"/>
                        <a:ext cx="5303837" cy="595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22" name="Rectangle 8">
            <a:extLst>
              <a:ext uri="{FF2B5EF4-FFF2-40B4-BE49-F238E27FC236}">
                <a16:creationId xmlns:a16="http://schemas.microsoft.com/office/drawing/2014/main" id="{9BE4826B-AAFA-49C0-B3D4-CA4591F776CC}"/>
              </a:ext>
            </a:extLst>
          </p:cNvPr>
          <p:cNvSpPr>
            <a:spLocks noChangeArrowheads="1"/>
          </p:cNvSpPr>
          <p:nvPr/>
        </p:nvSpPr>
        <p:spPr bwMode="auto">
          <a:xfrm>
            <a:off x="1949450" y="4702027"/>
            <a:ext cx="7469188" cy="562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ts val="4000"/>
              </a:lnSpc>
            </a:pPr>
            <a:r>
              <a:rPr kumimoji="0" lang="zh-CN" altLang="en-US" b="1" dirty="0">
                <a:ea typeface="楷体_GB2312" pitchFamily="49" charset="-122"/>
              </a:rPr>
              <a:t>色差</a:t>
            </a:r>
            <a:r>
              <a:rPr kumimoji="0" lang="en-US" altLang="zh-CN" b="1" dirty="0">
                <a:ea typeface="楷体_GB2312" pitchFamily="49" charset="-122"/>
              </a:rPr>
              <a:t>U</a:t>
            </a:r>
            <a:r>
              <a:rPr kumimoji="0" lang="zh-CN" altLang="en-US" b="1" dirty="0">
                <a:ea typeface="楷体_GB2312" pitchFamily="49" charset="-122"/>
              </a:rPr>
              <a:t>、</a:t>
            </a:r>
            <a:r>
              <a:rPr kumimoji="0" lang="en-US" altLang="zh-CN" b="1" dirty="0">
                <a:ea typeface="楷体_GB2312" pitchFamily="49" charset="-122"/>
              </a:rPr>
              <a:t>V</a:t>
            </a:r>
            <a:r>
              <a:rPr kumimoji="0" lang="zh-CN" altLang="en-US" b="1" dirty="0">
                <a:ea typeface="楷体_GB2312" pitchFamily="49" charset="-122"/>
              </a:rPr>
              <a:t>是按不同比例压缩而成的</a:t>
            </a:r>
          </a:p>
        </p:txBody>
      </p:sp>
      <p:sp>
        <p:nvSpPr>
          <p:cNvPr id="3" name="标题 2">
            <a:extLst>
              <a:ext uri="{FF2B5EF4-FFF2-40B4-BE49-F238E27FC236}">
                <a16:creationId xmlns:a16="http://schemas.microsoft.com/office/drawing/2014/main" id="{6FB817A2-16C2-4286-971E-65EFE8BE9D68}"/>
              </a:ext>
            </a:extLst>
          </p:cNvPr>
          <p:cNvSpPr>
            <a:spLocks noGrp="1"/>
          </p:cNvSpPr>
          <p:nvPr>
            <p:ph type="title"/>
          </p:nvPr>
        </p:nvSpPr>
        <p:spPr/>
        <p:txBody>
          <a:bodyPr/>
          <a:lstStyle/>
          <a:p>
            <a:r>
              <a:rPr lang="en-US" altLang="zh-CN" dirty="0"/>
              <a:t>5.3 CIE YUV</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heckerboard(across)">
                                      <p:cBhvr>
                                        <p:cTn id="7" dur="500"/>
                                        <p:tgtEl>
                                          <p:spTgt spid="12"/>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3321"/>
                                        </p:tgtEl>
                                        <p:attrNameLst>
                                          <p:attrName>style.visibility</p:attrName>
                                        </p:attrNameLst>
                                      </p:cBhvr>
                                      <p:to>
                                        <p:strVal val="visible"/>
                                      </p:to>
                                    </p:set>
                                    <p:animEffect transition="in" filter="checkerboard(across)">
                                      <p:cBhvr>
                                        <p:cTn id="10" dur="500"/>
                                        <p:tgtEl>
                                          <p:spTgt spid="13321"/>
                                        </p:tgtEl>
                                      </p:cBhvr>
                                    </p:animEffect>
                                  </p:childTnLst>
                                </p:cTn>
                              </p:par>
                              <p:par>
                                <p:cTn id="11" presetID="5" presetClass="entr" presetSubtype="10" fill="hold" nodeType="withEffect">
                                  <p:stCondLst>
                                    <p:cond delay="0"/>
                                  </p:stCondLst>
                                  <p:childTnLst>
                                    <p:set>
                                      <p:cBhvr>
                                        <p:cTn id="12" dur="1" fill="hold">
                                          <p:stCondLst>
                                            <p:cond delay="0"/>
                                          </p:stCondLst>
                                        </p:cTn>
                                        <p:tgtEl>
                                          <p:spTgt spid="13314"/>
                                        </p:tgtEl>
                                        <p:attrNameLst>
                                          <p:attrName>style.visibility</p:attrName>
                                        </p:attrNameLst>
                                      </p:cBhvr>
                                      <p:to>
                                        <p:strVal val="visible"/>
                                      </p:to>
                                    </p:set>
                                    <p:animEffect transition="in" filter="checkerboard(across)">
                                      <p:cBhvr>
                                        <p:cTn id="13" dur="500"/>
                                        <p:tgtEl>
                                          <p:spTgt spid="13314"/>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13322"/>
                                        </p:tgtEl>
                                        <p:attrNameLst>
                                          <p:attrName>style.visibility</p:attrName>
                                        </p:attrNameLst>
                                      </p:cBhvr>
                                      <p:to>
                                        <p:strVal val="visible"/>
                                      </p:to>
                                    </p:set>
                                    <p:animEffect transition="in" filter="checkerboard(across)">
                                      <p:cBhvr>
                                        <p:cTn id="16" dur="500"/>
                                        <p:tgtEl>
                                          <p:spTgt spid="133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21" grpId="0"/>
      <p:bldP spid="1332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3">
            <a:extLst>
              <a:ext uri="{FF2B5EF4-FFF2-40B4-BE49-F238E27FC236}">
                <a16:creationId xmlns:a16="http://schemas.microsoft.com/office/drawing/2014/main" id="{B802267C-8C46-46EB-8A36-ECFEF6E4C770}"/>
              </a:ext>
            </a:extLst>
          </p:cNvPr>
          <p:cNvSpPr>
            <a:spLocks noChangeArrowheads="1"/>
          </p:cNvSpPr>
          <p:nvPr/>
        </p:nvSpPr>
        <p:spPr bwMode="auto">
          <a:xfrm>
            <a:off x="1500631" y="1163907"/>
            <a:ext cx="8702675" cy="562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396875" indent="-396875" defTabSz="912813"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912813"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ts val="4000"/>
              </a:lnSpc>
              <a:spcBef>
                <a:spcPct val="20000"/>
              </a:spcBef>
              <a:buClr>
                <a:schemeClr val="accent2"/>
              </a:buClr>
              <a:buBlip>
                <a:blip r:embed="rId2"/>
              </a:buBlip>
            </a:pPr>
            <a:r>
              <a:rPr kumimoji="0" lang="en-US" altLang="zh-CN" b="1" dirty="0">
                <a:ea typeface="楷体_GB2312" pitchFamily="49" charset="-122"/>
              </a:rPr>
              <a:t> RGB</a:t>
            </a:r>
            <a:r>
              <a:rPr kumimoji="0" lang="zh-CN" altLang="en-US" b="1" dirty="0">
                <a:ea typeface="楷体_GB2312" pitchFamily="49" charset="-122"/>
              </a:rPr>
              <a:t>与</a:t>
            </a:r>
            <a:r>
              <a:rPr kumimoji="0" lang="en-US" altLang="zh-CN" b="1" dirty="0">
                <a:ea typeface="楷体_GB2312" pitchFamily="49" charset="-122"/>
              </a:rPr>
              <a:t>CMY</a:t>
            </a:r>
            <a:r>
              <a:rPr kumimoji="0" lang="zh-CN" altLang="en-US" b="1" dirty="0">
                <a:ea typeface="楷体_GB2312" pitchFamily="49" charset="-122"/>
              </a:rPr>
              <a:t>颜色模型之间转换算法</a:t>
            </a:r>
          </a:p>
        </p:txBody>
      </p:sp>
      <p:sp>
        <p:nvSpPr>
          <p:cNvPr id="30724" name="Rectangle 5">
            <a:extLst>
              <a:ext uri="{FF2B5EF4-FFF2-40B4-BE49-F238E27FC236}">
                <a16:creationId xmlns:a16="http://schemas.microsoft.com/office/drawing/2014/main" id="{30DD7EBF-6B25-47C0-8949-92F80F0824CF}"/>
              </a:ext>
            </a:extLst>
          </p:cNvPr>
          <p:cNvSpPr>
            <a:spLocks noChangeArrowheads="1"/>
          </p:cNvSpPr>
          <p:nvPr/>
        </p:nvSpPr>
        <p:spPr bwMode="auto">
          <a:xfrm>
            <a:off x="2504282" y="1984565"/>
            <a:ext cx="8205787" cy="562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ts val="4000"/>
              </a:lnSpc>
            </a:pPr>
            <a:r>
              <a:rPr kumimoji="0" lang="en-US" altLang="zh-CN" b="1" dirty="0">
                <a:ea typeface="楷体_GB2312" pitchFamily="49" charset="-122"/>
              </a:rPr>
              <a:t>RGB</a:t>
            </a:r>
            <a:r>
              <a:rPr kumimoji="0" lang="zh-CN" altLang="en-US" b="1" dirty="0">
                <a:ea typeface="楷体_GB2312" pitchFamily="49" charset="-122"/>
              </a:rPr>
              <a:t>的取值通常是</a:t>
            </a:r>
            <a:r>
              <a:rPr kumimoji="0" lang="en-US" altLang="zh-CN" b="1" dirty="0">
                <a:ea typeface="楷体_GB2312" pitchFamily="49" charset="-122"/>
              </a:rPr>
              <a:t>0~255</a:t>
            </a:r>
            <a:r>
              <a:rPr kumimoji="0" lang="zh-CN" altLang="en-US" b="1" dirty="0">
                <a:ea typeface="楷体_GB2312" pitchFamily="49" charset="-122"/>
              </a:rPr>
              <a:t>的整数 </a:t>
            </a:r>
          </a:p>
        </p:txBody>
      </p:sp>
      <p:sp>
        <p:nvSpPr>
          <p:cNvPr id="30725" name="Rectangle 6">
            <a:extLst>
              <a:ext uri="{FF2B5EF4-FFF2-40B4-BE49-F238E27FC236}">
                <a16:creationId xmlns:a16="http://schemas.microsoft.com/office/drawing/2014/main" id="{85AF9784-F8B8-4E03-B5FC-17F33BA53116}"/>
              </a:ext>
            </a:extLst>
          </p:cNvPr>
          <p:cNvSpPr>
            <a:spLocks noChangeArrowheads="1"/>
          </p:cNvSpPr>
          <p:nvPr/>
        </p:nvSpPr>
        <p:spPr bwMode="auto">
          <a:xfrm>
            <a:off x="4293897" y="2991367"/>
            <a:ext cx="1811713" cy="1575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ts val="4000"/>
              </a:lnSpc>
            </a:pPr>
            <a:r>
              <a:rPr kumimoji="0" lang="en-US" altLang="zh-CN" b="1" dirty="0">
                <a:ea typeface="楷体_GB2312" pitchFamily="49" charset="-122"/>
              </a:rPr>
              <a:t>C = 255 – R</a:t>
            </a:r>
          </a:p>
          <a:p>
            <a:pPr algn="ctr" eaLnBrk="1" hangingPunct="1">
              <a:lnSpc>
                <a:spcPts val="4000"/>
              </a:lnSpc>
            </a:pPr>
            <a:r>
              <a:rPr kumimoji="0" lang="en-US" altLang="zh-CN" b="1" dirty="0">
                <a:ea typeface="楷体_GB2312" pitchFamily="49" charset="-122"/>
              </a:rPr>
              <a:t>M = 255 – G</a:t>
            </a:r>
          </a:p>
          <a:p>
            <a:pPr algn="ctr" eaLnBrk="1" hangingPunct="1">
              <a:lnSpc>
                <a:spcPts val="4000"/>
              </a:lnSpc>
            </a:pPr>
            <a:r>
              <a:rPr kumimoji="0" lang="en-US" altLang="zh-CN" b="1" dirty="0">
                <a:ea typeface="楷体_GB2312" pitchFamily="49" charset="-122"/>
              </a:rPr>
              <a:t>Y = 255 – B</a:t>
            </a:r>
          </a:p>
        </p:txBody>
      </p:sp>
      <p:sp>
        <p:nvSpPr>
          <p:cNvPr id="3" name="标题 2">
            <a:extLst>
              <a:ext uri="{FF2B5EF4-FFF2-40B4-BE49-F238E27FC236}">
                <a16:creationId xmlns:a16="http://schemas.microsoft.com/office/drawing/2014/main" id="{93944C45-175B-4F1B-9F1B-054DBD11E2E9}"/>
              </a:ext>
            </a:extLst>
          </p:cNvPr>
          <p:cNvSpPr>
            <a:spLocks noGrp="1"/>
          </p:cNvSpPr>
          <p:nvPr>
            <p:ph type="title"/>
          </p:nvPr>
        </p:nvSpPr>
        <p:spPr/>
        <p:txBody>
          <a:bodyPr/>
          <a:lstStyle/>
          <a:p>
            <a:r>
              <a:rPr lang="en-US" altLang="zh-CN" dirty="0">
                <a:cs typeface="Arial" charset="0"/>
              </a:rPr>
              <a:t>6. </a:t>
            </a:r>
            <a:r>
              <a:rPr lang="zh-CN" altLang="en-US" dirty="0">
                <a:cs typeface="Arial" charset="0"/>
              </a:rPr>
              <a:t>颜色模型之间的转换算法</a:t>
            </a:r>
            <a:endParaRPr lang="zh-CN" altLang="en-US" dirty="0"/>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7">
            <a:extLst>
              <a:ext uri="{FF2B5EF4-FFF2-40B4-BE49-F238E27FC236}">
                <a16:creationId xmlns:a16="http://schemas.microsoft.com/office/drawing/2014/main" id="{9ABF96C3-E367-4E03-8EE5-CF5EAC9803E0}"/>
              </a:ext>
            </a:extLst>
          </p:cNvPr>
          <p:cNvSpPr>
            <a:spLocks noChangeArrowheads="1"/>
          </p:cNvSpPr>
          <p:nvPr/>
        </p:nvSpPr>
        <p:spPr bwMode="auto">
          <a:xfrm>
            <a:off x="1225656" y="1082526"/>
            <a:ext cx="8702675" cy="562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396875" indent="-396875" defTabSz="912813"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912813"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ts val="4000"/>
              </a:lnSpc>
              <a:spcBef>
                <a:spcPct val="20000"/>
              </a:spcBef>
              <a:buClr>
                <a:schemeClr val="accent2"/>
              </a:buClr>
            </a:pPr>
            <a:r>
              <a:rPr kumimoji="0" lang="en-US" altLang="zh-CN" sz="2800" b="1" dirty="0">
                <a:ea typeface="楷体_GB2312" pitchFamily="49" charset="-122"/>
              </a:rPr>
              <a:t>RGB</a:t>
            </a:r>
            <a:r>
              <a:rPr kumimoji="0" lang="zh-CN" altLang="en-US" sz="2800" b="1" dirty="0">
                <a:ea typeface="楷体_GB2312" pitchFamily="49" charset="-122"/>
              </a:rPr>
              <a:t>与</a:t>
            </a:r>
            <a:r>
              <a:rPr kumimoji="0" lang="en-US" altLang="zh-CN" sz="2800" b="1" dirty="0">
                <a:ea typeface="楷体_GB2312" pitchFamily="49" charset="-122"/>
              </a:rPr>
              <a:t>HSV</a:t>
            </a:r>
            <a:r>
              <a:rPr kumimoji="0" lang="zh-CN" altLang="en-US" sz="2800" b="1" dirty="0">
                <a:ea typeface="楷体_GB2312" pitchFamily="49" charset="-122"/>
              </a:rPr>
              <a:t>颜色模型之间转换算法 </a:t>
            </a:r>
          </a:p>
        </p:txBody>
      </p:sp>
      <p:sp>
        <p:nvSpPr>
          <p:cNvPr id="31748" name="Rectangle 8">
            <a:extLst>
              <a:ext uri="{FF2B5EF4-FFF2-40B4-BE49-F238E27FC236}">
                <a16:creationId xmlns:a16="http://schemas.microsoft.com/office/drawing/2014/main" id="{C663D297-34E2-4A46-84CE-DA502AAD14E2}"/>
              </a:ext>
            </a:extLst>
          </p:cNvPr>
          <p:cNvSpPr>
            <a:spLocks noChangeArrowheads="1"/>
          </p:cNvSpPr>
          <p:nvPr/>
        </p:nvSpPr>
        <p:spPr bwMode="auto">
          <a:xfrm>
            <a:off x="1781723" y="1798495"/>
            <a:ext cx="8339137" cy="562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342900" indent="-3429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ts val="4000"/>
              </a:lnSpc>
              <a:buFont typeface="Wingdings" panose="05000000000000000000" pitchFamily="2" charset="2"/>
              <a:buAutoNum type="circleNumDbPlain"/>
            </a:pPr>
            <a:r>
              <a:rPr kumimoji="0" lang="zh-CN" altLang="en-US" b="1" dirty="0">
                <a:solidFill>
                  <a:srgbClr val="002060"/>
                </a:solidFill>
                <a:ea typeface="楷体_GB2312" pitchFamily="49" charset="-122"/>
              </a:rPr>
              <a:t> </a:t>
            </a:r>
            <a:r>
              <a:rPr kumimoji="0" lang="zh-CN" altLang="en-US" b="1" dirty="0">
                <a:solidFill>
                  <a:srgbClr val="FF0000"/>
                </a:solidFill>
                <a:ea typeface="楷体_GB2312" pitchFamily="49" charset="-122"/>
              </a:rPr>
              <a:t>查表法</a:t>
            </a:r>
          </a:p>
        </p:txBody>
      </p:sp>
      <p:sp>
        <p:nvSpPr>
          <p:cNvPr id="31749" name="Text Box 9">
            <a:extLst>
              <a:ext uri="{FF2B5EF4-FFF2-40B4-BE49-F238E27FC236}">
                <a16:creationId xmlns:a16="http://schemas.microsoft.com/office/drawing/2014/main" id="{F5516A73-DCD9-41B3-910C-E31883E3C3D5}"/>
              </a:ext>
            </a:extLst>
          </p:cNvPr>
          <p:cNvSpPr txBox="1">
            <a:spLocks noChangeArrowheads="1"/>
          </p:cNvSpPr>
          <p:nvPr/>
        </p:nvSpPr>
        <p:spPr bwMode="auto">
          <a:xfrm>
            <a:off x="1781723" y="2544912"/>
            <a:ext cx="10300211" cy="17237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defTabSz="912813" eaLnBrk="0" hangingPunct="0">
              <a:defRPr kumimoji="1" sz="2400">
                <a:solidFill>
                  <a:schemeClr val="tx1"/>
                </a:solidFill>
                <a:latin typeface="Times New Roman" panose="02020603050405020304" pitchFamily="18" charset="0"/>
                <a:ea typeface="宋体" panose="02010600030101010101" pitchFamily="2" charset="-122"/>
              </a:defRPr>
            </a:lvl1pPr>
            <a:lvl2pPr marL="396875" indent="-396875" defTabSz="912813"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1" eaLnBrk="1" hangingPunct="1">
              <a:lnSpc>
                <a:spcPts val="4000"/>
              </a:lnSpc>
              <a:spcBef>
                <a:spcPct val="20000"/>
              </a:spcBef>
              <a:buClr>
                <a:schemeClr val="accent2"/>
              </a:buClr>
            </a:pPr>
            <a:r>
              <a:rPr kumimoji="0" lang="zh-CN" altLang="en-US" b="1" dirty="0">
                <a:ea typeface="楷体_GB2312" pitchFamily="49" charset="-122"/>
              </a:rPr>
              <a:t>最可靠方法：</a:t>
            </a:r>
            <a:endParaRPr kumimoji="0" lang="en-US" altLang="zh-CN" b="1" dirty="0">
              <a:ea typeface="楷体_GB2312" pitchFamily="49" charset="-122"/>
            </a:endParaRPr>
          </a:p>
          <a:p>
            <a:pPr lvl="1" eaLnBrk="1" hangingPunct="1">
              <a:lnSpc>
                <a:spcPts val="4000"/>
              </a:lnSpc>
              <a:spcBef>
                <a:spcPct val="20000"/>
              </a:spcBef>
              <a:buClr>
                <a:schemeClr val="accent2"/>
              </a:buClr>
              <a:buBlip>
                <a:blip r:embed="rId2"/>
              </a:buBlip>
            </a:pPr>
            <a:r>
              <a:rPr kumimoji="0" lang="zh-CN" altLang="en-US" b="1" dirty="0">
                <a:ea typeface="楷体_GB2312" pitchFamily="49" charset="-122"/>
              </a:rPr>
              <a:t>把</a:t>
            </a:r>
            <a:r>
              <a:rPr kumimoji="0" lang="en-US" altLang="zh-CN" b="1" dirty="0">
                <a:ea typeface="楷体_GB2312" pitchFamily="49" charset="-122"/>
              </a:rPr>
              <a:t>RGB</a:t>
            </a:r>
            <a:r>
              <a:rPr kumimoji="0" lang="zh-CN" altLang="en-US" b="1" dirty="0">
                <a:ea typeface="楷体_GB2312" pitchFamily="49" charset="-122"/>
              </a:rPr>
              <a:t>坐标转换为</a:t>
            </a:r>
            <a:r>
              <a:rPr kumimoji="0" lang="en-US" altLang="zh-CN" b="1" dirty="0">
                <a:ea typeface="楷体_GB2312" pitchFamily="49" charset="-122"/>
              </a:rPr>
              <a:t>1931CIE-XYZ</a:t>
            </a:r>
            <a:r>
              <a:rPr kumimoji="0" lang="zh-CN" altLang="en-US" b="1" dirty="0">
                <a:ea typeface="楷体_GB2312" pitchFamily="49" charset="-122"/>
              </a:rPr>
              <a:t>系统中的（</a:t>
            </a:r>
            <a:r>
              <a:rPr kumimoji="0" lang="en-US" altLang="zh-CN" b="1" dirty="0">
                <a:ea typeface="楷体_GB2312" pitchFamily="49" charset="-122"/>
              </a:rPr>
              <a:t>x</a:t>
            </a:r>
            <a:r>
              <a:rPr kumimoji="0" lang="zh-CN" altLang="en-US" b="1" dirty="0">
                <a:ea typeface="楷体_GB2312" pitchFamily="49" charset="-122"/>
              </a:rPr>
              <a:t>， </a:t>
            </a:r>
            <a:r>
              <a:rPr kumimoji="0" lang="en-US" altLang="zh-CN" b="1" dirty="0">
                <a:ea typeface="楷体_GB2312" pitchFamily="49" charset="-122"/>
              </a:rPr>
              <a:t>y</a:t>
            </a:r>
            <a:r>
              <a:rPr kumimoji="0" lang="zh-CN" altLang="en-US" b="1" dirty="0">
                <a:ea typeface="楷体_GB2312" pitchFamily="49" charset="-122"/>
              </a:rPr>
              <a:t>， </a:t>
            </a:r>
            <a:r>
              <a:rPr kumimoji="0" lang="en-US" altLang="zh-CN" b="1" dirty="0">
                <a:ea typeface="楷体_GB2312" pitchFamily="49" charset="-122"/>
              </a:rPr>
              <a:t>Y</a:t>
            </a:r>
            <a:r>
              <a:rPr kumimoji="0" lang="zh-CN" altLang="en-US" b="1" dirty="0">
                <a:ea typeface="楷体_GB2312" pitchFamily="49" charset="-122"/>
              </a:rPr>
              <a:t>）坐标</a:t>
            </a:r>
            <a:endParaRPr kumimoji="0" lang="en-US" altLang="zh-CN" b="1" dirty="0">
              <a:ea typeface="楷体_GB2312" pitchFamily="49" charset="-122"/>
            </a:endParaRPr>
          </a:p>
          <a:p>
            <a:pPr lvl="1" eaLnBrk="1" hangingPunct="1">
              <a:lnSpc>
                <a:spcPts val="4000"/>
              </a:lnSpc>
              <a:spcBef>
                <a:spcPct val="20000"/>
              </a:spcBef>
              <a:buClr>
                <a:schemeClr val="accent2"/>
              </a:buClr>
              <a:buBlip>
                <a:blip r:embed="rId2"/>
              </a:buBlip>
            </a:pPr>
            <a:r>
              <a:rPr kumimoji="0" lang="zh-CN" altLang="en-US" b="1" dirty="0">
                <a:ea typeface="楷体_GB2312" pitchFamily="49" charset="-122"/>
              </a:rPr>
              <a:t>根据（</a:t>
            </a:r>
            <a:r>
              <a:rPr kumimoji="0" lang="en-US" altLang="zh-CN" b="1" dirty="0">
                <a:ea typeface="楷体_GB2312" pitchFamily="49" charset="-122"/>
              </a:rPr>
              <a:t>x</a:t>
            </a:r>
            <a:r>
              <a:rPr kumimoji="0" lang="zh-CN" altLang="en-US" b="1" dirty="0">
                <a:ea typeface="楷体_GB2312" pitchFamily="49" charset="-122"/>
              </a:rPr>
              <a:t>， </a:t>
            </a:r>
            <a:r>
              <a:rPr kumimoji="0" lang="en-US" altLang="zh-CN" b="1" dirty="0">
                <a:ea typeface="楷体_GB2312" pitchFamily="49" charset="-122"/>
              </a:rPr>
              <a:t>y</a:t>
            </a:r>
            <a:r>
              <a:rPr kumimoji="0" lang="zh-CN" altLang="en-US" b="1" dirty="0">
                <a:ea typeface="楷体_GB2312" pitchFamily="49" charset="-122"/>
              </a:rPr>
              <a:t>， </a:t>
            </a:r>
            <a:r>
              <a:rPr kumimoji="0" lang="en-US" altLang="zh-CN" b="1" dirty="0">
                <a:ea typeface="楷体_GB2312" pitchFamily="49" charset="-122"/>
              </a:rPr>
              <a:t>Y</a:t>
            </a:r>
            <a:r>
              <a:rPr kumimoji="0" lang="zh-CN" altLang="en-US" b="1" dirty="0">
                <a:ea typeface="楷体_GB2312" pitchFamily="49" charset="-122"/>
              </a:rPr>
              <a:t>）查找对应表，得到相应的（</a:t>
            </a:r>
            <a:r>
              <a:rPr kumimoji="0" lang="en-US" altLang="zh-CN" b="1" dirty="0">
                <a:ea typeface="楷体_GB2312" pitchFamily="49" charset="-122"/>
              </a:rPr>
              <a:t>H</a:t>
            </a:r>
            <a:r>
              <a:rPr kumimoji="0" lang="zh-CN" altLang="en-US" b="1" dirty="0">
                <a:ea typeface="楷体_GB2312" pitchFamily="49" charset="-122"/>
              </a:rPr>
              <a:t>， </a:t>
            </a:r>
            <a:r>
              <a:rPr kumimoji="0" lang="en-US" altLang="zh-CN" b="1" dirty="0">
                <a:ea typeface="楷体_GB2312" pitchFamily="49" charset="-122"/>
              </a:rPr>
              <a:t>S</a:t>
            </a:r>
            <a:r>
              <a:rPr kumimoji="0" lang="zh-CN" altLang="en-US" b="1" dirty="0">
                <a:ea typeface="楷体_GB2312" pitchFamily="49" charset="-122"/>
              </a:rPr>
              <a:t>， </a:t>
            </a:r>
            <a:r>
              <a:rPr kumimoji="0" lang="en-US" altLang="zh-CN" b="1" dirty="0">
                <a:ea typeface="楷体_GB2312" pitchFamily="49" charset="-122"/>
              </a:rPr>
              <a:t>V</a:t>
            </a:r>
            <a:r>
              <a:rPr kumimoji="0" lang="zh-CN" altLang="en-US" b="1" dirty="0">
                <a:ea typeface="楷体_GB2312" pitchFamily="49" charset="-122"/>
              </a:rPr>
              <a:t>）坐标</a:t>
            </a:r>
            <a:endParaRPr kumimoji="0" lang="en-US" altLang="zh-CN" b="1" dirty="0">
              <a:ea typeface="楷体_GB2312" pitchFamily="49" charset="-122"/>
            </a:endParaRPr>
          </a:p>
        </p:txBody>
      </p:sp>
      <p:sp>
        <p:nvSpPr>
          <p:cNvPr id="3" name="标题 2">
            <a:extLst>
              <a:ext uri="{FF2B5EF4-FFF2-40B4-BE49-F238E27FC236}">
                <a16:creationId xmlns:a16="http://schemas.microsoft.com/office/drawing/2014/main" id="{139B8F40-19EB-4B63-93B3-288605C0D435}"/>
              </a:ext>
            </a:extLst>
          </p:cNvPr>
          <p:cNvSpPr>
            <a:spLocks noGrp="1"/>
          </p:cNvSpPr>
          <p:nvPr>
            <p:ph type="title"/>
          </p:nvPr>
        </p:nvSpPr>
        <p:spPr/>
        <p:txBody>
          <a:bodyPr/>
          <a:lstStyle/>
          <a:p>
            <a:r>
              <a:rPr lang="en-US" altLang="zh-CN" dirty="0">
                <a:cs typeface="Arial" charset="0"/>
              </a:rPr>
              <a:t>6. </a:t>
            </a:r>
            <a:r>
              <a:rPr lang="zh-CN" altLang="en-US" dirty="0">
                <a:cs typeface="Arial" charset="0"/>
              </a:rPr>
              <a:t>颜色模型之间的转换算法</a:t>
            </a:r>
            <a:endParaRPr lang="zh-CN" altLang="en-US" dirty="0"/>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Text Box 9">
            <a:extLst>
              <a:ext uri="{FF2B5EF4-FFF2-40B4-BE49-F238E27FC236}">
                <a16:creationId xmlns:a16="http://schemas.microsoft.com/office/drawing/2014/main" id="{CC34FCED-7904-4794-AAA9-8084A3D54ACB}"/>
              </a:ext>
            </a:extLst>
          </p:cNvPr>
          <p:cNvSpPr txBox="1">
            <a:spLocks noChangeArrowheads="1"/>
          </p:cNvSpPr>
          <p:nvPr/>
        </p:nvSpPr>
        <p:spPr bwMode="auto">
          <a:xfrm>
            <a:off x="876925" y="1593851"/>
            <a:ext cx="10665501" cy="1760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defTabSz="912813" eaLnBrk="0" hangingPunct="0">
              <a:defRPr kumimoji="1" sz="2400">
                <a:solidFill>
                  <a:schemeClr val="tx1"/>
                </a:solidFill>
                <a:latin typeface="Times New Roman" panose="02020603050405020304" pitchFamily="18" charset="0"/>
                <a:ea typeface="宋体" panose="02010600030101010101" pitchFamily="2" charset="-122"/>
              </a:defRPr>
            </a:lvl1pPr>
            <a:lvl2pPr marL="396875" indent="-396875" defTabSz="912813"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1" eaLnBrk="1" hangingPunct="1">
              <a:lnSpc>
                <a:spcPts val="4000"/>
              </a:lnSpc>
              <a:spcBef>
                <a:spcPct val="20000"/>
              </a:spcBef>
              <a:buClr>
                <a:schemeClr val="accent2"/>
              </a:buClr>
              <a:buBlip>
                <a:blip r:embed="rId2"/>
              </a:buBlip>
            </a:pPr>
            <a:r>
              <a:rPr kumimoji="0" lang="zh-CN" altLang="en-US" sz="2800" b="1" dirty="0">
                <a:ea typeface="楷体_GB2312" pitchFamily="49" charset="-122"/>
              </a:rPr>
              <a:t>逆向操作则可以从</a:t>
            </a:r>
            <a:r>
              <a:rPr kumimoji="0" lang="en-US" altLang="zh-CN" sz="2800" b="1" dirty="0">
                <a:ea typeface="楷体_GB2312" pitchFamily="49" charset="-122"/>
              </a:rPr>
              <a:t>HSV</a:t>
            </a:r>
            <a:r>
              <a:rPr kumimoji="0" lang="zh-CN" altLang="en-US" sz="2800" b="1" dirty="0">
                <a:ea typeface="楷体_GB2312" pitchFamily="49" charset="-122"/>
              </a:rPr>
              <a:t>坐标转换到</a:t>
            </a:r>
            <a:r>
              <a:rPr kumimoji="0" lang="en-US" altLang="zh-CN" sz="2800" b="1" dirty="0">
                <a:ea typeface="楷体_GB2312" pitchFamily="49" charset="-122"/>
              </a:rPr>
              <a:t>RGB</a:t>
            </a:r>
            <a:r>
              <a:rPr kumimoji="0" lang="zh-CN" altLang="en-US" sz="2800" b="1" dirty="0">
                <a:ea typeface="楷体_GB2312" pitchFamily="49" charset="-122"/>
              </a:rPr>
              <a:t>坐标</a:t>
            </a:r>
            <a:endParaRPr kumimoji="0" lang="en-US" altLang="zh-CN" sz="2800" b="1" dirty="0">
              <a:ea typeface="楷体_GB2312" pitchFamily="49" charset="-122"/>
            </a:endParaRPr>
          </a:p>
          <a:p>
            <a:pPr lvl="1" eaLnBrk="1" hangingPunct="1">
              <a:lnSpc>
                <a:spcPts val="4000"/>
              </a:lnSpc>
              <a:spcBef>
                <a:spcPct val="20000"/>
              </a:spcBef>
              <a:buClr>
                <a:schemeClr val="accent2"/>
              </a:buClr>
              <a:buBlip>
                <a:blip r:embed="rId2"/>
              </a:buBlip>
            </a:pPr>
            <a:r>
              <a:rPr kumimoji="0" lang="en-US" altLang="zh-CN" sz="2800" b="1" dirty="0" err="1">
                <a:ea typeface="楷体_GB2312" pitchFamily="49" charset="-122"/>
              </a:rPr>
              <a:t>xyY</a:t>
            </a:r>
            <a:r>
              <a:rPr kumimoji="0" lang="zh-CN" altLang="en-US" sz="2800" b="1" dirty="0">
                <a:ea typeface="楷体_GB2312" pitchFamily="49" charset="-122"/>
              </a:rPr>
              <a:t>坐标与</a:t>
            </a:r>
            <a:r>
              <a:rPr kumimoji="0" lang="en-US" altLang="zh-CN" sz="2800" b="1" dirty="0">
                <a:ea typeface="楷体_GB2312" pitchFamily="49" charset="-122"/>
              </a:rPr>
              <a:t>HSV</a:t>
            </a:r>
            <a:r>
              <a:rPr kumimoji="0" lang="zh-CN" altLang="en-US" sz="2800" b="1" dirty="0">
                <a:ea typeface="楷体_GB2312" pitchFamily="49" charset="-122"/>
              </a:rPr>
              <a:t>坐标的对照表已由色度学实验得到</a:t>
            </a:r>
            <a:r>
              <a:rPr kumimoji="0" lang="en-US" altLang="zh-CN" sz="2800" b="1" dirty="0">
                <a:ea typeface="楷体_GB2312" pitchFamily="49" charset="-122"/>
              </a:rPr>
              <a:t>[Newhall 1943]</a:t>
            </a:r>
          </a:p>
          <a:p>
            <a:pPr lvl="1" eaLnBrk="1" hangingPunct="1">
              <a:lnSpc>
                <a:spcPts val="4000"/>
              </a:lnSpc>
              <a:spcBef>
                <a:spcPct val="20000"/>
              </a:spcBef>
              <a:buClr>
                <a:schemeClr val="accent2"/>
              </a:buClr>
              <a:buBlip>
                <a:blip r:embed="rId2"/>
              </a:buBlip>
            </a:pPr>
            <a:r>
              <a:rPr kumimoji="0" lang="zh-CN" altLang="en-US" sz="2800" b="1" dirty="0">
                <a:ea typeface="楷体_GB2312" pitchFamily="49" charset="-122"/>
              </a:rPr>
              <a:t>这种方法需要依赖对照表，比较笨重</a:t>
            </a:r>
          </a:p>
        </p:txBody>
      </p:sp>
      <p:sp>
        <p:nvSpPr>
          <p:cNvPr id="3" name="标题 2">
            <a:extLst>
              <a:ext uri="{FF2B5EF4-FFF2-40B4-BE49-F238E27FC236}">
                <a16:creationId xmlns:a16="http://schemas.microsoft.com/office/drawing/2014/main" id="{F766AABE-E42D-4F6F-BA87-F0E8BA44445C}"/>
              </a:ext>
            </a:extLst>
          </p:cNvPr>
          <p:cNvSpPr>
            <a:spLocks noGrp="1"/>
          </p:cNvSpPr>
          <p:nvPr>
            <p:ph type="title"/>
          </p:nvPr>
        </p:nvSpPr>
        <p:spPr/>
        <p:txBody>
          <a:bodyPr/>
          <a:lstStyle/>
          <a:p>
            <a:r>
              <a:rPr lang="en-US" altLang="zh-CN" dirty="0">
                <a:cs typeface="Arial" charset="0"/>
              </a:rPr>
              <a:t>6. </a:t>
            </a:r>
            <a:r>
              <a:rPr lang="zh-CN" altLang="en-US" dirty="0">
                <a:cs typeface="Arial" charset="0"/>
              </a:rPr>
              <a:t>颜色模型之间的转换算法</a:t>
            </a:r>
            <a:endParaRPr lang="zh-CN" altLang="en-US" dirty="0"/>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圆角矩形 9">
            <a:extLst>
              <a:ext uri="{FF2B5EF4-FFF2-40B4-BE49-F238E27FC236}">
                <a16:creationId xmlns:a16="http://schemas.microsoft.com/office/drawing/2014/main" id="{61C46D01-71B5-4AA3-9C3D-0273A6C2B87B}"/>
              </a:ext>
            </a:extLst>
          </p:cNvPr>
          <p:cNvSpPr/>
          <p:nvPr/>
        </p:nvSpPr>
        <p:spPr bwMode="auto">
          <a:xfrm>
            <a:off x="3000574" y="3334155"/>
            <a:ext cx="6318859" cy="3465784"/>
          </a:xfrm>
          <a:prstGeom prst="roundRect">
            <a:avLst/>
          </a:prstGeom>
          <a:ln>
            <a:headEnd type="none" w="med" len="med"/>
            <a:tailEnd type="none" w="med" len="med"/>
          </a:ln>
          <a:effectLst>
            <a:outerShdw blurRad="40000" dist="23000" dir="5400000" rotWithShape="0">
              <a:srgbClr val="000000">
                <a:alpha val="35000"/>
              </a:srgbClr>
            </a:outerShdw>
            <a:reflection blurRad="6350" stA="52000" endA="300" endPos="35000" dir="5400000" sy="-100000" algn="bl" rotWithShape="0"/>
          </a:effectLst>
        </p:spPr>
        <p:style>
          <a:lnRef idx="0">
            <a:schemeClr val="accent3"/>
          </a:lnRef>
          <a:fillRef idx="3">
            <a:schemeClr val="accent3"/>
          </a:fillRef>
          <a:effectRef idx="3">
            <a:schemeClr val="accent3"/>
          </a:effectRef>
          <a:fontRef idx="minor">
            <a:schemeClr val="lt1"/>
          </a:fontRef>
        </p:style>
        <p:txBody>
          <a:bodyPr wrap="none"/>
          <a:lstStyle/>
          <a:p>
            <a:pPr>
              <a:defRPr/>
            </a:pPr>
            <a:endParaRPr lang="zh-CN" altLang="en-US">
              <a:solidFill>
                <a:schemeClr val="tx1"/>
              </a:solidFill>
              <a:latin typeface="Times New Roman" pitchFamily="18" charset="0"/>
            </a:endParaRPr>
          </a:p>
        </p:txBody>
      </p:sp>
      <p:sp>
        <p:nvSpPr>
          <p:cNvPr id="158723" name="Rectangle 3">
            <a:extLst>
              <a:ext uri="{FF2B5EF4-FFF2-40B4-BE49-F238E27FC236}">
                <a16:creationId xmlns:a16="http://schemas.microsoft.com/office/drawing/2014/main" id="{D759B5F1-DC57-4131-8F47-3C37C291C828}"/>
              </a:ext>
            </a:extLst>
          </p:cNvPr>
          <p:cNvSpPr>
            <a:spLocks noChangeArrowheads="1"/>
          </p:cNvSpPr>
          <p:nvPr/>
        </p:nvSpPr>
        <p:spPr bwMode="auto">
          <a:xfrm>
            <a:off x="980296" y="949472"/>
            <a:ext cx="8339137" cy="562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342900" indent="-3429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ts val="4000"/>
              </a:lnSpc>
              <a:buFont typeface="Wingdings" panose="05000000000000000000" pitchFamily="2" charset="2"/>
              <a:buAutoNum type="circleNumDbPlain" startAt="2"/>
            </a:pPr>
            <a:r>
              <a:rPr kumimoji="0" lang="zh-CN" altLang="en-US" b="1" dirty="0">
                <a:solidFill>
                  <a:srgbClr val="C00000"/>
                </a:solidFill>
                <a:latin typeface="楷体_GB2312" pitchFamily="49" charset="-122"/>
                <a:ea typeface="楷体_GB2312" pitchFamily="49" charset="-122"/>
              </a:rPr>
              <a:t> 数学公式</a:t>
            </a:r>
          </a:p>
        </p:txBody>
      </p:sp>
      <p:sp>
        <p:nvSpPr>
          <p:cNvPr id="158724" name="Text Box 4">
            <a:extLst>
              <a:ext uri="{FF2B5EF4-FFF2-40B4-BE49-F238E27FC236}">
                <a16:creationId xmlns:a16="http://schemas.microsoft.com/office/drawing/2014/main" id="{9708A815-6A85-41F9-9607-826B67808C03}"/>
              </a:ext>
            </a:extLst>
          </p:cNvPr>
          <p:cNvSpPr txBox="1">
            <a:spLocks noChangeArrowheads="1"/>
          </p:cNvSpPr>
          <p:nvPr/>
        </p:nvSpPr>
        <p:spPr bwMode="auto">
          <a:xfrm>
            <a:off x="1951722" y="2105737"/>
            <a:ext cx="9890508" cy="1063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ts val="4000"/>
              </a:lnSpc>
              <a:spcBef>
                <a:spcPct val="50000"/>
              </a:spcBef>
            </a:pPr>
            <a:r>
              <a:rPr kumimoji="0" lang="zh-CN" altLang="en-US" b="1" dirty="0">
                <a:ea typeface="楷体_GB2312" pitchFamily="49" charset="-122"/>
              </a:rPr>
              <a:t>设</a:t>
            </a:r>
            <a:r>
              <a:rPr kumimoji="0" lang="en-US" altLang="zh-CN" b="1" i="1" dirty="0">
                <a:ea typeface="楷体_GB2312" pitchFamily="49" charset="-122"/>
              </a:rPr>
              <a:t>m</a:t>
            </a:r>
            <a:r>
              <a:rPr kumimoji="0" lang="en-US" altLang="zh-CN" b="1" dirty="0">
                <a:ea typeface="楷体_GB2312" pitchFamily="49" charset="-122"/>
              </a:rPr>
              <a:t>=</a:t>
            </a:r>
            <a:r>
              <a:rPr kumimoji="0" lang="en-US" altLang="zh-CN" b="1" i="1" dirty="0">
                <a:ea typeface="楷体_GB2312" pitchFamily="49" charset="-122"/>
              </a:rPr>
              <a:t>max</a:t>
            </a:r>
            <a:r>
              <a:rPr kumimoji="0" lang="en-US" altLang="zh-CN" b="1" dirty="0">
                <a:ea typeface="楷体_GB2312" pitchFamily="49" charset="-122"/>
              </a:rPr>
              <a:t>(</a:t>
            </a:r>
            <a:r>
              <a:rPr kumimoji="0" lang="en-US" altLang="zh-CN" b="1" i="1" dirty="0">
                <a:ea typeface="楷体_GB2312" pitchFamily="49" charset="-122"/>
              </a:rPr>
              <a:t>r</a:t>
            </a:r>
            <a:r>
              <a:rPr kumimoji="0" lang="en-US" altLang="zh-CN" b="1" dirty="0">
                <a:ea typeface="楷体_GB2312" pitchFamily="49" charset="-122"/>
              </a:rPr>
              <a:t>, </a:t>
            </a:r>
            <a:r>
              <a:rPr kumimoji="0" lang="en-US" altLang="zh-CN" b="1" i="1" dirty="0">
                <a:ea typeface="楷体_GB2312" pitchFamily="49" charset="-122"/>
              </a:rPr>
              <a:t>g</a:t>
            </a:r>
            <a:r>
              <a:rPr kumimoji="0" lang="en-US" altLang="zh-CN" b="1" dirty="0">
                <a:ea typeface="楷体_GB2312" pitchFamily="49" charset="-122"/>
              </a:rPr>
              <a:t>, </a:t>
            </a:r>
            <a:r>
              <a:rPr kumimoji="0" lang="en-US" altLang="zh-CN" b="1" i="1" dirty="0">
                <a:ea typeface="楷体_GB2312" pitchFamily="49" charset="-122"/>
              </a:rPr>
              <a:t>b</a:t>
            </a:r>
            <a:r>
              <a:rPr kumimoji="0" lang="en-US" altLang="zh-CN" b="1" dirty="0">
                <a:ea typeface="楷体_GB2312" pitchFamily="49" charset="-122"/>
              </a:rPr>
              <a:t>)</a:t>
            </a:r>
            <a:r>
              <a:rPr kumimoji="0" lang="zh-CN" altLang="en-US" b="1" dirty="0">
                <a:ea typeface="楷体_GB2312" pitchFamily="49" charset="-122"/>
              </a:rPr>
              <a:t>，</a:t>
            </a:r>
            <a:r>
              <a:rPr kumimoji="0" lang="en-US" altLang="zh-CN" b="1" i="1" dirty="0">
                <a:ea typeface="楷体_GB2312" pitchFamily="49" charset="-122"/>
              </a:rPr>
              <a:t>n</a:t>
            </a:r>
            <a:r>
              <a:rPr kumimoji="0" lang="en-US" altLang="zh-CN" b="1" dirty="0">
                <a:ea typeface="楷体_GB2312" pitchFamily="49" charset="-122"/>
              </a:rPr>
              <a:t>=</a:t>
            </a:r>
            <a:r>
              <a:rPr kumimoji="0" lang="en-US" altLang="zh-CN" b="1" i="1" dirty="0">
                <a:ea typeface="楷体_GB2312" pitchFamily="49" charset="-122"/>
              </a:rPr>
              <a:t>min</a:t>
            </a:r>
            <a:r>
              <a:rPr kumimoji="0" lang="en-US" altLang="zh-CN" b="1" dirty="0">
                <a:ea typeface="楷体_GB2312" pitchFamily="49" charset="-122"/>
              </a:rPr>
              <a:t>(</a:t>
            </a:r>
            <a:r>
              <a:rPr kumimoji="0" lang="en-US" altLang="zh-CN" b="1" i="1" dirty="0">
                <a:ea typeface="楷体_GB2312" pitchFamily="49" charset="-122"/>
              </a:rPr>
              <a:t>r</a:t>
            </a:r>
            <a:r>
              <a:rPr kumimoji="0" lang="en-US" altLang="zh-CN" b="1" dirty="0">
                <a:ea typeface="楷体_GB2312" pitchFamily="49" charset="-122"/>
              </a:rPr>
              <a:t>, </a:t>
            </a:r>
            <a:r>
              <a:rPr kumimoji="0" lang="en-US" altLang="zh-CN" b="1" i="1" dirty="0">
                <a:ea typeface="楷体_GB2312" pitchFamily="49" charset="-122"/>
              </a:rPr>
              <a:t>g</a:t>
            </a:r>
            <a:r>
              <a:rPr kumimoji="0" lang="en-US" altLang="zh-CN" b="1" dirty="0">
                <a:ea typeface="楷体_GB2312" pitchFamily="49" charset="-122"/>
              </a:rPr>
              <a:t>, </a:t>
            </a:r>
            <a:r>
              <a:rPr kumimoji="0" lang="en-US" altLang="zh-CN" b="1" i="1" dirty="0">
                <a:ea typeface="楷体_GB2312" pitchFamily="49" charset="-122"/>
              </a:rPr>
              <a:t>b</a:t>
            </a:r>
            <a:r>
              <a:rPr kumimoji="0" lang="en-US" altLang="zh-CN" b="1" dirty="0">
                <a:ea typeface="楷体_GB2312" pitchFamily="49" charset="-122"/>
              </a:rPr>
              <a:t>)</a:t>
            </a:r>
            <a:r>
              <a:rPr kumimoji="0" lang="zh-CN" altLang="en-US" b="1" dirty="0">
                <a:ea typeface="楷体_GB2312" pitchFamily="49" charset="-122"/>
              </a:rPr>
              <a:t>，</a:t>
            </a:r>
            <a:r>
              <a:rPr kumimoji="0" lang="zh-CN" altLang="en-US" b="1" dirty="0">
                <a:ea typeface="楷体_GB2312" pitchFamily="49" charset="-122"/>
                <a:cs typeface="Times New Roman" panose="02020603050405020304" pitchFamily="18" charset="0"/>
              </a:rPr>
              <a:t>其中</a:t>
            </a:r>
            <a:r>
              <a:rPr kumimoji="0" lang="en-US" altLang="zh-CN" b="1" dirty="0">
                <a:ea typeface="楷体_GB2312" pitchFamily="49" charset="-122"/>
              </a:rPr>
              <a:t>r, g, b</a:t>
            </a:r>
            <a:r>
              <a:rPr kumimoji="0" lang="zh-CN" altLang="en-US" b="1" dirty="0">
                <a:ea typeface="楷体_GB2312" pitchFamily="49" charset="-122"/>
              </a:rPr>
              <a:t>分别是归一化的</a:t>
            </a:r>
            <a:r>
              <a:rPr kumimoji="0" lang="en-US" altLang="zh-CN" b="1" dirty="0">
                <a:ea typeface="楷体_GB2312" pitchFamily="49" charset="-122"/>
              </a:rPr>
              <a:t>RGB</a:t>
            </a:r>
            <a:r>
              <a:rPr kumimoji="0" lang="zh-CN" altLang="en-US" b="1" dirty="0">
                <a:ea typeface="楷体_GB2312" pitchFamily="49" charset="-122"/>
              </a:rPr>
              <a:t>颜色空间中的值 </a:t>
            </a:r>
          </a:p>
        </p:txBody>
      </p:sp>
      <p:sp>
        <p:nvSpPr>
          <p:cNvPr id="158725" name="Rectangle 5">
            <a:extLst>
              <a:ext uri="{FF2B5EF4-FFF2-40B4-BE49-F238E27FC236}">
                <a16:creationId xmlns:a16="http://schemas.microsoft.com/office/drawing/2014/main" id="{839E9902-68B5-4E94-ADC0-AA024FD22A9D}"/>
              </a:ext>
            </a:extLst>
          </p:cNvPr>
          <p:cNvSpPr>
            <a:spLocks noChangeArrowheads="1"/>
          </p:cNvSpPr>
          <p:nvPr/>
        </p:nvSpPr>
        <p:spPr bwMode="auto">
          <a:xfrm>
            <a:off x="1533523" y="1606712"/>
            <a:ext cx="8050213" cy="562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342900" indent="-342900" defTabSz="912813" eaLnBrk="0" hangingPunct="0">
              <a:defRPr kumimoji="1" sz="2400">
                <a:solidFill>
                  <a:schemeClr val="tx1"/>
                </a:solidFill>
                <a:latin typeface="Times New Roman" panose="02020603050405020304" pitchFamily="18" charset="0"/>
                <a:ea typeface="宋体" panose="02010600030101010101" pitchFamily="2" charset="-122"/>
              </a:defRPr>
            </a:lvl1pPr>
            <a:lvl2pPr marL="396875" indent="-396875" defTabSz="912813"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1" eaLnBrk="1" hangingPunct="1">
              <a:lnSpc>
                <a:spcPts val="4000"/>
              </a:lnSpc>
              <a:spcBef>
                <a:spcPct val="20000"/>
              </a:spcBef>
              <a:buClr>
                <a:schemeClr val="accent2"/>
              </a:buClr>
              <a:buBlip>
                <a:blip r:embed="rId3"/>
              </a:buBlip>
            </a:pPr>
            <a:r>
              <a:rPr kumimoji="0" lang="zh-CN" altLang="en-US" sz="2800" b="1" dirty="0">
                <a:ea typeface="楷体_GB2312" pitchFamily="49" charset="-122"/>
              </a:rPr>
              <a:t>从</a:t>
            </a:r>
            <a:r>
              <a:rPr kumimoji="0" lang="en-US" altLang="zh-CN" sz="2800" b="1" dirty="0">
                <a:ea typeface="楷体_GB2312" pitchFamily="49" charset="-122"/>
              </a:rPr>
              <a:t>RGB</a:t>
            </a:r>
            <a:r>
              <a:rPr kumimoji="0" lang="zh-CN" altLang="en-US" sz="2800" b="1" dirty="0">
                <a:ea typeface="楷体_GB2312" pitchFamily="49" charset="-122"/>
              </a:rPr>
              <a:t>颜色坐标转换到</a:t>
            </a:r>
            <a:r>
              <a:rPr kumimoji="0" lang="en-US" altLang="zh-CN" sz="2800" b="1" dirty="0">
                <a:ea typeface="楷体_GB2312" pitchFamily="49" charset="-122"/>
              </a:rPr>
              <a:t>HSV</a:t>
            </a:r>
            <a:r>
              <a:rPr kumimoji="0" lang="zh-CN" altLang="en-US" sz="2800" b="1" dirty="0">
                <a:ea typeface="楷体_GB2312" pitchFamily="49" charset="-122"/>
              </a:rPr>
              <a:t>颜色坐标 </a:t>
            </a:r>
          </a:p>
        </p:txBody>
      </p:sp>
      <p:graphicFrame>
        <p:nvGraphicFramePr>
          <p:cNvPr id="158726" name="Object 6">
            <a:extLst>
              <a:ext uri="{FF2B5EF4-FFF2-40B4-BE49-F238E27FC236}">
                <a16:creationId xmlns:a16="http://schemas.microsoft.com/office/drawing/2014/main" id="{8903BE99-A427-4DE4-8563-717616AE96DD}"/>
              </a:ext>
            </a:extLst>
          </p:cNvPr>
          <p:cNvGraphicFramePr>
            <a:graphicFrameLocks noChangeAspect="1"/>
          </p:cNvGraphicFramePr>
          <p:nvPr>
            <p:extLst>
              <p:ext uri="{D42A27DB-BD31-4B8C-83A1-F6EECF244321}">
                <p14:modId xmlns:p14="http://schemas.microsoft.com/office/powerpoint/2010/main" val="1517253874"/>
              </p:ext>
            </p:extLst>
          </p:nvPr>
        </p:nvGraphicFramePr>
        <p:xfrm>
          <a:off x="3244850" y="3574840"/>
          <a:ext cx="5786438" cy="3073400"/>
        </p:xfrm>
        <a:graphic>
          <a:graphicData uri="http://schemas.openxmlformats.org/presentationml/2006/ole">
            <mc:AlternateContent xmlns:mc="http://schemas.openxmlformats.org/markup-compatibility/2006">
              <mc:Choice xmlns:v="urn:schemas-microsoft-com:vml" Requires="v">
                <p:oleObj spid="_x0000_s6208" name="公式" r:id="rId4" imgW="3213100" imgH="1701800" progId="Equation.3">
                  <p:embed/>
                </p:oleObj>
              </mc:Choice>
              <mc:Fallback>
                <p:oleObj name="公式" r:id="rId4" imgW="3213100" imgH="170180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44850" y="3574840"/>
                        <a:ext cx="5786438" cy="307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标题 3">
            <a:extLst>
              <a:ext uri="{FF2B5EF4-FFF2-40B4-BE49-F238E27FC236}">
                <a16:creationId xmlns:a16="http://schemas.microsoft.com/office/drawing/2014/main" id="{3FB88E8A-FB0A-4132-9815-3D781BD76D68}"/>
              </a:ext>
            </a:extLst>
          </p:cNvPr>
          <p:cNvSpPr>
            <a:spLocks noGrp="1"/>
          </p:cNvSpPr>
          <p:nvPr>
            <p:ph type="title"/>
          </p:nvPr>
        </p:nvSpPr>
        <p:spPr/>
        <p:txBody>
          <a:bodyPr/>
          <a:lstStyle/>
          <a:p>
            <a:r>
              <a:rPr lang="en-US" altLang="zh-CN" dirty="0">
                <a:cs typeface="Arial" charset="0"/>
              </a:rPr>
              <a:t>6. </a:t>
            </a:r>
            <a:r>
              <a:rPr lang="zh-CN" altLang="en-US" dirty="0">
                <a:cs typeface="Arial" charset="0"/>
              </a:rPr>
              <a:t>颜色模型之间的转换算法</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8725"/>
                                        </p:tgtEl>
                                        <p:attrNameLst>
                                          <p:attrName>style.visibility</p:attrName>
                                        </p:attrNameLst>
                                      </p:cBhvr>
                                      <p:to>
                                        <p:strVal val="visible"/>
                                      </p:to>
                                    </p:set>
                                    <p:animEffect transition="in" filter="fade">
                                      <p:cBhvr>
                                        <p:cTn id="7" dur="2000"/>
                                        <p:tgtEl>
                                          <p:spTgt spid="158725"/>
                                        </p:tgtEl>
                                      </p:cBhvr>
                                    </p:animEffect>
                                  </p:childTnLst>
                                </p:cTn>
                              </p:par>
                            </p:childTnLst>
                          </p:cTn>
                        </p:par>
                        <p:par>
                          <p:cTn id="8" fill="hold" nodeType="afterGroup">
                            <p:stCondLst>
                              <p:cond delay="2000"/>
                            </p:stCondLst>
                            <p:childTnLst>
                              <p:par>
                                <p:cTn id="9" presetID="10" presetClass="entr" presetSubtype="0" fill="hold" grpId="0" nodeType="afterEffect">
                                  <p:stCondLst>
                                    <p:cond delay="0"/>
                                  </p:stCondLst>
                                  <p:childTnLst>
                                    <p:set>
                                      <p:cBhvr>
                                        <p:cTn id="10" dur="1" fill="hold">
                                          <p:stCondLst>
                                            <p:cond delay="0"/>
                                          </p:stCondLst>
                                        </p:cTn>
                                        <p:tgtEl>
                                          <p:spTgt spid="158723"/>
                                        </p:tgtEl>
                                        <p:attrNameLst>
                                          <p:attrName>style.visibility</p:attrName>
                                        </p:attrNameLst>
                                      </p:cBhvr>
                                      <p:to>
                                        <p:strVal val="visible"/>
                                      </p:to>
                                    </p:set>
                                    <p:animEffect transition="in" filter="fade">
                                      <p:cBhvr>
                                        <p:cTn id="11" dur="2000"/>
                                        <p:tgtEl>
                                          <p:spTgt spid="158723"/>
                                        </p:tgtEl>
                                      </p:cBhvr>
                                    </p:animEffect>
                                  </p:childTnLst>
                                </p:cTn>
                              </p:par>
                            </p:childTnLst>
                          </p:cTn>
                        </p:par>
                        <p:par>
                          <p:cTn id="12" fill="hold" nodeType="afterGroup">
                            <p:stCondLst>
                              <p:cond delay="4000"/>
                            </p:stCondLst>
                            <p:childTnLst>
                              <p:par>
                                <p:cTn id="13" presetID="10" presetClass="entr" presetSubtype="0" fill="hold" grpId="0" nodeType="afterEffect">
                                  <p:stCondLst>
                                    <p:cond delay="0"/>
                                  </p:stCondLst>
                                  <p:childTnLst>
                                    <p:set>
                                      <p:cBhvr>
                                        <p:cTn id="14" dur="1" fill="hold">
                                          <p:stCondLst>
                                            <p:cond delay="0"/>
                                          </p:stCondLst>
                                        </p:cTn>
                                        <p:tgtEl>
                                          <p:spTgt spid="158724"/>
                                        </p:tgtEl>
                                        <p:attrNameLst>
                                          <p:attrName>style.visibility</p:attrName>
                                        </p:attrNameLst>
                                      </p:cBhvr>
                                      <p:to>
                                        <p:strVal val="visible"/>
                                      </p:to>
                                    </p:set>
                                    <p:animEffect transition="in" filter="fade">
                                      <p:cBhvr>
                                        <p:cTn id="15" dur="2000"/>
                                        <p:tgtEl>
                                          <p:spTgt spid="158724"/>
                                        </p:tgtEl>
                                      </p:cBhvr>
                                    </p:animEffect>
                                  </p:childTnLst>
                                </p:cTn>
                              </p:par>
                            </p:childTnLst>
                          </p:cTn>
                        </p:par>
                        <p:par>
                          <p:cTn id="16" fill="hold" nodeType="afterGroup">
                            <p:stCondLst>
                              <p:cond delay="6000"/>
                            </p:stCondLst>
                            <p:childTnLst>
                              <p:par>
                                <p:cTn id="17" presetID="10" presetClass="entr" presetSubtype="0" fill="hold" nodeType="afterEffect">
                                  <p:stCondLst>
                                    <p:cond delay="0"/>
                                  </p:stCondLst>
                                  <p:childTnLst>
                                    <p:set>
                                      <p:cBhvr>
                                        <p:cTn id="18" dur="1" fill="hold">
                                          <p:stCondLst>
                                            <p:cond delay="0"/>
                                          </p:stCondLst>
                                        </p:cTn>
                                        <p:tgtEl>
                                          <p:spTgt spid="158726"/>
                                        </p:tgtEl>
                                        <p:attrNameLst>
                                          <p:attrName>style.visibility</p:attrName>
                                        </p:attrNameLst>
                                      </p:cBhvr>
                                      <p:to>
                                        <p:strVal val="visible"/>
                                      </p:to>
                                    </p:set>
                                    <p:animEffect transition="in" filter="fade">
                                      <p:cBhvr>
                                        <p:cTn id="19" dur="2000"/>
                                        <p:tgtEl>
                                          <p:spTgt spid="158726"/>
                                        </p:tgtEl>
                                      </p:cBhvr>
                                    </p:animEffect>
                                  </p:childTnLst>
                                </p:cTn>
                              </p:par>
                              <p:par>
                                <p:cTn id="20" presetID="10" presetClass="entr" presetSubtype="0" fill="hold"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23" grpId="0"/>
      <p:bldP spid="158724" grpId="0"/>
      <p:bldP spid="15872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圆角矩形 12">
            <a:extLst>
              <a:ext uri="{FF2B5EF4-FFF2-40B4-BE49-F238E27FC236}">
                <a16:creationId xmlns:a16="http://schemas.microsoft.com/office/drawing/2014/main" id="{93621067-69CF-474F-9D03-C80C12EC758E}"/>
              </a:ext>
            </a:extLst>
          </p:cNvPr>
          <p:cNvSpPr/>
          <p:nvPr/>
        </p:nvSpPr>
        <p:spPr bwMode="auto">
          <a:xfrm>
            <a:off x="341125" y="1636281"/>
            <a:ext cx="4663316" cy="1831033"/>
          </a:xfrm>
          <a:prstGeom prst="roundRect">
            <a:avLst/>
          </a:prstGeom>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wrap="none"/>
          <a:lstStyle/>
          <a:p>
            <a:pPr>
              <a:defRPr/>
            </a:pPr>
            <a:endParaRPr lang="zh-CN" altLang="en-US">
              <a:solidFill>
                <a:schemeClr val="tx1"/>
              </a:solidFill>
              <a:latin typeface="Times New Roman" pitchFamily="18" charset="0"/>
            </a:endParaRPr>
          </a:p>
        </p:txBody>
      </p:sp>
      <p:sp>
        <p:nvSpPr>
          <p:cNvPr id="12" name="圆角矩形 11">
            <a:extLst>
              <a:ext uri="{FF2B5EF4-FFF2-40B4-BE49-F238E27FC236}">
                <a16:creationId xmlns:a16="http://schemas.microsoft.com/office/drawing/2014/main" id="{11BE6D22-6BBB-483E-946B-9F8D05D62C4D}"/>
              </a:ext>
            </a:extLst>
          </p:cNvPr>
          <p:cNvSpPr/>
          <p:nvPr/>
        </p:nvSpPr>
        <p:spPr bwMode="auto">
          <a:xfrm>
            <a:off x="417306" y="3583306"/>
            <a:ext cx="8648729" cy="3276301"/>
          </a:xfrm>
          <a:prstGeom prst="roundRect">
            <a:avLst/>
          </a:prstGeom>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wrap="none"/>
          <a:lstStyle/>
          <a:p>
            <a:pPr>
              <a:defRPr/>
            </a:pPr>
            <a:endParaRPr lang="zh-CN" altLang="en-US">
              <a:solidFill>
                <a:schemeClr val="tx1"/>
              </a:solidFill>
              <a:latin typeface="Times New Roman" pitchFamily="18" charset="0"/>
            </a:endParaRPr>
          </a:p>
        </p:txBody>
      </p:sp>
      <p:sp>
        <p:nvSpPr>
          <p:cNvPr id="159746" name="Rectangle 2">
            <a:extLst>
              <a:ext uri="{FF2B5EF4-FFF2-40B4-BE49-F238E27FC236}">
                <a16:creationId xmlns:a16="http://schemas.microsoft.com/office/drawing/2014/main" id="{2013A63C-3E6A-43AD-A285-1B526E3B5029}"/>
              </a:ext>
            </a:extLst>
          </p:cNvPr>
          <p:cNvSpPr>
            <a:spLocks noChangeArrowheads="1"/>
          </p:cNvSpPr>
          <p:nvPr/>
        </p:nvSpPr>
        <p:spPr bwMode="auto">
          <a:xfrm>
            <a:off x="416573" y="944505"/>
            <a:ext cx="8050213" cy="562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342900" indent="-342900" defTabSz="912813" eaLnBrk="0" hangingPunct="0">
              <a:defRPr kumimoji="1" sz="2400">
                <a:solidFill>
                  <a:schemeClr val="tx1"/>
                </a:solidFill>
                <a:latin typeface="Times New Roman" panose="02020603050405020304" pitchFamily="18" charset="0"/>
                <a:ea typeface="宋体" panose="02010600030101010101" pitchFamily="2" charset="-122"/>
              </a:defRPr>
            </a:lvl1pPr>
            <a:lvl2pPr marL="396875" indent="-396875" defTabSz="912813"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1" eaLnBrk="1" hangingPunct="1">
              <a:lnSpc>
                <a:spcPts val="4000"/>
              </a:lnSpc>
              <a:spcBef>
                <a:spcPct val="20000"/>
              </a:spcBef>
              <a:buClr>
                <a:schemeClr val="accent2"/>
              </a:buClr>
              <a:buBlip>
                <a:blip r:embed="rId4"/>
              </a:buBlip>
            </a:pPr>
            <a:r>
              <a:rPr kumimoji="0" lang="zh-CN" altLang="en-US" sz="2800" b="1" dirty="0">
                <a:ea typeface="楷体_GB2312" pitchFamily="49" charset="-122"/>
              </a:rPr>
              <a:t>从</a:t>
            </a:r>
            <a:r>
              <a:rPr kumimoji="0" lang="en-US" altLang="zh-CN" sz="2800" b="1" dirty="0">
                <a:ea typeface="楷体_GB2312" pitchFamily="49" charset="-122"/>
              </a:rPr>
              <a:t>HSV</a:t>
            </a:r>
            <a:r>
              <a:rPr kumimoji="0" lang="zh-CN" altLang="en-US" sz="2800" b="1" dirty="0">
                <a:ea typeface="楷体_GB2312" pitchFamily="49" charset="-122"/>
              </a:rPr>
              <a:t>颜色坐标到</a:t>
            </a:r>
            <a:r>
              <a:rPr kumimoji="0" lang="en-US" altLang="zh-CN" sz="2800" b="1" dirty="0">
                <a:ea typeface="楷体_GB2312" pitchFamily="49" charset="-122"/>
              </a:rPr>
              <a:t>RGB</a:t>
            </a:r>
            <a:r>
              <a:rPr kumimoji="0" lang="zh-CN" altLang="en-US" sz="2800" b="1" dirty="0">
                <a:ea typeface="楷体_GB2312" pitchFamily="49" charset="-122"/>
              </a:rPr>
              <a:t>颜色坐标的转换 </a:t>
            </a:r>
          </a:p>
        </p:txBody>
      </p:sp>
      <p:graphicFrame>
        <p:nvGraphicFramePr>
          <p:cNvPr id="159747" name="Object 3">
            <a:extLst>
              <a:ext uri="{FF2B5EF4-FFF2-40B4-BE49-F238E27FC236}">
                <a16:creationId xmlns:a16="http://schemas.microsoft.com/office/drawing/2014/main" id="{CF0E0B4B-E6FF-4519-8B38-70F2ED2F4870}"/>
              </a:ext>
            </a:extLst>
          </p:cNvPr>
          <p:cNvGraphicFramePr>
            <a:graphicFrameLocks noChangeAspect="1"/>
          </p:cNvGraphicFramePr>
          <p:nvPr>
            <p:extLst>
              <p:ext uri="{D42A27DB-BD31-4B8C-83A1-F6EECF244321}">
                <p14:modId xmlns:p14="http://schemas.microsoft.com/office/powerpoint/2010/main" val="2809610705"/>
              </p:ext>
            </p:extLst>
          </p:nvPr>
        </p:nvGraphicFramePr>
        <p:xfrm>
          <a:off x="675098" y="1801813"/>
          <a:ext cx="3605212" cy="582612"/>
        </p:xfrm>
        <a:graphic>
          <a:graphicData uri="http://schemas.openxmlformats.org/presentationml/2006/ole">
            <mc:AlternateContent xmlns:mc="http://schemas.openxmlformats.org/markup-compatibility/2006">
              <mc:Choice xmlns:v="urn:schemas-microsoft-com:vml" Requires="v">
                <p:oleObj spid="_x0000_s7407" name="公式" r:id="rId5" imgW="1180588" imgH="190417" progId="Equation.3">
                  <p:embed/>
                </p:oleObj>
              </mc:Choice>
              <mc:Fallback>
                <p:oleObj name="公式" r:id="rId5" imgW="1180588" imgH="190417"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5098" y="1801813"/>
                        <a:ext cx="3605212" cy="582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9749" name="Object 5">
            <a:extLst>
              <a:ext uri="{FF2B5EF4-FFF2-40B4-BE49-F238E27FC236}">
                <a16:creationId xmlns:a16="http://schemas.microsoft.com/office/drawing/2014/main" id="{DE72D607-DF85-420B-A04D-EE8D76A72B6E}"/>
              </a:ext>
            </a:extLst>
          </p:cNvPr>
          <p:cNvGraphicFramePr>
            <a:graphicFrameLocks noChangeAspect="1"/>
          </p:cNvGraphicFramePr>
          <p:nvPr>
            <p:extLst>
              <p:ext uri="{D42A27DB-BD31-4B8C-83A1-F6EECF244321}">
                <p14:modId xmlns:p14="http://schemas.microsoft.com/office/powerpoint/2010/main" val="1124379692"/>
              </p:ext>
            </p:extLst>
          </p:nvPr>
        </p:nvGraphicFramePr>
        <p:xfrm>
          <a:off x="1097374" y="2374901"/>
          <a:ext cx="3241675" cy="993775"/>
        </p:xfrm>
        <a:graphic>
          <a:graphicData uri="http://schemas.openxmlformats.org/presentationml/2006/ole">
            <mc:AlternateContent xmlns:mc="http://schemas.openxmlformats.org/markup-compatibility/2006">
              <mc:Choice xmlns:v="urn:schemas-microsoft-com:vml" Requires="v">
                <p:oleObj spid="_x0000_s7408" name="公式" r:id="rId7" imgW="1409400" imgH="431640" progId="Equation.3">
                  <p:embed/>
                </p:oleObj>
              </mc:Choice>
              <mc:Fallback>
                <p:oleObj name="公式" r:id="rId7" imgW="1409400" imgH="43164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97374" y="2374901"/>
                        <a:ext cx="3241675" cy="993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9751" name="Object 7">
            <a:extLst>
              <a:ext uri="{FF2B5EF4-FFF2-40B4-BE49-F238E27FC236}">
                <a16:creationId xmlns:a16="http://schemas.microsoft.com/office/drawing/2014/main" id="{74BF354E-38D8-467B-9235-1869A5D93CAD}"/>
              </a:ext>
            </a:extLst>
          </p:cNvPr>
          <p:cNvGraphicFramePr>
            <a:graphicFrameLocks noChangeAspect="1"/>
          </p:cNvGraphicFramePr>
          <p:nvPr>
            <p:extLst>
              <p:ext uri="{D42A27DB-BD31-4B8C-83A1-F6EECF244321}">
                <p14:modId xmlns:p14="http://schemas.microsoft.com/office/powerpoint/2010/main" val="1513656610"/>
              </p:ext>
            </p:extLst>
          </p:nvPr>
        </p:nvGraphicFramePr>
        <p:xfrm>
          <a:off x="720576" y="4156076"/>
          <a:ext cx="3055937" cy="1597025"/>
        </p:xfrm>
        <a:graphic>
          <a:graphicData uri="http://schemas.openxmlformats.org/presentationml/2006/ole">
            <mc:AlternateContent xmlns:mc="http://schemas.openxmlformats.org/markup-compatibility/2006">
              <mc:Choice xmlns:v="urn:schemas-microsoft-com:vml" Requires="v">
                <p:oleObj spid="_x0000_s7409" name="公式" r:id="rId9" imgW="1143000" imgH="596900" progId="Equation.3">
                  <p:embed/>
                </p:oleObj>
              </mc:Choice>
              <mc:Fallback>
                <p:oleObj name="公式" r:id="rId9" imgW="1143000" imgH="596900"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20576" y="4156076"/>
                        <a:ext cx="3055937" cy="1597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9753" name="Object 9">
            <a:extLst>
              <a:ext uri="{FF2B5EF4-FFF2-40B4-BE49-F238E27FC236}">
                <a16:creationId xmlns:a16="http://schemas.microsoft.com/office/drawing/2014/main" id="{B7ECE084-9B56-4C08-8456-79C3A73EB54F}"/>
              </a:ext>
            </a:extLst>
          </p:cNvPr>
          <p:cNvGraphicFramePr>
            <a:graphicFrameLocks noChangeAspect="1"/>
          </p:cNvGraphicFramePr>
          <p:nvPr>
            <p:extLst>
              <p:ext uri="{D42A27DB-BD31-4B8C-83A1-F6EECF244321}">
                <p14:modId xmlns:p14="http://schemas.microsoft.com/office/powerpoint/2010/main" val="1579489211"/>
              </p:ext>
            </p:extLst>
          </p:nvPr>
        </p:nvGraphicFramePr>
        <p:xfrm>
          <a:off x="4022575" y="3636964"/>
          <a:ext cx="4794250" cy="3221037"/>
        </p:xfrm>
        <a:graphic>
          <a:graphicData uri="http://schemas.openxmlformats.org/presentationml/2006/ole">
            <mc:AlternateContent xmlns:mc="http://schemas.openxmlformats.org/markup-compatibility/2006">
              <mc:Choice xmlns:v="urn:schemas-microsoft-com:vml" Requires="v">
                <p:oleObj spid="_x0000_s7410" name="公式" r:id="rId11" imgW="1816100" imgH="1219200" progId="Equation.3">
                  <p:embed/>
                </p:oleObj>
              </mc:Choice>
              <mc:Fallback>
                <p:oleObj name="公式" r:id="rId11" imgW="1816100" imgH="1219200" progId="Equation.3">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022575" y="3636964"/>
                        <a:ext cx="4794250" cy="32210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9755" name="Text Box 11">
            <a:extLst>
              <a:ext uri="{FF2B5EF4-FFF2-40B4-BE49-F238E27FC236}">
                <a16:creationId xmlns:a16="http://schemas.microsoft.com/office/drawing/2014/main" id="{8DA96E2A-27B0-4A81-99F1-023EB484BE7E}"/>
              </a:ext>
            </a:extLst>
          </p:cNvPr>
          <p:cNvSpPr txBox="1">
            <a:spLocks noChangeArrowheads="1"/>
          </p:cNvSpPr>
          <p:nvPr/>
        </p:nvSpPr>
        <p:spPr bwMode="auto">
          <a:xfrm>
            <a:off x="5426717" y="2045864"/>
            <a:ext cx="5329211" cy="537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ts val="4000"/>
              </a:lnSpc>
              <a:spcBef>
                <a:spcPct val="50000"/>
              </a:spcBef>
            </a:pPr>
            <a:r>
              <a:rPr kumimoji="0" lang="zh-CN" altLang="en-US" sz="2000" b="1" dirty="0">
                <a:ea typeface="楷体_GB2312" pitchFamily="49" charset="-122"/>
              </a:rPr>
              <a:t>其中％为取余数运算，即</a:t>
            </a:r>
            <a:r>
              <a:rPr kumimoji="0" lang="en-US" altLang="zh-CN" sz="2000" b="1" dirty="0">
                <a:ea typeface="楷体_GB2312" pitchFamily="49" charset="-122"/>
              </a:rPr>
              <a:t>f</a:t>
            </a:r>
            <a:r>
              <a:rPr kumimoji="0" lang="zh-CN" altLang="en-US" sz="2000" b="1" dirty="0">
                <a:ea typeface="楷体_GB2312" pitchFamily="49" charset="-122"/>
              </a:rPr>
              <a:t>为</a:t>
            </a:r>
            <a:r>
              <a:rPr kumimoji="0" lang="en-US" altLang="zh-CN" sz="2000" b="1" dirty="0">
                <a:ea typeface="楷体_GB2312" pitchFamily="49" charset="-122"/>
              </a:rPr>
              <a:t>h</a:t>
            </a:r>
            <a:r>
              <a:rPr kumimoji="0" lang="zh-CN" altLang="en-US" sz="2000" b="1" dirty="0">
                <a:ea typeface="楷体_GB2312" pitchFamily="49" charset="-122"/>
              </a:rPr>
              <a:t>除以</a:t>
            </a:r>
            <a:r>
              <a:rPr kumimoji="0" lang="en-US" altLang="zh-CN" sz="2000" b="1" dirty="0">
                <a:ea typeface="楷体_GB2312" pitchFamily="49" charset="-122"/>
              </a:rPr>
              <a:t>60</a:t>
            </a:r>
            <a:r>
              <a:rPr kumimoji="0" lang="zh-CN" altLang="en-US" sz="2000" b="1" dirty="0">
                <a:ea typeface="楷体_GB2312" pitchFamily="49" charset="-122"/>
              </a:rPr>
              <a:t>的余数</a:t>
            </a:r>
          </a:p>
        </p:txBody>
      </p:sp>
      <p:sp>
        <p:nvSpPr>
          <p:cNvPr id="3" name="标题 2">
            <a:extLst>
              <a:ext uri="{FF2B5EF4-FFF2-40B4-BE49-F238E27FC236}">
                <a16:creationId xmlns:a16="http://schemas.microsoft.com/office/drawing/2014/main" id="{EA5A4279-9AA4-4F03-87BE-5CC0167A0413}"/>
              </a:ext>
            </a:extLst>
          </p:cNvPr>
          <p:cNvSpPr>
            <a:spLocks noGrp="1"/>
          </p:cNvSpPr>
          <p:nvPr>
            <p:ph type="title"/>
          </p:nvPr>
        </p:nvSpPr>
        <p:spPr/>
        <p:txBody>
          <a:bodyPr/>
          <a:lstStyle/>
          <a:p>
            <a:r>
              <a:rPr lang="en-US" altLang="zh-CN" dirty="0">
                <a:cs typeface="Arial" charset="0"/>
              </a:rPr>
              <a:t>6. </a:t>
            </a:r>
            <a:r>
              <a:rPr lang="zh-CN" altLang="en-US" dirty="0">
                <a:cs typeface="Arial" charset="0"/>
              </a:rPr>
              <a:t>颜色模型之间的转换算法</a:t>
            </a:r>
            <a:endParaRPr lang="zh-CN" altLang="en-US" dirty="0"/>
          </a:p>
        </p:txBody>
      </p:sp>
      <p:sp>
        <p:nvSpPr>
          <p:cNvPr id="11" name="矩形 10">
            <a:extLst>
              <a:ext uri="{FF2B5EF4-FFF2-40B4-BE49-F238E27FC236}">
                <a16:creationId xmlns:a16="http://schemas.microsoft.com/office/drawing/2014/main" id="{CC48BC82-458F-40B6-B763-BB897989DBBF}"/>
              </a:ext>
            </a:extLst>
          </p:cNvPr>
          <p:cNvSpPr/>
          <p:nvPr/>
        </p:nvSpPr>
        <p:spPr>
          <a:xfrm>
            <a:off x="9164179" y="6232317"/>
            <a:ext cx="2823209" cy="400110"/>
          </a:xfrm>
          <a:prstGeom prst="rect">
            <a:avLst/>
          </a:prstGeom>
        </p:spPr>
        <p:txBody>
          <a:bodyPr wrap="none">
            <a:spAutoFit/>
          </a:bodyPr>
          <a:lstStyle/>
          <a:p>
            <a:r>
              <a:rPr lang="zh-CN" altLang="en-US" sz="2000" b="1" dirty="0"/>
              <a:t>实例：</a:t>
            </a:r>
            <a:r>
              <a:rPr lang="en-US" altLang="zh-CN" sz="2000" b="1" dirty="0"/>
              <a:t>HSVtoRGB.cpp</a:t>
            </a:r>
            <a:endParaRPr lang="zh-CN" altLang="en-US" sz="2000" b="1"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9746"/>
                                        </p:tgtEl>
                                        <p:attrNameLst>
                                          <p:attrName>style.visibility</p:attrName>
                                        </p:attrNameLst>
                                      </p:cBhvr>
                                      <p:to>
                                        <p:strVal val="visible"/>
                                      </p:to>
                                    </p:set>
                                    <p:animEffect transition="in" filter="fade">
                                      <p:cBhvr>
                                        <p:cTn id="7" dur="2000"/>
                                        <p:tgtEl>
                                          <p:spTgt spid="159746"/>
                                        </p:tgtEl>
                                      </p:cBhvr>
                                    </p:animEffect>
                                  </p:childTnLst>
                                </p:cTn>
                              </p:par>
                            </p:childTnLst>
                          </p:cTn>
                        </p:par>
                        <p:par>
                          <p:cTn id="8" fill="hold" nodeType="afterGroup">
                            <p:stCondLst>
                              <p:cond delay="2000"/>
                            </p:stCondLst>
                            <p:childTnLst>
                              <p:par>
                                <p:cTn id="9" presetID="10" presetClass="entr" presetSubtype="0"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2000"/>
                                        <p:tgtEl>
                                          <p:spTgt spid="13"/>
                                        </p:tgtEl>
                                      </p:cBhvr>
                                    </p:animEffect>
                                  </p:childTnLst>
                                </p:cTn>
                              </p:par>
                              <p:par>
                                <p:cTn id="12" presetID="10" presetClass="entr" presetSubtype="0" fill="hold" nodeType="withEffect">
                                  <p:stCondLst>
                                    <p:cond delay="0"/>
                                  </p:stCondLst>
                                  <p:childTnLst>
                                    <p:set>
                                      <p:cBhvr>
                                        <p:cTn id="13" dur="1" fill="hold">
                                          <p:stCondLst>
                                            <p:cond delay="0"/>
                                          </p:stCondLst>
                                        </p:cTn>
                                        <p:tgtEl>
                                          <p:spTgt spid="159749"/>
                                        </p:tgtEl>
                                        <p:attrNameLst>
                                          <p:attrName>style.visibility</p:attrName>
                                        </p:attrNameLst>
                                      </p:cBhvr>
                                      <p:to>
                                        <p:strVal val="visible"/>
                                      </p:to>
                                    </p:set>
                                    <p:animEffect transition="in" filter="fade">
                                      <p:cBhvr>
                                        <p:cTn id="14" dur="2000"/>
                                        <p:tgtEl>
                                          <p:spTgt spid="159749"/>
                                        </p:tgtEl>
                                      </p:cBhvr>
                                    </p:animEffect>
                                  </p:childTnLst>
                                </p:cTn>
                              </p:par>
                              <p:par>
                                <p:cTn id="15" presetID="10" presetClass="entr" presetSubtype="0" fill="hold" nodeType="withEffect">
                                  <p:stCondLst>
                                    <p:cond delay="0"/>
                                  </p:stCondLst>
                                  <p:childTnLst>
                                    <p:set>
                                      <p:cBhvr>
                                        <p:cTn id="16" dur="1" fill="hold">
                                          <p:stCondLst>
                                            <p:cond delay="0"/>
                                          </p:stCondLst>
                                        </p:cTn>
                                        <p:tgtEl>
                                          <p:spTgt spid="159747"/>
                                        </p:tgtEl>
                                        <p:attrNameLst>
                                          <p:attrName>style.visibility</p:attrName>
                                        </p:attrNameLst>
                                      </p:cBhvr>
                                      <p:to>
                                        <p:strVal val="visible"/>
                                      </p:to>
                                    </p:set>
                                    <p:animEffect transition="in" filter="fade">
                                      <p:cBhvr>
                                        <p:cTn id="17" dur="2000"/>
                                        <p:tgtEl>
                                          <p:spTgt spid="159747"/>
                                        </p:tgtEl>
                                      </p:cBhvr>
                                    </p:animEffect>
                                  </p:childTnLst>
                                </p:cTn>
                              </p:par>
                            </p:childTnLst>
                          </p:cTn>
                        </p:par>
                        <p:par>
                          <p:cTn id="18" fill="hold" nodeType="afterGroup">
                            <p:stCondLst>
                              <p:cond delay="4000"/>
                            </p:stCondLst>
                            <p:childTnLst>
                              <p:par>
                                <p:cTn id="19" presetID="10" presetClass="entr" presetSubtype="0" fill="hold" grpId="0" nodeType="afterEffect">
                                  <p:stCondLst>
                                    <p:cond delay="0"/>
                                  </p:stCondLst>
                                  <p:childTnLst>
                                    <p:set>
                                      <p:cBhvr>
                                        <p:cTn id="20" dur="1" fill="hold">
                                          <p:stCondLst>
                                            <p:cond delay="0"/>
                                          </p:stCondLst>
                                        </p:cTn>
                                        <p:tgtEl>
                                          <p:spTgt spid="159755"/>
                                        </p:tgtEl>
                                        <p:attrNameLst>
                                          <p:attrName>style.visibility</p:attrName>
                                        </p:attrNameLst>
                                      </p:cBhvr>
                                      <p:to>
                                        <p:strVal val="visible"/>
                                      </p:to>
                                    </p:set>
                                    <p:animEffect transition="in" filter="fade">
                                      <p:cBhvr>
                                        <p:cTn id="21" dur="2000"/>
                                        <p:tgtEl>
                                          <p:spTgt spid="159755"/>
                                        </p:tgtEl>
                                      </p:cBhvr>
                                    </p:animEffect>
                                  </p:childTnLst>
                                </p:cTn>
                              </p:par>
                            </p:childTnLst>
                          </p:cTn>
                        </p:par>
                        <p:par>
                          <p:cTn id="22" fill="hold" nodeType="afterGroup">
                            <p:stCondLst>
                              <p:cond delay="6000"/>
                            </p:stCondLst>
                            <p:childTnLst>
                              <p:par>
                                <p:cTn id="23" presetID="10" presetClass="entr" presetSubtype="0" fill="hold" nodeType="after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2000"/>
                                        <p:tgtEl>
                                          <p:spTgt spid="12"/>
                                        </p:tgtEl>
                                      </p:cBhvr>
                                    </p:animEffect>
                                  </p:childTnLst>
                                </p:cTn>
                              </p:par>
                              <p:par>
                                <p:cTn id="26" presetID="10" presetClass="entr" presetSubtype="0" fill="hold" nodeType="withEffect">
                                  <p:stCondLst>
                                    <p:cond delay="0"/>
                                  </p:stCondLst>
                                  <p:childTnLst>
                                    <p:set>
                                      <p:cBhvr>
                                        <p:cTn id="27" dur="1" fill="hold">
                                          <p:stCondLst>
                                            <p:cond delay="0"/>
                                          </p:stCondLst>
                                        </p:cTn>
                                        <p:tgtEl>
                                          <p:spTgt spid="159753"/>
                                        </p:tgtEl>
                                        <p:attrNameLst>
                                          <p:attrName>style.visibility</p:attrName>
                                        </p:attrNameLst>
                                      </p:cBhvr>
                                      <p:to>
                                        <p:strVal val="visible"/>
                                      </p:to>
                                    </p:set>
                                    <p:animEffect transition="in" filter="fade">
                                      <p:cBhvr>
                                        <p:cTn id="28" dur="2000"/>
                                        <p:tgtEl>
                                          <p:spTgt spid="159753"/>
                                        </p:tgtEl>
                                      </p:cBhvr>
                                    </p:animEffect>
                                  </p:childTnLst>
                                </p:cTn>
                              </p:par>
                              <p:par>
                                <p:cTn id="29" presetID="10" presetClass="entr" presetSubtype="0" fill="hold" nodeType="withEffect">
                                  <p:stCondLst>
                                    <p:cond delay="0"/>
                                  </p:stCondLst>
                                  <p:childTnLst>
                                    <p:set>
                                      <p:cBhvr>
                                        <p:cTn id="30" dur="1" fill="hold">
                                          <p:stCondLst>
                                            <p:cond delay="0"/>
                                          </p:stCondLst>
                                        </p:cTn>
                                        <p:tgtEl>
                                          <p:spTgt spid="159751"/>
                                        </p:tgtEl>
                                        <p:attrNameLst>
                                          <p:attrName>style.visibility</p:attrName>
                                        </p:attrNameLst>
                                      </p:cBhvr>
                                      <p:to>
                                        <p:strVal val="visible"/>
                                      </p:to>
                                    </p:set>
                                    <p:animEffect transition="in" filter="fade">
                                      <p:cBhvr>
                                        <p:cTn id="31" dur="2000"/>
                                        <p:tgtEl>
                                          <p:spTgt spid="159751"/>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11"/>
                                        </p:tgtEl>
                                        <p:attrNameLst>
                                          <p:attrName>style.visibility</p:attrName>
                                        </p:attrNameLst>
                                      </p:cBhvr>
                                      <p:to>
                                        <p:strVal val="visible"/>
                                      </p:to>
                                    </p:set>
                                    <p:anim calcmode="lin" valueType="num">
                                      <p:cBhvr additive="base">
                                        <p:cTn id="36" dur="500" fill="hold"/>
                                        <p:tgtEl>
                                          <p:spTgt spid="11"/>
                                        </p:tgtEl>
                                        <p:attrNameLst>
                                          <p:attrName>ppt_x</p:attrName>
                                        </p:attrNameLst>
                                      </p:cBhvr>
                                      <p:tavLst>
                                        <p:tav tm="0">
                                          <p:val>
                                            <p:strVal val="#ppt_x"/>
                                          </p:val>
                                        </p:tav>
                                        <p:tav tm="100000">
                                          <p:val>
                                            <p:strVal val="#ppt_x"/>
                                          </p:val>
                                        </p:tav>
                                      </p:tavLst>
                                    </p:anim>
                                    <p:anim calcmode="lin" valueType="num">
                                      <p:cBhvr additive="base">
                                        <p:cTn id="37"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6" grpId="0"/>
      <p:bldP spid="159755" grpId="0"/>
      <p:bldP spid="11"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2091DEFF-AC64-4F1C-B78B-54B291EA13B0}"/>
              </a:ext>
            </a:extLst>
          </p:cNvPr>
          <p:cNvSpPr/>
          <p:nvPr/>
        </p:nvSpPr>
        <p:spPr bwMode="auto">
          <a:xfrm>
            <a:off x="2837412" y="2051917"/>
            <a:ext cx="6417425" cy="3374967"/>
          </a:xfrm>
          <a:prstGeom prst="rect">
            <a:avLst/>
          </a:prstGeom>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wrap="none"/>
          <a:lstStyle/>
          <a:p>
            <a:pPr>
              <a:defRPr/>
            </a:pPr>
            <a:endParaRPr lang="zh-CN" altLang="en-US">
              <a:solidFill>
                <a:schemeClr val="tx1"/>
              </a:solidFill>
              <a:latin typeface="Times New Roman" pitchFamily="18" charset="0"/>
            </a:endParaRPr>
          </a:p>
        </p:txBody>
      </p:sp>
      <p:sp>
        <p:nvSpPr>
          <p:cNvPr id="16392" name="Rectangle 2">
            <a:extLst>
              <a:ext uri="{FF2B5EF4-FFF2-40B4-BE49-F238E27FC236}">
                <a16:creationId xmlns:a16="http://schemas.microsoft.com/office/drawing/2014/main" id="{F9A39EC3-7DB1-4DE6-B7D8-B275863F5BBB}"/>
              </a:ext>
            </a:extLst>
          </p:cNvPr>
          <p:cNvSpPr>
            <a:spLocks noChangeArrowheads="1"/>
          </p:cNvSpPr>
          <p:nvPr/>
        </p:nvSpPr>
        <p:spPr bwMode="auto">
          <a:xfrm>
            <a:off x="1358224" y="1028604"/>
            <a:ext cx="8702675" cy="562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342900" indent="-342900" defTabSz="912813" eaLnBrk="0" hangingPunct="0">
              <a:defRPr kumimoji="1" sz="2400">
                <a:solidFill>
                  <a:schemeClr val="tx1"/>
                </a:solidFill>
                <a:latin typeface="Times New Roman" panose="02020603050405020304" pitchFamily="18" charset="0"/>
                <a:ea typeface="宋体" panose="02010600030101010101" pitchFamily="2" charset="-122"/>
              </a:defRPr>
            </a:lvl1pPr>
            <a:lvl2pPr marL="396875" indent="-396875" defTabSz="912813"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1" eaLnBrk="1" hangingPunct="1">
              <a:lnSpc>
                <a:spcPts val="4000"/>
              </a:lnSpc>
              <a:spcBef>
                <a:spcPct val="20000"/>
              </a:spcBef>
              <a:buClr>
                <a:schemeClr val="accent2"/>
              </a:buClr>
              <a:buBlip>
                <a:blip r:embed="rId3"/>
              </a:buBlip>
            </a:pPr>
            <a:r>
              <a:rPr kumimoji="0" lang="en-US" altLang="zh-CN" sz="2800" b="1" dirty="0">
                <a:ea typeface="楷体_GB2312" pitchFamily="49" charset="-122"/>
              </a:rPr>
              <a:t>RGB</a:t>
            </a:r>
            <a:r>
              <a:rPr kumimoji="0" lang="zh-CN" altLang="en-US" sz="2800" b="1" dirty="0">
                <a:ea typeface="楷体_GB2312" pitchFamily="49" charset="-122"/>
              </a:rPr>
              <a:t>与</a:t>
            </a:r>
            <a:r>
              <a:rPr kumimoji="0" lang="en-US" altLang="zh-CN" sz="2800" b="1" dirty="0">
                <a:ea typeface="楷体_GB2312" pitchFamily="49" charset="-122"/>
              </a:rPr>
              <a:t>CIE XYZ</a:t>
            </a:r>
            <a:r>
              <a:rPr kumimoji="0" lang="zh-CN" altLang="en-US" sz="2800" b="1" dirty="0">
                <a:ea typeface="楷体_GB2312" pitchFamily="49" charset="-122"/>
              </a:rPr>
              <a:t>颜色模型之间转换算法 </a:t>
            </a:r>
          </a:p>
        </p:txBody>
      </p:sp>
      <p:graphicFrame>
        <p:nvGraphicFramePr>
          <p:cNvPr id="16386" name="Object 3">
            <a:extLst>
              <a:ext uri="{FF2B5EF4-FFF2-40B4-BE49-F238E27FC236}">
                <a16:creationId xmlns:a16="http://schemas.microsoft.com/office/drawing/2014/main" id="{04845E05-12EB-4321-B1A3-AC1605C39BDA}"/>
              </a:ext>
            </a:extLst>
          </p:cNvPr>
          <p:cNvGraphicFramePr>
            <a:graphicFrameLocks noChangeAspect="1"/>
          </p:cNvGraphicFramePr>
          <p:nvPr/>
        </p:nvGraphicFramePr>
        <p:xfrm>
          <a:off x="2863851" y="2733676"/>
          <a:ext cx="6373813" cy="2062163"/>
        </p:xfrm>
        <a:graphic>
          <a:graphicData uri="http://schemas.openxmlformats.org/presentationml/2006/ole">
            <mc:AlternateContent xmlns:mc="http://schemas.openxmlformats.org/markup-compatibility/2006">
              <mc:Choice xmlns:v="urn:schemas-microsoft-com:vml" Requires="v">
                <p:oleObj spid="_x0000_s8256" name="公式" r:id="rId4" imgW="1916868" imgH="622030" progId="Equation.3">
                  <p:embed/>
                </p:oleObj>
              </mc:Choice>
              <mc:Fallback>
                <p:oleObj name="公式" r:id="rId4" imgW="1916868" imgH="62203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63851" y="2733676"/>
                        <a:ext cx="6373813" cy="2062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标题 2">
            <a:extLst>
              <a:ext uri="{FF2B5EF4-FFF2-40B4-BE49-F238E27FC236}">
                <a16:creationId xmlns:a16="http://schemas.microsoft.com/office/drawing/2014/main" id="{4F1402D1-2726-41CE-B0D2-7E374C207A01}"/>
              </a:ext>
            </a:extLst>
          </p:cNvPr>
          <p:cNvSpPr>
            <a:spLocks noGrp="1"/>
          </p:cNvSpPr>
          <p:nvPr>
            <p:ph type="title"/>
          </p:nvPr>
        </p:nvSpPr>
        <p:spPr/>
        <p:txBody>
          <a:bodyPr/>
          <a:lstStyle/>
          <a:p>
            <a:r>
              <a:rPr lang="en-US" altLang="zh-CN" dirty="0">
                <a:cs typeface="Arial" charset="0"/>
              </a:rPr>
              <a:t>6. </a:t>
            </a:r>
            <a:r>
              <a:rPr lang="zh-CN" altLang="en-US" dirty="0">
                <a:cs typeface="Arial" charset="0"/>
              </a:rPr>
              <a:t>颜色模型之间的转换算法</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16392"/>
                                        </p:tgtEl>
                                        <p:attrNameLst>
                                          <p:attrName>style.visibility</p:attrName>
                                        </p:attrNameLst>
                                      </p:cBhvr>
                                      <p:to>
                                        <p:strVal val="visible"/>
                                      </p:to>
                                    </p:set>
                                    <p:animEffect transition="in" filter="wipe(down)">
                                      <p:cBhvr>
                                        <p:cTn id="7" dur="580">
                                          <p:stCondLst>
                                            <p:cond delay="0"/>
                                          </p:stCondLst>
                                        </p:cTn>
                                        <p:tgtEl>
                                          <p:spTgt spid="16392"/>
                                        </p:tgtEl>
                                      </p:cBhvr>
                                    </p:animEffect>
                                    <p:anim calcmode="lin" valueType="num">
                                      <p:cBhvr>
                                        <p:cTn id="8" dur="1822" tmFilter="0,0; 0.14,0.36; 0.43,0.73; 0.71,0.91; 1.0,1.0">
                                          <p:stCondLst>
                                            <p:cond delay="0"/>
                                          </p:stCondLst>
                                        </p:cTn>
                                        <p:tgtEl>
                                          <p:spTgt spid="1639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639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639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639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6392"/>
                                        </p:tgtEl>
                                        <p:attrNameLst>
                                          <p:attrName>ppt_y</p:attrName>
                                        </p:attrNameLst>
                                      </p:cBhvr>
                                      <p:tavLst>
                                        <p:tav tm="0" fmla="#ppt_y-sin(pi*$)/81">
                                          <p:val>
                                            <p:fltVal val="0"/>
                                          </p:val>
                                        </p:tav>
                                        <p:tav tm="100000">
                                          <p:val>
                                            <p:fltVal val="1"/>
                                          </p:val>
                                        </p:tav>
                                      </p:tavLst>
                                    </p:anim>
                                    <p:animScale>
                                      <p:cBhvr>
                                        <p:cTn id="13" dur="26">
                                          <p:stCondLst>
                                            <p:cond delay="650"/>
                                          </p:stCondLst>
                                        </p:cTn>
                                        <p:tgtEl>
                                          <p:spTgt spid="16392"/>
                                        </p:tgtEl>
                                      </p:cBhvr>
                                      <p:to x="100000" y="60000"/>
                                    </p:animScale>
                                    <p:animScale>
                                      <p:cBhvr>
                                        <p:cTn id="14" dur="166" decel="50000">
                                          <p:stCondLst>
                                            <p:cond delay="676"/>
                                          </p:stCondLst>
                                        </p:cTn>
                                        <p:tgtEl>
                                          <p:spTgt spid="16392"/>
                                        </p:tgtEl>
                                      </p:cBhvr>
                                      <p:to x="100000" y="100000"/>
                                    </p:animScale>
                                    <p:animScale>
                                      <p:cBhvr>
                                        <p:cTn id="15" dur="26">
                                          <p:stCondLst>
                                            <p:cond delay="1312"/>
                                          </p:stCondLst>
                                        </p:cTn>
                                        <p:tgtEl>
                                          <p:spTgt spid="16392"/>
                                        </p:tgtEl>
                                      </p:cBhvr>
                                      <p:to x="100000" y="80000"/>
                                    </p:animScale>
                                    <p:animScale>
                                      <p:cBhvr>
                                        <p:cTn id="16" dur="166" decel="50000">
                                          <p:stCondLst>
                                            <p:cond delay="1338"/>
                                          </p:stCondLst>
                                        </p:cTn>
                                        <p:tgtEl>
                                          <p:spTgt spid="16392"/>
                                        </p:tgtEl>
                                      </p:cBhvr>
                                      <p:to x="100000" y="100000"/>
                                    </p:animScale>
                                    <p:animScale>
                                      <p:cBhvr>
                                        <p:cTn id="17" dur="26">
                                          <p:stCondLst>
                                            <p:cond delay="1642"/>
                                          </p:stCondLst>
                                        </p:cTn>
                                        <p:tgtEl>
                                          <p:spTgt spid="16392"/>
                                        </p:tgtEl>
                                      </p:cBhvr>
                                      <p:to x="100000" y="90000"/>
                                    </p:animScale>
                                    <p:animScale>
                                      <p:cBhvr>
                                        <p:cTn id="18" dur="166" decel="50000">
                                          <p:stCondLst>
                                            <p:cond delay="1668"/>
                                          </p:stCondLst>
                                        </p:cTn>
                                        <p:tgtEl>
                                          <p:spTgt spid="16392"/>
                                        </p:tgtEl>
                                      </p:cBhvr>
                                      <p:to x="100000" y="100000"/>
                                    </p:animScale>
                                    <p:animScale>
                                      <p:cBhvr>
                                        <p:cTn id="19" dur="26">
                                          <p:stCondLst>
                                            <p:cond delay="1808"/>
                                          </p:stCondLst>
                                        </p:cTn>
                                        <p:tgtEl>
                                          <p:spTgt spid="16392"/>
                                        </p:tgtEl>
                                      </p:cBhvr>
                                      <p:to x="100000" y="95000"/>
                                    </p:animScale>
                                    <p:animScale>
                                      <p:cBhvr>
                                        <p:cTn id="20" dur="166" decel="50000">
                                          <p:stCondLst>
                                            <p:cond delay="1834"/>
                                          </p:stCondLst>
                                        </p:cTn>
                                        <p:tgtEl>
                                          <p:spTgt spid="16392"/>
                                        </p:tgtEl>
                                      </p:cBhvr>
                                      <p:to x="100000" y="100000"/>
                                    </p:animScale>
                                  </p:childTnLst>
                                </p:cTn>
                              </p:par>
                            </p:childTnLst>
                          </p:cTn>
                        </p:par>
                        <p:par>
                          <p:cTn id="21" fill="hold" nodeType="afterGroup">
                            <p:stCondLst>
                              <p:cond delay="2000"/>
                            </p:stCondLst>
                            <p:childTnLst>
                              <p:par>
                                <p:cTn id="22" presetID="26" presetClass="entr" presetSubtype="0" fill="hold"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wipe(down)">
                                      <p:cBhvr>
                                        <p:cTn id="24" dur="580">
                                          <p:stCondLst>
                                            <p:cond delay="0"/>
                                          </p:stCondLst>
                                        </p:cTn>
                                        <p:tgtEl>
                                          <p:spTgt spid="12"/>
                                        </p:tgtEl>
                                      </p:cBhvr>
                                    </p:animEffect>
                                    <p:anim calcmode="lin" valueType="num">
                                      <p:cBhvr>
                                        <p:cTn id="25" dur="1822" tmFilter="0,0; 0.14,0.36; 0.43,0.73; 0.71,0.91; 1.0,1.0">
                                          <p:stCondLst>
                                            <p:cond delay="0"/>
                                          </p:stCondLst>
                                        </p:cTn>
                                        <p:tgtEl>
                                          <p:spTgt spid="12"/>
                                        </p:tgtEl>
                                        <p:attrNameLst>
                                          <p:attrName>ppt_x</p:attrName>
                                        </p:attrNameLst>
                                      </p:cBhvr>
                                      <p:tavLst>
                                        <p:tav tm="0">
                                          <p:val>
                                            <p:strVal val="#ppt_x-0.25"/>
                                          </p:val>
                                        </p:tav>
                                        <p:tav tm="100000">
                                          <p:val>
                                            <p:strVal val="#ppt_x"/>
                                          </p:val>
                                        </p:tav>
                                      </p:tavLst>
                                    </p:anim>
                                    <p:anim calcmode="lin" valueType="num">
                                      <p:cBhvr>
                                        <p:cTn id="26" dur="664" tmFilter="0.0,0.0; 0.25,0.07; 0.50,0.2; 0.75,0.467; 1.0,1.0">
                                          <p:stCondLst>
                                            <p:cond delay="0"/>
                                          </p:stCondLst>
                                        </p:cTn>
                                        <p:tgtEl>
                                          <p:spTgt spid="12"/>
                                        </p:tgtEl>
                                        <p:attrNameLst>
                                          <p:attrName>ppt_y</p:attrName>
                                        </p:attrNameLst>
                                      </p:cBhvr>
                                      <p:tavLst>
                                        <p:tav tm="0" fmla="#ppt_y-sin(pi*$)/3">
                                          <p:val>
                                            <p:fltVal val="0.5"/>
                                          </p:val>
                                        </p:tav>
                                        <p:tav tm="100000">
                                          <p:val>
                                            <p:fltVal val="1"/>
                                          </p:val>
                                        </p:tav>
                                      </p:tavLst>
                                    </p:anim>
                                    <p:anim calcmode="lin" valueType="num">
                                      <p:cBhvr>
                                        <p:cTn id="27" dur="664" tmFilter="0, 0; 0.125,0.2665; 0.25,0.4; 0.375,0.465; 0.5,0.5;  0.625,0.535; 0.75,0.6; 0.875,0.7335; 1,1">
                                          <p:stCondLst>
                                            <p:cond delay="664"/>
                                          </p:stCondLst>
                                        </p:cTn>
                                        <p:tgtEl>
                                          <p:spTgt spid="12"/>
                                        </p:tgtEl>
                                        <p:attrNameLst>
                                          <p:attrName>ppt_y</p:attrName>
                                        </p:attrNameLst>
                                      </p:cBhvr>
                                      <p:tavLst>
                                        <p:tav tm="0" fmla="#ppt_y-sin(pi*$)/9">
                                          <p:val>
                                            <p:fltVal val="0"/>
                                          </p:val>
                                        </p:tav>
                                        <p:tav tm="100000">
                                          <p:val>
                                            <p:fltVal val="1"/>
                                          </p:val>
                                        </p:tav>
                                      </p:tavLst>
                                    </p:anim>
                                    <p:anim calcmode="lin" valueType="num">
                                      <p:cBhvr>
                                        <p:cTn id="28" dur="332" tmFilter="0, 0; 0.125,0.2665; 0.25,0.4; 0.375,0.465; 0.5,0.5;  0.625,0.535; 0.75,0.6; 0.875,0.7335; 1,1">
                                          <p:stCondLst>
                                            <p:cond delay="1324"/>
                                          </p:stCondLst>
                                        </p:cTn>
                                        <p:tgtEl>
                                          <p:spTgt spid="12"/>
                                        </p:tgtEl>
                                        <p:attrNameLst>
                                          <p:attrName>ppt_y</p:attrName>
                                        </p:attrNameLst>
                                      </p:cBhvr>
                                      <p:tavLst>
                                        <p:tav tm="0" fmla="#ppt_y-sin(pi*$)/27">
                                          <p:val>
                                            <p:fltVal val="0"/>
                                          </p:val>
                                        </p:tav>
                                        <p:tav tm="100000">
                                          <p:val>
                                            <p:fltVal val="1"/>
                                          </p:val>
                                        </p:tav>
                                      </p:tavLst>
                                    </p:anim>
                                    <p:anim calcmode="lin" valueType="num">
                                      <p:cBhvr>
                                        <p:cTn id="29" dur="164" tmFilter="0, 0; 0.125,0.2665; 0.25,0.4; 0.375,0.465; 0.5,0.5;  0.625,0.535; 0.75,0.6; 0.875,0.7335; 1,1">
                                          <p:stCondLst>
                                            <p:cond delay="1656"/>
                                          </p:stCondLst>
                                        </p:cTn>
                                        <p:tgtEl>
                                          <p:spTgt spid="12"/>
                                        </p:tgtEl>
                                        <p:attrNameLst>
                                          <p:attrName>ppt_y</p:attrName>
                                        </p:attrNameLst>
                                      </p:cBhvr>
                                      <p:tavLst>
                                        <p:tav tm="0" fmla="#ppt_y-sin(pi*$)/81">
                                          <p:val>
                                            <p:fltVal val="0"/>
                                          </p:val>
                                        </p:tav>
                                        <p:tav tm="100000">
                                          <p:val>
                                            <p:fltVal val="1"/>
                                          </p:val>
                                        </p:tav>
                                      </p:tavLst>
                                    </p:anim>
                                    <p:animScale>
                                      <p:cBhvr>
                                        <p:cTn id="30" dur="26">
                                          <p:stCondLst>
                                            <p:cond delay="650"/>
                                          </p:stCondLst>
                                        </p:cTn>
                                        <p:tgtEl>
                                          <p:spTgt spid="12"/>
                                        </p:tgtEl>
                                      </p:cBhvr>
                                      <p:to x="100000" y="60000"/>
                                    </p:animScale>
                                    <p:animScale>
                                      <p:cBhvr>
                                        <p:cTn id="31" dur="166" decel="50000">
                                          <p:stCondLst>
                                            <p:cond delay="676"/>
                                          </p:stCondLst>
                                        </p:cTn>
                                        <p:tgtEl>
                                          <p:spTgt spid="12"/>
                                        </p:tgtEl>
                                      </p:cBhvr>
                                      <p:to x="100000" y="100000"/>
                                    </p:animScale>
                                    <p:animScale>
                                      <p:cBhvr>
                                        <p:cTn id="32" dur="26">
                                          <p:stCondLst>
                                            <p:cond delay="1312"/>
                                          </p:stCondLst>
                                        </p:cTn>
                                        <p:tgtEl>
                                          <p:spTgt spid="12"/>
                                        </p:tgtEl>
                                      </p:cBhvr>
                                      <p:to x="100000" y="80000"/>
                                    </p:animScale>
                                    <p:animScale>
                                      <p:cBhvr>
                                        <p:cTn id="33" dur="166" decel="50000">
                                          <p:stCondLst>
                                            <p:cond delay="1338"/>
                                          </p:stCondLst>
                                        </p:cTn>
                                        <p:tgtEl>
                                          <p:spTgt spid="12"/>
                                        </p:tgtEl>
                                      </p:cBhvr>
                                      <p:to x="100000" y="100000"/>
                                    </p:animScale>
                                    <p:animScale>
                                      <p:cBhvr>
                                        <p:cTn id="34" dur="26">
                                          <p:stCondLst>
                                            <p:cond delay="1642"/>
                                          </p:stCondLst>
                                        </p:cTn>
                                        <p:tgtEl>
                                          <p:spTgt spid="12"/>
                                        </p:tgtEl>
                                      </p:cBhvr>
                                      <p:to x="100000" y="90000"/>
                                    </p:animScale>
                                    <p:animScale>
                                      <p:cBhvr>
                                        <p:cTn id="35" dur="166" decel="50000">
                                          <p:stCondLst>
                                            <p:cond delay="1668"/>
                                          </p:stCondLst>
                                        </p:cTn>
                                        <p:tgtEl>
                                          <p:spTgt spid="12"/>
                                        </p:tgtEl>
                                      </p:cBhvr>
                                      <p:to x="100000" y="100000"/>
                                    </p:animScale>
                                    <p:animScale>
                                      <p:cBhvr>
                                        <p:cTn id="36" dur="26">
                                          <p:stCondLst>
                                            <p:cond delay="1808"/>
                                          </p:stCondLst>
                                        </p:cTn>
                                        <p:tgtEl>
                                          <p:spTgt spid="12"/>
                                        </p:tgtEl>
                                      </p:cBhvr>
                                      <p:to x="100000" y="95000"/>
                                    </p:animScale>
                                    <p:animScale>
                                      <p:cBhvr>
                                        <p:cTn id="37" dur="166" decel="50000">
                                          <p:stCondLst>
                                            <p:cond delay="1834"/>
                                          </p:stCondLst>
                                        </p:cTn>
                                        <p:tgtEl>
                                          <p:spTgt spid="12"/>
                                        </p:tgtEl>
                                      </p:cBhvr>
                                      <p:to x="100000" y="100000"/>
                                    </p:animScale>
                                  </p:childTnLst>
                                </p:cTn>
                              </p:par>
                              <p:par>
                                <p:cTn id="38" presetID="26" presetClass="entr" presetSubtype="0" fill="hold" nodeType="withEffect">
                                  <p:stCondLst>
                                    <p:cond delay="0"/>
                                  </p:stCondLst>
                                  <p:childTnLst>
                                    <p:set>
                                      <p:cBhvr>
                                        <p:cTn id="39" dur="1" fill="hold">
                                          <p:stCondLst>
                                            <p:cond delay="0"/>
                                          </p:stCondLst>
                                        </p:cTn>
                                        <p:tgtEl>
                                          <p:spTgt spid="16386"/>
                                        </p:tgtEl>
                                        <p:attrNameLst>
                                          <p:attrName>style.visibility</p:attrName>
                                        </p:attrNameLst>
                                      </p:cBhvr>
                                      <p:to>
                                        <p:strVal val="visible"/>
                                      </p:to>
                                    </p:set>
                                    <p:animEffect transition="in" filter="wipe(down)">
                                      <p:cBhvr>
                                        <p:cTn id="40" dur="580">
                                          <p:stCondLst>
                                            <p:cond delay="0"/>
                                          </p:stCondLst>
                                        </p:cTn>
                                        <p:tgtEl>
                                          <p:spTgt spid="16386"/>
                                        </p:tgtEl>
                                      </p:cBhvr>
                                    </p:animEffect>
                                    <p:anim calcmode="lin" valueType="num">
                                      <p:cBhvr>
                                        <p:cTn id="41" dur="1822" tmFilter="0,0; 0.14,0.36; 0.43,0.73; 0.71,0.91; 1.0,1.0">
                                          <p:stCondLst>
                                            <p:cond delay="0"/>
                                          </p:stCondLst>
                                        </p:cTn>
                                        <p:tgtEl>
                                          <p:spTgt spid="16386"/>
                                        </p:tgtEl>
                                        <p:attrNameLst>
                                          <p:attrName>ppt_x</p:attrName>
                                        </p:attrNameLst>
                                      </p:cBhvr>
                                      <p:tavLst>
                                        <p:tav tm="0">
                                          <p:val>
                                            <p:strVal val="#ppt_x-0.25"/>
                                          </p:val>
                                        </p:tav>
                                        <p:tav tm="100000">
                                          <p:val>
                                            <p:strVal val="#ppt_x"/>
                                          </p:val>
                                        </p:tav>
                                      </p:tavLst>
                                    </p:anim>
                                    <p:anim calcmode="lin" valueType="num">
                                      <p:cBhvr>
                                        <p:cTn id="42" dur="664" tmFilter="0.0,0.0; 0.25,0.07; 0.50,0.2; 0.75,0.467; 1.0,1.0">
                                          <p:stCondLst>
                                            <p:cond delay="0"/>
                                          </p:stCondLst>
                                        </p:cTn>
                                        <p:tgtEl>
                                          <p:spTgt spid="16386"/>
                                        </p:tgtEl>
                                        <p:attrNameLst>
                                          <p:attrName>ppt_y</p:attrName>
                                        </p:attrNameLst>
                                      </p:cBhvr>
                                      <p:tavLst>
                                        <p:tav tm="0" fmla="#ppt_y-sin(pi*$)/3">
                                          <p:val>
                                            <p:fltVal val="0.5"/>
                                          </p:val>
                                        </p:tav>
                                        <p:tav tm="100000">
                                          <p:val>
                                            <p:fltVal val="1"/>
                                          </p:val>
                                        </p:tav>
                                      </p:tavLst>
                                    </p:anim>
                                    <p:anim calcmode="lin" valueType="num">
                                      <p:cBhvr>
                                        <p:cTn id="43" dur="664" tmFilter="0, 0; 0.125,0.2665; 0.25,0.4; 0.375,0.465; 0.5,0.5;  0.625,0.535; 0.75,0.6; 0.875,0.7335; 1,1">
                                          <p:stCondLst>
                                            <p:cond delay="664"/>
                                          </p:stCondLst>
                                        </p:cTn>
                                        <p:tgtEl>
                                          <p:spTgt spid="16386"/>
                                        </p:tgtEl>
                                        <p:attrNameLst>
                                          <p:attrName>ppt_y</p:attrName>
                                        </p:attrNameLst>
                                      </p:cBhvr>
                                      <p:tavLst>
                                        <p:tav tm="0" fmla="#ppt_y-sin(pi*$)/9">
                                          <p:val>
                                            <p:fltVal val="0"/>
                                          </p:val>
                                        </p:tav>
                                        <p:tav tm="100000">
                                          <p:val>
                                            <p:fltVal val="1"/>
                                          </p:val>
                                        </p:tav>
                                      </p:tavLst>
                                    </p:anim>
                                    <p:anim calcmode="lin" valueType="num">
                                      <p:cBhvr>
                                        <p:cTn id="44" dur="332" tmFilter="0, 0; 0.125,0.2665; 0.25,0.4; 0.375,0.465; 0.5,0.5;  0.625,0.535; 0.75,0.6; 0.875,0.7335; 1,1">
                                          <p:stCondLst>
                                            <p:cond delay="1324"/>
                                          </p:stCondLst>
                                        </p:cTn>
                                        <p:tgtEl>
                                          <p:spTgt spid="16386"/>
                                        </p:tgtEl>
                                        <p:attrNameLst>
                                          <p:attrName>ppt_y</p:attrName>
                                        </p:attrNameLst>
                                      </p:cBhvr>
                                      <p:tavLst>
                                        <p:tav tm="0" fmla="#ppt_y-sin(pi*$)/27">
                                          <p:val>
                                            <p:fltVal val="0"/>
                                          </p:val>
                                        </p:tav>
                                        <p:tav tm="100000">
                                          <p:val>
                                            <p:fltVal val="1"/>
                                          </p:val>
                                        </p:tav>
                                      </p:tavLst>
                                    </p:anim>
                                    <p:anim calcmode="lin" valueType="num">
                                      <p:cBhvr>
                                        <p:cTn id="45" dur="164" tmFilter="0, 0; 0.125,0.2665; 0.25,0.4; 0.375,0.465; 0.5,0.5;  0.625,0.535; 0.75,0.6; 0.875,0.7335; 1,1">
                                          <p:stCondLst>
                                            <p:cond delay="1656"/>
                                          </p:stCondLst>
                                        </p:cTn>
                                        <p:tgtEl>
                                          <p:spTgt spid="16386"/>
                                        </p:tgtEl>
                                        <p:attrNameLst>
                                          <p:attrName>ppt_y</p:attrName>
                                        </p:attrNameLst>
                                      </p:cBhvr>
                                      <p:tavLst>
                                        <p:tav tm="0" fmla="#ppt_y-sin(pi*$)/81">
                                          <p:val>
                                            <p:fltVal val="0"/>
                                          </p:val>
                                        </p:tav>
                                        <p:tav tm="100000">
                                          <p:val>
                                            <p:fltVal val="1"/>
                                          </p:val>
                                        </p:tav>
                                      </p:tavLst>
                                    </p:anim>
                                    <p:animScale>
                                      <p:cBhvr>
                                        <p:cTn id="46" dur="26">
                                          <p:stCondLst>
                                            <p:cond delay="650"/>
                                          </p:stCondLst>
                                        </p:cTn>
                                        <p:tgtEl>
                                          <p:spTgt spid="16386"/>
                                        </p:tgtEl>
                                      </p:cBhvr>
                                      <p:to x="100000" y="60000"/>
                                    </p:animScale>
                                    <p:animScale>
                                      <p:cBhvr>
                                        <p:cTn id="47" dur="166" decel="50000">
                                          <p:stCondLst>
                                            <p:cond delay="676"/>
                                          </p:stCondLst>
                                        </p:cTn>
                                        <p:tgtEl>
                                          <p:spTgt spid="16386"/>
                                        </p:tgtEl>
                                      </p:cBhvr>
                                      <p:to x="100000" y="100000"/>
                                    </p:animScale>
                                    <p:animScale>
                                      <p:cBhvr>
                                        <p:cTn id="48" dur="26">
                                          <p:stCondLst>
                                            <p:cond delay="1312"/>
                                          </p:stCondLst>
                                        </p:cTn>
                                        <p:tgtEl>
                                          <p:spTgt spid="16386"/>
                                        </p:tgtEl>
                                      </p:cBhvr>
                                      <p:to x="100000" y="80000"/>
                                    </p:animScale>
                                    <p:animScale>
                                      <p:cBhvr>
                                        <p:cTn id="49" dur="166" decel="50000">
                                          <p:stCondLst>
                                            <p:cond delay="1338"/>
                                          </p:stCondLst>
                                        </p:cTn>
                                        <p:tgtEl>
                                          <p:spTgt spid="16386"/>
                                        </p:tgtEl>
                                      </p:cBhvr>
                                      <p:to x="100000" y="100000"/>
                                    </p:animScale>
                                    <p:animScale>
                                      <p:cBhvr>
                                        <p:cTn id="50" dur="26">
                                          <p:stCondLst>
                                            <p:cond delay="1642"/>
                                          </p:stCondLst>
                                        </p:cTn>
                                        <p:tgtEl>
                                          <p:spTgt spid="16386"/>
                                        </p:tgtEl>
                                      </p:cBhvr>
                                      <p:to x="100000" y="90000"/>
                                    </p:animScale>
                                    <p:animScale>
                                      <p:cBhvr>
                                        <p:cTn id="51" dur="166" decel="50000">
                                          <p:stCondLst>
                                            <p:cond delay="1668"/>
                                          </p:stCondLst>
                                        </p:cTn>
                                        <p:tgtEl>
                                          <p:spTgt spid="16386"/>
                                        </p:tgtEl>
                                      </p:cBhvr>
                                      <p:to x="100000" y="100000"/>
                                    </p:animScale>
                                    <p:animScale>
                                      <p:cBhvr>
                                        <p:cTn id="52" dur="26">
                                          <p:stCondLst>
                                            <p:cond delay="1808"/>
                                          </p:stCondLst>
                                        </p:cTn>
                                        <p:tgtEl>
                                          <p:spTgt spid="16386"/>
                                        </p:tgtEl>
                                      </p:cBhvr>
                                      <p:to x="100000" y="95000"/>
                                    </p:animScale>
                                    <p:animScale>
                                      <p:cBhvr>
                                        <p:cTn id="53" dur="166" decel="50000">
                                          <p:stCondLst>
                                            <p:cond delay="1834"/>
                                          </p:stCondLst>
                                        </p:cTn>
                                        <p:tgtEl>
                                          <p:spTgt spid="1638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7208CA8D-1010-4866-941B-8DF6BE8645D4}"/>
              </a:ext>
            </a:extLst>
          </p:cNvPr>
          <p:cNvSpPr/>
          <p:nvPr/>
        </p:nvSpPr>
        <p:spPr bwMode="auto">
          <a:xfrm>
            <a:off x="2105891" y="3070455"/>
            <a:ext cx="8096597" cy="2728808"/>
          </a:xfrm>
          <a:prstGeom prst="rect">
            <a:avLst/>
          </a:prstGeom>
          <a:ln>
            <a:headEnd type="none" w="med" len="med"/>
            <a:tailEnd type="none" w="med" len="med"/>
          </a:ln>
          <a:effectLst>
            <a:outerShdw blurRad="40000" dist="23000" dir="5400000" rotWithShape="0">
              <a:srgbClr val="000000">
                <a:alpha val="35000"/>
              </a:srgbClr>
            </a:outerShdw>
            <a:reflection blurRad="6350" stA="52000" endA="300" endPos="35000" dir="5400000" sy="-100000" algn="bl" rotWithShape="0"/>
          </a:effectLst>
        </p:spPr>
        <p:style>
          <a:lnRef idx="0">
            <a:schemeClr val="accent3"/>
          </a:lnRef>
          <a:fillRef idx="3">
            <a:schemeClr val="accent3"/>
          </a:fillRef>
          <a:effectRef idx="3">
            <a:schemeClr val="accent3"/>
          </a:effectRef>
          <a:fontRef idx="minor">
            <a:schemeClr val="lt1"/>
          </a:fontRef>
        </p:style>
        <p:txBody>
          <a:bodyPr wrap="none"/>
          <a:lstStyle/>
          <a:p>
            <a:pPr>
              <a:defRPr/>
            </a:pPr>
            <a:endParaRPr lang="zh-CN" altLang="en-US">
              <a:solidFill>
                <a:srgbClr val="002060"/>
              </a:solidFill>
              <a:latin typeface="Times New Roman" pitchFamily="18" charset="0"/>
            </a:endParaRPr>
          </a:p>
        </p:txBody>
      </p:sp>
      <p:sp>
        <p:nvSpPr>
          <p:cNvPr id="9220" name="Rectangle 6">
            <a:extLst>
              <a:ext uri="{FF2B5EF4-FFF2-40B4-BE49-F238E27FC236}">
                <a16:creationId xmlns:a16="http://schemas.microsoft.com/office/drawing/2014/main" id="{13E2DB78-B32B-4457-A0B5-F81C54C744C5}"/>
              </a:ext>
            </a:extLst>
          </p:cNvPr>
          <p:cNvSpPr>
            <a:spLocks noChangeArrowheads="1"/>
          </p:cNvSpPr>
          <p:nvPr/>
        </p:nvSpPr>
        <p:spPr bwMode="auto">
          <a:xfrm>
            <a:off x="811084" y="1058737"/>
            <a:ext cx="8702675" cy="562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342900" indent="-342900" defTabSz="912813" eaLnBrk="0" hangingPunct="0">
              <a:defRPr kumimoji="1" sz="2400">
                <a:solidFill>
                  <a:schemeClr val="tx1"/>
                </a:solidFill>
                <a:latin typeface="Times New Roman" panose="02020603050405020304" pitchFamily="18" charset="0"/>
                <a:ea typeface="宋体" panose="02010600030101010101" pitchFamily="2" charset="-122"/>
              </a:defRPr>
            </a:lvl1pPr>
            <a:lvl2pPr marL="396875" indent="-396875" defTabSz="912813"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1" eaLnBrk="1" hangingPunct="1">
              <a:lnSpc>
                <a:spcPts val="4000"/>
              </a:lnSpc>
              <a:spcBef>
                <a:spcPct val="20000"/>
              </a:spcBef>
              <a:buClr>
                <a:schemeClr val="accent2"/>
              </a:buClr>
              <a:buBlip>
                <a:blip r:embed="rId3"/>
              </a:buBlip>
            </a:pPr>
            <a:r>
              <a:rPr kumimoji="0" lang="en-US" altLang="zh-CN" sz="2800" b="1" dirty="0">
                <a:ea typeface="楷体_GB2312" pitchFamily="49" charset="-122"/>
              </a:rPr>
              <a:t> CIE XYZ</a:t>
            </a:r>
            <a:r>
              <a:rPr kumimoji="0" lang="zh-CN" altLang="en-US" sz="2800" b="1" dirty="0">
                <a:ea typeface="楷体_GB2312" pitchFamily="49" charset="-122"/>
              </a:rPr>
              <a:t>与</a:t>
            </a:r>
            <a:r>
              <a:rPr kumimoji="0" lang="en-US" altLang="zh-CN" sz="2800" b="1" dirty="0">
                <a:ea typeface="楷体_GB2312" pitchFamily="49" charset="-122"/>
              </a:rPr>
              <a:t>CIE L*a*b*</a:t>
            </a:r>
            <a:r>
              <a:rPr kumimoji="0" lang="zh-CN" altLang="en-US" sz="2800" b="1" dirty="0">
                <a:ea typeface="楷体_GB2312" pitchFamily="49" charset="-122"/>
              </a:rPr>
              <a:t>颜色模型之间转换算法 </a:t>
            </a:r>
          </a:p>
        </p:txBody>
      </p:sp>
      <p:sp>
        <p:nvSpPr>
          <p:cNvPr id="16394" name="Rectangle 7">
            <a:extLst>
              <a:ext uri="{FF2B5EF4-FFF2-40B4-BE49-F238E27FC236}">
                <a16:creationId xmlns:a16="http://schemas.microsoft.com/office/drawing/2014/main" id="{F0739C54-1BA6-4A91-A6E4-2732E245565C}"/>
              </a:ext>
            </a:extLst>
          </p:cNvPr>
          <p:cNvSpPr>
            <a:spLocks noChangeArrowheads="1"/>
          </p:cNvSpPr>
          <p:nvPr/>
        </p:nvSpPr>
        <p:spPr bwMode="auto">
          <a:xfrm>
            <a:off x="1401580" y="1760827"/>
            <a:ext cx="9533745" cy="1063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ts val="4000"/>
              </a:lnSpc>
              <a:buClr>
                <a:schemeClr val="accent2"/>
              </a:buClr>
            </a:pPr>
            <a:r>
              <a:rPr kumimoji="0" lang="en-US" altLang="zh-CN" b="1" i="1" dirty="0">
                <a:ea typeface="楷体_GB2312" pitchFamily="49" charset="-122"/>
              </a:rPr>
              <a:t>L</a:t>
            </a:r>
            <a:r>
              <a:rPr kumimoji="0" lang="zh-CN" altLang="en-US" b="1" dirty="0">
                <a:ea typeface="楷体_GB2312" pitchFamily="49" charset="-122"/>
              </a:rPr>
              <a:t>的范围是</a:t>
            </a:r>
            <a:r>
              <a:rPr kumimoji="0" lang="en-US" altLang="zh-CN" b="1" dirty="0">
                <a:ea typeface="楷体_GB2312" pitchFamily="49" charset="-122"/>
              </a:rPr>
              <a:t>0~100</a:t>
            </a:r>
            <a:r>
              <a:rPr kumimoji="0" lang="zh-CN" altLang="en-US" b="1" dirty="0">
                <a:ea typeface="楷体_GB2312" pitchFamily="49" charset="-122"/>
              </a:rPr>
              <a:t>，</a:t>
            </a:r>
            <a:r>
              <a:rPr kumimoji="0" lang="en-US" altLang="zh-CN" b="1" i="1" dirty="0">
                <a:ea typeface="楷体_GB2312" pitchFamily="49" charset="-122"/>
              </a:rPr>
              <a:t>a</a:t>
            </a:r>
            <a:r>
              <a:rPr kumimoji="0" lang="en-US" altLang="zh-CN" b="1" dirty="0">
                <a:ea typeface="楷体_GB2312" pitchFamily="49" charset="-122"/>
              </a:rPr>
              <a:t>, </a:t>
            </a:r>
            <a:r>
              <a:rPr kumimoji="0" lang="en-US" altLang="zh-CN" b="1" i="1" dirty="0">
                <a:ea typeface="楷体_GB2312" pitchFamily="49" charset="-122"/>
              </a:rPr>
              <a:t>b</a:t>
            </a:r>
            <a:r>
              <a:rPr kumimoji="0" lang="zh-CN" altLang="en-US" b="1" dirty="0">
                <a:ea typeface="楷体_GB2312" pitchFamily="49" charset="-122"/>
              </a:rPr>
              <a:t>的范围是</a:t>
            </a:r>
            <a:r>
              <a:rPr kumimoji="0" lang="en-US" altLang="zh-CN" b="1" i="1" dirty="0">
                <a:ea typeface="楷体_GB2312" pitchFamily="49" charset="-122"/>
              </a:rPr>
              <a:t>-</a:t>
            </a:r>
            <a:r>
              <a:rPr kumimoji="0" lang="en-US" altLang="zh-CN" b="1" dirty="0">
                <a:ea typeface="楷体_GB2312" pitchFamily="49" charset="-122"/>
              </a:rPr>
              <a:t>300~300</a:t>
            </a:r>
          </a:p>
          <a:p>
            <a:pPr eaLnBrk="1" hangingPunct="1">
              <a:lnSpc>
                <a:spcPts val="4000"/>
              </a:lnSpc>
              <a:buClr>
                <a:schemeClr val="accent2"/>
              </a:buClr>
            </a:pPr>
            <a:r>
              <a:rPr kumimoji="0" lang="zh-CN" altLang="en-US" b="1" dirty="0">
                <a:ea typeface="楷体_GB2312" pitchFamily="49" charset="-122"/>
              </a:rPr>
              <a:t>从</a:t>
            </a:r>
            <a:r>
              <a:rPr kumimoji="0" lang="en-US" altLang="zh-CN" b="1" i="1" dirty="0">
                <a:ea typeface="楷体_GB2312" pitchFamily="49" charset="-122"/>
              </a:rPr>
              <a:t>-a</a:t>
            </a:r>
            <a:r>
              <a:rPr kumimoji="0" lang="zh-CN" altLang="en-US" b="1" dirty="0">
                <a:ea typeface="楷体_GB2312" pitchFamily="49" charset="-122"/>
              </a:rPr>
              <a:t>到</a:t>
            </a:r>
            <a:r>
              <a:rPr kumimoji="0" lang="en-US" altLang="zh-CN" b="1" dirty="0">
                <a:ea typeface="楷体_GB2312" pitchFamily="49" charset="-122"/>
              </a:rPr>
              <a:t>+</a:t>
            </a:r>
            <a:r>
              <a:rPr kumimoji="0" lang="en-US" altLang="zh-CN" b="1" i="1" dirty="0">
                <a:ea typeface="楷体_GB2312" pitchFamily="49" charset="-122"/>
              </a:rPr>
              <a:t>a</a:t>
            </a:r>
            <a:r>
              <a:rPr kumimoji="0" lang="zh-CN" altLang="en-US" b="1" dirty="0">
                <a:ea typeface="楷体_GB2312" pitchFamily="49" charset="-122"/>
              </a:rPr>
              <a:t>表示绿到红过渡，</a:t>
            </a:r>
            <a:r>
              <a:rPr kumimoji="0" lang="en-US" altLang="zh-CN" b="1" i="1" dirty="0">
                <a:ea typeface="楷体_GB2312" pitchFamily="49" charset="-122"/>
              </a:rPr>
              <a:t>-b</a:t>
            </a:r>
            <a:r>
              <a:rPr kumimoji="0" lang="zh-CN" altLang="en-US" b="1" dirty="0">
                <a:ea typeface="楷体_GB2312" pitchFamily="49" charset="-122"/>
              </a:rPr>
              <a:t>到</a:t>
            </a:r>
            <a:r>
              <a:rPr kumimoji="0" lang="en-US" altLang="zh-CN" b="1" dirty="0">
                <a:ea typeface="楷体_GB2312" pitchFamily="49" charset="-122"/>
              </a:rPr>
              <a:t>+</a:t>
            </a:r>
            <a:r>
              <a:rPr kumimoji="0" lang="en-US" altLang="zh-CN" b="1" i="1" dirty="0">
                <a:ea typeface="楷体_GB2312" pitchFamily="49" charset="-122"/>
              </a:rPr>
              <a:t>b</a:t>
            </a:r>
            <a:r>
              <a:rPr kumimoji="0" lang="zh-CN" altLang="en-US" b="1" dirty="0">
                <a:ea typeface="楷体_GB2312" pitchFamily="49" charset="-122"/>
              </a:rPr>
              <a:t>表示蓝到黄过渡</a:t>
            </a:r>
          </a:p>
        </p:txBody>
      </p:sp>
      <p:graphicFrame>
        <p:nvGraphicFramePr>
          <p:cNvPr id="16387" name="Object 8">
            <a:extLst>
              <a:ext uri="{FF2B5EF4-FFF2-40B4-BE49-F238E27FC236}">
                <a16:creationId xmlns:a16="http://schemas.microsoft.com/office/drawing/2014/main" id="{8561779E-CBBD-40B6-A792-EA8A02440AE3}"/>
              </a:ext>
            </a:extLst>
          </p:cNvPr>
          <p:cNvGraphicFramePr>
            <a:graphicFrameLocks noChangeAspect="1"/>
          </p:cNvGraphicFramePr>
          <p:nvPr/>
        </p:nvGraphicFramePr>
        <p:xfrm>
          <a:off x="2308225" y="3386139"/>
          <a:ext cx="7721600" cy="1787525"/>
        </p:xfrm>
        <a:graphic>
          <a:graphicData uri="http://schemas.openxmlformats.org/presentationml/2006/ole">
            <mc:AlternateContent xmlns:mc="http://schemas.openxmlformats.org/markup-compatibility/2006">
              <mc:Choice xmlns:v="urn:schemas-microsoft-com:vml" Requires="v">
                <p:oleObj spid="_x0000_s9279" r:id="rId4" imgW="3746500" imgH="863600" progId="Equation.3">
                  <p:embed/>
                </p:oleObj>
              </mc:Choice>
              <mc:Fallback>
                <p:oleObj r:id="rId4" imgW="3746500" imgH="863600"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08225" y="3386139"/>
                        <a:ext cx="7721600" cy="1787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标题 2">
            <a:extLst>
              <a:ext uri="{FF2B5EF4-FFF2-40B4-BE49-F238E27FC236}">
                <a16:creationId xmlns:a16="http://schemas.microsoft.com/office/drawing/2014/main" id="{B4BA7BAE-C99F-44F8-9EE2-E1C3709FFEFE}"/>
              </a:ext>
            </a:extLst>
          </p:cNvPr>
          <p:cNvSpPr>
            <a:spLocks noGrp="1"/>
          </p:cNvSpPr>
          <p:nvPr>
            <p:ph type="title"/>
          </p:nvPr>
        </p:nvSpPr>
        <p:spPr/>
        <p:txBody>
          <a:bodyPr/>
          <a:lstStyle/>
          <a:p>
            <a:r>
              <a:rPr lang="en-US" altLang="zh-CN" dirty="0">
                <a:cs typeface="Arial" charset="0"/>
              </a:rPr>
              <a:t>6. </a:t>
            </a:r>
            <a:r>
              <a:rPr lang="zh-CN" altLang="en-US" dirty="0">
                <a:cs typeface="Arial" charset="0"/>
              </a:rPr>
              <a:t>颜色模型之间的转换算法</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ntr" presetSubtype="0" fill="hold" grpId="0" nodeType="afterEffect">
                                  <p:stCondLst>
                                    <p:cond delay="0"/>
                                  </p:stCondLst>
                                  <p:childTnLst>
                                    <p:set>
                                      <p:cBhvr>
                                        <p:cTn id="6" dur="1" fill="hold">
                                          <p:stCondLst>
                                            <p:cond delay="0"/>
                                          </p:stCondLst>
                                        </p:cTn>
                                        <p:tgtEl>
                                          <p:spTgt spid="16394"/>
                                        </p:tgtEl>
                                        <p:attrNameLst>
                                          <p:attrName>style.visibility</p:attrName>
                                        </p:attrNameLst>
                                      </p:cBhvr>
                                      <p:to>
                                        <p:strVal val="visible"/>
                                      </p:to>
                                    </p:set>
                                    <p:animEffect transition="in" filter="wipe(down)">
                                      <p:cBhvr>
                                        <p:cTn id="7" dur="580">
                                          <p:stCondLst>
                                            <p:cond delay="0"/>
                                          </p:stCondLst>
                                        </p:cTn>
                                        <p:tgtEl>
                                          <p:spTgt spid="16394"/>
                                        </p:tgtEl>
                                      </p:cBhvr>
                                    </p:animEffect>
                                    <p:anim calcmode="lin" valueType="num">
                                      <p:cBhvr>
                                        <p:cTn id="8" dur="1822" tmFilter="0,0; 0.14,0.36; 0.43,0.73; 0.71,0.91; 1.0,1.0">
                                          <p:stCondLst>
                                            <p:cond delay="0"/>
                                          </p:stCondLst>
                                        </p:cTn>
                                        <p:tgtEl>
                                          <p:spTgt spid="1639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639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639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639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6394"/>
                                        </p:tgtEl>
                                        <p:attrNameLst>
                                          <p:attrName>ppt_y</p:attrName>
                                        </p:attrNameLst>
                                      </p:cBhvr>
                                      <p:tavLst>
                                        <p:tav tm="0" fmla="#ppt_y-sin(pi*$)/81">
                                          <p:val>
                                            <p:fltVal val="0"/>
                                          </p:val>
                                        </p:tav>
                                        <p:tav tm="100000">
                                          <p:val>
                                            <p:fltVal val="1"/>
                                          </p:val>
                                        </p:tav>
                                      </p:tavLst>
                                    </p:anim>
                                    <p:animScale>
                                      <p:cBhvr>
                                        <p:cTn id="13" dur="26">
                                          <p:stCondLst>
                                            <p:cond delay="650"/>
                                          </p:stCondLst>
                                        </p:cTn>
                                        <p:tgtEl>
                                          <p:spTgt spid="16394"/>
                                        </p:tgtEl>
                                      </p:cBhvr>
                                      <p:to x="100000" y="60000"/>
                                    </p:animScale>
                                    <p:animScale>
                                      <p:cBhvr>
                                        <p:cTn id="14" dur="166" decel="50000">
                                          <p:stCondLst>
                                            <p:cond delay="676"/>
                                          </p:stCondLst>
                                        </p:cTn>
                                        <p:tgtEl>
                                          <p:spTgt spid="16394"/>
                                        </p:tgtEl>
                                      </p:cBhvr>
                                      <p:to x="100000" y="100000"/>
                                    </p:animScale>
                                    <p:animScale>
                                      <p:cBhvr>
                                        <p:cTn id="15" dur="26">
                                          <p:stCondLst>
                                            <p:cond delay="1312"/>
                                          </p:stCondLst>
                                        </p:cTn>
                                        <p:tgtEl>
                                          <p:spTgt spid="16394"/>
                                        </p:tgtEl>
                                      </p:cBhvr>
                                      <p:to x="100000" y="80000"/>
                                    </p:animScale>
                                    <p:animScale>
                                      <p:cBhvr>
                                        <p:cTn id="16" dur="166" decel="50000">
                                          <p:stCondLst>
                                            <p:cond delay="1338"/>
                                          </p:stCondLst>
                                        </p:cTn>
                                        <p:tgtEl>
                                          <p:spTgt spid="16394"/>
                                        </p:tgtEl>
                                      </p:cBhvr>
                                      <p:to x="100000" y="100000"/>
                                    </p:animScale>
                                    <p:animScale>
                                      <p:cBhvr>
                                        <p:cTn id="17" dur="26">
                                          <p:stCondLst>
                                            <p:cond delay="1642"/>
                                          </p:stCondLst>
                                        </p:cTn>
                                        <p:tgtEl>
                                          <p:spTgt spid="16394"/>
                                        </p:tgtEl>
                                      </p:cBhvr>
                                      <p:to x="100000" y="90000"/>
                                    </p:animScale>
                                    <p:animScale>
                                      <p:cBhvr>
                                        <p:cTn id="18" dur="166" decel="50000">
                                          <p:stCondLst>
                                            <p:cond delay="1668"/>
                                          </p:stCondLst>
                                        </p:cTn>
                                        <p:tgtEl>
                                          <p:spTgt spid="16394"/>
                                        </p:tgtEl>
                                      </p:cBhvr>
                                      <p:to x="100000" y="100000"/>
                                    </p:animScale>
                                    <p:animScale>
                                      <p:cBhvr>
                                        <p:cTn id="19" dur="26">
                                          <p:stCondLst>
                                            <p:cond delay="1808"/>
                                          </p:stCondLst>
                                        </p:cTn>
                                        <p:tgtEl>
                                          <p:spTgt spid="16394"/>
                                        </p:tgtEl>
                                      </p:cBhvr>
                                      <p:to x="100000" y="95000"/>
                                    </p:animScale>
                                    <p:animScale>
                                      <p:cBhvr>
                                        <p:cTn id="20" dur="166" decel="50000">
                                          <p:stCondLst>
                                            <p:cond delay="1834"/>
                                          </p:stCondLst>
                                        </p:cTn>
                                        <p:tgtEl>
                                          <p:spTgt spid="16394"/>
                                        </p:tgtEl>
                                      </p:cBhvr>
                                      <p:to x="100000" y="100000"/>
                                    </p:animScale>
                                  </p:childTnLst>
                                </p:cTn>
                              </p:par>
                            </p:childTnLst>
                          </p:cTn>
                        </p:par>
                        <p:par>
                          <p:cTn id="21" fill="hold" nodeType="afterGroup">
                            <p:stCondLst>
                              <p:cond delay="2000"/>
                            </p:stCondLst>
                            <p:childTnLst>
                              <p:par>
                                <p:cTn id="22" presetID="26" presetClass="entr" presetSubtype="0" fill="hold" nodeType="afterEffect">
                                  <p:stCondLst>
                                    <p:cond delay="0"/>
                                  </p:stCondLst>
                                  <p:childTnLst>
                                    <p:set>
                                      <p:cBhvr>
                                        <p:cTn id="23" dur="1" fill="hold">
                                          <p:stCondLst>
                                            <p:cond delay="0"/>
                                          </p:stCondLst>
                                        </p:cTn>
                                        <p:tgtEl>
                                          <p:spTgt spid="16387"/>
                                        </p:tgtEl>
                                        <p:attrNameLst>
                                          <p:attrName>style.visibility</p:attrName>
                                        </p:attrNameLst>
                                      </p:cBhvr>
                                      <p:to>
                                        <p:strVal val="visible"/>
                                      </p:to>
                                    </p:set>
                                    <p:animEffect transition="in" filter="wipe(down)">
                                      <p:cBhvr>
                                        <p:cTn id="24" dur="580">
                                          <p:stCondLst>
                                            <p:cond delay="0"/>
                                          </p:stCondLst>
                                        </p:cTn>
                                        <p:tgtEl>
                                          <p:spTgt spid="16387"/>
                                        </p:tgtEl>
                                      </p:cBhvr>
                                    </p:animEffect>
                                    <p:anim calcmode="lin" valueType="num">
                                      <p:cBhvr>
                                        <p:cTn id="25" dur="1822" tmFilter="0,0; 0.14,0.36; 0.43,0.73; 0.71,0.91; 1.0,1.0">
                                          <p:stCondLst>
                                            <p:cond delay="0"/>
                                          </p:stCondLst>
                                        </p:cTn>
                                        <p:tgtEl>
                                          <p:spTgt spid="16387"/>
                                        </p:tgtEl>
                                        <p:attrNameLst>
                                          <p:attrName>ppt_x</p:attrName>
                                        </p:attrNameLst>
                                      </p:cBhvr>
                                      <p:tavLst>
                                        <p:tav tm="0">
                                          <p:val>
                                            <p:strVal val="#ppt_x-0.25"/>
                                          </p:val>
                                        </p:tav>
                                        <p:tav tm="100000">
                                          <p:val>
                                            <p:strVal val="#ppt_x"/>
                                          </p:val>
                                        </p:tav>
                                      </p:tavLst>
                                    </p:anim>
                                    <p:anim calcmode="lin" valueType="num">
                                      <p:cBhvr>
                                        <p:cTn id="26" dur="664" tmFilter="0.0,0.0; 0.25,0.07; 0.50,0.2; 0.75,0.467; 1.0,1.0">
                                          <p:stCondLst>
                                            <p:cond delay="0"/>
                                          </p:stCondLst>
                                        </p:cTn>
                                        <p:tgtEl>
                                          <p:spTgt spid="16387"/>
                                        </p:tgtEl>
                                        <p:attrNameLst>
                                          <p:attrName>ppt_y</p:attrName>
                                        </p:attrNameLst>
                                      </p:cBhvr>
                                      <p:tavLst>
                                        <p:tav tm="0" fmla="#ppt_y-sin(pi*$)/3">
                                          <p:val>
                                            <p:fltVal val="0.5"/>
                                          </p:val>
                                        </p:tav>
                                        <p:tav tm="100000">
                                          <p:val>
                                            <p:fltVal val="1"/>
                                          </p:val>
                                        </p:tav>
                                      </p:tavLst>
                                    </p:anim>
                                    <p:anim calcmode="lin" valueType="num">
                                      <p:cBhvr>
                                        <p:cTn id="27" dur="664" tmFilter="0, 0; 0.125,0.2665; 0.25,0.4; 0.375,0.465; 0.5,0.5;  0.625,0.535; 0.75,0.6; 0.875,0.7335; 1,1">
                                          <p:stCondLst>
                                            <p:cond delay="664"/>
                                          </p:stCondLst>
                                        </p:cTn>
                                        <p:tgtEl>
                                          <p:spTgt spid="16387"/>
                                        </p:tgtEl>
                                        <p:attrNameLst>
                                          <p:attrName>ppt_y</p:attrName>
                                        </p:attrNameLst>
                                      </p:cBhvr>
                                      <p:tavLst>
                                        <p:tav tm="0" fmla="#ppt_y-sin(pi*$)/9">
                                          <p:val>
                                            <p:fltVal val="0"/>
                                          </p:val>
                                        </p:tav>
                                        <p:tav tm="100000">
                                          <p:val>
                                            <p:fltVal val="1"/>
                                          </p:val>
                                        </p:tav>
                                      </p:tavLst>
                                    </p:anim>
                                    <p:anim calcmode="lin" valueType="num">
                                      <p:cBhvr>
                                        <p:cTn id="28" dur="332" tmFilter="0, 0; 0.125,0.2665; 0.25,0.4; 0.375,0.465; 0.5,0.5;  0.625,0.535; 0.75,0.6; 0.875,0.7335; 1,1">
                                          <p:stCondLst>
                                            <p:cond delay="1324"/>
                                          </p:stCondLst>
                                        </p:cTn>
                                        <p:tgtEl>
                                          <p:spTgt spid="16387"/>
                                        </p:tgtEl>
                                        <p:attrNameLst>
                                          <p:attrName>ppt_y</p:attrName>
                                        </p:attrNameLst>
                                      </p:cBhvr>
                                      <p:tavLst>
                                        <p:tav tm="0" fmla="#ppt_y-sin(pi*$)/27">
                                          <p:val>
                                            <p:fltVal val="0"/>
                                          </p:val>
                                        </p:tav>
                                        <p:tav tm="100000">
                                          <p:val>
                                            <p:fltVal val="1"/>
                                          </p:val>
                                        </p:tav>
                                      </p:tavLst>
                                    </p:anim>
                                    <p:anim calcmode="lin" valueType="num">
                                      <p:cBhvr>
                                        <p:cTn id="29" dur="164" tmFilter="0, 0; 0.125,0.2665; 0.25,0.4; 0.375,0.465; 0.5,0.5;  0.625,0.535; 0.75,0.6; 0.875,0.7335; 1,1">
                                          <p:stCondLst>
                                            <p:cond delay="1656"/>
                                          </p:stCondLst>
                                        </p:cTn>
                                        <p:tgtEl>
                                          <p:spTgt spid="16387"/>
                                        </p:tgtEl>
                                        <p:attrNameLst>
                                          <p:attrName>ppt_y</p:attrName>
                                        </p:attrNameLst>
                                      </p:cBhvr>
                                      <p:tavLst>
                                        <p:tav tm="0" fmla="#ppt_y-sin(pi*$)/81">
                                          <p:val>
                                            <p:fltVal val="0"/>
                                          </p:val>
                                        </p:tav>
                                        <p:tav tm="100000">
                                          <p:val>
                                            <p:fltVal val="1"/>
                                          </p:val>
                                        </p:tav>
                                      </p:tavLst>
                                    </p:anim>
                                    <p:animScale>
                                      <p:cBhvr>
                                        <p:cTn id="30" dur="26">
                                          <p:stCondLst>
                                            <p:cond delay="650"/>
                                          </p:stCondLst>
                                        </p:cTn>
                                        <p:tgtEl>
                                          <p:spTgt spid="16387"/>
                                        </p:tgtEl>
                                      </p:cBhvr>
                                      <p:to x="100000" y="60000"/>
                                    </p:animScale>
                                    <p:animScale>
                                      <p:cBhvr>
                                        <p:cTn id="31" dur="166" decel="50000">
                                          <p:stCondLst>
                                            <p:cond delay="676"/>
                                          </p:stCondLst>
                                        </p:cTn>
                                        <p:tgtEl>
                                          <p:spTgt spid="16387"/>
                                        </p:tgtEl>
                                      </p:cBhvr>
                                      <p:to x="100000" y="100000"/>
                                    </p:animScale>
                                    <p:animScale>
                                      <p:cBhvr>
                                        <p:cTn id="32" dur="26">
                                          <p:stCondLst>
                                            <p:cond delay="1312"/>
                                          </p:stCondLst>
                                        </p:cTn>
                                        <p:tgtEl>
                                          <p:spTgt spid="16387"/>
                                        </p:tgtEl>
                                      </p:cBhvr>
                                      <p:to x="100000" y="80000"/>
                                    </p:animScale>
                                    <p:animScale>
                                      <p:cBhvr>
                                        <p:cTn id="33" dur="166" decel="50000">
                                          <p:stCondLst>
                                            <p:cond delay="1338"/>
                                          </p:stCondLst>
                                        </p:cTn>
                                        <p:tgtEl>
                                          <p:spTgt spid="16387"/>
                                        </p:tgtEl>
                                      </p:cBhvr>
                                      <p:to x="100000" y="100000"/>
                                    </p:animScale>
                                    <p:animScale>
                                      <p:cBhvr>
                                        <p:cTn id="34" dur="26">
                                          <p:stCondLst>
                                            <p:cond delay="1642"/>
                                          </p:stCondLst>
                                        </p:cTn>
                                        <p:tgtEl>
                                          <p:spTgt spid="16387"/>
                                        </p:tgtEl>
                                      </p:cBhvr>
                                      <p:to x="100000" y="90000"/>
                                    </p:animScale>
                                    <p:animScale>
                                      <p:cBhvr>
                                        <p:cTn id="35" dur="166" decel="50000">
                                          <p:stCondLst>
                                            <p:cond delay="1668"/>
                                          </p:stCondLst>
                                        </p:cTn>
                                        <p:tgtEl>
                                          <p:spTgt spid="16387"/>
                                        </p:tgtEl>
                                      </p:cBhvr>
                                      <p:to x="100000" y="100000"/>
                                    </p:animScale>
                                    <p:animScale>
                                      <p:cBhvr>
                                        <p:cTn id="36" dur="26">
                                          <p:stCondLst>
                                            <p:cond delay="1808"/>
                                          </p:stCondLst>
                                        </p:cTn>
                                        <p:tgtEl>
                                          <p:spTgt spid="16387"/>
                                        </p:tgtEl>
                                      </p:cBhvr>
                                      <p:to x="100000" y="95000"/>
                                    </p:animScale>
                                    <p:animScale>
                                      <p:cBhvr>
                                        <p:cTn id="37" dur="166" decel="50000">
                                          <p:stCondLst>
                                            <p:cond delay="1834"/>
                                          </p:stCondLst>
                                        </p:cTn>
                                        <p:tgtEl>
                                          <p:spTgt spid="16387"/>
                                        </p:tgtEl>
                                      </p:cBhvr>
                                      <p:to x="100000" y="100000"/>
                                    </p:animScale>
                                  </p:childTnLst>
                                </p:cTn>
                              </p:par>
                              <p:par>
                                <p:cTn id="38" presetID="26" presetClass="entr" presetSubtype="0" fill="hold" nodeType="with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wipe(down)">
                                      <p:cBhvr>
                                        <p:cTn id="40" dur="580">
                                          <p:stCondLst>
                                            <p:cond delay="0"/>
                                          </p:stCondLst>
                                        </p:cTn>
                                        <p:tgtEl>
                                          <p:spTgt spid="11"/>
                                        </p:tgtEl>
                                      </p:cBhvr>
                                    </p:animEffect>
                                    <p:anim calcmode="lin" valueType="num">
                                      <p:cBhvr>
                                        <p:cTn id="41"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42"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43"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44"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45"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46" dur="26">
                                          <p:stCondLst>
                                            <p:cond delay="650"/>
                                          </p:stCondLst>
                                        </p:cTn>
                                        <p:tgtEl>
                                          <p:spTgt spid="11"/>
                                        </p:tgtEl>
                                      </p:cBhvr>
                                      <p:to x="100000" y="60000"/>
                                    </p:animScale>
                                    <p:animScale>
                                      <p:cBhvr>
                                        <p:cTn id="47" dur="166" decel="50000">
                                          <p:stCondLst>
                                            <p:cond delay="676"/>
                                          </p:stCondLst>
                                        </p:cTn>
                                        <p:tgtEl>
                                          <p:spTgt spid="11"/>
                                        </p:tgtEl>
                                      </p:cBhvr>
                                      <p:to x="100000" y="100000"/>
                                    </p:animScale>
                                    <p:animScale>
                                      <p:cBhvr>
                                        <p:cTn id="48" dur="26">
                                          <p:stCondLst>
                                            <p:cond delay="1312"/>
                                          </p:stCondLst>
                                        </p:cTn>
                                        <p:tgtEl>
                                          <p:spTgt spid="11"/>
                                        </p:tgtEl>
                                      </p:cBhvr>
                                      <p:to x="100000" y="80000"/>
                                    </p:animScale>
                                    <p:animScale>
                                      <p:cBhvr>
                                        <p:cTn id="49" dur="166" decel="50000">
                                          <p:stCondLst>
                                            <p:cond delay="1338"/>
                                          </p:stCondLst>
                                        </p:cTn>
                                        <p:tgtEl>
                                          <p:spTgt spid="11"/>
                                        </p:tgtEl>
                                      </p:cBhvr>
                                      <p:to x="100000" y="100000"/>
                                    </p:animScale>
                                    <p:animScale>
                                      <p:cBhvr>
                                        <p:cTn id="50" dur="26">
                                          <p:stCondLst>
                                            <p:cond delay="1642"/>
                                          </p:stCondLst>
                                        </p:cTn>
                                        <p:tgtEl>
                                          <p:spTgt spid="11"/>
                                        </p:tgtEl>
                                      </p:cBhvr>
                                      <p:to x="100000" y="90000"/>
                                    </p:animScale>
                                    <p:animScale>
                                      <p:cBhvr>
                                        <p:cTn id="51" dur="166" decel="50000">
                                          <p:stCondLst>
                                            <p:cond delay="1668"/>
                                          </p:stCondLst>
                                        </p:cTn>
                                        <p:tgtEl>
                                          <p:spTgt spid="11"/>
                                        </p:tgtEl>
                                      </p:cBhvr>
                                      <p:to x="100000" y="100000"/>
                                    </p:animScale>
                                    <p:animScale>
                                      <p:cBhvr>
                                        <p:cTn id="52" dur="26">
                                          <p:stCondLst>
                                            <p:cond delay="1808"/>
                                          </p:stCondLst>
                                        </p:cTn>
                                        <p:tgtEl>
                                          <p:spTgt spid="11"/>
                                        </p:tgtEl>
                                      </p:cBhvr>
                                      <p:to x="100000" y="95000"/>
                                    </p:animScale>
                                    <p:animScale>
                                      <p:cBhvr>
                                        <p:cTn id="53" dur="166" decel="50000">
                                          <p:stCondLst>
                                            <p:cond delay="1834"/>
                                          </p:stCondLst>
                                        </p:cTn>
                                        <p:tgtEl>
                                          <p:spTgt spid="11"/>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349B49D5-3713-4271-9B8B-88E727F9B28A}"/>
              </a:ext>
            </a:extLst>
          </p:cNvPr>
          <p:cNvSpPr/>
          <p:nvPr/>
        </p:nvSpPr>
        <p:spPr bwMode="auto">
          <a:xfrm>
            <a:off x="2782167" y="2628458"/>
            <a:ext cx="6151418" cy="2107960"/>
          </a:xfrm>
          <a:prstGeom prst="rect">
            <a:avLst/>
          </a:prstGeom>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wrap="none"/>
          <a:lstStyle/>
          <a:p>
            <a:pPr>
              <a:defRPr/>
            </a:pPr>
            <a:endParaRPr lang="zh-CN" altLang="en-US">
              <a:solidFill>
                <a:schemeClr val="tx1"/>
              </a:solidFill>
              <a:latin typeface="Times New Roman" pitchFamily="18" charset="0"/>
            </a:endParaRPr>
          </a:p>
        </p:txBody>
      </p:sp>
      <p:sp>
        <p:nvSpPr>
          <p:cNvPr id="17418" name="Rectangle 3">
            <a:extLst>
              <a:ext uri="{FF2B5EF4-FFF2-40B4-BE49-F238E27FC236}">
                <a16:creationId xmlns:a16="http://schemas.microsoft.com/office/drawing/2014/main" id="{CD373A7B-088D-438C-A6A7-227EFC872315}"/>
              </a:ext>
            </a:extLst>
          </p:cNvPr>
          <p:cNvSpPr>
            <a:spLocks noChangeArrowheads="1"/>
          </p:cNvSpPr>
          <p:nvPr/>
        </p:nvSpPr>
        <p:spPr bwMode="auto">
          <a:xfrm>
            <a:off x="1374334" y="1135692"/>
            <a:ext cx="7456487" cy="562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342900" indent="-342900" defTabSz="912813" eaLnBrk="0" hangingPunct="0">
              <a:defRPr kumimoji="1" sz="2400">
                <a:solidFill>
                  <a:schemeClr val="tx1"/>
                </a:solidFill>
                <a:latin typeface="Times New Roman" panose="02020603050405020304" pitchFamily="18" charset="0"/>
                <a:ea typeface="宋体" panose="02010600030101010101" pitchFamily="2" charset="-122"/>
              </a:defRPr>
            </a:lvl1pPr>
            <a:lvl2pPr marL="396875" indent="-396875" defTabSz="912813"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1" eaLnBrk="1" hangingPunct="1">
              <a:lnSpc>
                <a:spcPts val="4000"/>
              </a:lnSpc>
              <a:spcBef>
                <a:spcPct val="20000"/>
              </a:spcBef>
              <a:buClr>
                <a:schemeClr val="accent2"/>
              </a:buClr>
              <a:buBlip>
                <a:blip r:embed="rId3"/>
              </a:buBlip>
            </a:pPr>
            <a:r>
              <a:rPr kumimoji="0" lang="en-US" altLang="zh-CN" sz="2800" b="1" dirty="0">
                <a:ea typeface="楷体_GB2312" pitchFamily="49" charset="-122"/>
              </a:rPr>
              <a:t>RGB</a:t>
            </a:r>
            <a:r>
              <a:rPr kumimoji="0" lang="zh-CN" altLang="en-US" sz="2800" b="1" dirty="0">
                <a:ea typeface="楷体_GB2312" pitchFamily="49" charset="-122"/>
              </a:rPr>
              <a:t>与</a:t>
            </a:r>
            <a:r>
              <a:rPr kumimoji="0" lang="en-US" altLang="zh-CN" sz="2800" b="1" dirty="0">
                <a:ea typeface="楷体_GB2312" pitchFamily="49" charset="-122"/>
              </a:rPr>
              <a:t>CIE YUV</a:t>
            </a:r>
            <a:r>
              <a:rPr kumimoji="0" lang="zh-CN" altLang="en-US" sz="2800" b="1" dirty="0">
                <a:ea typeface="楷体_GB2312" pitchFamily="49" charset="-122"/>
              </a:rPr>
              <a:t>颜色模型之间转换算法 </a:t>
            </a:r>
          </a:p>
        </p:txBody>
      </p:sp>
      <p:graphicFrame>
        <p:nvGraphicFramePr>
          <p:cNvPr id="17410" name="Object 4">
            <a:extLst>
              <a:ext uri="{FF2B5EF4-FFF2-40B4-BE49-F238E27FC236}">
                <a16:creationId xmlns:a16="http://schemas.microsoft.com/office/drawing/2014/main" id="{D753F5B3-A4C1-42E7-8113-B3E3E959C518}"/>
              </a:ext>
            </a:extLst>
          </p:cNvPr>
          <p:cNvGraphicFramePr>
            <a:graphicFrameLocks noChangeAspect="1"/>
          </p:cNvGraphicFramePr>
          <p:nvPr/>
        </p:nvGraphicFramePr>
        <p:xfrm>
          <a:off x="3052764" y="2976563"/>
          <a:ext cx="5610225" cy="1611312"/>
        </p:xfrm>
        <a:graphic>
          <a:graphicData uri="http://schemas.openxmlformats.org/presentationml/2006/ole">
            <mc:AlternateContent xmlns:mc="http://schemas.openxmlformats.org/markup-compatibility/2006">
              <mc:Choice xmlns:v="urn:schemas-microsoft-com:vml" Requires="v">
                <p:oleObj spid="_x0000_s10304" name="Equation" r:id="rId4" imgW="2463480" imgH="711000" progId="Equation.3">
                  <p:embed/>
                </p:oleObj>
              </mc:Choice>
              <mc:Fallback>
                <p:oleObj name="Equation" r:id="rId4" imgW="2463480" imgH="7110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52764" y="2976563"/>
                        <a:ext cx="5610225" cy="1611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标题 2">
            <a:extLst>
              <a:ext uri="{FF2B5EF4-FFF2-40B4-BE49-F238E27FC236}">
                <a16:creationId xmlns:a16="http://schemas.microsoft.com/office/drawing/2014/main" id="{A57DEFA1-285E-4400-9535-A780DAC320C6}"/>
              </a:ext>
            </a:extLst>
          </p:cNvPr>
          <p:cNvSpPr>
            <a:spLocks noGrp="1"/>
          </p:cNvSpPr>
          <p:nvPr>
            <p:ph type="title"/>
          </p:nvPr>
        </p:nvSpPr>
        <p:spPr/>
        <p:txBody>
          <a:bodyPr/>
          <a:lstStyle/>
          <a:p>
            <a:r>
              <a:rPr lang="en-US" altLang="zh-CN" dirty="0">
                <a:cs typeface="Arial" charset="0"/>
              </a:rPr>
              <a:t>6. </a:t>
            </a:r>
            <a:r>
              <a:rPr lang="zh-CN" altLang="en-US" dirty="0">
                <a:cs typeface="Arial" charset="0"/>
              </a:rPr>
              <a:t>颜色模型之间的转换算法</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8" presetClass="entr" presetSubtype="0" accel="100000" fill="hold" grpId="0" nodeType="clickEffect">
                                  <p:stCondLst>
                                    <p:cond delay="0"/>
                                  </p:stCondLst>
                                  <p:childTnLst>
                                    <p:set>
                                      <p:cBhvr>
                                        <p:cTn id="6" dur="1" fill="hold">
                                          <p:stCondLst>
                                            <p:cond delay="0"/>
                                          </p:stCondLst>
                                        </p:cTn>
                                        <p:tgtEl>
                                          <p:spTgt spid="17418"/>
                                        </p:tgtEl>
                                        <p:attrNameLst>
                                          <p:attrName>style.visibility</p:attrName>
                                        </p:attrNameLst>
                                      </p:cBhvr>
                                      <p:to>
                                        <p:strVal val="visible"/>
                                      </p:to>
                                    </p:set>
                                    <p:anim calcmode="lin" valueType="num">
                                      <p:cBhvr>
                                        <p:cTn id="7" dur="500" fill="hold"/>
                                        <p:tgtEl>
                                          <p:spTgt spid="17418"/>
                                        </p:tgtEl>
                                        <p:attrNameLst>
                                          <p:attrName>ppt_w</p:attrName>
                                        </p:attrNameLst>
                                      </p:cBhvr>
                                      <p:tavLst>
                                        <p:tav tm="0">
                                          <p:val>
                                            <p:strVal val="#ppt_w*2.5"/>
                                          </p:val>
                                        </p:tav>
                                        <p:tav tm="100000">
                                          <p:val>
                                            <p:strVal val="#ppt_w"/>
                                          </p:val>
                                        </p:tav>
                                      </p:tavLst>
                                    </p:anim>
                                    <p:anim calcmode="lin" valueType="num">
                                      <p:cBhvr>
                                        <p:cTn id="8" dur="500" fill="hold"/>
                                        <p:tgtEl>
                                          <p:spTgt spid="17418"/>
                                        </p:tgtEl>
                                        <p:attrNameLst>
                                          <p:attrName>ppt_h</p:attrName>
                                        </p:attrNameLst>
                                      </p:cBhvr>
                                      <p:tavLst>
                                        <p:tav tm="0">
                                          <p:val>
                                            <p:strVal val="#ppt_h*0.01"/>
                                          </p:val>
                                        </p:tav>
                                        <p:tav tm="100000">
                                          <p:val>
                                            <p:strVal val="#ppt_h"/>
                                          </p:val>
                                        </p:tav>
                                      </p:tavLst>
                                    </p:anim>
                                    <p:anim calcmode="lin" valueType="num">
                                      <p:cBhvr>
                                        <p:cTn id="9" dur="500" fill="hold"/>
                                        <p:tgtEl>
                                          <p:spTgt spid="17418"/>
                                        </p:tgtEl>
                                        <p:attrNameLst>
                                          <p:attrName>ppt_x</p:attrName>
                                        </p:attrNameLst>
                                      </p:cBhvr>
                                      <p:tavLst>
                                        <p:tav tm="0">
                                          <p:val>
                                            <p:strVal val="#ppt_x"/>
                                          </p:val>
                                        </p:tav>
                                        <p:tav tm="100000">
                                          <p:val>
                                            <p:strVal val="#ppt_x"/>
                                          </p:val>
                                        </p:tav>
                                      </p:tavLst>
                                    </p:anim>
                                    <p:anim calcmode="lin" valueType="num">
                                      <p:cBhvr>
                                        <p:cTn id="10" dur="500" fill="hold"/>
                                        <p:tgtEl>
                                          <p:spTgt spid="17418"/>
                                        </p:tgtEl>
                                        <p:attrNameLst>
                                          <p:attrName>ppt_y</p:attrName>
                                        </p:attrNameLst>
                                      </p:cBhvr>
                                      <p:tavLst>
                                        <p:tav tm="0">
                                          <p:val>
                                            <p:strVal val="#ppt_h+1"/>
                                          </p:val>
                                        </p:tav>
                                        <p:tav tm="100000">
                                          <p:val>
                                            <p:strVal val="#ppt_y"/>
                                          </p:val>
                                        </p:tav>
                                      </p:tavLst>
                                    </p:anim>
                                    <p:animEffect transition="in" filter="fade">
                                      <p:cBhvr>
                                        <p:cTn id="11" dur="500"/>
                                        <p:tgtEl>
                                          <p:spTgt spid="17418"/>
                                        </p:tgtEl>
                                      </p:cBhvr>
                                    </p:animEffect>
                                  </p:childTnLst>
                                </p:cTn>
                              </p:par>
                            </p:childTnLst>
                          </p:cTn>
                        </p:par>
                        <p:par>
                          <p:cTn id="12" fill="hold" nodeType="afterGroup">
                            <p:stCondLst>
                              <p:cond delay="500"/>
                            </p:stCondLst>
                            <p:childTnLst>
                              <p:par>
                                <p:cTn id="13" presetID="58" presetClass="entr" presetSubtype="0" accel="100000" fill="hold" nodeType="afterEffect">
                                  <p:stCondLst>
                                    <p:cond delay="0"/>
                                  </p:stCondLst>
                                  <p:childTnLst>
                                    <p:set>
                                      <p:cBhvr>
                                        <p:cTn id="14" dur="1" fill="hold">
                                          <p:stCondLst>
                                            <p:cond delay="0"/>
                                          </p:stCondLst>
                                        </p:cTn>
                                        <p:tgtEl>
                                          <p:spTgt spid="17410"/>
                                        </p:tgtEl>
                                        <p:attrNameLst>
                                          <p:attrName>style.visibility</p:attrName>
                                        </p:attrNameLst>
                                      </p:cBhvr>
                                      <p:to>
                                        <p:strVal val="visible"/>
                                      </p:to>
                                    </p:set>
                                    <p:anim calcmode="lin" valueType="num">
                                      <p:cBhvr>
                                        <p:cTn id="15" dur="500" fill="hold"/>
                                        <p:tgtEl>
                                          <p:spTgt spid="17410"/>
                                        </p:tgtEl>
                                        <p:attrNameLst>
                                          <p:attrName>ppt_w</p:attrName>
                                        </p:attrNameLst>
                                      </p:cBhvr>
                                      <p:tavLst>
                                        <p:tav tm="0">
                                          <p:val>
                                            <p:strVal val="#ppt_w*2.5"/>
                                          </p:val>
                                        </p:tav>
                                        <p:tav tm="100000">
                                          <p:val>
                                            <p:strVal val="#ppt_w"/>
                                          </p:val>
                                        </p:tav>
                                      </p:tavLst>
                                    </p:anim>
                                    <p:anim calcmode="lin" valueType="num">
                                      <p:cBhvr>
                                        <p:cTn id="16" dur="500" fill="hold"/>
                                        <p:tgtEl>
                                          <p:spTgt spid="17410"/>
                                        </p:tgtEl>
                                        <p:attrNameLst>
                                          <p:attrName>ppt_h</p:attrName>
                                        </p:attrNameLst>
                                      </p:cBhvr>
                                      <p:tavLst>
                                        <p:tav tm="0">
                                          <p:val>
                                            <p:strVal val="#ppt_h*0.01"/>
                                          </p:val>
                                        </p:tav>
                                        <p:tav tm="100000">
                                          <p:val>
                                            <p:strVal val="#ppt_h"/>
                                          </p:val>
                                        </p:tav>
                                      </p:tavLst>
                                    </p:anim>
                                    <p:anim calcmode="lin" valueType="num">
                                      <p:cBhvr>
                                        <p:cTn id="17" dur="500" fill="hold"/>
                                        <p:tgtEl>
                                          <p:spTgt spid="17410"/>
                                        </p:tgtEl>
                                        <p:attrNameLst>
                                          <p:attrName>ppt_x</p:attrName>
                                        </p:attrNameLst>
                                      </p:cBhvr>
                                      <p:tavLst>
                                        <p:tav tm="0">
                                          <p:val>
                                            <p:strVal val="#ppt_x"/>
                                          </p:val>
                                        </p:tav>
                                        <p:tav tm="100000">
                                          <p:val>
                                            <p:strVal val="#ppt_x"/>
                                          </p:val>
                                        </p:tav>
                                      </p:tavLst>
                                    </p:anim>
                                    <p:anim calcmode="lin" valueType="num">
                                      <p:cBhvr>
                                        <p:cTn id="18" dur="500" fill="hold"/>
                                        <p:tgtEl>
                                          <p:spTgt spid="17410"/>
                                        </p:tgtEl>
                                        <p:attrNameLst>
                                          <p:attrName>ppt_y</p:attrName>
                                        </p:attrNameLst>
                                      </p:cBhvr>
                                      <p:tavLst>
                                        <p:tav tm="0">
                                          <p:val>
                                            <p:strVal val="#ppt_h+1"/>
                                          </p:val>
                                        </p:tav>
                                        <p:tav tm="100000">
                                          <p:val>
                                            <p:strVal val="#ppt_y"/>
                                          </p:val>
                                        </p:tav>
                                      </p:tavLst>
                                    </p:anim>
                                    <p:animEffect transition="in" filter="fade">
                                      <p:cBhvr>
                                        <p:cTn id="19" dur="500"/>
                                        <p:tgtEl>
                                          <p:spTgt spid="17410"/>
                                        </p:tgtEl>
                                      </p:cBhvr>
                                    </p:animEffect>
                                  </p:childTnLst>
                                </p:cTn>
                              </p:par>
                              <p:par>
                                <p:cTn id="20" presetID="58" presetClass="entr" presetSubtype="0" accel="10000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p:cTn id="22" dur="500" fill="hold"/>
                                        <p:tgtEl>
                                          <p:spTgt spid="11"/>
                                        </p:tgtEl>
                                        <p:attrNameLst>
                                          <p:attrName>ppt_w</p:attrName>
                                        </p:attrNameLst>
                                      </p:cBhvr>
                                      <p:tavLst>
                                        <p:tav tm="0">
                                          <p:val>
                                            <p:strVal val="#ppt_w*2.5"/>
                                          </p:val>
                                        </p:tav>
                                        <p:tav tm="100000">
                                          <p:val>
                                            <p:strVal val="#ppt_w"/>
                                          </p:val>
                                        </p:tav>
                                      </p:tavLst>
                                    </p:anim>
                                    <p:anim calcmode="lin" valueType="num">
                                      <p:cBhvr>
                                        <p:cTn id="23" dur="500" fill="hold"/>
                                        <p:tgtEl>
                                          <p:spTgt spid="11"/>
                                        </p:tgtEl>
                                        <p:attrNameLst>
                                          <p:attrName>ppt_h</p:attrName>
                                        </p:attrNameLst>
                                      </p:cBhvr>
                                      <p:tavLst>
                                        <p:tav tm="0">
                                          <p:val>
                                            <p:strVal val="#ppt_h*0.01"/>
                                          </p:val>
                                        </p:tav>
                                        <p:tav tm="100000">
                                          <p:val>
                                            <p:strVal val="#ppt_h"/>
                                          </p:val>
                                        </p:tav>
                                      </p:tavLst>
                                    </p:anim>
                                    <p:anim calcmode="lin" valueType="num">
                                      <p:cBhvr>
                                        <p:cTn id="24" dur="500" fill="hold"/>
                                        <p:tgtEl>
                                          <p:spTgt spid="11"/>
                                        </p:tgtEl>
                                        <p:attrNameLst>
                                          <p:attrName>ppt_x</p:attrName>
                                        </p:attrNameLst>
                                      </p:cBhvr>
                                      <p:tavLst>
                                        <p:tav tm="0">
                                          <p:val>
                                            <p:strVal val="#ppt_x"/>
                                          </p:val>
                                        </p:tav>
                                        <p:tav tm="100000">
                                          <p:val>
                                            <p:strVal val="#ppt_x"/>
                                          </p:val>
                                        </p:tav>
                                      </p:tavLst>
                                    </p:anim>
                                    <p:anim calcmode="lin" valueType="num">
                                      <p:cBhvr>
                                        <p:cTn id="25" dur="500" fill="hold"/>
                                        <p:tgtEl>
                                          <p:spTgt spid="11"/>
                                        </p:tgtEl>
                                        <p:attrNameLst>
                                          <p:attrName>ppt_y</p:attrName>
                                        </p:attrNameLst>
                                      </p:cBhvr>
                                      <p:tavLst>
                                        <p:tav tm="0">
                                          <p:val>
                                            <p:strVal val="#ppt_h+1"/>
                                          </p:val>
                                        </p:tav>
                                        <p:tav tm="100000">
                                          <p:val>
                                            <p:strVal val="#ppt_y"/>
                                          </p:val>
                                        </p:tav>
                                      </p:tavLst>
                                    </p:anim>
                                    <p:animEffect transition="in" filter="fade">
                                      <p:cBhvr>
                                        <p:cTn id="2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8" name="Rectangle 3">
            <a:extLst>
              <a:ext uri="{FF2B5EF4-FFF2-40B4-BE49-F238E27FC236}">
                <a16:creationId xmlns:a16="http://schemas.microsoft.com/office/drawing/2014/main" id="{CD373A7B-088D-438C-A6A7-227EFC872315}"/>
              </a:ext>
            </a:extLst>
          </p:cNvPr>
          <p:cNvSpPr>
            <a:spLocks noChangeArrowheads="1"/>
          </p:cNvSpPr>
          <p:nvPr/>
        </p:nvSpPr>
        <p:spPr bwMode="auto">
          <a:xfrm>
            <a:off x="734517" y="1075771"/>
            <a:ext cx="11017739" cy="2581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marL="342900" indent="-342900" defTabSz="912813" eaLnBrk="0" hangingPunct="0">
              <a:defRPr kumimoji="1" sz="2400">
                <a:solidFill>
                  <a:schemeClr val="tx1"/>
                </a:solidFill>
                <a:latin typeface="Times New Roman" panose="02020603050405020304" pitchFamily="18" charset="0"/>
                <a:ea typeface="宋体" panose="02010600030101010101" pitchFamily="2" charset="-122"/>
              </a:defRPr>
            </a:lvl1pPr>
            <a:lvl2pPr marL="396875" indent="-396875" defTabSz="912813"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1" eaLnBrk="1" hangingPunct="1">
              <a:lnSpc>
                <a:spcPct val="120000"/>
              </a:lnSpc>
              <a:spcBef>
                <a:spcPts val="600"/>
              </a:spcBef>
              <a:buClr>
                <a:schemeClr val="accent2"/>
              </a:buClr>
              <a:buBlip>
                <a:blip r:embed="rId3"/>
              </a:buBlip>
            </a:pPr>
            <a:r>
              <a:rPr kumimoji="0" lang="en-US" altLang="zh-CN" b="1" dirty="0">
                <a:ea typeface="楷体_GB2312" pitchFamily="49" charset="-122"/>
              </a:rPr>
              <a:t>OpenGL</a:t>
            </a:r>
            <a:r>
              <a:rPr kumimoji="0" lang="zh-CN" altLang="en-US" b="1" dirty="0">
                <a:ea typeface="楷体_GB2312" pitchFamily="49" charset="-122"/>
              </a:rPr>
              <a:t>支持两种颜色模式</a:t>
            </a:r>
            <a:endParaRPr kumimoji="0" lang="en-US" altLang="zh-CN" b="1" dirty="0">
              <a:ea typeface="楷体_GB2312" pitchFamily="49" charset="-122"/>
            </a:endParaRPr>
          </a:p>
          <a:p>
            <a:pPr marL="808038" lvl="2" indent="-360363" eaLnBrk="1" hangingPunct="1">
              <a:lnSpc>
                <a:spcPct val="120000"/>
              </a:lnSpc>
              <a:spcBef>
                <a:spcPts val="600"/>
              </a:spcBef>
              <a:buFont typeface="Wingdings" panose="05000000000000000000" pitchFamily="2" charset="2"/>
              <a:buChar char="Ø"/>
            </a:pPr>
            <a:r>
              <a:rPr kumimoji="0" lang="en-US" altLang="zh-CN" sz="2000" b="1" dirty="0">
                <a:solidFill>
                  <a:srgbClr val="C00000"/>
                </a:solidFill>
                <a:ea typeface="楷体_GB2312" pitchFamily="49" charset="-122"/>
              </a:rPr>
              <a:t>RGBA</a:t>
            </a:r>
            <a:r>
              <a:rPr kumimoji="0" lang="zh-CN" altLang="en-US" sz="2000" b="1" dirty="0">
                <a:solidFill>
                  <a:srgbClr val="C00000"/>
                </a:solidFill>
                <a:ea typeface="楷体_GB2312" pitchFamily="49" charset="-122"/>
              </a:rPr>
              <a:t>模式</a:t>
            </a:r>
            <a:r>
              <a:rPr kumimoji="0" lang="zh-CN" altLang="en-US" sz="2000" b="1" dirty="0">
                <a:ea typeface="楷体_GB2312" pitchFamily="49" charset="-122"/>
              </a:rPr>
              <a:t>：每一个像素会保存以下数据：</a:t>
            </a:r>
            <a:r>
              <a:rPr kumimoji="0" lang="en-US" altLang="zh-CN" sz="2000" b="1" dirty="0">
                <a:ea typeface="楷体_GB2312" pitchFamily="49" charset="-122"/>
              </a:rPr>
              <a:t>R</a:t>
            </a:r>
            <a:r>
              <a:rPr kumimoji="0" lang="zh-CN" altLang="en-US" sz="2000" b="1" dirty="0">
                <a:ea typeface="楷体_GB2312" pitchFamily="49" charset="-122"/>
              </a:rPr>
              <a:t>值（红色分量）、</a:t>
            </a:r>
            <a:r>
              <a:rPr kumimoji="0" lang="en-US" altLang="zh-CN" sz="2000" b="1" dirty="0">
                <a:ea typeface="楷体_GB2312" pitchFamily="49" charset="-122"/>
              </a:rPr>
              <a:t>G</a:t>
            </a:r>
            <a:r>
              <a:rPr kumimoji="0" lang="zh-CN" altLang="en-US" sz="2000" b="1" dirty="0">
                <a:ea typeface="楷体_GB2312" pitchFamily="49" charset="-122"/>
              </a:rPr>
              <a:t>值（绿色分量）、</a:t>
            </a:r>
            <a:r>
              <a:rPr kumimoji="0" lang="en-US" altLang="zh-CN" sz="2000" b="1" dirty="0">
                <a:ea typeface="楷体_GB2312" pitchFamily="49" charset="-122"/>
              </a:rPr>
              <a:t>B</a:t>
            </a:r>
            <a:r>
              <a:rPr kumimoji="0" lang="zh-CN" altLang="en-US" sz="2000" b="1" dirty="0">
                <a:ea typeface="楷体_GB2312" pitchFamily="49" charset="-122"/>
              </a:rPr>
              <a:t>值（蓝色分量）和</a:t>
            </a:r>
            <a:r>
              <a:rPr kumimoji="0" lang="en-US" altLang="zh-CN" sz="2000" b="1" dirty="0">
                <a:ea typeface="楷体_GB2312" pitchFamily="49" charset="-122"/>
              </a:rPr>
              <a:t>A</a:t>
            </a:r>
            <a:r>
              <a:rPr kumimoji="0" lang="zh-CN" altLang="en-US" sz="2000" b="1" dirty="0">
                <a:ea typeface="楷体_GB2312" pitchFamily="49" charset="-122"/>
              </a:rPr>
              <a:t>值（</a:t>
            </a:r>
            <a:r>
              <a:rPr kumimoji="0" lang="en-US" altLang="zh-CN" sz="2000" b="1" dirty="0">
                <a:ea typeface="楷体_GB2312" pitchFamily="49" charset="-122"/>
              </a:rPr>
              <a:t>alpha</a:t>
            </a:r>
            <a:r>
              <a:rPr kumimoji="0" lang="zh-CN" altLang="en-US" sz="2000" b="1" dirty="0">
                <a:ea typeface="楷体_GB2312" pitchFamily="49" charset="-122"/>
              </a:rPr>
              <a:t>分量）</a:t>
            </a:r>
            <a:endParaRPr kumimoji="0" lang="en-US" altLang="zh-CN" sz="2000" b="1" dirty="0">
              <a:ea typeface="楷体_GB2312" pitchFamily="49" charset="-122"/>
            </a:endParaRPr>
          </a:p>
          <a:p>
            <a:pPr marL="808038" lvl="2" indent="-360363" eaLnBrk="1" hangingPunct="1">
              <a:lnSpc>
                <a:spcPct val="120000"/>
              </a:lnSpc>
              <a:spcBef>
                <a:spcPts val="600"/>
              </a:spcBef>
              <a:buFont typeface="Wingdings" panose="05000000000000000000" pitchFamily="2" charset="2"/>
              <a:buChar char="Ø"/>
            </a:pPr>
            <a:r>
              <a:rPr kumimoji="0" lang="zh-CN" altLang="en-US" sz="2000" b="1" dirty="0">
                <a:ea typeface="楷体_GB2312" pitchFamily="49" charset="-122"/>
              </a:rPr>
              <a:t>颜色索引模式：</a:t>
            </a:r>
            <a:r>
              <a:rPr kumimoji="0" lang="en-US" altLang="zh-CN" sz="2000" b="1" dirty="0">
                <a:ea typeface="楷体_GB2312" pitchFamily="49" charset="-122"/>
              </a:rPr>
              <a:t>OpenGL</a:t>
            </a:r>
            <a:r>
              <a:rPr kumimoji="0" lang="zh-CN" altLang="en-US" sz="2000" b="1" dirty="0">
                <a:ea typeface="楷体_GB2312" pitchFamily="49" charset="-122"/>
              </a:rPr>
              <a:t>需要一个颜色表，表中的每一项保存一种颜色。绘图时，总是先设置颜色表，然后选择颜色索引</a:t>
            </a:r>
            <a:endParaRPr kumimoji="0" lang="en-US" altLang="zh-CN" sz="2000" b="1" dirty="0">
              <a:ea typeface="楷体_GB2312" pitchFamily="49" charset="-122"/>
            </a:endParaRPr>
          </a:p>
          <a:p>
            <a:pPr marL="808038" lvl="2" indent="-360363" eaLnBrk="1" hangingPunct="1">
              <a:lnSpc>
                <a:spcPct val="120000"/>
              </a:lnSpc>
              <a:spcBef>
                <a:spcPts val="600"/>
              </a:spcBef>
              <a:buFont typeface="Wingdings" panose="05000000000000000000" pitchFamily="2" charset="2"/>
              <a:buChar char="Ø"/>
            </a:pPr>
            <a:r>
              <a:rPr kumimoji="0" lang="zh-CN" altLang="en-US" sz="2000" b="1" dirty="0">
                <a:ea typeface="楷体_GB2312" pitchFamily="49" charset="-122"/>
              </a:rPr>
              <a:t>说明：</a:t>
            </a:r>
            <a:r>
              <a:rPr kumimoji="0" lang="en-US" altLang="zh-CN" sz="2000" b="1" dirty="0">
                <a:ea typeface="楷体_GB2312" pitchFamily="49" charset="-122"/>
              </a:rPr>
              <a:t>OpenGL</a:t>
            </a:r>
            <a:r>
              <a:rPr kumimoji="0" lang="zh-CN" altLang="en-US" sz="2000" b="1" dirty="0">
                <a:ea typeface="楷体_GB2312" pitchFamily="49" charset="-122"/>
              </a:rPr>
              <a:t>并直接没有提供设置颜色表的方法。可以使用</a:t>
            </a:r>
            <a:r>
              <a:rPr kumimoji="0" lang="en-US" altLang="zh-CN" sz="2000" b="1" dirty="0" err="1">
                <a:ea typeface="楷体_GB2312" pitchFamily="49" charset="-122"/>
              </a:rPr>
              <a:t>glAux</a:t>
            </a:r>
            <a:endParaRPr kumimoji="0" lang="zh-CN" altLang="en-US" sz="2000" b="1" dirty="0">
              <a:ea typeface="楷体_GB2312" pitchFamily="49" charset="-122"/>
            </a:endParaRPr>
          </a:p>
        </p:txBody>
      </p:sp>
      <p:pic>
        <p:nvPicPr>
          <p:cNvPr id="3" name="图片 2">
            <a:extLst>
              <a:ext uri="{FF2B5EF4-FFF2-40B4-BE49-F238E27FC236}">
                <a16:creationId xmlns:a16="http://schemas.microsoft.com/office/drawing/2014/main" id="{BE373A62-559D-456A-AE7C-31BDEFBDBA14}"/>
              </a:ext>
            </a:extLst>
          </p:cNvPr>
          <p:cNvPicPr>
            <a:picLocks noChangeAspect="1"/>
          </p:cNvPicPr>
          <p:nvPr/>
        </p:nvPicPr>
        <p:blipFill>
          <a:blip r:embed="rId4"/>
          <a:stretch>
            <a:fillRect/>
          </a:stretch>
        </p:blipFill>
        <p:spPr>
          <a:xfrm>
            <a:off x="2438825" y="3881655"/>
            <a:ext cx="7314350" cy="2241250"/>
          </a:xfrm>
          <a:prstGeom prst="rect">
            <a:avLst/>
          </a:prstGeom>
        </p:spPr>
      </p:pic>
      <p:sp>
        <p:nvSpPr>
          <p:cNvPr id="4" name="标题 3">
            <a:extLst>
              <a:ext uri="{FF2B5EF4-FFF2-40B4-BE49-F238E27FC236}">
                <a16:creationId xmlns:a16="http://schemas.microsoft.com/office/drawing/2014/main" id="{A189A0B1-A084-4DE6-8013-6055066D7BE4}"/>
              </a:ext>
            </a:extLst>
          </p:cNvPr>
          <p:cNvSpPr>
            <a:spLocks noGrp="1"/>
          </p:cNvSpPr>
          <p:nvPr>
            <p:ph type="title"/>
          </p:nvPr>
        </p:nvSpPr>
        <p:spPr/>
        <p:txBody>
          <a:bodyPr/>
          <a:lstStyle/>
          <a:p>
            <a:r>
              <a:rPr lang="en-US" altLang="zh-CN" dirty="0"/>
              <a:t>7. OpenGL</a:t>
            </a:r>
            <a:r>
              <a:rPr lang="zh-CN" altLang="en-US" dirty="0"/>
              <a:t>颜色模型</a:t>
            </a:r>
          </a:p>
        </p:txBody>
      </p:sp>
    </p:spTree>
    <p:extLst>
      <p:ext uri="{BB962C8B-B14F-4D97-AF65-F5344CB8AC3E}">
        <p14:creationId xmlns:p14="http://schemas.microsoft.com/office/powerpoint/2010/main" val="217523339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8" presetClass="entr" presetSubtype="0" accel="100000" fill="hold" grpId="0" nodeType="clickEffect">
                                  <p:stCondLst>
                                    <p:cond delay="0"/>
                                  </p:stCondLst>
                                  <p:childTnLst>
                                    <p:set>
                                      <p:cBhvr>
                                        <p:cTn id="6" dur="1" fill="hold">
                                          <p:stCondLst>
                                            <p:cond delay="0"/>
                                          </p:stCondLst>
                                        </p:cTn>
                                        <p:tgtEl>
                                          <p:spTgt spid="17418"/>
                                        </p:tgtEl>
                                        <p:attrNameLst>
                                          <p:attrName>style.visibility</p:attrName>
                                        </p:attrNameLst>
                                      </p:cBhvr>
                                      <p:to>
                                        <p:strVal val="visible"/>
                                      </p:to>
                                    </p:set>
                                    <p:anim calcmode="lin" valueType="num">
                                      <p:cBhvr>
                                        <p:cTn id="7" dur="500" fill="hold"/>
                                        <p:tgtEl>
                                          <p:spTgt spid="17418"/>
                                        </p:tgtEl>
                                        <p:attrNameLst>
                                          <p:attrName>ppt_w</p:attrName>
                                        </p:attrNameLst>
                                      </p:cBhvr>
                                      <p:tavLst>
                                        <p:tav tm="0">
                                          <p:val>
                                            <p:strVal val="#ppt_w*2.5"/>
                                          </p:val>
                                        </p:tav>
                                        <p:tav tm="100000">
                                          <p:val>
                                            <p:strVal val="#ppt_w"/>
                                          </p:val>
                                        </p:tav>
                                      </p:tavLst>
                                    </p:anim>
                                    <p:anim calcmode="lin" valueType="num">
                                      <p:cBhvr>
                                        <p:cTn id="8" dur="500" fill="hold"/>
                                        <p:tgtEl>
                                          <p:spTgt spid="17418"/>
                                        </p:tgtEl>
                                        <p:attrNameLst>
                                          <p:attrName>ppt_h</p:attrName>
                                        </p:attrNameLst>
                                      </p:cBhvr>
                                      <p:tavLst>
                                        <p:tav tm="0">
                                          <p:val>
                                            <p:strVal val="#ppt_h*0.01"/>
                                          </p:val>
                                        </p:tav>
                                        <p:tav tm="100000">
                                          <p:val>
                                            <p:strVal val="#ppt_h"/>
                                          </p:val>
                                        </p:tav>
                                      </p:tavLst>
                                    </p:anim>
                                    <p:anim calcmode="lin" valueType="num">
                                      <p:cBhvr>
                                        <p:cTn id="9" dur="500" fill="hold"/>
                                        <p:tgtEl>
                                          <p:spTgt spid="17418"/>
                                        </p:tgtEl>
                                        <p:attrNameLst>
                                          <p:attrName>ppt_x</p:attrName>
                                        </p:attrNameLst>
                                      </p:cBhvr>
                                      <p:tavLst>
                                        <p:tav tm="0">
                                          <p:val>
                                            <p:strVal val="#ppt_x"/>
                                          </p:val>
                                        </p:tav>
                                        <p:tav tm="100000">
                                          <p:val>
                                            <p:strVal val="#ppt_x"/>
                                          </p:val>
                                        </p:tav>
                                      </p:tavLst>
                                    </p:anim>
                                    <p:anim calcmode="lin" valueType="num">
                                      <p:cBhvr>
                                        <p:cTn id="10" dur="500" fill="hold"/>
                                        <p:tgtEl>
                                          <p:spTgt spid="17418"/>
                                        </p:tgtEl>
                                        <p:attrNameLst>
                                          <p:attrName>ppt_y</p:attrName>
                                        </p:attrNameLst>
                                      </p:cBhvr>
                                      <p:tavLst>
                                        <p:tav tm="0">
                                          <p:val>
                                            <p:strVal val="#ppt_h+1"/>
                                          </p:val>
                                        </p:tav>
                                        <p:tav tm="100000">
                                          <p:val>
                                            <p:strVal val="#ppt_y"/>
                                          </p:val>
                                        </p:tav>
                                      </p:tavLst>
                                    </p:anim>
                                    <p:animEffect transition="in" filter="fade">
                                      <p:cBhvr>
                                        <p:cTn id="11" dur="500"/>
                                        <p:tgtEl>
                                          <p:spTgt spid="174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8" name="Rectangle 3">
            <a:extLst>
              <a:ext uri="{FF2B5EF4-FFF2-40B4-BE49-F238E27FC236}">
                <a16:creationId xmlns:a16="http://schemas.microsoft.com/office/drawing/2014/main" id="{CD373A7B-088D-438C-A6A7-227EFC872315}"/>
              </a:ext>
            </a:extLst>
          </p:cNvPr>
          <p:cNvSpPr>
            <a:spLocks noChangeArrowheads="1"/>
          </p:cNvSpPr>
          <p:nvPr/>
        </p:nvSpPr>
        <p:spPr bwMode="auto">
          <a:xfrm>
            <a:off x="854331" y="1284668"/>
            <a:ext cx="10725569" cy="413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marL="342900" indent="-342900" defTabSz="912813" eaLnBrk="0" hangingPunct="0">
              <a:defRPr kumimoji="1" sz="2400">
                <a:solidFill>
                  <a:schemeClr val="tx1"/>
                </a:solidFill>
                <a:latin typeface="Times New Roman" panose="02020603050405020304" pitchFamily="18" charset="0"/>
                <a:ea typeface="宋体" panose="02010600030101010101" pitchFamily="2" charset="-122"/>
              </a:defRPr>
            </a:lvl1pPr>
            <a:lvl2pPr marL="396875" indent="-396875" defTabSz="912813"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1" eaLnBrk="1" hangingPunct="1">
              <a:lnSpc>
                <a:spcPct val="120000"/>
              </a:lnSpc>
              <a:spcBef>
                <a:spcPts val="600"/>
              </a:spcBef>
              <a:buClr>
                <a:schemeClr val="accent2"/>
              </a:buClr>
              <a:buBlip>
                <a:blip r:embed="rId2"/>
              </a:buBlip>
            </a:pPr>
            <a:r>
              <a:rPr kumimoji="0" lang="en-US" altLang="zh-CN" b="1" dirty="0" err="1">
                <a:ea typeface="楷体_GB2312" pitchFamily="49" charset="-122"/>
              </a:rPr>
              <a:t>glColor</a:t>
            </a:r>
            <a:r>
              <a:rPr kumimoji="0" lang="en-US" altLang="zh-CN" b="1" dirty="0">
                <a:ea typeface="楷体_GB2312" pitchFamily="49" charset="-122"/>
              </a:rPr>
              <a:t>*</a:t>
            </a:r>
            <a:r>
              <a:rPr kumimoji="0" lang="zh-CN" altLang="en-US" b="1" dirty="0">
                <a:ea typeface="楷体_GB2312" pitchFamily="49" charset="-122"/>
              </a:rPr>
              <a:t>系列函数可以用于设置颜色</a:t>
            </a:r>
            <a:endParaRPr kumimoji="0" lang="en-US" altLang="zh-CN" b="1" dirty="0">
              <a:ea typeface="楷体_GB2312" pitchFamily="49" charset="-122"/>
            </a:endParaRPr>
          </a:p>
          <a:p>
            <a:pPr marL="447675" lvl="2" indent="0" eaLnBrk="1" hangingPunct="1">
              <a:lnSpc>
                <a:spcPct val="120000"/>
              </a:lnSpc>
              <a:spcBef>
                <a:spcPts val="600"/>
              </a:spcBef>
            </a:pPr>
            <a:r>
              <a:rPr kumimoji="0" lang="en-US" altLang="zh-CN" b="1" dirty="0">
                <a:ea typeface="楷体_GB2312" pitchFamily="49" charset="-122"/>
              </a:rPr>
              <a:t>void </a:t>
            </a:r>
            <a:r>
              <a:rPr kumimoji="0" lang="en-US" altLang="zh-CN" b="1" dirty="0">
                <a:solidFill>
                  <a:srgbClr val="C00000"/>
                </a:solidFill>
                <a:ea typeface="楷体_GB2312" pitchFamily="49" charset="-122"/>
              </a:rPr>
              <a:t>glColor3f</a:t>
            </a:r>
            <a:r>
              <a:rPr kumimoji="0" lang="en-US" altLang="zh-CN" b="1" dirty="0">
                <a:ea typeface="楷体_GB2312" pitchFamily="49" charset="-122"/>
              </a:rPr>
              <a:t>(</a:t>
            </a:r>
            <a:r>
              <a:rPr kumimoji="0" lang="en-US" altLang="zh-CN" b="1" dirty="0" err="1">
                <a:ea typeface="楷体_GB2312" pitchFamily="49" charset="-122"/>
              </a:rPr>
              <a:t>GLfloat</a:t>
            </a:r>
            <a:r>
              <a:rPr kumimoji="0" lang="en-US" altLang="zh-CN" b="1" dirty="0">
                <a:ea typeface="楷体_GB2312" pitchFamily="49" charset="-122"/>
              </a:rPr>
              <a:t> red, </a:t>
            </a:r>
            <a:r>
              <a:rPr kumimoji="0" lang="en-US" altLang="zh-CN" b="1" dirty="0" err="1">
                <a:ea typeface="楷体_GB2312" pitchFamily="49" charset="-122"/>
              </a:rPr>
              <a:t>GLfloat</a:t>
            </a:r>
            <a:r>
              <a:rPr kumimoji="0" lang="en-US" altLang="zh-CN" b="1" dirty="0">
                <a:ea typeface="楷体_GB2312" pitchFamily="49" charset="-122"/>
              </a:rPr>
              <a:t> green, </a:t>
            </a:r>
            <a:r>
              <a:rPr kumimoji="0" lang="en-US" altLang="zh-CN" b="1" dirty="0" err="1">
                <a:ea typeface="楷体_GB2312" pitchFamily="49" charset="-122"/>
              </a:rPr>
              <a:t>GLfloat</a:t>
            </a:r>
            <a:r>
              <a:rPr kumimoji="0" lang="en-US" altLang="zh-CN" b="1" dirty="0">
                <a:ea typeface="楷体_GB2312" pitchFamily="49" charset="-122"/>
              </a:rPr>
              <a:t> blue);</a:t>
            </a:r>
          </a:p>
          <a:p>
            <a:pPr marL="447675" lvl="2" indent="0" eaLnBrk="1" hangingPunct="1">
              <a:lnSpc>
                <a:spcPct val="120000"/>
              </a:lnSpc>
              <a:spcBef>
                <a:spcPts val="600"/>
              </a:spcBef>
            </a:pPr>
            <a:r>
              <a:rPr kumimoji="0" lang="en-US" altLang="zh-CN" b="1" dirty="0">
                <a:ea typeface="楷体_GB2312" pitchFamily="49" charset="-122"/>
              </a:rPr>
              <a:t>void </a:t>
            </a:r>
            <a:r>
              <a:rPr kumimoji="0" lang="en-US" altLang="zh-CN" b="1" dirty="0">
                <a:solidFill>
                  <a:srgbClr val="C00000"/>
                </a:solidFill>
                <a:ea typeface="楷体_GB2312" pitchFamily="49" charset="-122"/>
              </a:rPr>
              <a:t>glColor4f</a:t>
            </a:r>
            <a:r>
              <a:rPr kumimoji="0" lang="en-US" altLang="zh-CN" b="1" dirty="0">
                <a:ea typeface="楷体_GB2312" pitchFamily="49" charset="-122"/>
              </a:rPr>
              <a:t>(</a:t>
            </a:r>
            <a:r>
              <a:rPr kumimoji="0" lang="en-US" altLang="zh-CN" b="1" dirty="0" err="1">
                <a:ea typeface="楷体_GB2312" pitchFamily="49" charset="-122"/>
              </a:rPr>
              <a:t>GLfloat</a:t>
            </a:r>
            <a:r>
              <a:rPr kumimoji="0" lang="en-US" altLang="zh-CN" b="1" dirty="0">
                <a:ea typeface="楷体_GB2312" pitchFamily="49" charset="-122"/>
              </a:rPr>
              <a:t> red, </a:t>
            </a:r>
            <a:r>
              <a:rPr kumimoji="0" lang="en-US" altLang="zh-CN" b="1" dirty="0" err="1">
                <a:ea typeface="楷体_GB2312" pitchFamily="49" charset="-122"/>
              </a:rPr>
              <a:t>GLfloat</a:t>
            </a:r>
            <a:r>
              <a:rPr kumimoji="0" lang="en-US" altLang="zh-CN" b="1" dirty="0">
                <a:ea typeface="楷体_GB2312" pitchFamily="49" charset="-122"/>
              </a:rPr>
              <a:t> green, </a:t>
            </a:r>
            <a:r>
              <a:rPr kumimoji="0" lang="en-US" altLang="zh-CN" b="1" dirty="0" err="1">
                <a:ea typeface="楷体_GB2312" pitchFamily="49" charset="-122"/>
              </a:rPr>
              <a:t>GLfloat</a:t>
            </a:r>
            <a:r>
              <a:rPr kumimoji="0" lang="en-US" altLang="zh-CN" b="1" dirty="0">
                <a:ea typeface="楷体_GB2312" pitchFamily="49" charset="-122"/>
              </a:rPr>
              <a:t> blue, </a:t>
            </a:r>
            <a:r>
              <a:rPr kumimoji="0" lang="en-US" altLang="zh-CN" b="1" dirty="0" err="1">
                <a:ea typeface="楷体_GB2312" pitchFamily="49" charset="-122"/>
              </a:rPr>
              <a:t>GLfloat</a:t>
            </a:r>
            <a:r>
              <a:rPr kumimoji="0" lang="en-US" altLang="zh-CN" b="1" dirty="0">
                <a:ea typeface="楷体_GB2312" pitchFamily="49" charset="-122"/>
              </a:rPr>
              <a:t> alpha);</a:t>
            </a:r>
          </a:p>
          <a:p>
            <a:pPr marL="447675" lvl="2" indent="0" eaLnBrk="1" hangingPunct="1">
              <a:lnSpc>
                <a:spcPct val="120000"/>
              </a:lnSpc>
              <a:spcBef>
                <a:spcPts val="600"/>
              </a:spcBef>
            </a:pPr>
            <a:r>
              <a:rPr kumimoji="0" lang="zh-CN" altLang="en-US" b="1" dirty="0">
                <a:ea typeface="楷体_GB2312" pitchFamily="49" charset="-122"/>
              </a:rPr>
              <a:t>采用</a:t>
            </a:r>
            <a:r>
              <a:rPr kumimoji="0" lang="en-US" altLang="zh-CN" b="1" dirty="0">
                <a:solidFill>
                  <a:srgbClr val="C00000"/>
                </a:solidFill>
                <a:ea typeface="楷体_GB2312" pitchFamily="49" charset="-122"/>
              </a:rPr>
              <a:t>f</a:t>
            </a:r>
            <a:r>
              <a:rPr kumimoji="0" lang="zh-CN" altLang="en-US" b="1" dirty="0">
                <a:solidFill>
                  <a:srgbClr val="C00000"/>
                </a:solidFill>
                <a:ea typeface="楷体_GB2312" pitchFamily="49" charset="-122"/>
              </a:rPr>
              <a:t>和</a:t>
            </a:r>
            <a:r>
              <a:rPr kumimoji="0" lang="en-US" altLang="zh-CN" b="1" dirty="0">
                <a:solidFill>
                  <a:srgbClr val="C00000"/>
                </a:solidFill>
                <a:ea typeface="楷体_GB2312" pitchFamily="49" charset="-122"/>
              </a:rPr>
              <a:t>d</a:t>
            </a:r>
            <a:r>
              <a:rPr kumimoji="0" lang="zh-CN" altLang="en-US" b="1" dirty="0">
                <a:ea typeface="楷体_GB2312" pitchFamily="49" charset="-122"/>
              </a:rPr>
              <a:t>做后缀的函数，以</a:t>
            </a:r>
            <a:r>
              <a:rPr kumimoji="0" lang="en-US" altLang="zh-CN" b="1" dirty="0">
                <a:ea typeface="楷体_GB2312" pitchFamily="49" charset="-122"/>
              </a:rPr>
              <a:t>1.0</a:t>
            </a:r>
            <a:r>
              <a:rPr kumimoji="0" lang="zh-CN" altLang="en-US" b="1" dirty="0">
                <a:ea typeface="楷体_GB2312" pitchFamily="49" charset="-122"/>
              </a:rPr>
              <a:t>表示最大的使用</a:t>
            </a:r>
          </a:p>
          <a:p>
            <a:pPr lvl="1" eaLnBrk="1" hangingPunct="1">
              <a:lnSpc>
                <a:spcPct val="120000"/>
              </a:lnSpc>
              <a:spcBef>
                <a:spcPts val="600"/>
              </a:spcBef>
              <a:buClr>
                <a:schemeClr val="accent2"/>
              </a:buClr>
              <a:buBlip>
                <a:blip r:embed="rId2"/>
              </a:buBlip>
            </a:pPr>
            <a:r>
              <a:rPr kumimoji="0" lang="zh-CN" altLang="en-US" b="1" dirty="0">
                <a:ea typeface="楷体_GB2312" pitchFamily="49" charset="-122"/>
              </a:rPr>
              <a:t>采用</a:t>
            </a:r>
            <a:r>
              <a:rPr kumimoji="0" lang="en-US" altLang="zh-CN" b="1" dirty="0">
                <a:ea typeface="楷体_GB2312" pitchFamily="49" charset="-122"/>
              </a:rPr>
              <a:t>b</a:t>
            </a:r>
            <a:r>
              <a:rPr kumimoji="0" lang="zh-CN" altLang="en-US" b="1" dirty="0">
                <a:ea typeface="楷体_GB2312" pitchFamily="49" charset="-122"/>
              </a:rPr>
              <a:t>做后缀的函数，以</a:t>
            </a:r>
            <a:r>
              <a:rPr kumimoji="0" lang="en-US" altLang="zh-CN" b="1" dirty="0">
                <a:ea typeface="楷体_GB2312" pitchFamily="49" charset="-122"/>
              </a:rPr>
              <a:t>127</a:t>
            </a:r>
            <a:r>
              <a:rPr kumimoji="0" lang="zh-CN" altLang="en-US" b="1" dirty="0">
                <a:ea typeface="楷体_GB2312" pitchFamily="49" charset="-122"/>
              </a:rPr>
              <a:t>表示最大的使用</a:t>
            </a:r>
          </a:p>
          <a:p>
            <a:pPr lvl="1" eaLnBrk="1" hangingPunct="1">
              <a:lnSpc>
                <a:spcPct val="120000"/>
              </a:lnSpc>
              <a:spcBef>
                <a:spcPts val="600"/>
              </a:spcBef>
              <a:buClr>
                <a:schemeClr val="accent2"/>
              </a:buClr>
              <a:buBlip>
                <a:blip r:embed="rId2"/>
              </a:buBlip>
            </a:pPr>
            <a:r>
              <a:rPr kumimoji="0" lang="zh-CN" altLang="en-US" b="1" dirty="0">
                <a:ea typeface="楷体_GB2312" pitchFamily="49" charset="-122"/>
              </a:rPr>
              <a:t>采用</a:t>
            </a:r>
            <a:r>
              <a:rPr kumimoji="0" lang="en-US" altLang="zh-CN" b="1" dirty="0" err="1">
                <a:ea typeface="楷体_GB2312" pitchFamily="49" charset="-122"/>
              </a:rPr>
              <a:t>ub</a:t>
            </a:r>
            <a:r>
              <a:rPr kumimoji="0" lang="zh-CN" altLang="en-US" b="1" dirty="0">
                <a:ea typeface="楷体_GB2312" pitchFamily="49" charset="-122"/>
              </a:rPr>
              <a:t>做后缀的函数，以</a:t>
            </a:r>
            <a:r>
              <a:rPr kumimoji="0" lang="en-US" altLang="zh-CN" b="1" dirty="0">
                <a:ea typeface="楷体_GB2312" pitchFamily="49" charset="-122"/>
              </a:rPr>
              <a:t>255</a:t>
            </a:r>
            <a:r>
              <a:rPr kumimoji="0" lang="zh-CN" altLang="en-US" b="1" dirty="0">
                <a:ea typeface="楷体_GB2312" pitchFamily="49" charset="-122"/>
              </a:rPr>
              <a:t>表示最大的使用</a:t>
            </a:r>
          </a:p>
          <a:p>
            <a:pPr lvl="1" eaLnBrk="1" hangingPunct="1">
              <a:lnSpc>
                <a:spcPct val="120000"/>
              </a:lnSpc>
              <a:spcBef>
                <a:spcPts val="600"/>
              </a:spcBef>
              <a:buClr>
                <a:schemeClr val="accent2"/>
              </a:buClr>
              <a:buBlip>
                <a:blip r:embed="rId2"/>
              </a:buBlip>
            </a:pPr>
            <a:r>
              <a:rPr kumimoji="0" lang="zh-CN" altLang="en-US" b="1" dirty="0">
                <a:ea typeface="楷体_GB2312" pitchFamily="49" charset="-122"/>
              </a:rPr>
              <a:t>采用</a:t>
            </a:r>
            <a:r>
              <a:rPr kumimoji="0" lang="en-US" altLang="zh-CN" b="1" dirty="0">
                <a:ea typeface="楷体_GB2312" pitchFamily="49" charset="-122"/>
              </a:rPr>
              <a:t>s</a:t>
            </a:r>
            <a:r>
              <a:rPr kumimoji="0" lang="zh-CN" altLang="en-US" b="1" dirty="0">
                <a:ea typeface="楷体_GB2312" pitchFamily="49" charset="-122"/>
              </a:rPr>
              <a:t>做后缀的函数，以</a:t>
            </a:r>
            <a:r>
              <a:rPr kumimoji="0" lang="en-US" altLang="zh-CN" b="1" dirty="0">
                <a:ea typeface="楷体_GB2312" pitchFamily="49" charset="-122"/>
              </a:rPr>
              <a:t>32767</a:t>
            </a:r>
            <a:r>
              <a:rPr kumimoji="0" lang="zh-CN" altLang="en-US" b="1" dirty="0">
                <a:ea typeface="楷体_GB2312" pitchFamily="49" charset="-122"/>
              </a:rPr>
              <a:t>表示最大的使用</a:t>
            </a:r>
          </a:p>
          <a:p>
            <a:pPr lvl="1" eaLnBrk="1" hangingPunct="1">
              <a:lnSpc>
                <a:spcPct val="120000"/>
              </a:lnSpc>
              <a:spcBef>
                <a:spcPts val="600"/>
              </a:spcBef>
              <a:buClr>
                <a:schemeClr val="accent2"/>
              </a:buClr>
              <a:buBlip>
                <a:blip r:embed="rId2"/>
              </a:buBlip>
            </a:pPr>
            <a:r>
              <a:rPr kumimoji="0" lang="zh-CN" altLang="en-US" b="1" dirty="0">
                <a:ea typeface="楷体_GB2312" pitchFamily="49" charset="-122"/>
              </a:rPr>
              <a:t>采用</a:t>
            </a:r>
            <a:r>
              <a:rPr kumimoji="0" lang="en-US" altLang="zh-CN" b="1" dirty="0">
                <a:ea typeface="楷体_GB2312" pitchFamily="49" charset="-122"/>
              </a:rPr>
              <a:t>us</a:t>
            </a:r>
            <a:r>
              <a:rPr kumimoji="0" lang="zh-CN" altLang="en-US" b="1" dirty="0">
                <a:ea typeface="楷体_GB2312" pitchFamily="49" charset="-122"/>
              </a:rPr>
              <a:t>做后缀的函数，以</a:t>
            </a:r>
            <a:r>
              <a:rPr kumimoji="0" lang="en-US" altLang="zh-CN" b="1" dirty="0">
                <a:ea typeface="楷体_GB2312" pitchFamily="49" charset="-122"/>
              </a:rPr>
              <a:t>65535</a:t>
            </a:r>
            <a:r>
              <a:rPr kumimoji="0" lang="zh-CN" altLang="en-US" b="1" dirty="0">
                <a:ea typeface="楷体_GB2312" pitchFamily="49" charset="-122"/>
              </a:rPr>
              <a:t>表示最大的使用</a:t>
            </a:r>
          </a:p>
        </p:txBody>
      </p:sp>
      <p:sp>
        <p:nvSpPr>
          <p:cNvPr id="3" name="标题 2">
            <a:extLst>
              <a:ext uri="{FF2B5EF4-FFF2-40B4-BE49-F238E27FC236}">
                <a16:creationId xmlns:a16="http://schemas.microsoft.com/office/drawing/2014/main" id="{3BC7B413-5919-49C0-A2BA-60FB06B98057}"/>
              </a:ext>
            </a:extLst>
          </p:cNvPr>
          <p:cNvSpPr>
            <a:spLocks noGrp="1"/>
          </p:cNvSpPr>
          <p:nvPr>
            <p:ph type="title"/>
          </p:nvPr>
        </p:nvSpPr>
        <p:spPr/>
        <p:txBody>
          <a:bodyPr/>
          <a:lstStyle/>
          <a:p>
            <a:r>
              <a:rPr lang="en-US" altLang="zh-CN" dirty="0"/>
              <a:t>7. OpenGL</a:t>
            </a:r>
            <a:r>
              <a:rPr lang="zh-CN" altLang="en-US" dirty="0"/>
              <a:t>颜色模型</a:t>
            </a:r>
          </a:p>
        </p:txBody>
      </p:sp>
    </p:spTree>
    <p:extLst>
      <p:ext uri="{BB962C8B-B14F-4D97-AF65-F5344CB8AC3E}">
        <p14:creationId xmlns:p14="http://schemas.microsoft.com/office/powerpoint/2010/main" val="400534731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8" presetClass="entr" presetSubtype="0" accel="100000" fill="hold" grpId="0" nodeType="clickEffect">
                                  <p:stCondLst>
                                    <p:cond delay="0"/>
                                  </p:stCondLst>
                                  <p:childTnLst>
                                    <p:set>
                                      <p:cBhvr>
                                        <p:cTn id="6" dur="1" fill="hold">
                                          <p:stCondLst>
                                            <p:cond delay="0"/>
                                          </p:stCondLst>
                                        </p:cTn>
                                        <p:tgtEl>
                                          <p:spTgt spid="17418"/>
                                        </p:tgtEl>
                                        <p:attrNameLst>
                                          <p:attrName>style.visibility</p:attrName>
                                        </p:attrNameLst>
                                      </p:cBhvr>
                                      <p:to>
                                        <p:strVal val="visible"/>
                                      </p:to>
                                    </p:set>
                                    <p:anim calcmode="lin" valueType="num">
                                      <p:cBhvr>
                                        <p:cTn id="7" dur="500" fill="hold"/>
                                        <p:tgtEl>
                                          <p:spTgt spid="17418"/>
                                        </p:tgtEl>
                                        <p:attrNameLst>
                                          <p:attrName>ppt_w</p:attrName>
                                        </p:attrNameLst>
                                      </p:cBhvr>
                                      <p:tavLst>
                                        <p:tav tm="0">
                                          <p:val>
                                            <p:strVal val="#ppt_w*2.5"/>
                                          </p:val>
                                        </p:tav>
                                        <p:tav tm="100000">
                                          <p:val>
                                            <p:strVal val="#ppt_w"/>
                                          </p:val>
                                        </p:tav>
                                      </p:tavLst>
                                    </p:anim>
                                    <p:anim calcmode="lin" valueType="num">
                                      <p:cBhvr>
                                        <p:cTn id="8" dur="500" fill="hold"/>
                                        <p:tgtEl>
                                          <p:spTgt spid="17418"/>
                                        </p:tgtEl>
                                        <p:attrNameLst>
                                          <p:attrName>ppt_h</p:attrName>
                                        </p:attrNameLst>
                                      </p:cBhvr>
                                      <p:tavLst>
                                        <p:tav tm="0">
                                          <p:val>
                                            <p:strVal val="#ppt_h*0.01"/>
                                          </p:val>
                                        </p:tav>
                                        <p:tav tm="100000">
                                          <p:val>
                                            <p:strVal val="#ppt_h"/>
                                          </p:val>
                                        </p:tav>
                                      </p:tavLst>
                                    </p:anim>
                                    <p:anim calcmode="lin" valueType="num">
                                      <p:cBhvr>
                                        <p:cTn id="9" dur="500" fill="hold"/>
                                        <p:tgtEl>
                                          <p:spTgt spid="17418"/>
                                        </p:tgtEl>
                                        <p:attrNameLst>
                                          <p:attrName>ppt_x</p:attrName>
                                        </p:attrNameLst>
                                      </p:cBhvr>
                                      <p:tavLst>
                                        <p:tav tm="0">
                                          <p:val>
                                            <p:strVal val="#ppt_x"/>
                                          </p:val>
                                        </p:tav>
                                        <p:tav tm="100000">
                                          <p:val>
                                            <p:strVal val="#ppt_x"/>
                                          </p:val>
                                        </p:tav>
                                      </p:tavLst>
                                    </p:anim>
                                    <p:anim calcmode="lin" valueType="num">
                                      <p:cBhvr>
                                        <p:cTn id="10" dur="500" fill="hold"/>
                                        <p:tgtEl>
                                          <p:spTgt spid="17418"/>
                                        </p:tgtEl>
                                        <p:attrNameLst>
                                          <p:attrName>ppt_y</p:attrName>
                                        </p:attrNameLst>
                                      </p:cBhvr>
                                      <p:tavLst>
                                        <p:tav tm="0">
                                          <p:val>
                                            <p:strVal val="#ppt_h+1"/>
                                          </p:val>
                                        </p:tav>
                                        <p:tav tm="100000">
                                          <p:val>
                                            <p:strVal val="#ppt_y"/>
                                          </p:val>
                                        </p:tav>
                                      </p:tavLst>
                                    </p:anim>
                                    <p:animEffect transition="in" filter="fade">
                                      <p:cBhvr>
                                        <p:cTn id="11" dur="500"/>
                                        <p:tgtEl>
                                          <p:spTgt spid="174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8"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8" name="Rectangle 3">
            <a:extLst>
              <a:ext uri="{FF2B5EF4-FFF2-40B4-BE49-F238E27FC236}">
                <a16:creationId xmlns:a16="http://schemas.microsoft.com/office/drawing/2014/main" id="{CD373A7B-088D-438C-A6A7-227EFC872315}"/>
              </a:ext>
            </a:extLst>
          </p:cNvPr>
          <p:cNvSpPr>
            <a:spLocks noChangeArrowheads="1"/>
          </p:cNvSpPr>
          <p:nvPr/>
        </p:nvSpPr>
        <p:spPr bwMode="auto">
          <a:xfrm>
            <a:off x="944380" y="1016101"/>
            <a:ext cx="5831845" cy="6001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marL="342900" indent="-342900" defTabSz="912813" eaLnBrk="0" hangingPunct="0">
              <a:defRPr kumimoji="1" sz="2400">
                <a:solidFill>
                  <a:schemeClr val="tx1"/>
                </a:solidFill>
                <a:latin typeface="Times New Roman" panose="02020603050405020304" pitchFamily="18" charset="0"/>
                <a:ea typeface="宋体" panose="02010600030101010101" pitchFamily="2" charset="-122"/>
              </a:defRPr>
            </a:lvl1pPr>
            <a:lvl2pPr marL="396875" indent="-396875" defTabSz="912813"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dirty="0"/>
              <a:t>void triangle()</a:t>
            </a:r>
          </a:p>
          <a:p>
            <a:r>
              <a:rPr lang="en-US" altLang="zh-CN" b="1" dirty="0"/>
              <a:t>{</a:t>
            </a:r>
          </a:p>
          <a:p>
            <a:r>
              <a:rPr lang="en-US" altLang="zh-CN" b="1" dirty="0"/>
              <a:t>    </a:t>
            </a:r>
            <a:r>
              <a:rPr lang="en-US" altLang="zh-CN" b="1" dirty="0" err="1"/>
              <a:t>glBegin</a:t>
            </a:r>
            <a:r>
              <a:rPr lang="en-US" altLang="zh-CN" b="1" dirty="0"/>
              <a:t>(GL_TRIANGLES);</a:t>
            </a:r>
          </a:p>
          <a:p>
            <a:r>
              <a:rPr lang="en-US" altLang="zh-CN" b="1" dirty="0"/>
              <a:t>        </a:t>
            </a:r>
            <a:r>
              <a:rPr lang="en-US" altLang="zh-CN" b="1" dirty="0">
                <a:solidFill>
                  <a:srgbClr val="C00000"/>
                </a:solidFill>
              </a:rPr>
              <a:t>glColor3f(1.0f, 0.0f, 0.0f); </a:t>
            </a:r>
            <a:r>
              <a:rPr lang="en-US" altLang="zh-CN" b="1" dirty="0"/>
              <a:t>  </a:t>
            </a:r>
          </a:p>
          <a:p>
            <a:r>
              <a:rPr lang="en-US" altLang="zh-CN" b="1" dirty="0"/>
              <a:t>        glVertex2f(5.0f, 5.0f);</a:t>
            </a:r>
          </a:p>
          <a:p>
            <a:r>
              <a:rPr lang="en-US" altLang="zh-CN" b="1" dirty="0"/>
              <a:t>        </a:t>
            </a:r>
          </a:p>
          <a:p>
            <a:r>
              <a:rPr lang="en-US" altLang="zh-CN" b="1" dirty="0"/>
              <a:t>        </a:t>
            </a:r>
            <a:r>
              <a:rPr lang="en-US" altLang="zh-CN" b="1" dirty="0">
                <a:solidFill>
                  <a:srgbClr val="C00000"/>
                </a:solidFill>
              </a:rPr>
              <a:t>glColor3f(0.0f, 1.0f, 0.0f); </a:t>
            </a:r>
            <a:r>
              <a:rPr lang="en-US" altLang="zh-CN" b="1" dirty="0"/>
              <a:t>  </a:t>
            </a:r>
          </a:p>
          <a:p>
            <a:r>
              <a:rPr lang="en-US" altLang="zh-CN" b="1" dirty="0"/>
              <a:t>        glVertex2f(25.0f, 5.0f);</a:t>
            </a:r>
          </a:p>
          <a:p>
            <a:r>
              <a:rPr lang="en-US" altLang="zh-CN" b="1" dirty="0"/>
              <a:t>        </a:t>
            </a:r>
          </a:p>
          <a:p>
            <a:r>
              <a:rPr lang="en-US" altLang="zh-CN" b="1" dirty="0"/>
              <a:t>        </a:t>
            </a:r>
            <a:r>
              <a:rPr lang="en-US" altLang="zh-CN" b="1" dirty="0">
                <a:solidFill>
                  <a:srgbClr val="C00000"/>
                </a:solidFill>
              </a:rPr>
              <a:t>glColor3f(0.0f, 0.0f, 1.0f); </a:t>
            </a:r>
            <a:r>
              <a:rPr lang="en-US" altLang="zh-CN" b="1" dirty="0"/>
              <a:t>  </a:t>
            </a:r>
          </a:p>
          <a:p>
            <a:r>
              <a:rPr lang="en-US" altLang="zh-CN" b="1" dirty="0"/>
              <a:t>        glVertex2f(5.0f, 25.0f);</a:t>
            </a:r>
          </a:p>
          <a:p>
            <a:r>
              <a:rPr lang="en-US" altLang="zh-CN" b="1" dirty="0"/>
              <a:t>    </a:t>
            </a:r>
            <a:r>
              <a:rPr lang="en-US" altLang="zh-CN" b="1" dirty="0" err="1"/>
              <a:t>glEnd</a:t>
            </a:r>
            <a:r>
              <a:rPr lang="en-US" altLang="zh-CN" b="1" dirty="0"/>
              <a:t>();</a:t>
            </a:r>
          </a:p>
          <a:p>
            <a:r>
              <a:rPr lang="en-US" altLang="zh-CN" b="1" dirty="0"/>
              <a:t>   ….</a:t>
            </a:r>
          </a:p>
          <a:p>
            <a:r>
              <a:rPr lang="en-US" altLang="zh-CN" b="1" dirty="0"/>
              <a:t>}</a:t>
            </a:r>
          </a:p>
          <a:p>
            <a:br>
              <a:rPr lang="en-US" altLang="zh-CN" b="1" dirty="0"/>
            </a:br>
            <a:endParaRPr lang="en-US" altLang="zh-CN" b="1" dirty="0"/>
          </a:p>
        </p:txBody>
      </p:sp>
      <p:pic>
        <p:nvPicPr>
          <p:cNvPr id="5" name="图片 4">
            <a:extLst>
              <a:ext uri="{FF2B5EF4-FFF2-40B4-BE49-F238E27FC236}">
                <a16:creationId xmlns:a16="http://schemas.microsoft.com/office/drawing/2014/main" id="{029E70C5-7B80-4BB1-B120-BDFFC5E26E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3551" y="1323039"/>
            <a:ext cx="3999308" cy="4238312"/>
          </a:xfrm>
          <a:prstGeom prst="rect">
            <a:avLst/>
          </a:prstGeom>
        </p:spPr>
      </p:pic>
      <p:sp>
        <p:nvSpPr>
          <p:cNvPr id="3" name="标题 2">
            <a:extLst>
              <a:ext uri="{FF2B5EF4-FFF2-40B4-BE49-F238E27FC236}">
                <a16:creationId xmlns:a16="http://schemas.microsoft.com/office/drawing/2014/main" id="{9188AF85-8394-4B42-826F-A71FE2603326}"/>
              </a:ext>
            </a:extLst>
          </p:cNvPr>
          <p:cNvSpPr>
            <a:spLocks noGrp="1"/>
          </p:cNvSpPr>
          <p:nvPr>
            <p:ph type="title"/>
          </p:nvPr>
        </p:nvSpPr>
        <p:spPr/>
        <p:txBody>
          <a:bodyPr/>
          <a:lstStyle/>
          <a:p>
            <a:r>
              <a:rPr lang="en-US" altLang="zh-CN" dirty="0"/>
              <a:t>7.3 </a:t>
            </a:r>
            <a:r>
              <a:rPr lang="zh-CN" altLang="en-US" dirty="0"/>
              <a:t>示例程序一</a:t>
            </a:r>
          </a:p>
        </p:txBody>
      </p:sp>
      <p:sp>
        <p:nvSpPr>
          <p:cNvPr id="6" name="矩形 5">
            <a:extLst>
              <a:ext uri="{FF2B5EF4-FFF2-40B4-BE49-F238E27FC236}">
                <a16:creationId xmlns:a16="http://schemas.microsoft.com/office/drawing/2014/main" id="{5E609B5E-6E56-4B5B-BAC0-3A011518F102}"/>
              </a:ext>
            </a:extLst>
          </p:cNvPr>
          <p:cNvSpPr/>
          <p:nvPr/>
        </p:nvSpPr>
        <p:spPr>
          <a:xfrm>
            <a:off x="7556760" y="5731803"/>
            <a:ext cx="2892138" cy="400110"/>
          </a:xfrm>
          <a:prstGeom prst="rect">
            <a:avLst/>
          </a:prstGeom>
        </p:spPr>
        <p:txBody>
          <a:bodyPr wrap="none">
            <a:spAutoFit/>
          </a:bodyPr>
          <a:lstStyle/>
          <a:p>
            <a:r>
              <a:rPr lang="zh-CN" altLang="en-US" sz="2000" b="1" dirty="0"/>
              <a:t>实例：</a:t>
            </a:r>
            <a:r>
              <a:rPr lang="en-US" altLang="zh-CN" sz="2000" b="1" dirty="0" err="1"/>
              <a:t>ColorExample.c</a:t>
            </a:r>
            <a:endParaRPr lang="zh-CN" altLang="en-US" sz="2000" b="1" dirty="0"/>
          </a:p>
        </p:txBody>
      </p:sp>
    </p:spTree>
    <p:extLst>
      <p:ext uri="{BB962C8B-B14F-4D97-AF65-F5344CB8AC3E}">
        <p14:creationId xmlns:p14="http://schemas.microsoft.com/office/powerpoint/2010/main" val="343454431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8" presetClass="entr" presetSubtype="0" accel="100000" fill="hold" grpId="0" nodeType="clickEffect">
                                  <p:stCondLst>
                                    <p:cond delay="0"/>
                                  </p:stCondLst>
                                  <p:childTnLst>
                                    <p:set>
                                      <p:cBhvr>
                                        <p:cTn id="6" dur="1" fill="hold">
                                          <p:stCondLst>
                                            <p:cond delay="0"/>
                                          </p:stCondLst>
                                        </p:cTn>
                                        <p:tgtEl>
                                          <p:spTgt spid="17418"/>
                                        </p:tgtEl>
                                        <p:attrNameLst>
                                          <p:attrName>style.visibility</p:attrName>
                                        </p:attrNameLst>
                                      </p:cBhvr>
                                      <p:to>
                                        <p:strVal val="visible"/>
                                      </p:to>
                                    </p:set>
                                    <p:anim calcmode="lin" valueType="num">
                                      <p:cBhvr>
                                        <p:cTn id="7" dur="500" fill="hold"/>
                                        <p:tgtEl>
                                          <p:spTgt spid="17418"/>
                                        </p:tgtEl>
                                        <p:attrNameLst>
                                          <p:attrName>ppt_w</p:attrName>
                                        </p:attrNameLst>
                                      </p:cBhvr>
                                      <p:tavLst>
                                        <p:tav tm="0">
                                          <p:val>
                                            <p:strVal val="#ppt_w*2.5"/>
                                          </p:val>
                                        </p:tav>
                                        <p:tav tm="100000">
                                          <p:val>
                                            <p:strVal val="#ppt_w"/>
                                          </p:val>
                                        </p:tav>
                                      </p:tavLst>
                                    </p:anim>
                                    <p:anim calcmode="lin" valueType="num">
                                      <p:cBhvr>
                                        <p:cTn id="8" dur="500" fill="hold"/>
                                        <p:tgtEl>
                                          <p:spTgt spid="17418"/>
                                        </p:tgtEl>
                                        <p:attrNameLst>
                                          <p:attrName>ppt_h</p:attrName>
                                        </p:attrNameLst>
                                      </p:cBhvr>
                                      <p:tavLst>
                                        <p:tav tm="0">
                                          <p:val>
                                            <p:strVal val="#ppt_h*0.01"/>
                                          </p:val>
                                        </p:tav>
                                        <p:tav tm="100000">
                                          <p:val>
                                            <p:strVal val="#ppt_h"/>
                                          </p:val>
                                        </p:tav>
                                      </p:tavLst>
                                    </p:anim>
                                    <p:anim calcmode="lin" valueType="num">
                                      <p:cBhvr>
                                        <p:cTn id="9" dur="500" fill="hold"/>
                                        <p:tgtEl>
                                          <p:spTgt spid="17418"/>
                                        </p:tgtEl>
                                        <p:attrNameLst>
                                          <p:attrName>ppt_x</p:attrName>
                                        </p:attrNameLst>
                                      </p:cBhvr>
                                      <p:tavLst>
                                        <p:tav tm="0">
                                          <p:val>
                                            <p:strVal val="#ppt_x"/>
                                          </p:val>
                                        </p:tav>
                                        <p:tav tm="100000">
                                          <p:val>
                                            <p:strVal val="#ppt_x"/>
                                          </p:val>
                                        </p:tav>
                                      </p:tavLst>
                                    </p:anim>
                                    <p:anim calcmode="lin" valueType="num">
                                      <p:cBhvr>
                                        <p:cTn id="10" dur="500" fill="hold"/>
                                        <p:tgtEl>
                                          <p:spTgt spid="17418"/>
                                        </p:tgtEl>
                                        <p:attrNameLst>
                                          <p:attrName>ppt_y</p:attrName>
                                        </p:attrNameLst>
                                      </p:cBhvr>
                                      <p:tavLst>
                                        <p:tav tm="0">
                                          <p:val>
                                            <p:strVal val="#ppt_h+1"/>
                                          </p:val>
                                        </p:tav>
                                        <p:tav tm="100000">
                                          <p:val>
                                            <p:strVal val="#ppt_y"/>
                                          </p:val>
                                        </p:tav>
                                      </p:tavLst>
                                    </p:anim>
                                    <p:animEffect transition="in" filter="fade">
                                      <p:cBhvr>
                                        <p:cTn id="11" dur="500"/>
                                        <p:tgtEl>
                                          <p:spTgt spid="17418"/>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500" fill="hold"/>
                                        <p:tgtEl>
                                          <p:spTgt spid="6"/>
                                        </p:tgtEl>
                                        <p:attrNameLst>
                                          <p:attrName>ppt_x</p:attrName>
                                        </p:attrNameLst>
                                      </p:cBhvr>
                                      <p:tavLst>
                                        <p:tav tm="0">
                                          <p:val>
                                            <p:strVal val="#ppt_x"/>
                                          </p:val>
                                        </p:tav>
                                        <p:tav tm="100000">
                                          <p:val>
                                            <p:strVal val="#ppt_x"/>
                                          </p:val>
                                        </p:tav>
                                      </p:tavLst>
                                    </p:anim>
                                    <p:anim calcmode="lin" valueType="num">
                                      <p:cBhvr additive="base">
                                        <p:cTn id="17"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8" grpId="0"/>
      <p:bldP spid="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a:extLst>
              <a:ext uri="{FF2B5EF4-FFF2-40B4-BE49-F238E27FC236}">
                <a16:creationId xmlns:a16="http://schemas.microsoft.com/office/drawing/2014/main" id="{4CF86D2B-C59D-4B52-A82A-80EB56237809}"/>
              </a:ext>
            </a:extLst>
          </p:cNvPr>
          <p:cNvSpPr>
            <a:spLocks noChangeArrowheads="1"/>
          </p:cNvSpPr>
          <p:nvPr/>
        </p:nvSpPr>
        <p:spPr bwMode="auto">
          <a:xfrm>
            <a:off x="861934" y="894682"/>
            <a:ext cx="10807909" cy="2346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marL="342900" indent="-342900" defTabSz="912813" eaLnBrk="0" hangingPunct="0">
              <a:defRPr kumimoji="1" sz="2400">
                <a:solidFill>
                  <a:schemeClr val="tx1"/>
                </a:solidFill>
                <a:latin typeface="Times New Roman" panose="02020603050405020304" pitchFamily="18" charset="0"/>
                <a:ea typeface="宋体" panose="02010600030101010101" pitchFamily="2" charset="-122"/>
              </a:defRPr>
            </a:lvl1pPr>
            <a:lvl2pPr marL="396875" indent="-396875" defTabSz="912813"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1" eaLnBrk="1" hangingPunct="1">
              <a:lnSpc>
                <a:spcPct val="120000"/>
              </a:lnSpc>
              <a:spcBef>
                <a:spcPts val="600"/>
              </a:spcBef>
              <a:buClr>
                <a:schemeClr val="accent2"/>
              </a:buClr>
              <a:buBlip>
                <a:blip r:embed="rId2"/>
              </a:buBlip>
            </a:pPr>
            <a:r>
              <a:rPr kumimoji="0" lang="zh-CN" altLang="en-US" b="1" dirty="0">
                <a:ea typeface="楷体_GB2312" pitchFamily="49" charset="-122"/>
              </a:rPr>
              <a:t>反射颜色</a:t>
            </a:r>
            <a:endParaRPr kumimoji="0" lang="en-US" altLang="zh-CN" b="1" dirty="0">
              <a:ea typeface="楷体_GB2312" pitchFamily="49" charset="-122"/>
            </a:endParaRPr>
          </a:p>
          <a:p>
            <a:pPr marL="808038" lvl="2" indent="-360363" eaLnBrk="1" hangingPunct="1">
              <a:lnSpc>
                <a:spcPct val="120000"/>
              </a:lnSpc>
              <a:spcBef>
                <a:spcPts val="600"/>
              </a:spcBef>
              <a:buFont typeface="Wingdings" panose="05000000000000000000" pitchFamily="2" charset="2"/>
              <a:buChar char="Ø"/>
            </a:pPr>
            <a:r>
              <a:rPr kumimoji="0" lang="zh-CN" altLang="en-US" b="1" dirty="0">
                <a:ea typeface="楷体_GB2312" pitchFamily="49" charset="-122"/>
              </a:rPr>
              <a:t>光源颜色与物体颜色值相乘，得到反射颜色</a:t>
            </a:r>
            <a:endParaRPr kumimoji="0" lang="en-US" altLang="zh-CN" b="1" dirty="0">
              <a:ea typeface="楷体_GB2312" pitchFamily="49" charset="-122"/>
            </a:endParaRPr>
          </a:p>
          <a:p>
            <a:pPr lvl="2">
              <a:lnSpc>
                <a:spcPct val="120000"/>
              </a:lnSpc>
            </a:pPr>
            <a:r>
              <a:rPr lang="en-US" altLang="zh-CN" dirty="0" err="1"/>
              <a:t>glm</a:t>
            </a:r>
            <a:r>
              <a:rPr lang="en-US" altLang="zh-CN" dirty="0"/>
              <a:t>::vec3 </a:t>
            </a:r>
            <a:r>
              <a:rPr lang="en-US" altLang="zh-CN" dirty="0" err="1"/>
              <a:t>lightColor</a:t>
            </a:r>
            <a:r>
              <a:rPr lang="en-US" altLang="zh-CN" dirty="0"/>
              <a:t>(</a:t>
            </a:r>
            <a:r>
              <a:rPr lang="en-US" altLang="zh-CN" dirty="0">
                <a:solidFill>
                  <a:srgbClr val="C00000"/>
                </a:solidFill>
              </a:rPr>
              <a:t>1.0f, 1.0f, 1.0f</a:t>
            </a:r>
            <a:r>
              <a:rPr lang="en-US" altLang="zh-CN" dirty="0"/>
              <a:t>);</a:t>
            </a:r>
          </a:p>
          <a:p>
            <a:pPr lvl="2">
              <a:lnSpc>
                <a:spcPct val="120000"/>
              </a:lnSpc>
            </a:pPr>
            <a:r>
              <a:rPr lang="en-US" altLang="zh-CN" dirty="0" err="1"/>
              <a:t>glm</a:t>
            </a:r>
            <a:r>
              <a:rPr lang="en-US" altLang="zh-CN" dirty="0"/>
              <a:t>::vec3 </a:t>
            </a:r>
            <a:r>
              <a:rPr lang="en-US" altLang="zh-CN" dirty="0" err="1"/>
              <a:t>toyColor</a:t>
            </a:r>
            <a:r>
              <a:rPr lang="en-US" altLang="zh-CN" dirty="0"/>
              <a:t>(</a:t>
            </a:r>
            <a:r>
              <a:rPr lang="en-US" altLang="zh-CN" dirty="0">
                <a:solidFill>
                  <a:srgbClr val="C00000"/>
                </a:solidFill>
              </a:rPr>
              <a:t>1.0f, 0.5f, 0.31f</a:t>
            </a:r>
            <a:r>
              <a:rPr lang="en-US" altLang="zh-CN" dirty="0"/>
              <a:t>);</a:t>
            </a:r>
          </a:p>
          <a:p>
            <a:pPr lvl="2">
              <a:lnSpc>
                <a:spcPct val="120000"/>
              </a:lnSpc>
            </a:pPr>
            <a:r>
              <a:rPr lang="en-US" altLang="zh-CN" dirty="0" err="1"/>
              <a:t>glm</a:t>
            </a:r>
            <a:r>
              <a:rPr lang="en-US" altLang="zh-CN" dirty="0"/>
              <a:t>::vec3 result = </a:t>
            </a:r>
            <a:r>
              <a:rPr lang="en-US" altLang="zh-CN" dirty="0" err="1"/>
              <a:t>lightColor</a:t>
            </a:r>
            <a:r>
              <a:rPr lang="en-US" altLang="zh-CN" dirty="0"/>
              <a:t> * </a:t>
            </a:r>
            <a:r>
              <a:rPr lang="en-US" altLang="zh-CN" dirty="0" err="1"/>
              <a:t>toyColor</a:t>
            </a:r>
            <a:r>
              <a:rPr lang="en-US" altLang="zh-CN" dirty="0"/>
              <a:t>; //=(</a:t>
            </a:r>
            <a:r>
              <a:rPr lang="en-US" altLang="zh-CN" dirty="0">
                <a:solidFill>
                  <a:srgbClr val="C00000"/>
                </a:solidFill>
              </a:rPr>
              <a:t>1.0f, 0.5f, 0.31f</a:t>
            </a:r>
            <a:r>
              <a:rPr lang="en-US" altLang="zh-CN" dirty="0"/>
              <a:t>);</a:t>
            </a:r>
            <a:endParaRPr kumimoji="0" lang="zh-CN" altLang="en-US" b="1" dirty="0">
              <a:ea typeface="楷体_GB2312" pitchFamily="49" charset="-122"/>
            </a:endParaRPr>
          </a:p>
        </p:txBody>
      </p:sp>
      <p:pic>
        <p:nvPicPr>
          <p:cNvPr id="6" name="图片 5">
            <a:extLst>
              <a:ext uri="{FF2B5EF4-FFF2-40B4-BE49-F238E27FC236}">
                <a16:creationId xmlns:a16="http://schemas.microsoft.com/office/drawing/2014/main" id="{C26ED864-2514-4A3A-81CE-8A35CA35436F}"/>
              </a:ext>
            </a:extLst>
          </p:cNvPr>
          <p:cNvPicPr>
            <a:picLocks noChangeAspect="1"/>
          </p:cNvPicPr>
          <p:nvPr/>
        </p:nvPicPr>
        <p:blipFill>
          <a:blip r:embed="rId3"/>
          <a:stretch>
            <a:fillRect/>
          </a:stretch>
        </p:blipFill>
        <p:spPr>
          <a:xfrm>
            <a:off x="4011768" y="3429001"/>
            <a:ext cx="3862289" cy="2782231"/>
          </a:xfrm>
          <a:prstGeom prst="rect">
            <a:avLst/>
          </a:prstGeom>
        </p:spPr>
      </p:pic>
      <p:sp>
        <p:nvSpPr>
          <p:cNvPr id="3" name="标题 2">
            <a:extLst>
              <a:ext uri="{FF2B5EF4-FFF2-40B4-BE49-F238E27FC236}">
                <a16:creationId xmlns:a16="http://schemas.microsoft.com/office/drawing/2014/main" id="{238A252B-D8DA-47A6-90F6-A4F8C750CE01}"/>
              </a:ext>
            </a:extLst>
          </p:cNvPr>
          <p:cNvSpPr>
            <a:spLocks noGrp="1"/>
          </p:cNvSpPr>
          <p:nvPr>
            <p:ph type="title"/>
          </p:nvPr>
        </p:nvSpPr>
        <p:spPr/>
        <p:txBody>
          <a:bodyPr/>
          <a:lstStyle/>
          <a:p>
            <a:r>
              <a:rPr lang="en-US" altLang="zh-CN" dirty="0"/>
              <a:t>7.1 </a:t>
            </a:r>
            <a:r>
              <a:rPr lang="zh-CN" altLang="en-US" dirty="0"/>
              <a:t>反射颜色</a:t>
            </a:r>
          </a:p>
        </p:txBody>
      </p:sp>
    </p:spTree>
    <p:extLst>
      <p:ext uri="{BB962C8B-B14F-4D97-AF65-F5344CB8AC3E}">
        <p14:creationId xmlns:p14="http://schemas.microsoft.com/office/powerpoint/2010/main" val="13686883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8" presetClass="entr" presetSubtype="0" accel="10000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strVal val="#ppt_w*2.5"/>
                                          </p:val>
                                        </p:tav>
                                        <p:tav tm="100000">
                                          <p:val>
                                            <p:strVal val="#ppt_w"/>
                                          </p:val>
                                        </p:tav>
                                      </p:tavLst>
                                    </p:anim>
                                    <p:anim calcmode="lin" valueType="num">
                                      <p:cBhvr>
                                        <p:cTn id="8" dur="500" fill="hold"/>
                                        <p:tgtEl>
                                          <p:spTgt spid="7"/>
                                        </p:tgtEl>
                                        <p:attrNameLst>
                                          <p:attrName>ppt_h</p:attrName>
                                        </p:attrNameLst>
                                      </p:cBhvr>
                                      <p:tavLst>
                                        <p:tav tm="0">
                                          <p:val>
                                            <p:strVal val="#ppt_h*0.01"/>
                                          </p:val>
                                        </p:tav>
                                        <p:tav tm="100000">
                                          <p:val>
                                            <p:strVal val="#ppt_h"/>
                                          </p:val>
                                        </p:tav>
                                      </p:tavLst>
                                    </p:anim>
                                    <p:anim calcmode="lin" valueType="num">
                                      <p:cBhvr>
                                        <p:cTn id="9" dur="500" fill="hold"/>
                                        <p:tgtEl>
                                          <p:spTgt spid="7"/>
                                        </p:tgtEl>
                                        <p:attrNameLst>
                                          <p:attrName>ppt_x</p:attrName>
                                        </p:attrNameLst>
                                      </p:cBhvr>
                                      <p:tavLst>
                                        <p:tav tm="0">
                                          <p:val>
                                            <p:strVal val="#ppt_x"/>
                                          </p:val>
                                        </p:tav>
                                        <p:tav tm="100000">
                                          <p:val>
                                            <p:strVal val="#ppt_x"/>
                                          </p:val>
                                        </p:tav>
                                      </p:tavLst>
                                    </p:anim>
                                    <p:anim calcmode="lin" valueType="num">
                                      <p:cBhvr>
                                        <p:cTn id="10" dur="500" fill="hold"/>
                                        <p:tgtEl>
                                          <p:spTgt spid="7"/>
                                        </p:tgtEl>
                                        <p:attrNameLst>
                                          <p:attrName>ppt_y</p:attrName>
                                        </p:attrNameLst>
                                      </p:cBhvr>
                                      <p:tavLst>
                                        <p:tav tm="0">
                                          <p:val>
                                            <p:strVal val="#ppt_h+1"/>
                                          </p:val>
                                        </p:tav>
                                        <p:tav tm="100000">
                                          <p:val>
                                            <p:strVal val="#ppt_y"/>
                                          </p:val>
                                        </p:tav>
                                      </p:tavLst>
                                    </p:anim>
                                    <p:animEffect transition="in" filter="fade">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8" name="Rectangle 3">
            <a:extLst>
              <a:ext uri="{FF2B5EF4-FFF2-40B4-BE49-F238E27FC236}">
                <a16:creationId xmlns:a16="http://schemas.microsoft.com/office/drawing/2014/main" id="{CD373A7B-088D-438C-A6A7-227EFC872315}"/>
              </a:ext>
            </a:extLst>
          </p:cNvPr>
          <p:cNvSpPr>
            <a:spLocks noChangeArrowheads="1"/>
          </p:cNvSpPr>
          <p:nvPr/>
        </p:nvSpPr>
        <p:spPr bwMode="auto">
          <a:xfrm>
            <a:off x="710533" y="1492870"/>
            <a:ext cx="10959737" cy="4065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marL="342900" indent="-342900" defTabSz="912813" eaLnBrk="0" hangingPunct="0">
              <a:defRPr kumimoji="1" sz="2400">
                <a:solidFill>
                  <a:schemeClr val="tx1"/>
                </a:solidFill>
                <a:latin typeface="Times New Roman" panose="02020603050405020304" pitchFamily="18" charset="0"/>
                <a:ea typeface="宋体" panose="02010600030101010101" pitchFamily="2" charset="-122"/>
              </a:defRPr>
            </a:lvl1pPr>
            <a:lvl2pPr marL="396875" indent="-396875" defTabSz="912813"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1" eaLnBrk="1" hangingPunct="1">
              <a:lnSpc>
                <a:spcPct val="120000"/>
              </a:lnSpc>
              <a:spcBef>
                <a:spcPts val="600"/>
              </a:spcBef>
              <a:buClr>
                <a:schemeClr val="accent2"/>
              </a:buClr>
              <a:buBlip>
                <a:blip r:embed="rId3"/>
              </a:buBlip>
            </a:pPr>
            <a:r>
              <a:rPr kumimoji="0" lang="zh-CN" altLang="en-US" b="1" dirty="0">
                <a:solidFill>
                  <a:srgbClr val="C00000"/>
                </a:solidFill>
                <a:ea typeface="楷体_GB2312" pitchFamily="49" charset="-122"/>
              </a:rPr>
              <a:t>颜色混合</a:t>
            </a:r>
            <a:r>
              <a:rPr kumimoji="0" lang="zh-CN" altLang="en-US" b="1" dirty="0">
                <a:ea typeface="楷体_GB2312" pitchFamily="49" charset="-122"/>
              </a:rPr>
              <a:t>：把两种颜色混在一起，就是把某一像素位置原来的颜色和将要画上去的颜色，通过某种方式混在一起，从而实现特殊的效果</a:t>
            </a:r>
            <a:endParaRPr kumimoji="0" lang="en-US" altLang="zh-CN" b="1" dirty="0">
              <a:ea typeface="楷体_GB2312" pitchFamily="49" charset="-122"/>
            </a:endParaRPr>
          </a:p>
          <a:p>
            <a:pPr lvl="1" eaLnBrk="1" hangingPunct="1">
              <a:lnSpc>
                <a:spcPct val="120000"/>
              </a:lnSpc>
              <a:spcBef>
                <a:spcPts val="1200"/>
              </a:spcBef>
              <a:buClr>
                <a:schemeClr val="accent2"/>
              </a:buClr>
              <a:buBlip>
                <a:blip r:embed="rId3"/>
              </a:buBlip>
            </a:pPr>
            <a:r>
              <a:rPr kumimoji="0" lang="zh-CN" altLang="en-US" b="1" dirty="0">
                <a:solidFill>
                  <a:srgbClr val="C00000"/>
                </a:solidFill>
                <a:ea typeface="楷体_GB2312" pitchFamily="49" charset="-122"/>
              </a:rPr>
              <a:t>实现原理</a:t>
            </a:r>
            <a:r>
              <a:rPr kumimoji="0" lang="zh-CN" altLang="en-US" b="1" dirty="0">
                <a:ea typeface="楷体_GB2312" pitchFamily="49" charset="-122"/>
              </a:rPr>
              <a:t>：</a:t>
            </a:r>
            <a:r>
              <a:rPr kumimoji="0" lang="en-US" altLang="zh-CN" b="1" dirty="0">
                <a:ea typeface="楷体_GB2312" pitchFamily="49" charset="-122"/>
              </a:rPr>
              <a:t>OpenGL</a:t>
            </a:r>
            <a:r>
              <a:rPr kumimoji="0" lang="zh-CN" altLang="en-US" b="1" dirty="0">
                <a:ea typeface="楷体_GB2312" pitchFamily="49" charset="-122"/>
              </a:rPr>
              <a:t>在渲染时把颜色值存放在颜色缓冲区中，把每个片段（像素）的深度值存放在深度缓冲区中</a:t>
            </a:r>
            <a:endParaRPr kumimoji="0" lang="en-US" altLang="zh-CN" b="1" dirty="0">
              <a:ea typeface="楷体_GB2312" pitchFamily="49" charset="-122"/>
            </a:endParaRPr>
          </a:p>
          <a:p>
            <a:pPr marL="1257300" lvl="2" indent="-342900" eaLnBrk="1" hangingPunct="1">
              <a:lnSpc>
                <a:spcPct val="120000"/>
              </a:lnSpc>
              <a:spcBef>
                <a:spcPts val="600"/>
              </a:spcBef>
              <a:buFont typeface="Wingdings" panose="05000000000000000000" pitchFamily="2" charset="2"/>
              <a:buChar char="Ø"/>
            </a:pPr>
            <a:r>
              <a:rPr kumimoji="0" lang="zh-CN" altLang="en-US" sz="2000" b="1" dirty="0">
                <a:ea typeface="楷体_GB2312" pitchFamily="49" charset="-122"/>
              </a:rPr>
              <a:t>当深度检测被关闭时，新的颜色值简单地覆盖颜色缓冲区中已经存在的颜色值</a:t>
            </a:r>
            <a:endParaRPr kumimoji="0" lang="en-US" altLang="zh-CN" sz="2000" b="1" dirty="0">
              <a:ea typeface="楷体_GB2312" pitchFamily="49" charset="-122"/>
            </a:endParaRPr>
          </a:p>
          <a:p>
            <a:pPr marL="1257300" lvl="2" indent="-342900" eaLnBrk="1" hangingPunct="1">
              <a:lnSpc>
                <a:spcPct val="120000"/>
              </a:lnSpc>
              <a:spcBef>
                <a:spcPts val="600"/>
              </a:spcBef>
              <a:buFont typeface="Wingdings" panose="05000000000000000000" pitchFamily="2" charset="2"/>
              <a:buChar char="Ø"/>
            </a:pPr>
            <a:r>
              <a:rPr kumimoji="0" lang="zh-CN" altLang="en-US" sz="2000" b="1" dirty="0">
                <a:ea typeface="楷体_GB2312" pitchFamily="49" charset="-122"/>
              </a:rPr>
              <a:t>当深度检测被打开时，新的颜色值只有当它比原来的颜色更接近临近的裁剪平面时才会替换原来的颜色</a:t>
            </a:r>
            <a:endParaRPr kumimoji="0" lang="en-US" altLang="zh-CN" sz="2000" b="1" dirty="0">
              <a:ea typeface="楷体_GB2312" pitchFamily="49" charset="-122"/>
            </a:endParaRPr>
          </a:p>
          <a:p>
            <a:pPr marL="1257300" lvl="2" indent="-342900" eaLnBrk="1" hangingPunct="1">
              <a:lnSpc>
                <a:spcPct val="120000"/>
              </a:lnSpc>
              <a:spcBef>
                <a:spcPts val="600"/>
              </a:spcBef>
              <a:buFont typeface="Wingdings" panose="05000000000000000000" pitchFamily="2" charset="2"/>
              <a:buChar char="Ø"/>
            </a:pPr>
            <a:r>
              <a:rPr kumimoji="0" lang="zh-CN" altLang="en-US" sz="2000" b="1" dirty="0">
                <a:ea typeface="楷体_GB2312" pitchFamily="49" charset="-122"/>
              </a:rPr>
              <a:t>混合功能是被关闭的情况下。当混合功能被启用时，新的颜色会与颜色缓冲区中原有的颜色进行组合。通过对这些颜色进行不同的组合，可以产生许多种不同的效果</a:t>
            </a:r>
          </a:p>
        </p:txBody>
      </p:sp>
      <p:sp>
        <p:nvSpPr>
          <p:cNvPr id="3" name="标题 2">
            <a:extLst>
              <a:ext uri="{FF2B5EF4-FFF2-40B4-BE49-F238E27FC236}">
                <a16:creationId xmlns:a16="http://schemas.microsoft.com/office/drawing/2014/main" id="{67E63105-85E1-40D0-8A17-F41BACCD94B5}"/>
              </a:ext>
            </a:extLst>
          </p:cNvPr>
          <p:cNvSpPr>
            <a:spLocks noGrp="1"/>
          </p:cNvSpPr>
          <p:nvPr>
            <p:ph type="title"/>
          </p:nvPr>
        </p:nvSpPr>
        <p:spPr/>
        <p:txBody>
          <a:bodyPr/>
          <a:lstStyle/>
          <a:p>
            <a:r>
              <a:rPr lang="en-US" altLang="zh-CN" dirty="0"/>
              <a:t>7.2 </a:t>
            </a:r>
            <a:r>
              <a:rPr lang="zh-CN" altLang="en-US" dirty="0"/>
              <a:t>颜色混合</a:t>
            </a:r>
          </a:p>
        </p:txBody>
      </p:sp>
    </p:spTree>
    <p:extLst>
      <p:ext uri="{BB962C8B-B14F-4D97-AF65-F5344CB8AC3E}">
        <p14:creationId xmlns:p14="http://schemas.microsoft.com/office/powerpoint/2010/main" val="278963638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8" presetClass="entr" presetSubtype="0" accel="100000" fill="hold" grpId="0" nodeType="clickEffect">
                                  <p:stCondLst>
                                    <p:cond delay="0"/>
                                  </p:stCondLst>
                                  <p:childTnLst>
                                    <p:set>
                                      <p:cBhvr>
                                        <p:cTn id="6" dur="1" fill="hold">
                                          <p:stCondLst>
                                            <p:cond delay="0"/>
                                          </p:stCondLst>
                                        </p:cTn>
                                        <p:tgtEl>
                                          <p:spTgt spid="17418"/>
                                        </p:tgtEl>
                                        <p:attrNameLst>
                                          <p:attrName>style.visibility</p:attrName>
                                        </p:attrNameLst>
                                      </p:cBhvr>
                                      <p:to>
                                        <p:strVal val="visible"/>
                                      </p:to>
                                    </p:set>
                                    <p:anim calcmode="lin" valueType="num">
                                      <p:cBhvr>
                                        <p:cTn id="7" dur="500" fill="hold"/>
                                        <p:tgtEl>
                                          <p:spTgt spid="17418"/>
                                        </p:tgtEl>
                                        <p:attrNameLst>
                                          <p:attrName>ppt_w</p:attrName>
                                        </p:attrNameLst>
                                      </p:cBhvr>
                                      <p:tavLst>
                                        <p:tav tm="0">
                                          <p:val>
                                            <p:strVal val="#ppt_w*2.5"/>
                                          </p:val>
                                        </p:tav>
                                        <p:tav tm="100000">
                                          <p:val>
                                            <p:strVal val="#ppt_w"/>
                                          </p:val>
                                        </p:tav>
                                      </p:tavLst>
                                    </p:anim>
                                    <p:anim calcmode="lin" valueType="num">
                                      <p:cBhvr>
                                        <p:cTn id="8" dur="500" fill="hold"/>
                                        <p:tgtEl>
                                          <p:spTgt spid="17418"/>
                                        </p:tgtEl>
                                        <p:attrNameLst>
                                          <p:attrName>ppt_h</p:attrName>
                                        </p:attrNameLst>
                                      </p:cBhvr>
                                      <p:tavLst>
                                        <p:tav tm="0">
                                          <p:val>
                                            <p:strVal val="#ppt_h*0.01"/>
                                          </p:val>
                                        </p:tav>
                                        <p:tav tm="100000">
                                          <p:val>
                                            <p:strVal val="#ppt_h"/>
                                          </p:val>
                                        </p:tav>
                                      </p:tavLst>
                                    </p:anim>
                                    <p:anim calcmode="lin" valueType="num">
                                      <p:cBhvr>
                                        <p:cTn id="9" dur="500" fill="hold"/>
                                        <p:tgtEl>
                                          <p:spTgt spid="17418"/>
                                        </p:tgtEl>
                                        <p:attrNameLst>
                                          <p:attrName>ppt_x</p:attrName>
                                        </p:attrNameLst>
                                      </p:cBhvr>
                                      <p:tavLst>
                                        <p:tav tm="0">
                                          <p:val>
                                            <p:strVal val="#ppt_x"/>
                                          </p:val>
                                        </p:tav>
                                        <p:tav tm="100000">
                                          <p:val>
                                            <p:strVal val="#ppt_x"/>
                                          </p:val>
                                        </p:tav>
                                      </p:tavLst>
                                    </p:anim>
                                    <p:anim calcmode="lin" valueType="num">
                                      <p:cBhvr>
                                        <p:cTn id="10" dur="500" fill="hold"/>
                                        <p:tgtEl>
                                          <p:spTgt spid="17418"/>
                                        </p:tgtEl>
                                        <p:attrNameLst>
                                          <p:attrName>ppt_y</p:attrName>
                                        </p:attrNameLst>
                                      </p:cBhvr>
                                      <p:tavLst>
                                        <p:tav tm="0">
                                          <p:val>
                                            <p:strVal val="#ppt_h+1"/>
                                          </p:val>
                                        </p:tav>
                                        <p:tav tm="100000">
                                          <p:val>
                                            <p:strVal val="#ppt_y"/>
                                          </p:val>
                                        </p:tav>
                                      </p:tavLst>
                                    </p:anim>
                                    <p:animEffect transition="in" filter="fade">
                                      <p:cBhvr>
                                        <p:cTn id="11" dur="500"/>
                                        <p:tgtEl>
                                          <p:spTgt spid="174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8" name="Rectangle 3">
            <a:extLst>
              <a:ext uri="{FF2B5EF4-FFF2-40B4-BE49-F238E27FC236}">
                <a16:creationId xmlns:a16="http://schemas.microsoft.com/office/drawing/2014/main" id="{CD373A7B-088D-438C-A6A7-227EFC872315}"/>
              </a:ext>
            </a:extLst>
          </p:cNvPr>
          <p:cNvSpPr>
            <a:spLocks noChangeArrowheads="1"/>
          </p:cNvSpPr>
          <p:nvPr/>
        </p:nvSpPr>
        <p:spPr bwMode="auto">
          <a:xfrm>
            <a:off x="1064195" y="1127031"/>
            <a:ext cx="9825543" cy="1017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marL="342900" indent="-342900" defTabSz="912813" eaLnBrk="0" hangingPunct="0">
              <a:defRPr kumimoji="1" sz="2400">
                <a:solidFill>
                  <a:schemeClr val="tx1"/>
                </a:solidFill>
                <a:latin typeface="Times New Roman" panose="02020603050405020304" pitchFamily="18" charset="0"/>
                <a:ea typeface="宋体" panose="02010600030101010101" pitchFamily="2" charset="-122"/>
              </a:defRPr>
            </a:lvl1pPr>
            <a:lvl2pPr marL="396875" indent="-396875" defTabSz="912813"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1" eaLnBrk="1" hangingPunct="1">
              <a:lnSpc>
                <a:spcPct val="120000"/>
              </a:lnSpc>
              <a:spcBef>
                <a:spcPts val="600"/>
              </a:spcBef>
              <a:buClr>
                <a:schemeClr val="accent2"/>
              </a:buClr>
              <a:buBlip>
                <a:blip r:embed="rId2"/>
              </a:buBlip>
            </a:pPr>
            <a:r>
              <a:rPr kumimoji="0" lang="zh-CN" altLang="en-US" b="1" dirty="0">
                <a:ea typeface="楷体_GB2312" pitchFamily="49" charset="-122"/>
              </a:rPr>
              <a:t>目标颜色：已经存储在颜色缓冲区中的颜色</a:t>
            </a:r>
            <a:endParaRPr kumimoji="0" lang="en-US" altLang="zh-CN" b="1" dirty="0">
              <a:ea typeface="楷体_GB2312" pitchFamily="49" charset="-122"/>
            </a:endParaRPr>
          </a:p>
          <a:p>
            <a:pPr lvl="1" eaLnBrk="1" hangingPunct="1">
              <a:lnSpc>
                <a:spcPct val="120000"/>
              </a:lnSpc>
              <a:spcBef>
                <a:spcPts val="600"/>
              </a:spcBef>
              <a:buClr>
                <a:schemeClr val="accent2"/>
              </a:buClr>
              <a:buBlip>
                <a:blip r:embed="rId2"/>
              </a:buBlip>
            </a:pPr>
            <a:r>
              <a:rPr kumimoji="0" lang="zh-CN" altLang="en-US" b="1" dirty="0">
                <a:ea typeface="楷体_GB2312" pitchFamily="49" charset="-122"/>
              </a:rPr>
              <a:t>源颜色：当前渲染命令的结果进入颜色缓冲区中的颜色</a:t>
            </a:r>
          </a:p>
        </p:txBody>
      </p:sp>
      <p:sp>
        <p:nvSpPr>
          <p:cNvPr id="5" name="Rectangle 3">
            <a:extLst>
              <a:ext uri="{FF2B5EF4-FFF2-40B4-BE49-F238E27FC236}">
                <a16:creationId xmlns:a16="http://schemas.microsoft.com/office/drawing/2014/main" id="{8ACA8D53-1A3A-4463-AC56-90D22BFF3EE3}"/>
              </a:ext>
            </a:extLst>
          </p:cNvPr>
          <p:cNvSpPr>
            <a:spLocks noChangeArrowheads="1"/>
          </p:cNvSpPr>
          <p:nvPr/>
        </p:nvSpPr>
        <p:spPr bwMode="auto">
          <a:xfrm>
            <a:off x="3046393" y="2537124"/>
            <a:ext cx="6814808" cy="32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marL="342900" indent="-342900" defTabSz="912813" eaLnBrk="0" hangingPunct="0">
              <a:defRPr kumimoji="1" sz="2400">
                <a:solidFill>
                  <a:schemeClr val="tx1"/>
                </a:solidFill>
                <a:latin typeface="Times New Roman" panose="02020603050405020304" pitchFamily="18" charset="0"/>
                <a:ea typeface="宋体" panose="02010600030101010101" pitchFamily="2" charset="-122"/>
              </a:defRPr>
            </a:lvl1pPr>
            <a:lvl2pPr marL="396875" indent="-396875" defTabSz="912813"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lvl="1" indent="0" eaLnBrk="1" hangingPunct="1">
              <a:lnSpc>
                <a:spcPct val="150000"/>
              </a:lnSpc>
              <a:spcBef>
                <a:spcPts val="600"/>
              </a:spcBef>
              <a:buClr>
                <a:schemeClr val="accent2"/>
              </a:buClr>
            </a:pPr>
            <a:r>
              <a:rPr kumimoji="0" lang="en-US" altLang="zh-CN" b="1" dirty="0" err="1">
                <a:solidFill>
                  <a:srgbClr val="C00000"/>
                </a:solidFill>
                <a:ea typeface="楷体_GB2312" pitchFamily="49" charset="-122"/>
              </a:rPr>
              <a:t>C</a:t>
            </a:r>
            <a:r>
              <a:rPr kumimoji="0" lang="en-US" altLang="zh-CN" b="1" baseline="-25000" dirty="0" err="1">
                <a:solidFill>
                  <a:srgbClr val="C00000"/>
                </a:solidFill>
                <a:ea typeface="楷体_GB2312" pitchFamily="49" charset="-122"/>
              </a:rPr>
              <a:t>f</a:t>
            </a:r>
            <a:r>
              <a:rPr kumimoji="0" lang="en-US" altLang="zh-CN" b="1" dirty="0">
                <a:solidFill>
                  <a:srgbClr val="C00000"/>
                </a:solidFill>
                <a:ea typeface="楷体_GB2312" pitchFamily="49" charset="-122"/>
              </a:rPr>
              <a:t>  =  (C</a:t>
            </a:r>
            <a:r>
              <a:rPr kumimoji="0" lang="en-US" altLang="zh-CN" b="1" baseline="-25000" dirty="0">
                <a:solidFill>
                  <a:srgbClr val="C00000"/>
                </a:solidFill>
                <a:ea typeface="楷体_GB2312" pitchFamily="49" charset="-122"/>
              </a:rPr>
              <a:t>s</a:t>
            </a:r>
            <a:r>
              <a:rPr kumimoji="0" lang="en-US" altLang="zh-CN" b="1" dirty="0">
                <a:solidFill>
                  <a:srgbClr val="C00000"/>
                </a:solidFill>
                <a:ea typeface="楷体_GB2312" pitchFamily="49" charset="-122"/>
              </a:rPr>
              <a:t>* S) + (C</a:t>
            </a:r>
            <a:r>
              <a:rPr kumimoji="0" lang="en-US" altLang="zh-CN" b="1" baseline="-25000" dirty="0">
                <a:solidFill>
                  <a:srgbClr val="C00000"/>
                </a:solidFill>
                <a:ea typeface="楷体_GB2312" pitchFamily="49" charset="-122"/>
              </a:rPr>
              <a:t>d</a:t>
            </a:r>
            <a:r>
              <a:rPr kumimoji="0" lang="en-US" altLang="zh-CN" b="1" dirty="0">
                <a:solidFill>
                  <a:srgbClr val="C00000"/>
                </a:solidFill>
                <a:ea typeface="楷体_GB2312" pitchFamily="49" charset="-122"/>
              </a:rPr>
              <a:t>*D)</a:t>
            </a:r>
          </a:p>
          <a:p>
            <a:pPr marL="746125" lvl="2" indent="0" eaLnBrk="1" hangingPunct="1">
              <a:lnSpc>
                <a:spcPct val="150000"/>
              </a:lnSpc>
              <a:spcBef>
                <a:spcPts val="600"/>
              </a:spcBef>
              <a:buClr>
                <a:schemeClr val="accent2"/>
              </a:buClr>
            </a:pPr>
            <a:r>
              <a:rPr kumimoji="0" lang="en-US" altLang="zh-CN" sz="2000" b="1" dirty="0" err="1">
                <a:ea typeface="楷体_GB2312" pitchFamily="49" charset="-122"/>
              </a:rPr>
              <a:t>C</a:t>
            </a:r>
            <a:r>
              <a:rPr kumimoji="0" lang="en-US" altLang="zh-CN" sz="2000" b="1" baseline="-25000" dirty="0" err="1">
                <a:ea typeface="楷体_GB2312" pitchFamily="49" charset="-122"/>
              </a:rPr>
              <a:t>f</a:t>
            </a:r>
            <a:r>
              <a:rPr kumimoji="0" lang="en-US" altLang="zh-CN" sz="2000" b="1" dirty="0">
                <a:ea typeface="楷体_GB2312" pitchFamily="49" charset="-122"/>
              </a:rPr>
              <a:t>: </a:t>
            </a:r>
            <a:r>
              <a:rPr kumimoji="0" lang="zh-CN" altLang="en-US" sz="2000" b="1" dirty="0">
                <a:ea typeface="楷体_GB2312" pitchFamily="49" charset="-122"/>
              </a:rPr>
              <a:t>是最终计算产生的颜色</a:t>
            </a:r>
          </a:p>
          <a:p>
            <a:pPr marL="746125" lvl="2" indent="0" eaLnBrk="1" hangingPunct="1">
              <a:lnSpc>
                <a:spcPct val="150000"/>
              </a:lnSpc>
              <a:spcBef>
                <a:spcPts val="600"/>
              </a:spcBef>
              <a:buClr>
                <a:schemeClr val="accent2"/>
              </a:buClr>
            </a:pPr>
            <a:r>
              <a:rPr kumimoji="0" lang="en-US" altLang="zh-CN" sz="2000" b="1" dirty="0">
                <a:ea typeface="楷体_GB2312" pitchFamily="49" charset="-122"/>
              </a:rPr>
              <a:t>C</a:t>
            </a:r>
            <a:r>
              <a:rPr kumimoji="0" lang="en-US" altLang="zh-CN" sz="2000" b="1" baseline="-25000" dirty="0">
                <a:ea typeface="楷体_GB2312" pitchFamily="49" charset="-122"/>
              </a:rPr>
              <a:t>s</a:t>
            </a:r>
            <a:r>
              <a:rPr kumimoji="0" lang="en-US" altLang="zh-CN" sz="2000" b="1" dirty="0">
                <a:ea typeface="楷体_GB2312" pitchFamily="49" charset="-122"/>
              </a:rPr>
              <a:t>: </a:t>
            </a:r>
            <a:r>
              <a:rPr kumimoji="0" lang="zh-CN" altLang="en-US" sz="2000" b="1" dirty="0">
                <a:ea typeface="楷体_GB2312" pitchFamily="49" charset="-122"/>
              </a:rPr>
              <a:t>是源颜色</a:t>
            </a:r>
          </a:p>
          <a:p>
            <a:pPr marL="746125" lvl="2" indent="0" eaLnBrk="1" hangingPunct="1">
              <a:lnSpc>
                <a:spcPct val="150000"/>
              </a:lnSpc>
              <a:spcBef>
                <a:spcPts val="600"/>
              </a:spcBef>
              <a:buClr>
                <a:schemeClr val="accent2"/>
              </a:buClr>
            </a:pPr>
            <a:r>
              <a:rPr kumimoji="0" lang="en-US" altLang="zh-CN" sz="2000" b="1" dirty="0">
                <a:ea typeface="楷体_GB2312" pitchFamily="49" charset="-122"/>
              </a:rPr>
              <a:t>C</a:t>
            </a:r>
            <a:r>
              <a:rPr kumimoji="0" lang="en-US" altLang="zh-CN" sz="2000" b="1" baseline="-25000" dirty="0">
                <a:ea typeface="楷体_GB2312" pitchFamily="49" charset="-122"/>
              </a:rPr>
              <a:t>d</a:t>
            </a:r>
            <a:r>
              <a:rPr kumimoji="0" lang="en-US" altLang="zh-CN" sz="2000" b="1" dirty="0">
                <a:ea typeface="楷体_GB2312" pitchFamily="49" charset="-122"/>
              </a:rPr>
              <a:t>: </a:t>
            </a:r>
            <a:r>
              <a:rPr kumimoji="0" lang="zh-CN" altLang="en-US" sz="2000" b="1" dirty="0">
                <a:ea typeface="楷体_GB2312" pitchFamily="49" charset="-122"/>
              </a:rPr>
              <a:t>是目标颜色</a:t>
            </a:r>
          </a:p>
          <a:p>
            <a:pPr marL="746125" lvl="2" indent="0" eaLnBrk="1" hangingPunct="1">
              <a:lnSpc>
                <a:spcPct val="150000"/>
              </a:lnSpc>
              <a:spcBef>
                <a:spcPts val="600"/>
              </a:spcBef>
              <a:buClr>
                <a:schemeClr val="accent2"/>
              </a:buClr>
            </a:pPr>
            <a:r>
              <a:rPr kumimoji="0" lang="en-US" altLang="zh-CN" sz="2000" b="1" dirty="0">
                <a:ea typeface="楷体_GB2312" pitchFamily="49" charset="-122"/>
              </a:rPr>
              <a:t>S:  </a:t>
            </a:r>
            <a:r>
              <a:rPr kumimoji="0" lang="zh-CN" altLang="en-US" sz="2000" b="1" dirty="0">
                <a:ea typeface="楷体_GB2312" pitchFamily="49" charset="-122"/>
              </a:rPr>
              <a:t>是源混合因子</a:t>
            </a:r>
          </a:p>
          <a:p>
            <a:pPr marL="746125" lvl="2" indent="0" eaLnBrk="1" hangingPunct="1">
              <a:lnSpc>
                <a:spcPct val="150000"/>
              </a:lnSpc>
              <a:spcBef>
                <a:spcPts val="600"/>
              </a:spcBef>
              <a:buClr>
                <a:schemeClr val="accent2"/>
              </a:buClr>
            </a:pPr>
            <a:r>
              <a:rPr kumimoji="0" lang="en-US" altLang="zh-CN" sz="2000" b="1" dirty="0">
                <a:ea typeface="楷体_GB2312" pitchFamily="49" charset="-122"/>
              </a:rPr>
              <a:t>D:  </a:t>
            </a:r>
            <a:r>
              <a:rPr kumimoji="0" lang="zh-CN" altLang="en-US" sz="2000" b="1" dirty="0">
                <a:ea typeface="楷体_GB2312" pitchFamily="49" charset="-122"/>
              </a:rPr>
              <a:t>是目标混合因子</a:t>
            </a:r>
          </a:p>
        </p:txBody>
      </p:sp>
      <p:sp>
        <p:nvSpPr>
          <p:cNvPr id="3" name="标题 2">
            <a:extLst>
              <a:ext uri="{FF2B5EF4-FFF2-40B4-BE49-F238E27FC236}">
                <a16:creationId xmlns:a16="http://schemas.microsoft.com/office/drawing/2014/main" id="{219BB52C-3641-4B1B-90C3-E477A2DBE8B5}"/>
              </a:ext>
            </a:extLst>
          </p:cNvPr>
          <p:cNvSpPr>
            <a:spLocks noGrp="1"/>
          </p:cNvSpPr>
          <p:nvPr>
            <p:ph type="title"/>
          </p:nvPr>
        </p:nvSpPr>
        <p:spPr/>
        <p:txBody>
          <a:bodyPr/>
          <a:lstStyle/>
          <a:p>
            <a:r>
              <a:rPr lang="en-US" altLang="zh-CN" dirty="0"/>
              <a:t>7.2 </a:t>
            </a:r>
            <a:r>
              <a:rPr lang="zh-CN" altLang="en-US" dirty="0"/>
              <a:t>颜色混合</a:t>
            </a:r>
          </a:p>
        </p:txBody>
      </p:sp>
    </p:spTree>
    <p:extLst>
      <p:ext uri="{BB962C8B-B14F-4D97-AF65-F5344CB8AC3E}">
        <p14:creationId xmlns:p14="http://schemas.microsoft.com/office/powerpoint/2010/main" val="71421893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8" presetClass="entr" presetSubtype="0" accel="100000" fill="hold" grpId="0" nodeType="clickEffect">
                                  <p:stCondLst>
                                    <p:cond delay="0"/>
                                  </p:stCondLst>
                                  <p:childTnLst>
                                    <p:set>
                                      <p:cBhvr>
                                        <p:cTn id="6" dur="1" fill="hold">
                                          <p:stCondLst>
                                            <p:cond delay="0"/>
                                          </p:stCondLst>
                                        </p:cTn>
                                        <p:tgtEl>
                                          <p:spTgt spid="17418"/>
                                        </p:tgtEl>
                                        <p:attrNameLst>
                                          <p:attrName>style.visibility</p:attrName>
                                        </p:attrNameLst>
                                      </p:cBhvr>
                                      <p:to>
                                        <p:strVal val="visible"/>
                                      </p:to>
                                    </p:set>
                                    <p:anim calcmode="lin" valueType="num">
                                      <p:cBhvr>
                                        <p:cTn id="7" dur="500" fill="hold"/>
                                        <p:tgtEl>
                                          <p:spTgt spid="17418"/>
                                        </p:tgtEl>
                                        <p:attrNameLst>
                                          <p:attrName>ppt_w</p:attrName>
                                        </p:attrNameLst>
                                      </p:cBhvr>
                                      <p:tavLst>
                                        <p:tav tm="0">
                                          <p:val>
                                            <p:strVal val="#ppt_w*2.5"/>
                                          </p:val>
                                        </p:tav>
                                        <p:tav tm="100000">
                                          <p:val>
                                            <p:strVal val="#ppt_w"/>
                                          </p:val>
                                        </p:tav>
                                      </p:tavLst>
                                    </p:anim>
                                    <p:anim calcmode="lin" valueType="num">
                                      <p:cBhvr>
                                        <p:cTn id="8" dur="500" fill="hold"/>
                                        <p:tgtEl>
                                          <p:spTgt spid="17418"/>
                                        </p:tgtEl>
                                        <p:attrNameLst>
                                          <p:attrName>ppt_h</p:attrName>
                                        </p:attrNameLst>
                                      </p:cBhvr>
                                      <p:tavLst>
                                        <p:tav tm="0">
                                          <p:val>
                                            <p:strVal val="#ppt_h*0.01"/>
                                          </p:val>
                                        </p:tav>
                                        <p:tav tm="100000">
                                          <p:val>
                                            <p:strVal val="#ppt_h"/>
                                          </p:val>
                                        </p:tav>
                                      </p:tavLst>
                                    </p:anim>
                                    <p:anim calcmode="lin" valueType="num">
                                      <p:cBhvr>
                                        <p:cTn id="9" dur="500" fill="hold"/>
                                        <p:tgtEl>
                                          <p:spTgt spid="17418"/>
                                        </p:tgtEl>
                                        <p:attrNameLst>
                                          <p:attrName>ppt_x</p:attrName>
                                        </p:attrNameLst>
                                      </p:cBhvr>
                                      <p:tavLst>
                                        <p:tav tm="0">
                                          <p:val>
                                            <p:strVal val="#ppt_x"/>
                                          </p:val>
                                        </p:tav>
                                        <p:tav tm="100000">
                                          <p:val>
                                            <p:strVal val="#ppt_x"/>
                                          </p:val>
                                        </p:tav>
                                      </p:tavLst>
                                    </p:anim>
                                    <p:anim calcmode="lin" valueType="num">
                                      <p:cBhvr>
                                        <p:cTn id="10" dur="500" fill="hold"/>
                                        <p:tgtEl>
                                          <p:spTgt spid="17418"/>
                                        </p:tgtEl>
                                        <p:attrNameLst>
                                          <p:attrName>ppt_y</p:attrName>
                                        </p:attrNameLst>
                                      </p:cBhvr>
                                      <p:tavLst>
                                        <p:tav tm="0">
                                          <p:val>
                                            <p:strVal val="#ppt_h+1"/>
                                          </p:val>
                                        </p:tav>
                                        <p:tav tm="100000">
                                          <p:val>
                                            <p:strVal val="#ppt_y"/>
                                          </p:val>
                                        </p:tav>
                                      </p:tavLst>
                                    </p:anim>
                                    <p:animEffect transition="in" filter="fade">
                                      <p:cBhvr>
                                        <p:cTn id="11" dur="500"/>
                                        <p:tgtEl>
                                          <p:spTgt spid="17418"/>
                                        </p:tgtEl>
                                      </p:cBhvr>
                                    </p:animEffect>
                                  </p:childTnLst>
                                </p:cTn>
                              </p:par>
                            </p:childTnLst>
                          </p:cTn>
                        </p:par>
                      </p:childTnLst>
                    </p:cTn>
                  </p:par>
                  <p:par>
                    <p:cTn id="12" fill="hold">
                      <p:stCondLst>
                        <p:cond delay="indefinite"/>
                      </p:stCondLst>
                      <p:childTnLst>
                        <p:par>
                          <p:cTn id="13" fill="hold">
                            <p:stCondLst>
                              <p:cond delay="0"/>
                            </p:stCondLst>
                            <p:childTnLst>
                              <p:par>
                                <p:cTn id="14" presetID="58" presetClass="entr" presetSubtype="0" accel="10000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p:cTn id="16" dur="500" fill="hold"/>
                                        <p:tgtEl>
                                          <p:spTgt spid="5"/>
                                        </p:tgtEl>
                                        <p:attrNameLst>
                                          <p:attrName>ppt_w</p:attrName>
                                        </p:attrNameLst>
                                      </p:cBhvr>
                                      <p:tavLst>
                                        <p:tav tm="0">
                                          <p:val>
                                            <p:strVal val="#ppt_w*2.5"/>
                                          </p:val>
                                        </p:tav>
                                        <p:tav tm="100000">
                                          <p:val>
                                            <p:strVal val="#ppt_w"/>
                                          </p:val>
                                        </p:tav>
                                      </p:tavLst>
                                    </p:anim>
                                    <p:anim calcmode="lin" valueType="num">
                                      <p:cBhvr>
                                        <p:cTn id="17" dur="500" fill="hold"/>
                                        <p:tgtEl>
                                          <p:spTgt spid="5"/>
                                        </p:tgtEl>
                                        <p:attrNameLst>
                                          <p:attrName>ppt_h</p:attrName>
                                        </p:attrNameLst>
                                      </p:cBhvr>
                                      <p:tavLst>
                                        <p:tav tm="0">
                                          <p:val>
                                            <p:strVal val="#ppt_h*0.01"/>
                                          </p:val>
                                        </p:tav>
                                        <p:tav tm="100000">
                                          <p:val>
                                            <p:strVal val="#ppt_h"/>
                                          </p:val>
                                        </p:tav>
                                      </p:tavLst>
                                    </p:anim>
                                    <p:anim calcmode="lin" valueType="num">
                                      <p:cBhvr>
                                        <p:cTn id="18" dur="500" fill="hold"/>
                                        <p:tgtEl>
                                          <p:spTgt spid="5"/>
                                        </p:tgtEl>
                                        <p:attrNameLst>
                                          <p:attrName>ppt_x</p:attrName>
                                        </p:attrNameLst>
                                      </p:cBhvr>
                                      <p:tavLst>
                                        <p:tav tm="0">
                                          <p:val>
                                            <p:strVal val="#ppt_x"/>
                                          </p:val>
                                        </p:tav>
                                        <p:tav tm="100000">
                                          <p:val>
                                            <p:strVal val="#ppt_x"/>
                                          </p:val>
                                        </p:tav>
                                      </p:tavLst>
                                    </p:anim>
                                    <p:anim calcmode="lin" valueType="num">
                                      <p:cBhvr>
                                        <p:cTn id="19" dur="500" fill="hold"/>
                                        <p:tgtEl>
                                          <p:spTgt spid="5"/>
                                        </p:tgtEl>
                                        <p:attrNameLst>
                                          <p:attrName>ppt_y</p:attrName>
                                        </p:attrNameLst>
                                      </p:cBhvr>
                                      <p:tavLst>
                                        <p:tav tm="0">
                                          <p:val>
                                            <p:strVal val="#ppt_h+1"/>
                                          </p:val>
                                        </p:tav>
                                        <p:tav tm="100000">
                                          <p:val>
                                            <p:strVal val="#ppt_y"/>
                                          </p:val>
                                        </p:tav>
                                      </p:tavLst>
                                    </p:anim>
                                    <p:animEffect transition="in" filter="fade">
                                      <p:cBhvr>
                                        <p:cTn id="2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8" grpId="0"/>
      <p:bldP spid="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a:extLst>
              <a:ext uri="{FF2B5EF4-FFF2-40B4-BE49-F238E27FC236}">
                <a16:creationId xmlns:a16="http://schemas.microsoft.com/office/drawing/2014/main" id="{3C745F1B-8936-4BF1-B8CF-8A5C3CC08935}"/>
              </a:ext>
            </a:extLst>
          </p:cNvPr>
          <p:cNvSpPr>
            <a:spLocks noGrp="1"/>
          </p:cNvSpPr>
          <p:nvPr>
            <p:ph type="title"/>
          </p:nvPr>
        </p:nvSpPr>
        <p:spPr/>
        <p:txBody>
          <a:bodyPr/>
          <a:lstStyle/>
          <a:p>
            <a:r>
              <a:rPr lang="en-US" altLang="zh-CN" dirty="0"/>
              <a:t>7.2 </a:t>
            </a:r>
            <a:r>
              <a:rPr lang="zh-CN" altLang="en-US" dirty="0"/>
              <a:t>颜色混合</a:t>
            </a:r>
          </a:p>
        </p:txBody>
      </p:sp>
      <p:sp>
        <p:nvSpPr>
          <p:cNvPr id="3" name="矩形 2">
            <a:extLst>
              <a:ext uri="{FF2B5EF4-FFF2-40B4-BE49-F238E27FC236}">
                <a16:creationId xmlns:a16="http://schemas.microsoft.com/office/drawing/2014/main" id="{1E3A7AB8-05A6-42B6-B85F-B0C721725DA6}"/>
              </a:ext>
            </a:extLst>
          </p:cNvPr>
          <p:cNvSpPr/>
          <p:nvPr/>
        </p:nvSpPr>
        <p:spPr>
          <a:xfrm>
            <a:off x="966867" y="835656"/>
            <a:ext cx="10110864" cy="5843972"/>
          </a:xfrm>
          <a:prstGeom prst="rect">
            <a:avLst/>
          </a:prstGeom>
        </p:spPr>
        <p:txBody>
          <a:bodyPr wrap="square">
            <a:spAutoFit/>
          </a:bodyPr>
          <a:lstStyle/>
          <a:p>
            <a:pPr>
              <a:lnSpc>
                <a:spcPct val="120000"/>
              </a:lnSpc>
            </a:pPr>
            <a:r>
              <a:rPr lang="zh-CN" altLang="en-US" sz="2400" b="1" dirty="0">
                <a:latin typeface="Times New Roman" panose="02020603050405020304" pitchFamily="18" charset="0"/>
                <a:ea typeface="楷体_GB2312" pitchFamily="49" charset="-122"/>
              </a:rPr>
              <a:t>颜色混合的使用步骤：</a:t>
            </a:r>
          </a:p>
          <a:p>
            <a:pPr marL="800100" lvl="1" indent="-342900">
              <a:lnSpc>
                <a:spcPct val="120000"/>
              </a:lnSpc>
              <a:spcBef>
                <a:spcPts val="600"/>
              </a:spcBef>
              <a:buFont typeface="Wingdings" panose="05000000000000000000" pitchFamily="2" charset="2"/>
              <a:buChar char="Ø"/>
            </a:pPr>
            <a:r>
              <a:rPr lang="zh-CN" altLang="en-US" sz="2000" b="1" dirty="0">
                <a:solidFill>
                  <a:srgbClr val="C00000"/>
                </a:solidFill>
                <a:latin typeface="Times New Roman" panose="02020603050405020304" pitchFamily="18" charset="0"/>
                <a:ea typeface="楷体_GB2312" pitchFamily="49" charset="-122"/>
              </a:rPr>
              <a:t>开启</a:t>
            </a:r>
            <a:r>
              <a:rPr lang="en-US" altLang="zh-CN" sz="2000" b="1" dirty="0">
                <a:latin typeface="Times New Roman" panose="02020603050405020304" pitchFamily="18" charset="0"/>
                <a:ea typeface="楷体_GB2312" pitchFamily="49" charset="-122"/>
              </a:rPr>
              <a:t>OpenGL</a:t>
            </a:r>
            <a:r>
              <a:rPr lang="zh-CN" altLang="en-US" sz="2000" b="1" dirty="0">
                <a:latin typeface="Times New Roman" panose="02020603050405020304" pitchFamily="18" charset="0"/>
                <a:ea typeface="楷体_GB2312" pitchFamily="49" charset="-122"/>
              </a:rPr>
              <a:t>的混合功能</a:t>
            </a:r>
          </a:p>
          <a:p>
            <a:pPr>
              <a:lnSpc>
                <a:spcPct val="120000"/>
              </a:lnSpc>
              <a:spcBef>
                <a:spcPts val="600"/>
              </a:spcBef>
            </a:pPr>
            <a:r>
              <a:rPr lang="en-US" altLang="zh-CN" sz="2000" b="1" dirty="0">
                <a:latin typeface="Times New Roman" panose="02020603050405020304" pitchFamily="18" charset="0"/>
                <a:ea typeface="楷体_GB2312" pitchFamily="49" charset="-122"/>
              </a:rPr>
              <a:t>	</a:t>
            </a:r>
            <a:r>
              <a:rPr lang="en-US" altLang="zh-CN" sz="2000" b="1" dirty="0" err="1">
                <a:latin typeface="Times New Roman" panose="02020603050405020304" pitchFamily="18" charset="0"/>
                <a:ea typeface="楷体_GB2312" pitchFamily="49" charset="-122"/>
              </a:rPr>
              <a:t>glEnable</a:t>
            </a:r>
            <a:r>
              <a:rPr lang="en-US" altLang="zh-CN" sz="2000" b="1" dirty="0">
                <a:latin typeface="Times New Roman" panose="02020603050405020304" pitchFamily="18" charset="0"/>
                <a:ea typeface="楷体_GB2312" pitchFamily="49" charset="-122"/>
              </a:rPr>
              <a:t>(GL_BLEND)</a:t>
            </a:r>
            <a:r>
              <a:rPr lang="zh-CN" altLang="en-US" sz="2000" b="1" dirty="0">
                <a:latin typeface="Times New Roman" panose="02020603050405020304" pitchFamily="18" charset="0"/>
                <a:ea typeface="楷体_GB2312" pitchFamily="49" charset="-122"/>
              </a:rPr>
              <a:t>；</a:t>
            </a:r>
          </a:p>
          <a:p>
            <a:pPr marL="800100" lvl="1" indent="-342900">
              <a:lnSpc>
                <a:spcPct val="120000"/>
              </a:lnSpc>
              <a:spcBef>
                <a:spcPts val="600"/>
              </a:spcBef>
              <a:buFont typeface="Wingdings" panose="05000000000000000000" pitchFamily="2" charset="2"/>
              <a:buChar char="Ø"/>
            </a:pPr>
            <a:r>
              <a:rPr lang="zh-CN" altLang="en-US" sz="2000" b="1" dirty="0">
                <a:solidFill>
                  <a:srgbClr val="C00000"/>
                </a:solidFill>
                <a:latin typeface="Times New Roman" panose="02020603050405020304" pitchFamily="18" charset="0"/>
                <a:ea typeface="楷体_GB2312" pitchFamily="49" charset="-122"/>
              </a:rPr>
              <a:t>设置</a:t>
            </a:r>
            <a:r>
              <a:rPr lang="zh-CN" altLang="en-US" sz="2000" b="1" dirty="0">
                <a:latin typeface="Times New Roman" panose="02020603050405020304" pitchFamily="18" charset="0"/>
                <a:ea typeface="楷体_GB2312" pitchFamily="49" charset="-122"/>
              </a:rPr>
              <a:t>获取源混合因子与目标混合因子的方式</a:t>
            </a:r>
          </a:p>
          <a:p>
            <a:pPr>
              <a:lnSpc>
                <a:spcPct val="120000"/>
              </a:lnSpc>
              <a:spcBef>
                <a:spcPts val="600"/>
              </a:spcBef>
            </a:pPr>
            <a:r>
              <a:rPr lang="en-US" altLang="zh-CN" sz="2000" b="1" dirty="0">
                <a:latin typeface="Times New Roman" panose="02020603050405020304" pitchFamily="18" charset="0"/>
                <a:ea typeface="楷体_GB2312" pitchFamily="49" charset="-122"/>
              </a:rPr>
              <a:t>	void </a:t>
            </a:r>
            <a:r>
              <a:rPr lang="en-US" altLang="zh-CN" sz="2000" b="1" dirty="0" err="1">
                <a:latin typeface="Times New Roman" panose="02020603050405020304" pitchFamily="18" charset="0"/>
                <a:ea typeface="楷体_GB2312" pitchFamily="49" charset="-122"/>
              </a:rPr>
              <a:t>glBlendFunc</a:t>
            </a:r>
            <a:r>
              <a:rPr lang="en-US" altLang="zh-CN" sz="2000" b="1" dirty="0">
                <a:latin typeface="Times New Roman" panose="02020603050405020304" pitchFamily="18" charset="0"/>
                <a:ea typeface="楷体_GB2312" pitchFamily="49" charset="-122"/>
              </a:rPr>
              <a:t>(</a:t>
            </a:r>
            <a:r>
              <a:rPr lang="en-US" altLang="zh-CN" sz="2000" b="1" dirty="0" err="1">
                <a:latin typeface="Times New Roman" panose="02020603050405020304" pitchFamily="18" charset="0"/>
                <a:ea typeface="楷体_GB2312" pitchFamily="49" charset="-122"/>
              </a:rPr>
              <a:t>GLenum</a:t>
            </a:r>
            <a:r>
              <a:rPr lang="en-US" altLang="zh-CN" sz="2000" b="1" dirty="0">
                <a:latin typeface="Times New Roman" panose="02020603050405020304" pitchFamily="18" charset="0"/>
                <a:ea typeface="楷体_GB2312" pitchFamily="49" charset="-122"/>
              </a:rPr>
              <a:t> </a:t>
            </a:r>
            <a:r>
              <a:rPr lang="en-US" altLang="zh-CN" sz="2000" b="1" dirty="0" err="1">
                <a:latin typeface="Times New Roman" panose="02020603050405020304" pitchFamily="18" charset="0"/>
                <a:ea typeface="楷体_GB2312" pitchFamily="49" charset="-122"/>
              </a:rPr>
              <a:t>sfactor,GLenum</a:t>
            </a:r>
            <a:r>
              <a:rPr lang="en-US" altLang="zh-CN" sz="2000" b="1" dirty="0">
                <a:latin typeface="Times New Roman" panose="02020603050405020304" pitchFamily="18" charset="0"/>
                <a:ea typeface="楷体_GB2312" pitchFamily="49" charset="-122"/>
              </a:rPr>
              <a:t> </a:t>
            </a:r>
            <a:r>
              <a:rPr lang="en-US" altLang="zh-CN" sz="2000" b="1" dirty="0" err="1">
                <a:latin typeface="Times New Roman" panose="02020603050405020304" pitchFamily="18" charset="0"/>
                <a:ea typeface="楷体_GB2312" pitchFamily="49" charset="-122"/>
              </a:rPr>
              <a:t>dfactor</a:t>
            </a:r>
            <a:r>
              <a:rPr lang="en-US" altLang="zh-CN" sz="2000" b="1" dirty="0">
                <a:latin typeface="Times New Roman" panose="02020603050405020304" pitchFamily="18" charset="0"/>
                <a:ea typeface="楷体_GB2312" pitchFamily="49" charset="-122"/>
              </a:rPr>
              <a:t>)</a:t>
            </a:r>
          </a:p>
          <a:p>
            <a:pPr>
              <a:lnSpc>
                <a:spcPct val="120000"/>
              </a:lnSpc>
              <a:spcBef>
                <a:spcPts val="600"/>
              </a:spcBef>
            </a:pPr>
            <a:r>
              <a:rPr lang="en-US" altLang="zh-CN" sz="2000" b="1" dirty="0">
                <a:latin typeface="Times New Roman" panose="02020603050405020304" pitchFamily="18" charset="0"/>
                <a:ea typeface="楷体_GB2312" pitchFamily="49" charset="-122"/>
              </a:rPr>
              <a:t>	</a:t>
            </a:r>
            <a:r>
              <a:rPr lang="en-US" altLang="zh-CN" sz="2000" b="1" dirty="0" err="1">
                <a:latin typeface="Times New Roman" panose="02020603050405020304" pitchFamily="18" charset="0"/>
                <a:ea typeface="楷体_GB2312" pitchFamily="49" charset="-122"/>
              </a:rPr>
              <a:t>sfactor</a:t>
            </a:r>
            <a:r>
              <a:rPr lang="en-US" altLang="zh-CN" sz="2000" b="1" dirty="0">
                <a:latin typeface="Times New Roman" panose="02020603050405020304" pitchFamily="18" charset="0"/>
                <a:ea typeface="楷体_GB2312" pitchFamily="49" charset="-122"/>
              </a:rPr>
              <a:t> —— </a:t>
            </a:r>
            <a:r>
              <a:rPr lang="zh-CN" altLang="en-US" sz="2000" b="1" dirty="0">
                <a:latin typeface="Times New Roman" panose="02020603050405020304" pitchFamily="18" charset="0"/>
                <a:ea typeface="楷体_GB2312" pitchFamily="49" charset="-122"/>
              </a:rPr>
              <a:t>指明计算源混合因子的方式</a:t>
            </a:r>
          </a:p>
          <a:p>
            <a:pPr>
              <a:lnSpc>
                <a:spcPct val="120000"/>
              </a:lnSpc>
              <a:spcBef>
                <a:spcPts val="600"/>
              </a:spcBef>
            </a:pPr>
            <a:r>
              <a:rPr lang="en-US" altLang="zh-CN" sz="2000" b="1" dirty="0">
                <a:latin typeface="Times New Roman" panose="02020603050405020304" pitchFamily="18" charset="0"/>
                <a:ea typeface="楷体_GB2312" pitchFamily="49" charset="-122"/>
              </a:rPr>
              <a:t>	</a:t>
            </a:r>
            <a:r>
              <a:rPr lang="en-US" altLang="zh-CN" sz="2000" b="1" dirty="0" err="1">
                <a:latin typeface="Times New Roman" panose="02020603050405020304" pitchFamily="18" charset="0"/>
                <a:ea typeface="楷体_GB2312" pitchFamily="49" charset="-122"/>
              </a:rPr>
              <a:t>dfactor</a:t>
            </a:r>
            <a:r>
              <a:rPr lang="en-US" altLang="zh-CN" sz="2000" b="1" dirty="0">
                <a:latin typeface="Times New Roman" panose="02020603050405020304" pitchFamily="18" charset="0"/>
                <a:ea typeface="楷体_GB2312" pitchFamily="49" charset="-122"/>
              </a:rPr>
              <a:t> —— </a:t>
            </a:r>
            <a:r>
              <a:rPr lang="zh-CN" altLang="en-US" sz="2000" b="1" dirty="0">
                <a:latin typeface="Times New Roman" panose="02020603050405020304" pitchFamily="18" charset="0"/>
                <a:ea typeface="楷体_GB2312" pitchFamily="49" charset="-122"/>
              </a:rPr>
              <a:t>指明计算目标混合因子的方式</a:t>
            </a:r>
            <a:endParaRPr lang="en-US" altLang="zh-CN" sz="2000" b="1" dirty="0">
              <a:latin typeface="Times New Roman" panose="02020603050405020304" pitchFamily="18" charset="0"/>
              <a:ea typeface="楷体_GB2312" pitchFamily="49" charset="-122"/>
            </a:endParaRPr>
          </a:p>
          <a:p>
            <a:pPr marL="800100" lvl="1" indent="-342900">
              <a:lnSpc>
                <a:spcPct val="120000"/>
              </a:lnSpc>
              <a:spcBef>
                <a:spcPts val="600"/>
              </a:spcBef>
              <a:buFont typeface="Wingdings" panose="05000000000000000000" pitchFamily="2" charset="2"/>
              <a:buChar char="Ø"/>
            </a:pPr>
            <a:r>
              <a:rPr lang="zh-CN" altLang="en-US" sz="2000" b="1" dirty="0">
                <a:solidFill>
                  <a:srgbClr val="C00000"/>
                </a:solidFill>
                <a:latin typeface="Times New Roman" panose="02020603050405020304" pitchFamily="18" charset="0"/>
                <a:ea typeface="楷体_GB2312" pitchFamily="49" charset="-122"/>
              </a:rPr>
              <a:t>枚举类型</a:t>
            </a:r>
            <a:r>
              <a:rPr lang="zh-CN" altLang="en-US" sz="2000" b="1" dirty="0">
                <a:latin typeface="Times New Roman" panose="02020603050405020304" pitchFamily="18" charset="0"/>
                <a:ea typeface="楷体_GB2312" pitchFamily="49" charset="-122"/>
              </a:rPr>
              <a:t>可能的值为</a:t>
            </a:r>
            <a:r>
              <a:rPr lang="en-US" altLang="zh-CN" sz="2000" b="1" dirty="0">
                <a:latin typeface="Times New Roman" panose="02020603050405020304" pitchFamily="18" charset="0"/>
                <a:ea typeface="楷体_GB2312" pitchFamily="49" charset="-122"/>
              </a:rPr>
              <a:t>:</a:t>
            </a:r>
          </a:p>
          <a:p>
            <a:pPr lvl="1">
              <a:lnSpc>
                <a:spcPct val="120000"/>
              </a:lnSpc>
              <a:spcBef>
                <a:spcPts val="0"/>
              </a:spcBef>
            </a:pPr>
            <a:r>
              <a:rPr lang="en-US" altLang="zh-CN" sz="2000" b="1" dirty="0">
                <a:latin typeface="Times New Roman" panose="02020603050405020304" pitchFamily="18" charset="0"/>
                <a:ea typeface="楷体_GB2312" pitchFamily="49" charset="-122"/>
              </a:rPr>
              <a:t>GL_ZERO</a:t>
            </a:r>
            <a:r>
              <a:rPr lang="zh-CN" altLang="en-US" sz="2000" b="1" dirty="0">
                <a:latin typeface="Times New Roman" panose="02020603050405020304" pitchFamily="18" charset="0"/>
                <a:ea typeface="楷体_GB2312" pitchFamily="49" charset="-122"/>
              </a:rPr>
              <a:t>：使用</a:t>
            </a:r>
            <a:r>
              <a:rPr lang="en-US" altLang="zh-CN" sz="2000" b="1" dirty="0">
                <a:latin typeface="Times New Roman" panose="02020603050405020304" pitchFamily="18" charset="0"/>
                <a:ea typeface="楷体_GB2312" pitchFamily="49" charset="-122"/>
              </a:rPr>
              <a:t>0.0</a:t>
            </a:r>
            <a:r>
              <a:rPr lang="zh-CN" altLang="en-US" sz="2000" b="1" dirty="0">
                <a:latin typeface="Times New Roman" panose="02020603050405020304" pitchFamily="18" charset="0"/>
                <a:ea typeface="楷体_GB2312" pitchFamily="49" charset="-122"/>
              </a:rPr>
              <a:t>作为因子，即不使用这种颜色参与混合运算</a:t>
            </a:r>
          </a:p>
          <a:p>
            <a:pPr lvl="1">
              <a:lnSpc>
                <a:spcPct val="120000"/>
              </a:lnSpc>
              <a:spcBef>
                <a:spcPts val="0"/>
              </a:spcBef>
            </a:pPr>
            <a:r>
              <a:rPr lang="en-US" altLang="zh-CN" sz="2000" b="1" dirty="0">
                <a:latin typeface="Times New Roman" panose="02020603050405020304" pitchFamily="18" charset="0"/>
                <a:ea typeface="楷体_GB2312" pitchFamily="49" charset="-122"/>
              </a:rPr>
              <a:t>GL_ONE</a:t>
            </a:r>
            <a:r>
              <a:rPr lang="zh-CN" altLang="en-US" sz="2000" b="1" dirty="0">
                <a:latin typeface="Times New Roman" panose="02020603050405020304" pitchFamily="18" charset="0"/>
                <a:ea typeface="楷体_GB2312" pitchFamily="49" charset="-122"/>
              </a:rPr>
              <a:t>：使用</a:t>
            </a:r>
            <a:r>
              <a:rPr lang="en-US" altLang="zh-CN" sz="2000" b="1" dirty="0">
                <a:latin typeface="Times New Roman" panose="02020603050405020304" pitchFamily="18" charset="0"/>
                <a:ea typeface="楷体_GB2312" pitchFamily="49" charset="-122"/>
              </a:rPr>
              <a:t>1.0</a:t>
            </a:r>
            <a:r>
              <a:rPr lang="zh-CN" altLang="en-US" sz="2000" b="1" dirty="0">
                <a:latin typeface="Times New Roman" panose="02020603050405020304" pitchFamily="18" charset="0"/>
                <a:ea typeface="楷体_GB2312" pitchFamily="49" charset="-122"/>
              </a:rPr>
              <a:t>作为因子，即完全的使用了这种颜色参与混合运算</a:t>
            </a:r>
          </a:p>
          <a:p>
            <a:pPr lvl="1">
              <a:lnSpc>
                <a:spcPct val="120000"/>
              </a:lnSpc>
              <a:spcBef>
                <a:spcPts val="0"/>
              </a:spcBef>
            </a:pPr>
            <a:r>
              <a:rPr lang="en-US" altLang="zh-CN" sz="2000" b="1" dirty="0">
                <a:latin typeface="Times New Roman" panose="02020603050405020304" pitchFamily="18" charset="0"/>
                <a:ea typeface="楷体_GB2312" pitchFamily="49" charset="-122"/>
              </a:rPr>
              <a:t>GL_SRC_ALPHA</a:t>
            </a:r>
            <a:r>
              <a:rPr lang="zh-CN" altLang="en-US" sz="2000" b="1" dirty="0">
                <a:latin typeface="Times New Roman" panose="02020603050405020304" pitchFamily="18" charset="0"/>
                <a:ea typeface="楷体_GB2312" pitchFamily="49" charset="-122"/>
              </a:rPr>
              <a:t>：使用源颜色的</a:t>
            </a:r>
            <a:r>
              <a:rPr lang="en-US" altLang="zh-CN" sz="2000" b="1" dirty="0">
                <a:latin typeface="Times New Roman" panose="02020603050405020304" pitchFamily="18" charset="0"/>
                <a:ea typeface="楷体_GB2312" pitchFamily="49" charset="-122"/>
              </a:rPr>
              <a:t>alpha</a:t>
            </a:r>
            <a:r>
              <a:rPr lang="zh-CN" altLang="en-US" sz="2000" b="1" dirty="0">
                <a:latin typeface="Times New Roman" panose="02020603050405020304" pitchFamily="18" charset="0"/>
                <a:ea typeface="楷体_GB2312" pitchFamily="49" charset="-122"/>
              </a:rPr>
              <a:t>值来作为因子</a:t>
            </a:r>
          </a:p>
          <a:p>
            <a:pPr lvl="1">
              <a:lnSpc>
                <a:spcPct val="120000"/>
              </a:lnSpc>
              <a:spcBef>
                <a:spcPts val="0"/>
              </a:spcBef>
            </a:pPr>
            <a:r>
              <a:rPr lang="en-US" altLang="zh-CN" sz="2000" b="1" dirty="0">
                <a:latin typeface="Times New Roman" panose="02020603050405020304" pitchFamily="18" charset="0"/>
                <a:ea typeface="楷体_GB2312" pitchFamily="49" charset="-122"/>
              </a:rPr>
              <a:t>GL_DST_ALPHA</a:t>
            </a:r>
            <a:r>
              <a:rPr lang="zh-CN" altLang="en-US" sz="2000" b="1" dirty="0">
                <a:latin typeface="Times New Roman" panose="02020603050405020304" pitchFamily="18" charset="0"/>
                <a:ea typeface="楷体_GB2312" pitchFamily="49" charset="-122"/>
              </a:rPr>
              <a:t>：使用目标颜色的</a:t>
            </a:r>
            <a:r>
              <a:rPr lang="en-US" altLang="zh-CN" sz="2000" b="1" dirty="0">
                <a:latin typeface="Times New Roman" panose="02020603050405020304" pitchFamily="18" charset="0"/>
                <a:ea typeface="楷体_GB2312" pitchFamily="49" charset="-122"/>
              </a:rPr>
              <a:t>alpha</a:t>
            </a:r>
            <a:r>
              <a:rPr lang="zh-CN" altLang="en-US" sz="2000" b="1" dirty="0">
                <a:latin typeface="Times New Roman" panose="02020603050405020304" pitchFamily="18" charset="0"/>
                <a:ea typeface="楷体_GB2312" pitchFamily="49" charset="-122"/>
              </a:rPr>
              <a:t>值来作为因子</a:t>
            </a:r>
          </a:p>
          <a:p>
            <a:pPr lvl="1">
              <a:lnSpc>
                <a:spcPct val="120000"/>
              </a:lnSpc>
              <a:spcBef>
                <a:spcPts val="0"/>
              </a:spcBef>
            </a:pPr>
            <a:r>
              <a:rPr lang="en-US" altLang="zh-CN" sz="2000" b="1" dirty="0">
                <a:latin typeface="Times New Roman" panose="02020603050405020304" pitchFamily="18" charset="0"/>
                <a:ea typeface="楷体_GB2312" pitchFamily="49" charset="-122"/>
              </a:rPr>
              <a:t>GL_ONE_MINUS_SRC_ALPHA</a:t>
            </a:r>
            <a:r>
              <a:rPr lang="zh-CN" altLang="en-US" sz="2000" b="1" dirty="0">
                <a:latin typeface="Times New Roman" panose="02020603050405020304" pitchFamily="18" charset="0"/>
                <a:ea typeface="楷体_GB2312" pitchFamily="49" charset="-122"/>
              </a:rPr>
              <a:t>：用</a:t>
            </a:r>
            <a:r>
              <a:rPr lang="en-US" altLang="zh-CN" sz="2000" b="1" dirty="0">
                <a:latin typeface="Times New Roman" panose="02020603050405020304" pitchFamily="18" charset="0"/>
                <a:ea typeface="楷体_GB2312" pitchFamily="49" charset="-122"/>
              </a:rPr>
              <a:t>1.0</a:t>
            </a:r>
            <a:r>
              <a:rPr lang="zh-CN" altLang="en-US" sz="2000" b="1" dirty="0">
                <a:latin typeface="Times New Roman" panose="02020603050405020304" pitchFamily="18" charset="0"/>
                <a:ea typeface="楷体_GB2312" pitchFamily="49" charset="-122"/>
              </a:rPr>
              <a:t>减源颜色的</a:t>
            </a:r>
            <a:r>
              <a:rPr lang="en-US" altLang="zh-CN" sz="2000" b="1" dirty="0">
                <a:latin typeface="Times New Roman" panose="02020603050405020304" pitchFamily="18" charset="0"/>
                <a:ea typeface="楷体_GB2312" pitchFamily="49" charset="-122"/>
              </a:rPr>
              <a:t>alpha</a:t>
            </a:r>
            <a:r>
              <a:rPr lang="zh-CN" altLang="en-US" sz="2000" b="1" dirty="0">
                <a:latin typeface="Times New Roman" panose="02020603050405020304" pitchFamily="18" charset="0"/>
                <a:ea typeface="楷体_GB2312" pitchFamily="49" charset="-122"/>
              </a:rPr>
              <a:t>值作因子</a:t>
            </a:r>
          </a:p>
          <a:p>
            <a:pPr lvl="1">
              <a:lnSpc>
                <a:spcPct val="120000"/>
              </a:lnSpc>
              <a:spcBef>
                <a:spcPts val="0"/>
              </a:spcBef>
            </a:pPr>
            <a:r>
              <a:rPr lang="en-US" altLang="zh-CN" sz="2000" b="1" dirty="0">
                <a:latin typeface="Times New Roman" panose="02020603050405020304" pitchFamily="18" charset="0"/>
                <a:ea typeface="楷体_GB2312" pitchFamily="49" charset="-122"/>
              </a:rPr>
              <a:t>GL_ONE_MINUS_DST_ALPHA</a:t>
            </a:r>
            <a:r>
              <a:rPr lang="zh-CN" altLang="en-US" sz="2000" b="1" dirty="0">
                <a:latin typeface="Times New Roman" panose="02020603050405020304" pitchFamily="18" charset="0"/>
                <a:ea typeface="楷体_GB2312" pitchFamily="49" charset="-122"/>
              </a:rPr>
              <a:t>：用</a:t>
            </a:r>
            <a:r>
              <a:rPr lang="en-US" altLang="zh-CN" sz="2000" b="1" dirty="0">
                <a:latin typeface="Times New Roman" panose="02020603050405020304" pitchFamily="18" charset="0"/>
                <a:ea typeface="楷体_GB2312" pitchFamily="49" charset="-122"/>
              </a:rPr>
              <a:t>1.0</a:t>
            </a:r>
            <a:r>
              <a:rPr lang="zh-CN" altLang="en-US" sz="2000" b="1" dirty="0">
                <a:latin typeface="Times New Roman" panose="02020603050405020304" pitchFamily="18" charset="0"/>
                <a:ea typeface="楷体_GB2312" pitchFamily="49" charset="-122"/>
              </a:rPr>
              <a:t>减目标颜色的</a:t>
            </a:r>
            <a:r>
              <a:rPr lang="en-US" altLang="zh-CN" sz="2000" b="1" dirty="0">
                <a:latin typeface="Times New Roman" panose="02020603050405020304" pitchFamily="18" charset="0"/>
                <a:ea typeface="楷体_GB2312" pitchFamily="49" charset="-122"/>
              </a:rPr>
              <a:t>alpha</a:t>
            </a:r>
            <a:r>
              <a:rPr lang="zh-CN" altLang="en-US" sz="2000" b="1" dirty="0">
                <a:latin typeface="Times New Roman" panose="02020603050405020304" pitchFamily="18" charset="0"/>
                <a:ea typeface="楷体_GB2312" pitchFamily="49" charset="-122"/>
              </a:rPr>
              <a:t>值作因子</a:t>
            </a:r>
          </a:p>
        </p:txBody>
      </p:sp>
    </p:spTree>
    <p:extLst>
      <p:ext uri="{BB962C8B-B14F-4D97-AF65-F5344CB8AC3E}">
        <p14:creationId xmlns:p14="http://schemas.microsoft.com/office/powerpoint/2010/main" val="476493307"/>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8" name="Rectangle 3">
            <a:extLst>
              <a:ext uri="{FF2B5EF4-FFF2-40B4-BE49-F238E27FC236}">
                <a16:creationId xmlns:a16="http://schemas.microsoft.com/office/drawing/2014/main" id="{CD373A7B-088D-438C-A6A7-227EFC872315}"/>
              </a:ext>
            </a:extLst>
          </p:cNvPr>
          <p:cNvSpPr>
            <a:spLocks noChangeArrowheads="1"/>
          </p:cNvSpPr>
          <p:nvPr/>
        </p:nvSpPr>
        <p:spPr bwMode="auto">
          <a:xfrm>
            <a:off x="1139252" y="986055"/>
            <a:ext cx="5436251" cy="5178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marL="342900" indent="-342900" defTabSz="912813" eaLnBrk="0" hangingPunct="0">
              <a:defRPr kumimoji="1" sz="2400">
                <a:solidFill>
                  <a:schemeClr val="tx1"/>
                </a:solidFill>
                <a:latin typeface="Times New Roman" panose="02020603050405020304" pitchFamily="18" charset="0"/>
                <a:ea typeface="宋体" panose="02010600030101010101" pitchFamily="2" charset="-122"/>
              </a:defRPr>
            </a:lvl1pPr>
            <a:lvl2pPr marL="396875" indent="-396875" defTabSz="912813"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912813"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12813"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20000"/>
              </a:lnSpc>
              <a:spcBef>
                <a:spcPts val="600"/>
              </a:spcBef>
            </a:pPr>
            <a:r>
              <a:rPr lang="en-US" altLang="zh-CN" b="1" dirty="0"/>
              <a:t>static void </a:t>
            </a:r>
            <a:r>
              <a:rPr lang="en-US" altLang="zh-CN" b="1" dirty="0" err="1"/>
              <a:t>drawLeftTriangle</a:t>
            </a:r>
            <a:r>
              <a:rPr lang="en-US" altLang="zh-CN" b="1" dirty="0"/>
              <a:t>(void)</a:t>
            </a:r>
          </a:p>
          <a:p>
            <a:pPr>
              <a:lnSpc>
                <a:spcPct val="120000"/>
              </a:lnSpc>
              <a:spcBef>
                <a:spcPts val="600"/>
              </a:spcBef>
            </a:pPr>
            <a:r>
              <a:rPr lang="en-US" altLang="zh-CN" b="1" dirty="0"/>
              <a:t>{</a:t>
            </a:r>
          </a:p>
          <a:p>
            <a:pPr>
              <a:lnSpc>
                <a:spcPct val="120000"/>
              </a:lnSpc>
              <a:spcBef>
                <a:spcPts val="600"/>
              </a:spcBef>
            </a:pPr>
            <a:r>
              <a:rPr lang="en-US" altLang="zh-CN" b="1" dirty="0"/>
              <a:t>    // </a:t>
            </a:r>
            <a:r>
              <a:rPr lang="zh-CN" altLang="en-US" b="1" dirty="0"/>
              <a:t>绘制左边三角形</a:t>
            </a:r>
          </a:p>
          <a:p>
            <a:pPr>
              <a:lnSpc>
                <a:spcPct val="120000"/>
              </a:lnSpc>
              <a:spcBef>
                <a:spcPts val="600"/>
              </a:spcBef>
            </a:pPr>
            <a:r>
              <a:rPr lang="zh-CN" altLang="en-US" b="1" dirty="0"/>
              <a:t>    </a:t>
            </a:r>
            <a:r>
              <a:rPr lang="en-US" altLang="zh-CN" b="1" dirty="0" err="1"/>
              <a:t>glBegin</a:t>
            </a:r>
            <a:r>
              <a:rPr lang="en-US" altLang="zh-CN" b="1" dirty="0"/>
              <a:t>(GL_TRIANGLES);</a:t>
            </a:r>
          </a:p>
          <a:p>
            <a:pPr>
              <a:lnSpc>
                <a:spcPct val="120000"/>
              </a:lnSpc>
              <a:spcBef>
                <a:spcPts val="600"/>
              </a:spcBef>
            </a:pPr>
            <a:r>
              <a:rPr lang="en-US" altLang="zh-CN" b="1" dirty="0"/>
              <a:t>        glColor4f(1.0, 0.0, 0.0, 0.55);</a:t>
            </a:r>
          </a:p>
          <a:p>
            <a:pPr>
              <a:lnSpc>
                <a:spcPct val="120000"/>
              </a:lnSpc>
              <a:spcBef>
                <a:spcPts val="600"/>
              </a:spcBef>
            </a:pPr>
            <a:r>
              <a:rPr lang="en-US" altLang="zh-CN" b="1" dirty="0"/>
              <a:t>        glVertex3f(0.1, 0.9, 0.0);</a:t>
            </a:r>
          </a:p>
          <a:p>
            <a:pPr>
              <a:lnSpc>
                <a:spcPct val="120000"/>
              </a:lnSpc>
              <a:spcBef>
                <a:spcPts val="600"/>
              </a:spcBef>
            </a:pPr>
            <a:r>
              <a:rPr lang="en-US" altLang="zh-CN" b="1" dirty="0"/>
              <a:t>        glVertex3f(0.1, 0.1, 0.0);</a:t>
            </a:r>
          </a:p>
          <a:p>
            <a:pPr>
              <a:lnSpc>
                <a:spcPct val="120000"/>
              </a:lnSpc>
              <a:spcBef>
                <a:spcPts val="600"/>
              </a:spcBef>
            </a:pPr>
            <a:r>
              <a:rPr lang="en-US" altLang="zh-CN" b="1" dirty="0"/>
              <a:t>        glVertex3f(0.7, 0.5, 0.0);</a:t>
            </a:r>
          </a:p>
          <a:p>
            <a:pPr>
              <a:lnSpc>
                <a:spcPct val="120000"/>
              </a:lnSpc>
              <a:spcBef>
                <a:spcPts val="600"/>
              </a:spcBef>
            </a:pPr>
            <a:r>
              <a:rPr lang="en-US" altLang="zh-CN" b="1" dirty="0"/>
              <a:t>    </a:t>
            </a:r>
            <a:r>
              <a:rPr lang="en-US" altLang="zh-CN" b="1" dirty="0" err="1"/>
              <a:t>glEnd</a:t>
            </a:r>
            <a:r>
              <a:rPr lang="en-US" altLang="zh-CN" b="1" dirty="0"/>
              <a:t>();</a:t>
            </a:r>
          </a:p>
          <a:p>
            <a:pPr>
              <a:lnSpc>
                <a:spcPct val="120000"/>
              </a:lnSpc>
              <a:spcBef>
                <a:spcPts val="600"/>
              </a:spcBef>
            </a:pPr>
            <a:r>
              <a:rPr lang="en-US" altLang="zh-CN" b="1" dirty="0"/>
              <a:t>}</a:t>
            </a:r>
          </a:p>
        </p:txBody>
      </p:sp>
      <p:pic>
        <p:nvPicPr>
          <p:cNvPr id="4" name="图片 3">
            <a:extLst>
              <a:ext uri="{FF2B5EF4-FFF2-40B4-BE49-F238E27FC236}">
                <a16:creationId xmlns:a16="http://schemas.microsoft.com/office/drawing/2014/main" id="{F128F95C-E04D-46A7-9E3F-A8C375C86C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39358" y="1627617"/>
            <a:ext cx="3870979" cy="3895023"/>
          </a:xfrm>
          <a:prstGeom prst="rect">
            <a:avLst/>
          </a:prstGeom>
        </p:spPr>
      </p:pic>
      <p:sp>
        <p:nvSpPr>
          <p:cNvPr id="3" name="标题 2">
            <a:extLst>
              <a:ext uri="{FF2B5EF4-FFF2-40B4-BE49-F238E27FC236}">
                <a16:creationId xmlns:a16="http://schemas.microsoft.com/office/drawing/2014/main" id="{082E79E2-209D-431C-91DA-97353BBCD807}"/>
              </a:ext>
            </a:extLst>
          </p:cNvPr>
          <p:cNvSpPr>
            <a:spLocks noGrp="1"/>
          </p:cNvSpPr>
          <p:nvPr>
            <p:ph type="title"/>
          </p:nvPr>
        </p:nvSpPr>
        <p:spPr/>
        <p:txBody>
          <a:bodyPr/>
          <a:lstStyle/>
          <a:p>
            <a:r>
              <a:rPr lang="en-US" altLang="zh-CN" dirty="0"/>
              <a:t>7.3 </a:t>
            </a:r>
            <a:r>
              <a:rPr lang="zh-CN" altLang="en-US" dirty="0"/>
              <a:t>示例程序二</a:t>
            </a:r>
          </a:p>
        </p:txBody>
      </p:sp>
      <p:sp>
        <p:nvSpPr>
          <p:cNvPr id="5" name="矩形 4">
            <a:extLst>
              <a:ext uri="{FF2B5EF4-FFF2-40B4-BE49-F238E27FC236}">
                <a16:creationId xmlns:a16="http://schemas.microsoft.com/office/drawing/2014/main" id="{D68647BD-1A86-4A11-B232-74A432628F70}"/>
              </a:ext>
            </a:extLst>
          </p:cNvPr>
          <p:cNvSpPr/>
          <p:nvPr/>
        </p:nvSpPr>
        <p:spPr>
          <a:xfrm>
            <a:off x="7845514" y="5731803"/>
            <a:ext cx="2550698" cy="400110"/>
          </a:xfrm>
          <a:prstGeom prst="rect">
            <a:avLst/>
          </a:prstGeom>
        </p:spPr>
        <p:txBody>
          <a:bodyPr wrap="none">
            <a:spAutoFit/>
          </a:bodyPr>
          <a:lstStyle/>
          <a:p>
            <a:r>
              <a:rPr lang="zh-CN" altLang="en-US" sz="2000" b="1" dirty="0"/>
              <a:t>实例：</a:t>
            </a:r>
            <a:r>
              <a:rPr lang="en-US" altLang="zh-CN" sz="2000" b="1" dirty="0" err="1"/>
              <a:t>ColorBlend.c</a:t>
            </a:r>
            <a:endParaRPr lang="zh-CN" altLang="en-US" sz="2000" b="1" dirty="0"/>
          </a:p>
        </p:txBody>
      </p:sp>
    </p:spTree>
    <p:extLst>
      <p:ext uri="{BB962C8B-B14F-4D97-AF65-F5344CB8AC3E}">
        <p14:creationId xmlns:p14="http://schemas.microsoft.com/office/powerpoint/2010/main" val="54477448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8" presetClass="entr" presetSubtype="0" accel="100000" fill="hold" grpId="0" nodeType="clickEffect">
                                  <p:stCondLst>
                                    <p:cond delay="0"/>
                                  </p:stCondLst>
                                  <p:childTnLst>
                                    <p:set>
                                      <p:cBhvr>
                                        <p:cTn id="6" dur="1" fill="hold">
                                          <p:stCondLst>
                                            <p:cond delay="0"/>
                                          </p:stCondLst>
                                        </p:cTn>
                                        <p:tgtEl>
                                          <p:spTgt spid="17418"/>
                                        </p:tgtEl>
                                        <p:attrNameLst>
                                          <p:attrName>style.visibility</p:attrName>
                                        </p:attrNameLst>
                                      </p:cBhvr>
                                      <p:to>
                                        <p:strVal val="visible"/>
                                      </p:to>
                                    </p:set>
                                    <p:anim calcmode="lin" valueType="num">
                                      <p:cBhvr>
                                        <p:cTn id="7" dur="500" fill="hold"/>
                                        <p:tgtEl>
                                          <p:spTgt spid="17418"/>
                                        </p:tgtEl>
                                        <p:attrNameLst>
                                          <p:attrName>ppt_w</p:attrName>
                                        </p:attrNameLst>
                                      </p:cBhvr>
                                      <p:tavLst>
                                        <p:tav tm="0">
                                          <p:val>
                                            <p:strVal val="#ppt_w*2.5"/>
                                          </p:val>
                                        </p:tav>
                                        <p:tav tm="100000">
                                          <p:val>
                                            <p:strVal val="#ppt_w"/>
                                          </p:val>
                                        </p:tav>
                                      </p:tavLst>
                                    </p:anim>
                                    <p:anim calcmode="lin" valueType="num">
                                      <p:cBhvr>
                                        <p:cTn id="8" dur="500" fill="hold"/>
                                        <p:tgtEl>
                                          <p:spTgt spid="17418"/>
                                        </p:tgtEl>
                                        <p:attrNameLst>
                                          <p:attrName>ppt_h</p:attrName>
                                        </p:attrNameLst>
                                      </p:cBhvr>
                                      <p:tavLst>
                                        <p:tav tm="0">
                                          <p:val>
                                            <p:strVal val="#ppt_h*0.01"/>
                                          </p:val>
                                        </p:tav>
                                        <p:tav tm="100000">
                                          <p:val>
                                            <p:strVal val="#ppt_h"/>
                                          </p:val>
                                        </p:tav>
                                      </p:tavLst>
                                    </p:anim>
                                    <p:anim calcmode="lin" valueType="num">
                                      <p:cBhvr>
                                        <p:cTn id="9" dur="500" fill="hold"/>
                                        <p:tgtEl>
                                          <p:spTgt spid="17418"/>
                                        </p:tgtEl>
                                        <p:attrNameLst>
                                          <p:attrName>ppt_x</p:attrName>
                                        </p:attrNameLst>
                                      </p:cBhvr>
                                      <p:tavLst>
                                        <p:tav tm="0">
                                          <p:val>
                                            <p:strVal val="#ppt_x"/>
                                          </p:val>
                                        </p:tav>
                                        <p:tav tm="100000">
                                          <p:val>
                                            <p:strVal val="#ppt_x"/>
                                          </p:val>
                                        </p:tav>
                                      </p:tavLst>
                                    </p:anim>
                                    <p:anim calcmode="lin" valueType="num">
                                      <p:cBhvr>
                                        <p:cTn id="10" dur="500" fill="hold"/>
                                        <p:tgtEl>
                                          <p:spTgt spid="17418"/>
                                        </p:tgtEl>
                                        <p:attrNameLst>
                                          <p:attrName>ppt_y</p:attrName>
                                        </p:attrNameLst>
                                      </p:cBhvr>
                                      <p:tavLst>
                                        <p:tav tm="0">
                                          <p:val>
                                            <p:strVal val="#ppt_h+1"/>
                                          </p:val>
                                        </p:tav>
                                        <p:tav tm="100000">
                                          <p:val>
                                            <p:strVal val="#ppt_y"/>
                                          </p:val>
                                        </p:tav>
                                      </p:tavLst>
                                    </p:anim>
                                    <p:animEffect transition="in" filter="fade">
                                      <p:cBhvr>
                                        <p:cTn id="11" dur="500"/>
                                        <p:tgtEl>
                                          <p:spTgt spid="17418"/>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00" fill="hold"/>
                                        <p:tgtEl>
                                          <p:spTgt spid="5"/>
                                        </p:tgtEl>
                                        <p:attrNameLst>
                                          <p:attrName>ppt_x</p:attrName>
                                        </p:attrNameLst>
                                      </p:cBhvr>
                                      <p:tavLst>
                                        <p:tav tm="0">
                                          <p:val>
                                            <p:strVal val="#ppt_x"/>
                                          </p:val>
                                        </p:tav>
                                        <p:tav tm="100000">
                                          <p:val>
                                            <p:strVal val="#ppt_x"/>
                                          </p:val>
                                        </p:tav>
                                      </p:tavLst>
                                    </p:anim>
                                    <p:anim calcmode="lin" valueType="num">
                                      <p:cBhvr additive="base">
                                        <p:cTn id="17"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8" grpId="0"/>
      <p:bldP spid="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a:extLst>
              <a:ext uri="{FF2B5EF4-FFF2-40B4-BE49-F238E27FC236}">
                <a16:creationId xmlns:a16="http://schemas.microsoft.com/office/drawing/2014/main" id="{2A6CE81F-E979-4037-AA73-A2D6A683AA77}"/>
              </a:ext>
            </a:extLst>
          </p:cNvPr>
          <p:cNvSpPr>
            <a:spLocks noGrp="1" noChangeArrowheads="1"/>
          </p:cNvSpPr>
          <p:nvPr>
            <p:ph type="sldNum" sz="quarter" idx="4294967295"/>
          </p:nvPr>
        </p:nvSpPr>
        <p:spPr>
          <a:xfrm>
            <a:off x="1524000" y="123825"/>
            <a:ext cx="515938" cy="228600"/>
          </a:xfrm>
          <a:prstGeom prst="rect">
            <a:avLst/>
          </a:prstGeom>
        </p:spPr>
        <p:txBody>
          <a:bodyP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a:defRPr/>
            </a:pPr>
            <a:fld id="{253955AF-5DEC-4327-918B-87249DCECCA3}" type="slidenum">
              <a:rPr lang="en-US" altLang="zh-CN">
                <a:solidFill>
                  <a:srgbClr val="FFFFFF"/>
                </a:solidFill>
                <a:latin typeface="Times New Roman" panose="02020603050405020304" pitchFamily="18" charset="0"/>
                <a:ea typeface="宋体" panose="02010600030101010101" pitchFamily="2" charset="-122"/>
              </a:rPr>
              <a:pPr>
                <a:defRPr/>
              </a:pPr>
              <a:t>43</a:t>
            </a:fld>
            <a:endParaRPr lang="en-US" altLang="zh-CN">
              <a:solidFill>
                <a:srgbClr val="FFFFFF"/>
              </a:solidFill>
              <a:latin typeface="Times New Roman" panose="02020603050405020304" pitchFamily="18" charset="0"/>
              <a:ea typeface="宋体" panose="02010600030101010101" pitchFamily="2" charset="-122"/>
            </a:endParaRPr>
          </a:p>
        </p:txBody>
      </p:sp>
      <p:sp>
        <p:nvSpPr>
          <p:cNvPr id="430082" name="Text Box 2">
            <a:extLst>
              <a:ext uri="{FF2B5EF4-FFF2-40B4-BE49-F238E27FC236}">
                <a16:creationId xmlns:a16="http://schemas.microsoft.com/office/drawing/2014/main" id="{1058C9C8-1FAF-47E7-8812-00816C626ABE}"/>
              </a:ext>
            </a:extLst>
          </p:cNvPr>
          <p:cNvSpPr txBox="1">
            <a:spLocks noChangeArrowheads="1"/>
          </p:cNvSpPr>
          <p:nvPr/>
        </p:nvSpPr>
        <p:spPr bwMode="auto">
          <a:xfrm>
            <a:off x="3179764" y="2492897"/>
            <a:ext cx="5832475" cy="1006475"/>
          </a:xfrm>
          <a:prstGeom prst="rect">
            <a:avLst/>
          </a:prstGeom>
          <a:noFill/>
          <a:ln w="9525">
            <a:noFill/>
            <a:miter lim="800000"/>
            <a:headEnd/>
            <a:tailEnd/>
          </a:ln>
          <a:effectLst/>
        </p:spPr>
        <p:txBody>
          <a:bodyPr>
            <a:spAutoFit/>
          </a:bodyPr>
          <a:lstStyle/>
          <a:p>
            <a:pPr algn="ctr">
              <a:spcBef>
                <a:spcPct val="50000"/>
              </a:spcBef>
              <a:defRPr/>
            </a:pPr>
            <a:r>
              <a:rPr lang="en-US" altLang="zh-CN" sz="6000" b="1" dirty="0">
                <a:solidFill>
                  <a:srgbClr val="199B9B"/>
                </a:solidFill>
                <a:effectLst>
                  <a:outerShdw blurRad="38100" dist="38100" dir="2700000" algn="tl">
                    <a:srgbClr val="C0C0C0"/>
                  </a:outerShdw>
                </a:effectLst>
              </a:rPr>
              <a:t>Thank You!</a:t>
            </a:r>
            <a:endParaRPr lang="zh-CN" altLang="en-US" sz="6000" b="1" dirty="0">
              <a:solidFill>
                <a:srgbClr val="199B9B"/>
              </a:solidFill>
              <a:effectLst>
                <a:outerShdw blurRad="38100" dist="38100" dir="2700000" algn="tl">
                  <a:srgbClr val="C0C0C0"/>
                </a:outerShdw>
              </a:effectLst>
            </a:endParaRPr>
          </a:p>
        </p:txBody>
      </p:sp>
    </p:spTree>
  </p:cSld>
  <p:clrMapOvr>
    <a:masterClrMapping/>
  </p:clrMapOvr>
  <p:transition>
    <p:random/>
  </p:transition>
</p:sld>
</file>

<file path=ppt/theme/theme1.xml><?xml version="1.0" encoding="utf-8"?>
<a:theme xmlns:a="http://schemas.openxmlformats.org/drawingml/2006/main" name="2_020424 Atlas Copco Dymamic Workplaces - Roadmap">
  <a:themeElements>
    <a:clrScheme name="2_020424 Atlas Copco Dymamic Workplaces - Roadmap 12">
      <a:dk1>
        <a:srgbClr val="000000"/>
      </a:dk1>
      <a:lt1>
        <a:srgbClr val="FFFFFF"/>
      </a:lt1>
      <a:dk2>
        <a:srgbClr val="199B9B"/>
      </a:dk2>
      <a:lt2>
        <a:srgbClr val="B2B2B2"/>
      </a:lt2>
      <a:accent1>
        <a:srgbClr val="006699"/>
      </a:accent1>
      <a:accent2>
        <a:srgbClr val="33CCCC"/>
      </a:accent2>
      <a:accent3>
        <a:srgbClr val="FFFFFF"/>
      </a:accent3>
      <a:accent4>
        <a:srgbClr val="000000"/>
      </a:accent4>
      <a:accent5>
        <a:srgbClr val="AAB8CA"/>
      </a:accent5>
      <a:accent6>
        <a:srgbClr val="2DB9B9"/>
      </a:accent6>
      <a:hlink>
        <a:srgbClr val="777777"/>
      </a:hlink>
      <a:folHlink>
        <a:srgbClr val="6699CC"/>
      </a:folHlink>
    </a:clrScheme>
    <a:fontScheme name="2_020424 Atlas Copco Dymamic Workplaces - Roadmap">
      <a:majorFont>
        <a:latin typeface="隶书"/>
        <a:ea typeface="隶书"/>
        <a:cs typeface=""/>
      </a:majorFont>
      <a:minorFont>
        <a:latin typeface="华文楷体"/>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non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Arial Black" pitchFamily="34" charset="0"/>
            <a:ea typeface="华文楷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non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Arial Black" pitchFamily="34" charset="0"/>
            <a:ea typeface="华文楷体" pitchFamily="2" charset="-122"/>
          </a:defRPr>
        </a:defPPr>
      </a:lstStyle>
    </a:lnDef>
  </a:objectDefaults>
  <a:extraClrSchemeLst>
    <a:extraClrScheme>
      <a:clrScheme name="2_020424 Atlas Copco Dymamic Workplaces - Roadmap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020424 Atlas Copco Dymamic Workplaces - Roadmap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020424 Atlas Copco Dymamic Workplaces - Roadmap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020424 Atlas Copco Dymamic Workplaces - Roadmap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020424 Atlas Copco Dymamic Workplaces - Roadmap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020424 Atlas Copco Dymamic Workplaces - Roadmap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020424 Atlas Copco Dymamic Workplaces - Roadmap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020424 Atlas Copco Dymamic Workplaces - Roadmap 8">
        <a:dk1>
          <a:srgbClr val="000000"/>
        </a:dk1>
        <a:lt1>
          <a:srgbClr val="FFFFFF"/>
        </a:lt1>
        <a:dk2>
          <a:srgbClr val="199B9B"/>
        </a:dk2>
        <a:lt2>
          <a:srgbClr val="666666"/>
        </a:lt2>
        <a:accent1>
          <a:srgbClr val="6699CC"/>
        </a:accent1>
        <a:accent2>
          <a:srgbClr val="99CCFF"/>
        </a:accent2>
        <a:accent3>
          <a:srgbClr val="FFFFFF"/>
        </a:accent3>
        <a:accent4>
          <a:srgbClr val="000000"/>
        </a:accent4>
        <a:accent5>
          <a:srgbClr val="B8CAE2"/>
        </a:accent5>
        <a:accent6>
          <a:srgbClr val="8AB9E7"/>
        </a:accent6>
        <a:hlink>
          <a:srgbClr val="FF6B07"/>
        </a:hlink>
        <a:folHlink>
          <a:srgbClr val="FF9933"/>
        </a:folHlink>
      </a:clrScheme>
      <a:clrMap bg1="lt1" tx1="dk1" bg2="lt2" tx2="dk2" accent1="accent1" accent2="accent2" accent3="accent3" accent4="accent4" accent5="accent5" accent6="accent6" hlink="hlink" folHlink="folHlink"/>
    </a:extraClrScheme>
    <a:extraClrScheme>
      <a:clrScheme name="2_020424 Atlas Copco Dymamic Workplaces - Roadmap 9">
        <a:dk1>
          <a:srgbClr val="000000"/>
        </a:dk1>
        <a:lt1>
          <a:srgbClr val="FFFFFF"/>
        </a:lt1>
        <a:dk2>
          <a:srgbClr val="33CCCC"/>
        </a:dk2>
        <a:lt2>
          <a:srgbClr val="666666"/>
        </a:lt2>
        <a:accent1>
          <a:srgbClr val="6699CC"/>
        </a:accent1>
        <a:accent2>
          <a:srgbClr val="99CCFF"/>
        </a:accent2>
        <a:accent3>
          <a:srgbClr val="FFFFFF"/>
        </a:accent3>
        <a:accent4>
          <a:srgbClr val="000000"/>
        </a:accent4>
        <a:accent5>
          <a:srgbClr val="B8CAE2"/>
        </a:accent5>
        <a:accent6>
          <a:srgbClr val="8AB9E7"/>
        </a:accent6>
        <a:hlink>
          <a:srgbClr val="199B9B"/>
        </a:hlink>
        <a:folHlink>
          <a:srgbClr val="FF9933"/>
        </a:folHlink>
      </a:clrScheme>
      <a:clrMap bg1="lt1" tx1="dk1" bg2="lt2" tx2="dk2" accent1="accent1" accent2="accent2" accent3="accent3" accent4="accent4" accent5="accent5" accent6="accent6" hlink="hlink" folHlink="folHlink"/>
    </a:extraClrScheme>
    <a:extraClrScheme>
      <a:clrScheme name="2_020424 Atlas Copco Dymamic Workplaces - Roadmap 10">
        <a:dk1>
          <a:srgbClr val="000000"/>
        </a:dk1>
        <a:lt1>
          <a:srgbClr val="FFFFFF"/>
        </a:lt1>
        <a:dk2>
          <a:srgbClr val="33CCCC"/>
        </a:dk2>
        <a:lt2>
          <a:srgbClr val="6699CC"/>
        </a:lt2>
        <a:accent1>
          <a:srgbClr val="006699"/>
        </a:accent1>
        <a:accent2>
          <a:srgbClr val="99CCFF"/>
        </a:accent2>
        <a:accent3>
          <a:srgbClr val="FFFFFF"/>
        </a:accent3>
        <a:accent4>
          <a:srgbClr val="000000"/>
        </a:accent4>
        <a:accent5>
          <a:srgbClr val="AAB8CA"/>
        </a:accent5>
        <a:accent6>
          <a:srgbClr val="8AB9E7"/>
        </a:accent6>
        <a:hlink>
          <a:srgbClr val="199B9B"/>
        </a:hlink>
        <a:folHlink>
          <a:srgbClr val="FF9933"/>
        </a:folHlink>
      </a:clrScheme>
      <a:clrMap bg1="lt1" tx1="dk1" bg2="lt2" tx2="dk2" accent1="accent1" accent2="accent2" accent3="accent3" accent4="accent4" accent5="accent5" accent6="accent6" hlink="hlink" folHlink="folHlink"/>
    </a:extraClrScheme>
    <a:extraClrScheme>
      <a:clrScheme name="2_020424 Atlas Copco Dymamic Workplaces - Roadmap 11">
        <a:dk1>
          <a:srgbClr val="000000"/>
        </a:dk1>
        <a:lt1>
          <a:srgbClr val="FFFFFF"/>
        </a:lt1>
        <a:dk2>
          <a:srgbClr val="33CCCC"/>
        </a:dk2>
        <a:lt2>
          <a:srgbClr val="6699CC"/>
        </a:lt2>
        <a:accent1>
          <a:srgbClr val="006699"/>
        </a:accent1>
        <a:accent2>
          <a:srgbClr val="99CCFF"/>
        </a:accent2>
        <a:accent3>
          <a:srgbClr val="FFFFFF"/>
        </a:accent3>
        <a:accent4>
          <a:srgbClr val="000000"/>
        </a:accent4>
        <a:accent5>
          <a:srgbClr val="AAB8CA"/>
        </a:accent5>
        <a:accent6>
          <a:srgbClr val="8AB9E7"/>
        </a:accent6>
        <a:hlink>
          <a:srgbClr val="199B9B"/>
        </a:hlink>
        <a:folHlink>
          <a:srgbClr val="703BE5"/>
        </a:folHlink>
      </a:clrScheme>
      <a:clrMap bg1="lt1" tx1="dk1" bg2="lt2" tx2="dk2" accent1="accent1" accent2="accent2" accent3="accent3" accent4="accent4" accent5="accent5" accent6="accent6" hlink="hlink" folHlink="folHlink"/>
    </a:extraClrScheme>
    <a:extraClrScheme>
      <a:clrScheme name="2_020424 Atlas Copco Dymamic Workplaces - Roadmap 12">
        <a:dk1>
          <a:srgbClr val="000000"/>
        </a:dk1>
        <a:lt1>
          <a:srgbClr val="FFFFFF"/>
        </a:lt1>
        <a:dk2>
          <a:srgbClr val="199B9B"/>
        </a:dk2>
        <a:lt2>
          <a:srgbClr val="B2B2B2"/>
        </a:lt2>
        <a:accent1>
          <a:srgbClr val="006699"/>
        </a:accent1>
        <a:accent2>
          <a:srgbClr val="33CCCC"/>
        </a:accent2>
        <a:accent3>
          <a:srgbClr val="FFFFFF"/>
        </a:accent3>
        <a:accent4>
          <a:srgbClr val="000000"/>
        </a:accent4>
        <a:accent5>
          <a:srgbClr val="AAB8CA"/>
        </a:accent5>
        <a:accent6>
          <a:srgbClr val="2DB9B9"/>
        </a:accent6>
        <a:hlink>
          <a:srgbClr val="777777"/>
        </a:hlink>
        <a:folHlink>
          <a:srgbClr val="6699C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第00章 引言.pptx" id="{8E336CD8-9F79-48AD-9569-E70DB49E1A8F}" vid="{89161D43-D2B5-4537-8643-859E4B758028}"/>
    </a:ext>
  </a:extLst>
</a:theme>
</file>

<file path=ppt/theme/theme2.xml><?xml version="1.0" encoding="utf-8"?>
<a:theme xmlns:a="http://schemas.openxmlformats.org/drawingml/2006/main" name="1_020424 Atlas Copco Dymamic Workplaces - Roadmap">
  <a:themeElements>
    <a:clrScheme name="1_020424 Atlas Copco Dymamic Workplaces - Roadmap 12">
      <a:dk1>
        <a:srgbClr val="000000"/>
      </a:dk1>
      <a:lt1>
        <a:srgbClr val="FFFFFF"/>
      </a:lt1>
      <a:dk2>
        <a:srgbClr val="199B9B"/>
      </a:dk2>
      <a:lt2>
        <a:srgbClr val="B2B2B2"/>
      </a:lt2>
      <a:accent1>
        <a:srgbClr val="006699"/>
      </a:accent1>
      <a:accent2>
        <a:srgbClr val="33CCCC"/>
      </a:accent2>
      <a:accent3>
        <a:srgbClr val="FFFFFF"/>
      </a:accent3>
      <a:accent4>
        <a:srgbClr val="000000"/>
      </a:accent4>
      <a:accent5>
        <a:srgbClr val="AAB8CA"/>
      </a:accent5>
      <a:accent6>
        <a:srgbClr val="2DB9B9"/>
      </a:accent6>
      <a:hlink>
        <a:srgbClr val="777777"/>
      </a:hlink>
      <a:folHlink>
        <a:srgbClr val="6699CC"/>
      </a:folHlink>
    </a:clrScheme>
    <a:fontScheme name="1_020424 Atlas Copco Dymamic Workplaces - Roadmap">
      <a:majorFont>
        <a:latin typeface="隶书"/>
        <a:ea typeface="隶书"/>
        <a:cs typeface=""/>
      </a:majorFont>
      <a:minorFont>
        <a:latin typeface="华文楷体"/>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non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Arial Black" pitchFamily="34" charset="0"/>
            <a:ea typeface="华文楷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non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Arial Black" pitchFamily="34" charset="0"/>
            <a:ea typeface="华文楷体" pitchFamily="2" charset="-122"/>
          </a:defRPr>
        </a:defPPr>
      </a:lstStyle>
    </a:lnDef>
  </a:objectDefaults>
  <a:extraClrSchemeLst>
    <a:extraClrScheme>
      <a:clrScheme name="1_020424 Atlas Copco Dymamic Workplaces - Roadmap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020424 Atlas Copco Dymamic Workplaces - Roadmap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020424 Atlas Copco Dymamic Workplaces - Roadmap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020424 Atlas Copco Dymamic Workplaces - Roadmap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020424 Atlas Copco Dymamic Workplaces - Roadmap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020424 Atlas Copco Dymamic Workplaces - Roadmap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020424 Atlas Copco Dymamic Workplaces - Roadmap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_020424 Atlas Copco Dymamic Workplaces - Roadmap 8">
        <a:dk1>
          <a:srgbClr val="000000"/>
        </a:dk1>
        <a:lt1>
          <a:srgbClr val="FFFFFF"/>
        </a:lt1>
        <a:dk2>
          <a:srgbClr val="199B9B"/>
        </a:dk2>
        <a:lt2>
          <a:srgbClr val="666666"/>
        </a:lt2>
        <a:accent1>
          <a:srgbClr val="6699CC"/>
        </a:accent1>
        <a:accent2>
          <a:srgbClr val="99CCFF"/>
        </a:accent2>
        <a:accent3>
          <a:srgbClr val="FFFFFF"/>
        </a:accent3>
        <a:accent4>
          <a:srgbClr val="000000"/>
        </a:accent4>
        <a:accent5>
          <a:srgbClr val="B8CAE2"/>
        </a:accent5>
        <a:accent6>
          <a:srgbClr val="8AB9E7"/>
        </a:accent6>
        <a:hlink>
          <a:srgbClr val="FF6B07"/>
        </a:hlink>
        <a:folHlink>
          <a:srgbClr val="FF9933"/>
        </a:folHlink>
      </a:clrScheme>
      <a:clrMap bg1="lt1" tx1="dk1" bg2="lt2" tx2="dk2" accent1="accent1" accent2="accent2" accent3="accent3" accent4="accent4" accent5="accent5" accent6="accent6" hlink="hlink" folHlink="folHlink"/>
    </a:extraClrScheme>
    <a:extraClrScheme>
      <a:clrScheme name="1_020424 Atlas Copco Dymamic Workplaces - Roadmap 9">
        <a:dk1>
          <a:srgbClr val="000000"/>
        </a:dk1>
        <a:lt1>
          <a:srgbClr val="FFFFFF"/>
        </a:lt1>
        <a:dk2>
          <a:srgbClr val="33CCCC"/>
        </a:dk2>
        <a:lt2>
          <a:srgbClr val="666666"/>
        </a:lt2>
        <a:accent1>
          <a:srgbClr val="6699CC"/>
        </a:accent1>
        <a:accent2>
          <a:srgbClr val="99CCFF"/>
        </a:accent2>
        <a:accent3>
          <a:srgbClr val="FFFFFF"/>
        </a:accent3>
        <a:accent4>
          <a:srgbClr val="000000"/>
        </a:accent4>
        <a:accent5>
          <a:srgbClr val="B8CAE2"/>
        </a:accent5>
        <a:accent6>
          <a:srgbClr val="8AB9E7"/>
        </a:accent6>
        <a:hlink>
          <a:srgbClr val="199B9B"/>
        </a:hlink>
        <a:folHlink>
          <a:srgbClr val="FF9933"/>
        </a:folHlink>
      </a:clrScheme>
      <a:clrMap bg1="lt1" tx1="dk1" bg2="lt2" tx2="dk2" accent1="accent1" accent2="accent2" accent3="accent3" accent4="accent4" accent5="accent5" accent6="accent6" hlink="hlink" folHlink="folHlink"/>
    </a:extraClrScheme>
    <a:extraClrScheme>
      <a:clrScheme name="1_020424 Atlas Copco Dymamic Workplaces - Roadmap 10">
        <a:dk1>
          <a:srgbClr val="000000"/>
        </a:dk1>
        <a:lt1>
          <a:srgbClr val="FFFFFF"/>
        </a:lt1>
        <a:dk2>
          <a:srgbClr val="33CCCC"/>
        </a:dk2>
        <a:lt2>
          <a:srgbClr val="6699CC"/>
        </a:lt2>
        <a:accent1>
          <a:srgbClr val="006699"/>
        </a:accent1>
        <a:accent2>
          <a:srgbClr val="99CCFF"/>
        </a:accent2>
        <a:accent3>
          <a:srgbClr val="FFFFFF"/>
        </a:accent3>
        <a:accent4>
          <a:srgbClr val="000000"/>
        </a:accent4>
        <a:accent5>
          <a:srgbClr val="AAB8CA"/>
        </a:accent5>
        <a:accent6>
          <a:srgbClr val="8AB9E7"/>
        </a:accent6>
        <a:hlink>
          <a:srgbClr val="199B9B"/>
        </a:hlink>
        <a:folHlink>
          <a:srgbClr val="FF9933"/>
        </a:folHlink>
      </a:clrScheme>
      <a:clrMap bg1="lt1" tx1="dk1" bg2="lt2" tx2="dk2" accent1="accent1" accent2="accent2" accent3="accent3" accent4="accent4" accent5="accent5" accent6="accent6" hlink="hlink" folHlink="folHlink"/>
    </a:extraClrScheme>
    <a:extraClrScheme>
      <a:clrScheme name="1_020424 Atlas Copco Dymamic Workplaces - Roadmap 11">
        <a:dk1>
          <a:srgbClr val="000000"/>
        </a:dk1>
        <a:lt1>
          <a:srgbClr val="FFFFFF"/>
        </a:lt1>
        <a:dk2>
          <a:srgbClr val="33CCCC"/>
        </a:dk2>
        <a:lt2>
          <a:srgbClr val="6699CC"/>
        </a:lt2>
        <a:accent1>
          <a:srgbClr val="006699"/>
        </a:accent1>
        <a:accent2>
          <a:srgbClr val="99CCFF"/>
        </a:accent2>
        <a:accent3>
          <a:srgbClr val="FFFFFF"/>
        </a:accent3>
        <a:accent4>
          <a:srgbClr val="000000"/>
        </a:accent4>
        <a:accent5>
          <a:srgbClr val="AAB8CA"/>
        </a:accent5>
        <a:accent6>
          <a:srgbClr val="8AB9E7"/>
        </a:accent6>
        <a:hlink>
          <a:srgbClr val="199B9B"/>
        </a:hlink>
        <a:folHlink>
          <a:srgbClr val="703BE5"/>
        </a:folHlink>
      </a:clrScheme>
      <a:clrMap bg1="lt1" tx1="dk1" bg2="lt2" tx2="dk2" accent1="accent1" accent2="accent2" accent3="accent3" accent4="accent4" accent5="accent5" accent6="accent6" hlink="hlink" folHlink="folHlink"/>
    </a:extraClrScheme>
    <a:extraClrScheme>
      <a:clrScheme name="1_020424 Atlas Copco Dymamic Workplaces - Roadmap 12">
        <a:dk1>
          <a:srgbClr val="000000"/>
        </a:dk1>
        <a:lt1>
          <a:srgbClr val="FFFFFF"/>
        </a:lt1>
        <a:dk2>
          <a:srgbClr val="199B9B"/>
        </a:dk2>
        <a:lt2>
          <a:srgbClr val="B2B2B2"/>
        </a:lt2>
        <a:accent1>
          <a:srgbClr val="006699"/>
        </a:accent1>
        <a:accent2>
          <a:srgbClr val="33CCCC"/>
        </a:accent2>
        <a:accent3>
          <a:srgbClr val="FFFFFF"/>
        </a:accent3>
        <a:accent4>
          <a:srgbClr val="000000"/>
        </a:accent4>
        <a:accent5>
          <a:srgbClr val="AAB8CA"/>
        </a:accent5>
        <a:accent6>
          <a:srgbClr val="2DB9B9"/>
        </a:accent6>
        <a:hlink>
          <a:srgbClr val="777777"/>
        </a:hlink>
        <a:folHlink>
          <a:srgbClr val="6699C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第00章 引言.pptx" id="{8E336CD8-9F79-48AD-9569-E70DB49E1A8F}" vid="{BDB286B0-20F8-4BED-B459-36164EA59FE4}"/>
    </a:ext>
  </a:extLst>
</a:theme>
</file>

<file path=ppt/theme/theme3.xml><?xml version="1.0" encoding="utf-8"?>
<a:theme xmlns:a="http://schemas.openxmlformats.org/drawingml/2006/main" name="3_020424 Atlas Copco Dymamic Workplaces - Roadmap">
  <a:themeElements>
    <a:clrScheme name="1_020424 Atlas Copco Dymamic Workplaces - Roadmap 12">
      <a:dk1>
        <a:srgbClr val="000000"/>
      </a:dk1>
      <a:lt1>
        <a:srgbClr val="FFFFFF"/>
      </a:lt1>
      <a:dk2>
        <a:srgbClr val="199B9B"/>
      </a:dk2>
      <a:lt2>
        <a:srgbClr val="B2B2B2"/>
      </a:lt2>
      <a:accent1>
        <a:srgbClr val="006699"/>
      </a:accent1>
      <a:accent2>
        <a:srgbClr val="33CCCC"/>
      </a:accent2>
      <a:accent3>
        <a:srgbClr val="FFFFFF"/>
      </a:accent3>
      <a:accent4>
        <a:srgbClr val="000000"/>
      </a:accent4>
      <a:accent5>
        <a:srgbClr val="AAB8CA"/>
      </a:accent5>
      <a:accent6>
        <a:srgbClr val="2DB9B9"/>
      </a:accent6>
      <a:hlink>
        <a:srgbClr val="777777"/>
      </a:hlink>
      <a:folHlink>
        <a:srgbClr val="6699CC"/>
      </a:folHlink>
    </a:clrScheme>
    <a:fontScheme name="1_020424 Atlas Copco Dymamic Workplaces - Roadmap">
      <a:majorFont>
        <a:latin typeface="隶书"/>
        <a:ea typeface="隶书"/>
        <a:cs typeface=""/>
      </a:majorFont>
      <a:minorFont>
        <a:latin typeface="华文楷体"/>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non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Arial Black" pitchFamily="34" charset="0"/>
            <a:ea typeface="华文楷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non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Arial Black" pitchFamily="34" charset="0"/>
            <a:ea typeface="华文楷体" pitchFamily="2" charset="-122"/>
          </a:defRPr>
        </a:defPPr>
      </a:lstStyle>
    </a:lnDef>
  </a:objectDefaults>
  <a:extraClrSchemeLst>
    <a:extraClrScheme>
      <a:clrScheme name="1_020424 Atlas Copco Dymamic Workplaces - Roadmap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020424 Atlas Copco Dymamic Workplaces - Roadmap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020424 Atlas Copco Dymamic Workplaces - Roadmap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020424 Atlas Copco Dymamic Workplaces - Roadmap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020424 Atlas Copco Dymamic Workplaces - Roadmap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020424 Atlas Copco Dymamic Workplaces - Roadmap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020424 Atlas Copco Dymamic Workplaces - Roadmap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_020424 Atlas Copco Dymamic Workplaces - Roadmap 8">
        <a:dk1>
          <a:srgbClr val="000000"/>
        </a:dk1>
        <a:lt1>
          <a:srgbClr val="FFFFFF"/>
        </a:lt1>
        <a:dk2>
          <a:srgbClr val="199B9B"/>
        </a:dk2>
        <a:lt2>
          <a:srgbClr val="666666"/>
        </a:lt2>
        <a:accent1>
          <a:srgbClr val="6699CC"/>
        </a:accent1>
        <a:accent2>
          <a:srgbClr val="99CCFF"/>
        </a:accent2>
        <a:accent3>
          <a:srgbClr val="FFFFFF"/>
        </a:accent3>
        <a:accent4>
          <a:srgbClr val="000000"/>
        </a:accent4>
        <a:accent5>
          <a:srgbClr val="B8CAE2"/>
        </a:accent5>
        <a:accent6>
          <a:srgbClr val="8AB9E7"/>
        </a:accent6>
        <a:hlink>
          <a:srgbClr val="FF6B07"/>
        </a:hlink>
        <a:folHlink>
          <a:srgbClr val="FF9933"/>
        </a:folHlink>
      </a:clrScheme>
      <a:clrMap bg1="lt1" tx1="dk1" bg2="lt2" tx2="dk2" accent1="accent1" accent2="accent2" accent3="accent3" accent4="accent4" accent5="accent5" accent6="accent6" hlink="hlink" folHlink="folHlink"/>
    </a:extraClrScheme>
    <a:extraClrScheme>
      <a:clrScheme name="1_020424 Atlas Copco Dymamic Workplaces - Roadmap 9">
        <a:dk1>
          <a:srgbClr val="000000"/>
        </a:dk1>
        <a:lt1>
          <a:srgbClr val="FFFFFF"/>
        </a:lt1>
        <a:dk2>
          <a:srgbClr val="33CCCC"/>
        </a:dk2>
        <a:lt2>
          <a:srgbClr val="666666"/>
        </a:lt2>
        <a:accent1>
          <a:srgbClr val="6699CC"/>
        </a:accent1>
        <a:accent2>
          <a:srgbClr val="99CCFF"/>
        </a:accent2>
        <a:accent3>
          <a:srgbClr val="FFFFFF"/>
        </a:accent3>
        <a:accent4>
          <a:srgbClr val="000000"/>
        </a:accent4>
        <a:accent5>
          <a:srgbClr val="B8CAE2"/>
        </a:accent5>
        <a:accent6>
          <a:srgbClr val="8AB9E7"/>
        </a:accent6>
        <a:hlink>
          <a:srgbClr val="199B9B"/>
        </a:hlink>
        <a:folHlink>
          <a:srgbClr val="FF9933"/>
        </a:folHlink>
      </a:clrScheme>
      <a:clrMap bg1="lt1" tx1="dk1" bg2="lt2" tx2="dk2" accent1="accent1" accent2="accent2" accent3="accent3" accent4="accent4" accent5="accent5" accent6="accent6" hlink="hlink" folHlink="folHlink"/>
    </a:extraClrScheme>
    <a:extraClrScheme>
      <a:clrScheme name="1_020424 Atlas Copco Dymamic Workplaces - Roadmap 10">
        <a:dk1>
          <a:srgbClr val="000000"/>
        </a:dk1>
        <a:lt1>
          <a:srgbClr val="FFFFFF"/>
        </a:lt1>
        <a:dk2>
          <a:srgbClr val="33CCCC"/>
        </a:dk2>
        <a:lt2>
          <a:srgbClr val="6699CC"/>
        </a:lt2>
        <a:accent1>
          <a:srgbClr val="006699"/>
        </a:accent1>
        <a:accent2>
          <a:srgbClr val="99CCFF"/>
        </a:accent2>
        <a:accent3>
          <a:srgbClr val="FFFFFF"/>
        </a:accent3>
        <a:accent4>
          <a:srgbClr val="000000"/>
        </a:accent4>
        <a:accent5>
          <a:srgbClr val="AAB8CA"/>
        </a:accent5>
        <a:accent6>
          <a:srgbClr val="8AB9E7"/>
        </a:accent6>
        <a:hlink>
          <a:srgbClr val="199B9B"/>
        </a:hlink>
        <a:folHlink>
          <a:srgbClr val="FF9933"/>
        </a:folHlink>
      </a:clrScheme>
      <a:clrMap bg1="lt1" tx1="dk1" bg2="lt2" tx2="dk2" accent1="accent1" accent2="accent2" accent3="accent3" accent4="accent4" accent5="accent5" accent6="accent6" hlink="hlink" folHlink="folHlink"/>
    </a:extraClrScheme>
    <a:extraClrScheme>
      <a:clrScheme name="1_020424 Atlas Copco Dymamic Workplaces - Roadmap 11">
        <a:dk1>
          <a:srgbClr val="000000"/>
        </a:dk1>
        <a:lt1>
          <a:srgbClr val="FFFFFF"/>
        </a:lt1>
        <a:dk2>
          <a:srgbClr val="33CCCC"/>
        </a:dk2>
        <a:lt2>
          <a:srgbClr val="6699CC"/>
        </a:lt2>
        <a:accent1>
          <a:srgbClr val="006699"/>
        </a:accent1>
        <a:accent2>
          <a:srgbClr val="99CCFF"/>
        </a:accent2>
        <a:accent3>
          <a:srgbClr val="FFFFFF"/>
        </a:accent3>
        <a:accent4>
          <a:srgbClr val="000000"/>
        </a:accent4>
        <a:accent5>
          <a:srgbClr val="AAB8CA"/>
        </a:accent5>
        <a:accent6>
          <a:srgbClr val="8AB9E7"/>
        </a:accent6>
        <a:hlink>
          <a:srgbClr val="199B9B"/>
        </a:hlink>
        <a:folHlink>
          <a:srgbClr val="703BE5"/>
        </a:folHlink>
      </a:clrScheme>
      <a:clrMap bg1="lt1" tx1="dk1" bg2="lt2" tx2="dk2" accent1="accent1" accent2="accent2" accent3="accent3" accent4="accent4" accent5="accent5" accent6="accent6" hlink="hlink" folHlink="folHlink"/>
    </a:extraClrScheme>
    <a:extraClrScheme>
      <a:clrScheme name="1_020424 Atlas Copco Dymamic Workplaces - Roadmap 12">
        <a:dk1>
          <a:srgbClr val="000000"/>
        </a:dk1>
        <a:lt1>
          <a:srgbClr val="FFFFFF"/>
        </a:lt1>
        <a:dk2>
          <a:srgbClr val="199B9B"/>
        </a:dk2>
        <a:lt2>
          <a:srgbClr val="B2B2B2"/>
        </a:lt2>
        <a:accent1>
          <a:srgbClr val="006699"/>
        </a:accent1>
        <a:accent2>
          <a:srgbClr val="33CCCC"/>
        </a:accent2>
        <a:accent3>
          <a:srgbClr val="FFFFFF"/>
        </a:accent3>
        <a:accent4>
          <a:srgbClr val="000000"/>
        </a:accent4>
        <a:accent5>
          <a:srgbClr val="AAB8CA"/>
        </a:accent5>
        <a:accent6>
          <a:srgbClr val="2DB9B9"/>
        </a:accent6>
        <a:hlink>
          <a:srgbClr val="777777"/>
        </a:hlink>
        <a:folHlink>
          <a:srgbClr val="6699C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第00章 引言.pptx" id="{8E336CD8-9F79-48AD-9569-E70DB49E1A8F}" vid="{1F1E4A66-E27C-4C99-99BB-460485372897}"/>
    </a:ext>
  </a:extLst>
</a:theme>
</file>

<file path=ppt/theme/theme4.xml><?xml version="1.0" encoding="utf-8"?>
<a:theme xmlns:a="http://schemas.openxmlformats.org/drawingml/2006/main" name="4_020424 Atlas Copco Dymamic Workplaces - Roadmap">
  <a:themeElements>
    <a:clrScheme name="2_020424 Atlas Copco Dymamic Workplaces - Roadmap 12">
      <a:dk1>
        <a:srgbClr val="000000"/>
      </a:dk1>
      <a:lt1>
        <a:srgbClr val="FFFFFF"/>
      </a:lt1>
      <a:dk2>
        <a:srgbClr val="199B9B"/>
      </a:dk2>
      <a:lt2>
        <a:srgbClr val="B2B2B2"/>
      </a:lt2>
      <a:accent1>
        <a:srgbClr val="006699"/>
      </a:accent1>
      <a:accent2>
        <a:srgbClr val="33CCCC"/>
      </a:accent2>
      <a:accent3>
        <a:srgbClr val="FFFFFF"/>
      </a:accent3>
      <a:accent4>
        <a:srgbClr val="000000"/>
      </a:accent4>
      <a:accent5>
        <a:srgbClr val="AAB8CA"/>
      </a:accent5>
      <a:accent6>
        <a:srgbClr val="2DB9B9"/>
      </a:accent6>
      <a:hlink>
        <a:srgbClr val="777777"/>
      </a:hlink>
      <a:folHlink>
        <a:srgbClr val="6699CC"/>
      </a:folHlink>
    </a:clrScheme>
    <a:fontScheme name="2_020424 Atlas Copco Dymamic Workplaces - Roadmap">
      <a:majorFont>
        <a:latin typeface="隶书"/>
        <a:ea typeface="隶书"/>
        <a:cs typeface=""/>
      </a:majorFont>
      <a:minorFont>
        <a:latin typeface="华文楷体"/>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non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Arial Black" pitchFamily="34" charset="0"/>
            <a:ea typeface="华文楷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non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Arial Black" pitchFamily="34" charset="0"/>
            <a:ea typeface="华文楷体" pitchFamily="2" charset="-122"/>
          </a:defRPr>
        </a:defPPr>
      </a:lstStyle>
    </a:lnDef>
  </a:objectDefaults>
  <a:extraClrSchemeLst>
    <a:extraClrScheme>
      <a:clrScheme name="2_020424 Atlas Copco Dymamic Workplaces - Roadmap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020424 Atlas Copco Dymamic Workplaces - Roadmap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020424 Atlas Copco Dymamic Workplaces - Roadmap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020424 Atlas Copco Dymamic Workplaces - Roadmap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020424 Atlas Copco Dymamic Workplaces - Roadmap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020424 Atlas Copco Dymamic Workplaces - Roadmap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020424 Atlas Copco Dymamic Workplaces - Roadmap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020424 Atlas Copco Dymamic Workplaces - Roadmap 8">
        <a:dk1>
          <a:srgbClr val="000000"/>
        </a:dk1>
        <a:lt1>
          <a:srgbClr val="FFFFFF"/>
        </a:lt1>
        <a:dk2>
          <a:srgbClr val="199B9B"/>
        </a:dk2>
        <a:lt2>
          <a:srgbClr val="666666"/>
        </a:lt2>
        <a:accent1>
          <a:srgbClr val="6699CC"/>
        </a:accent1>
        <a:accent2>
          <a:srgbClr val="99CCFF"/>
        </a:accent2>
        <a:accent3>
          <a:srgbClr val="FFFFFF"/>
        </a:accent3>
        <a:accent4>
          <a:srgbClr val="000000"/>
        </a:accent4>
        <a:accent5>
          <a:srgbClr val="B8CAE2"/>
        </a:accent5>
        <a:accent6>
          <a:srgbClr val="8AB9E7"/>
        </a:accent6>
        <a:hlink>
          <a:srgbClr val="FF6B07"/>
        </a:hlink>
        <a:folHlink>
          <a:srgbClr val="FF9933"/>
        </a:folHlink>
      </a:clrScheme>
      <a:clrMap bg1="lt1" tx1="dk1" bg2="lt2" tx2="dk2" accent1="accent1" accent2="accent2" accent3="accent3" accent4="accent4" accent5="accent5" accent6="accent6" hlink="hlink" folHlink="folHlink"/>
    </a:extraClrScheme>
    <a:extraClrScheme>
      <a:clrScheme name="2_020424 Atlas Copco Dymamic Workplaces - Roadmap 9">
        <a:dk1>
          <a:srgbClr val="000000"/>
        </a:dk1>
        <a:lt1>
          <a:srgbClr val="FFFFFF"/>
        </a:lt1>
        <a:dk2>
          <a:srgbClr val="33CCCC"/>
        </a:dk2>
        <a:lt2>
          <a:srgbClr val="666666"/>
        </a:lt2>
        <a:accent1>
          <a:srgbClr val="6699CC"/>
        </a:accent1>
        <a:accent2>
          <a:srgbClr val="99CCFF"/>
        </a:accent2>
        <a:accent3>
          <a:srgbClr val="FFFFFF"/>
        </a:accent3>
        <a:accent4>
          <a:srgbClr val="000000"/>
        </a:accent4>
        <a:accent5>
          <a:srgbClr val="B8CAE2"/>
        </a:accent5>
        <a:accent6>
          <a:srgbClr val="8AB9E7"/>
        </a:accent6>
        <a:hlink>
          <a:srgbClr val="199B9B"/>
        </a:hlink>
        <a:folHlink>
          <a:srgbClr val="FF9933"/>
        </a:folHlink>
      </a:clrScheme>
      <a:clrMap bg1="lt1" tx1="dk1" bg2="lt2" tx2="dk2" accent1="accent1" accent2="accent2" accent3="accent3" accent4="accent4" accent5="accent5" accent6="accent6" hlink="hlink" folHlink="folHlink"/>
    </a:extraClrScheme>
    <a:extraClrScheme>
      <a:clrScheme name="2_020424 Atlas Copco Dymamic Workplaces - Roadmap 10">
        <a:dk1>
          <a:srgbClr val="000000"/>
        </a:dk1>
        <a:lt1>
          <a:srgbClr val="FFFFFF"/>
        </a:lt1>
        <a:dk2>
          <a:srgbClr val="33CCCC"/>
        </a:dk2>
        <a:lt2>
          <a:srgbClr val="6699CC"/>
        </a:lt2>
        <a:accent1>
          <a:srgbClr val="006699"/>
        </a:accent1>
        <a:accent2>
          <a:srgbClr val="99CCFF"/>
        </a:accent2>
        <a:accent3>
          <a:srgbClr val="FFFFFF"/>
        </a:accent3>
        <a:accent4>
          <a:srgbClr val="000000"/>
        </a:accent4>
        <a:accent5>
          <a:srgbClr val="AAB8CA"/>
        </a:accent5>
        <a:accent6>
          <a:srgbClr val="8AB9E7"/>
        </a:accent6>
        <a:hlink>
          <a:srgbClr val="199B9B"/>
        </a:hlink>
        <a:folHlink>
          <a:srgbClr val="FF9933"/>
        </a:folHlink>
      </a:clrScheme>
      <a:clrMap bg1="lt1" tx1="dk1" bg2="lt2" tx2="dk2" accent1="accent1" accent2="accent2" accent3="accent3" accent4="accent4" accent5="accent5" accent6="accent6" hlink="hlink" folHlink="folHlink"/>
    </a:extraClrScheme>
    <a:extraClrScheme>
      <a:clrScheme name="2_020424 Atlas Copco Dymamic Workplaces - Roadmap 11">
        <a:dk1>
          <a:srgbClr val="000000"/>
        </a:dk1>
        <a:lt1>
          <a:srgbClr val="FFFFFF"/>
        </a:lt1>
        <a:dk2>
          <a:srgbClr val="33CCCC"/>
        </a:dk2>
        <a:lt2>
          <a:srgbClr val="6699CC"/>
        </a:lt2>
        <a:accent1>
          <a:srgbClr val="006699"/>
        </a:accent1>
        <a:accent2>
          <a:srgbClr val="99CCFF"/>
        </a:accent2>
        <a:accent3>
          <a:srgbClr val="FFFFFF"/>
        </a:accent3>
        <a:accent4>
          <a:srgbClr val="000000"/>
        </a:accent4>
        <a:accent5>
          <a:srgbClr val="AAB8CA"/>
        </a:accent5>
        <a:accent6>
          <a:srgbClr val="8AB9E7"/>
        </a:accent6>
        <a:hlink>
          <a:srgbClr val="199B9B"/>
        </a:hlink>
        <a:folHlink>
          <a:srgbClr val="703BE5"/>
        </a:folHlink>
      </a:clrScheme>
      <a:clrMap bg1="lt1" tx1="dk1" bg2="lt2" tx2="dk2" accent1="accent1" accent2="accent2" accent3="accent3" accent4="accent4" accent5="accent5" accent6="accent6" hlink="hlink" folHlink="folHlink"/>
    </a:extraClrScheme>
    <a:extraClrScheme>
      <a:clrScheme name="2_020424 Atlas Copco Dymamic Workplaces - Roadmap 12">
        <a:dk1>
          <a:srgbClr val="000000"/>
        </a:dk1>
        <a:lt1>
          <a:srgbClr val="FFFFFF"/>
        </a:lt1>
        <a:dk2>
          <a:srgbClr val="199B9B"/>
        </a:dk2>
        <a:lt2>
          <a:srgbClr val="B2B2B2"/>
        </a:lt2>
        <a:accent1>
          <a:srgbClr val="006699"/>
        </a:accent1>
        <a:accent2>
          <a:srgbClr val="33CCCC"/>
        </a:accent2>
        <a:accent3>
          <a:srgbClr val="FFFFFF"/>
        </a:accent3>
        <a:accent4>
          <a:srgbClr val="000000"/>
        </a:accent4>
        <a:accent5>
          <a:srgbClr val="AAB8CA"/>
        </a:accent5>
        <a:accent6>
          <a:srgbClr val="2DB9B9"/>
        </a:accent6>
        <a:hlink>
          <a:srgbClr val="777777"/>
        </a:hlink>
        <a:folHlink>
          <a:srgbClr val="6699C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第00章 引言.pptx" id="{8E336CD8-9F79-48AD-9569-E70DB49E1A8F}" vid="{89161D43-D2B5-4537-8643-859E4B758028}"/>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高级计算机图形学-模版</Template>
  <TotalTime>3074</TotalTime>
  <Words>2810</Words>
  <Application>Microsoft Office PowerPoint</Application>
  <PresentationFormat>宽屏</PresentationFormat>
  <Paragraphs>255</Paragraphs>
  <Slides>43</Slides>
  <Notes>9</Notes>
  <HiddenSlides>0</HiddenSlides>
  <MMClips>0</MMClips>
  <ScaleCrop>false</ScaleCrop>
  <HeadingPairs>
    <vt:vector size="8" baseType="variant">
      <vt:variant>
        <vt:lpstr>已用的字体</vt:lpstr>
      </vt:variant>
      <vt:variant>
        <vt:i4>11</vt:i4>
      </vt:variant>
      <vt:variant>
        <vt:lpstr>主题</vt:lpstr>
      </vt:variant>
      <vt:variant>
        <vt:i4>4</vt:i4>
      </vt:variant>
      <vt:variant>
        <vt:lpstr>嵌入 OLE 服务器</vt:lpstr>
      </vt:variant>
      <vt:variant>
        <vt:i4>4</vt:i4>
      </vt:variant>
      <vt:variant>
        <vt:lpstr>幻灯片标题</vt:lpstr>
      </vt:variant>
      <vt:variant>
        <vt:i4>43</vt:i4>
      </vt:variant>
    </vt:vector>
  </HeadingPairs>
  <TitlesOfParts>
    <vt:vector size="62" baseType="lpstr">
      <vt:lpstr>黑体</vt:lpstr>
      <vt:lpstr>华文琥珀</vt:lpstr>
      <vt:lpstr>华文楷体</vt:lpstr>
      <vt:lpstr>华文新魏</vt:lpstr>
      <vt:lpstr>楷体_GB2312</vt:lpstr>
      <vt:lpstr>隶书</vt:lpstr>
      <vt:lpstr>宋体</vt:lpstr>
      <vt:lpstr>Arial</vt:lpstr>
      <vt:lpstr>Calibri</vt:lpstr>
      <vt:lpstr>Times New Roman</vt:lpstr>
      <vt:lpstr>Wingdings</vt:lpstr>
      <vt:lpstr>2_020424 Atlas Copco Dymamic Workplaces - Roadmap</vt:lpstr>
      <vt:lpstr>1_020424 Atlas Copco Dymamic Workplaces - Roadmap</vt:lpstr>
      <vt:lpstr>3_020424 Atlas Copco Dymamic Workplaces - Roadmap</vt:lpstr>
      <vt:lpstr>4_020424 Atlas Copco Dymamic Workplaces - Roadmap</vt:lpstr>
      <vt:lpstr>Microsoft 公式 3.0</vt:lpstr>
      <vt:lpstr>图片</vt:lpstr>
      <vt:lpstr>公式</vt:lpstr>
      <vt:lpstr>Equation</vt:lpstr>
      <vt:lpstr>PowerPoint 演示文稿</vt:lpstr>
      <vt:lpstr>内容提要</vt:lpstr>
      <vt:lpstr>1. 概述</vt:lpstr>
      <vt:lpstr>1. 概述</vt:lpstr>
      <vt:lpstr>1. 概述</vt:lpstr>
      <vt:lpstr>1. 概述</vt:lpstr>
      <vt:lpstr>1. 概述</vt:lpstr>
      <vt:lpstr>2. RGB颜色模型</vt:lpstr>
      <vt:lpstr>2. RGB颜色模型</vt:lpstr>
      <vt:lpstr>2. RGB颜色模型</vt:lpstr>
      <vt:lpstr>3. CMY颜色模型</vt:lpstr>
      <vt:lpstr>3. CMY颜色模型</vt:lpstr>
      <vt:lpstr>RGB和CMY颜色模型比较</vt:lpstr>
      <vt:lpstr>4. HSV颜色模型</vt:lpstr>
      <vt:lpstr>4. HSV颜色模型</vt:lpstr>
      <vt:lpstr>4. HSV颜色模型</vt:lpstr>
      <vt:lpstr>4. HSV颜色模型</vt:lpstr>
      <vt:lpstr>4. HSV颜色模型</vt:lpstr>
      <vt:lpstr>5. CIE(国际照明委员会)颜色模型</vt:lpstr>
      <vt:lpstr>5. CIE(国际照明委员会)颜色模型</vt:lpstr>
      <vt:lpstr>5.1 CIE XYZ</vt:lpstr>
      <vt:lpstr>5.1 CIE XYZ</vt:lpstr>
      <vt:lpstr>5.2 CIE L*a*b*</vt:lpstr>
      <vt:lpstr>5.2 CIE L*a*b*</vt:lpstr>
      <vt:lpstr>5.3 CIE YUV</vt:lpstr>
      <vt:lpstr>5.3 CIE YUV</vt:lpstr>
      <vt:lpstr>6. 颜色模型之间的转换算法</vt:lpstr>
      <vt:lpstr>6. 颜色模型之间的转换算法</vt:lpstr>
      <vt:lpstr>6. 颜色模型之间的转换算法</vt:lpstr>
      <vt:lpstr>6. 颜色模型之间的转换算法</vt:lpstr>
      <vt:lpstr>6. 颜色模型之间的转换算法</vt:lpstr>
      <vt:lpstr>6. 颜色模型之间的转换算法</vt:lpstr>
      <vt:lpstr>6. 颜色模型之间的转换算法</vt:lpstr>
      <vt:lpstr>6. 颜色模型之间的转换算法</vt:lpstr>
      <vt:lpstr>7. OpenGL颜色模型</vt:lpstr>
      <vt:lpstr>7. OpenGL颜色模型</vt:lpstr>
      <vt:lpstr>7.3 示例程序一</vt:lpstr>
      <vt:lpstr>7.1 反射颜色</vt:lpstr>
      <vt:lpstr>7.2 颜色混合</vt:lpstr>
      <vt:lpstr>7.2 颜色混合</vt:lpstr>
      <vt:lpstr>7.2 颜色混合</vt:lpstr>
      <vt:lpstr>7.3 示例程序二</vt:lpstr>
      <vt:lpstr>PowerPoint 演示文稿</vt:lpstr>
    </vt:vector>
  </TitlesOfParts>
  <Company>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数字图像处理</dc:title>
  <dc:creator>Richard Chen</dc:creator>
  <cp:lastModifiedBy>Windows 用户</cp:lastModifiedBy>
  <cp:revision>246</cp:revision>
  <dcterms:created xsi:type="dcterms:W3CDTF">2002-11-25T02:28:38Z</dcterms:created>
  <dcterms:modified xsi:type="dcterms:W3CDTF">2025-09-16T03:09:42Z</dcterms:modified>
</cp:coreProperties>
</file>