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61"/>
  </p:notesMasterIdLst>
  <p:sldIdLst>
    <p:sldId id="423" r:id="rId2"/>
    <p:sldId id="424" r:id="rId3"/>
    <p:sldId id="425" r:id="rId4"/>
    <p:sldId id="426" r:id="rId5"/>
    <p:sldId id="427" r:id="rId6"/>
    <p:sldId id="428" r:id="rId7"/>
    <p:sldId id="429" r:id="rId8"/>
    <p:sldId id="430" r:id="rId9"/>
    <p:sldId id="431" r:id="rId10"/>
    <p:sldId id="432" r:id="rId11"/>
    <p:sldId id="467" r:id="rId12"/>
    <p:sldId id="468" r:id="rId13"/>
    <p:sldId id="469" r:id="rId14"/>
    <p:sldId id="470" r:id="rId15"/>
    <p:sldId id="471" r:id="rId16"/>
    <p:sldId id="472" r:id="rId17"/>
    <p:sldId id="473" r:id="rId18"/>
    <p:sldId id="481" r:id="rId19"/>
    <p:sldId id="433" r:id="rId20"/>
    <p:sldId id="434" r:id="rId21"/>
    <p:sldId id="435" r:id="rId22"/>
    <p:sldId id="436" r:id="rId23"/>
    <p:sldId id="437" r:id="rId24"/>
    <p:sldId id="438" r:id="rId25"/>
    <p:sldId id="439" r:id="rId26"/>
    <p:sldId id="440" r:id="rId27"/>
    <p:sldId id="441" r:id="rId28"/>
    <p:sldId id="442" r:id="rId29"/>
    <p:sldId id="443" r:id="rId30"/>
    <p:sldId id="444" r:id="rId31"/>
    <p:sldId id="445" r:id="rId32"/>
    <p:sldId id="446" r:id="rId33"/>
    <p:sldId id="447" r:id="rId34"/>
    <p:sldId id="448" r:id="rId35"/>
    <p:sldId id="449" r:id="rId36"/>
    <p:sldId id="450" r:id="rId37"/>
    <p:sldId id="451" r:id="rId38"/>
    <p:sldId id="452" r:id="rId39"/>
    <p:sldId id="477" r:id="rId40"/>
    <p:sldId id="478" r:id="rId41"/>
    <p:sldId id="479" r:id="rId42"/>
    <p:sldId id="474" r:id="rId43"/>
    <p:sldId id="453" r:id="rId44"/>
    <p:sldId id="454" r:id="rId45"/>
    <p:sldId id="455" r:id="rId46"/>
    <p:sldId id="456" r:id="rId47"/>
    <p:sldId id="457" r:id="rId48"/>
    <p:sldId id="458" r:id="rId49"/>
    <p:sldId id="459" r:id="rId50"/>
    <p:sldId id="460" r:id="rId51"/>
    <p:sldId id="461" r:id="rId52"/>
    <p:sldId id="462" r:id="rId53"/>
    <p:sldId id="463" r:id="rId54"/>
    <p:sldId id="475" r:id="rId55"/>
    <p:sldId id="464" r:id="rId56"/>
    <p:sldId id="476" r:id="rId57"/>
    <p:sldId id="480" r:id="rId58"/>
    <p:sldId id="465" r:id="rId59"/>
    <p:sldId id="466" r:id="rId60"/>
  </p:sldIdLst>
  <p:sldSz cx="9144000" cy="6858000" type="letter"/>
  <p:notesSz cx="6645275" cy="9777413"/>
  <p:defaultTextStyle>
    <a:defPPr>
      <a:defRPr lang="en-US"/>
    </a:defPPr>
    <a:lvl1pPr algn="l" rtl="0" eaLnBrk="0" fontAlgn="base" hangingPunct="0">
      <a:spcBef>
        <a:spcPct val="0"/>
      </a:spcBef>
      <a:spcAft>
        <a:spcPct val="0"/>
      </a:spcAft>
      <a:defRPr sz="1600" kern="1200">
        <a:solidFill>
          <a:srgbClr val="0000FF"/>
        </a:solidFill>
        <a:latin typeface="Helvetica"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600" kern="1200">
        <a:solidFill>
          <a:srgbClr val="0000FF"/>
        </a:solidFill>
        <a:latin typeface="Helvetica"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600" kern="1200">
        <a:solidFill>
          <a:srgbClr val="0000FF"/>
        </a:solidFill>
        <a:latin typeface="Helvetica"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600" kern="1200">
        <a:solidFill>
          <a:srgbClr val="0000FF"/>
        </a:solidFill>
        <a:latin typeface="Helvetica"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600" kern="1200">
        <a:solidFill>
          <a:srgbClr val="0000FF"/>
        </a:solidFill>
        <a:latin typeface="Helvetica" panose="020B0604020202020204" pitchFamily="34" charset="0"/>
        <a:ea typeface="宋体" panose="02010600030101010101" pitchFamily="2" charset="-122"/>
        <a:cs typeface="+mn-cs"/>
      </a:defRPr>
    </a:lvl5pPr>
    <a:lvl6pPr marL="2286000" algn="l" defTabSz="914400" rtl="0" eaLnBrk="1" latinLnBrk="0" hangingPunct="1">
      <a:defRPr sz="1600" kern="1200">
        <a:solidFill>
          <a:srgbClr val="0000FF"/>
        </a:solidFill>
        <a:latin typeface="Helvetica" panose="020B0604020202020204" pitchFamily="34" charset="0"/>
        <a:ea typeface="宋体" panose="02010600030101010101" pitchFamily="2" charset="-122"/>
        <a:cs typeface="+mn-cs"/>
      </a:defRPr>
    </a:lvl6pPr>
    <a:lvl7pPr marL="2743200" algn="l" defTabSz="914400" rtl="0" eaLnBrk="1" latinLnBrk="0" hangingPunct="1">
      <a:defRPr sz="1600" kern="1200">
        <a:solidFill>
          <a:srgbClr val="0000FF"/>
        </a:solidFill>
        <a:latin typeface="Helvetica" panose="020B0604020202020204" pitchFamily="34" charset="0"/>
        <a:ea typeface="宋体" panose="02010600030101010101" pitchFamily="2" charset="-122"/>
        <a:cs typeface="+mn-cs"/>
      </a:defRPr>
    </a:lvl7pPr>
    <a:lvl8pPr marL="3200400" algn="l" defTabSz="914400" rtl="0" eaLnBrk="1" latinLnBrk="0" hangingPunct="1">
      <a:defRPr sz="1600" kern="1200">
        <a:solidFill>
          <a:srgbClr val="0000FF"/>
        </a:solidFill>
        <a:latin typeface="Helvetica" panose="020B0604020202020204" pitchFamily="34" charset="0"/>
        <a:ea typeface="宋体" panose="02010600030101010101" pitchFamily="2" charset="-122"/>
        <a:cs typeface="+mn-cs"/>
      </a:defRPr>
    </a:lvl8pPr>
    <a:lvl9pPr marL="3657600" algn="l" defTabSz="914400" rtl="0" eaLnBrk="1" latinLnBrk="0" hangingPunct="1">
      <a:defRPr sz="1600" kern="1200">
        <a:solidFill>
          <a:srgbClr val="0000FF"/>
        </a:solidFill>
        <a:latin typeface="Helvetica"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000000"/>
    <a:srgbClr val="FF0000"/>
    <a:srgbClr val="FFFF00"/>
    <a:srgbClr val="008000"/>
    <a:srgbClr val="0000FF"/>
    <a:srgbClr val="00CC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183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gyuXiao" userId="86e03c77-53a3-454b-af0c-e096b7b7ab83" providerId="ADAL" clId="{AB04D1A2-FC1F-44C0-8A2D-1D61939880F8}"/>
    <pc:docChg chg="custSel addSld modSld">
      <pc:chgData name="MingyuXiao" userId="86e03c77-53a3-454b-af0c-e096b7b7ab83" providerId="ADAL" clId="{AB04D1A2-FC1F-44C0-8A2D-1D61939880F8}" dt="2024-10-30T10:21:06.907" v="456" actId="207"/>
      <pc:docMkLst>
        <pc:docMk/>
      </pc:docMkLst>
      <pc:sldChg chg="modSp mod">
        <pc:chgData name="MingyuXiao" userId="86e03c77-53a3-454b-af0c-e096b7b7ab83" providerId="ADAL" clId="{AB04D1A2-FC1F-44C0-8A2D-1D61939880F8}" dt="2024-10-30T10:01:35.230" v="141" actId="207"/>
        <pc:sldMkLst>
          <pc:docMk/>
          <pc:sldMk cId="0" sldId="471"/>
        </pc:sldMkLst>
        <pc:spChg chg="mod">
          <ac:chgData name="MingyuXiao" userId="86e03c77-53a3-454b-af0c-e096b7b7ab83" providerId="ADAL" clId="{AB04D1A2-FC1F-44C0-8A2D-1D61939880F8}" dt="2024-10-30T10:01:35.230" v="141" actId="207"/>
          <ac:spMkLst>
            <pc:docMk/>
            <pc:sldMk cId="0" sldId="471"/>
            <ac:spMk id="2056" creationId="{87FA0013-5BE2-47F8-99DA-2623578F0F8B}"/>
          </ac:spMkLst>
        </pc:spChg>
      </pc:sldChg>
      <pc:sldChg chg="modSp mod">
        <pc:chgData name="MingyuXiao" userId="86e03c77-53a3-454b-af0c-e096b7b7ab83" providerId="ADAL" clId="{AB04D1A2-FC1F-44C0-8A2D-1D61939880F8}" dt="2024-10-30T09:45:22.003" v="89" actId="1036"/>
        <pc:sldMkLst>
          <pc:docMk/>
          <pc:sldMk cId="0" sldId="472"/>
        </pc:sldMkLst>
        <pc:spChg chg="mod">
          <ac:chgData name="MingyuXiao" userId="86e03c77-53a3-454b-af0c-e096b7b7ab83" providerId="ADAL" clId="{AB04D1A2-FC1F-44C0-8A2D-1D61939880F8}" dt="2024-10-30T09:45:17.237" v="80" actId="1076"/>
          <ac:spMkLst>
            <pc:docMk/>
            <pc:sldMk cId="0" sldId="472"/>
            <ac:spMk id="624643" creationId="{8EF766B0-CD30-4E5E-886B-B27F93967B36}"/>
          </ac:spMkLst>
        </pc:spChg>
        <pc:spChg chg="mod">
          <ac:chgData name="MingyuXiao" userId="86e03c77-53a3-454b-af0c-e096b7b7ab83" providerId="ADAL" clId="{AB04D1A2-FC1F-44C0-8A2D-1D61939880F8}" dt="2024-10-30T09:45:22.003" v="89" actId="1036"/>
          <ac:spMkLst>
            <pc:docMk/>
            <pc:sldMk cId="0" sldId="472"/>
            <ac:spMk id="624645" creationId="{3A1CCB40-6A21-484C-9916-1AF6CF284E73}"/>
          </ac:spMkLst>
        </pc:spChg>
        <pc:picChg chg="mod">
          <ac:chgData name="MingyuXiao" userId="86e03c77-53a3-454b-af0c-e096b7b7ab83" providerId="ADAL" clId="{AB04D1A2-FC1F-44C0-8A2D-1D61939880F8}" dt="2024-10-30T09:45:22.003" v="89" actId="1036"/>
          <ac:picMkLst>
            <pc:docMk/>
            <pc:sldMk cId="0" sldId="472"/>
            <ac:picMk id="624644" creationId="{C4451294-AF03-4956-B32D-066F53FD398D}"/>
          </ac:picMkLst>
        </pc:picChg>
      </pc:sldChg>
      <pc:sldChg chg="modSp mod modAnim">
        <pc:chgData name="MingyuXiao" userId="86e03c77-53a3-454b-af0c-e096b7b7ab83" providerId="ADAL" clId="{AB04D1A2-FC1F-44C0-8A2D-1D61939880F8}" dt="2024-10-30T10:12:32.245" v="206" actId="207"/>
        <pc:sldMkLst>
          <pc:docMk/>
          <pc:sldMk cId="0" sldId="473"/>
        </pc:sldMkLst>
        <pc:spChg chg="mod">
          <ac:chgData name="MingyuXiao" userId="86e03c77-53a3-454b-af0c-e096b7b7ab83" providerId="ADAL" clId="{AB04D1A2-FC1F-44C0-8A2D-1D61939880F8}" dt="2024-10-30T10:12:32.245" v="206" actId="207"/>
          <ac:spMkLst>
            <pc:docMk/>
            <pc:sldMk cId="0" sldId="473"/>
            <ac:spMk id="625668" creationId="{F02E2E4D-8806-4185-BB83-68A8DDD4A50D}"/>
          </ac:spMkLst>
        </pc:spChg>
        <pc:spChg chg="mod">
          <ac:chgData name="MingyuXiao" userId="86e03c77-53a3-454b-af0c-e096b7b7ab83" providerId="ADAL" clId="{AB04D1A2-FC1F-44C0-8A2D-1D61939880F8}" dt="2024-10-30T10:11:16.220" v="189" actId="20577"/>
          <ac:spMkLst>
            <pc:docMk/>
            <pc:sldMk cId="0" sldId="473"/>
            <ac:spMk id="625669" creationId="{2A53C11E-B0A3-4E50-BEEB-BEF113DCD77E}"/>
          </ac:spMkLst>
        </pc:spChg>
      </pc:sldChg>
      <pc:sldChg chg="delSp modSp add mod delAnim modAnim">
        <pc:chgData name="MingyuXiao" userId="86e03c77-53a3-454b-af0c-e096b7b7ab83" providerId="ADAL" clId="{AB04D1A2-FC1F-44C0-8A2D-1D61939880F8}" dt="2024-10-30T10:21:06.907" v="456" actId="207"/>
        <pc:sldMkLst>
          <pc:docMk/>
          <pc:sldMk cId="1592537922" sldId="481"/>
        </pc:sldMkLst>
        <pc:spChg chg="mod">
          <ac:chgData name="MingyuXiao" userId="86e03c77-53a3-454b-af0c-e096b7b7ab83" providerId="ADAL" clId="{AB04D1A2-FC1F-44C0-8A2D-1D61939880F8}" dt="2024-10-30T10:21:06.907" v="456" actId="207"/>
          <ac:spMkLst>
            <pc:docMk/>
            <pc:sldMk cId="1592537922" sldId="481"/>
            <ac:spMk id="625667" creationId="{758EDC69-321D-4BE6-8456-ED197BE7818D}"/>
          </ac:spMkLst>
        </pc:spChg>
        <pc:spChg chg="del">
          <ac:chgData name="MingyuXiao" userId="86e03c77-53a3-454b-af0c-e096b7b7ab83" providerId="ADAL" clId="{AB04D1A2-FC1F-44C0-8A2D-1D61939880F8}" dt="2024-10-30T10:13:38.766" v="208" actId="478"/>
          <ac:spMkLst>
            <pc:docMk/>
            <pc:sldMk cId="1592537922" sldId="481"/>
            <ac:spMk id="625668" creationId="{F02E2E4D-8806-4185-BB83-68A8DDD4A50D}"/>
          </ac:spMkLst>
        </pc:spChg>
        <pc:spChg chg="del">
          <ac:chgData name="MingyuXiao" userId="86e03c77-53a3-454b-af0c-e096b7b7ab83" providerId="ADAL" clId="{AB04D1A2-FC1F-44C0-8A2D-1D61939880F8}" dt="2024-10-30T10:14:06.088" v="229" actId="478"/>
          <ac:spMkLst>
            <pc:docMk/>
            <pc:sldMk cId="1592537922" sldId="481"/>
            <ac:spMk id="625669" creationId="{2A53C11E-B0A3-4E50-BEEB-BEF113DCD77E}"/>
          </ac:spMkLst>
        </pc:spChg>
      </pc:sldChg>
    </pc:docChg>
  </pc:docChgLst>
  <pc:docChgLst>
    <pc:chgData name="MingyuXiao" userId="86e03c77-53a3-454b-af0c-e096b7b7ab83" providerId="ADAL" clId="{61C6EC0F-0422-4CF7-8577-67A3A74B611B}"/>
    <pc:docChg chg="modSld">
      <pc:chgData name="MingyuXiao" userId="86e03c77-53a3-454b-af0c-e096b7b7ab83" providerId="ADAL" clId="{61C6EC0F-0422-4CF7-8577-67A3A74B611B}" dt="2025-10-16T07:59:08.655" v="90"/>
      <pc:docMkLst>
        <pc:docMk/>
      </pc:docMkLst>
      <pc:sldChg chg="modSp mod">
        <pc:chgData name="MingyuXiao" userId="86e03c77-53a3-454b-af0c-e096b7b7ab83" providerId="ADAL" clId="{61C6EC0F-0422-4CF7-8577-67A3A74B611B}" dt="2025-10-16T07:59:08.655" v="90"/>
        <pc:sldMkLst>
          <pc:docMk/>
          <pc:sldMk cId="0" sldId="423"/>
        </pc:sldMkLst>
        <pc:spChg chg="mod">
          <ac:chgData name="MingyuXiao" userId="86e03c77-53a3-454b-af0c-e096b7b7ab83" providerId="ADAL" clId="{61C6EC0F-0422-4CF7-8577-67A3A74B611B}" dt="2025-10-16T07:59:08.655" v="90"/>
          <ac:spMkLst>
            <pc:docMk/>
            <pc:sldMk cId="0" sldId="423"/>
            <ac:spMk id="2" creationId="{F7A8E0F1-DF1D-4141-8D9A-0D2C68033FAC}"/>
          </ac:spMkLst>
        </pc:spChg>
      </pc:sldChg>
    </pc:docChg>
  </pc:docChgLst>
  <pc:docChgLst>
    <pc:chgData name="MingyuXiao" userId="86e03c77-53a3-454b-af0c-e096b7b7ab83" providerId="ADAL" clId="{6A0CCC7A-4670-4186-9E05-C006320955C4}"/>
    <pc:docChg chg="undo custSel modSld">
      <pc:chgData name="MingyuXiao" userId="86e03c77-53a3-454b-af0c-e096b7b7ab83" providerId="ADAL" clId="{6A0CCC7A-4670-4186-9E05-C006320955C4}" dt="2025-12-18T02:04:55.401" v="30" actId="20577"/>
      <pc:docMkLst>
        <pc:docMk/>
      </pc:docMkLst>
      <pc:sldChg chg="modSp mod">
        <pc:chgData name="MingyuXiao" userId="86e03c77-53a3-454b-af0c-e096b7b7ab83" providerId="ADAL" clId="{6A0CCC7A-4670-4186-9E05-C006320955C4}" dt="2025-12-18T02:02:03.788" v="26" actId="20577"/>
        <pc:sldMkLst>
          <pc:docMk/>
          <pc:sldMk cId="0" sldId="471"/>
        </pc:sldMkLst>
        <pc:spChg chg="mod">
          <ac:chgData name="MingyuXiao" userId="86e03c77-53a3-454b-af0c-e096b7b7ab83" providerId="ADAL" clId="{6A0CCC7A-4670-4186-9E05-C006320955C4}" dt="2025-12-18T02:02:03.788" v="26" actId="20577"/>
          <ac:spMkLst>
            <pc:docMk/>
            <pc:sldMk cId="0" sldId="471"/>
            <ac:spMk id="9" creationId="{7EC546A7-A6A0-4E3A-8476-8855BB9024C8}"/>
          </ac:spMkLst>
        </pc:spChg>
      </pc:sldChg>
      <pc:sldChg chg="modSp">
        <pc:chgData name="MingyuXiao" userId="86e03c77-53a3-454b-af0c-e096b7b7ab83" providerId="ADAL" clId="{6A0CCC7A-4670-4186-9E05-C006320955C4}" dt="2025-12-18T02:04:55.401" v="30" actId="20577"/>
        <pc:sldMkLst>
          <pc:docMk/>
          <pc:sldMk cId="0" sldId="473"/>
        </pc:sldMkLst>
        <pc:spChg chg="mod">
          <ac:chgData name="MingyuXiao" userId="86e03c77-53a3-454b-af0c-e096b7b7ab83" providerId="ADAL" clId="{6A0CCC7A-4670-4186-9E05-C006320955C4}" dt="2025-12-18T02:04:55.401" v="30" actId="20577"/>
          <ac:spMkLst>
            <pc:docMk/>
            <pc:sldMk cId="0" sldId="473"/>
            <ac:spMk id="625669" creationId="{2A53C11E-B0A3-4E50-BEEB-BEF113DCD7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0AEB084-3FDF-4409-91AB-46061769BC86}"/>
              </a:ext>
            </a:extLst>
          </p:cNvPr>
          <p:cNvSpPr>
            <a:spLocks noGrp="1" noChangeArrowheads="1"/>
          </p:cNvSpPr>
          <p:nvPr>
            <p:ph type="hdr" sz="quarter"/>
          </p:nvPr>
        </p:nvSpPr>
        <p:spPr bwMode="auto">
          <a:xfrm>
            <a:off x="0" y="0"/>
            <a:ext cx="2879725" cy="487363"/>
          </a:xfrm>
          <a:prstGeom prst="rect">
            <a:avLst/>
          </a:prstGeom>
          <a:noFill/>
          <a:ln w="9525">
            <a:noFill/>
            <a:miter lim="800000"/>
            <a:headEnd/>
            <a:tailEnd/>
          </a:ln>
          <a:effectLst/>
        </p:spPr>
        <p:txBody>
          <a:bodyPr vert="horz" wrap="square" lIns="90324" tIns="45162" rIns="90324" bIns="45162" numCol="1" anchor="t" anchorCtr="0" compatLnSpc="1">
            <a:prstTxWarp prst="textNoShape">
              <a:avLst/>
            </a:prstTxWarp>
          </a:bodyPr>
          <a:lstStyle>
            <a:lvl1pPr defTabSz="903288" eaLnBrk="1" hangingPunct="1">
              <a:defRPr sz="1200">
                <a:solidFill>
                  <a:schemeClr val="tx1"/>
                </a:solidFill>
                <a:latin typeface="Times New Roman" pitchFamily="18" charset="0"/>
              </a:defRPr>
            </a:lvl1pPr>
          </a:lstStyle>
          <a:p>
            <a:pPr>
              <a:defRPr/>
            </a:pPr>
            <a:endParaRPr lang="zh-CN" altLang="en-US"/>
          </a:p>
        </p:txBody>
      </p:sp>
      <p:sp>
        <p:nvSpPr>
          <p:cNvPr id="2051" name="Rectangle 3">
            <a:extLst>
              <a:ext uri="{FF2B5EF4-FFF2-40B4-BE49-F238E27FC236}">
                <a16:creationId xmlns:a16="http://schemas.microsoft.com/office/drawing/2014/main" id="{A3071623-CB58-44E9-844B-74F9081DCA85}"/>
              </a:ext>
            </a:extLst>
          </p:cNvPr>
          <p:cNvSpPr>
            <a:spLocks noGrp="1" noChangeArrowheads="1"/>
          </p:cNvSpPr>
          <p:nvPr>
            <p:ph type="dt" idx="1"/>
          </p:nvPr>
        </p:nvSpPr>
        <p:spPr bwMode="auto">
          <a:xfrm>
            <a:off x="3763963" y="0"/>
            <a:ext cx="2879725" cy="487363"/>
          </a:xfrm>
          <a:prstGeom prst="rect">
            <a:avLst/>
          </a:prstGeom>
          <a:noFill/>
          <a:ln w="9525">
            <a:noFill/>
            <a:miter lim="800000"/>
            <a:headEnd/>
            <a:tailEnd/>
          </a:ln>
          <a:effectLst/>
        </p:spPr>
        <p:txBody>
          <a:bodyPr vert="horz" wrap="square" lIns="90324" tIns="45162" rIns="90324" bIns="45162" numCol="1" anchor="t" anchorCtr="0" compatLnSpc="1">
            <a:prstTxWarp prst="textNoShape">
              <a:avLst/>
            </a:prstTxWarp>
          </a:bodyPr>
          <a:lstStyle>
            <a:lvl1pPr algn="r" defTabSz="903288" eaLnBrk="1" hangingPunct="1">
              <a:defRPr sz="1200">
                <a:solidFill>
                  <a:schemeClr val="tx1"/>
                </a:solidFill>
                <a:latin typeface="Times New Roman" pitchFamily="18" charset="0"/>
              </a:defRPr>
            </a:lvl1pPr>
          </a:lstStyle>
          <a:p>
            <a:pPr>
              <a:defRPr/>
            </a:pPr>
            <a:endParaRPr lang="en-US"/>
          </a:p>
        </p:txBody>
      </p:sp>
      <p:sp>
        <p:nvSpPr>
          <p:cNvPr id="3076" name="Rectangle 4">
            <a:extLst>
              <a:ext uri="{FF2B5EF4-FFF2-40B4-BE49-F238E27FC236}">
                <a16:creationId xmlns:a16="http://schemas.microsoft.com/office/drawing/2014/main" id="{3F98F829-FECA-436E-AE9F-B0993F7256BC}"/>
              </a:ext>
            </a:extLst>
          </p:cNvPr>
          <p:cNvSpPr>
            <a:spLocks noGrp="1" noRot="1" noChangeAspect="1" noChangeArrowheads="1"/>
          </p:cNvSpPr>
          <p:nvPr>
            <p:ph type="sldImg" idx="2"/>
          </p:nvPr>
        </p:nvSpPr>
        <p:spPr bwMode="auto">
          <a:xfrm>
            <a:off x="881063" y="735013"/>
            <a:ext cx="4884737"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D1D88BCA-4AB7-487A-B31C-8D10EBA31B57}"/>
              </a:ext>
            </a:extLst>
          </p:cNvPr>
          <p:cNvSpPr>
            <a:spLocks noGrp="1" noRot="1" noChangeArrowheads="1"/>
          </p:cNvSpPr>
          <p:nvPr>
            <p:ph type="body" sz="quarter" idx="3"/>
          </p:nvPr>
        </p:nvSpPr>
        <p:spPr bwMode="auto">
          <a:xfrm>
            <a:off x="665163" y="4643438"/>
            <a:ext cx="5314950" cy="4398962"/>
          </a:xfrm>
          <a:prstGeom prst="rect">
            <a:avLst/>
          </a:prstGeom>
          <a:noFill/>
          <a:ln w="9525">
            <a:noFill/>
            <a:miter lim="800000"/>
            <a:headEnd/>
            <a:tailEnd/>
          </a:ln>
          <a:effectLst/>
        </p:spPr>
        <p:txBody>
          <a:bodyPr vert="horz" wrap="square" lIns="90324" tIns="45162" rIns="90324" bIns="45162"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CD8D9F75-F951-4902-88D0-4EBA18322856}"/>
              </a:ext>
            </a:extLst>
          </p:cNvPr>
          <p:cNvSpPr>
            <a:spLocks noGrp="1" noChangeArrowheads="1"/>
          </p:cNvSpPr>
          <p:nvPr>
            <p:ph type="ftr" sz="quarter" idx="4"/>
          </p:nvPr>
        </p:nvSpPr>
        <p:spPr bwMode="auto">
          <a:xfrm>
            <a:off x="0" y="9288463"/>
            <a:ext cx="2879725" cy="487362"/>
          </a:xfrm>
          <a:prstGeom prst="rect">
            <a:avLst/>
          </a:prstGeom>
          <a:noFill/>
          <a:ln w="9525">
            <a:noFill/>
            <a:miter lim="800000"/>
            <a:headEnd/>
            <a:tailEnd/>
          </a:ln>
          <a:effectLst/>
        </p:spPr>
        <p:txBody>
          <a:bodyPr vert="horz" wrap="square" lIns="90324" tIns="45162" rIns="90324" bIns="45162" numCol="1" anchor="b" anchorCtr="0" compatLnSpc="1">
            <a:prstTxWarp prst="textNoShape">
              <a:avLst/>
            </a:prstTxWarp>
          </a:bodyPr>
          <a:lstStyle>
            <a:lvl1pPr defTabSz="903288" eaLnBrk="1" hangingPunct="1">
              <a:defRPr sz="1200">
                <a:solidFill>
                  <a:schemeClr val="tx1"/>
                </a:solidFill>
                <a:latin typeface="Times New Roman" pitchFamily="18" charset="0"/>
              </a:defRPr>
            </a:lvl1pPr>
          </a:lstStyle>
          <a:p>
            <a:pPr>
              <a:defRPr/>
            </a:pPr>
            <a:endParaRPr lang="en-US"/>
          </a:p>
        </p:txBody>
      </p:sp>
      <p:sp>
        <p:nvSpPr>
          <p:cNvPr id="2055" name="Rectangle 7">
            <a:extLst>
              <a:ext uri="{FF2B5EF4-FFF2-40B4-BE49-F238E27FC236}">
                <a16:creationId xmlns:a16="http://schemas.microsoft.com/office/drawing/2014/main" id="{3E5D561E-0B01-4D78-A784-C0D2130CAE17}"/>
              </a:ext>
            </a:extLst>
          </p:cNvPr>
          <p:cNvSpPr>
            <a:spLocks noGrp="1" noChangeArrowheads="1"/>
          </p:cNvSpPr>
          <p:nvPr>
            <p:ph type="sldNum" sz="quarter" idx="5"/>
          </p:nvPr>
        </p:nvSpPr>
        <p:spPr bwMode="auto">
          <a:xfrm>
            <a:off x="3763963" y="9288463"/>
            <a:ext cx="2879725" cy="487362"/>
          </a:xfrm>
          <a:prstGeom prst="rect">
            <a:avLst/>
          </a:prstGeom>
          <a:noFill/>
          <a:ln w="9525">
            <a:noFill/>
            <a:miter lim="800000"/>
            <a:headEnd/>
            <a:tailEnd/>
          </a:ln>
          <a:effectLst/>
        </p:spPr>
        <p:txBody>
          <a:bodyPr vert="horz" wrap="square" lIns="90324" tIns="45162" rIns="90324" bIns="45162" numCol="1" anchor="b" anchorCtr="0" compatLnSpc="1">
            <a:prstTxWarp prst="textNoShape">
              <a:avLst/>
            </a:prstTxWarp>
          </a:bodyPr>
          <a:lstStyle>
            <a:lvl1pPr algn="r" defTabSz="903288" eaLnBrk="1" hangingPunct="1">
              <a:defRPr sz="1200">
                <a:solidFill>
                  <a:schemeClr val="tx1"/>
                </a:solidFill>
                <a:latin typeface="Times New Roman" panose="02020603050405020304" pitchFamily="18" charset="0"/>
              </a:defRPr>
            </a:lvl1pPr>
          </a:lstStyle>
          <a:p>
            <a:pPr>
              <a:defRPr/>
            </a:pPr>
            <a:fld id="{1966DC34-A0F0-4E3B-ADAA-4898DD71C57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EE02D539-3E81-4A18-B46A-1B0F2B929CC5}"/>
              </a:ext>
            </a:extLst>
          </p:cNvPr>
          <p:cNvSpPr>
            <a:spLocks noGrp="1" noRot="1" noChangeAspect="1" noChangeArrowheads="1" noTextEdit="1"/>
          </p:cNvSpPr>
          <p:nvPr>
            <p:ph type="sldImg"/>
          </p:nvPr>
        </p:nvSpPr>
        <p:spPr/>
      </p:sp>
      <p:sp>
        <p:nvSpPr>
          <p:cNvPr id="52227" name="备注占位符 2">
            <a:extLst>
              <a:ext uri="{FF2B5EF4-FFF2-40B4-BE49-F238E27FC236}">
                <a16:creationId xmlns:a16="http://schemas.microsoft.com/office/drawing/2014/main" id="{FEEB7F08-D33B-4056-8891-0E9FD913AF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8" name="灯片编号占位符 3">
            <a:extLst>
              <a:ext uri="{FF2B5EF4-FFF2-40B4-BE49-F238E27FC236}">
                <a16:creationId xmlns:a16="http://schemas.microsoft.com/office/drawing/2014/main" id="{22763E85-C7CD-41C1-80E0-7D88ABDB8A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1600">
                <a:solidFill>
                  <a:srgbClr val="0000FF"/>
                </a:solidFill>
                <a:latin typeface="Helvetica" panose="020B0604020202020204" pitchFamily="34" charset="0"/>
                <a:ea typeface="宋体" panose="02010600030101010101" pitchFamily="2" charset="-122"/>
              </a:defRPr>
            </a:lvl1pPr>
            <a:lvl2pPr marL="742950" indent="-285750" defTabSz="903288">
              <a:defRPr sz="1600">
                <a:solidFill>
                  <a:srgbClr val="0000FF"/>
                </a:solidFill>
                <a:latin typeface="Helvetica" panose="020B0604020202020204" pitchFamily="34" charset="0"/>
                <a:ea typeface="宋体" panose="02010600030101010101" pitchFamily="2" charset="-122"/>
              </a:defRPr>
            </a:lvl2pPr>
            <a:lvl3pPr marL="1143000" indent="-228600" defTabSz="903288">
              <a:defRPr sz="1600">
                <a:solidFill>
                  <a:srgbClr val="0000FF"/>
                </a:solidFill>
                <a:latin typeface="Helvetica" panose="020B0604020202020204" pitchFamily="34" charset="0"/>
                <a:ea typeface="宋体" panose="02010600030101010101" pitchFamily="2" charset="-122"/>
              </a:defRPr>
            </a:lvl3pPr>
            <a:lvl4pPr marL="1600200" indent="-228600" defTabSz="903288">
              <a:defRPr sz="1600">
                <a:solidFill>
                  <a:srgbClr val="0000FF"/>
                </a:solidFill>
                <a:latin typeface="Helvetica" panose="020B0604020202020204" pitchFamily="34" charset="0"/>
                <a:ea typeface="宋体" panose="02010600030101010101" pitchFamily="2" charset="-122"/>
              </a:defRPr>
            </a:lvl4pPr>
            <a:lvl5pPr marL="2057400" indent="-228600" defTabSz="903288">
              <a:defRPr sz="1600">
                <a:solidFill>
                  <a:srgbClr val="0000FF"/>
                </a:solidFill>
                <a:latin typeface="Helvetica" panose="020B0604020202020204" pitchFamily="34" charset="0"/>
                <a:ea typeface="宋体" panose="02010600030101010101" pitchFamily="2" charset="-122"/>
              </a:defRPr>
            </a:lvl5pPr>
            <a:lvl6pPr marL="2514600" indent="-228600" defTabSz="903288"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defTabSz="903288"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defTabSz="903288"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defTabSz="903288"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fld id="{B9C837C6-60EE-4883-ADD1-DB0F2641AFAB}" type="slidenum">
              <a:rPr lang="zh-CN" altLang="en-US" sz="1200" smtClean="0">
                <a:solidFill>
                  <a:schemeClr val="tx1"/>
                </a:solidFill>
                <a:latin typeface="Times New Roman" panose="02020603050405020304" pitchFamily="18" charset="0"/>
              </a:rPr>
              <a:pPr/>
              <a:t>48</a:t>
            </a:fld>
            <a:endParaRPr lang="en-US" altLang="zh-CN" sz="1200">
              <a:solidFill>
                <a:schemeClr val="tx1"/>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3">
            <a:extLst>
              <a:ext uri="{FF2B5EF4-FFF2-40B4-BE49-F238E27FC236}">
                <a16:creationId xmlns:a16="http://schemas.microsoft.com/office/drawing/2014/main" id="{5B888FDE-1DE5-4468-BF8B-3ACB140D0F1D}"/>
              </a:ext>
            </a:extLst>
          </p:cNvPr>
          <p:cNvSpPr>
            <a:spLocks noGrp="1" noChangeArrowheads="1"/>
          </p:cNvSpPr>
          <p:nvPr>
            <p:ph type="dt" sz="half" idx="10"/>
          </p:nvPr>
        </p:nvSpPr>
        <p:spPr>
          <a:ln/>
        </p:spPr>
        <p:txBody>
          <a:bodyPr/>
          <a:lstStyle>
            <a:lvl1pPr>
              <a:defRPr/>
            </a:lvl1pPr>
          </a:lstStyle>
          <a:p>
            <a:pPr>
              <a:defRPr/>
            </a:pPr>
            <a:fld id="{36A6E991-485D-4215-8B41-BD1C8818DBEF}" type="datetime1">
              <a:rPr lang="zh-CN" altLang="en-US"/>
              <a:pPr>
                <a:defRPr/>
              </a:pPr>
              <a:t>2025/12/18</a:t>
            </a:fld>
            <a:endParaRPr lang="en-US"/>
          </a:p>
        </p:txBody>
      </p:sp>
      <p:sp>
        <p:nvSpPr>
          <p:cNvPr id="5" name="Rectangle 4">
            <a:extLst>
              <a:ext uri="{FF2B5EF4-FFF2-40B4-BE49-F238E27FC236}">
                <a16:creationId xmlns:a16="http://schemas.microsoft.com/office/drawing/2014/main" id="{93EBAA28-8974-40FE-AFE3-3736208BA3D2}"/>
              </a:ext>
            </a:extLst>
          </p:cNvPr>
          <p:cNvSpPr>
            <a:spLocks noGrp="1" noChangeArrowheads="1"/>
          </p:cNvSpPr>
          <p:nvPr>
            <p:ph type="sldNum" sz="quarter" idx="11"/>
          </p:nvPr>
        </p:nvSpPr>
        <p:spPr>
          <a:ln/>
        </p:spPr>
        <p:txBody>
          <a:bodyPr/>
          <a:lstStyle>
            <a:lvl1pPr>
              <a:defRPr/>
            </a:lvl1pPr>
          </a:lstStyle>
          <a:p>
            <a:pPr>
              <a:defRPr/>
            </a:pPr>
            <a:r>
              <a:rPr lang="zh-CN" altLang="en-US"/>
              <a:t>第</a:t>
            </a:r>
            <a:fld id="{31DF4DF5-0803-43E2-AB5D-1BAA90611DEB}" type="slidenum">
              <a:rPr lang="zh-CN" altLang="en-US" smtClean="0"/>
              <a:pPr>
                <a:defRPr/>
              </a:pPr>
              <a:t>‹#›</a:t>
            </a:fld>
            <a:r>
              <a:rPr lang="zh-CN" altLang="en-US"/>
              <a:t>页</a:t>
            </a:r>
          </a:p>
        </p:txBody>
      </p:sp>
    </p:spTree>
    <p:extLst>
      <p:ext uri="{BB962C8B-B14F-4D97-AF65-F5344CB8AC3E}">
        <p14:creationId xmlns:p14="http://schemas.microsoft.com/office/powerpoint/2010/main" val="439951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a:extLst>
              <a:ext uri="{FF2B5EF4-FFF2-40B4-BE49-F238E27FC236}">
                <a16:creationId xmlns:a16="http://schemas.microsoft.com/office/drawing/2014/main" id="{82B7E2F4-397E-4BBD-A143-D59AF3F4F7E3}"/>
              </a:ext>
            </a:extLst>
          </p:cNvPr>
          <p:cNvSpPr>
            <a:spLocks noGrp="1" noChangeArrowheads="1"/>
          </p:cNvSpPr>
          <p:nvPr>
            <p:ph type="dt" sz="half" idx="10"/>
          </p:nvPr>
        </p:nvSpPr>
        <p:spPr>
          <a:ln/>
        </p:spPr>
        <p:txBody>
          <a:bodyPr/>
          <a:lstStyle>
            <a:lvl1pPr>
              <a:defRPr/>
            </a:lvl1pPr>
          </a:lstStyle>
          <a:p>
            <a:pPr>
              <a:defRPr/>
            </a:pPr>
            <a:fld id="{FF23525F-2AC8-4596-8852-63E1A6ED4CF8}" type="datetime1">
              <a:rPr lang="zh-CN" altLang="en-US"/>
              <a:pPr>
                <a:defRPr/>
              </a:pPr>
              <a:t>2025/12/18</a:t>
            </a:fld>
            <a:endParaRPr lang="en-US"/>
          </a:p>
        </p:txBody>
      </p:sp>
      <p:sp>
        <p:nvSpPr>
          <p:cNvPr id="5" name="Rectangle 4">
            <a:extLst>
              <a:ext uri="{FF2B5EF4-FFF2-40B4-BE49-F238E27FC236}">
                <a16:creationId xmlns:a16="http://schemas.microsoft.com/office/drawing/2014/main" id="{9229A3AA-20AB-41F5-9850-885FEB193DB5}"/>
              </a:ext>
            </a:extLst>
          </p:cNvPr>
          <p:cNvSpPr>
            <a:spLocks noGrp="1" noChangeArrowheads="1"/>
          </p:cNvSpPr>
          <p:nvPr>
            <p:ph type="sldNum" sz="quarter" idx="11"/>
          </p:nvPr>
        </p:nvSpPr>
        <p:spPr>
          <a:ln/>
        </p:spPr>
        <p:txBody>
          <a:bodyPr/>
          <a:lstStyle>
            <a:lvl1pPr>
              <a:defRPr/>
            </a:lvl1pPr>
          </a:lstStyle>
          <a:p>
            <a:pPr>
              <a:defRPr/>
            </a:pPr>
            <a:r>
              <a:rPr lang="zh-CN" altLang="en-US"/>
              <a:t>第</a:t>
            </a:r>
            <a:fld id="{D4508DC5-603A-4D18-97AA-D9ACECB9C355}" type="slidenum">
              <a:rPr lang="zh-CN" altLang="en-US" smtClean="0"/>
              <a:pPr>
                <a:defRPr/>
              </a:pPr>
              <a:t>‹#›</a:t>
            </a:fld>
            <a:r>
              <a:rPr lang="zh-CN" altLang="en-US"/>
              <a:t>页</a:t>
            </a:r>
          </a:p>
        </p:txBody>
      </p:sp>
    </p:spTree>
    <p:extLst>
      <p:ext uri="{BB962C8B-B14F-4D97-AF65-F5344CB8AC3E}">
        <p14:creationId xmlns:p14="http://schemas.microsoft.com/office/powerpoint/2010/main" val="2095106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
            <a:extLst>
              <a:ext uri="{FF2B5EF4-FFF2-40B4-BE49-F238E27FC236}">
                <a16:creationId xmlns:a16="http://schemas.microsoft.com/office/drawing/2014/main" id="{2679BCB0-FF21-472A-ADDA-D0DF4912E8CE}"/>
              </a:ext>
            </a:extLst>
          </p:cNvPr>
          <p:cNvSpPr>
            <a:spLocks noGrp="1" noChangeArrowheads="1"/>
          </p:cNvSpPr>
          <p:nvPr>
            <p:ph type="dt" sz="half" idx="10"/>
          </p:nvPr>
        </p:nvSpPr>
        <p:spPr>
          <a:ln/>
        </p:spPr>
        <p:txBody>
          <a:bodyPr/>
          <a:lstStyle>
            <a:lvl1pPr>
              <a:defRPr/>
            </a:lvl1pPr>
          </a:lstStyle>
          <a:p>
            <a:pPr>
              <a:defRPr/>
            </a:pPr>
            <a:fld id="{F433ECAE-9985-4055-BA00-DFD6C8C835A4}" type="datetime1">
              <a:rPr lang="zh-CN" altLang="en-US"/>
              <a:pPr>
                <a:defRPr/>
              </a:pPr>
              <a:t>2025/12/18</a:t>
            </a:fld>
            <a:endParaRPr lang="en-US"/>
          </a:p>
        </p:txBody>
      </p:sp>
      <p:sp>
        <p:nvSpPr>
          <p:cNvPr id="5" name="Rectangle 4">
            <a:extLst>
              <a:ext uri="{FF2B5EF4-FFF2-40B4-BE49-F238E27FC236}">
                <a16:creationId xmlns:a16="http://schemas.microsoft.com/office/drawing/2014/main" id="{0A26E7CA-4BD6-49D4-B83A-43832784A502}"/>
              </a:ext>
            </a:extLst>
          </p:cNvPr>
          <p:cNvSpPr>
            <a:spLocks noGrp="1" noChangeArrowheads="1"/>
          </p:cNvSpPr>
          <p:nvPr>
            <p:ph type="sldNum" sz="quarter" idx="11"/>
          </p:nvPr>
        </p:nvSpPr>
        <p:spPr>
          <a:ln/>
        </p:spPr>
        <p:txBody>
          <a:bodyPr/>
          <a:lstStyle>
            <a:lvl1pPr>
              <a:defRPr/>
            </a:lvl1pPr>
          </a:lstStyle>
          <a:p>
            <a:pPr>
              <a:defRPr/>
            </a:pPr>
            <a:r>
              <a:rPr lang="zh-CN" altLang="en-US"/>
              <a:t>第</a:t>
            </a:r>
            <a:fld id="{6915AFA7-EFCC-4EBB-9361-0B9F56FB7125}" type="slidenum">
              <a:rPr lang="zh-CN" altLang="en-US" smtClean="0"/>
              <a:pPr>
                <a:defRPr/>
              </a:pPr>
              <a:t>‹#›</a:t>
            </a:fld>
            <a:r>
              <a:rPr lang="zh-CN" altLang="en-US"/>
              <a:t>页</a:t>
            </a:r>
          </a:p>
        </p:txBody>
      </p:sp>
    </p:spTree>
    <p:extLst>
      <p:ext uri="{BB962C8B-B14F-4D97-AF65-F5344CB8AC3E}">
        <p14:creationId xmlns:p14="http://schemas.microsoft.com/office/powerpoint/2010/main" val="1175490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125538"/>
            <a:ext cx="4265612" cy="51260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97400" y="1125538"/>
            <a:ext cx="4267200" cy="51260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a:extLst>
              <a:ext uri="{FF2B5EF4-FFF2-40B4-BE49-F238E27FC236}">
                <a16:creationId xmlns:a16="http://schemas.microsoft.com/office/drawing/2014/main" id="{83749CA8-E82B-45A0-876B-25C3AD275E58}"/>
              </a:ext>
            </a:extLst>
          </p:cNvPr>
          <p:cNvSpPr>
            <a:spLocks noGrp="1" noChangeArrowheads="1"/>
          </p:cNvSpPr>
          <p:nvPr>
            <p:ph type="dt" sz="half" idx="10"/>
          </p:nvPr>
        </p:nvSpPr>
        <p:spPr>
          <a:ln/>
        </p:spPr>
        <p:txBody>
          <a:bodyPr/>
          <a:lstStyle>
            <a:lvl1pPr>
              <a:defRPr/>
            </a:lvl1pPr>
          </a:lstStyle>
          <a:p>
            <a:pPr>
              <a:defRPr/>
            </a:pPr>
            <a:fld id="{D2951591-DB8E-4215-81A1-97713C6FAC5A}" type="datetime1">
              <a:rPr lang="zh-CN" altLang="en-US"/>
              <a:pPr>
                <a:defRPr/>
              </a:pPr>
              <a:t>2025/12/18</a:t>
            </a:fld>
            <a:endParaRPr lang="en-US"/>
          </a:p>
        </p:txBody>
      </p:sp>
      <p:sp>
        <p:nvSpPr>
          <p:cNvPr id="6" name="Rectangle 4">
            <a:extLst>
              <a:ext uri="{FF2B5EF4-FFF2-40B4-BE49-F238E27FC236}">
                <a16:creationId xmlns:a16="http://schemas.microsoft.com/office/drawing/2014/main" id="{6521016D-7977-4542-9BEC-65F3370A1A42}"/>
              </a:ext>
            </a:extLst>
          </p:cNvPr>
          <p:cNvSpPr>
            <a:spLocks noGrp="1" noChangeArrowheads="1"/>
          </p:cNvSpPr>
          <p:nvPr>
            <p:ph type="sldNum" sz="quarter" idx="11"/>
          </p:nvPr>
        </p:nvSpPr>
        <p:spPr>
          <a:ln/>
        </p:spPr>
        <p:txBody>
          <a:bodyPr/>
          <a:lstStyle>
            <a:lvl1pPr>
              <a:defRPr/>
            </a:lvl1pPr>
          </a:lstStyle>
          <a:p>
            <a:pPr>
              <a:defRPr/>
            </a:pPr>
            <a:r>
              <a:rPr lang="zh-CN" altLang="en-US"/>
              <a:t>第</a:t>
            </a:r>
            <a:fld id="{6FE75AB5-33DB-4B8A-B8B9-B98258819255}" type="slidenum">
              <a:rPr lang="zh-CN" altLang="en-US" smtClean="0"/>
              <a:pPr>
                <a:defRPr/>
              </a:pPr>
              <a:t>‹#›</a:t>
            </a:fld>
            <a:r>
              <a:rPr lang="zh-CN" altLang="en-US"/>
              <a:t>页</a:t>
            </a:r>
          </a:p>
        </p:txBody>
      </p:sp>
    </p:spTree>
    <p:extLst>
      <p:ext uri="{BB962C8B-B14F-4D97-AF65-F5344CB8AC3E}">
        <p14:creationId xmlns:p14="http://schemas.microsoft.com/office/powerpoint/2010/main" val="1829258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
            <a:extLst>
              <a:ext uri="{FF2B5EF4-FFF2-40B4-BE49-F238E27FC236}">
                <a16:creationId xmlns:a16="http://schemas.microsoft.com/office/drawing/2014/main" id="{D079B7F8-7DCA-45D4-B676-C08ECEBFA7E2}"/>
              </a:ext>
            </a:extLst>
          </p:cNvPr>
          <p:cNvSpPr>
            <a:spLocks noGrp="1" noChangeArrowheads="1"/>
          </p:cNvSpPr>
          <p:nvPr>
            <p:ph type="dt" sz="half" idx="10"/>
          </p:nvPr>
        </p:nvSpPr>
        <p:spPr>
          <a:ln/>
        </p:spPr>
        <p:txBody>
          <a:bodyPr/>
          <a:lstStyle>
            <a:lvl1pPr>
              <a:defRPr/>
            </a:lvl1pPr>
          </a:lstStyle>
          <a:p>
            <a:pPr>
              <a:defRPr/>
            </a:pPr>
            <a:fld id="{81E193B6-8D02-4F29-B299-E8BD2F3237D9}" type="datetime1">
              <a:rPr lang="zh-CN" altLang="en-US"/>
              <a:pPr>
                <a:defRPr/>
              </a:pPr>
              <a:t>2025/12/18</a:t>
            </a:fld>
            <a:endParaRPr lang="en-US"/>
          </a:p>
        </p:txBody>
      </p:sp>
      <p:sp>
        <p:nvSpPr>
          <p:cNvPr id="8" name="Rectangle 4">
            <a:extLst>
              <a:ext uri="{FF2B5EF4-FFF2-40B4-BE49-F238E27FC236}">
                <a16:creationId xmlns:a16="http://schemas.microsoft.com/office/drawing/2014/main" id="{898C44B6-E7C9-43E1-BE9C-88CA9011B5CC}"/>
              </a:ext>
            </a:extLst>
          </p:cNvPr>
          <p:cNvSpPr>
            <a:spLocks noGrp="1" noChangeArrowheads="1"/>
          </p:cNvSpPr>
          <p:nvPr>
            <p:ph type="sldNum" sz="quarter" idx="11"/>
          </p:nvPr>
        </p:nvSpPr>
        <p:spPr>
          <a:ln/>
        </p:spPr>
        <p:txBody>
          <a:bodyPr/>
          <a:lstStyle>
            <a:lvl1pPr>
              <a:defRPr/>
            </a:lvl1pPr>
          </a:lstStyle>
          <a:p>
            <a:pPr>
              <a:defRPr/>
            </a:pPr>
            <a:r>
              <a:rPr lang="zh-CN" altLang="en-US"/>
              <a:t>第</a:t>
            </a:r>
            <a:fld id="{393FBAC4-E856-4E1D-814B-754208E65E7B}" type="slidenum">
              <a:rPr lang="zh-CN" altLang="en-US" smtClean="0"/>
              <a:pPr>
                <a:defRPr/>
              </a:pPr>
              <a:t>‹#›</a:t>
            </a:fld>
            <a:r>
              <a:rPr lang="zh-CN" altLang="en-US"/>
              <a:t>页</a:t>
            </a:r>
          </a:p>
        </p:txBody>
      </p:sp>
    </p:spTree>
    <p:extLst>
      <p:ext uri="{BB962C8B-B14F-4D97-AF65-F5344CB8AC3E}">
        <p14:creationId xmlns:p14="http://schemas.microsoft.com/office/powerpoint/2010/main" val="181659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
            <a:extLst>
              <a:ext uri="{FF2B5EF4-FFF2-40B4-BE49-F238E27FC236}">
                <a16:creationId xmlns:a16="http://schemas.microsoft.com/office/drawing/2014/main" id="{A4A3D72D-960D-4CE4-8A96-51504573FF8B}"/>
              </a:ext>
            </a:extLst>
          </p:cNvPr>
          <p:cNvSpPr>
            <a:spLocks noGrp="1" noChangeArrowheads="1"/>
          </p:cNvSpPr>
          <p:nvPr>
            <p:ph type="dt" sz="half" idx="10"/>
          </p:nvPr>
        </p:nvSpPr>
        <p:spPr>
          <a:ln/>
        </p:spPr>
        <p:txBody>
          <a:bodyPr/>
          <a:lstStyle>
            <a:lvl1pPr>
              <a:defRPr/>
            </a:lvl1pPr>
          </a:lstStyle>
          <a:p>
            <a:pPr>
              <a:defRPr/>
            </a:pPr>
            <a:fld id="{50A60203-CEFD-4BB1-ABD2-E8D188C95093}" type="datetime1">
              <a:rPr lang="zh-CN" altLang="en-US"/>
              <a:pPr>
                <a:defRPr/>
              </a:pPr>
              <a:t>2025/12/18</a:t>
            </a:fld>
            <a:endParaRPr lang="en-US"/>
          </a:p>
        </p:txBody>
      </p:sp>
      <p:sp>
        <p:nvSpPr>
          <p:cNvPr id="4" name="Rectangle 4">
            <a:extLst>
              <a:ext uri="{FF2B5EF4-FFF2-40B4-BE49-F238E27FC236}">
                <a16:creationId xmlns:a16="http://schemas.microsoft.com/office/drawing/2014/main" id="{89A00E1A-3CEF-48E9-B9C0-D8CA1BA55BD7}"/>
              </a:ext>
            </a:extLst>
          </p:cNvPr>
          <p:cNvSpPr>
            <a:spLocks noGrp="1" noChangeArrowheads="1"/>
          </p:cNvSpPr>
          <p:nvPr>
            <p:ph type="sldNum" sz="quarter" idx="11"/>
          </p:nvPr>
        </p:nvSpPr>
        <p:spPr>
          <a:ln/>
        </p:spPr>
        <p:txBody>
          <a:bodyPr/>
          <a:lstStyle>
            <a:lvl1pPr>
              <a:defRPr/>
            </a:lvl1pPr>
          </a:lstStyle>
          <a:p>
            <a:pPr>
              <a:defRPr/>
            </a:pPr>
            <a:r>
              <a:rPr lang="zh-CN" altLang="en-US"/>
              <a:t>第</a:t>
            </a:r>
            <a:fld id="{596655F7-171E-4337-B575-17FF5F9276E6}" type="slidenum">
              <a:rPr lang="zh-CN" altLang="en-US" smtClean="0"/>
              <a:pPr>
                <a:defRPr/>
              </a:pPr>
              <a:t>‹#›</a:t>
            </a:fld>
            <a:r>
              <a:rPr lang="zh-CN" altLang="en-US"/>
              <a:t>页</a:t>
            </a:r>
          </a:p>
        </p:txBody>
      </p:sp>
    </p:spTree>
    <p:extLst>
      <p:ext uri="{BB962C8B-B14F-4D97-AF65-F5344CB8AC3E}">
        <p14:creationId xmlns:p14="http://schemas.microsoft.com/office/powerpoint/2010/main" val="316276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555ADF9-8660-42AD-9FA1-3F354E3EE4F6}"/>
              </a:ext>
            </a:extLst>
          </p:cNvPr>
          <p:cNvSpPr>
            <a:spLocks noGrp="1" noChangeArrowheads="1"/>
          </p:cNvSpPr>
          <p:nvPr>
            <p:ph type="dt" sz="half" idx="10"/>
          </p:nvPr>
        </p:nvSpPr>
        <p:spPr>
          <a:ln/>
        </p:spPr>
        <p:txBody>
          <a:bodyPr/>
          <a:lstStyle>
            <a:lvl1pPr>
              <a:defRPr/>
            </a:lvl1pPr>
          </a:lstStyle>
          <a:p>
            <a:pPr>
              <a:defRPr/>
            </a:pPr>
            <a:fld id="{03F0461C-02F4-433B-A17F-840F372D79E0}" type="datetime1">
              <a:rPr lang="zh-CN" altLang="en-US"/>
              <a:pPr>
                <a:defRPr/>
              </a:pPr>
              <a:t>2025/12/18</a:t>
            </a:fld>
            <a:endParaRPr lang="en-US"/>
          </a:p>
        </p:txBody>
      </p:sp>
      <p:sp>
        <p:nvSpPr>
          <p:cNvPr id="3" name="Rectangle 4">
            <a:extLst>
              <a:ext uri="{FF2B5EF4-FFF2-40B4-BE49-F238E27FC236}">
                <a16:creationId xmlns:a16="http://schemas.microsoft.com/office/drawing/2014/main" id="{519AE139-7631-4DD8-B04C-D51A80EE0EF6}"/>
              </a:ext>
            </a:extLst>
          </p:cNvPr>
          <p:cNvSpPr>
            <a:spLocks noGrp="1" noChangeArrowheads="1"/>
          </p:cNvSpPr>
          <p:nvPr>
            <p:ph type="sldNum" sz="quarter" idx="11"/>
          </p:nvPr>
        </p:nvSpPr>
        <p:spPr>
          <a:ln/>
        </p:spPr>
        <p:txBody>
          <a:bodyPr/>
          <a:lstStyle>
            <a:lvl1pPr>
              <a:defRPr/>
            </a:lvl1pPr>
          </a:lstStyle>
          <a:p>
            <a:pPr>
              <a:defRPr/>
            </a:pPr>
            <a:r>
              <a:rPr lang="zh-CN" altLang="en-US"/>
              <a:t>第</a:t>
            </a:r>
            <a:fld id="{121A7A84-BCCA-4A92-99D9-80356AE67F4E}" type="slidenum">
              <a:rPr lang="zh-CN" altLang="en-US" smtClean="0"/>
              <a:pPr>
                <a:defRPr/>
              </a:pPr>
              <a:t>‹#›</a:t>
            </a:fld>
            <a:r>
              <a:rPr lang="zh-CN" altLang="en-US"/>
              <a:t>页</a:t>
            </a:r>
          </a:p>
        </p:txBody>
      </p:sp>
    </p:spTree>
    <p:extLst>
      <p:ext uri="{BB962C8B-B14F-4D97-AF65-F5344CB8AC3E}">
        <p14:creationId xmlns:p14="http://schemas.microsoft.com/office/powerpoint/2010/main" val="2406276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a:extLst>
              <a:ext uri="{FF2B5EF4-FFF2-40B4-BE49-F238E27FC236}">
                <a16:creationId xmlns:a16="http://schemas.microsoft.com/office/drawing/2014/main" id="{090C05BD-B8E0-4EBA-A9E4-9DC79EA39F1D}"/>
              </a:ext>
            </a:extLst>
          </p:cNvPr>
          <p:cNvSpPr>
            <a:spLocks noGrp="1" noChangeArrowheads="1"/>
          </p:cNvSpPr>
          <p:nvPr>
            <p:ph type="dt" sz="half" idx="10"/>
          </p:nvPr>
        </p:nvSpPr>
        <p:spPr>
          <a:ln/>
        </p:spPr>
        <p:txBody>
          <a:bodyPr/>
          <a:lstStyle>
            <a:lvl1pPr>
              <a:defRPr/>
            </a:lvl1pPr>
          </a:lstStyle>
          <a:p>
            <a:pPr>
              <a:defRPr/>
            </a:pPr>
            <a:fld id="{41B4A344-A81D-4262-A816-DA85DB0E42C5}" type="datetime1">
              <a:rPr lang="zh-CN" altLang="en-US"/>
              <a:pPr>
                <a:defRPr/>
              </a:pPr>
              <a:t>2025/12/18</a:t>
            </a:fld>
            <a:endParaRPr lang="en-US"/>
          </a:p>
        </p:txBody>
      </p:sp>
      <p:sp>
        <p:nvSpPr>
          <p:cNvPr id="6" name="Rectangle 4">
            <a:extLst>
              <a:ext uri="{FF2B5EF4-FFF2-40B4-BE49-F238E27FC236}">
                <a16:creationId xmlns:a16="http://schemas.microsoft.com/office/drawing/2014/main" id="{585FD9C9-9EE3-4676-BDCE-B5AB97BFF132}"/>
              </a:ext>
            </a:extLst>
          </p:cNvPr>
          <p:cNvSpPr>
            <a:spLocks noGrp="1" noChangeArrowheads="1"/>
          </p:cNvSpPr>
          <p:nvPr>
            <p:ph type="sldNum" sz="quarter" idx="11"/>
          </p:nvPr>
        </p:nvSpPr>
        <p:spPr>
          <a:ln/>
        </p:spPr>
        <p:txBody>
          <a:bodyPr/>
          <a:lstStyle>
            <a:lvl1pPr>
              <a:defRPr/>
            </a:lvl1pPr>
          </a:lstStyle>
          <a:p>
            <a:pPr>
              <a:defRPr/>
            </a:pPr>
            <a:r>
              <a:rPr lang="zh-CN" altLang="en-US"/>
              <a:t>第</a:t>
            </a:r>
            <a:fld id="{3F1A823B-188B-4DE7-A153-030A2419ECE3}" type="slidenum">
              <a:rPr lang="zh-CN" altLang="en-US" smtClean="0"/>
              <a:pPr>
                <a:defRPr/>
              </a:pPr>
              <a:t>‹#›</a:t>
            </a:fld>
            <a:r>
              <a:rPr lang="zh-CN" altLang="en-US"/>
              <a:t>页</a:t>
            </a:r>
          </a:p>
        </p:txBody>
      </p:sp>
    </p:spTree>
    <p:extLst>
      <p:ext uri="{BB962C8B-B14F-4D97-AF65-F5344CB8AC3E}">
        <p14:creationId xmlns:p14="http://schemas.microsoft.com/office/powerpoint/2010/main" val="264306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a:extLst>
              <a:ext uri="{FF2B5EF4-FFF2-40B4-BE49-F238E27FC236}">
                <a16:creationId xmlns:a16="http://schemas.microsoft.com/office/drawing/2014/main" id="{E87E65A6-95F0-484D-9EA2-0A2DDDCA6E95}"/>
              </a:ext>
            </a:extLst>
          </p:cNvPr>
          <p:cNvSpPr>
            <a:spLocks noGrp="1" noChangeArrowheads="1"/>
          </p:cNvSpPr>
          <p:nvPr>
            <p:ph type="dt" sz="half" idx="10"/>
          </p:nvPr>
        </p:nvSpPr>
        <p:spPr>
          <a:ln/>
        </p:spPr>
        <p:txBody>
          <a:bodyPr/>
          <a:lstStyle>
            <a:lvl1pPr>
              <a:defRPr/>
            </a:lvl1pPr>
          </a:lstStyle>
          <a:p>
            <a:pPr>
              <a:defRPr/>
            </a:pPr>
            <a:fld id="{EF366AA1-420B-434F-A205-7BB7738F3850}" type="datetime1">
              <a:rPr lang="zh-CN" altLang="en-US"/>
              <a:pPr>
                <a:defRPr/>
              </a:pPr>
              <a:t>2025/12/18</a:t>
            </a:fld>
            <a:endParaRPr lang="en-US"/>
          </a:p>
        </p:txBody>
      </p:sp>
      <p:sp>
        <p:nvSpPr>
          <p:cNvPr id="6" name="Rectangle 4">
            <a:extLst>
              <a:ext uri="{FF2B5EF4-FFF2-40B4-BE49-F238E27FC236}">
                <a16:creationId xmlns:a16="http://schemas.microsoft.com/office/drawing/2014/main" id="{D0E4DF43-3782-4BDC-924C-FA4303C0CEBB}"/>
              </a:ext>
            </a:extLst>
          </p:cNvPr>
          <p:cNvSpPr>
            <a:spLocks noGrp="1" noChangeArrowheads="1"/>
          </p:cNvSpPr>
          <p:nvPr>
            <p:ph type="sldNum" sz="quarter" idx="11"/>
          </p:nvPr>
        </p:nvSpPr>
        <p:spPr>
          <a:ln/>
        </p:spPr>
        <p:txBody>
          <a:bodyPr/>
          <a:lstStyle>
            <a:lvl1pPr>
              <a:defRPr/>
            </a:lvl1pPr>
          </a:lstStyle>
          <a:p>
            <a:pPr>
              <a:defRPr/>
            </a:pPr>
            <a:r>
              <a:rPr lang="zh-CN" altLang="en-US"/>
              <a:t>第</a:t>
            </a:r>
            <a:fld id="{670618A5-3020-43EC-836D-B250F2BCDD0B}" type="slidenum">
              <a:rPr lang="zh-CN" altLang="en-US" smtClean="0"/>
              <a:pPr>
                <a:defRPr/>
              </a:pPr>
              <a:t>‹#›</a:t>
            </a:fld>
            <a:r>
              <a:rPr lang="zh-CN" altLang="en-US"/>
              <a:t>页</a:t>
            </a:r>
          </a:p>
        </p:txBody>
      </p:sp>
    </p:spTree>
    <p:extLst>
      <p:ext uri="{BB962C8B-B14F-4D97-AF65-F5344CB8AC3E}">
        <p14:creationId xmlns:p14="http://schemas.microsoft.com/office/powerpoint/2010/main" val="124251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a:extLst>
              <a:ext uri="{FF2B5EF4-FFF2-40B4-BE49-F238E27FC236}">
                <a16:creationId xmlns:a16="http://schemas.microsoft.com/office/drawing/2014/main" id="{940F3A0F-2AF0-4C2B-AC62-C1551ADAAAB4}"/>
              </a:ext>
            </a:extLst>
          </p:cNvPr>
          <p:cNvSpPr>
            <a:spLocks noGrp="1" noChangeArrowheads="1"/>
          </p:cNvSpPr>
          <p:nvPr>
            <p:ph type="dt" sz="half" idx="10"/>
          </p:nvPr>
        </p:nvSpPr>
        <p:spPr>
          <a:ln/>
        </p:spPr>
        <p:txBody>
          <a:bodyPr/>
          <a:lstStyle>
            <a:lvl1pPr>
              <a:defRPr/>
            </a:lvl1pPr>
          </a:lstStyle>
          <a:p>
            <a:pPr>
              <a:defRPr/>
            </a:pPr>
            <a:fld id="{3CBB52C6-C8D8-4D8D-87F8-E21A084D27E5}" type="datetime1">
              <a:rPr lang="zh-CN" altLang="en-US"/>
              <a:pPr>
                <a:defRPr/>
              </a:pPr>
              <a:t>2025/12/18</a:t>
            </a:fld>
            <a:endParaRPr lang="en-US"/>
          </a:p>
        </p:txBody>
      </p:sp>
      <p:sp>
        <p:nvSpPr>
          <p:cNvPr id="5" name="Rectangle 4">
            <a:extLst>
              <a:ext uri="{FF2B5EF4-FFF2-40B4-BE49-F238E27FC236}">
                <a16:creationId xmlns:a16="http://schemas.microsoft.com/office/drawing/2014/main" id="{CB5D5DA1-6DB7-4746-8063-6E8CCFE282CD}"/>
              </a:ext>
            </a:extLst>
          </p:cNvPr>
          <p:cNvSpPr>
            <a:spLocks noGrp="1" noChangeArrowheads="1"/>
          </p:cNvSpPr>
          <p:nvPr>
            <p:ph type="sldNum" sz="quarter" idx="11"/>
          </p:nvPr>
        </p:nvSpPr>
        <p:spPr>
          <a:ln/>
        </p:spPr>
        <p:txBody>
          <a:bodyPr/>
          <a:lstStyle>
            <a:lvl1pPr>
              <a:defRPr/>
            </a:lvl1pPr>
          </a:lstStyle>
          <a:p>
            <a:pPr>
              <a:defRPr/>
            </a:pPr>
            <a:r>
              <a:rPr lang="zh-CN" altLang="en-US"/>
              <a:t>第</a:t>
            </a:r>
            <a:fld id="{C154E6A0-ED45-435E-8139-677ED953BB56}" type="slidenum">
              <a:rPr lang="zh-CN" altLang="en-US" smtClean="0"/>
              <a:pPr>
                <a:defRPr/>
              </a:pPr>
              <a:t>‹#›</a:t>
            </a:fld>
            <a:r>
              <a:rPr lang="zh-CN" altLang="en-US"/>
              <a:t>页</a:t>
            </a:r>
          </a:p>
        </p:txBody>
      </p:sp>
    </p:spTree>
    <p:extLst>
      <p:ext uri="{BB962C8B-B14F-4D97-AF65-F5344CB8AC3E}">
        <p14:creationId xmlns:p14="http://schemas.microsoft.com/office/powerpoint/2010/main" val="2948680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94488" y="188913"/>
            <a:ext cx="2170112" cy="60626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88913"/>
            <a:ext cx="6362700" cy="60626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a:extLst>
              <a:ext uri="{FF2B5EF4-FFF2-40B4-BE49-F238E27FC236}">
                <a16:creationId xmlns:a16="http://schemas.microsoft.com/office/drawing/2014/main" id="{72C38249-1D66-4B45-8FB5-750CC3137C75}"/>
              </a:ext>
            </a:extLst>
          </p:cNvPr>
          <p:cNvSpPr>
            <a:spLocks noGrp="1" noChangeArrowheads="1"/>
          </p:cNvSpPr>
          <p:nvPr>
            <p:ph type="dt" sz="half" idx="10"/>
          </p:nvPr>
        </p:nvSpPr>
        <p:spPr>
          <a:ln/>
        </p:spPr>
        <p:txBody>
          <a:bodyPr/>
          <a:lstStyle>
            <a:lvl1pPr>
              <a:defRPr/>
            </a:lvl1pPr>
          </a:lstStyle>
          <a:p>
            <a:pPr>
              <a:defRPr/>
            </a:pPr>
            <a:fld id="{2375DB2B-CEEC-419B-BFD9-069D3BAE6B0B}" type="datetime1">
              <a:rPr lang="zh-CN" altLang="en-US"/>
              <a:pPr>
                <a:defRPr/>
              </a:pPr>
              <a:t>2025/12/18</a:t>
            </a:fld>
            <a:endParaRPr lang="en-US"/>
          </a:p>
        </p:txBody>
      </p:sp>
      <p:sp>
        <p:nvSpPr>
          <p:cNvPr id="5" name="Rectangle 4">
            <a:extLst>
              <a:ext uri="{FF2B5EF4-FFF2-40B4-BE49-F238E27FC236}">
                <a16:creationId xmlns:a16="http://schemas.microsoft.com/office/drawing/2014/main" id="{FDA663C0-840D-4A6C-89B7-0FC583847E18}"/>
              </a:ext>
            </a:extLst>
          </p:cNvPr>
          <p:cNvSpPr>
            <a:spLocks noGrp="1" noChangeArrowheads="1"/>
          </p:cNvSpPr>
          <p:nvPr>
            <p:ph type="sldNum" sz="quarter" idx="11"/>
          </p:nvPr>
        </p:nvSpPr>
        <p:spPr>
          <a:ln/>
        </p:spPr>
        <p:txBody>
          <a:bodyPr/>
          <a:lstStyle>
            <a:lvl1pPr>
              <a:defRPr/>
            </a:lvl1pPr>
          </a:lstStyle>
          <a:p>
            <a:pPr>
              <a:defRPr/>
            </a:pPr>
            <a:r>
              <a:rPr lang="zh-CN" altLang="en-US"/>
              <a:t>第</a:t>
            </a:r>
            <a:fld id="{FCE48356-3F48-465D-A1EC-F6F53B13E8AE}" type="slidenum">
              <a:rPr lang="zh-CN" altLang="en-US" smtClean="0"/>
              <a:pPr>
                <a:defRPr/>
              </a:pPr>
              <a:t>‹#›</a:t>
            </a:fld>
            <a:r>
              <a:rPr lang="zh-CN" altLang="en-US"/>
              <a:t>页</a:t>
            </a:r>
          </a:p>
        </p:txBody>
      </p:sp>
    </p:spTree>
    <p:extLst>
      <p:ext uri="{BB962C8B-B14F-4D97-AF65-F5344CB8AC3E}">
        <p14:creationId xmlns:p14="http://schemas.microsoft.com/office/powerpoint/2010/main" val="3298985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98488" y="188913"/>
            <a:ext cx="8077200" cy="609600"/>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125538"/>
            <a:ext cx="4265612" cy="5126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97400" y="1125538"/>
            <a:ext cx="4267200" cy="5126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a:extLst>
              <a:ext uri="{FF2B5EF4-FFF2-40B4-BE49-F238E27FC236}">
                <a16:creationId xmlns:a16="http://schemas.microsoft.com/office/drawing/2014/main" id="{BE1B3B84-1523-4CBB-A0AE-0B943D924354}"/>
              </a:ext>
            </a:extLst>
          </p:cNvPr>
          <p:cNvSpPr>
            <a:spLocks noGrp="1" noChangeArrowheads="1"/>
          </p:cNvSpPr>
          <p:nvPr>
            <p:ph type="dt" sz="half" idx="10"/>
          </p:nvPr>
        </p:nvSpPr>
        <p:spPr>
          <a:ln/>
        </p:spPr>
        <p:txBody>
          <a:bodyPr/>
          <a:lstStyle>
            <a:lvl1pPr>
              <a:defRPr/>
            </a:lvl1pPr>
          </a:lstStyle>
          <a:p>
            <a:pPr>
              <a:defRPr/>
            </a:pPr>
            <a:fld id="{EF70204F-8E9D-47FE-9944-0FADEFBDCC67}" type="datetime1">
              <a:rPr lang="zh-CN" altLang="en-US"/>
              <a:pPr>
                <a:defRPr/>
              </a:pPr>
              <a:t>2025/12/18</a:t>
            </a:fld>
            <a:endParaRPr lang="en-US"/>
          </a:p>
        </p:txBody>
      </p:sp>
      <p:sp>
        <p:nvSpPr>
          <p:cNvPr id="6" name="Rectangle 4">
            <a:extLst>
              <a:ext uri="{FF2B5EF4-FFF2-40B4-BE49-F238E27FC236}">
                <a16:creationId xmlns:a16="http://schemas.microsoft.com/office/drawing/2014/main" id="{252B010C-02F2-4945-A145-C836C616FB63}"/>
              </a:ext>
            </a:extLst>
          </p:cNvPr>
          <p:cNvSpPr>
            <a:spLocks noGrp="1" noChangeArrowheads="1"/>
          </p:cNvSpPr>
          <p:nvPr>
            <p:ph type="sldNum" sz="quarter" idx="11"/>
          </p:nvPr>
        </p:nvSpPr>
        <p:spPr>
          <a:ln/>
        </p:spPr>
        <p:txBody>
          <a:bodyPr/>
          <a:lstStyle>
            <a:lvl1pPr>
              <a:defRPr/>
            </a:lvl1pPr>
          </a:lstStyle>
          <a:p>
            <a:pPr>
              <a:defRPr/>
            </a:pPr>
            <a:r>
              <a:rPr lang="zh-CN" altLang="en-US"/>
              <a:t>第</a:t>
            </a:r>
            <a:fld id="{DB820BC6-0819-4AD2-B3D6-B8CB49050DCF}" type="slidenum">
              <a:rPr lang="zh-CN" altLang="en-US" smtClean="0"/>
              <a:pPr>
                <a:defRPr/>
              </a:pPr>
              <a:t>‹#›</a:t>
            </a:fld>
            <a:r>
              <a:rPr lang="zh-CN" altLang="en-US"/>
              <a:t>页</a:t>
            </a:r>
          </a:p>
        </p:txBody>
      </p:sp>
    </p:spTree>
    <p:extLst>
      <p:ext uri="{BB962C8B-B14F-4D97-AF65-F5344CB8AC3E}">
        <p14:creationId xmlns:p14="http://schemas.microsoft.com/office/powerpoint/2010/main" val="663181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079500" y="288925"/>
            <a:ext cx="7726363" cy="1143000"/>
          </a:xfrm>
        </p:spPr>
        <p:txBody>
          <a:bodyPr/>
          <a:lstStyle/>
          <a:p>
            <a:r>
              <a:rPr lang="zh-CN" altLang="en-US"/>
              <a:t>单击此处编辑母版标题样式</a:t>
            </a:r>
          </a:p>
        </p:txBody>
      </p:sp>
      <p:sp>
        <p:nvSpPr>
          <p:cNvPr id="3" name="内容占位符 2"/>
          <p:cNvSpPr>
            <a:spLocks noGrp="1"/>
          </p:cNvSpPr>
          <p:nvPr>
            <p:ph sz="quarter" idx="1"/>
          </p:nvPr>
        </p:nvSpPr>
        <p:spPr>
          <a:xfrm>
            <a:off x="855663" y="1593850"/>
            <a:ext cx="3976687" cy="2136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984750" y="1593850"/>
            <a:ext cx="3976688" cy="2136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855663" y="3883025"/>
            <a:ext cx="3976687" cy="2136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984750" y="3883025"/>
            <a:ext cx="3976688" cy="2136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A05339A-1F24-41ED-B911-7783CF5019D7}"/>
              </a:ext>
            </a:extLst>
          </p:cNvPr>
          <p:cNvSpPr>
            <a:spLocks noGrp="1"/>
          </p:cNvSpPr>
          <p:nvPr>
            <p:ph type="dt" sz="half" idx="10"/>
          </p:nvPr>
        </p:nvSpPr>
        <p:spPr>
          <a:xfrm>
            <a:off x="838200" y="6235700"/>
            <a:ext cx="2449513" cy="457200"/>
          </a:xfrm>
        </p:spPr>
        <p:txBody>
          <a:bodyPr/>
          <a:lstStyle>
            <a:lvl1pPr>
              <a:defRPr/>
            </a:lvl1pPr>
          </a:lstStyle>
          <a:p>
            <a:pPr>
              <a:defRPr/>
            </a:pPr>
            <a:endParaRPr lang="zh-CN" altLang="zh-CN"/>
          </a:p>
        </p:txBody>
      </p:sp>
      <p:sp>
        <p:nvSpPr>
          <p:cNvPr id="8" name="灯片编号占位符 7">
            <a:extLst>
              <a:ext uri="{FF2B5EF4-FFF2-40B4-BE49-F238E27FC236}">
                <a16:creationId xmlns:a16="http://schemas.microsoft.com/office/drawing/2014/main" id="{CA386773-056B-4F43-920D-9BBF0324E9AD}"/>
              </a:ext>
            </a:extLst>
          </p:cNvPr>
          <p:cNvSpPr>
            <a:spLocks noGrp="1"/>
          </p:cNvSpPr>
          <p:nvPr>
            <p:ph type="sldNum" sz="quarter" idx="11"/>
          </p:nvPr>
        </p:nvSpPr>
        <p:spPr>
          <a:xfrm>
            <a:off x="6553200" y="6224588"/>
            <a:ext cx="2420938" cy="457200"/>
          </a:xfrm>
        </p:spPr>
        <p:txBody>
          <a:bodyPr/>
          <a:lstStyle>
            <a:lvl1pPr>
              <a:defRPr/>
            </a:lvl1pPr>
          </a:lstStyle>
          <a:p>
            <a:pPr>
              <a:defRPr/>
            </a:pPr>
            <a:endParaRPr lang="zh-CN" altLang="zh-CN"/>
          </a:p>
        </p:txBody>
      </p:sp>
      <p:sp>
        <p:nvSpPr>
          <p:cNvPr id="9" name="页脚占位符 8">
            <a:extLst>
              <a:ext uri="{FF2B5EF4-FFF2-40B4-BE49-F238E27FC236}">
                <a16:creationId xmlns:a16="http://schemas.microsoft.com/office/drawing/2014/main" id="{1D65DAF5-7829-41A6-9988-A419B2163FD5}"/>
              </a:ext>
            </a:extLst>
          </p:cNvPr>
          <p:cNvSpPr>
            <a:spLocks noGrp="1"/>
          </p:cNvSpPr>
          <p:nvPr>
            <p:ph type="ftr" sz="quarter" idx="12"/>
          </p:nvPr>
        </p:nvSpPr>
        <p:spPr>
          <a:xfrm>
            <a:off x="3484563" y="6237288"/>
            <a:ext cx="2895600" cy="457200"/>
          </a:xfrm>
          <a:prstGeom prst="rect">
            <a:avLst/>
          </a:prstGeom>
        </p:spPr>
        <p:txBody>
          <a:bodyPr/>
          <a:lstStyle>
            <a:lvl1pPr>
              <a:defRPr>
                <a:latin typeface="Helvetica" pitchFamily="2" charset="0"/>
              </a:defRPr>
            </a:lvl1pPr>
          </a:lstStyle>
          <a:p>
            <a:pPr>
              <a:defRPr/>
            </a:pPr>
            <a:endParaRPr lang="zh-CN" altLang="zh-CN"/>
          </a:p>
        </p:txBody>
      </p:sp>
    </p:spTree>
    <p:extLst>
      <p:ext uri="{BB962C8B-B14F-4D97-AF65-F5344CB8AC3E}">
        <p14:creationId xmlns:p14="http://schemas.microsoft.com/office/powerpoint/2010/main" val="42839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106677-E3EC-40E8-A802-8C7E673F133B}"/>
              </a:ext>
            </a:extLst>
          </p:cNvPr>
          <p:cNvSpPr>
            <a:spLocks noGrp="1" noChangeArrowheads="1"/>
          </p:cNvSpPr>
          <p:nvPr>
            <p:ph type="body" idx="1"/>
          </p:nvPr>
        </p:nvSpPr>
        <p:spPr bwMode="auto">
          <a:xfrm>
            <a:off x="179388" y="1125538"/>
            <a:ext cx="8685212" cy="512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7" name="Rectangle 3">
            <a:extLst>
              <a:ext uri="{FF2B5EF4-FFF2-40B4-BE49-F238E27FC236}">
                <a16:creationId xmlns:a16="http://schemas.microsoft.com/office/drawing/2014/main" id="{D6CBD393-6300-483C-98E7-08D95AA905FB}"/>
              </a:ext>
            </a:extLst>
          </p:cNvPr>
          <p:cNvSpPr>
            <a:spLocks noGrp="1" noChangeArrowheads="1"/>
          </p:cNvSpPr>
          <p:nvPr>
            <p:ph type="dt" sz="half" idx="2"/>
          </p:nvPr>
        </p:nvSpPr>
        <p:spPr bwMode="auto">
          <a:xfrm>
            <a:off x="4043363" y="6580188"/>
            <a:ext cx="1824037" cy="377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200">
                <a:solidFill>
                  <a:schemeClr val="bg2"/>
                </a:solidFill>
                <a:latin typeface="Times New Roman" pitchFamily="18" charset="0"/>
              </a:defRPr>
            </a:lvl1pPr>
          </a:lstStyle>
          <a:p>
            <a:pPr>
              <a:defRPr/>
            </a:pPr>
            <a:fld id="{6B121BBE-251E-4600-9778-7CEF9D41C281}" type="datetime1">
              <a:rPr lang="zh-CN" altLang="en-US"/>
              <a:pPr>
                <a:defRPr/>
              </a:pPr>
              <a:t>2025/12/18</a:t>
            </a:fld>
            <a:endParaRPr lang="en-US"/>
          </a:p>
        </p:txBody>
      </p:sp>
      <p:sp>
        <p:nvSpPr>
          <p:cNvPr id="1028" name="Rectangle 4">
            <a:extLst>
              <a:ext uri="{FF2B5EF4-FFF2-40B4-BE49-F238E27FC236}">
                <a16:creationId xmlns:a16="http://schemas.microsoft.com/office/drawing/2014/main" id="{747C0F3A-5516-4F49-811A-C410C91E28B6}"/>
              </a:ext>
            </a:extLst>
          </p:cNvPr>
          <p:cNvSpPr>
            <a:spLocks noGrp="1" noChangeArrowheads="1"/>
          </p:cNvSpPr>
          <p:nvPr>
            <p:ph type="sldNum" sz="quarter" idx="4"/>
          </p:nvPr>
        </p:nvSpPr>
        <p:spPr bwMode="auto">
          <a:xfrm>
            <a:off x="7956550" y="6573838"/>
            <a:ext cx="800100" cy="2841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200">
                <a:solidFill>
                  <a:schemeClr val="bg2"/>
                </a:solidFill>
                <a:latin typeface="Times New Roman" panose="02020603050405020304" pitchFamily="18" charset="0"/>
              </a:defRPr>
            </a:lvl1pPr>
          </a:lstStyle>
          <a:p>
            <a:pPr>
              <a:defRPr/>
            </a:pPr>
            <a:r>
              <a:rPr lang="zh-CN" altLang="en-US"/>
              <a:t>第</a:t>
            </a:r>
            <a:fld id="{231CB1AD-DF46-4BCC-B0EF-CE8D4C6FF0F6}" type="slidenum">
              <a:rPr lang="zh-CN" altLang="en-US" smtClean="0"/>
              <a:pPr>
                <a:defRPr/>
              </a:pPr>
              <a:t>‹#›</a:t>
            </a:fld>
            <a:r>
              <a:rPr lang="zh-CN" altLang="en-US"/>
              <a:t>页</a:t>
            </a:r>
          </a:p>
        </p:txBody>
      </p:sp>
      <p:sp>
        <p:nvSpPr>
          <p:cNvPr id="1029" name="Rectangle 5">
            <a:extLst>
              <a:ext uri="{FF2B5EF4-FFF2-40B4-BE49-F238E27FC236}">
                <a16:creationId xmlns:a16="http://schemas.microsoft.com/office/drawing/2014/main" id="{C6815CB5-DBBA-4CA0-A0FD-405EFF234EF0}"/>
              </a:ext>
            </a:extLst>
          </p:cNvPr>
          <p:cNvSpPr>
            <a:spLocks noGrp="1" noChangeArrowheads="1"/>
          </p:cNvSpPr>
          <p:nvPr>
            <p:ph type="title"/>
          </p:nvPr>
        </p:nvSpPr>
        <p:spPr bwMode="auto">
          <a:xfrm>
            <a:off x="598488" y="188913"/>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0" name="Text Box 6">
            <a:extLst>
              <a:ext uri="{FF2B5EF4-FFF2-40B4-BE49-F238E27FC236}">
                <a16:creationId xmlns:a16="http://schemas.microsoft.com/office/drawing/2014/main" id="{16AA3F4D-428D-46B2-9B6D-FAC6D996C273}"/>
              </a:ext>
            </a:extLst>
          </p:cNvPr>
          <p:cNvSpPr txBox="1">
            <a:spLocks noChangeArrowheads="1"/>
          </p:cNvSpPr>
          <p:nvPr/>
        </p:nvSpPr>
        <p:spPr bwMode="auto">
          <a:xfrm>
            <a:off x="360363" y="6553200"/>
            <a:ext cx="1835150" cy="274638"/>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spcBef>
                <a:spcPct val="50000"/>
              </a:spcBef>
              <a:defRPr/>
            </a:pPr>
            <a:r>
              <a:rPr lang="zh-CN" altLang="en-US" sz="1200">
                <a:solidFill>
                  <a:srgbClr val="3366FF"/>
                </a:solidFill>
              </a:rPr>
              <a:t>电子科大肖鸣宇</a:t>
            </a:r>
          </a:p>
        </p:txBody>
      </p:sp>
      <p:sp>
        <p:nvSpPr>
          <p:cNvPr id="1031" name="Line 7">
            <a:extLst>
              <a:ext uri="{FF2B5EF4-FFF2-40B4-BE49-F238E27FC236}">
                <a16:creationId xmlns:a16="http://schemas.microsoft.com/office/drawing/2014/main" id="{27F98AEC-E7B1-46BB-8AA6-C6A0B9E690CF}"/>
              </a:ext>
            </a:extLst>
          </p:cNvPr>
          <p:cNvSpPr>
            <a:spLocks noChangeShapeType="1"/>
          </p:cNvSpPr>
          <p:nvPr/>
        </p:nvSpPr>
        <p:spPr bwMode="auto">
          <a:xfrm>
            <a:off x="419100" y="914400"/>
            <a:ext cx="840105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2" name="Text Box 8">
            <a:extLst>
              <a:ext uri="{FF2B5EF4-FFF2-40B4-BE49-F238E27FC236}">
                <a16:creationId xmlns:a16="http://schemas.microsoft.com/office/drawing/2014/main" id="{A9E5B867-A64B-4B02-93B7-9924FC3A2C9B}"/>
              </a:ext>
            </a:extLst>
          </p:cNvPr>
          <p:cNvSpPr txBox="1">
            <a:spLocks noChangeArrowheads="1"/>
          </p:cNvSpPr>
          <p:nvPr userDrawn="1"/>
        </p:nvSpPr>
        <p:spPr bwMode="auto">
          <a:xfrm>
            <a:off x="7596188" y="6597650"/>
            <a:ext cx="360362" cy="51911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eaLnBrk="1" hangingPunct="1">
              <a:spcBef>
                <a:spcPct val="50000"/>
              </a:spcBef>
              <a:defRPr/>
            </a:pPr>
            <a:endParaRPr lang="zh-CN" altLang="en-US" sz="2800">
              <a:solidFill>
                <a:schemeClr val="bg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 id="2147483994" r:id="rId13"/>
  </p:sldLayoutIdLst>
  <p:hf hdr="0" ftr="0"/>
  <p:txStyles>
    <p:titleStyle>
      <a:lvl1pPr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2pPr>
      <a:lvl3pPr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3pPr>
      <a:lvl4pPr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4pPr>
      <a:lvl5pPr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5pPr>
      <a:lvl6pPr marL="457200"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6pPr>
      <a:lvl7pPr marL="914400"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7pPr>
      <a:lvl8pPr marL="1371600"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8pPr>
      <a:lvl9pPr marL="1828800" algn="l" rtl="0" eaLnBrk="0" fontAlgn="base" hangingPunct="0">
        <a:spcBef>
          <a:spcPct val="0"/>
        </a:spcBef>
        <a:spcAft>
          <a:spcPct val="0"/>
        </a:spcAft>
        <a:defRPr sz="3200">
          <a:solidFill>
            <a:srgbClr val="FF3300"/>
          </a:solidFill>
          <a:effectLst>
            <a:outerShdw blurRad="38100" dist="38100" dir="2700000" algn="tl">
              <a:srgbClr val="C0C0C0"/>
            </a:outerShdw>
          </a:effectLst>
          <a:latin typeface="隶书" pitchFamily="49" charset="-122"/>
          <a:ea typeface="隶书" pitchFamily="49" charset="-122"/>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sz="2400">
          <a:solidFill>
            <a:srgbClr val="0000FF"/>
          </a:solidFill>
          <a:latin typeface="+mn-lt"/>
          <a:ea typeface="+mn-ea"/>
          <a:cs typeface="+mn-cs"/>
        </a:defRPr>
      </a:lvl1pPr>
      <a:lvl2pPr marL="742950" indent="-285750" algn="l" rtl="0" eaLnBrk="0" fontAlgn="base" hangingPunct="0">
        <a:spcBef>
          <a:spcPct val="35000"/>
        </a:spcBef>
        <a:spcAft>
          <a:spcPct val="0"/>
        </a:spcAft>
        <a:buClr>
          <a:srgbClr val="CC6600"/>
        </a:buClr>
        <a:buSzPct val="105000"/>
        <a:buFont typeface="Monotype Sorts" pitchFamily="2" charset="2"/>
        <a:buChar char="H"/>
        <a:defRPr sz="2400">
          <a:solidFill>
            <a:srgbClr val="0000FF"/>
          </a:solidFill>
          <a:latin typeface="+mn-lt"/>
          <a:ea typeface="+mn-ea"/>
        </a:defRPr>
      </a:lvl2pPr>
      <a:lvl3pPr marL="1085850" indent="-228600" algn="l" rtl="0" eaLnBrk="0" fontAlgn="base" hangingPunct="0">
        <a:spcBef>
          <a:spcPct val="35000"/>
        </a:spcBef>
        <a:spcAft>
          <a:spcPct val="0"/>
        </a:spcAft>
        <a:buClr>
          <a:srgbClr val="000099"/>
        </a:buClr>
        <a:buSzPct val="85000"/>
        <a:buFont typeface="Monotype Sorts" pitchFamily="2" charset="2"/>
        <a:buChar char="4"/>
        <a:defRPr sz="2000">
          <a:solidFill>
            <a:srgbClr val="0000FF"/>
          </a:solidFill>
          <a:latin typeface="+mn-lt"/>
          <a:ea typeface="+mn-ea"/>
        </a:defRPr>
      </a:lvl3pPr>
      <a:lvl4pPr marL="1428750" indent="-228600" algn="l" rtl="0" eaLnBrk="0" fontAlgn="base" hangingPunct="0">
        <a:spcBef>
          <a:spcPct val="35000"/>
        </a:spcBef>
        <a:spcAft>
          <a:spcPct val="0"/>
        </a:spcAft>
        <a:buClr>
          <a:schemeClr val="hlink"/>
        </a:buClr>
        <a:buChar char="–"/>
        <a:defRPr sz="2000">
          <a:solidFill>
            <a:srgbClr val="0000FF"/>
          </a:solidFill>
          <a:latin typeface="+mn-lt"/>
          <a:ea typeface="+mn-ea"/>
        </a:defRPr>
      </a:lvl4pPr>
      <a:lvl5pPr marL="1771650" indent="-228600" algn="l" rtl="0" eaLnBrk="0" fontAlgn="base" hangingPunct="0">
        <a:spcBef>
          <a:spcPct val="35000"/>
        </a:spcBef>
        <a:spcAft>
          <a:spcPct val="0"/>
        </a:spcAft>
        <a:buClr>
          <a:schemeClr val="tx2"/>
        </a:buClr>
        <a:buChar char="»"/>
        <a:defRPr sz="2000">
          <a:solidFill>
            <a:srgbClr val="0000FF"/>
          </a:solidFill>
          <a:latin typeface="+mn-lt"/>
          <a:ea typeface="+mn-ea"/>
        </a:defRPr>
      </a:lvl5pPr>
      <a:lvl6pPr marL="2228850" indent="-228600" algn="l" rtl="0" eaLnBrk="0" fontAlgn="base" hangingPunct="0">
        <a:spcBef>
          <a:spcPct val="35000"/>
        </a:spcBef>
        <a:spcAft>
          <a:spcPct val="0"/>
        </a:spcAft>
        <a:buClr>
          <a:schemeClr val="tx2"/>
        </a:buClr>
        <a:buChar char="»"/>
        <a:defRPr>
          <a:solidFill>
            <a:srgbClr val="0000FF"/>
          </a:solidFill>
          <a:latin typeface="+mn-lt"/>
          <a:ea typeface="+mn-ea"/>
        </a:defRPr>
      </a:lvl6pPr>
      <a:lvl7pPr marL="2686050" indent="-228600" algn="l" rtl="0" eaLnBrk="0" fontAlgn="base" hangingPunct="0">
        <a:spcBef>
          <a:spcPct val="35000"/>
        </a:spcBef>
        <a:spcAft>
          <a:spcPct val="0"/>
        </a:spcAft>
        <a:buClr>
          <a:schemeClr val="tx2"/>
        </a:buClr>
        <a:buChar char="»"/>
        <a:defRPr>
          <a:solidFill>
            <a:srgbClr val="0000FF"/>
          </a:solidFill>
          <a:latin typeface="+mn-lt"/>
          <a:ea typeface="+mn-ea"/>
        </a:defRPr>
      </a:lvl7pPr>
      <a:lvl8pPr marL="3143250" indent="-228600" algn="l" rtl="0" eaLnBrk="0" fontAlgn="base" hangingPunct="0">
        <a:spcBef>
          <a:spcPct val="35000"/>
        </a:spcBef>
        <a:spcAft>
          <a:spcPct val="0"/>
        </a:spcAft>
        <a:buClr>
          <a:schemeClr val="tx2"/>
        </a:buClr>
        <a:buChar char="»"/>
        <a:defRPr>
          <a:solidFill>
            <a:srgbClr val="0000FF"/>
          </a:solidFill>
          <a:latin typeface="+mn-lt"/>
          <a:ea typeface="+mn-ea"/>
        </a:defRPr>
      </a:lvl8pPr>
      <a:lvl9pPr marL="3600450" indent="-228600" algn="l" rtl="0" eaLnBrk="0" fontAlgn="base" hangingPunct="0">
        <a:spcBef>
          <a:spcPct val="35000"/>
        </a:spcBef>
        <a:spcAft>
          <a:spcPct val="0"/>
        </a:spcAft>
        <a:buClr>
          <a:schemeClr val="tx2"/>
        </a:buClr>
        <a:buChar char="»"/>
        <a:defRPr>
          <a:solidFill>
            <a:srgbClr val="0000F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pimg.qihoo.com/qhimg/baike/272_322/1c/01/12/1c01129q1191f6.996a54.jp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10" Type="http://schemas.openxmlformats.org/officeDocument/2006/relationships/image" Target="../media/image22.png"/><Relationship Id="rId4" Type="http://schemas.openxmlformats.org/officeDocument/2006/relationships/image" Target="../media/image17.jpeg"/><Relationship Id="rId9" Type="http://schemas.openxmlformats.org/officeDocument/2006/relationships/oleObject" Target="../embeddings/oleObject6.bin"/></Relationships>
</file>

<file path=ppt/slides/_rels/slide5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7A8E0F1-DF1D-4141-8D9A-0D2C68033FAC}"/>
              </a:ext>
            </a:extLst>
          </p:cNvPr>
          <p:cNvSpPr>
            <a:spLocks noGrp="1" noChangeArrowheads="1"/>
          </p:cNvSpPr>
          <p:nvPr>
            <p:ph type="ctrTitle"/>
          </p:nvPr>
        </p:nvSpPr>
        <p:spPr>
          <a:xfrm>
            <a:off x="434975" y="1484313"/>
            <a:ext cx="8458200" cy="1470025"/>
          </a:xfrm>
        </p:spPr>
        <p:txBody>
          <a:bodyPr/>
          <a:lstStyle/>
          <a:p>
            <a:pPr algn="ctr">
              <a:defRPr/>
            </a:pPr>
            <a:r>
              <a:rPr lang="zh-CN" altLang="en-US" sz="3600" b="1" dirty="0">
                <a:solidFill>
                  <a:srgbClr val="FF0000"/>
                </a:solidFill>
                <a:ea typeface="宋体" pitchFamily="2" charset="-122"/>
              </a:rPr>
              <a:t>算法与计算理论</a:t>
            </a:r>
            <a:br>
              <a:rPr lang="zh-CN" altLang="en-US" sz="3600" b="1" dirty="0">
                <a:solidFill>
                  <a:srgbClr val="FF0000"/>
                </a:solidFill>
                <a:ea typeface="宋体" pitchFamily="2" charset="-122"/>
              </a:rPr>
            </a:br>
            <a:r>
              <a:rPr lang="zh-CN" altLang="en-US" sz="3600" b="1" dirty="0">
                <a:solidFill>
                  <a:srgbClr val="FF0000"/>
                </a:solidFill>
                <a:ea typeface="宋体" pitchFamily="2" charset="-122"/>
              </a:rPr>
              <a:t> </a:t>
            </a:r>
            <a:r>
              <a:rPr lang="en-US" altLang="zh-CN" sz="3600" b="1" dirty="0">
                <a:solidFill>
                  <a:srgbClr val="FF0000"/>
                </a:solidFill>
                <a:ea typeface="宋体" pitchFamily="2" charset="-122"/>
              </a:rPr>
              <a:t>Algorithms and</a:t>
            </a:r>
            <a:r>
              <a:rPr lang="en-US" altLang="zh-CN" sz="3600" b="1" dirty="0">
                <a:solidFill>
                  <a:srgbClr val="FF0000"/>
                </a:solidFill>
              </a:rPr>
              <a:t> Computational </a:t>
            </a:r>
            <a:r>
              <a:rPr lang="en-US" altLang="zh-CN" sz="3400" b="1" dirty="0">
                <a:solidFill>
                  <a:srgbClr val="FF0000"/>
                </a:solidFill>
                <a:ea typeface="宋体" pitchFamily="2" charset="-122"/>
              </a:rPr>
              <a:t>Theory</a:t>
            </a:r>
          </a:p>
        </p:txBody>
      </p:sp>
      <p:sp>
        <p:nvSpPr>
          <p:cNvPr id="4099" name="Rectangle 3">
            <a:extLst>
              <a:ext uri="{FF2B5EF4-FFF2-40B4-BE49-F238E27FC236}">
                <a16:creationId xmlns:a16="http://schemas.microsoft.com/office/drawing/2014/main" id="{8C1E1C94-345A-4B6A-B837-73FC8FDE90C8}"/>
              </a:ext>
            </a:extLst>
          </p:cNvPr>
          <p:cNvSpPr>
            <a:spLocks noGrp="1" noChangeArrowheads="1"/>
          </p:cNvSpPr>
          <p:nvPr>
            <p:ph type="subTitle" idx="1"/>
          </p:nvPr>
        </p:nvSpPr>
        <p:spPr>
          <a:xfrm>
            <a:off x="1771650" y="3979863"/>
            <a:ext cx="6400800" cy="1752600"/>
          </a:xfrm>
        </p:spPr>
        <p:txBody>
          <a:bodyPr/>
          <a:lstStyle/>
          <a:p>
            <a:pPr algn="r"/>
            <a:endParaRPr lang="zh-CN" altLang="en-US" b="1">
              <a:ea typeface="隶书" panose="02010509060101010101" pitchFamily="49" charset="-122"/>
            </a:endParaRPr>
          </a:p>
          <a:p>
            <a:pPr algn="r"/>
            <a:r>
              <a:rPr lang="zh-CN" altLang="en-US" b="1">
                <a:ea typeface="隶书" panose="02010509060101010101" pitchFamily="49" charset="-122"/>
              </a:rPr>
              <a:t>肖鸣宇</a:t>
            </a:r>
          </a:p>
          <a:p>
            <a:pPr algn="r"/>
            <a:r>
              <a:rPr lang="zh-CN" altLang="en-US" b="1">
                <a:ea typeface="隶书" panose="02010509060101010101" pitchFamily="49" charset="-122"/>
              </a:rPr>
              <a:t>电子科技大学计算机学院</a:t>
            </a:r>
          </a:p>
        </p:txBody>
      </p:sp>
      <p:cxnSp>
        <p:nvCxnSpPr>
          <p:cNvPr id="8" name="直接连接符 7">
            <a:extLst>
              <a:ext uri="{FF2B5EF4-FFF2-40B4-BE49-F238E27FC236}">
                <a16:creationId xmlns:a16="http://schemas.microsoft.com/office/drawing/2014/main" id="{4403B27F-4CA4-4087-A632-2B1751145BAB}"/>
              </a:ext>
            </a:extLst>
          </p:cNvPr>
          <p:cNvCxnSpPr/>
          <p:nvPr/>
        </p:nvCxnSpPr>
        <p:spPr>
          <a:xfrm>
            <a:off x="395288" y="908050"/>
            <a:ext cx="8280400"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9" name="Rectangle 2">
            <a:extLst>
              <a:ext uri="{FF2B5EF4-FFF2-40B4-BE49-F238E27FC236}">
                <a16:creationId xmlns:a16="http://schemas.microsoft.com/office/drawing/2014/main" id="{7FBB5DD8-0C23-4ABF-BC37-0D0C35190467}"/>
              </a:ext>
            </a:extLst>
          </p:cNvPr>
          <p:cNvSpPr txBox="1">
            <a:spLocks noChangeArrowheads="1"/>
          </p:cNvSpPr>
          <p:nvPr/>
        </p:nvSpPr>
        <p:spPr bwMode="auto">
          <a:xfrm>
            <a:off x="615950" y="3038475"/>
            <a:ext cx="7772400" cy="1470025"/>
          </a:xfrm>
          <a:prstGeom prst="rect">
            <a:avLst/>
          </a:prstGeom>
          <a:noFill/>
          <a:ln w="9525">
            <a:noFill/>
            <a:miter lim="800000"/>
            <a:headEnd/>
            <a:tailEnd/>
          </a:ln>
          <a:effectLst/>
        </p:spPr>
        <p:txBody>
          <a:bodyPr anchor="ctr"/>
          <a:lstStyle/>
          <a:p>
            <a:pPr algn="ctr" eaLnBrk="1" hangingPunct="1">
              <a:defRPr/>
            </a:pPr>
            <a:r>
              <a:rPr lang="en-US" altLang="zh-CN" sz="3600" b="1" kern="0" dirty="0">
                <a:solidFill>
                  <a:srgbClr val="00B050"/>
                </a:solidFill>
                <a:latin typeface="隶书" pitchFamily="49" charset="-122"/>
                <a:ea typeface="隶书" pitchFamily="49" charset="-122"/>
                <a:cs typeface="+mj-cs"/>
              </a:rPr>
              <a:t>5.</a:t>
            </a:r>
            <a:r>
              <a:rPr lang="zh-CN" altLang="en-US" sz="3600" b="1" kern="0" dirty="0">
                <a:solidFill>
                  <a:srgbClr val="00B050"/>
                </a:solidFill>
                <a:latin typeface="隶书" pitchFamily="49" charset="-122"/>
                <a:ea typeface="隶书" pitchFamily="49" charset="-122"/>
                <a:cs typeface="+mj-cs"/>
              </a:rPr>
              <a:t>高级专题</a:t>
            </a:r>
            <a:endParaRPr lang="en-US" altLang="zh-CN" sz="3400" b="1" kern="0" dirty="0">
              <a:solidFill>
                <a:srgbClr val="00B050"/>
              </a:solidFill>
              <a:latin typeface="隶书" pitchFamily="49" charset="-122"/>
              <a:ea typeface="隶书" pitchFamily="49" charset="-122"/>
              <a:cs typeface="+mj-cs"/>
            </a:endParaRPr>
          </a:p>
        </p:txBody>
      </p:sp>
      <p:sp>
        <p:nvSpPr>
          <p:cNvPr id="4102" name="日期占位符 3">
            <a:extLst>
              <a:ext uri="{FF2B5EF4-FFF2-40B4-BE49-F238E27FC236}">
                <a16:creationId xmlns:a16="http://schemas.microsoft.com/office/drawing/2014/main" id="{C5ED0CB7-47FB-4D08-8142-E66C2657633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114F9A18-2088-404A-8C1E-23AEC3A9C56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103" name="灯片编号占位符 4">
            <a:extLst>
              <a:ext uri="{FF2B5EF4-FFF2-40B4-BE49-F238E27FC236}">
                <a16:creationId xmlns:a16="http://schemas.microsoft.com/office/drawing/2014/main" id="{CAA3DD7C-883A-43B3-AC78-F498FC8CCB1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CCB919E-1EA8-46A3-ABAD-38807990AB2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日期占位符 3">
            <a:extLst>
              <a:ext uri="{FF2B5EF4-FFF2-40B4-BE49-F238E27FC236}">
                <a16:creationId xmlns:a16="http://schemas.microsoft.com/office/drawing/2014/main" id="{6BA751A8-A8BB-4772-91C6-33ED7B31975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040A4643-EF65-4341-B542-5284E6FD95B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123" name="灯片编号占位符 4">
            <a:extLst>
              <a:ext uri="{FF2B5EF4-FFF2-40B4-BE49-F238E27FC236}">
                <a16:creationId xmlns:a16="http://schemas.microsoft.com/office/drawing/2014/main" id="{73CFD623-B348-4CDE-ADFF-CF723E83B01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24229DA-EB89-4F5F-92CC-73577733F276}"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86722" name="Rectangle 2">
            <a:extLst>
              <a:ext uri="{FF2B5EF4-FFF2-40B4-BE49-F238E27FC236}">
                <a16:creationId xmlns:a16="http://schemas.microsoft.com/office/drawing/2014/main" id="{4F3EA8EE-E9A8-4D58-984E-1D7185F4F371}"/>
              </a:ext>
            </a:extLst>
          </p:cNvPr>
          <p:cNvSpPr>
            <a:spLocks noGrp="1" noChangeArrowheads="1"/>
          </p:cNvSpPr>
          <p:nvPr>
            <p:ph type="title"/>
          </p:nvPr>
        </p:nvSpPr>
        <p:spPr/>
        <p:txBody>
          <a:bodyPr/>
          <a:lstStyle/>
          <a:p>
            <a:pPr>
              <a:defRPr/>
            </a:pPr>
            <a:r>
              <a:rPr lang="zh-CN" altLang="en-US" b="1">
                <a:solidFill>
                  <a:schemeClr val="tx1"/>
                </a:solidFill>
              </a:rPr>
              <a:t>主要内容</a:t>
            </a:r>
            <a:endParaRPr lang="zh-CN" altLang="en-US">
              <a:solidFill>
                <a:schemeClr val="tx1"/>
              </a:solidFill>
              <a:ea typeface="宋体" pitchFamily="2" charset="-122"/>
            </a:endParaRPr>
          </a:p>
        </p:txBody>
      </p:sp>
      <p:sp>
        <p:nvSpPr>
          <p:cNvPr id="11269" name="Rectangle 3">
            <a:extLst>
              <a:ext uri="{FF2B5EF4-FFF2-40B4-BE49-F238E27FC236}">
                <a16:creationId xmlns:a16="http://schemas.microsoft.com/office/drawing/2014/main" id="{CA4A1703-C4E1-4CD7-B06A-B7FD6E539D58}"/>
              </a:ext>
            </a:extLst>
          </p:cNvPr>
          <p:cNvSpPr>
            <a:spLocks noGrp="1" noChangeArrowheads="1"/>
          </p:cNvSpPr>
          <p:nvPr>
            <p:ph type="body" idx="1"/>
          </p:nvPr>
        </p:nvSpPr>
        <p:spPr>
          <a:xfrm>
            <a:off x="323850" y="1052513"/>
            <a:ext cx="8362950" cy="5233987"/>
          </a:xfrm>
        </p:spPr>
        <p:txBody>
          <a:bodyPr/>
          <a:lstStyle/>
          <a:p>
            <a:pPr marL="722313" indent="-722313">
              <a:lnSpc>
                <a:spcPct val="115000"/>
              </a:lnSpc>
              <a:spcBef>
                <a:spcPct val="15000"/>
              </a:spcBef>
              <a:buFont typeface="Monotype Sorts" pitchFamily="2" charset="2"/>
              <a:buNone/>
            </a:pPr>
            <a:r>
              <a:rPr lang="en-US" altLang="zh-CN" sz="3200" b="1">
                <a:latin typeface="Tahoma" panose="020B0604030504040204" pitchFamily="34" charset="0"/>
                <a:cs typeface="Tahoma" panose="020B0604030504040204" pitchFamily="34" charset="0"/>
              </a:rPr>
              <a:t>5.1  </a:t>
            </a:r>
            <a:r>
              <a:rPr lang="zh-CN" altLang="en-US" sz="3200" b="1">
                <a:solidFill>
                  <a:srgbClr val="FF0000"/>
                </a:solidFill>
                <a:latin typeface="Tahoma" panose="020B0604030504040204" pitchFamily="34" charset="0"/>
                <a:ea typeface="隶书" panose="02010509060101010101" pitchFamily="49" charset="-122"/>
                <a:cs typeface="Tahoma" panose="020B0604030504040204" pitchFamily="34" charset="0"/>
              </a:rPr>
              <a:t>近似算法</a:t>
            </a:r>
            <a:r>
              <a:rPr lang="zh-CN" altLang="en-US" sz="3200" b="1">
                <a:latin typeface="Tahoma" panose="020B0604030504040204" pitchFamily="34" charset="0"/>
                <a:ea typeface="隶书" panose="02010509060101010101" pitchFamily="49" charset="-122"/>
                <a:cs typeface="Tahoma" panose="020B0604030504040204" pitchFamily="34" charset="0"/>
              </a:rPr>
              <a:t>	</a:t>
            </a:r>
            <a:endParaRPr lang="en-US" altLang="zh-CN" sz="3200" b="1">
              <a:latin typeface="Tahoma" panose="020B0604030504040204" pitchFamily="34" charset="0"/>
              <a:cs typeface="Tahoma" panose="020B0604030504040204" pitchFamily="34" charset="0"/>
            </a:endParaRPr>
          </a:p>
          <a:p>
            <a:pPr marL="722313" indent="-722313">
              <a:lnSpc>
                <a:spcPct val="115000"/>
              </a:lnSpc>
              <a:spcBef>
                <a:spcPct val="15000"/>
              </a:spcBef>
              <a:buFont typeface="Monotype Sorts" pitchFamily="2" charset="2"/>
              <a:buNone/>
            </a:pPr>
            <a:endParaRPr lang="zh-CN" altLang="en-US" sz="3200" b="1">
              <a:latin typeface="Tahoma" panose="020B0604030504040204" pitchFamily="34" charset="0"/>
              <a:ea typeface="隶书" panose="02010509060101010101" pitchFamily="49" charset="-122"/>
            </a:endParaRPr>
          </a:p>
          <a:p>
            <a:pPr marL="722313" indent="-722313">
              <a:lnSpc>
                <a:spcPct val="115000"/>
              </a:lnSpc>
              <a:spcBef>
                <a:spcPct val="15000"/>
              </a:spcBef>
              <a:buFont typeface="Monotype Sorts" pitchFamily="2" charset="2"/>
              <a:buNone/>
            </a:pPr>
            <a:r>
              <a:rPr lang="en-US" altLang="zh-CN" sz="3200" b="1">
                <a:latin typeface="Tahoma" panose="020B0604030504040204" pitchFamily="34" charset="0"/>
                <a:cs typeface="Tahoma" panose="020B0604030504040204" pitchFamily="34" charset="0"/>
              </a:rPr>
              <a:t>5.2  </a:t>
            </a:r>
            <a:r>
              <a:rPr lang="zh-CN" altLang="en-US" sz="3200" b="1">
                <a:latin typeface="Tahoma" panose="020B0604030504040204" pitchFamily="34" charset="0"/>
                <a:ea typeface="隶书" panose="02010509060101010101" pitchFamily="49" charset="-122"/>
              </a:rPr>
              <a:t>概率算法</a:t>
            </a:r>
          </a:p>
          <a:p>
            <a:pPr marL="722313" indent="-722313">
              <a:lnSpc>
                <a:spcPct val="115000"/>
              </a:lnSpc>
              <a:spcBef>
                <a:spcPct val="15000"/>
              </a:spcBef>
              <a:buFont typeface="Monotype Sorts" pitchFamily="2" charset="2"/>
              <a:buNone/>
            </a:pPr>
            <a:r>
              <a:rPr lang="zh-CN" altLang="en-US" sz="3200" b="1">
                <a:latin typeface="Tahoma" panose="020B0604030504040204" pitchFamily="34" charset="0"/>
                <a:ea typeface="隶书" panose="02010509060101010101" pitchFamily="49" charset="-122"/>
              </a:rPr>
              <a:t>	</a:t>
            </a:r>
            <a:r>
              <a:rPr lang="en-US" altLang="zh-CN" sz="3200" b="1">
                <a:latin typeface="Tahoma" panose="020B0604030504040204" pitchFamily="34" charset="0"/>
                <a:cs typeface="Tahoma" panose="020B0604030504040204" pitchFamily="34" charset="0"/>
              </a:rPr>
              <a:t>BPP</a:t>
            </a:r>
            <a:r>
              <a:rPr lang="zh-CN" altLang="en-US" sz="3200" b="1">
                <a:latin typeface="Tahoma" panose="020B0604030504040204" pitchFamily="34" charset="0"/>
                <a:ea typeface="隶书" panose="02010509060101010101" pitchFamily="49" charset="-122"/>
              </a:rPr>
              <a:t>类、素数性、只读一次的分支程序</a:t>
            </a:r>
            <a:endParaRPr lang="en-US" altLang="zh-CN" sz="3200" b="1">
              <a:latin typeface="Tahoma" panose="020B0604030504040204" pitchFamily="34" charset="0"/>
              <a:cs typeface="Tahoma" panose="020B0604030504040204" pitchFamily="34" charset="0"/>
            </a:endParaRPr>
          </a:p>
          <a:p>
            <a:pPr marL="722313" indent="-722313">
              <a:lnSpc>
                <a:spcPct val="115000"/>
              </a:lnSpc>
              <a:spcBef>
                <a:spcPct val="15000"/>
              </a:spcBef>
              <a:buFont typeface="Monotype Sorts" pitchFamily="2" charset="2"/>
              <a:buNone/>
            </a:pPr>
            <a:endParaRPr lang="zh-CN" altLang="en-US" sz="3200" b="1">
              <a:latin typeface="Tahoma" panose="020B0604030504040204" pitchFamily="34" charset="0"/>
              <a:ea typeface="隶书" panose="02010509060101010101" pitchFamily="49" charset="-122"/>
            </a:endParaRPr>
          </a:p>
          <a:p>
            <a:pPr marL="722313" indent="-722313">
              <a:lnSpc>
                <a:spcPct val="115000"/>
              </a:lnSpc>
              <a:spcBef>
                <a:spcPct val="15000"/>
              </a:spcBef>
              <a:buFont typeface="Monotype Sorts" pitchFamily="2" charset="2"/>
              <a:buNone/>
            </a:pPr>
            <a:r>
              <a:rPr lang="en-US" altLang="zh-CN" sz="3200" b="1">
                <a:latin typeface="Tahoma" panose="020B0604030504040204" pitchFamily="34" charset="0"/>
                <a:cs typeface="Tahoma" panose="020B0604030504040204" pitchFamily="34" charset="0"/>
              </a:rPr>
              <a:t>5.3  </a:t>
            </a:r>
            <a:r>
              <a:rPr lang="zh-CN" altLang="en-US" sz="3200" b="1">
                <a:latin typeface="Tahoma" panose="020B0604030504040204" pitchFamily="34" charset="0"/>
                <a:ea typeface="隶书" panose="02010509060101010101" pitchFamily="49" charset="-122"/>
              </a:rPr>
              <a:t>参数算法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Effect transition="in" filter="wipe(left)">
                                      <p:cBhvr>
                                        <p:cTn id="7" dur="500"/>
                                        <p:tgtEl>
                                          <p:spTgt spid="1126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269">
                                            <p:txEl>
                                              <p:pRg st="2" end="2"/>
                                            </p:txEl>
                                          </p:spTgt>
                                        </p:tgtEl>
                                        <p:attrNameLst>
                                          <p:attrName>style.visibility</p:attrName>
                                        </p:attrNameLst>
                                      </p:cBhvr>
                                      <p:to>
                                        <p:strVal val="visible"/>
                                      </p:to>
                                    </p:set>
                                    <p:animEffect transition="in" filter="wipe(left)">
                                      <p:cBhvr>
                                        <p:cTn id="12" dur="500"/>
                                        <p:tgtEl>
                                          <p:spTgt spid="11269">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1269">
                                            <p:txEl>
                                              <p:pRg st="3" end="3"/>
                                            </p:txEl>
                                          </p:spTgt>
                                        </p:tgtEl>
                                        <p:attrNameLst>
                                          <p:attrName>style.visibility</p:attrName>
                                        </p:attrNameLst>
                                      </p:cBhvr>
                                      <p:to>
                                        <p:strVal val="visible"/>
                                      </p:to>
                                    </p:set>
                                    <p:animEffect transition="in" filter="wipe(left)">
                                      <p:cBhvr>
                                        <p:cTn id="15" dur="500"/>
                                        <p:tgtEl>
                                          <p:spTgt spid="11269">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1269">
                                            <p:txEl>
                                              <p:pRg st="5" end="5"/>
                                            </p:txEl>
                                          </p:spTgt>
                                        </p:tgtEl>
                                        <p:attrNameLst>
                                          <p:attrName>style.visibility</p:attrName>
                                        </p:attrNameLst>
                                      </p:cBhvr>
                                      <p:to>
                                        <p:strVal val="visible"/>
                                      </p:to>
                                    </p:set>
                                    <p:animEffect transition="in" filter="wipe(left)">
                                      <p:cBhvr>
                                        <p:cTn id="20" dur="500"/>
                                        <p:tgtEl>
                                          <p:spTgt spid="1126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a:extLst>
              <a:ext uri="{FF2B5EF4-FFF2-40B4-BE49-F238E27FC236}">
                <a16:creationId xmlns:a16="http://schemas.microsoft.com/office/drawing/2014/main" id="{40DF4D9A-47D8-41F4-BD12-C541A7C1D32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2F330BBF-0D31-40F7-9FF1-82E0FB89701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147" name="灯片编号占位符 4">
            <a:extLst>
              <a:ext uri="{FF2B5EF4-FFF2-40B4-BE49-F238E27FC236}">
                <a16:creationId xmlns:a16="http://schemas.microsoft.com/office/drawing/2014/main" id="{B3B2CA47-957D-4019-91D5-585DBA45DE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53D10994-8272-438A-A1B7-B49A93D825C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87746" name="Rectangle 2">
            <a:extLst>
              <a:ext uri="{FF2B5EF4-FFF2-40B4-BE49-F238E27FC236}">
                <a16:creationId xmlns:a16="http://schemas.microsoft.com/office/drawing/2014/main" id="{A2014E75-84B8-4AFB-B7D9-0B897CAB355F}"/>
              </a:ext>
            </a:extLst>
          </p:cNvPr>
          <p:cNvSpPr>
            <a:spLocks noGrp="1" noChangeArrowheads="1"/>
          </p:cNvSpPr>
          <p:nvPr>
            <p:ph type="title"/>
          </p:nvPr>
        </p:nvSpPr>
        <p:spPr/>
        <p:txBody>
          <a:bodyPr/>
          <a:lstStyle/>
          <a:p>
            <a:pPr>
              <a:defRPr/>
            </a:pPr>
            <a:r>
              <a:rPr lang="zh-CN" altLang="en-US"/>
              <a:t>近似算法</a:t>
            </a:r>
          </a:p>
        </p:txBody>
      </p:sp>
      <p:sp>
        <p:nvSpPr>
          <p:cNvPr id="287747" name="Freeform 3">
            <a:extLst>
              <a:ext uri="{FF2B5EF4-FFF2-40B4-BE49-F238E27FC236}">
                <a16:creationId xmlns:a16="http://schemas.microsoft.com/office/drawing/2014/main" id="{26F36252-5562-4122-AC89-C7A6CCBC2458}"/>
              </a:ext>
            </a:extLst>
          </p:cNvPr>
          <p:cNvSpPr>
            <a:spLocks/>
          </p:cNvSpPr>
          <p:nvPr/>
        </p:nvSpPr>
        <p:spPr bwMode="gray">
          <a:xfrm>
            <a:off x="533400" y="1346200"/>
            <a:ext cx="563563" cy="53181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12294" name="Rectangle 4">
            <a:extLst>
              <a:ext uri="{FF2B5EF4-FFF2-40B4-BE49-F238E27FC236}">
                <a16:creationId xmlns:a16="http://schemas.microsoft.com/office/drawing/2014/main" id="{CAA5D6C9-F065-450E-9F56-2D44F61A26CB}"/>
              </a:ext>
            </a:extLst>
          </p:cNvPr>
          <p:cNvSpPr>
            <a:spLocks noGrp="1" noChangeArrowheads="1"/>
          </p:cNvSpPr>
          <p:nvPr>
            <p:ph type="body" idx="1"/>
          </p:nvPr>
        </p:nvSpPr>
        <p:spPr>
          <a:xfrm>
            <a:off x="179388" y="1125538"/>
            <a:ext cx="8685212" cy="4391025"/>
          </a:xfrm>
        </p:spPr>
        <p:txBody>
          <a:bodyPr/>
          <a:lstStyle/>
          <a:p>
            <a:pPr>
              <a:lnSpc>
                <a:spcPct val="200000"/>
              </a:lnSpc>
              <a:spcBef>
                <a:spcPct val="15000"/>
              </a:spcBef>
              <a:defRPr/>
            </a:pPr>
            <a:r>
              <a:rPr lang="zh-CN" altLang="en-US" dirty="0">
                <a:solidFill>
                  <a:srgbClr val="FF0000"/>
                </a:solidFill>
                <a:latin typeface="Tahoma" pitchFamily="34" charset="0"/>
                <a:ea typeface="+mj-ea"/>
                <a:cs typeface="Tahoma" pitchFamily="34" charset="0"/>
              </a:rPr>
              <a:t>最优解：</a:t>
            </a:r>
            <a:r>
              <a:rPr lang="zh-CN" altLang="en-US" dirty="0">
                <a:latin typeface="Tahoma" pitchFamily="34" charset="0"/>
                <a:ea typeface="+mj-ea"/>
                <a:cs typeface="Tahoma" pitchFamily="34" charset="0"/>
              </a:rPr>
              <a:t>在实践中，找到绝对最好的解通常较为困难，而且可能用户并非一定要找到某个问题的绝对最好的解。</a:t>
            </a:r>
          </a:p>
          <a:p>
            <a:pPr>
              <a:lnSpc>
                <a:spcPct val="200000"/>
              </a:lnSpc>
              <a:spcBef>
                <a:spcPct val="15000"/>
              </a:spcBef>
              <a:defRPr/>
            </a:pPr>
            <a:r>
              <a:rPr lang="zh-CN" altLang="en-US" dirty="0">
                <a:solidFill>
                  <a:srgbClr val="FF0000"/>
                </a:solidFill>
                <a:latin typeface="Tahoma" pitchFamily="34" charset="0"/>
                <a:ea typeface="+mj-ea"/>
                <a:cs typeface="Tahoma" pitchFamily="34" charset="0"/>
              </a:rPr>
              <a:t>近似算法（</a:t>
            </a:r>
            <a:r>
              <a:rPr lang="en-US" altLang="zh-CN" dirty="0">
                <a:solidFill>
                  <a:srgbClr val="FF0000"/>
                </a:solidFill>
                <a:latin typeface="Tahoma" pitchFamily="34" charset="0"/>
                <a:ea typeface="Tahoma" pitchFamily="34" charset="0"/>
                <a:cs typeface="Tahoma" pitchFamily="34" charset="0"/>
              </a:rPr>
              <a:t>approximation algorithm</a:t>
            </a:r>
            <a:r>
              <a:rPr lang="zh-CN" altLang="en-US" dirty="0">
                <a:solidFill>
                  <a:srgbClr val="FF0000"/>
                </a:solidFill>
                <a:latin typeface="Tahoma" pitchFamily="34" charset="0"/>
                <a:ea typeface="+mj-ea"/>
                <a:cs typeface="Tahoma" pitchFamily="34" charset="0"/>
              </a:rPr>
              <a:t>） ：</a:t>
            </a:r>
            <a:r>
              <a:rPr lang="zh-CN" altLang="en-US" dirty="0">
                <a:latin typeface="Tahoma" pitchFamily="34" charset="0"/>
                <a:ea typeface="+mj-ea"/>
                <a:cs typeface="Tahoma" pitchFamily="34" charset="0"/>
              </a:rPr>
              <a:t>一个接近最优的解可能已经足够好，而且可能更容易找到。</a:t>
            </a:r>
          </a:p>
          <a:p>
            <a:pPr>
              <a:lnSpc>
                <a:spcPct val="200000"/>
              </a:lnSpc>
              <a:spcBef>
                <a:spcPct val="15000"/>
              </a:spcBef>
              <a:defRPr/>
            </a:pPr>
            <a:r>
              <a:rPr lang="zh-CN" altLang="en-US" dirty="0">
                <a:latin typeface="Tahoma" pitchFamily="34" charset="0"/>
                <a:ea typeface="+mj-ea"/>
                <a:cs typeface="Tahoma" pitchFamily="34" charset="0"/>
              </a:rPr>
              <a:t>顾名思义，近似算法是为寻求这种近似最优解而设计的。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animEffect transition="in" filter="wipe(left)">
                                      <p:cBhvr>
                                        <p:cTn id="7" dur="500"/>
                                        <p:tgtEl>
                                          <p:spTgt spid="122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4">
                                            <p:txEl>
                                              <p:pRg st="1" end="1"/>
                                            </p:txEl>
                                          </p:spTgt>
                                        </p:tgtEl>
                                        <p:attrNameLst>
                                          <p:attrName>style.visibility</p:attrName>
                                        </p:attrNameLst>
                                      </p:cBhvr>
                                      <p:to>
                                        <p:strVal val="visible"/>
                                      </p:to>
                                    </p:set>
                                    <p:animEffect transition="in" filter="wipe(left)">
                                      <p:cBhvr>
                                        <p:cTn id="12" dur="500"/>
                                        <p:tgtEl>
                                          <p:spTgt spid="1229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294">
                                            <p:txEl>
                                              <p:pRg st="2" end="2"/>
                                            </p:txEl>
                                          </p:spTgt>
                                        </p:tgtEl>
                                        <p:attrNameLst>
                                          <p:attrName>style.visibility</p:attrName>
                                        </p:attrNameLst>
                                      </p:cBhvr>
                                      <p:to>
                                        <p:strVal val="visible"/>
                                      </p:to>
                                    </p:set>
                                    <p:animEffect transition="in" filter="wipe(left)">
                                      <p:cBhvr>
                                        <p:cTn id="17" dur="500"/>
                                        <p:tgtEl>
                                          <p:spTgt spid="122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3">
            <a:extLst>
              <a:ext uri="{FF2B5EF4-FFF2-40B4-BE49-F238E27FC236}">
                <a16:creationId xmlns:a16="http://schemas.microsoft.com/office/drawing/2014/main" id="{84412C77-ABCD-4C14-9160-A2722EF9EF6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9B68EF5-6492-42C2-AE85-0E8870C38CA8}"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7171" name="灯片编号占位符 4">
            <a:extLst>
              <a:ext uri="{FF2B5EF4-FFF2-40B4-BE49-F238E27FC236}">
                <a16:creationId xmlns:a16="http://schemas.microsoft.com/office/drawing/2014/main" id="{792A2B57-AEB5-4FEC-BA12-14525C9000D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17B3E9C3-162B-41E0-AD28-E358C3E98CC2}"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88770" name="Rectangle 2">
            <a:extLst>
              <a:ext uri="{FF2B5EF4-FFF2-40B4-BE49-F238E27FC236}">
                <a16:creationId xmlns:a16="http://schemas.microsoft.com/office/drawing/2014/main" id="{BEE8397B-2FC6-4E09-AF5D-DB937FD15840}"/>
              </a:ext>
            </a:extLst>
          </p:cNvPr>
          <p:cNvSpPr>
            <a:spLocks noGrp="1" noChangeArrowheads="1"/>
          </p:cNvSpPr>
          <p:nvPr>
            <p:ph type="title"/>
          </p:nvPr>
        </p:nvSpPr>
        <p:spPr/>
        <p:txBody>
          <a:bodyPr/>
          <a:lstStyle/>
          <a:p>
            <a:pPr>
              <a:defRPr/>
            </a:pPr>
            <a:r>
              <a:rPr lang="zh-CN" altLang="en-US"/>
              <a:t>顶点覆盖问题</a:t>
            </a:r>
          </a:p>
        </p:txBody>
      </p:sp>
      <p:sp>
        <p:nvSpPr>
          <p:cNvPr id="288771" name="Rectangle 3">
            <a:extLst>
              <a:ext uri="{FF2B5EF4-FFF2-40B4-BE49-F238E27FC236}">
                <a16:creationId xmlns:a16="http://schemas.microsoft.com/office/drawing/2014/main" id="{9A599E44-3C08-4A45-A139-55200D2D8EDE}"/>
              </a:ext>
            </a:extLst>
          </p:cNvPr>
          <p:cNvSpPr>
            <a:spLocks noGrp="1" noChangeArrowheads="1"/>
          </p:cNvSpPr>
          <p:nvPr>
            <p:ph type="body" idx="1"/>
          </p:nvPr>
        </p:nvSpPr>
        <p:spPr>
          <a:xfrm>
            <a:off x="323850" y="1196975"/>
            <a:ext cx="8569325" cy="2016125"/>
          </a:xfrm>
        </p:spPr>
        <p:txBody>
          <a:bodyPr/>
          <a:lstStyle/>
          <a:p>
            <a:pPr>
              <a:lnSpc>
                <a:spcPct val="115000"/>
              </a:lnSpc>
              <a:spcBef>
                <a:spcPct val="15000"/>
              </a:spcBef>
              <a:defRPr/>
            </a:pPr>
            <a:r>
              <a:rPr lang="zh-CN" altLang="en-US" dirty="0">
                <a:latin typeface="Tahoma" pitchFamily="34" charset="0"/>
                <a:ea typeface="+mj-ea"/>
                <a:cs typeface="Tahoma" pitchFamily="34" charset="0"/>
              </a:rPr>
              <a:t>若 </a:t>
            </a:r>
            <a:r>
              <a:rPr lang="en-US" altLang="zh-CN" dirty="0">
                <a:latin typeface="Tahoma" pitchFamily="34" charset="0"/>
                <a:ea typeface="Tahoma" pitchFamily="34" charset="0"/>
                <a:cs typeface="Tahoma" pitchFamily="34" charset="0"/>
              </a:rPr>
              <a:t>G </a:t>
            </a:r>
            <a:r>
              <a:rPr lang="zh-CN" altLang="en-US" dirty="0">
                <a:latin typeface="Tahoma" pitchFamily="34" charset="0"/>
                <a:ea typeface="+mj-ea"/>
                <a:cs typeface="Tahoma" pitchFamily="34" charset="0"/>
              </a:rPr>
              <a:t>是无向图，则 </a:t>
            </a:r>
            <a:r>
              <a:rPr lang="en-US" altLang="zh-CN" dirty="0">
                <a:latin typeface="Tahoma" pitchFamily="34" charset="0"/>
                <a:ea typeface="Tahoma" pitchFamily="34" charset="0"/>
                <a:cs typeface="Tahoma" pitchFamily="34" charset="0"/>
              </a:rPr>
              <a:t>G </a:t>
            </a:r>
            <a:r>
              <a:rPr lang="zh-CN" altLang="en-US" dirty="0">
                <a:latin typeface="Tahoma" pitchFamily="34" charset="0"/>
                <a:ea typeface="+mj-ea"/>
                <a:cs typeface="Tahoma" pitchFamily="34" charset="0"/>
              </a:rPr>
              <a:t>的顶点覆盖是结点的一个子集，使得</a:t>
            </a:r>
            <a:r>
              <a:rPr lang="en-US" altLang="zh-CN" dirty="0">
                <a:latin typeface="Tahoma" pitchFamily="34" charset="0"/>
                <a:ea typeface="Tahoma" pitchFamily="34" charset="0"/>
                <a:cs typeface="Tahoma" pitchFamily="34" charset="0"/>
              </a:rPr>
              <a:t>G </a:t>
            </a:r>
            <a:r>
              <a:rPr lang="zh-CN" altLang="en-US" dirty="0">
                <a:latin typeface="Tahoma" pitchFamily="34" charset="0"/>
                <a:ea typeface="+mj-ea"/>
                <a:cs typeface="Tahoma" pitchFamily="34" charset="0"/>
              </a:rPr>
              <a:t>的每条边都与子集中的结点之一相关联。</a:t>
            </a:r>
          </a:p>
          <a:p>
            <a:pPr>
              <a:lnSpc>
                <a:spcPct val="115000"/>
              </a:lnSpc>
              <a:spcBef>
                <a:spcPct val="15000"/>
              </a:spcBef>
              <a:defRPr/>
            </a:pPr>
            <a:r>
              <a:rPr lang="zh-CN" altLang="en-US" dirty="0">
                <a:latin typeface="Tahoma" pitchFamily="34" charset="0"/>
                <a:ea typeface="+mj-ea"/>
                <a:cs typeface="Tahoma" pitchFamily="34" charset="0"/>
              </a:rPr>
              <a:t>最优化形式</a:t>
            </a:r>
            <a:r>
              <a:rPr lang="en-US" altLang="zh-CN" dirty="0">
                <a:latin typeface="Tahoma" pitchFamily="34" charset="0"/>
                <a:ea typeface="Tahoma" pitchFamily="34" charset="0"/>
                <a:cs typeface="Tahoma" pitchFamily="34" charset="0"/>
              </a:rPr>
              <a:t>(MIN-VERTEX-COVER)</a:t>
            </a:r>
            <a:r>
              <a:rPr lang="zh-CN" altLang="en-US" dirty="0">
                <a:latin typeface="Tahoma" pitchFamily="34" charset="0"/>
                <a:ea typeface="+mj-ea"/>
                <a:cs typeface="Tahoma" pitchFamily="34" charset="0"/>
              </a:rPr>
              <a:t>：在所有可能的顶点覆盖中找到一个最小的顶点覆盖。</a:t>
            </a:r>
          </a:p>
        </p:txBody>
      </p:sp>
      <p:grpSp>
        <p:nvGrpSpPr>
          <p:cNvPr id="2" name="Group 4">
            <a:extLst>
              <a:ext uri="{FF2B5EF4-FFF2-40B4-BE49-F238E27FC236}">
                <a16:creationId xmlns:a16="http://schemas.microsoft.com/office/drawing/2014/main" id="{7B63AED1-309A-415D-9A5A-031904E1FD47}"/>
              </a:ext>
            </a:extLst>
          </p:cNvPr>
          <p:cNvGrpSpPr>
            <a:grpSpLocks/>
          </p:cNvGrpSpPr>
          <p:nvPr/>
        </p:nvGrpSpPr>
        <p:grpSpPr bwMode="auto">
          <a:xfrm>
            <a:off x="4716463" y="3287713"/>
            <a:ext cx="3024187" cy="2592387"/>
            <a:chOff x="567" y="2160"/>
            <a:chExt cx="1905" cy="1633"/>
          </a:xfrm>
        </p:grpSpPr>
        <p:sp>
          <p:nvSpPr>
            <p:cNvPr id="7192" name="Oval 5">
              <a:extLst>
                <a:ext uri="{FF2B5EF4-FFF2-40B4-BE49-F238E27FC236}">
                  <a16:creationId xmlns:a16="http://schemas.microsoft.com/office/drawing/2014/main" id="{3AE18DC3-A865-4BEF-9AAB-8110F1ABAF64}"/>
                </a:ext>
              </a:extLst>
            </p:cNvPr>
            <p:cNvSpPr>
              <a:spLocks noChangeArrowheads="1"/>
            </p:cNvSpPr>
            <p:nvPr/>
          </p:nvSpPr>
          <p:spPr bwMode="auto">
            <a:xfrm>
              <a:off x="794" y="2795"/>
              <a:ext cx="91" cy="91"/>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93" name="Text Box 6">
              <a:extLst>
                <a:ext uri="{FF2B5EF4-FFF2-40B4-BE49-F238E27FC236}">
                  <a16:creationId xmlns:a16="http://schemas.microsoft.com/office/drawing/2014/main" id="{A227D4EA-6554-4F3D-91D2-BB36458F9B19}"/>
                </a:ext>
              </a:extLst>
            </p:cNvPr>
            <p:cNvSpPr txBox="1">
              <a:spLocks noChangeArrowheads="1"/>
            </p:cNvSpPr>
            <p:nvPr/>
          </p:nvSpPr>
          <p:spPr bwMode="auto">
            <a:xfrm>
              <a:off x="567" y="2659"/>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1</a:t>
              </a:r>
            </a:p>
          </p:txBody>
        </p:sp>
        <p:sp>
          <p:nvSpPr>
            <p:cNvPr id="7194" name="Oval 7">
              <a:extLst>
                <a:ext uri="{FF2B5EF4-FFF2-40B4-BE49-F238E27FC236}">
                  <a16:creationId xmlns:a16="http://schemas.microsoft.com/office/drawing/2014/main" id="{8DB45743-1DA2-4AE0-89A2-9C57BC1C7B1D}"/>
                </a:ext>
              </a:extLst>
            </p:cNvPr>
            <p:cNvSpPr>
              <a:spLocks noChangeArrowheads="1"/>
            </p:cNvSpPr>
            <p:nvPr/>
          </p:nvSpPr>
          <p:spPr bwMode="auto">
            <a:xfrm>
              <a:off x="2109" y="2795"/>
              <a:ext cx="91" cy="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95" name="Text Box 8">
              <a:extLst>
                <a:ext uri="{FF2B5EF4-FFF2-40B4-BE49-F238E27FC236}">
                  <a16:creationId xmlns:a16="http://schemas.microsoft.com/office/drawing/2014/main" id="{A1226A3A-C99F-4BD3-B577-63F6073F118B}"/>
                </a:ext>
              </a:extLst>
            </p:cNvPr>
            <p:cNvSpPr txBox="1">
              <a:spLocks noChangeArrowheads="1"/>
            </p:cNvSpPr>
            <p:nvPr/>
          </p:nvSpPr>
          <p:spPr bwMode="auto">
            <a:xfrm>
              <a:off x="2245" y="2705"/>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4</a:t>
              </a:r>
            </a:p>
          </p:txBody>
        </p:sp>
        <p:sp>
          <p:nvSpPr>
            <p:cNvPr id="7196" name="Oval 9">
              <a:extLst>
                <a:ext uri="{FF2B5EF4-FFF2-40B4-BE49-F238E27FC236}">
                  <a16:creationId xmlns:a16="http://schemas.microsoft.com/office/drawing/2014/main" id="{AAC50F17-4A05-48D8-93DA-7F311CFAFC2B}"/>
                </a:ext>
              </a:extLst>
            </p:cNvPr>
            <p:cNvSpPr>
              <a:spLocks noChangeArrowheads="1"/>
            </p:cNvSpPr>
            <p:nvPr/>
          </p:nvSpPr>
          <p:spPr bwMode="auto">
            <a:xfrm>
              <a:off x="1066" y="3385"/>
              <a:ext cx="91" cy="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97" name="Text Box 10">
              <a:extLst>
                <a:ext uri="{FF2B5EF4-FFF2-40B4-BE49-F238E27FC236}">
                  <a16:creationId xmlns:a16="http://schemas.microsoft.com/office/drawing/2014/main" id="{A54F225C-87B1-4F52-B6AB-50386B450125}"/>
                </a:ext>
              </a:extLst>
            </p:cNvPr>
            <p:cNvSpPr txBox="1">
              <a:spLocks noChangeArrowheads="1"/>
            </p:cNvSpPr>
            <p:nvPr/>
          </p:nvSpPr>
          <p:spPr bwMode="auto">
            <a:xfrm>
              <a:off x="839" y="3340"/>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2</a:t>
              </a:r>
            </a:p>
          </p:txBody>
        </p:sp>
        <p:sp>
          <p:nvSpPr>
            <p:cNvPr id="7198" name="Oval 11">
              <a:extLst>
                <a:ext uri="{FF2B5EF4-FFF2-40B4-BE49-F238E27FC236}">
                  <a16:creationId xmlns:a16="http://schemas.microsoft.com/office/drawing/2014/main" id="{8316E489-A52B-4734-8A55-8C8E1554EAE8}"/>
                </a:ext>
              </a:extLst>
            </p:cNvPr>
            <p:cNvSpPr>
              <a:spLocks noChangeArrowheads="1"/>
            </p:cNvSpPr>
            <p:nvPr/>
          </p:nvSpPr>
          <p:spPr bwMode="auto">
            <a:xfrm>
              <a:off x="1882" y="3521"/>
              <a:ext cx="91" cy="91"/>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99" name="Text Box 12">
              <a:extLst>
                <a:ext uri="{FF2B5EF4-FFF2-40B4-BE49-F238E27FC236}">
                  <a16:creationId xmlns:a16="http://schemas.microsoft.com/office/drawing/2014/main" id="{DF202AA9-7A7E-4A78-8A2C-506DD379D9AB}"/>
                </a:ext>
              </a:extLst>
            </p:cNvPr>
            <p:cNvSpPr txBox="1">
              <a:spLocks noChangeArrowheads="1"/>
            </p:cNvSpPr>
            <p:nvPr/>
          </p:nvSpPr>
          <p:spPr bwMode="auto">
            <a:xfrm>
              <a:off x="1656" y="3543"/>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3</a:t>
              </a:r>
            </a:p>
          </p:txBody>
        </p:sp>
        <p:sp>
          <p:nvSpPr>
            <p:cNvPr id="7200" name="Oval 13">
              <a:extLst>
                <a:ext uri="{FF2B5EF4-FFF2-40B4-BE49-F238E27FC236}">
                  <a16:creationId xmlns:a16="http://schemas.microsoft.com/office/drawing/2014/main" id="{8B7F3A8F-8141-4553-AB10-2A9532CF70FB}"/>
                </a:ext>
              </a:extLst>
            </p:cNvPr>
            <p:cNvSpPr>
              <a:spLocks noChangeArrowheads="1"/>
            </p:cNvSpPr>
            <p:nvPr/>
          </p:nvSpPr>
          <p:spPr bwMode="auto">
            <a:xfrm>
              <a:off x="1519" y="2432"/>
              <a:ext cx="91" cy="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201" name="Text Box 14">
              <a:extLst>
                <a:ext uri="{FF2B5EF4-FFF2-40B4-BE49-F238E27FC236}">
                  <a16:creationId xmlns:a16="http://schemas.microsoft.com/office/drawing/2014/main" id="{EF7BD3B0-74DD-4458-A6DA-CDBA9437F089}"/>
                </a:ext>
              </a:extLst>
            </p:cNvPr>
            <p:cNvSpPr txBox="1">
              <a:spLocks noChangeArrowheads="1"/>
            </p:cNvSpPr>
            <p:nvPr/>
          </p:nvSpPr>
          <p:spPr bwMode="auto">
            <a:xfrm>
              <a:off x="1520" y="2160"/>
              <a:ext cx="2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5</a:t>
              </a:r>
            </a:p>
          </p:txBody>
        </p:sp>
        <p:sp>
          <p:nvSpPr>
            <p:cNvPr id="7202" name="Line 15">
              <a:extLst>
                <a:ext uri="{FF2B5EF4-FFF2-40B4-BE49-F238E27FC236}">
                  <a16:creationId xmlns:a16="http://schemas.microsoft.com/office/drawing/2014/main" id="{3D56B982-4976-4F17-94B8-F5E72B8FCD32}"/>
                </a:ext>
              </a:extLst>
            </p:cNvPr>
            <p:cNvSpPr>
              <a:spLocks noChangeShapeType="1"/>
            </p:cNvSpPr>
            <p:nvPr/>
          </p:nvSpPr>
          <p:spPr bwMode="auto">
            <a:xfrm>
              <a:off x="885" y="2841"/>
              <a:ext cx="122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3" name="Line 16">
              <a:extLst>
                <a:ext uri="{FF2B5EF4-FFF2-40B4-BE49-F238E27FC236}">
                  <a16:creationId xmlns:a16="http://schemas.microsoft.com/office/drawing/2014/main" id="{60BDB40D-CF43-4CAB-90D9-9127C5BD8891}"/>
                </a:ext>
              </a:extLst>
            </p:cNvPr>
            <p:cNvSpPr>
              <a:spLocks noChangeShapeType="1"/>
            </p:cNvSpPr>
            <p:nvPr/>
          </p:nvSpPr>
          <p:spPr bwMode="auto">
            <a:xfrm flipV="1">
              <a:off x="839" y="2478"/>
              <a:ext cx="681" cy="31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4" name="Line 17">
              <a:extLst>
                <a:ext uri="{FF2B5EF4-FFF2-40B4-BE49-F238E27FC236}">
                  <a16:creationId xmlns:a16="http://schemas.microsoft.com/office/drawing/2014/main" id="{BE89AE85-8076-4895-B42A-DFD34810369A}"/>
                </a:ext>
              </a:extLst>
            </p:cNvPr>
            <p:cNvSpPr>
              <a:spLocks noChangeShapeType="1"/>
            </p:cNvSpPr>
            <p:nvPr/>
          </p:nvSpPr>
          <p:spPr bwMode="auto">
            <a:xfrm>
              <a:off x="839" y="2886"/>
              <a:ext cx="272" cy="49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5" name="Line 18">
              <a:extLst>
                <a:ext uri="{FF2B5EF4-FFF2-40B4-BE49-F238E27FC236}">
                  <a16:creationId xmlns:a16="http://schemas.microsoft.com/office/drawing/2014/main" id="{B000A381-46A3-4BC6-999F-79CA0EC074D4}"/>
                </a:ext>
              </a:extLst>
            </p:cNvPr>
            <p:cNvSpPr>
              <a:spLocks noChangeShapeType="1"/>
            </p:cNvSpPr>
            <p:nvPr/>
          </p:nvSpPr>
          <p:spPr bwMode="auto">
            <a:xfrm>
              <a:off x="1565" y="2523"/>
              <a:ext cx="363" cy="99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6" name="Line 19">
              <a:extLst>
                <a:ext uri="{FF2B5EF4-FFF2-40B4-BE49-F238E27FC236}">
                  <a16:creationId xmlns:a16="http://schemas.microsoft.com/office/drawing/2014/main" id="{54F575A5-1E6A-4709-A7FE-1E3C9A4D908F}"/>
                </a:ext>
              </a:extLst>
            </p:cNvPr>
            <p:cNvSpPr>
              <a:spLocks noChangeShapeType="1"/>
            </p:cNvSpPr>
            <p:nvPr/>
          </p:nvSpPr>
          <p:spPr bwMode="auto">
            <a:xfrm>
              <a:off x="1157" y="3430"/>
              <a:ext cx="726" cy="136"/>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07" name="Line 20">
              <a:extLst>
                <a:ext uri="{FF2B5EF4-FFF2-40B4-BE49-F238E27FC236}">
                  <a16:creationId xmlns:a16="http://schemas.microsoft.com/office/drawing/2014/main" id="{99B8131D-3217-4990-9AEB-DB0702263B16}"/>
                </a:ext>
              </a:extLst>
            </p:cNvPr>
            <p:cNvSpPr>
              <a:spLocks noChangeShapeType="1"/>
            </p:cNvSpPr>
            <p:nvPr/>
          </p:nvSpPr>
          <p:spPr bwMode="auto">
            <a:xfrm flipH="1">
              <a:off x="1928" y="2886"/>
              <a:ext cx="227" cy="63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1">
            <a:extLst>
              <a:ext uri="{FF2B5EF4-FFF2-40B4-BE49-F238E27FC236}">
                <a16:creationId xmlns:a16="http://schemas.microsoft.com/office/drawing/2014/main" id="{863C75FE-2FF1-4759-9443-8806C03118B4}"/>
              </a:ext>
            </a:extLst>
          </p:cNvPr>
          <p:cNvGrpSpPr>
            <a:grpSpLocks/>
          </p:cNvGrpSpPr>
          <p:nvPr/>
        </p:nvGrpSpPr>
        <p:grpSpPr bwMode="auto">
          <a:xfrm>
            <a:off x="1183180" y="3213100"/>
            <a:ext cx="3024187" cy="2592387"/>
            <a:chOff x="2789" y="2160"/>
            <a:chExt cx="1905" cy="1633"/>
          </a:xfrm>
        </p:grpSpPr>
        <p:sp>
          <p:nvSpPr>
            <p:cNvPr id="7176" name="Oval 22">
              <a:extLst>
                <a:ext uri="{FF2B5EF4-FFF2-40B4-BE49-F238E27FC236}">
                  <a16:creationId xmlns:a16="http://schemas.microsoft.com/office/drawing/2014/main" id="{F21B7E0A-2BAF-4D06-B3C6-5631D62F6973}"/>
                </a:ext>
              </a:extLst>
            </p:cNvPr>
            <p:cNvSpPr>
              <a:spLocks noChangeArrowheads="1"/>
            </p:cNvSpPr>
            <p:nvPr/>
          </p:nvSpPr>
          <p:spPr bwMode="auto">
            <a:xfrm>
              <a:off x="3016" y="2795"/>
              <a:ext cx="91" cy="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77" name="Text Box 23">
              <a:extLst>
                <a:ext uri="{FF2B5EF4-FFF2-40B4-BE49-F238E27FC236}">
                  <a16:creationId xmlns:a16="http://schemas.microsoft.com/office/drawing/2014/main" id="{2C55A922-CD10-4AA6-8A53-CA6E6DCF9FE8}"/>
                </a:ext>
              </a:extLst>
            </p:cNvPr>
            <p:cNvSpPr txBox="1">
              <a:spLocks noChangeArrowheads="1"/>
            </p:cNvSpPr>
            <p:nvPr/>
          </p:nvSpPr>
          <p:spPr bwMode="auto">
            <a:xfrm>
              <a:off x="2789" y="2659"/>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1</a:t>
              </a:r>
            </a:p>
          </p:txBody>
        </p:sp>
        <p:sp>
          <p:nvSpPr>
            <p:cNvPr id="7178" name="Oval 24">
              <a:extLst>
                <a:ext uri="{FF2B5EF4-FFF2-40B4-BE49-F238E27FC236}">
                  <a16:creationId xmlns:a16="http://schemas.microsoft.com/office/drawing/2014/main" id="{C81B0FC8-F326-463F-9D21-4C0D94DE2EE7}"/>
                </a:ext>
              </a:extLst>
            </p:cNvPr>
            <p:cNvSpPr>
              <a:spLocks noChangeArrowheads="1"/>
            </p:cNvSpPr>
            <p:nvPr/>
          </p:nvSpPr>
          <p:spPr bwMode="auto">
            <a:xfrm>
              <a:off x="4331" y="2795"/>
              <a:ext cx="91" cy="91"/>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79" name="Text Box 25">
              <a:extLst>
                <a:ext uri="{FF2B5EF4-FFF2-40B4-BE49-F238E27FC236}">
                  <a16:creationId xmlns:a16="http://schemas.microsoft.com/office/drawing/2014/main" id="{F222AE04-44A1-4AEA-AB7C-30256C564B17}"/>
                </a:ext>
              </a:extLst>
            </p:cNvPr>
            <p:cNvSpPr txBox="1">
              <a:spLocks noChangeArrowheads="1"/>
            </p:cNvSpPr>
            <p:nvPr/>
          </p:nvSpPr>
          <p:spPr bwMode="auto">
            <a:xfrm>
              <a:off x="4467" y="2705"/>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4</a:t>
              </a:r>
            </a:p>
          </p:txBody>
        </p:sp>
        <p:sp>
          <p:nvSpPr>
            <p:cNvPr id="7180" name="Oval 26">
              <a:extLst>
                <a:ext uri="{FF2B5EF4-FFF2-40B4-BE49-F238E27FC236}">
                  <a16:creationId xmlns:a16="http://schemas.microsoft.com/office/drawing/2014/main" id="{8E7709BD-ABFD-4FC5-918C-5D2234CF14B7}"/>
                </a:ext>
              </a:extLst>
            </p:cNvPr>
            <p:cNvSpPr>
              <a:spLocks noChangeArrowheads="1"/>
            </p:cNvSpPr>
            <p:nvPr/>
          </p:nvSpPr>
          <p:spPr bwMode="auto">
            <a:xfrm>
              <a:off x="3288" y="3385"/>
              <a:ext cx="91" cy="91"/>
            </a:xfrm>
            <a:prstGeom prst="ellipse">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81" name="Text Box 27">
              <a:extLst>
                <a:ext uri="{FF2B5EF4-FFF2-40B4-BE49-F238E27FC236}">
                  <a16:creationId xmlns:a16="http://schemas.microsoft.com/office/drawing/2014/main" id="{CEE4DC1B-AEF8-47B8-BDF4-DCE633DDA812}"/>
                </a:ext>
              </a:extLst>
            </p:cNvPr>
            <p:cNvSpPr txBox="1">
              <a:spLocks noChangeArrowheads="1"/>
            </p:cNvSpPr>
            <p:nvPr/>
          </p:nvSpPr>
          <p:spPr bwMode="auto">
            <a:xfrm>
              <a:off x="3061" y="3340"/>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2</a:t>
              </a:r>
            </a:p>
          </p:txBody>
        </p:sp>
        <p:sp>
          <p:nvSpPr>
            <p:cNvPr id="7182" name="Oval 28">
              <a:extLst>
                <a:ext uri="{FF2B5EF4-FFF2-40B4-BE49-F238E27FC236}">
                  <a16:creationId xmlns:a16="http://schemas.microsoft.com/office/drawing/2014/main" id="{4398463F-94EE-4FE9-B4D2-0056830B5A95}"/>
                </a:ext>
              </a:extLst>
            </p:cNvPr>
            <p:cNvSpPr>
              <a:spLocks noChangeArrowheads="1"/>
            </p:cNvSpPr>
            <p:nvPr/>
          </p:nvSpPr>
          <p:spPr bwMode="auto">
            <a:xfrm>
              <a:off x="4104" y="3521"/>
              <a:ext cx="91" cy="9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83" name="Text Box 29">
              <a:extLst>
                <a:ext uri="{FF2B5EF4-FFF2-40B4-BE49-F238E27FC236}">
                  <a16:creationId xmlns:a16="http://schemas.microsoft.com/office/drawing/2014/main" id="{8DCD67D3-714E-4BCD-A082-DFE964D64BD4}"/>
                </a:ext>
              </a:extLst>
            </p:cNvPr>
            <p:cNvSpPr txBox="1">
              <a:spLocks noChangeArrowheads="1"/>
            </p:cNvSpPr>
            <p:nvPr/>
          </p:nvSpPr>
          <p:spPr bwMode="auto">
            <a:xfrm>
              <a:off x="3878" y="3543"/>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3</a:t>
              </a:r>
            </a:p>
          </p:txBody>
        </p:sp>
        <p:sp>
          <p:nvSpPr>
            <p:cNvPr id="7184" name="Oval 30">
              <a:extLst>
                <a:ext uri="{FF2B5EF4-FFF2-40B4-BE49-F238E27FC236}">
                  <a16:creationId xmlns:a16="http://schemas.microsoft.com/office/drawing/2014/main" id="{4424A054-0DFD-4FB9-A7E6-F91C871DADBC}"/>
                </a:ext>
              </a:extLst>
            </p:cNvPr>
            <p:cNvSpPr>
              <a:spLocks noChangeArrowheads="1"/>
            </p:cNvSpPr>
            <p:nvPr/>
          </p:nvSpPr>
          <p:spPr bwMode="auto">
            <a:xfrm>
              <a:off x="3741" y="2432"/>
              <a:ext cx="91" cy="91"/>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7185" name="Text Box 31">
              <a:extLst>
                <a:ext uri="{FF2B5EF4-FFF2-40B4-BE49-F238E27FC236}">
                  <a16:creationId xmlns:a16="http://schemas.microsoft.com/office/drawing/2014/main" id="{B64B2E2C-A533-47B0-BB77-768B41915E70}"/>
                </a:ext>
              </a:extLst>
            </p:cNvPr>
            <p:cNvSpPr txBox="1">
              <a:spLocks noChangeArrowheads="1"/>
            </p:cNvSpPr>
            <p:nvPr/>
          </p:nvSpPr>
          <p:spPr bwMode="auto">
            <a:xfrm>
              <a:off x="3742" y="2160"/>
              <a:ext cx="2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5</a:t>
              </a:r>
            </a:p>
          </p:txBody>
        </p:sp>
        <p:sp>
          <p:nvSpPr>
            <p:cNvPr id="7186" name="Line 32">
              <a:extLst>
                <a:ext uri="{FF2B5EF4-FFF2-40B4-BE49-F238E27FC236}">
                  <a16:creationId xmlns:a16="http://schemas.microsoft.com/office/drawing/2014/main" id="{E7D3D9DC-AF37-4B7C-B040-0DC4B32E7694}"/>
                </a:ext>
              </a:extLst>
            </p:cNvPr>
            <p:cNvSpPr>
              <a:spLocks noChangeShapeType="1"/>
            </p:cNvSpPr>
            <p:nvPr/>
          </p:nvSpPr>
          <p:spPr bwMode="auto">
            <a:xfrm>
              <a:off x="3107" y="2841"/>
              <a:ext cx="1224"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7" name="Line 33">
              <a:extLst>
                <a:ext uri="{FF2B5EF4-FFF2-40B4-BE49-F238E27FC236}">
                  <a16:creationId xmlns:a16="http://schemas.microsoft.com/office/drawing/2014/main" id="{B9AE4C64-F2F9-469F-A24F-964C13FD70EE}"/>
                </a:ext>
              </a:extLst>
            </p:cNvPr>
            <p:cNvSpPr>
              <a:spLocks noChangeShapeType="1"/>
            </p:cNvSpPr>
            <p:nvPr/>
          </p:nvSpPr>
          <p:spPr bwMode="auto">
            <a:xfrm flipV="1">
              <a:off x="3061" y="2478"/>
              <a:ext cx="681" cy="31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8" name="Line 34">
              <a:extLst>
                <a:ext uri="{FF2B5EF4-FFF2-40B4-BE49-F238E27FC236}">
                  <a16:creationId xmlns:a16="http://schemas.microsoft.com/office/drawing/2014/main" id="{105010BC-CE15-44F5-A874-826FC33A7D6E}"/>
                </a:ext>
              </a:extLst>
            </p:cNvPr>
            <p:cNvSpPr>
              <a:spLocks noChangeShapeType="1"/>
            </p:cNvSpPr>
            <p:nvPr/>
          </p:nvSpPr>
          <p:spPr bwMode="auto">
            <a:xfrm>
              <a:off x="3061" y="2886"/>
              <a:ext cx="272" cy="499"/>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9" name="Line 35">
              <a:extLst>
                <a:ext uri="{FF2B5EF4-FFF2-40B4-BE49-F238E27FC236}">
                  <a16:creationId xmlns:a16="http://schemas.microsoft.com/office/drawing/2014/main" id="{1F95A498-B4C2-4F48-89F5-3111EE99F49A}"/>
                </a:ext>
              </a:extLst>
            </p:cNvPr>
            <p:cNvSpPr>
              <a:spLocks noChangeShapeType="1"/>
            </p:cNvSpPr>
            <p:nvPr/>
          </p:nvSpPr>
          <p:spPr bwMode="auto">
            <a:xfrm>
              <a:off x="3787" y="2523"/>
              <a:ext cx="363" cy="99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0" name="Line 36">
              <a:extLst>
                <a:ext uri="{FF2B5EF4-FFF2-40B4-BE49-F238E27FC236}">
                  <a16:creationId xmlns:a16="http://schemas.microsoft.com/office/drawing/2014/main" id="{569BA9DD-D1B3-4C96-8AD4-5FF0D82A0E78}"/>
                </a:ext>
              </a:extLst>
            </p:cNvPr>
            <p:cNvSpPr>
              <a:spLocks noChangeShapeType="1"/>
            </p:cNvSpPr>
            <p:nvPr/>
          </p:nvSpPr>
          <p:spPr bwMode="auto">
            <a:xfrm>
              <a:off x="3379" y="3430"/>
              <a:ext cx="726" cy="136"/>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1" name="Line 37">
              <a:extLst>
                <a:ext uri="{FF2B5EF4-FFF2-40B4-BE49-F238E27FC236}">
                  <a16:creationId xmlns:a16="http://schemas.microsoft.com/office/drawing/2014/main" id="{B5E0BFE5-CC6B-474D-A32B-CD3B940D6083}"/>
                </a:ext>
              </a:extLst>
            </p:cNvPr>
            <p:cNvSpPr>
              <a:spLocks noChangeShapeType="1"/>
            </p:cNvSpPr>
            <p:nvPr/>
          </p:nvSpPr>
          <p:spPr bwMode="auto">
            <a:xfrm flipH="1">
              <a:off x="4150" y="2886"/>
              <a:ext cx="227" cy="63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2" name="椭圆 41">
            <a:extLst>
              <a:ext uri="{FF2B5EF4-FFF2-40B4-BE49-F238E27FC236}">
                <a16:creationId xmlns:a16="http://schemas.microsoft.com/office/drawing/2014/main" id="{D839F85F-7734-48E5-B89F-8DE931269EAD}"/>
              </a:ext>
            </a:extLst>
          </p:cNvPr>
          <p:cNvSpPr/>
          <p:nvPr/>
        </p:nvSpPr>
        <p:spPr bwMode="auto">
          <a:xfrm rot="2360234">
            <a:off x="6439099" y="5226196"/>
            <a:ext cx="733601" cy="722295"/>
          </a:xfrm>
          <a:prstGeom prst="ellipse">
            <a:avLst/>
          </a:prstGeom>
          <a:noFill/>
          <a:ln w="1270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rgbClr val="0000FF"/>
              </a:solidFill>
              <a:effectLst/>
              <a:latin typeface="Helvetica" pitchFamily="2" charset="0"/>
              <a:ea typeface="宋体" pitchFamily="2" charset="-122"/>
            </a:endParaRPr>
          </a:p>
        </p:txBody>
      </p:sp>
      <p:sp>
        <p:nvSpPr>
          <p:cNvPr id="43" name="椭圆 42">
            <a:extLst>
              <a:ext uri="{FF2B5EF4-FFF2-40B4-BE49-F238E27FC236}">
                <a16:creationId xmlns:a16="http://schemas.microsoft.com/office/drawing/2014/main" id="{BE3E1696-CDA7-4007-B9C0-6465ED13A907}"/>
              </a:ext>
            </a:extLst>
          </p:cNvPr>
          <p:cNvSpPr/>
          <p:nvPr/>
        </p:nvSpPr>
        <p:spPr bwMode="auto">
          <a:xfrm rot="2360234">
            <a:off x="4722002" y="3963858"/>
            <a:ext cx="733601" cy="722295"/>
          </a:xfrm>
          <a:prstGeom prst="ellipse">
            <a:avLst/>
          </a:prstGeom>
          <a:noFill/>
          <a:ln w="1270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rgbClr val="0000FF"/>
              </a:solidFill>
              <a:effectLst/>
              <a:latin typeface="Helvetica" pitchFamily="2" charset="0"/>
              <a:ea typeface="宋体" pitchFamily="2" charset="-122"/>
            </a:endParaRPr>
          </a:p>
        </p:txBody>
      </p:sp>
      <p:sp>
        <p:nvSpPr>
          <p:cNvPr id="44" name="椭圆 43">
            <a:extLst>
              <a:ext uri="{FF2B5EF4-FFF2-40B4-BE49-F238E27FC236}">
                <a16:creationId xmlns:a16="http://schemas.microsoft.com/office/drawing/2014/main" id="{925F6144-5AEE-4CAB-B6E0-00530B55CED8}"/>
              </a:ext>
            </a:extLst>
          </p:cNvPr>
          <p:cNvSpPr/>
          <p:nvPr/>
        </p:nvSpPr>
        <p:spPr bwMode="auto">
          <a:xfrm rot="2360234">
            <a:off x="3543506" y="3968759"/>
            <a:ext cx="733601" cy="722295"/>
          </a:xfrm>
          <a:prstGeom prst="ellipse">
            <a:avLst/>
          </a:prstGeom>
          <a:noFill/>
          <a:ln w="1270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rgbClr val="0000FF"/>
              </a:solidFill>
              <a:effectLst/>
              <a:latin typeface="Helvetica" pitchFamily="2" charset="0"/>
              <a:ea typeface="宋体" pitchFamily="2" charset="-122"/>
            </a:endParaRPr>
          </a:p>
        </p:txBody>
      </p:sp>
      <p:sp>
        <p:nvSpPr>
          <p:cNvPr id="45" name="椭圆 44">
            <a:extLst>
              <a:ext uri="{FF2B5EF4-FFF2-40B4-BE49-F238E27FC236}">
                <a16:creationId xmlns:a16="http://schemas.microsoft.com/office/drawing/2014/main" id="{55D11C41-CFEF-4F52-B9CA-C798B784E955}"/>
              </a:ext>
            </a:extLst>
          </p:cNvPr>
          <p:cNvSpPr/>
          <p:nvPr/>
        </p:nvSpPr>
        <p:spPr bwMode="auto">
          <a:xfrm rot="2360234">
            <a:off x="2463553" y="3190413"/>
            <a:ext cx="733601" cy="722295"/>
          </a:xfrm>
          <a:prstGeom prst="ellipse">
            <a:avLst/>
          </a:prstGeom>
          <a:noFill/>
          <a:ln w="1270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rgbClr val="0000FF"/>
              </a:solidFill>
              <a:effectLst/>
              <a:latin typeface="Helvetica" pitchFamily="2" charset="0"/>
              <a:ea typeface="宋体" pitchFamily="2" charset="-122"/>
            </a:endParaRPr>
          </a:p>
        </p:txBody>
      </p:sp>
      <p:sp>
        <p:nvSpPr>
          <p:cNvPr id="46" name="椭圆 45">
            <a:extLst>
              <a:ext uri="{FF2B5EF4-FFF2-40B4-BE49-F238E27FC236}">
                <a16:creationId xmlns:a16="http://schemas.microsoft.com/office/drawing/2014/main" id="{ED9E8872-ADD2-49A8-854B-A500C1470E46}"/>
              </a:ext>
            </a:extLst>
          </p:cNvPr>
          <p:cNvSpPr/>
          <p:nvPr/>
        </p:nvSpPr>
        <p:spPr bwMode="auto">
          <a:xfrm rot="2360234">
            <a:off x="1604501" y="4941101"/>
            <a:ext cx="733601" cy="722295"/>
          </a:xfrm>
          <a:prstGeom prst="ellipse">
            <a:avLst/>
          </a:prstGeom>
          <a:noFill/>
          <a:ln w="1270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rgbClr val="0000FF"/>
              </a:solidFill>
              <a:effectLst/>
              <a:latin typeface="Helvetica" pitchFamily="2"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animEffect transition="in" filter="wipe(left)">
                                      <p:cBhvr>
                                        <p:cTn id="7" dur="500"/>
                                        <p:tgtEl>
                                          <p:spTgt spid="288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8771">
                                            <p:txEl>
                                              <p:pRg st="1" end="1"/>
                                            </p:txEl>
                                          </p:spTgt>
                                        </p:tgtEl>
                                        <p:attrNameLst>
                                          <p:attrName>style.visibility</p:attrName>
                                        </p:attrNameLst>
                                      </p:cBhvr>
                                      <p:to>
                                        <p:strVal val="visible"/>
                                      </p:to>
                                    </p:set>
                                    <p:animEffect transition="in" filter="wipe(left)">
                                      <p:cBhvr>
                                        <p:cTn id="12" dur="500"/>
                                        <p:tgtEl>
                                          <p:spTgt spid="288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占位符 3">
            <a:extLst>
              <a:ext uri="{FF2B5EF4-FFF2-40B4-BE49-F238E27FC236}">
                <a16:creationId xmlns:a16="http://schemas.microsoft.com/office/drawing/2014/main" id="{2B0BEF2F-5BF5-444B-9813-F403ADF0023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8283EBDC-639E-4495-AA85-D871AFE929B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8195" name="灯片编号占位符 4">
            <a:extLst>
              <a:ext uri="{FF2B5EF4-FFF2-40B4-BE49-F238E27FC236}">
                <a16:creationId xmlns:a16="http://schemas.microsoft.com/office/drawing/2014/main" id="{3202842D-54F3-41DC-B613-402DF35CD5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AE007D91-2C3E-4EBA-8488-7DFC372EE4CD}"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89794" name="Rectangle 2">
            <a:extLst>
              <a:ext uri="{FF2B5EF4-FFF2-40B4-BE49-F238E27FC236}">
                <a16:creationId xmlns:a16="http://schemas.microsoft.com/office/drawing/2014/main" id="{729DED87-F4C8-435E-B9EE-DDAD5E0DFB5C}"/>
              </a:ext>
            </a:extLst>
          </p:cNvPr>
          <p:cNvSpPr>
            <a:spLocks noGrp="1" noChangeArrowheads="1"/>
          </p:cNvSpPr>
          <p:nvPr>
            <p:ph type="title"/>
          </p:nvPr>
        </p:nvSpPr>
        <p:spPr/>
        <p:txBody>
          <a:bodyPr/>
          <a:lstStyle/>
          <a:p>
            <a:pPr>
              <a:defRPr/>
            </a:pPr>
            <a:r>
              <a:rPr lang="zh-CN" altLang="en-US"/>
              <a:t>最小顶点覆盖的一个近似算法</a:t>
            </a:r>
          </a:p>
        </p:txBody>
      </p:sp>
      <p:sp>
        <p:nvSpPr>
          <p:cNvPr id="289795" name="Rectangle 3">
            <a:extLst>
              <a:ext uri="{FF2B5EF4-FFF2-40B4-BE49-F238E27FC236}">
                <a16:creationId xmlns:a16="http://schemas.microsoft.com/office/drawing/2014/main" id="{DCDEDED5-3DF1-49AD-A91C-3CC8F9EC621F}"/>
              </a:ext>
            </a:extLst>
          </p:cNvPr>
          <p:cNvSpPr>
            <a:spLocks noGrp="1" noChangeArrowheads="1"/>
          </p:cNvSpPr>
          <p:nvPr>
            <p:ph type="body" idx="1"/>
          </p:nvPr>
        </p:nvSpPr>
        <p:spPr>
          <a:xfrm>
            <a:off x="179388" y="1125538"/>
            <a:ext cx="8685212" cy="974725"/>
          </a:xfrm>
        </p:spPr>
        <p:txBody>
          <a:bodyPr/>
          <a:lstStyle/>
          <a:p>
            <a:pPr>
              <a:lnSpc>
                <a:spcPct val="115000"/>
              </a:lnSpc>
              <a:spcBef>
                <a:spcPct val="15000"/>
              </a:spcBef>
              <a:defRPr/>
            </a:pPr>
            <a:r>
              <a:rPr lang="zh-CN" altLang="en-US" dirty="0">
                <a:latin typeface="+mj-ea"/>
                <a:ea typeface="+mj-ea"/>
              </a:rPr>
              <a:t>下述多项式时间算法近似地解这个最优化问题，它给出一个顶点覆盖，其大小不超过最小顶点覆盖的大小的 </a:t>
            </a:r>
            <a:r>
              <a:rPr lang="en-US" altLang="zh-CN" dirty="0">
                <a:latin typeface="+mj-ea"/>
                <a:ea typeface="+mj-ea"/>
              </a:rPr>
              <a:t>2 </a:t>
            </a:r>
            <a:r>
              <a:rPr lang="zh-CN" altLang="en-US" dirty="0">
                <a:latin typeface="+mj-ea"/>
                <a:ea typeface="+mj-ea"/>
              </a:rPr>
              <a:t>倍。</a:t>
            </a:r>
          </a:p>
        </p:txBody>
      </p:sp>
      <p:sp>
        <p:nvSpPr>
          <p:cNvPr id="289796" name="Rectangle 4">
            <a:extLst>
              <a:ext uri="{FF2B5EF4-FFF2-40B4-BE49-F238E27FC236}">
                <a16:creationId xmlns:a16="http://schemas.microsoft.com/office/drawing/2014/main" id="{2BBED7D2-8B1E-4707-BCBB-0A1A0138C291}"/>
              </a:ext>
            </a:extLst>
          </p:cNvPr>
          <p:cNvSpPr>
            <a:spLocks noChangeArrowheads="1"/>
          </p:cNvSpPr>
          <p:nvPr/>
        </p:nvSpPr>
        <p:spPr bwMode="auto">
          <a:xfrm>
            <a:off x="323850" y="2420938"/>
            <a:ext cx="8569325" cy="36718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buFont typeface="Monotype Sorts" pitchFamily="2" charset="2"/>
              <a:buNone/>
            </a:pPr>
            <a:r>
              <a:rPr lang="en-US" altLang="zh-CN">
                <a:latin typeface="Tahoma" panose="020B0604030504040204" pitchFamily="34" charset="0"/>
                <a:ea typeface="宋体" panose="02010600030101010101" pitchFamily="2" charset="-122"/>
                <a:cs typeface="Tahoma" panose="020B0604030504040204" pitchFamily="34" charset="0"/>
              </a:rPr>
              <a:t>A</a:t>
            </a:r>
            <a:r>
              <a:rPr lang="zh-CN" altLang="en-US">
                <a:latin typeface="Tahoma" panose="020B0604030504040204" pitchFamily="34" charset="0"/>
                <a:ea typeface="隶书" panose="02010509060101010101" pitchFamily="49" charset="-122"/>
                <a:cs typeface="Tahoma" panose="020B0604030504040204" pitchFamily="34" charset="0"/>
              </a:rPr>
              <a:t>＝“输入一个无向图</a:t>
            </a:r>
            <a:r>
              <a:rPr lang="en-US" altLang="zh-CN">
                <a:latin typeface="Tahoma" panose="020B0604030504040204" pitchFamily="34" charset="0"/>
                <a:ea typeface="宋体" panose="02010600030101010101" pitchFamily="2" charset="-122"/>
                <a:cs typeface="Tahoma" panose="020B0604030504040204" pitchFamily="34" charset="0"/>
              </a:rPr>
              <a:t>&lt;G&gt;:</a:t>
            </a:r>
            <a:endParaRPr lang="zh-CN" altLang="en-US">
              <a:latin typeface="Tahoma" panose="020B0604030504040204" pitchFamily="34" charset="0"/>
              <a:ea typeface="隶书" panose="02010509060101010101" pitchFamily="49" charset="-122"/>
            </a:endParaRPr>
          </a:p>
          <a:p>
            <a:pPr lvl="1">
              <a:buFont typeface="Monotype Sorts" pitchFamily="2" charset="2"/>
              <a:buNone/>
            </a:pPr>
            <a:r>
              <a:rPr lang="en-US" altLang="zh-CN" sz="2800">
                <a:latin typeface="Tahoma" panose="020B0604030504040204" pitchFamily="34" charset="0"/>
                <a:ea typeface="宋体" panose="02010600030101010101" pitchFamily="2" charset="-122"/>
              </a:rPr>
              <a:t>1)</a:t>
            </a:r>
            <a:r>
              <a:rPr lang="zh-CN" altLang="en-US" sz="2800">
                <a:latin typeface="Tahoma" panose="020B0604030504040204" pitchFamily="34" charset="0"/>
                <a:ea typeface="隶书" panose="02010509060101010101" pitchFamily="49" charset="-122"/>
              </a:rPr>
              <a:t>重复下述操作直至 </a:t>
            </a:r>
            <a:r>
              <a:rPr lang="en-US" altLang="zh-CN" sz="2800">
                <a:latin typeface="Tahoma" panose="020B0604030504040204" pitchFamily="34" charset="0"/>
                <a:ea typeface="宋体" panose="02010600030101010101" pitchFamily="2" charset="-122"/>
              </a:rPr>
              <a:t>G </a:t>
            </a:r>
            <a:r>
              <a:rPr lang="zh-CN" altLang="en-US" sz="2800">
                <a:latin typeface="Tahoma" panose="020B0604030504040204" pitchFamily="34" charset="0"/>
                <a:ea typeface="隶书" panose="02010509060101010101" pitchFamily="49" charset="-122"/>
              </a:rPr>
              <a:t>中所有的边都与有标记的边相邻。</a:t>
            </a:r>
          </a:p>
          <a:p>
            <a:pPr lvl="1">
              <a:buFont typeface="Monotype Sorts" pitchFamily="2" charset="2"/>
              <a:buNone/>
            </a:pPr>
            <a:r>
              <a:rPr lang="en-US" altLang="zh-CN" sz="2800">
                <a:latin typeface="Tahoma" panose="020B0604030504040204" pitchFamily="34" charset="0"/>
                <a:ea typeface="宋体" panose="02010600030101010101" pitchFamily="2" charset="-122"/>
              </a:rPr>
              <a:t>2)</a:t>
            </a:r>
            <a:r>
              <a:rPr lang="zh-CN" altLang="en-US" sz="2800">
                <a:latin typeface="Tahoma" panose="020B0604030504040204" pitchFamily="34" charset="0"/>
                <a:ea typeface="隶书" panose="02010509060101010101" pitchFamily="49" charset="-122"/>
              </a:rPr>
              <a:t>在 </a:t>
            </a:r>
            <a:r>
              <a:rPr lang="en-US" altLang="zh-CN" sz="2800">
                <a:latin typeface="Tahoma" panose="020B0604030504040204" pitchFamily="34" charset="0"/>
                <a:ea typeface="宋体" panose="02010600030101010101" pitchFamily="2" charset="-122"/>
              </a:rPr>
              <a:t>G </a:t>
            </a:r>
            <a:r>
              <a:rPr lang="zh-CN" altLang="en-US" sz="2800">
                <a:latin typeface="Tahoma" panose="020B0604030504040204" pitchFamily="34" charset="0"/>
                <a:ea typeface="隶书" panose="02010509060101010101" pitchFamily="49" charset="-122"/>
              </a:rPr>
              <a:t>中找一条不与任何有标记的边相邻的边。</a:t>
            </a:r>
          </a:p>
          <a:p>
            <a:pPr lvl="1">
              <a:buFont typeface="Monotype Sorts" pitchFamily="2" charset="2"/>
              <a:buNone/>
            </a:pPr>
            <a:r>
              <a:rPr lang="en-US" altLang="zh-CN" sz="2800">
                <a:latin typeface="Tahoma" panose="020B0604030504040204" pitchFamily="34" charset="0"/>
                <a:ea typeface="宋体" panose="02010600030101010101" pitchFamily="2" charset="-122"/>
              </a:rPr>
              <a:t>3)</a:t>
            </a:r>
            <a:r>
              <a:rPr lang="zh-CN" altLang="en-US" sz="2800">
                <a:latin typeface="Tahoma" panose="020B0604030504040204" pitchFamily="34" charset="0"/>
                <a:ea typeface="隶书" panose="02010509060101010101" pitchFamily="49" charset="-122"/>
              </a:rPr>
              <a:t>给这条边作标记。</a:t>
            </a:r>
          </a:p>
          <a:p>
            <a:pPr lvl="1">
              <a:buFont typeface="Monotype Sorts" pitchFamily="2" charset="2"/>
              <a:buNone/>
            </a:pPr>
            <a:r>
              <a:rPr lang="en-US" altLang="zh-CN" sz="2800">
                <a:latin typeface="Tahoma" panose="020B0604030504040204" pitchFamily="34" charset="0"/>
                <a:ea typeface="宋体" panose="02010600030101010101" pitchFamily="2" charset="-122"/>
              </a:rPr>
              <a:t>4)</a:t>
            </a:r>
            <a:r>
              <a:rPr lang="zh-CN" altLang="en-US" sz="2800">
                <a:latin typeface="Tahoma" panose="020B0604030504040204" pitchFamily="34" charset="0"/>
                <a:ea typeface="隶书" panose="02010509060101010101" pitchFamily="49" charset="-122"/>
              </a:rPr>
              <a:t>输出所有有标记边的顶点。</a:t>
            </a:r>
            <a:r>
              <a:rPr lang="en-US" altLang="zh-CN" sz="2800">
                <a:latin typeface="Tahoma" panose="020B0604030504040204" pitchFamily="34" charset="0"/>
                <a:ea typeface="宋体" panose="02010600030101010101" pitchFamily="2" charset="-122"/>
              </a:rPr>
              <a:t>”</a:t>
            </a:r>
            <a:endParaRPr lang="zh-CN" altLang="en-US" sz="2800">
              <a:latin typeface="Tahoma" panose="020B0604030504040204" pitchFamily="34"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wipe(left)">
                                      <p:cBhvr>
                                        <p:cTn id="7" dur="500"/>
                                        <p:tgtEl>
                                          <p:spTgt spid="289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9796">
                                            <p:bg/>
                                          </p:spTgt>
                                        </p:tgtEl>
                                        <p:attrNameLst>
                                          <p:attrName>style.visibility</p:attrName>
                                        </p:attrNameLst>
                                      </p:cBhvr>
                                      <p:to>
                                        <p:strVal val="visible"/>
                                      </p:to>
                                    </p:set>
                                    <p:animEffect transition="in" filter="wipe(left)">
                                      <p:cBhvr>
                                        <p:cTn id="12" dur="500"/>
                                        <p:tgtEl>
                                          <p:spTgt spid="289796">
                                            <p:bg/>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9796">
                                            <p:txEl>
                                              <p:pRg st="0" end="0"/>
                                            </p:txEl>
                                          </p:spTgt>
                                        </p:tgtEl>
                                        <p:attrNameLst>
                                          <p:attrName>style.visibility</p:attrName>
                                        </p:attrNameLst>
                                      </p:cBhvr>
                                      <p:to>
                                        <p:strVal val="visible"/>
                                      </p:to>
                                    </p:set>
                                    <p:animEffect transition="in" filter="wipe(left)">
                                      <p:cBhvr>
                                        <p:cTn id="17" dur="500"/>
                                        <p:tgtEl>
                                          <p:spTgt spid="289796">
                                            <p:txEl>
                                              <p:pRg st="0" end="0"/>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89796">
                                            <p:txEl>
                                              <p:pRg st="1" end="1"/>
                                            </p:txEl>
                                          </p:spTgt>
                                        </p:tgtEl>
                                        <p:attrNameLst>
                                          <p:attrName>style.visibility</p:attrName>
                                        </p:attrNameLst>
                                      </p:cBhvr>
                                      <p:to>
                                        <p:strVal val="visible"/>
                                      </p:to>
                                    </p:set>
                                    <p:animEffect transition="in" filter="wipe(left)">
                                      <p:cBhvr>
                                        <p:cTn id="20" dur="500"/>
                                        <p:tgtEl>
                                          <p:spTgt spid="289796">
                                            <p:txEl>
                                              <p:pRg st="1" end="1"/>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9796">
                                            <p:txEl>
                                              <p:pRg st="2" end="2"/>
                                            </p:txEl>
                                          </p:spTgt>
                                        </p:tgtEl>
                                        <p:attrNameLst>
                                          <p:attrName>style.visibility</p:attrName>
                                        </p:attrNameLst>
                                      </p:cBhvr>
                                      <p:to>
                                        <p:strVal val="visible"/>
                                      </p:to>
                                    </p:set>
                                    <p:animEffect transition="in" filter="wipe(left)">
                                      <p:cBhvr>
                                        <p:cTn id="23" dur="500"/>
                                        <p:tgtEl>
                                          <p:spTgt spid="289796">
                                            <p:txEl>
                                              <p:pRg st="2" end="2"/>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89796">
                                            <p:txEl>
                                              <p:pRg st="3" end="3"/>
                                            </p:txEl>
                                          </p:spTgt>
                                        </p:tgtEl>
                                        <p:attrNameLst>
                                          <p:attrName>style.visibility</p:attrName>
                                        </p:attrNameLst>
                                      </p:cBhvr>
                                      <p:to>
                                        <p:strVal val="visible"/>
                                      </p:to>
                                    </p:set>
                                    <p:animEffect transition="in" filter="wipe(left)">
                                      <p:cBhvr>
                                        <p:cTn id="26" dur="500"/>
                                        <p:tgtEl>
                                          <p:spTgt spid="289796">
                                            <p:txEl>
                                              <p:pRg st="3" end="3"/>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89796">
                                            <p:txEl>
                                              <p:pRg st="4" end="4"/>
                                            </p:txEl>
                                          </p:spTgt>
                                        </p:tgtEl>
                                        <p:attrNameLst>
                                          <p:attrName>style.visibility</p:attrName>
                                        </p:attrNameLst>
                                      </p:cBhvr>
                                      <p:to>
                                        <p:strVal val="visible"/>
                                      </p:to>
                                    </p:set>
                                    <p:animEffect transition="in" filter="wipe(left)">
                                      <p:cBhvr>
                                        <p:cTn id="29" dur="500"/>
                                        <p:tgtEl>
                                          <p:spTgt spid="28979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P spid="289796"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a:extLst>
              <a:ext uri="{FF2B5EF4-FFF2-40B4-BE49-F238E27FC236}">
                <a16:creationId xmlns:a16="http://schemas.microsoft.com/office/drawing/2014/main" id="{B9BF2EFB-772F-4ACA-B964-94641B0C3C6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A5BF5E7-0B00-4C6A-AEA8-2C0C8699C7BD}"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9219" name="灯片编号占位符 4">
            <a:extLst>
              <a:ext uri="{FF2B5EF4-FFF2-40B4-BE49-F238E27FC236}">
                <a16:creationId xmlns:a16="http://schemas.microsoft.com/office/drawing/2014/main" id="{18775E7B-78CE-4DC5-8271-921D453D04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2407C54B-B393-4293-9FEF-9A494940E5A6}"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6</a:t>
            </a:fld>
            <a:r>
              <a:rPr lang="zh-CN" altLang="en-US" sz="1200">
                <a:solidFill>
                  <a:schemeClr val="bg2"/>
                </a:solidFill>
                <a:latin typeface="Times New Roman" panose="02020603050405020304" pitchFamily="18" charset="0"/>
                <a:ea typeface="宋体" panose="02010600030101010101" pitchFamily="2" charset="-122"/>
              </a:rPr>
              <a:t>页</a:t>
            </a:r>
          </a:p>
        </p:txBody>
      </p:sp>
      <p:grpSp>
        <p:nvGrpSpPr>
          <p:cNvPr id="2" name="Group 2">
            <a:extLst>
              <a:ext uri="{FF2B5EF4-FFF2-40B4-BE49-F238E27FC236}">
                <a16:creationId xmlns:a16="http://schemas.microsoft.com/office/drawing/2014/main" id="{98DD1E03-0C75-4A18-A9E1-F2DC6E6BA022}"/>
              </a:ext>
            </a:extLst>
          </p:cNvPr>
          <p:cNvGrpSpPr>
            <a:grpSpLocks/>
          </p:cNvGrpSpPr>
          <p:nvPr/>
        </p:nvGrpSpPr>
        <p:grpSpPr bwMode="auto">
          <a:xfrm>
            <a:off x="296863" y="1125538"/>
            <a:ext cx="8667750" cy="1366837"/>
            <a:chOff x="187" y="709"/>
            <a:chExt cx="5460" cy="861"/>
          </a:xfrm>
        </p:grpSpPr>
        <p:sp>
          <p:nvSpPr>
            <p:cNvPr id="9223" name="AutoShape 3">
              <a:extLst>
                <a:ext uri="{FF2B5EF4-FFF2-40B4-BE49-F238E27FC236}">
                  <a16:creationId xmlns:a16="http://schemas.microsoft.com/office/drawing/2014/main" id="{DD286F6C-CE7A-4195-9253-ABC55B178F08}"/>
                </a:ext>
              </a:extLst>
            </p:cNvPr>
            <p:cNvSpPr>
              <a:spLocks noChangeArrowheads="1"/>
            </p:cNvSpPr>
            <p:nvPr/>
          </p:nvSpPr>
          <p:spPr bwMode="gray">
            <a:xfrm>
              <a:off x="187" y="709"/>
              <a:ext cx="5415" cy="861"/>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290820" name="AutoShape 4">
              <a:extLst>
                <a:ext uri="{FF2B5EF4-FFF2-40B4-BE49-F238E27FC236}">
                  <a16:creationId xmlns:a16="http://schemas.microsoft.com/office/drawing/2014/main" id="{14D47244-7691-4D2A-AC82-66B2657AD3DC}"/>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290821" name="Freeform 5">
              <a:extLst>
                <a:ext uri="{FF2B5EF4-FFF2-40B4-BE49-F238E27FC236}">
                  <a16:creationId xmlns:a16="http://schemas.microsoft.com/office/drawing/2014/main" id="{62B50357-4A29-4D1E-902E-4F60513CD4ED}"/>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290822" name="Text Box 6">
              <a:extLst>
                <a:ext uri="{FF2B5EF4-FFF2-40B4-BE49-F238E27FC236}">
                  <a16:creationId xmlns:a16="http://schemas.microsoft.com/office/drawing/2014/main" id="{D5B0927B-7D53-4B6F-A9D4-4054D00345FA}"/>
                </a:ext>
              </a:extLst>
            </p:cNvPr>
            <p:cNvSpPr txBox="1">
              <a:spLocks noChangeArrowheads="1"/>
            </p:cNvSpPr>
            <p:nvPr/>
          </p:nvSpPr>
          <p:spPr bwMode="gray">
            <a:xfrm>
              <a:off x="389" y="853"/>
              <a:ext cx="541" cy="523"/>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定理</a:t>
              </a:r>
            </a:p>
            <a:p>
              <a:pPr algn="ctr">
                <a:defRPr/>
              </a:pPr>
              <a:endParaRPr lang="en-US" altLang="zh-CN" sz="2400" b="1" dirty="0">
                <a:effectLst>
                  <a:outerShdw blurRad="38100" dist="38100" dir="2700000" algn="tl">
                    <a:srgbClr val="C0C0C0"/>
                  </a:outerShdw>
                </a:effectLst>
                <a:latin typeface="Times New Roman" pitchFamily="18" charset="0"/>
              </a:endParaRPr>
            </a:p>
          </p:txBody>
        </p:sp>
        <p:sp>
          <p:nvSpPr>
            <p:cNvPr id="15371" name="Text Box 7">
              <a:extLst>
                <a:ext uri="{FF2B5EF4-FFF2-40B4-BE49-F238E27FC236}">
                  <a16:creationId xmlns:a16="http://schemas.microsoft.com/office/drawing/2014/main" id="{1B0C336B-E864-47D5-A94D-EA85C4813A0D}"/>
                </a:ext>
              </a:extLst>
            </p:cNvPr>
            <p:cNvSpPr txBox="1">
              <a:spLocks noChangeArrowheads="1"/>
            </p:cNvSpPr>
            <p:nvPr/>
          </p:nvSpPr>
          <p:spPr bwMode="gray">
            <a:xfrm>
              <a:off x="1021" y="801"/>
              <a:ext cx="4626" cy="56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zh-CN" altLang="en-US" sz="2400" b="1" dirty="0">
                  <a:solidFill>
                    <a:schemeClr val="tx1"/>
                  </a:solidFill>
                  <a:latin typeface="Tahoma" pitchFamily="34" charset="0"/>
                  <a:ea typeface="+mj-ea"/>
                  <a:cs typeface="Tahoma" pitchFamily="34" charset="0"/>
                </a:rPr>
                <a:t>算法 </a:t>
              </a:r>
              <a:r>
                <a:rPr lang="en-US" altLang="zh-CN" sz="2400" b="1" dirty="0">
                  <a:solidFill>
                    <a:schemeClr val="tx1"/>
                  </a:solidFill>
                  <a:latin typeface="Tahoma" pitchFamily="34" charset="0"/>
                  <a:ea typeface="Tahoma" pitchFamily="34" charset="0"/>
                  <a:cs typeface="Tahoma" pitchFamily="34" charset="0"/>
                </a:rPr>
                <a:t>A </a:t>
              </a:r>
              <a:r>
                <a:rPr lang="zh-CN" altLang="en-US" sz="2400" b="1" dirty="0">
                  <a:solidFill>
                    <a:schemeClr val="tx1"/>
                  </a:solidFill>
                  <a:latin typeface="Tahoma" pitchFamily="34" charset="0"/>
                  <a:ea typeface="+mj-ea"/>
                  <a:cs typeface="Tahoma" pitchFamily="34" charset="0"/>
                </a:rPr>
                <a:t>是一个多项式时间算法，它给出 </a:t>
              </a:r>
              <a:r>
                <a:rPr lang="en-US" altLang="zh-CN" sz="2400" b="1" dirty="0">
                  <a:solidFill>
                    <a:schemeClr val="tx1"/>
                  </a:solidFill>
                  <a:latin typeface="Tahoma" pitchFamily="34" charset="0"/>
                  <a:ea typeface="Tahoma" pitchFamily="34" charset="0"/>
                  <a:cs typeface="Tahoma" pitchFamily="34" charset="0"/>
                </a:rPr>
                <a:t>G </a:t>
              </a:r>
              <a:r>
                <a:rPr lang="zh-CN" altLang="en-US" sz="2400" b="1" dirty="0">
                  <a:solidFill>
                    <a:schemeClr val="tx1"/>
                  </a:solidFill>
                  <a:latin typeface="Tahoma" pitchFamily="34" charset="0"/>
                  <a:ea typeface="+mj-ea"/>
                  <a:cs typeface="Tahoma" pitchFamily="34" charset="0"/>
                </a:rPr>
                <a:t>的一个顶点覆盖，其规模不超过 </a:t>
              </a:r>
              <a:r>
                <a:rPr lang="en-US" altLang="zh-CN" sz="2400" b="1" dirty="0">
                  <a:solidFill>
                    <a:schemeClr val="tx1"/>
                  </a:solidFill>
                  <a:latin typeface="Tahoma" pitchFamily="34" charset="0"/>
                  <a:ea typeface="Tahoma" pitchFamily="34" charset="0"/>
                  <a:cs typeface="Tahoma" pitchFamily="34" charset="0"/>
                </a:rPr>
                <a:t>G </a:t>
              </a:r>
              <a:r>
                <a:rPr lang="zh-CN" altLang="en-US" sz="2400" b="1" dirty="0">
                  <a:solidFill>
                    <a:schemeClr val="tx1"/>
                  </a:solidFill>
                  <a:latin typeface="Tahoma" pitchFamily="34" charset="0"/>
                  <a:ea typeface="+mj-ea"/>
                  <a:cs typeface="Tahoma" pitchFamily="34" charset="0"/>
                </a:rPr>
                <a:t>的最小顶点覆盖的 </a:t>
              </a:r>
              <a:r>
                <a:rPr lang="en-US" altLang="zh-CN" sz="2400" b="1" dirty="0">
                  <a:solidFill>
                    <a:schemeClr val="tx1"/>
                  </a:solidFill>
                  <a:latin typeface="Tahoma" pitchFamily="34" charset="0"/>
                  <a:ea typeface="Tahoma" pitchFamily="34" charset="0"/>
                  <a:cs typeface="Tahoma" pitchFamily="34" charset="0"/>
                </a:rPr>
                <a:t>2 </a:t>
              </a:r>
              <a:r>
                <a:rPr lang="zh-CN" altLang="en-US" sz="2400" b="1" dirty="0">
                  <a:solidFill>
                    <a:schemeClr val="tx1"/>
                  </a:solidFill>
                  <a:latin typeface="Tahoma" pitchFamily="34" charset="0"/>
                  <a:ea typeface="+mj-ea"/>
                  <a:cs typeface="Tahoma" pitchFamily="34" charset="0"/>
                </a:rPr>
                <a:t>倍。</a:t>
              </a:r>
              <a:endParaRPr kumimoji="1" lang="zh-CN" altLang="en-US" sz="2400" b="1" dirty="0">
                <a:solidFill>
                  <a:schemeClr val="tx1"/>
                </a:solidFill>
                <a:latin typeface="Tahoma" pitchFamily="34" charset="0"/>
                <a:ea typeface="+mj-ea"/>
                <a:cs typeface="Tahoma" pitchFamily="34" charset="0"/>
              </a:endParaRPr>
            </a:p>
          </p:txBody>
        </p:sp>
      </p:grpSp>
      <p:sp>
        <p:nvSpPr>
          <p:cNvPr id="290824" name="Rectangle 8">
            <a:extLst>
              <a:ext uri="{FF2B5EF4-FFF2-40B4-BE49-F238E27FC236}">
                <a16:creationId xmlns:a16="http://schemas.microsoft.com/office/drawing/2014/main" id="{4BA0AA75-ACF7-4EB3-83B2-07C29FF33780}"/>
              </a:ext>
            </a:extLst>
          </p:cNvPr>
          <p:cNvSpPr>
            <a:spLocks noGrp="1" noChangeArrowheads="1"/>
          </p:cNvSpPr>
          <p:nvPr>
            <p:ph type="title"/>
          </p:nvPr>
        </p:nvSpPr>
        <p:spPr/>
        <p:txBody>
          <a:bodyPr anchor="ctr"/>
          <a:lstStyle/>
          <a:p>
            <a:pPr>
              <a:defRPr/>
            </a:pPr>
            <a:r>
              <a:rPr lang="zh-CN" altLang="en-US"/>
              <a:t>最小顶点覆盖的一个近似算法</a:t>
            </a:r>
          </a:p>
        </p:txBody>
      </p:sp>
      <p:sp>
        <p:nvSpPr>
          <p:cNvPr id="290825" name="Rectangle 9">
            <a:extLst>
              <a:ext uri="{FF2B5EF4-FFF2-40B4-BE49-F238E27FC236}">
                <a16:creationId xmlns:a16="http://schemas.microsoft.com/office/drawing/2014/main" id="{8B0568CD-C3DF-4BCC-B604-2B2C2BE54504}"/>
              </a:ext>
            </a:extLst>
          </p:cNvPr>
          <p:cNvSpPr>
            <a:spLocks noGrp="1" noChangeArrowheads="1"/>
          </p:cNvSpPr>
          <p:nvPr>
            <p:ph type="body" idx="1"/>
          </p:nvPr>
        </p:nvSpPr>
        <p:spPr>
          <a:xfrm>
            <a:off x="179388" y="2921000"/>
            <a:ext cx="8685212" cy="3365500"/>
          </a:xfrm>
        </p:spPr>
        <p:txBody>
          <a:bodyPr/>
          <a:lstStyle/>
          <a:p>
            <a:r>
              <a:rPr lang="en-US" altLang="zh-CN">
                <a:latin typeface="Tahoma" panose="020B0604030504040204" pitchFamily="34" charset="0"/>
                <a:cs typeface="Tahoma" panose="020B0604030504040204" pitchFamily="34" charset="0"/>
              </a:rPr>
              <a:t>A </a:t>
            </a:r>
            <a:r>
              <a:rPr lang="zh-CN" altLang="en-US">
                <a:latin typeface="Tahoma" panose="020B0604030504040204" pitchFamily="34" charset="0"/>
                <a:ea typeface="隶书" panose="02010509060101010101" pitchFamily="49" charset="-122"/>
                <a:cs typeface="Tahoma" panose="020B0604030504040204" pitchFamily="34" charset="0"/>
              </a:rPr>
              <a:t>的运行时间显然是多项式界限的。</a:t>
            </a:r>
          </a:p>
          <a:p>
            <a:r>
              <a:rPr lang="zh-CN" altLang="en-US">
                <a:latin typeface="Tahoma" panose="020B0604030504040204" pitchFamily="34" charset="0"/>
                <a:ea typeface="隶书" panose="02010509060101010101" pitchFamily="49" charset="-122"/>
                <a:cs typeface="Tahoma" panose="020B0604030504040204" pitchFamily="34" charset="0"/>
              </a:rPr>
              <a:t>设 </a:t>
            </a:r>
            <a:r>
              <a:rPr lang="en-US" altLang="zh-CN">
                <a:latin typeface="Tahoma" panose="020B0604030504040204" pitchFamily="34" charset="0"/>
                <a:cs typeface="Tahoma" panose="020B0604030504040204" pitchFamily="34" charset="0"/>
              </a:rPr>
              <a:t>X </a:t>
            </a:r>
            <a:r>
              <a:rPr lang="zh-CN" altLang="en-US">
                <a:latin typeface="Tahoma" panose="020B0604030504040204" pitchFamily="34" charset="0"/>
                <a:ea typeface="隶书" panose="02010509060101010101" pitchFamily="49" charset="-122"/>
              </a:rPr>
              <a:t>是它输出的顶点集合，</a:t>
            </a:r>
            <a:r>
              <a:rPr lang="en-US" altLang="zh-CN">
                <a:latin typeface="Tahoma" panose="020B0604030504040204" pitchFamily="34" charset="0"/>
                <a:cs typeface="Tahoma" panose="020B0604030504040204" pitchFamily="34" charset="0"/>
              </a:rPr>
              <a:t>H </a:t>
            </a:r>
            <a:r>
              <a:rPr lang="zh-CN" altLang="en-US">
                <a:latin typeface="Tahoma" panose="020B0604030504040204" pitchFamily="34" charset="0"/>
                <a:ea typeface="隶书" panose="02010509060101010101" pitchFamily="49" charset="-122"/>
              </a:rPr>
              <a:t>是有标记的边的集合。因为</a:t>
            </a:r>
            <a:r>
              <a:rPr lang="en-US" altLang="zh-CN">
                <a:latin typeface="Tahoma" panose="020B0604030504040204" pitchFamily="34" charset="0"/>
                <a:cs typeface="Tahoma" panose="020B0604030504040204" pitchFamily="34" charset="0"/>
              </a:rPr>
              <a:t>G </a:t>
            </a:r>
            <a:r>
              <a:rPr lang="zh-CN" altLang="en-US">
                <a:latin typeface="Tahoma" panose="020B0604030504040204" pitchFamily="34" charset="0"/>
                <a:ea typeface="隶书" panose="02010509060101010101" pitchFamily="49" charset="-122"/>
              </a:rPr>
              <a:t>的每一条边要么属于 </a:t>
            </a:r>
            <a:r>
              <a:rPr lang="en-US" altLang="zh-CN">
                <a:latin typeface="Tahoma" panose="020B0604030504040204" pitchFamily="34" charset="0"/>
                <a:cs typeface="Tahoma" panose="020B0604030504040204" pitchFamily="34" charset="0"/>
              </a:rPr>
              <a:t>H</a:t>
            </a:r>
            <a:r>
              <a:rPr lang="zh-CN" altLang="en-US">
                <a:latin typeface="Tahoma" panose="020B0604030504040204" pitchFamily="34" charset="0"/>
                <a:ea typeface="隶书" panose="02010509060101010101" pitchFamily="49" charset="-122"/>
              </a:rPr>
              <a:t>，要么与 </a:t>
            </a:r>
            <a:r>
              <a:rPr lang="en-US" altLang="zh-CN">
                <a:latin typeface="Tahoma" panose="020B0604030504040204" pitchFamily="34" charset="0"/>
                <a:cs typeface="Tahoma" panose="020B0604030504040204" pitchFamily="34" charset="0"/>
              </a:rPr>
              <a:t>H </a:t>
            </a:r>
            <a:r>
              <a:rPr lang="zh-CN" altLang="en-US">
                <a:latin typeface="Tahoma" panose="020B0604030504040204" pitchFamily="34" charset="0"/>
                <a:ea typeface="隶书" panose="02010509060101010101" pitchFamily="49" charset="-122"/>
              </a:rPr>
              <a:t>中的一条边相邻，因此 </a:t>
            </a:r>
            <a:r>
              <a:rPr lang="en-US" altLang="zh-CN">
                <a:latin typeface="Tahoma" panose="020B0604030504040204" pitchFamily="34" charset="0"/>
                <a:cs typeface="Tahoma" panose="020B0604030504040204" pitchFamily="34" charset="0"/>
              </a:rPr>
              <a:t>X </a:t>
            </a:r>
            <a:r>
              <a:rPr lang="zh-CN" altLang="en-US">
                <a:latin typeface="Tahoma" panose="020B0604030504040204" pitchFamily="34" charset="0"/>
                <a:ea typeface="隶书" panose="02010509060101010101" pitchFamily="49" charset="-122"/>
              </a:rPr>
              <a:t>与 </a:t>
            </a:r>
            <a:r>
              <a:rPr lang="en-US" altLang="zh-CN">
                <a:latin typeface="Tahoma" panose="020B0604030504040204" pitchFamily="34" charset="0"/>
                <a:cs typeface="Tahoma" panose="020B0604030504040204" pitchFamily="34" charset="0"/>
              </a:rPr>
              <a:t>G </a:t>
            </a:r>
            <a:r>
              <a:rPr lang="zh-CN" altLang="en-US">
                <a:latin typeface="Tahoma" panose="020B0604030504040204" pitchFamily="34" charset="0"/>
                <a:ea typeface="隶书" panose="02010509060101010101" pitchFamily="49" charset="-122"/>
              </a:rPr>
              <a:t>的所有边关联，因此 </a:t>
            </a:r>
            <a:r>
              <a:rPr lang="en-US" altLang="zh-CN">
                <a:latin typeface="Tahoma" panose="020B0604030504040204" pitchFamily="34" charset="0"/>
                <a:cs typeface="Tahoma" panose="020B0604030504040204" pitchFamily="34" charset="0"/>
              </a:rPr>
              <a:t>X </a:t>
            </a:r>
            <a:r>
              <a:rPr lang="zh-CN" altLang="en-US">
                <a:latin typeface="Tahoma" panose="020B0604030504040204" pitchFamily="34" charset="0"/>
                <a:ea typeface="隶书" panose="02010509060101010101" pitchFamily="49" charset="-122"/>
              </a:rPr>
              <a:t>是一个顶点覆盖。</a:t>
            </a:r>
          </a:p>
          <a:p>
            <a:r>
              <a:rPr lang="zh-CN" altLang="en-US">
                <a:latin typeface="Tahoma" panose="020B0604030504040204" pitchFamily="34" charset="0"/>
                <a:ea typeface="隶书" panose="02010509060101010101" pitchFamily="49" charset="-122"/>
              </a:rPr>
              <a:t>证明 </a:t>
            </a:r>
            <a:r>
              <a:rPr lang="en-US" altLang="zh-CN">
                <a:latin typeface="Tahoma" panose="020B0604030504040204" pitchFamily="34" charset="0"/>
                <a:cs typeface="Tahoma" panose="020B0604030504040204" pitchFamily="34" charset="0"/>
              </a:rPr>
              <a:t>X </a:t>
            </a:r>
            <a:r>
              <a:rPr lang="zh-CN" altLang="en-US">
                <a:latin typeface="Tahoma" panose="020B0604030504040204" pitchFamily="34" charset="0"/>
                <a:ea typeface="隶书" panose="02010509060101010101" pitchFamily="49" charset="-122"/>
              </a:rPr>
              <a:t>的大小不超过最小顶点覆盖 </a:t>
            </a:r>
            <a:r>
              <a:rPr lang="en-US" altLang="zh-CN">
                <a:latin typeface="Tahoma" panose="020B0604030504040204" pitchFamily="34" charset="0"/>
                <a:cs typeface="Tahoma" panose="020B0604030504040204" pitchFamily="34" charset="0"/>
              </a:rPr>
              <a:t>Y </a:t>
            </a:r>
            <a:r>
              <a:rPr lang="zh-CN" altLang="en-US">
                <a:latin typeface="Tahoma" panose="020B0604030504040204" pitchFamily="34" charset="0"/>
                <a:ea typeface="隶书" panose="02010509060101010101" pitchFamily="49" charset="-122"/>
              </a:rPr>
              <a:t>的大小的</a:t>
            </a:r>
            <a:r>
              <a:rPr lang="en-US" altLang="zh-CN">
                <a:latin typeface="Tahoma" panose="020B0604030504040204" pitchFamily="34" charset="0"/>
                <a:cs typeface="Tahoma" panose="020B0604030504040204" pitchFamily="34" charset="0"/>
              </a:rPr>
              <a:t>2</a:t>
            </a:r>
            <a:r>
              <a:rPr lang="zh-CN" altLang="en-US">
                <a:latin typeface="Tahoma" panose="020B0604030504040204" pitchFamily="34" charset="0"/>
                <a:ea typeface="隶书" panose="02010509060101010101" pitchFamily="49" charset="-122"/>
              </a:rPr>
              <a:t>倍。</a:t>
            </a:r>
          </a:p>
          <a:p>
            <a:pPr lvl="1"/>
            <a:r>
              <a:rPr lang="en-US" altLang="zh-CN" sz="2800">
                <a:latin typeface="Tahoma" panose="020B0604030504040204" pitchFamily="34" charset="0"/>
                <a:cs typeface="Tahoma" panose="020B0604030504040204" pitchFamily="34" charset="0"/>
              </a:rPr>
              <a:t>X </a:t>
            </a:r>
            <a:r>
              <a:rPr lang="zh-CN" altLang="en-US" sz="2800">
                <a:latin typeface="Tahoma" panose="020B0604030504040204" pitchFamily="34" charset="0"/>
                <a:ea typeface="隶书" panose="02010509060101010101" pitchFamily="49" charset="-122"/>
              </a:rPr>
              <a:t>的大小是 </a:t>
            </a:r>
            <a:r>
              <a:rPr lang="en-US" altLang="zh-CN" sz="2800">
                <a:latin typeface="Tahoma" panose="020B0604030504040204" pitchFamily="34" charset="0"/>
                <a:cs typeface="Tahoma" panose="020B0604030504040204" pitchFamily="34" charset="0"/>
              </a:rPr>
              <a:t>H </a:t>
            </a:r>
            <a:r>
              <a:rPr lang="zh-CN" altLang="en-US" sz="2800">
                <a:latin typeface="Tahoma" panose="020B0604030504040204" pitchFamily="34" charset="0"/>
                <a:ea typeface="隶书" panose="02010509060101010101" pitchFamily="49" charset="-122"/>
              </a:rPr>
              <a:t>的 </a:t>
            </a:r>
            <a:r>
              <a:rPr lang="en-US" altLang="zh-CN" sz="2800">
                <a:latin typeface="Tahoma" panose="020B0604030504040204" pitchFamily="34" charset="0"/>
                <a:cs typeface="Tahoma" panose="020B0604030504040204" pitchFamily="34" charset="0"/>
              </a:rPr>
              <a:t>2 </a:t>
            </a:r>
            <a:r>
              <a:rPr lang="zh-CN" altLang="en-US" sz="2800">
                <a:latin typeface="Tahoma" panose="020B0604030504040204" pitchFamily="34" charset="0"/>
                <a:ea typeface="隶书" panose="02010509060101010101" pitchFamily="49" charset="-122"/>
              </a:rPr>
              <a:t>倍</a:t>
            </a:r>
          </a:p>
          <a:p>
            <a:pPr lvl="1"/>
            <a:r>
              <a:rPr lang="en-US" altLang="zh-CN" sz="2800">
                <a:latin typeface="Tahoma" panose="020B0604030504040204" pitchFamily="34" charset="0"/>
                <a:cs typeface="Tahoma" panose="020B0604030504040204" pitchFamily="34" charset="0"/>
              </a:rPr>
              <a:t>H </a:t>
            </a:r>
            <a:r>
              <a:rPr lang="zh-CN" altLang="en-US" sz="2800">
                <a:latin typeface="Tahoma" panose="020B0604030504040204" pitchFamily="34" charset="0"/>
                <a:ea typeface="隶书" panose="02010509060101010101" pitchFamily="49" charset="-122"/>
              </a:rPr>
              <a:t>不大于 </a:t>
            </a:r>
            <a:r>
              <a:rPr lang="en-US" altLang="zh-CN" sz="2800">
                <a:latin typeface="Tahoma" panose="020B0604030504040204" pitchFamily="34" charset="0"/>
                <a:cs typeface="Tahoma" panose="020B0604030504040204" pitchFamily="34" charset="0"/>
              </a:rPr>
              <a:t>Y</a:t>
            </a:r>
            <a:endParaRPr lang="en-US" altLang="zh-CN">
              <a:latin typeface="Tahoma" panose="020B0604030504040204" pitchFamily="34" charset="0"/>
              <a:cs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0825">
                                            <p:txEl>
                                              <p:pRg st="0" end="0"/>
                                            </p:txEl>
                                          </p:spTgt>
                                        </p:tgtEl>
                                        <p:attrNameLst>
                                          <p:attrName>style.visibility</p:attrName>
                                        </p:attrNameLst>
                                      </p:cBhvr>
                                      <p:to>
                                        <p:strVal val="visible"/>
                                      </p:to>
                                    </p:set>
                                    <p:animEffect transition="in" filter="wipe(left)">
                                      <p:cBhvr>
                                        <p:cTn id="12" dur="500"/>
                                        <p:tgtEl>
                                          <p:spTgt spid="29082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0825">
                                            <p:txEl>
                                              <p:pRg st="1" end="1"/>
                                            </p:txEl>
                                          </p:spTgt>
                                        </p:tgtEl>
                                        <p:attrNameLst>
                                          <p:attrName>style.visibility</p:attrName>
                                        </p:attrNameLst>
                                      </p:cBhvr>
                                      <p:to>
                                        <p:strVal val="visible"/>
                                      </p:to>
                                    </p:set>
                                    <p:animEffect transition="in" filter="wipe(left)">
                                      <p:cBhvr>
                                        <p:cTn id="17" dur="500"/>
                                        <p:tgtEl>
                                          <p:spTgt spid="29082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0825">
                                            <p:txEl>
                                              <p:pRg st="2" end="2"/>
                                            </p:txEl>
                                          </p:spTgt>
                                        </p:tgtEl>
                                        <p:attrNameLst>
                                          <p:attrName>style.visibility</p:attrName>
                                        </p:attrNameLst>
                                      </p:cBhvr>
                                      <p:to>
                                        <p:strVal val="visible"/>
                                      </p:to>
                                    </p:set>
                                    <p:animEffect transition="in" filter="wipe(left)">
                                      <p:cBhvr>
                                        <p:cTn id="22" dur="500"/>
                                        <p:tgtEl>
                                          <p:spTgt spid="290825">
                                            <p:txEl>
                                              <p:pRg st="2" end="2"/>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90825">
                                            <p:txEl>
                                              <p:pRg st="3" end="3"/>
                                            </p:txEl>
                                          </p:spTgt>
                                        </p:tgtEl>
                                        <p:attrNameLst>
                                          <p:attrName>style.visibility</p:attrName>
                                        </p:attrNameLst>
                                      </p:cBhvr>
                                      <p:to>
                                        <p:strVal val="visible"/>
                                      </p:to>
                                    </p:set>
                                    <p:animEffect transition="in" filter="wipe(left)">
                                      <p:cBhvr>
                                        <p:cTn id="25" dur="500"/>
                                        <p:tgtEl>
                                          <p:spTgt spid="290825">
                                            <p:txEl>
                                              <p:pRg st="3" end="3"/>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90825">
                                            <p:txEl>
                                              <p:pRg st="4" end="4"/>
                                            </p:txEl>
                                          </p:spTgt>
                                        </p:tgtEl>
                                        <p:attrNameLst>
                                          <p:attrName>style.visibility</p:attrName>
                                        </p:attrNameLst>
                                      </p:cBhvr>
                                      <p:to>
                                        <p:strVal val="visible"/>
                                      </p:to>
                                    </p:set>
                                    <p:animEffect transition="in" filter="wipe(left)">
                                      <p:cBhvr>
                                        <p:cTn id="28" dur="500"/>
                                        <p:tgtEl>
                                          <p:spTgt spid="2908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a:extLst>
              <a:ext uri="{FF2B5EF4-FFF2-40B4-BE49-F238E27FC236}">
                <a16:creationId xmlns:a16="http://schemas.microsoft.com/office/drawing/2014/main" id="{BDAF2CE4-6E11-4025-8763-8CC4290CD8F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726EC68-822E-4069-8600-6ACF474A1253}"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0243" name="灯片编号占位符 4">
            <a:extLst>
              <a:ext uri="{FF2B5EF4-FFF2-40B4-BE49-F238E27FC236}">
                <a16:creationId xmlns:a16="http://schemas.microsoft.com/office/drawing/2014/main" id="{3E5FE867-902B-4426-8840-836634F194A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169EF3A5-90DB-4B94-9A2D-0B4214FA7EFC}"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7</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1842" name="Rectangle 2">
            <a:extLst>
              <a:ext uri="{FF2B5EF4-FFF2-40B4-BE49-F238E27FC236}">
                <a16:creationId xmlns:a16="http://schemas.microsoft.com/office/drawing/2014/main" id="{F2020259-6F27-487A-8C88-CC7FE276ED29}"/>
              </a:ext>
            </a:extLst>
          </p:cNvPr>
          <p:cNvSpPr>
            <a:spLocks noGrp="1" noChangeArrowheads="1"/>
          </p:cNvSpPr>
          <p:nvPr>
            <p:ph type="title"/>
          </p:nvPr>
        </p:nvSpPr>
        <p:spPr/>
        <p:txBody>
          <a:bodyPr/>
          <a:lstStyle/>
          <a:p>
            <a:pPr>
              <a:defRPr/>
            </a:pPr>
            <a:r>
              <a:rPr lang="en-US" altLang="zh-CN" b="1" i="1"/>
              <a:t>k</a:t>
            </a:r>
            <a:r>
              <a:rPr lang="en-US" altLang="zh-CN"/>
              <a:t>-</a:t>
            </a:r>
            <a:r>
              <a:rPr lang="zh-CN" altLang="en-US"/>
              <a:t>优算法</a:t>
            </a:r>
          </a:p>
        </p:txBody>
      </p:sp>
      <p:sp>
        <p:nvSpPr>
          <p:cNvPr id="16389" name="Rectangle 3">
            <a:extLst>
              <a:ext uri="{FF2B5EF4-FFF2-40B4-BE49-F238E27FC236}">
                <a16:creationId xmlns:a16="http://schemas.microsoft.com/office/drawing/2014/main" id="{045C091B-591D-4F13-8CFD-294987192E00}"/>
              </a:ext>
            </a:extLst>
          </p:cNvPr>
          <p:cNvSpPr>
            <a:spLocks noGrp="1" noChangeArrowheads="1"/>
          </p:cNvSpPr>
          <p:nvPr>
            <p:ph type="body" idx="1"/>
          </p:nvPr>
        </p:nvSpPr>
        <p:spPr/>
        <p:txBody>
          <a:bodyPr/>
          <a:lstStyle/>
          <a:p>
            <a:pPr>
              <a:lnSpc>
                <a:spcPct val="150000"/>
              </a:lnSpc>
              <a:defRPr/>
            </a:pPr>
            <a:r>
              <a:rPr lang="zh-CN" altLang="en-US" dirty="0">
                <a:latin typeface="Tahoma" pitchFamily="34" charset="0"/>
                <a:ea typeface="+mj-ea"/>
                <a:cs typeface="Tahoma" pitchFamily="34" charset="0"/>
              </a:rPr>
              <a:t>如果一个最小化问题的近似算法</a:t>
            </a:r>
            <a:r>
              <a:rPr lang="zh-CN" altLang="en-US" dirty="0">
                <a:solidFill>
                  <a:srgbClr val="FF3300"/>
                </a:solidFill>
                <a:latin typeface="Tahoma" pitchFamily="34" charset="0"/>
                <a:ea typeface="+mj-ea"/>
                <a:cs typeface="Tahoma" pitchFamily="34" charset="0"/>
              </a:rPr>
              <a:t>总能找到不超过最优解 </a:t>
            </a:r>
            <a:r>
              <a:rPr lang="en-US" altLang="zh-CN" i="1" dirty="0">
                <a:solidFill>
                  <a:srgbClr val="FF3300"/>
                </a:solidFill>
                <a:latin typeface="Tahoma" pitchFamily="34" charset="0"/>
                <a:ea typeface="Tahoma" pitchFamily="34" charset="0"/>
                <a:cs typeface="Tahoma" pitchFamily="34" charset="0"/>
              </a:rPr>
              <a:t>k</a:t>
            </a:r>
            <a:r>
              <a:rPr lang="en-US" altLang="zh-CN" dirty="0">
                <a:solidFill>
                  <a:srgbClr val="FF3300"/>
                </a:solidFill>
                <a:latin typeface="Tahoma" pitchFamily="34" charset="0"/>
                <a:ea typeface="Tahoma" pitchFamily="34" charset="0"/>
                <a:cs typeface="Tahoma" pitchFamily="34" charset="0"/>
              </a:rPr>
              <a:t> </a:t>
            </a:r>
            <a:r>
              <a:rPr lang="zh-CN" altLang="en-US" dirty="0">
                <a:solidFill>
                  <a:srgbClr val="FF3300"/>
                </a:solidFill>
                <a:latin typeface="Tahoma" pitchFamily="34" charset="0"/>
                <a:ea typeface="+mj-ea"/>
                <a:cs typeface="Tahoma" pitchFamily="34" charset="0"/>
              </a:rPr>
              <a:t>倍的可行解</a:t>
            </a:r>
            <a:r>
              <a:rPr lang="zh-CN" altLang="en-US" dirty="0">
                <a:latin typeface="Tahoma" pitchFamily="34" charset="0"/>
                <a:ea typeface="+mj-ea"/>
                <a:cs typeface="Tahoma" pitchFamily="34" charset="0"/>
              </a:rPr>
              <a:t>，则称这个算法是 </a:t>
            </a:r>
            <a:r>
              <a:rPr lang="en-US" altLang="zh-CN" i="1" dirty="0">
                <a:latin typeface="Tahoma" pitchFamily="34" charset="0"/>
                <a:ea typeface="Tahoma" pitchFamily="34" charset="0"/>
                <a:cs typeface="Tahoma" pitchFamily="34" charset="0"/>
              </a:rPr>
              <a:t>k</a:t>
            </a:r>
            <a:r>
              <a:rPr lang="en-US" altLang="zh-CN" dirty="0">
                <a:latin typeface="Tahoma" pitchFamily="34" charset="0"/>
                <a:ea typeface="Tahoma" pitchFamily="34" charset="0"/>
                <a:cs typeface="Tahoma" pitchFamily="34" charset="0"/>
              </a:rPr>
              <a:t>-</a:t>
            </a:r>
            <a:r>
              <a:rPr lang="zh-CN" altLang="en-US" dirty="0">
                <a:latin typeface="Tahoma" pitchFamily="34" charset="0"/>
                <a:ea typeface="+mj-ea"/>
                <a:cs typeface="Tahoma" pitchFamily="34" charset="0"/>
              </a:rPr>
              <a:t>优的。</a:t>
            </a:r>
          </a:p>
          <a:p>
            <a:pPr>
              <a:lnSpc>
                <a:spcPct val="150000"/>
              </a:lnSpc>
              <a:defRPr/>
            </a:pPr>
            <a:r>
              <a:rPr lang="zh-CN" altLang="en-US" dirty="0">
                <a:latin typeface="Tahoma" pitchFamily="34" charset="0"/>
                <a:ea typeface="+mj-ea"/>
                <a:cs typeface="Tahoma" pitchFamily="34" charset="0"/>
              </a:rPr>
              <a:t>对于最大化问题，一个 </a:t>
            </a:r>
            <a:r>
              <a:rPr lang="en-US" altLang="zh-CN" i="1" dirty="0">
                <a:latin typeface="Tahoma" pitchFamily="34" charset="0"/>
                <a:ea typeface="Tahoma" pitchFamily="34" charset="0"/>
                <a:cs typeface="Tahoma" pitchFamily="34" charset="0"/>
              </a:rPr>
              <a:t>k</a:t>
            </a:r>
            <a:r>
              <a:rPr lang="en-US" altLang="zh-CN" dirty="0">
                <a:latin typeface="Tahoma" pitchFamily="34" charset="0"/>
                <a:ea typeface="Tahoma" pitchFamily="34" charset="0"/>
                <a:cs typeface="Tahoma" pitchFamily="34" charset="0"/>
              </a:rPr>
              <a:t>-</a:t>
            </a:r>
            <a:r>
              <a:rPr lang="zh-CN" altLang="en-US" dirty="0">
                <a:latin typeface="Tahoma" pitchFamily="34" charset="0"/>
                <a:ea typeface="+mj-ea"/>
                <a:cs typeface="Tahoma" pitchFamily="34" charset="0"/>
              </a:rPr>
              <a:t>优近似算法</a:t>
            </a:r>
            <a:r>
              <a:rPr lang="zh-CN" altLang="en-US" dirty="0">
                <a:solidFill>
                  <a:srgbClr val="FF3300"/>
                </a:solidFill>
                <a:latin typeface="Tahoma" pitchFamily="34" charset="0"/>
                <a:ea typeface="+mj-ea"/>
                <a:cs typeface="Tahoma" pitchFamily="34" charset="0"/>
              </a:rPr>
              <a:t>总能找到不小于最优解大小的 </a:t>
            </a:r>
            <a:r>
              <a:rPr lang="en-US" altLang="zh-CN" dirty="0">
                <a:solidFill>
                  <a:srgbClr val="FF3300"/>
                </a:solidFill>
                <a:latin typeface="Tahoma" pitchFamily="34" charset="0"/>
                <a:ea typeface="Tahoma" pitchFamily="34" charset="0"/>
                <a:cs typeface="Tahoma" pitchFamily="34" charset="0"/>
              </a:rPr>
              <a:t>1/</a:t>
            </a:r>
            <a:r>
              <a:rPr lang="en-US" altLang="zh-CN" i="1" dirty="0">
                <a:solidFill>
                  <a:srgbClr val="FF3300"/>
                </a:solidFill>
                <a:latin typeface="Tahoma" pitchFamily="34" charset="0"/>
                <a:ea typeface="Tahoma" pitchFamily="34" charset="0"/>
                <a:cs typeface="Tahoma" pitchFamily="34" charset="0"/>
              </a:rPr>
              <a:t>k </a:t>
            </a:r>
            <a:r>
              <a:rPr lang="zh-CN" altLang="en-US" dirty="0">
                <a:solidFill>
                  <a:srgbClr val="FF3300"/>
                </a:solidFill>
                <a:latin typeface="Tahoma" pitchFamily="34" charset="0"/>
                <a:ea typeface="+mj-ea"/>
                <a:cs typeface="Tahoma" pitchFamily="34" charset="0"/>
              </a:rPr>
              <a:t>的可行解。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wipe(left)">
                                      <p:cBhvr>
                                        <p:cTn id="7" dur="500"/>
                                        <p:tgtEl>
                                          <p:spTgt spid="1638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6389">
                                            <p:txEl>
                                              <p:pRg st="1" end="1"/>
                                            </p:txEl>
                                          </p:spTgt>
                                        </p:tgtEl>
                                        <p:attrNameLst>
                                          <p:attrName>style.visibility</p:attrName>
                                        </p:attrNameLst>
                                      </p:cBhvr>
                                      <p:to>
                                        <p:strVal val="visible"/>
                                      </p:to>
                                    </p:set>
                                    <p:animEffect transition="in" filter="wipe(left)">
                                      <p:cBhvr>
                                        <p:cTn id="10" dur="500"/>
                                        <p:tgtEl>
                                          <p:spTgt spid="163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4">
            <a:extLst>
              <a:ext uri="{FF2B5EF4-FFF2-40B4-BE49-F238E27FC236}">
                <a16:creationId xmlns:a16="http://schemas.microsoft.com/office/drawing/2014/main" id="{CCD9CFB2-C979-49BB-9B67-986C626E28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C1DBFB7-A7B0-44D2-B447-55FF5B2B4D74}"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1267" name="灯片编号占位符 5">
            <a:extLst>
              <a:ext uri="{FF2B5EF4-FFF2-40B4-BE49-F238E27FC236}">
                <a16:creationId xmlns:a16="http://schemas.microsoft.com/office/drawing/2014/main" id="{66D734F9-BC3B-429E-8CB5-84E04EAC8A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BA1D0A19-5CDA-4848-860F-15BDB6DEB715}"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8</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2866" name="Rectangle 2">
            <a:extLst>
              <a:ext uri="{FF2B5EF4-FFF2-40B4-BE49-F238E27FC236}">
                <a16:creationId xmlns:a16="http://schemas.microsoft.com/office/drawing/2014/main" id="{C75925AB-B875-4BED-9673-DF884AA8BFDF}"/>
              </a:ext>
            </a:extLst>
          </p:cNvPr>
          <p:cNvSpPr>
            <a:spLocks noGrp="1" noChangeArrowheads="1"/>
          </p:cNvSpPr>
          <p:nvPr>
            <p:ph type="title"/>
          </p:nvPr>
        </p:nvSpPr>
        <p:spPr/>
        <p:txBody>
          <a:bodyPr/>
          <a:lstStyle/>
          <a:p>
            <a:pPr>
              <a:defRPr/>
            </a:pPr>
            <a:r>
              <a:rPr lang="zh-CN" altLang="en-US"/>
              <a:t>最大割集</a:t>
            </a:r>
          </a:p>
        </p:txBody>
      </p:sp>
      <p:sp>
        <p:nvSpPr>
          <p:cNvPr id="292867" name="Rectangle 3">
            <a:extLst>
              <a:ext uri="{FF2B5EF4-FFF2-40B4-BE49-F238E27FC236}">
                <a16:creationId xmlns:a16="http://schemas.microsoft.com/office/drawing/2014/main" id="{FC8B45B4-9F85-4CCB-818A-AB985D16B463}"/>
              </a:ext>
            </a:extLst>
          </p:cNvPr>
          <p:cNvSpPr>
            <a:spLocks noGrp="1" noChangeArrowheads="1"/>
          </p:cNvSpPr>
          <p:nvPr>
            <p:ph type="body" sz="half" idx="1"/>
          </p:nvPr>
        </p:nvSpPr>
        <p:spPr>
          <a:xfrm>
            <a:off x="323850" y="1196975"/>
            <a:ext cx="8496300" cy="2592388"/>
          </a:xfrm>
        </p:spPr>
        <p:txBody>
          <a:bodyPr/>
          <a:lstStyle/>
          <a:p>
            <a:pPr>
              <a:defRPr/>
            </a:pPr>
            <a:r>
              <a:rPr lang="zh-CN" altLang="en-US" dirty="0">
                <a:latin typeface="Tahoma" pitchFamily="34" charset="0"/>
                <a:ea typeface="+mj-ea"/>
                <a:cs typeface="Tahoma" pitchFamily="34" charset="0"/>
              </a:rPr>
              <a:t>把顶点集 </a:t>
            </a:r>
            <a:r>
              <a:rPr lang="en-US" altLang="zh-CN" dirty="0">
                <a:latin typeface="Tahoma" pitchFamily="34" charset="0"/>
                <a:ea typeface="Tahoma" pitchFamily="34" charset="0"/>
                <a:cs typeface="Tahoma" pitchFamily="34" charset="0"/>
              </a:rPr>
              <a:t>V </a:t>
            </a:r>
            <a:r>
              <a:rPr lang="zh-CN" altLang="en-US" dirty="0">
                <a:latin typeface="Tahoma" pitchFamily="34" charset="0"/>
                <a:ea typeface="+mj-ea"/>
                <a:cs typeface="Tahoma" pitchFamily="34" charset="0"/>
              </a:rPr>
              <a:t>划分成两个不相交的子集 </a:t>
            </a:r>
            <a:r>
              <a:rPr lang="en-US" altLang="zh-CN" dirty="0">
                <a:latin typeface="Tahoma" pitchFamily="34" charset="0"/>
                <a:ea typeface="Tahoma" pitchFamily="34" charset="0"/>
                <a:cs typeface="Tahoma" pitchFamily="34" charset="0"/>
              </a:rPr>
              <a:t>S </a:t>
            </a:r>
            <a:r>
              <a:rPr lang="zh-CN" altLang="en-US" dirty="0">
                <a:latin typeface="Tahoma" pitchFamily="34" charset="0"/>
                <a:ea typeface="+mj-ea"/>
                <a:cs typeface="Tahoma" pitchFamily="34" charset="0"/>
              </a:rPr>
              <a:t>和 </a:t>
            </a:r>
            <a:r>
              <a:rPr lang="en-US" altLang="zh-CN" dirty="0">
                <a:latin typeface="Tahoma" pitchFamily="34" charset="0"/>
                <a:ea typeface="Tahoma" pitchFamily="34" charset="0"/>
                <a:cs typeface="Tahoma" pitchFamily="34" charset="0"/>
              </a:rPr>
              <a:t>T</a:t>
            </a:r>
            <a:r>
              <a:rPr lang="zh-CN" altLang="en-US" dirty="0">
                <a:latin typeface="Tahoma" pitchFamily="34" charset="0"/>
                <a:ea typeface="+mj-ea"/>
                <a:cs typeface="Tahoma" pitchFamily="34" charset="0"/>
              </a:rPr>
              <a:t>， 称为无向图中的</a:t>
            </a:r>
            <a:r>
              <a:rPr lang="zh-CN" altLang="en-US" dirty="0">
                <a:solidFill>
                  <a:srgbClr val="FF0000"/>
                </a:solidFill>
                <a:latin typeface="Tahoma" pitchFamily="34" charset="0"/>
                <a:ea typeface="+mj-ea"/>
                <a:cs typeface="Tahoma" pitchFamily="34" charset="0"/>
              </a:rPr>
              <a:t>割</a:t>
            </a:r>
            <a:r>
              <a:rPr lang="en-US" altLang="zh-CN" dirty="0">
                <a:latin typeface="Tahoma" pitchFamily="34" charset="0"/>
                <a:ea typeface="Tahoma" pitchFamily="34" charset="0"/>
                <a:cs typeface="Tahoma" pitchFamily="34" charset="0"/>
              </a:rPr>
              <a:t>(cut)</a:t>
            </a:r>
            <a:r>
              <a:rPr lang="zh-CN" altLang="en-US" dirty="0">
                <a:latin typeface="Tahoma" pitchFamily="34" charset="0"/>
                <a:ea typeface="+mj-ea"/>
                <a:cs typeface="Tahoma" pitchFamily="34" charset="0"/>
              </a:rPr>
              <a:t>。</a:t>
            </a:r>
          </a:p>
          <a:p>
            <a:pPr>
              <a:defRPr/>
            </a:pPr>
            <a:r>
              <a:rPr lang="zh-CN" altLang="en-US" dirty="0">
                <a:latin typeface="Tahoma" pitchFamily="34" charset="0"/>
                <a:ea typeface="+mj-ea"/>
                <a:cs typeface="Tahoma" pitchFamily="34" charset="0"/>
              </a:rPr>
              <a:t>一个顶点在 </a:t>
            </a:r>
            <a:r>
              <a:rPr lang="en-US" altLang="zh-CN" dirty="0">
                <a:latin typeface="Tahoma" pitchFamily="34" charset="0"/>
                <a:ea typeface="Tahoma" pitchFamily="34" charset="0"/>
                <a:cs typeface="Tahoma" pitchFamily="34" charset="0"/>
              </a:rPr>
              <a:t>S </a:t>
            </a:r>
            <a:r>
              <a:rPr lang="zh-CN" altLang="en-US" dirty="0">
                <a:latin typeface="Tahoma" pitchFamily="34" charset="0"/>
                <a:ea typeface="+mj-ea"/>
                <a:cs typeface="Tahoma" pitchFamily="34" charset="0"/>
              </a:rPr>
              <a:t>中，另一个顶点在 </a:t>
            </a:r>
            <a:r>
              <a:rPr lang="en-US" altLang="zh-CN" dirty="0">
                <a:latin typeface="Tahoma" pitchFamily="34" charset="0"/>
                <a:ea typeface="Tahoma" pitchFamily="34" charset="0"/>
                <a:cs typeface="Tahoma" pitchFamily="34" charset="0"/>
              </a:rPr>
              <a:t>T </a:t>
            </a:r>
            <a:r>
              <a:rPr lang="zh-CN" altLang="en-US" dirty="0">
                <a:latin typeface="Tahoma" pitchFamily="34" charset="0"/>
                <a:ea typeface="+mj-ea"/>
                <a:cs typeface="Tahoma" pitchFamily="34" charset="0"/>
              </a:rPr>
              <a:t>中的边对称作</a:t>
            </a:r>
            <a:r>
              <a:rPr lang="zh-CN" altLang="en-US" dirty="0">
                <a:solidFill>
                  <a:srgbClr val="FF0000"/>
                </a:solidFill>
                <a:latin typeface="Tahoma" pitchFamily="34" charset="0"/>
                <a:ea typeface="+mj-ea"/>
                <a:cs typeface="Tahoma" pitchFamily="34" charset="0"/>
              </a:rPr>
              <a:t>割边</a:t>
            </a:r>
            <a:r>
              <a:rPr lang="en-US" altLang="zh-CN" dirty="0">
                <a:latin typeface="Tahoma" pitchFamily="34" charset="0"/>
                <a:ea typeface="Tahoma" pitchFamily="34" charset="0"/>
                <a:cs typeface="Tahoma" pitchFamily="34" charset="0"/>
              </a:rPr>
              <a:t>(cut edge)</a:t>
            </a:r>
            <a:r>
              <a:rPr lang="zh-CN" altLang="en-US" dirty="0">
                <a:latin typeface="Tahoma" pitchFamily="34" charset="0"/>
                <a:ea typeface="+mj-ea"/>
                <a:cs typeface="Tahoma" pitchFamily="34" charset="0"/>
              </a:rPr>
              <a:t>。如果一条边不是割边，则称作</a:t>
            </a:r>
            <a:r>
              <a:rPr lang="zh-CN" altLang="en-US" dirty="0">
                <a:solidFill>
                  <a:srgbClr val="FF0000"/>
                </a:solidFill>
                <a:latin typeface="Tahoma" pitchFamily="34" charset="0"/>
                <a:ea typeface="+mj-ea"/>
                <a:cs typeface="Tahoma" pitchFamily="34" charset="0"/>
              </a:rPr>
              <a:t>非割边</a:t>
            </a:r>
            <a:r>
              <a:rPr lang="zh-CN" altLang="en-US" dirty="0">
                <a:latin typeface="Tahoma" pitchFamily="34" charset="0"/>
                <a:ea typeface="+mj-ea"/>
                <a:cs typeface="Tahoma" pitchFamily="34" charset="0"/>
              </a:rPr>
              <a:t>。</a:t>
            </a:r>
          </a:p>
          <a:p>
            <a:pPr>
              <a:defRPr/>
            </a:pPr>
            <a:r>
              <a:rPr lang="zh-CN" altLang="en-US" dirty="0">
                <a:latin typeface="Tahoma" pitchFamily="34" charset="0"/>
                <a:ea typeface="+mj-ea"/>
                <a:cs typeface="Tahoma" pitchFamily="34" charset="0"/>
              </a:rPr>
              <a:t>割边的数目称作割的大小。</a:t>
            </a:r>
          </a:p>
          <a:p>
            <a:pPr>
              <a:defRPr/>
            </a:pPr>
            <a:r>
              <a:rPr lang="en-US" altLang="zh-CN" i="1" dirty="0">
                <a:latin typeface="Tahoma" pitchFamily="34" charset="0"/>
                <a:ea typeface="Tahoma" pitchFamily="34" charset="0"/>
                <a:cs typeface="Tahoma" pitchFamily="34" charset="0"/>
              </a:rPr>
              <a:t>MAX-CUT </a:t>
            </a:r>
            <a:r>
              <a:rPr lang="zh-CN" altLang="en-US" dirty="0">
                <a:latin typeface="Tahoma" pitchFamily="34" charset="0"/>
                <a:ea typeface="+mj-ea"/>
                <a:cs typeface="Tahoma" pitchFamily="34" charset="0"/>
              </a:rPr>
              <a:t>求输入图 </a:t>
            </a:r>
            <a:r>
              <a:rPr lang="en-US" altLang="zh-CN" dirty="0">
                <a:latin typeface="Tahoma" pitchFamily="34" charset="0"/>
                <a:ea typeface="Tahoma" pitchFamily="34" charset="0"/>
                <a:cs typeface="Tahoma" pitchFamily="34" charset="0"/>
              </a:rPr>
              <a:t>G </a:t>
            </a:r>
            <a:r>
              <a:rPr lang="zh-CN" altLang="en-US" dirty="0">
                <a:latin typeface="Tahoma" pitchFamily="34" charset="0"/>
                <a:ea typeface="+mj-ea"/>
                <a:cs typeface="Tahoma" pitchFamily="34" charset="0"/>
              </a:rPr>
              <a:t>中的最大割。</a:t>
            </a:r>
          </a:p>
        </p:txBody>
      </p:sp>
      <p:grpSp>
        <p:nvGrpSpPr>
          <p:cNvPr id="2" name="Group 4">
            <a:extLst>
              <a:ext uri="{FF2B5EF4-FFF2-40B4-BE49-F238E27FC236}">
                <a16:creationId xmlns:a16="http://schemas.microsoft.com/office/drawing/2014/main" id="{954C209F-B9DA-42C3-980D-ADAA4A31EA47}"/>
              </a:ext>
            </a:extLst>
          </p:cNvPr>
          <p:cNvGrpSpPr>
            <a:grpSpLocks/>
          </p:cNvGrpSpPr>
          <p:nvPr/>
        </p:nvGrpSpPr>
        <p:grpSpPr bwMode="auto">
          <a:xfrm>
            <a:off x="2627313" y="3786188"/>
            <a:ext cx="3024187" cy="2592387"/>
            <a:chOff x="1655" y="2568"/>
            <a:chExt cx="1905" cy="1633"/>
          </a:xfrm>
        </p:grpSpPr>
        <p:sp>
          <p:nvSpPr>
            <p:cNvPr id="11271" name="Oval 5">
              <a:extLst>
                <a:ext uri="{FF2B5EF4-FFF2-40B4-BE49-F238E27FC236}">
                  <a16:creationId xmlns:a16="http://schemas.microsoft.com/office/drawing/2014/main" id="{88CAC83D-5729-413F-B1B4-1BD1DE8FFB11}"/>
                </a:ext>
              </a:extLst>
            </p:cNvPr>
            <p:cNvSpPr>
              <a:spLocks noChangeArrowheads="1"/>
            </p:cNvSpPr>
            <p:nvPr/>
          </p:nvSpPr>
          <p:spPr bwMode="auto">
            <a:xfrm>
              <a:off x="1882" y="3203"/>
              <a:ext cx="91" cy="91"/>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1272" name="Text Box 6">
              <a:extLst>
                <a:ext uri="{FF2B5EF4-FFF2-40B4-BE49-F238E27FC236}">
                  <a16:creationId xmlns:a16="http://schemas.microsoft.com/office/drawing/2014/main" id="{FCDAAF0F-4A2D-42A5-83CF-95B8D3BD6185}"/>
                </a:ext>
              </a:extLst>
            </p:cNvPr>
            <p:cNvSpPr txBox="1">
              <a:spLocks noChangeArrowheads="1"/>
            </p:cNvSpPr>
            <p:nvPr/>
          </p:nvSpPr>
          <p:spPr bwMode="auto">
            <a:xfrm>
              <a:off x="1655" y="3067"/>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1</a:t>
              </a:r>
            </a:p>
          </p:txBody>
        </p:sp>
        <p:sp>
          <p:nvSpPr>
            <p:cNvPr id="11273" name="Oval 7">
              <a:extLst>
                <a:ext uri="{FF2B5EF4-FFF2-40B4-BE49-F238E27FC236}">
                  <a16:creationId xmlns:a16="http://schemas.microsoft.com/office/drawing/2014/main" id="{0B16379E-BC1B-4A50-90D5-B9733B16F165}"/>
                </a:ext>
              </a:extLst>
            </p:cNvPr>
            <p:cNvSpPr>
              <a:spLocks noChangeArrowheads="1"/>
            </p:cNvSpPr>
            <p:nvPr/>
          </p:nvSpPr>
          <p:spPr bwMode="auto">
            <a:xfrm>
              <a:off x="3197" y="3203"/>
              <a:ext cx="91" cy="91"/>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1274" name="Text Box 8">
              <a:extLst>
                <a:ext uri="{FF2B5EF4-FFF2-40B4-BE49-F238E27FC236}">
                  <a16:creationId xmlns:a16="http://schemas.microsoft.com/office/drawing/2014/main" id="{0E72251F-9406-4249-BAB5-37A2B3FD4A8E}"/>
                </a:ext>
              </a:extLst>
            </p:cNvPr>
            <p:cNvSpPr txBox="1">
              <a:spLocks noChangeArrowheads="1"/>
            </p:cNvSpPr>
            <p:nvPr/>
          </p:nvSpPr>
          <p:spPr bwMode="auto">
            <a:xfrm>
              <a:off x="3333" y="3113"/>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4</a:t>
              </a:r>
            </a:p>
          </p:txBody>
        </p:sp>
        <p:sp>
          <p:nvSpPr>
            <p:cNvPr id="11275" name="Oval 9">
              <a:extLst>
                <a:ext uri="{FF2B5EF4-FFF2-40B4-BE49-F238E27FC236}">
                  <a16:creationId xmlns:a16="http://schemas.microsoft.com/office/drawing/2014/main" id="{BA0E223A-1697-4436-A688-3ACC624AC5D8}"/>
                </a:ext>
              </a:extLst>
            </p:cNvPr>
            <p:cNvSpPr>
              <a:spLocks noChangeArrowheads="1"/>
            </p:cNvSpPr>
            <p:nvPr/>
          </p:nvSpPr>
          <p:spPr bwMode="auto">
            <a:xfrm>
              <a:off x="2154" y="3793"/>
              <a:ext cx="91" cy="91"/>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1276" name="Text Box 10">
              <a:extLst>
                <a:ext uri="{FF2B5EF4-FFF2-40B4-BE49-F238E27FC236}">
                  <a16:creationId xmlns:a16="http://schemas.microsoft.com/office/drawing/2014/main" id="{5F1AC1D1-D732-421C-9E88-9DC69D07274C}"/>
                </a:ext>
              </a:extLst>
            </p:cNvPr>
            <p:cNvSpPr txBox="1">
              <a:spLocks noChangeArrowheads="1"/>
            </p:cNvSpPr>
            <p:nvPr/>
          </p:nvSpPr>
          <p:spPr bwMode="auto">
            <a:xfrm>
              <a:off x="1927" y="3748"/>
              <a:ext cx="1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2</a:t>
              </a:r>
            </a:p>
          </p:txBody>
        </p:sp>
        <p:sp>
          <p:nvSpPr>
            <p:cNvPr id="11277" name="Oval 11">
              <a:extLst>
                <a:ext uri="{FF2B5EF4-FFF2-40B4-BE49-F238E27FC236}">
                  <a16:creationId xmlns:a16="http://schemas.microsoft.com/office/drawing/2014/main" id="{D5308053-12ED-4EF0-A10C-CBDF5DD00A0B}"/>
                </a:ext>
              </a:extLst>
            </p:cNvPr>
            <p:cNvSpPr>
              <a:spLocks noChangeArrowheads="1"/>
            </p:cNvSpPr>
            <p:nvPr/>
          </p:nvSpPr>
          <p:spPr bwMode="auto">
            <a:xfrm>
              <a:off x="2970" y="3929"/>
              <a:ext cx="91" cy="91"/>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1278" name="Text Box 12">
              <a:extLst>
                <a:ext uri="{FF2B5EF4-FFF2-40B4-BE49-F238E27FC236}">
                  <a16:creationId xmlns:a16="http://schemas.microsoft.com/office/drawing/2014/main" id="{81B043DA-F4C0-464B-A8C8-0DEAAA5388B3}"/>
                </a:ext>
              </a:extLst>
            </p:cNvPr>
            <p:cNvSpPr txBox="1">
              <a:spLocks noChangeArrowheads="1"/>
            </p:cNvSpPr>
            <p:nvPr/>
          </p:nvSpPr>
          <p:spPr bwMode="auto">
            <a:xfrm>
              <a:off x="2744" y="3951"/>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3</a:t>
              </a:r>
            </a:p>
          </p:txBody>
        </p:sp>
        <p:sp>
          <p:nvSpPr>
            <p:cNvPr id="11279" name="Oval 13">
              <a:extLst>
                <a:ext uri="{FF2B5EF4-FFF2-40B4-BE49-F238E27FC236}">
                  <a16:creationId xmlns:a16="http://schemas.microsoft.com/office/drawing/2014/main" id="{1180C80A-F6DC-46F0-8B2B-E6CCD3026F2F}"/>
                </a:ext>
              </a:extLst>
            </p:cNvPr>
            <p:cNvSpPr>
              <a:spLocks noChangeArrowheads="1"/>
            </p:cNvSpPr>
            <p:nvPr/>
          </p:nvSpPr>
          <p:spPr bwMode="auto">
            <a:xfrm>
              <a:off x="2607" y="2840"/>
              <a:ext cx="91" cy="91"/>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1280" name="Text Box 14">
              <a:extLst>
                <a:ext uri="{FF2B5EF4-FFF2-40B4-BE49-F238E27FC236}">
                  <a16:creationId xmlns:a16="http://schemas.microsoft.com/office/drawing/2014/main" id="{BE830B86-08CE-4555-ABAB-7D3F6E5854C9}"/>
                </a:ext>
              </a:extLst>
            </p:cNvPr>
            <p:cNvSpPr txBox="1">
              <a:spLocks noChangeArrowheads="1"/>
            </p:cNvSpPr>
            <p:nvPr/>
          </p:nvSpPr>
          <p:spPr bwMode="auto">
            <a:xfrm>
              <a:off x="2608" y="2568"/>
              <a:ext cx="2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2000" b="1">
                  <a:solidFill>
                    <a:schemeClr val="tx1"/>
                  </a:solidFill>
                  <a:latin typeface="Times New Roman" panose="02020603050405020304" pitchFamily="18" charset="0"/>
                  <a:ea typeface="宋体" panose="02010600030101010101" pitchFamily="2" charset="-122"/>
                </a:rPr>
                <a:t>5</a:t>
              </a:r>
            </a:p>
          </p:txBody>
        </p:sp>
        <p:sp>
          <p:nvSpPr>
            <p:cNvPr id="11281" name="Line 15">
              <a:extLst>
                <a:ext uri="{FF2B5EF4-FFF2-40B4-BE49-F238E27FC236}">
                  <a16:creationId xmlns:a16="http://schemas.microsoft.com/office/drawing/2014/main" id="{007813EC-1F85-45B4-AD30-DE553F9DD3F6}"/>
                </a:ext>
              </a:extLst>
            </p:cNvPr>
            <p:cNvSpPr>
              <a:spLocks noChangeShapeType="1"/>
            </p:cNvSpPr>
            <p:nvPr/>
          </p:nvSpPr>
          <p:spPr bwMode="auto">
            <a:xfrm>
              <a:off x="1973" y="3249"/>
              <a:ext cx="1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Line 16">
              <a:extLst>
                <a:ext uri="{FF2B5EF4-FFF2-40B4-BE49-F238E27FC236}">
                  <a16:creationId xmlns:a16="http://schemas.microsoft.com/office/drawing/2014/main" id="{DC6C0B93-2F20-4C55-97C4-3AD9DC612111}"/>
                </a:ext>
              </a:extLst>
            </p:cNvPr>
            <p:cNvSpPr>
              <a:spLocks noChangeShapeType="1"/>
            </p:cNvSpPr>
            <p:nvPr/>
          </p:nvSpPr>
          <p:spPr bwMode="auto">
            <a:xfrm flipV="1">
              <a:off x="1927" y="2886"/>
              <a:ext cx="681"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3" name="Line 17">
              <a:extLst>
                <a:ext uri="{FF2B5EF4-FFF2-40B4-BE49-F238E27FC236}">
                  <a16:creationId xmlns:a16="http://schemas.microsoft.com/office/drawing/2014/main" id="{2F09DBD4-31C3-4919-92F4-0F9360EAF6C7}"/>
                </a:ext>
              </a:extLst>
            </p:cNvPr>
            <p:cNvSpPr>
              <a:spLocks noChangeShapeType="1"/>
            </p:cNvSpPr>
            <p:nvPr/>
          </p:nvSpPr>
          <p:spPr bwMode="auto">
            <a:xfrm>
              <a:off x="1927" y="3294"/>
              <a:ext cx="272" cy="4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4" name="Line 18">
              <a:extLst>
                <a:ext uri="{FF2B5EF4-FFF2-40B4-BE49-F238E27FC236}">
                  <a16:creationId xmlns:a16="http://schemas.microsoft.com/office/drawing/2014/main" id="{DB6F2309-7E46-49A0-A26D-0FE4C4F0407F}"/>
                </a:ext>
              </a:extLst>
            </p:cNvPr>
            <p:cNvSpPr>
              <a:spLocks noChangeShapeType="1"/>
            </p:cNvSpPr>
            <p:nvPr/>
          </p:nvSpPr>
          <p:spPr bwMode="auto">
            <a:xfrm>
              <a:off x="2653" y="2931"/>
              <a:ext cx="363" cy="9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5" name="Line 19">
              <a:extLst>
                <a:ext uri="{FF2B5EF4-FFF2-40B4-BE49-F238E27FC236}">
                  <a16:creationId xmlns:a16="http://schemas.microsoft.com/office/drawing/2014/main" id="{83800F68-AB87-4B57-A99C-B25D248526B9}"/>
                </a:ext>
              </a:extLst>
            </p:cNvPr>
            <p:cNvSpPr>
              <a:spLocks noChangeShapeType="1"/>
            </p:cNvSpPr>
            <p:nvPr/>
          </p:nvSpPr>
          <p:spPr bwMode="auto">
            <a:xfrm>
              <a:off x="2245" y="3838"/>
              <a:ext cx="726" cy="1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Line 20">
              <a:extLst>
                <a:ext uri="{FF2B5EF4-FFF2-40B4-BE49-F238E27FC236}">
                  <a16:creationId xmlns:a16="http://schemas.microsoft.com/office/drawing/2014/main" id="{05D2E081-A943-44EF-911E-80C17C59B00A}"/>
                </a:ext>
              </a:extLst>
            </p:cNvPr>
            <p:cNvSpPr>
              <a:spLocks noChangeShapeType="1"/>
            </p:cNvSpPr>
            <p:nvPr/>
          </p:nvSpPr>
          <p:spPr bwMode="auto">
            <a:xfrm flipH="1">
              <a:off x="3016" y="3294"/>
              <a:ext cx="227" cy="6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2867">
                                            <p:txEl>
                                              <p:pRg st="0" end="0"/>
                                            </p:txEl>
                                          </p:spTgt>
                                        </p:tgtEl>
                                        <p:attrNameLst>
                                          <p:attrName>style.visibility</p:attrName>
                                        </p:attrNameLst>
                                      </p:cBhvr>
                                      <p:to>
                                        <p:strVal val="visible"/>
                                      </p:to>
                                    </p:set>
                                    <p:animEffect transition="in" filter="wipe(left)">
                                      <p:cBhvr>
                                        <p:cTn id="7" dur="500"/>
                                        <p:tgtEl>
                                          <p:spTgt spid="292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2867">
                                            <p:txEl>
                                              <p:pRg st="1" end="1"/>
                                            </p:txEl>
                                          </p:spTgt>
                                        </p:tgtEl>
                                        <p:attrNameLst>
                                          <p:attrName>style.visibility</p:attrName>
                                        </p:attrNameLst>
                                      </p:cBhvr>
                                      <p:to>
                                        <p:strVal val="visible"/>
                                      </p:to>
                                    </p:set>
                                    <p:animEffect transition="in" filter="wipe(left)">
                                      <p:cBhvr>
                                        <p:cTn id="12" dur="500"/>
                                        <p:tgtEl>
                                          <p:spTgt spid="292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2867">
                                            <p:txEl>
                                              <p:pRg st="2" end="2"/>
                                            </p:txEl>
                                          </p:spTgt>
                                        </p:tgtEl>
                                        <p:attrNameLst>
                                          <p:attrName>style.visibility</p:attrName>
                                        </p:attrNameLst>
                                      </p:cBhvr>
                                      <p:to>
                                        <p:strVal val="visible"/>
                                      </p:to>
                                    </p:set>
                                    <p:animEffect transition="in" filter="wipe(left)">
                                      <p:cBhvr>
                                        <p:cTn id="17" dur="500"/>
                                        <p:tgtEl>
                                          <p:spTgt spid="292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2867">
                                            <p:txEl>
                                              <p:pRg st="3" end="3"/>
                                            </p:txEl>
                                          </p:spTgt>
                                        </p:tgtEl>
                                        <p:attrNameLst>
                                          <p:attrName>style.visibility</p:attrName>
                                        </p:attrNameLst>
                                      </p:cBhvr>
                                      <p:to>
                                        <p:strVal val="visible"/>
                                      </p:to>
                                    </p:set>
                                    <p:animEffect transition="in" filter="wipe(left)">
                                      <p:cBhvr>
                                        <p:cTn id="22" dur="500"/>
                                        <p:tgtEl>
                                          <p:spTgt spid="292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a:extLst>
              <a:ext uri="{FF2B5EF4-FFF2-40B4-BE49-F238E27FC236}">
                <a16:creationId xmlns:a16="http://schemas.microsoft.com/office/drawing/2014/main" id="{2374128B-2F67-406D-84BE-7D33BD76F6B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DEDB372C-44C6-46A9-B623-723D2CCF78B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2291" name="灯片编号占位符 4">
            <a:extLst>
              <a:ext uri="{FF2B5EF4-FFF2-40B4-BE49-F238E27FC236}">
                <a16:creationId xmlns:a16="http://schemas.microsoft.com/office/drawing/2014/main" id="{37BD936C-0A09-4128-A0DC-8B0A533223F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1A2ACA9D-5628-44D1-B056-C22069E3275B}"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9</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3890" name="Rectangle 2">
            <a:extLst>
              <a:ext uri="{FF2B5EF4-FFF2-40B4-BE49-F238E27FC236}">
                <a16:creationId xmlns:a16="http://schemas.microsoft.com/office/drawing/2014/main" id="{3B7E8F23-E1A3-4D59-9704-485CD99A3AFA}"/>
              </a:ext>
            </a:extLst>
          </p:cNvPr>
          <p:cNvSpPr>
            <a:spLocks noGrp="1" noChangeArrowheads="1"/>
          </p:cNvSpPr>
          <p:nvPr>
            <p:ph type="title"/>
          </p:nvPr>
        </p:nvSpPr>
        <p:spPr/>
        <p:txBody>
          <a:bodyPr/>
          <a:lstStyle/>
          <a:p>
            <a:pPr>
              <a:defRPr/>
            </a:pPr>
            <a:r>
              <a:rPr lang="zh-CN" altLang="en-US"/>
              <a:t>最大割集的近似算法</a:t>
            </a:r>
          </a:p>
        </p:txBody>
      </p:sp>
      <p:sp>
        <p:nvSpPr>
          <p:cNvPr id="293891" name="Rectangle 3">
            <a:extLst>
              <a:ext uri="{FF2B5EF4-FFF2-40B4-BE49-F238E27FC236}">
                <a16:creationId xmlns:a16="http://schemas.microsoft.com/office/drawing/2014/main" id="{DBC2F1AC-5B75-4F10-AD02-14DD297BD320}"/>
              </a:ext>
            </a:extLst>
          </p:cNvPr>
          <p:cNvSpPr>
            <a:spLocks noGrp="1" noChangeArrowheads="1"/>
          </p:cNvSpPr>
          <p:nvPr>
            <p:ph type="body" idx="1"/>
          </p:nvPr>
        </p:nvSpPr>
        <p:spPr>
          <a:xfrm>
            <a:off x="179388" y="4500563"/>
            <a:ext cx="8685212" cy="1670050"/>
          </a:xfrm>
        </p:spPr>
        <p:txBody>
          <a:bodyPr/>
          <a:lstStyle/>
          <a:p>
            <a:pPr>
              <a:lnSpc>
                <a:spcPct val="115000"/>
              </a:lnSpc>
              <a:spcBef>
                <a:spcPct val="15000"/>
              </a:spcBef>
              <a:defRPr/>
            </a:pPr>
            <a:r>
              <a:rPr lang="zh-CN" altLang="en-US" dirty="0">
                <a:latin typeface="+mj-ea"/>
                <a:ea typeface="+mj-ea"/>
              </a:rPr>
              <a:t>该算法从一个（假定是）坏的割开始，然后做局部改变，直到不能进一步做局部改进为止。虽然这个过程一般不能给出最大的割，但是可以证明，它给出的割的大小至少是最大割大小的一半。</a:t>
            </a:r>
          </a:p>
        </p:txBody>
      </p:sp>
      <p:sp>
        <p:nvSpPr>
          <p:cNvPr id="12294" name="文本框 1">
            <a:extLst>
              <a:ext uri="{FF2B5EF4-FFF2-40B4-BE49-F238E27FC236}">
                <a16:creationId xmlns:a16="http://schemas.microsoft.com/office/drawing/2014/main" id="{21F3715C-86D2-4678-9BD1-4C37E8E860AA}"/>
              </a:ext>
            </a:extLst>
          </p:cNvPr>
          <p:cNvSpPr txBox="1">
            <a:spLocks noChangeArrowheads="1"/>
          </p:cNvSpPr>
          <p:nvPr/>
        </p:nvSpPr>
        <p:spPr bwMode="auto">
          <a:xfrm>
            <a:off x="250825" y="1127125"/>
            <a:ext cx="8505825" cy="3275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spcBef>
                <a:spcPct val="15000"/>
              </a:spcBef>
              <a:buFont typeface="Monotype Sorts" pitchFamily="2" charset="2"/>
              <a:buNone/>
            </a:pPr>
            <a:r>
              <a:rPr lang="en-US" altLang="zh-CN" sz="2400" i="1">
                <a:latin typeface="Tahoma" panose="020B0604030504040204" pitchFamily="34" charset="0"/>
                <a:cs typeface="Tahoma" panose="020B0604030504040204" pitchFamily="34" charset="0"/>
              </a:rPr>
              <a:t>B </a:t>
            </a:r>
            <a:r>
              <a:rPr lang="en-US" altLang="zh-CN" sz="2400">
                <a:latin typeface="Tahoma" panose="020B0604030504040204" pitchFamily="34" charset="0"/>
                <a:cs typeface="Tahoma" panose="020B0604030504040204" pitchFamily="34" charset="0"/>
              </a:rPr>
              <a:t>=“</a:t>
            </a:r>
            <a:r>
              <a:rPr lang="zh-CN" altLang="en-US" sz="2400">
                <a:latin typeface="Tahoma" panose="020B0604030504040204" pitchFamily="34" charset="0"/>
                <a:ea typeface="隶书" panose="02010509060101010101" pitchFamily="49" charset="-122"/>
                <a:cs typeface="Tahoma" panose="020B0604030504040204" pitchFamily="34" charset="0"/>
              </a:rPr>
              <a:t>对于输入 </a:t>
            </a:r>
            <a:r>
              <a:rPr lang="en-US" altLang="zh-CN" sz="2400">
                <a:latin typeface="Tahoma" panose="020B0604030504040204" pitchFamily="34" charset="0"/>
                <a:cs typeface="Tahoma" panose="020B0604030504040204" pitchFamily="34" charset="0"/>
              </a:rPr>
              <a:t>&lt;G&gt;</a:t>
            </a:r>
            <a:r>
              <a:rPr lang="zh-CN" altLang="en-US" sz="2400">
                <a:latin typeface="Tahoma" panose="020B0604030504040204" pitchFamily="34" charset="0"/>
                <a:ea typeface="隶书" panose="02010509060101010101" pitchFamily="49" charset="-122"/>
              </a:rPr>
              <a:t>，这里 </a:t>
            </a:r>
            <a:r>
              <a:rPr lang="en-US" altLang="zh-CN" sz="2400">
                <a:latin typeface="Tahoma" panose="020B0604030504040204" pitchFamily="34" charset="0"/>
                <a:cs typeface="Tahoma" panose="020B0604030504040204" pitchFamily="34" charset="0"/>
              </a:rPr>
              <a:t>G </a:t>
            </a:r>
            <a:r>
              <a:rPr lang="zh-CN" altLang="en-US" sz="2400">
                <a:latin typeface="Tahoma" panose="020B0604030504040204" pitchFamily="34" charset="0"/>
                <a:ea typeface="隶书" panose="02010509060101010101" pitchFamily="49" charset="-122"/>
              </a:rPr>
              <a:t>是顶点集为 </a:t>
            </a:r>
            <a:r>
              <a:rPr lang="en-US" altLang="zh-CN" sz="2400">
                <a:latin typeface="Tahoma" panose="020B0604030504040204" pitchFamily="34" charset="0"/>
                <a:cs typeface="Tahoma" panose="020B0604030504040204" pitchFamily="34" charset="0"/>
              </a:rPr>
              <a:t>V </a:t>
            </a:r>
            <a:r>
              <a:rPr lang="zh-CN" altLang="en-US" sz="2400">
                <a:latin typeface="Tahoma" panose="020B0604030504040204" pitchFamily="34" charset="0"/>
                <a:ea typeface="隶书" panose="02010509060101010101" pitchFamily="49" charset="-122"/>
              </a:rPr>
              <a:t>的无向图：</a:t>
            </a:r>
          </a:p>
          <a:p>
            <a:pPr lvl="1">
              <a:lnSpc>
                <a:spcPct val="150000"/>
              </a:lnSpc>
              <a:spcBef>
                <a:spcPct val="15000"/>
              </a:spcBef>
              <a:buFont typeface="Monotype Sorts" pitchFamily="2" charset="2"/>
              <a:buNone/>
            </a:pPr>
            <a:r>
              <a:rPr lang="en-US" altLang="zh-CN" sz="2400">
                <a:latin typeface="Tahoma" panose="020B0604030504040204" pitchFamily="34" charset="0"/>
                <a:cs typeface="Tahoma" panose="020B0604030504040204" pitchFamily="34" charset="0"/>
              </a:rPr>
              <a:t>1) </a:t>
            </a:r>
            <a:r>
              <a:rPr lang="zh-CN" altLang="en-US" sz="2400">
                <a:latin typeface="Tahoma" panose="020B0604030504040204" pitchFamily="34" charset="0"/>
                <a:ea typeface="隶书" panose="02010509060101010101" pitchFamily="49" charset="-122"/>
              </a:rPr>
              <a:t>令</a:t>
            </a:r>
            <a:r>
              <a:rPr lang="en-US" altLang="zh-CN" sz="2400">
                <a:latin typeface="Tahoma" panose="020B0604030504040204" pitchFamily="34" charset="0"/>
                <a:cs typeface="Tahoma" panose="020B0604030504040204" pitchFamily="34" charset="0"/>
              </a:rPr>
              <a:t>S = </a:t>
            </a:r>
            <a:r>
              <a:rPr lang="en-US" altLang="zh-CN" sz="2400">
                <a:latin typeface="Tahoma" panose="020B0604030504040204" pitchFamily="34" charset="0"/>
                <a:cs typeface="Tahoma" panose="020B0604030504040204" pitchFamily="34" charset="0"/>
                <a:sym typeface="Symbol" panose="05050102010706020507" pitchFamily="18" charset="2"/>
              </a:rPr>
              <a:t> </a:t>
            </a:r>
            <a:r>
              <a:rPr lang="zh-CN" altLang="en-US" sz="2400">
                <a:latin typeface="Tahoma" panose="020B0604030504040204" pitchFamily="34" charset="0"/>
                <a:ea typeface="隶书" panose="02010509060101010101" pitchFamily="49" charset="-122"/>
                <a:sym typeface="Symbol" panose="05050102010706020507" pitchFamily="18" charset="2"/>
              </a:rPr>
              <a:t>和 </a:t>
            </a:r>
            <a:r>
              <a:rPr lang="en-US" altLang="zh-CN" sz="2400">
                <a:latin typeface="Tahoma" panose="020B0604030504040204" pitchFamily="34" charset="0"/>
                <a:cs typeface="Tahoma" panose="020B0604030504040204" pitchFamily="34" charset="0"/>
                <a:sym typeface="Symbol" panose="05050102010706020507" pitchFamily="18" charset="2"/>
              </a:rPr>
              <a:t>T = V</a:t>
            </a:r>
            <a:r>
              <a:rPr lang="zh-CN" altLang="en-US" sz="2400">
                <a:latin typeface="Tahoma" panose="020B0604030504040204" pitchFamily="34" charset="0"/>
                <a:ea typeface="隶书" panose="02010509060101010101" pitchFamily="49" charset="-122"/>
                <a:sym typeface="Symbol" panose="05050102010706020507" pitchFamily="18" charset="2"/>
              </a:rPr>
              <a:t>。</a:t>
            </a:r>
          </a:p>
          <a:p>
            <a:pPr lvl="1">
              <a:lnSpc>
                <a:spcPct val="150000"/>
              </a:lnSpc>
              <a:spcBef>
                <a:spcPct val="15000"/>
              </a:spcBef>
              <a:buFont typeface="Monotype Sorts" pitchFamily="2" charset="2"/>
              <a:buNone/>
            </a:pPr>
            <a:r>
              <a:rPr lang="en-US" altLang="zh-CN" sz="2400">
                <a:latin typeface="Tahoma" panose="020B0604030504040204" pitchFamily="34" charset="0"/>
                <a:cs typeface="Tahoma" panose="020B0604030504040204" pitchFamily="34" charset="0"/>
                <a:sym typeface="Symbol" panose="05050102010706020507" pitchFamily="18" charset="2"/>
              </a:rPr>
              <a:t>2) </a:t>
            </a:r>
            <a:r>
              <a:rPr lang="zh-CN" altLang="en-US" sz="2400">
                <a:latin typeface="Tahoma" panose="020B0604030504040204" pitchFamily="34" charset="0"/>
                <a:ea typeface="隶书" panose="02010509060101010101" pitchFamily="49" charset="-122"/>
                <a:sym typeface="Symbol" panose="05050102010706020507" pitchFamily="18" charset="2"/>
              </a:rPr>
              <a:t>如果把一个顶点从 </a:t>
            </a:r>
            <a:r>
              <a:rPr lang="en-US" altLang="zh-CN" sz="2400">
                <a:latin typeface="Tahoma" panose="020B0604030504040204" pitchFamily="34" charset="0"/>
                <a:cs typeface="Tahoma" panose="020B0604030504040204" pitchFamily="34" charset="0"/>
                <a:sym typeface="Symbol" panose="05050102010706020507" pitchFamily="18" charset="2"/>
              </a:rPr>
              <a:t>S </a:t>
            </a:r>
            <a:r>
              <a:rPr lang="zh-CN" altLang="en-US" sz="2400">
                <a:latin typeface="Tahoma" panose="020B0604030504040204" pitchFamily="34" charset="0"/>
                <a:ea typeface="隶书" panose="02010509060101010101" pitchFamily="49" charset="-122"/>
                <a:sym typeface="Symbol" panose="05050102010706020507" pitchFamily="18" charset="2"/>
              </a:rPr>
              <a:t>移到 </a:t>
            </a:r>
            <a:r>
              <a:rPr lang="en-US" altLang="zh-CN" sz="2400">
                <a:latin typeface="Tahoma" panose="020B0604030504040204" pitchFamily="34" charset="0"/>
                <a:cs typeface="Tahoma" panose="020B0604030504040204" pitchFamily="34" charset="0"/>
                <a:sym typeface="Symbol" panose="05050102010706020507" pitchFamily="18" charset="2"/>
              </a:rPr>
              <a:t>T </a:t>
            </a:r>
            <a:r>
              <a:rPr lang="zh-CN" altLang="en-US" sz="2400">
                <a:latin typeface="Tahoma" panose="020B0604030504040204" pitchFamily="34" charset="0"/>
                <a:ea typeface="隶书" panose="02010509060101010101" pitchFamily="49" charset="-122"/>
                <a:sym typeface="Symbol" panose="05050102010706020507" pitchFamily="18" charset="2"/>
              </a:rPr>
              <a:t>或从 </a:t>
            </a:r>
            <a:r>
              <a:rPr lang="en-US" altLang="zh-CN" sz="2400">
                <a:latin typeface="Tahoma" panose="020B0604030504040204" pitchFamily="34" charset="0"/>
                <a:cs typeface="Tahoma" panose="020B0604030504040204" pitchFamily="34" charset="0"/>
                <a:sym typeface="Symbol" panose="05050102010706020507" pitchFamily="18" charset="2"/>
              </a:rPr>
              <a:t>T </a:t>
            </a:r>
            <a:r>
              <a:rPr lang="zh-CN" altLang="en-US" sz="2400">
                <a:latin typeface="Tahoma" panose="020B0604030504040204" pitchFamily="34" charset="0"/>
                <a:ea typeface="隶书" panose="02010509060101010101" pitchFamily="49" charset="-122"/>
                <a:sym typeface="Symbol" panose="05050102010706020507" pitchFamily="18" charset="2"/>
              </a:rPr>
              <a:t>移到 </a:t>
            </a:r>
            <a:r>
              <a:rPr lang="en-US" altLang="zh-CN" sz="2400">
                <a:latin typeface="Tahoma" panose="020B0604030504040204" pitchFamily="34" charset="0"/>
                <a:cs typeface="Tahoma" panose="020B0604030504040204" pitchFamily="34" charset="0"/>
                <a:sym typeface="Symbol" panose="05050102010706020507" pitchFamily="18" charset="2"/>
              </a:rPr>
              <a:t>S</a:t>
            </a:r>
            <a:r>
              <a:rPr lang="zh-CN" altLang="en-US" sz="2400">
                <a:latin typeface="Tahoma" panose="020B0604030504040204" pitchFamily="34" charset="0"/>
                <a:ea typeface="隶书" panose="02010509060101010101" pitchFamily="49" charset="-122"/>
                <a:sym typeface="Symbol" panose="05050102010706020507" pitchFamily="18" charset="2"/>
              </a:rPr>
              <a:t>，使割的大小变大，则做这样的移动，并且重复这一步。</a:t>
            </a:r>
          </a:p>
          <a:p>
            <a:pPr lvl="1">
              <a:lnSpc>
                <a:spcPct val="150000"/>
              </a:lnSpc>
              <a:spcBef>
                <a:spcPct val="15000"/>
              </a:spcBef>
              <a:buFont typeface="Monotype Sorts" pitchFamily="2" charset="2"/>
              <a:buNone/>
            </a:pPr>
            <a:r>
              <a:rPr lang="en-US" altLang="zh-CN" sz="2400">
                <a:latin typeface="Tahoma" panose="020B0604030504040204" pitchFamily="34" charset="0"/>
                <a:cs typeface="Tahoma" panose="020B0604030504040204" pitchFamily="34" charset="0"/>
                <a:sym typeface="Symbol" panose="05050102010706020507" pitchFamily="18" charset="2"/>
              </a:rPr>
              <a:t>3) </a:t>
            </a:r>
            <a:r>
              <a:rPr lang="zh-CN" altLang="en-US" sz="2400">
                <a:latin typeface="Tahoma" panose="020B0604030504040204" pitchFamily="34" charset="0"/>
                <a:ea typeface="隶书" panose="02010509060101010101" pitchFamily="49" charset="-122"/>
                <a:sym typeface="Symbol" panose="05050102010706020507" pitchFamily="18" charset="2"/>
              </a:rPr>
              <a:t>如果不存在这样的顶点，则输出当前的割并且停止。</a:t>
            </a:r>
            <a:r>
              <a:rPr lang="zh-CN" altLang="en-US" sz="2400">
                <a:latin typeface="Tahoma" panose="020B0604030504040204" pitchFamily="34" charset="0"/>
                <a:ea typeface="隶书" panose="02010509060101010101" pitchFamily="49" charset="-122"/>
              </a:rPr>
              <a:t>”</a:t>
            </a:r>
          </a:p>
          <a:p>
            <a:endParaRPr lang="zh-CN" altLang="en-US">
              <a:latin typeface="Tahoma" panose="020B0604030504040204" pitchFamily="34"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wipe(left)">
                                      <p:cBhvr>
                                        <p:cTn id="7" dur="500"/>
                                        <p:tgtEl>
                                          <p:spTgt spid="122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3891">
                                            <p:txEl>
                                              <p:pRg st="0" end="0"/>
                                            </p:txEl>
                                          </p:spTgt>
                                        </p:tgtEl>
                                        <p:attrNameLst>
                                          <p:attrName>style.visibility</p:attrName>
                                        </p:attrNameLst>
                                      </p:cBhvr>
                                      <p:to>
                                        <p:strVal val="visible"/>
                                      </p:to>
                                    </p:set>
                                    <p:animEffect transition="in" filter="wipe(left)">
                                      <p:cBhvr>
                                        <p:cTn id="12" dur="500"/>
                                        <p:tgtEl>
                                          <p:spTgt spid="293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uild="p"/>
      <p:bldP spid="1229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3">
            <a:extLst>
              <a:ext uri="{FF2B5EF4-FFF2-40B4-BE49-F238E27FC236}">
                <a16:creationId xmlns:a16="http://schemas.microsoft.com/office/drawing/2014/main" id="{B5A4829E-F4CB-4AEC-A0B7-2DB42B6DB57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92FB98B-D796-4CB6-9D63-6EE5BAE1E7DE}"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3315" name="灯片编号占位符 4">
            <a:extLst>
              <a:ext uri="{FF2B5EF4-FFF2-40B4-BE49-F238E27FC236}">
                <a16:creationId xmlns:a16="http://schemas.microsoft.com/office/drawing/2014/main" id="{E2232B90-F540-44EA-A636-9AA8DFE9D0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C53BE214-40F3-49E7-89B2-48985BC59A66}"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10</a:t>
            </a:fld>
            <a:r>
              <a:rPr lang="zh-CN" altLang="en-US" sz="1200">
                <a:solidFill>
                  <a:schemeClr val="bg2"/>
                </a:solidFill>
                <a:latin typeface="Times New Roman" panose="02020603050405020304" pitchFamily="18" charset="0"/>
                <a:ea typeface="宋体" panose="02010600030101010101" pitchFamily="2" charset="-122"/>
              </a:rPr>
              <a:t>页</a:t>
            </a:r>
          </a:p>
        </p:txBody>
      </p:sp>
      <p:grpSp>
        <p:nvGrpSpPr>
          <p:cNvPr id="2" name="Group 2">
            <a:extLst>
              <a:ext uri="{FF2B5EF4-FFF2-40B4-BE49-F238E27FC236}">
                <a16:creationId xmlns:a16="http://schemas.microsoft.com/office/drawing/2014/main" id="{D40E9458-705B-4B49-9693-6911C64B4F45}"/>
              </a:ext>
            </a:extLst>
          </p:cNvPr>
          <p:cNvGrpSpPr>
            <a:grpSpLocks/>
          </p:cNvGrpSpPr>
          <p:nvPr/>
        </p:nvGrpSpPr>
        <p:grpSpPr bwMode="auto">
          <a:xfrm>
            <a:off x="296863" y="1125538"/>
            <a:ext cx="8596312" cy="1295400"/>
            <a:chOff x="187" y="709"/>
            <a:chExt cx="5415" cy="816"/>
          </a:xfrm>
        </p:grpSpPr>
        <p:sp>
          <p:nvSpPr>
            <p:cNvPr id="13319" name="AutoShape 3">
              <a:extLst>
                <a:ext uri="{FF2B5EF4-FFF2-40B4-BE49-F238E27FC236}">
                  <a16:creationId xmlns:a16="http://schemas.microsoft.com/office/drawing/2014/main" id="{7E8BFF98-340E-4FA7-A568-9631B798B2BB}"/>
                </a:ext>
              </a:extLst>
            </p:cNvPr>
            <p:cNvSpPr>
              <a:spLocks noChangeArrowheads="1"/>
            </p:cNvSpPr>
            <p:nvPr/>
          </p:nvSpPr>
          <p:spPr bwMode="gray">
            <a:xfrm>
              <a:off x="187" y="709"/>
              <a:ext cx="5415" cy="816"/>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294916" name="AutoShape 4">
              <a:extLst>
                <a:ext uri="{FF2B5EF4-FFF2-40B4-BE49-F238E27FC236}">
                  <a16:creationId xmlns:a16="http://schemas.microsoft.com/office/drawing/2014/main" id="{0D120068-A38A-44B1-8700-D22A73B8EA7E}"/>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294917" name="Freeform 5">
              <a:extLst>
                <a:ext uri="{FF2B5EF4-FFF2-40B4-BE49-F238E27FC236}">
                  <a16:creationId xmlns:a16="http://schemas.microsoft.com/office/drawing/2014/main" id="{E1A17D53-4A3C-4732-96C2-06A0072D9674}"/>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294918" name="Text Box 6">
              <a:extLst>
                <a:ext uri="{FF2B5EF4-FFF2-40B4-BE49-F238E27FC236}">
                  <a16:creationId xmlns:a16="http://schemas.microsoft.com/office/drawing/2014/main" id="{5A477BCA-9712-4A97-ADA9-0BB2DB061D8E}"/>
                </a:ext>
              </a:extLst>
            </p:cNvPr>
            <p:cNvSpPr txBox="1">
              <a:spLocks noChangeArrowheads="1"/>
            </p:cNvSpPr>
            <p:nvPr/>
          </p:nvSpPr>
          <p:spPr bwMode="gray">
            <a:xfrm>
              <a:off x="389" y="853"/>
              <a:ext cx="541" cy="288"/>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定理</a:t>
              </a:r>
              <a:endParaRPr lang="en-US" altLang="zh-CN" sz="2400" b="1" dirty="0">
                <a:effectLst>
                  <a:outerShdw blurRad="38100" dist="38100" dir="2700000" algn="tl">
                    <a:srgbClr val="C0C0C0"/>
                  </a:outerShdw>
                </a:effectLst>
                <a:latin typeface="+mj-ea"/>
                <a:ea typeface="+mj-ea"/>
              </a:endParaRPr>
            </a:p>
          </p:txBody>
        </p:sp>
        <p:sp>
          <p:nvSpPr>
            <p:cNvPr id="19467" name="Text Box 7">
              <a:extLst>
                <a:ext uri="{FF2B5EF4-FFF2-40B4-BE49-F238E27FC236}">
                  <a16:creationId xmlns:a16="http://schemas.microsoft.com/office/drawing/2014/main" id="{CB086078-CC1F-4921-BC3E-6139D6B3ACB2}"/>
                </a:ext>
              </a:extLst>
            </p:cNvPr>
            <p:cNvSpPr txBox="1">
              <a:spLocks noChangeArrowheads="1"/>
            </p:cNvSpPr>
            <p:nvPr/>
          </p:nvSpPr>
          <p:spPr bwMode="gray">
            <a:xfrm>
              <a:off x="975" y="975"/>
              <a:ext cx="4581" cy="297"/>
            </a:xfrm>
            <a:prstGeom prst="rect">
              <a:avLst/>
            </a:prstGeom>
            <a:noFill/>
            <a:ln>
              <a:noFill/>
            </a:ln>
          </p:spPr>
          <p:txBody>
            <a:bodyPr>
              <a:spAutoFit/>
            </a:bodyPr>
            <a:lstStyle>
              <a:lvl1pPr marL="442913" indent="-442913">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kumimoji="1" lang="zh-CN" altLang="en-US" sz="2400" b="1" dirty="0">
                  <a:solidFill>
                    <a:schemeClr val="tx1"/>
                  </a:solidFill>
                  <a:latin typeface="Tahoma" pitchFamily="34" charset="0"/>
                  <a:ea typeface="+mj-ea"/>
                  <a:cs typeface="Tahoma" pitchFamily="34" charset="0"/>
                </a:rPr>
                <a:t>算法 </a:t>
              </a:r>
              <a:r>
                <a:rPr kumimoji="1" lang="en-US" altLang="zh-CN" sz="2400" b="1" dirty="0">
                  <a:solidFill>
                    <a:schemeClr val="tx1"/>
                  </a:solidFill>
                  <a:latin typeface="Tahoma" pitchFamily="34" charset="0"/>
                  <a:ea typeface="Tahoma" pitchFamily="34" charset="0"/>
                  <a:cs typeface="Tahoma" pitchFamily="34" charset="0"/>
                </a:rPr>
                <a:t>B </a:t>
              </a:r>
              <a:r>
                <a:rPr kumimoji="1" lang="zh-CN" altLang="en-US" sz="2400" b="1" dirty="0">
                  <a:solidFill>
                    <a:schemeClr val="tx1"/>
                  </a:solidFill>
                  <a:latin typeface="Tahoma" pitchFamily="34" charset="0"/>
                  <a:ea typeface="+mj-ea"/>
                  <a:cs typeface="Tahoma" pitchFamily="34" charset="0"/>
                </a:rPr>
                <a:t>是 </a:t>
              </a:r>
              <a:r>
                <a:rPr kumimoji="1" lang="en-US" altLang="zh-CN" sz="2400" b="1" i="1" dirty="0">
                  <a:solidFill>
                    <a:schemeClr val="tx1"/>
                  </a:solidFill>
                  <a:latin typeface="Tahoma" pitchFamily="34" charset="0"/>
                  <a:ea typeface="Tahoma" pitchFamily="34" charset="0"/>
                  <a:cs typeface="Tahoma" pitchFamily="34" charset="0"/>
                </a:rPr>
                <a:t>MAX-CUT </a:t>
              </a:r>
              <a:r>
                <a:rPr kumimoji="1" lang="zh-CN" altLang="en-US" sz="2400" b="1" dirty="0">
                  <a:solidFill>
                    <a:schemeClr val="tx1"/>
                  </a:solidFill>
                  <a:latin typeface="Tahoma" pitchFamily="34" charset="0"/>
                  <a:ea typeface="+mj-ea"/>
                  <a:cs typeface="Tahoma" pitchFamily="34" charset="0"/>
                </a:rPr>
                <a:t>的 </a:t>
              </a:r>
              <a:r>
                <a:rPr kumimoji="1" lang="en-US" altLang="zh-CN" sz="2400" b="1" dirty="0">
                  <a:solidFill>
                    <a:schemeClr val="tx1"/>
                  </a:solidFill>
                  <a:latin typeface="Tahoma" pitchFamily="34" charset="0"/>
                  <a:ea typeface="Tahoma" pitchFamily="34" charset="0"/>
                  <a:cs typeface="Tahoma" pitchFamily="34" charset="0"/>
                </a:rPr>
                <a:t>2-</a:t>
              </a:r>
              <a:r>
                <a:rPr kumimoji="1" lang="zh-CN" altLang="en-US" sz="2400" b="1" dirty="0">
                  <a:solidFill>
                    <a:schemeClr val="tx1"/>
                  </a:solidFill>
                  <a:latin typeface="Tahoma" pitchFamily="34" charset="0"/>
                  <a:ea typeface="+mj-ea"/>
                  <a:cs typeface="Tahoma" pitchFamily="34" charset="0"/>
                </a:rPr>
                <a:t>优的多项式时间近似算法</a:t>
              </a:r>
              <a:endParaRPr kumimoji="1" lang="zh-CN" altLang="en-US" sz="2400" b="1" i="1" dirty="0">
                <a:solidFill>
                  <a:schemeClr val="tx1"/>
                </a:solidFill>
                <a:latin typeface="Tahoma" pitchFamily="34" charset="0"/>
                <a:ea typeface="+mj-ea"/>
                <a:cs typeface="Tahoma" pitchFamily="34" charset="0"/>
              </a:endParaRPr>
            </a:p>
          </p:txBody>
        </p:sp>
      </p:grpSp>
      <p:sp>
        <p:nvSpPr>
          <p:cNvPr id="294920" name="Rectangle 8">
            <a:extLst>
              <a:ext uri="{FF2B5EF4-FFF2-40B4-BE49-F238E27FC236}">
                <a16:creationId xmlns:a16="http://schemas.microsoft.com/office/drawing/2014/main" id="{56859BDA-F442-4AED-8844-6C83E46D4B83}"/>
              </a:ext>
            </a:extLst>
          </p:cNvPr>
          <p:cNvSpPr>
            <a:spLocks noGrp="1" noChangeArrowheads="1"/>
          </p:cNvSpPr>
          <p:nvPr>
            <p:ph type="title"/>
          </p:nvPr>
        </p:nvSpPr>
        <p:spPr/>
        <p:txBody>
          <a:bodyPr anchor="ctr"/>
          <a:lstStyle/>
          <a:p>
            <a:pPr>
              <a:defRPr/>
            </a:pPr>
            <a:r>
              <a:rPr lang="zh-CN" altLang="en-US"/>
              <a:t>最大割集的近似算法</a:t>
            </a:r>
          </a:p>
        </p:txBody>
      </p:sp>
      <p:sp>
        <p:nvSpPr>
          <p:cNvPr id="294921" name="Rectangle 9">
            <a:extLst>
              <a:ext uri="{FF2B5EF4-FFF2-40B4-BE49-F238E27FC236}">
                <a16:creationId xmlns:a16="http://schemas.microsoft.com/office/drawing/2014/main" id="{DA47751E-5EB6-4130-8102-986895915EA8}"/>
              </a:ext>
            </a:extLst>
          </p:cNvPr>
          <p:cNvSpPr>
            <a:spLocks noGrp="1" noChangeArrowheads="1"/>
          </p:cNvSpPr>
          <p:nvPr>
            <p:ph type="body" idx="1"/>
          </p:nvPr>
        </p:nvSpPr>
        <p:spPr>
          <a:xfrm>
            <a:off x="328613" y="2643188"/>
            <a:ext cx="8434387" cy="3857625"/>
          </a:xfrm>
        </p:spPr>
        <p:txBody>
          <a:bodyPr/>
          <a:lstStyle/>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割的大小不超过 </a:t>
            </a:r>
            <a:r>
              <a:rPr lang="en-US" altLang="zh-CN">
                <a:latin typeface="Tahoma" panose="020B0604030504040204" pitchFamily="34" charset="0"/>
                <a:ea typeface="隶书" panose="02010509060101010101" pitchFamily="49" charset="-122"/>
                <a:cs typeface="Tahoma" panose="020B0604030504040204" pitchFamily="34" charset="0"/>
              </a:rPr>
              <a:t>G </a:t>
            </a:r>
            <a:r>
              <a:rPr lang="zh-CN" altLang="en-US">
                <a:latin typeface="Tahoma" panose="020B0604030504040204" pitchFamily="34" charset="0"/>
                <a:ea typeface="隶书" panose="02010509060101010101" pitchFamily="49" charset="-122"/>
                <a:cs typeface="Tahoma" panose="020B0604030504040204" pitchFamily="34" charset="0"/>
              </a:rPr>
              <a:t>的边数，故 </a:t>
            </a:r>
            <a:r>
              <a:rPr lang="en-US" altLang="zh-CN">
                <a:latin typeface="Tahoma" panose="020B0604030504040204" pitchFamily="34" charset="0"/>
                <a:ea typeface="隶书" panose="02010509060101010101" pitchFamily="49" charset="-122"/>
                <a:cs typeface="Tahoma" panose="020B0604030504040204" pitchFamily="34" charset="0"/>
              </a:rPr>
              <a:t>B </a:t>
            </a:r>
            <a:r>
              <a:rPr lang="zh-CN" altLang="en-US">
                <a:latin typeface="Tahoma" panose="020B0604030504040204" pitchFamily="34" charset="0"/>
                <a:ea typeface="隶书" panose="02010509060101010101" pitchFamily="49" charset="-122"/>
                <a:cs typeface="Tahoma" panose="020B0604030504040204" pitchFamily="34" charset="0"/>
              </a:rPr>
              <a:t>是多项式时间的。</a:t>
            </a: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证明 </a:t>
            </a:r>
            <a:r>
              <a:rPr lang="en-US" altLang="zh-CN">
                <a:latin typeface="Tahoma" panose="020B0604030504040204" pitchFamily="34" charset="0"/>
                <a:ea typeface="隶书" panose="02010509060101010101" pitchFamily="49" charset="-122"/>
                <a:cs typeface="Tahoma" panose="020B0604030504040204" pitchFamily="34" charset="0"/>
              </a:rPr>
              <a:t>B </a:t>
            </a:r>
            <a:r>
              <a:rPr lang="zh-CN" altLang="en-US">
                <a:latin typeface="Tahoma" panose="020B0604030504040204" pitchFamily="34" charset="0"/>
                <a:ea typeface="隶书" panose="02010509060101010101" pitchFamily="49" charset="-122"/>
                <a:cs typeface="Tahoma" panose="020B0604030504040204" pitchFamily="34" charset="0"/>
              </a:rPr>
              <a:t>输出的割</a:t>
            </a:r>
            <a:r>
              <a:rPr lang="en-US" altLang="zh-CN">
                <a:latin typeface="Tahoma" panose="020B0604030504040204" pitchFamily="34" charset="0"/>
                <a:ea typeface="隶书" panose="02010509060101010101" pitchFamily="49" charset="-122"/>
                <a:cs typeface="Tahoma" panose="020B0604030504040204" pitchFamily="34" charset="0"/>
              </a:rPr>
              <a:t>X</a:t>
            </a:r>
            <a:r>
              <a:rPr lang="zh-CN" altLang="en-US">
                <a:latin typeface="Tahoma" panose="020B0604030504040204" pitchFamily="34" charset="0"/>
                <a:ea typeface="隶书" panose="02010509060101010101" pitchFamily="49" charset="-122"/>
                <a:cs typeface="Tahoma" panose="020B0604030504040204" pitchFamily="34" charset="0"/>
              </a:rPr>
              <a:t>至少包含 </a:t>
            </a:r>
            <a:r>
              <a:rPr lang="en-US" altLang="zh-CN">
                <a:latin typeface="Tahoma" panose="020B0604030504040204" pitchFamily="34" charset="0"/>
                <a:ea typeface="隶书" panose="02010509060101010101" pitchFamily="49" charset="-122"/>
                <a:cs typeface="Tahoma" panose="020B0604030504040204" pitchFamily="34" charset="0"/>
              </a:rPr>
              <a:t>G </a:t>
            </a:r>
            <a:r>
              <a:rPr lang="zh-CN" altLang="en-US">
                <a:latin typeface="Tahoma" panose="020B0604030504040204" pitchFamily="34" charset="0"/>
                <a:ea typeface="隶书" panose="02010509060101010101" pitchFamily="49" charset="-122"/>
                <a:cs typeface="Tahoma" panose="020B0604030504040204" pitchFamily="34" charset="0"/>
              </a:rPr>
              <a:t>中的所有边的一半。</a:t>
            </a: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的每个顶点的割边</a:t>
            </a:r>
            <a:r>
              <a:rPr lang="en-US" altLang="zh-CN">
                <a:latin typeface="Tahoma" panose="020B0604030504040204" pitchFamily="34" charset="0"/>
                <a:ea typeface="隶书" panose="02010509060101010101" pitchFamily="49" charset="-122"/>
                <a:cs typeface="Tahoma" panose="020B0604030504040204" pitchFamily="34" charset="0"/>
              </a:rPr>
              <a:t>&gt;= </a:t>
            </a:r>
            <a:r>
              <a:rPr lang="zh-CN" altLang="en-US">
                <a:latin typeface="Tahoma" panose="020B0604030504040204" pitchFamily="34" charset="0"/>
                <a:ea typeface="隶书" panose="02010509060101010101" pitchFamily="49" charset="-122"/>
                <a:cs typeface="Tahoma" panose="020B0604030504040204" pitchFamily="34" charset="0"/>
              </a:rPr>
              <a:t>非割边。</a:t>
            </a: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的所有顶点的割边数和 ＝ </a:t>
            </a: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的割边总数</a:t>
            </a:r>
            <a:r>
              <a:rPr lang="en-US" altLang="zh-CN">
                <a:latin typeface="Tahoma" panose="020B0604030504040204" pitchFamily="34" charset="0"/>
                <a:ea typeface="隶书" panose="02010509060101010101" pitchFamily="49" charset="-122"/>
                <a:cs typeface="Tahoma" panose="020B0604030504040204" pitchFamily="34" charset="0"/>
              </a:rPr>
              <a:t>×2</a:t>
            </a:r>
            <a:r>
              <a:rPr lang="zh-CN" altLang="en-US">
                <a:latin typeface="Tahoma" panose="020B0604030504040204" pitchFamily="34" charset="0"/>
                <a:ea typeface="隶书" panose="02010509060101010101" pitchFamily="49" charset="-122"/>
                <a:cs typeface="Tahoma" panose="020B0604030504040204" pitchFamily="34" charset="0"/>
              </a:rPr>
              <a:t>。</a:t>
            </a: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的所有顶点的非割边数和 ＝ </a:t>
            </a:r>
            <a:r>
              <a:rPr lang="en-US" altLang="zh-CN">
                <a:latin typeface="Tahoma" panose="020B0604030504040204" pitchFamily="34" charset="0"/>
                <a:ea typeface="隶书" panose="02010509060101010101" pitchFamily="49" charset="-122"/>
                <a:cs typeface="Tahoma" panose="020B0604030504040204" pitchFamily="34" charset="0"/>
              </a:rPr>
              <a:t>X</a:t>
            </a:r>
            <a:r>
              <a:rPr lang="zh-CN" altLang="en-US">
                <a:latin typeface="Tahoma" panose="020B0604030504040204" pitchFamily="34" charset="0"/>
                <a:ea typeface="隶书" panose="02010509060101010101" pitchFamily="49" charset="-122"/>
                <a:cs typeface="Tahoma" panose="020B0604030504040204" pitchFamily="34" charset="0"/>
              </a:rPr>
              <a:t>的非割边总数</a:t>
            </a:r>
            <a:r>
              <a:rPr lang="en-US" altLang="zh-CN">
                <a:latin typeface="Tahoma" panose="020B0604030504040204" pitchFamily="34" charset="0"/>
                <a:ea typeface="隶书" panose="02010509060101010101" pitchFamily="49" charset="-122"/>
                <a:cs typeface="Tahoma" panose="020B0604030504040204" pitchFamily="34" charset="0"/>
              </a:rPr>
              <a:t>×2</a:t>
            </a:r>
            <a:r>
              <a:rPr lang="zh-CN" altLang="en-US">
                <a:latin typeface="Tahoma" panose="020B0604030504040204" pitchFamily="34" charset="0"/>
                <a:ea typeface="隶书" panose="02010509060101010101" pitchFamily="49" charset="-122"/>
                <a:cs typeface="Tahoma" panose="020B0604030504040204" pitchFamily="34" charset="0"/>
              </a:rPr>
              <a:t>。</a:t>
            </a: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的割边数和</a:t>
            </a:r>
            <a:r>
              <a:rPr lang="en-US" altLang="zh-CN">
                <a:latin typeface="Tahoma" panose="020B0604030504040204" pitchFamily="34" charset="0"/>
                <a:ea typeface="隶书" panose="02010509060101010101" pitchFamily="49" charset="-122"/>
                <a:cs typeface="Tahoma" panose="020B0604030504040204" pitchFamily="34" charset="0"/>
              </a:rPr>
              <a:t>&gt;= X</a:t>
            </a:r>
            <a:r>
              <a:rPr lang="zh-CN" altLang="en-US">
                <a:latin typeface="Tahoma" panose="020B0604030504040204" pitchFamily="34" charset="0"/>
                <a:ea typeface="隶书" panose="02010509060101010101" pitchFamily="49" charset="-122"/>
                <a:cs typeface="Tahoma" panose="020B0604030504040204" pitchFamily="34" charset="0"/>
              </a:rPr>
              <a:t>的非割边数和。</a:t>
            </a: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X </a:t>
            </a:r>
            <a:r>
              <a:rPr lang="zh-CN" altLang="en-US">
                <a:latin typeface="Tahoma" panose="020B0604030504040204" pitchFamily="34" charset="0"/>
                <a:ea typeface="隶书" panose="02010509060101010101" pitchFamily="49" charset="-122"/>
                <a:cs typeface="Tahoma" panose="020B0604030504040204" pitchFamily="34" charset="0"/>
              </a:rPr>
              <a:t>的割边数 </a:t>
            </a:r>
            <a:r>
              <a:rPr lang="en-US" altLang="zh-CN">
                <a:latin typeface="Tahoma" panose="020B0604030504040204" pitchFamily="34" charset="0"/>
                <a:ea typeface="隶书" panose="02010509060101010101" pitchFamily="49" charset="-122"/>
                <a:cs typeface="Tahoma" panose="020B0604030504040204" pitchFamily="34" charset="0"/>
              </a:rPr>
              <a:t>&gt;= G</a:t>
            </a:r>
            <a:r>
              <a:rPr lang="zh-CN" altLang="en-US">
                <a:latin typeface="Tahoma" panose="020B0604030504040204" pitchFamily="34" charset="0"/>
                <a:ea typeface="隶书" panose="02010509060101010101" pitchFamily="49" charset="-122"/>
                <a:cs typeface="Tahoma" panose="020B0604030504040204" pitchFamily="34" charset="0"/>
              </a:rPr>
              <a:t>的所有边数</a:t>
            </a:r>
            <a:r>
              <a:rPr lang="en-US" altLang="zh-CN">
                <a:latin typeface="Tahoma" panose="020B0604030504040204" pitchFamily="34" charset="0"/>
                <a:ea typeface="隶书" panose="02010509060101010101" pitchFamily="49" charset="-122"/>
                <a:cs typeface="Tahoma" panose="020B0604030504040204" pitchFamily="34" charset="0"/>
              </a:rPr>
              <a:t>/2</a:t>
            </a:r>
            <a:r>
              <a:rPr lang="zh-CN" altLang="en-US">
                <a:latin typeface="Tahoma" panose="020B0604030504040204" pitchFamily="34" charset="0"/>
                <a:ea typeface="隶书" panose="02010509060101010101" pitchFamily="49" charset="-122"/>
                <a:cs typeface="Tahoma" panose="020B0604030504040204" pitchFamily="34" charset="0"/>
              </a:rPr>
              <a:t>。</a:t>
            </a:r>
            <a:endParaRPr lang="en-US" altLang="zh-CN">
              <a:latin typeface="Tahoma" panose="020B0604030504040204" pitchFamily="34" charset="0"/>
              <a:ea typeface="隶书" panose="02010509060101010101" pitchFamily="49" charset="-122"/>
              <a:cs typeface="Tahoma" panose="020B0604030504040204" pitchFamily="34" charset="0"/>
            </a:endParaRPr>
          </a:p>
          <a:p>
            <a:pPr lvl="1">
              <a:lnSpc>
                <a:spcPct val="115000"/>
              </a:lnSpc>
              <a:spcBef>
                <a:spcPct val="15000"/>
              </a:spcBef>
            </a:pPr>
            <a:r>
              <a:rPr lang="en-US" altLang="zh-CN">
                <a:latin typeface="Tahoma" panose="020B0604030504040204" pitchFamily="34" charset="0"/>
                <a:ea typeface="隶书" panose="02010509060101010101" pitchFamily="49" charset="-122"/>
                <a:cs typeface="Tahoma" panose="020B0604030504040204" pitchFamily="34" charset="0"/>
              </a:rPr>
              <a:t>G </a:t>
            </a:r>
            <a:r>
              <a:rPr lang="zh-CN" altLang="en-US">
                <a:latin typeface="Tahoma" panose="020B0604030504040204" pitchFamily="34" charset="0"/>
                <a:ea typeface="隶书" panose="02010509060101010101" pitchFamily="49" charset="-122"/>
                <a:cs typeface="Tahoma" panose="020B0604030504040204" pitchFamily="34" charset="0"/>
              </a:rPr>
              <a:t>的所有边数</a:t>
            </a:r>
            <a:r>
              <a:rPr lang="en-US" altLang="zh-CN">
                <a:latin typeface="Tahoma" panose="020B0604030504040204" pitchFamily="34" charset="0"/>
                <a:ea typeface="隶书" panose="02010509060101010101" pitchFamily="49" charset="-122"/>
                <a:cs typeface="Tahoma" panose="020B0604030504040204" pitchFamily="34" charset="0"/>
              </a:rPr>
              <a:t>&gt;=</a:t>
            </a:r>
            <a:r>
              <a:rPr lang="zh-CN" altLang="en-US">
                <a:latin typeface="Tahoma" panose="020B0604030504040204" pitchFamily="34" charset="0"/>
                <a:ea typeface="隶书" panose="02010509060101010101" pitchFamily="49" charset="-122"/>
                <a:cs typeface="Tahoma" panose="020B0604030504040204" pitchFamily="34" charset="0"/>
              </a:rPr>
              <a:t>最大割边数。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4921">
                                            <p:txEl>
                                              <p:pRg st="0" end="0"/>
                                            </p:txEl>
                                          </p:spTgt>
                                        </p:tgtEl>
                                        <p:attrNameLst>
                                          <p:attrName>style.visibility</p:attrName>
                                        </p:attrNameLst>
                                      </p:cBhvr>
                                      <p:to>
                                        <p:strVal val="visible"/>
                                      </p:to>
                                    </p:set>
                                    <p:animEffect transition="in" filter="wipe(left)">
                                      <p:cBhvr>
                                        <p:cTn id="12" dur="500"/>
                                        <p:tgtEl>
                                          <p:spTgt spid="2949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4921">
                                            <p:txEl>
                                              <p:pRg st="1" end="1"/>
                                            </p:txEl>
                                          </p:spTgt>
                                        </p:tgtEl>
                                        <p:attrNameLst>
                                          <p:attrName>style.visibility</p:attrName>
                                        </p:attrNameLst>
                                      </p:cBhvr>
                                      <p:to>
                                        <p:strVal val="visible"/>
                                      </p:to>
                                    </p:set>
                                    <p:animEffect transition="in" filter="wipe(left)">
                                      <p:cBhvr>
                                        <p:cTn id="17" dur="500"/>
                                        <p:tgtEl>
                                          <p:spTgt spid="294921">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94921">
                                            <p:txEl>
                                              <p:pRg st="2" end="2"/>
                                            </p:txEl>
                                          </p:spTgt>
                                        </p:tgtEl>
                                        <p:attrNameLst>
                                          <p:attrName>style.visibility</p:attrName>
                                        </p:attrNameLst>
                                      </p:cBhvr>
                                      <p:to>
                                        <p:strVal val="visible"/>
                                      </p:to>
                                    </p:set>
                                    <p:animEffect transition="in" filter="wipe(left)">
                                      <p:cBhvr>
                                        <p:cTn id="20" dur="500"/>
                                        <p:tgtEl>
                                          <p:spTgt spid="294921">
                                            <p:txEl>
                                              <p:pRg st="2" end="2"/>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94921">
                                            <p:txEl>
                                              <p:pRg st="3" end="3"/>
                                            </p:txEl>
                                          </p:spTgt>
                                        </p:tgtEl>
                                        <p:attrNameLst>
                                          <p:attrName>style.visibility</p:attrName>
                                        </p:attrNameLst>
                                      </p:cBhvr>
                                      <p:to>
                                        <p:strVal val="visible"/>
                                      </p:to>
                                    </p:set>
                                    <p:animEffect transition="in" filter="wipe(left)">
                                      <p:cBhvr>
                                        <p:cTn id="23" dur="500"/>
                                        <p:tgtEl>
                                          <p:spTgt spid="294921">
                                            <p:txEl>
                                              <p:pRg st="3" end="3"/>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94921">
                                            <p:txEl>
                                              <p:pRg st="4" end="4"/>
                                            </p:txEl>
                                          </p:spTgt>
                                        </p:tgtEl>
                                        <p:attrNameLst>
                                          <p:attrName>style.visibility</p:attrName>
                                        </p:attrNameLst>
                                      </p:cBhvr>
                                      <p:to>
                                        <p:strVal val="visible"/>
                                      </p:to>
                                    </p:set>
                                    <p:animEffect transition="in" filter="wipe(left)">
                                      <p:cBhvr>
                                        <p:cTn id="26" dur="500"/>
                                        <p:tgtEl>
                                          <p:spTgt spid="294921">
                                            <p:txEl>
                                              <p:pRg st="4" end="4"/>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94921">
                                            <p:txEl>
                                              <p:pRg st="5" end="5"/>
                                            </p:txEl>
                                          </p:spTgt>
                                        </p:tgtEl>
                                        <p:attrNameLst>
                                          <p:attrName>style.visibility</p:attrName>
                                        </p:attrNameLst>
                                      </p:cBhvr>
                                      <p:to>
                                        <p:strVal val="visible"/>
                                      </p:to>
                                    </p:set>
                                    <p:animEffect transition="in" filter="wipe(left)">
                                      <p:cBhvr>
                                        <p:cTn id="29" dur="500"/>
                                        <p:tgtEl>
                                          <p:spTgt spid="294921">
                                            <p:txEl>
                                              <p:pRg st="5" end="5"/>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94921">
                                            <p:txEl>
                                              <p:pRg st="6" end="6"/>
                                            </p:txEl>
                                          </p:spTgt>
                                        </p:tgtEl>
                                        <p:attrNameLst>
                                          <p:attrName>style.visibility</p:attrName>
                                        </p:attrNameLst>
                                      </p:cBhvr>
                                      <p:to>
                                        <p:strVal val="visible"/>
                                      </p:to>
                                    </p:set>
                                    <p:animEffect transition="in" filter="wipe(left)">
                                      <p:cBhvr>
                                        <p:cTn id="32" dur="500"/>
                                        <p:tgtEl>
                                          <p:spTgt spid="294921">
                                            <p:txEl>
                                              <p:pRg st="6" end="6"/>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94921">
                                            <p:txEl>
                                              <p:pRg st="7" end="7"/>
                                            </p:txEl>
                                          </p:spTgt>
                                        </p:tgtEl>
                                        <p:attrNameLst>
                                          <p:attrName>style.visibility</p:attrName>
                                        </p:attrNameLst>
                                      </p:cBhvr>
                                      <p:to>
                                        <p:strVal val="visible"/>
                                      </p:to>
                                    </p:set>
                                    <p:animEffect transition="in" filter="wipe(left)">
                                      <p:cBhvr>
                                        <p:cTn id="35" dur="500"/>
                                        <p:tgtEl>
                                          <p:spTgt spid="2949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2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85DB5-4C7B-4E80-A7AC-756C18A3F76D}"/>
              </a:ext>
            </a:extLst>
          </p:cNvPr>
          <p:cNvSpPr>
            <a:spLocks noGrp="1"/>
          </p:cNvSpPr>
          <p:nvPr>
            <p:ph type="title"/>
          </p:nvPr>
        </p:nvSpPr>
        <p:spPr/>
        <p:txBody>
          <a:bodyPr/>
          <a:lstStyle/>
          <a:p>
            <a:pPr>
              <a:defRPr/>
            </a:pPr>
            <a:r>
              <a:rPr lang="en-US" altLang="zh-CN" dirty="0"/>
              <a:t>TSP</a:t>
            </a:r>
            <a:r>
              <a:rPr lang="zh-CN" altLang="en-US" dirty="0"/>
              <a:t>问题</a:t>
            </a:r>
          </a:p>
        </p:txBody>
      </p:sp>
      <p:sp>
        <p:nvSpPr>
          <p:cNvPr id="14339" name="日期占位符 3">
            <a:extLst>
              <a:ext uri="{FF2B5EF4-FFF2-40B4-BE49-F238E27FC236}">
                <a16:creationId xmlns:a16="http://schemas.microsoft.com/office/drawing/2014/main" id="{97D6586E-D7CB-48D0-BD05-ACC34774885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26AA6B86-6176-46ED-AD75-48E7326E8F5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4340" name="灯片编号占位符 4">
            <a:extLst>
              <a:ext uri="{FF2B5EF4-FFF2-40B4-BE49-F238E27FC236}">
                <a16:creationId xmlns:a16="http://schemas.microsoft.com/office/drawing/2014/main" id="{BE44C1EB-8748-48E7-9E36-040118EE88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1CC6785-8364-4BE3-921C-9557346FEDD4}"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11</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14341" name="AutoShape 2" descr="“TSP”的图片搜索结果">
            <a:extLst>
              <a:ext uri="{FF2B5EF4-FFF2-40B4-BE49-F238E27FC236}">
                <a16:creationId xmlns:a16="http://schemas.microsoft.com/office/drawing/2014/main" id="{BEF91C01-2162-44E4-BA81-A497F6502611}"/>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4342" name="AutoShape 4" descr="“TSP”的图片搜索结果">
            <a:extLst>
              <a:ext uri="{FF2B5EF4-FFF2-40B4-BE49-F238E27FC236}">
                <a16:creationId xmlns:a16="http://schemas.microsoft.com/office/drawing/2014/main" id="{C07FD093-545A-4BA8-AEC1-2B062D0ADFEA}"/>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pic>
        <p:nvPicPr>
          <p:cNvPr id="14343" name="Picture 5" descr="C:\Users\Mingyu\Desktop\下载.png">
            <a:extLst>
              <a:ext uri="{FF2B5EF4-FFF2-40B4-BE49-F238E27FC236}">
                <a16:creationId xmlns:a16="http://schemas.microsoft.com/office/drawing/2014/main" id="{987B02E6-0532-4D0B-A87E-104B353889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2838450"/>
            <a:ext cx="3671888"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Rectangle 9">
            <a:extLst>
              <a:ext uri="{FF2B5EF4-FFF2-40B4-BE49-F238E27FC236}">
                <a16:creationId xmlns:a16="http://schemas.microsoft.com/office/drawing/2014/main" id="{6212C5A0-8A33-4C69-9DF2-9C9DFB61AD6A}"/>
              </a:ext>
            </a:extLst>
          </p:cNvPr>
          <p:cNvSpPr txBox="1">
            <a:spLocks noChangeArrowheads="1"/>
          </p:cNvSpPr>
          <p:nvPr/>
        </p:nvSpPr>
        <p:spPr bwMode="auto">
          <a:xfrm>
            <a:off x="323850" y="1052513"/>
            <a:ext cx="8434388"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15000"/>
              </a:lnSpc>
              <a:spcBef>
                <a:spcPct val="15000"/>
              </a:spcBef>
            </a:pP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rPr>
              <a:t>问题描述</a:t>
            </a:r>
            <a:r>
              <a:rPr lang="zh-CN" altLang="en-US">
                <a:latin typeface="Tahoma" panose="020B0604030504040204" pitchFamily="34" charset="0"/>
                <a:ea typeface="隶书" panose="02010509060101010101" pitchFamily="49" charset="-122"/>
                <a:cs typeface="Tahoma" panose="020B0604030504040204" pitchFamily="34" charset="0"/>
              </a:rPr>
              <a:t>：给定一个完全无向图</a:t>
            </a:r>
            <a:r>
              <a:rPr lang="en-US" altLang="zh-CN">
                <a:latin typeface="Tahoma" panose="020B0604030504040204" pitchFamily="34" charset="0"/>
                <a:ea typeface="隶书" panose="02010509060101010101" pitchFamily="49" charset="-122"/>
                <a:cs typeface="Tahoma" panose="020B0604030504040204" pitchFamily="34" charset="0"/>
              </a:rPr>
              <a:t>G=(V,E)，</a:t>
            </a:r>
            <a:r>
              <a:rPr lang="zh-CN" altLang="en-US">
                <a:latin typeface="Tahoma" panose="020B0604030504040204" pitchFamily="34" charset="0"/>
                <a:ea typeface="隶书" panose="02010509060101010101" pitchFamily="49" charset="-122"/>
                <a:cs typeface="Tahoma" panose="020B0604030504040204" pitchFamily="34" charset="0"/>
              </a:rPr>
              <a:t>其每一边(</a:t>
            </a:r>
            <a:r>
              <a:rPr lang="en-US" altLang="zh-CN">
                <a:latin typeface="Tahoma" panose="020B0604030504040204" pitchFamily="34" charset="0"/>
                <a:ea typeface="隶书" panose="02010509060101010101" pitchFamily="49" charset="-122"/>
                <a:cs typeface="Tahoma" panose="020B0604030504040204" pitchFamily="34" charset="0"/>
              </a:rPr>
              <a:t>u,v)∈E</a:t>
            </a:r>
            <a:r>
              <a:rPr lang="zh-CN" altLang="en-US">
                <a:latin typeface="Tahoma" panose="020B0604030504040204" pitchFamily="34" charset="0"/>
                <a:ea typeface="隶书" panose="02010509060101010101" pitchFamily="49" charset="-122"/>
                <a:cs typeface="Tahoma" panose="020B0604030504040204" pitchFamily="34" charset="0"/>
              </a:rPr>
              <a:t>有一非负整数费用</a:t>
            </a:r>
            <a:r>
              <a:rPr lang="en-US" altLang="zh-CN">
                <a:latin typeface="Tahoma" panose="020B0604030504040204" pitchFamily="34" charset="0"/>
                <a:ea typeface="隶书" panose="02010509060101010101" pitchFamily="49" charset="-122"/>
                <a:cs typeface="Tahoma" panose="020B0604030504040204" pitchFamily="34" charset="0"/>
              </a:rPr>
              <a:t>c(u,v)。</a:t>
            </a:r>
            <a:r>
              <a:rPr lang="zh-CN" altLang="en-US">
                <a:latin typeface="Tahoma" panose="020B0604030504040204" pitchFamily="34" charset="0"/>
                <a:ea typeface="隶书" panose="02010509060101010101" pitchFamily="49" charset="-122"/>
                <a:cs typeface="Tahoma" panose="020B0604030504040204" pitchFamily="34" charset="0"/>
              </a:rPr>
              <a:t>要找出</a:t>
            </a:r>
            <a:r>
              <a:rPr lang="en-US" altLang="zh-CN">
                <a:latin typeface="Tahoma" panose="020B0604030504040204" pitchFamily="34" charset="0"/>
                <a:ea typeface="隶书" panose="02010509060101010101" pitchFamily="49" charset="-122"/>
                <a:cs typeface="Tahoma" panose="020B0604030504040204" pitchFamily="34" charset="0"/>
              </a:rPr>
              <a:t>G</a:t>
            </a:r>
            <a:r>
              <a:rPr lang="zh-CN" altLang="en-US">
                <a:latin typeface="Tahoma" panose="020B0604030504040204" pitchFamily="34" charset="0"/>
                <a:ea typeface="隶书" panose="02010509060101010101" pitchFamily="49" charset="-122"/>
                <a:cs typeface="Tahoma" panose="020B0604030504040204" pitchFamily="34" charset="0"/>
              </a:rPr>
              <a:t>的最小费用哈密顿回路。</a:t>
            </a:r>
            <a:endParaRPr lang="en-US" altLang="zh-CN">
              <a:latin typeface="Tahoma" panose="020B0604030504040204" pitchFamily="34" charset="0"/>
              <a:ea typeface="隶书" panose="02010509060101010101" pitchFamily="49" charset="-122"/>
              <a:cs typeface="Tahoma" panose="020B0604030504040204" pitchFamily="34" charset="0"/>
            </a:endParaRPr>
          </a:p>
          <a:p>
            <a:pPr>
              <a:lnSpc>
                <a:spcPct val="115000"/>
              </a:lnSpc>
              <a:spcBef>
                <a:spcPct val="15000"/>
              </a:spcBef>
            </a:pPr>
            <a:endParaRPr lang="en-US" altLang="zh-CN">
              <a:latin typeface="Tahoma" panose="020B0604030504040204" pitchFamily="34" charset="0"/>
              <a:ea typeface="隶书" panose="02010509060101010101" pitchFamily="49" charset="-122"/>
              <a:cs typeface="Tahoma" panose="020B0604030504040204" pitchFamily="34" charset="0"/>
            </a:endParaRPr>
          </a:p>
          <a:p>
            <a:pPr>
              <a:lnSpc>
                <a:spcPct val="115000"/>
              </a:lnSpc>
              <a:spcBef>
                <a:spcPct val="15000"/>
              </a:spcBef>
            </a:pPr>
            <a:endParaRPr lang="en-US" altLang="zh-CN">
              <a:latin typeface="Tahoma" panose="020B0604030504040204" pitchFamily="34" charset="0"/>
              <a:ea typeface="隶书" panose="02010509060101010101" pitchFamily="49" charset="-122"/>
              <a:cs typeface="Tahoma" panose="020B0604030504040204" pitchFamily="34" charset="0"/>
            </a:endParaRP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要求：</a:t>
            </a: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rPr>
              <a:t>三角不等式性质</a:t>
            </a:r>
            <a:br>
              <a:rPr lang="en-US" altLang="zh-CN">
                <a:latin typeface="Tahoma" panose="020B0604030504040204" pitchFamily="34" charset="0"/>
                <a:ea typeface="隶书" panose="02010509060101010101" pitchFamily="49" charset="-122"/>
                <a:cs typeface="Tahoma" panose="020B0604030504040204" pitchFamily="34" charset="0"/>
              </a:rPr>
            </a:br>
            <a:r>
              <a:rPr lang="zh-CN" altLang="en-US">
                <a:latin typeface="Tahoma" panose="020B0604030504040204" pitchFamily="34" charset="0"/>
                <a:ea typeface="隶书" panose="02010509060101010101" pitchFamily="49" charset="-122"/>
                <a:cs typeface="Tahoma" panose="020B0604030504040204" pitchFamily="34" charset="0"/>
              </a:rPr>
              <a:t>即对任意的3个顶点</a:t>
            </a:r>
            <a:r>
              <a:rPr lang="en-US" altLang="zh-CN">
                <a:latin typeface="Tahoma" panose="020B0604030504040204" pitchFamily="34" charset="0"/>
                <a:ea typeface="隶书" panose="02010509060101010101" pitchFamily="49" charset="-122"/>
                <a:cs typeface="Tahoma" panose="020B0604030504040204" pitchFamily="34" charset="0"/>
              </a:rPr>
              <a:t>u,v,w∈V，</a:t>
            </a:r>
            <a:br>
              <a:rPr lang="en-US" altLang="zh-CN">
                <a:latin typeface="Tahoma" panose="020B0604030504040204" pitchFamily="34" charset="0"/>
                <a:ea typeface="隶书" panose="02010509060101010101" pitchFamily="49" charset="-122"/>
                <a:cs typeface="Tahoma" panose="020B0604030504040204" pitchFamily="34" charset="0"/>
              </a:rPr>
            </a:br>
            <a:r>
              <a:rPr lang="zh-CN" altLang="en-US">
                <a:latin typeface="Tahoma" panose="020B0604030504040204" pitchFamily="34" charset="0"/>
                <a:ea typeface="隶书" panose="02010509060101010101" pitchFamily="49" charset="-122"/>
                <a:cs typeface="Tahoma" panose="020B0604030504040204" pitchFamily="34" charset="0"/>
              </a:rPr>
              <a:t>有：</a:t>
            </a:r>
            <a:r>
              <a:rPr lang="en-US" altLang="zh-CN">
                <a:latin typeface="Tahoma" panose="020B0604030504040204" pitchFamily="34" charset="0"/>
                <a:ea typeface="隶书" panose="02010509060101010101" pitchFamily="49" charset="-122"/>
                <a:cs typeface="Tahoma" panose="020B0604030504040204" pitchFamily="34" charset="0"/>
              </a:rPr>
              <a:t>c(u,w)≤c(u,v)+c(v,w)。</a:t>
            </a:r>
            <a:endParaRPr lang="zh-CN" altLang="en-US">
              <a:latin typeface="Tahoma" panose="020B0604030504040204" pitchFamily="34" charset="0"/>
              <a:ea typeface="隶书" panose="02010509060101010101" pitchFamily="49" charset="-122"/>
              <a:cs typeface="Tahom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7451E-6492-44F0-82DA-94D6DFEEFA8F}"/>
              </a:ext>
            </a:extLst>
          </p:cNvPr>
          <p:cNvSpPr>
            <a:spLocks noGrp="1"/>
          </p:cNvSpPr>
          <p:nvPr>
            <p:ph type="title"/>
          </p:nvPr>
        </p:nvSpPr>
        <p:spPr/>
        <p:txBody>
          <a:bodyPr/>
          <a:lstStyle/>
          <a:p>
            <a:pPr>
              <a:defRPr/>
            </a:pPr>
            <a:r>
              <a:rPr lang="en-US" altLang="zh-CN" dirty="0"/>
              <a:t>TSP</a:t>
            </a:r>
            <a:r>
              <a:rPr lang="zh-CN" altLang="en-US" dirty="0"/>
              <a:t>问题</a:t>
            </a:r>
          </a:p>
        </p:txBody>
      </p:sp>
      <p:sp>
        <p:nvSpPr>
          <p:cNvPr id="15363" name="日期占位符 3">
            <a:extLst>
              <a:ext uri="{FF2B5EF4-FFF2-40B4-BE49-F238E27FC236}">
                <a16:creationId xmlns:a16="http://schemas.microsoft.com/office/drawing/2014/main" id="{F094573E-4BFA-402C-995E-9FD780A30E6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73F20B0-2356-49DE-94E5-5FC71E533548}"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5364" name="灯片编号占位符 4">
            <a:extLst>
              <a:ext uri="{FF2B5EF4-FFF2-40B4-BE49-F238E27FC236}">
                <a16:creationId xmlns:a16="http://schemas.microsoft.com/office/drawing/2014/main" id="{D7E2A61E-4FAF-4E94-B255-E408259357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95C0F34-FA9C-4F5C-881C-CBE513F7EF8D}"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12</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15365" name="AutoShape 2" descr="“TSP”的图片搜索结果">
            <a:extLst>
              <a:ext uri="{FF2B5EF4-FFF2-40B4-BE49-F238E27FC236}">
                <a16:creationId xmlns:a16="http://schemas.microsoft.com/office/drawing/2014/main" id="{F7224CA6-B4D0-4652-9558-8C88A35E37FC}"/>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5366" name="AutoShape 4" descr="“TSP”的图片搜索结果">
            <a:extLst>
              <a:ext uri="{FF2B5EF4-FFF2-40B4-BE49-F238E27FC236}">
                <a16:creationId xmlns:a16="http://schemas.microsoft.com/office/drawing/2014/main" id="{6A7779AB-CB64-4A27-BAD8-29AC5FB0A9BB}"/>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9" name="Rectangle 9">
            <a:extLst>
              <a:ext uri="{FF2B5EF4-FFF2-40B4-BE49-F238E27FC236}">
                <a16:creationId xmlns:a16="http://schemas.microsoft.com/office/drawing/2014/main" id="{89EAD44D-7B05-4FAF-8F75-F78E0E616C58}"/>
              </a:ext>
            </a:extLst>
          </p:cNvPr>
          <p:cNvSpPr txBox="1">
            <a:spLocks noChangeArrowheads="1"/>
          </p:cNvSpPr>
          <p:nvPr/>
        </p:nvSpPr>
        <p:spPr bwMode="auto">
          <a:xfrm>
            <a:off x="323850" y="1052513"/>
            <a:ext cx="8434388" cy="1223962"/>
          </a:xfrm>
          <a:prstGeom prst="rect">
            <a:avLst/>
          </a:prstGeom>
          <a:noFill/>
          <a:ln w="9525">
            <a:noFill/>
            <a:miter lim="800000"/>
            <a:headEnd/>
            <a:tailEnd/>
          </a:ln>
        </p:spPr>
        <p:txBody>
          <a:bodyPr/>
          <a:lstStyle/>
          <a:p>
            <a:pPr marL="342900" indent="-342900">
              <a:lnSpc>
                <a:spcPct val="115000"/>
              </a:lnSpc>
              <a:spcBef>
                <a:spcPct val="15000"/>
              </a:spcBef>
              <a:buClr>
                <a:schemeClr val="tx2"/>
              </a:buClr>
              <a:buSzPct val="90000"/>
              <a:buFont typeface="Monotype Sorts" pitchFamily="2" charset="2"/>
              <a:buChar char="n"/>
              <a:defRPr/>
            </a:pPr>
            <a:r>
              <a:rPr lang="zh-CN" altLang="en-US" sz="2400" dirty="0">
                <a:solidFill>
                  <a:srgbClr val="FF0000"/>
                </a:solidFill>
                <a:latin typeface="Tahoma" pitchFamily="34" charset="0"/>
                <a:ea typeface="隶书" pitchFamily="49" charset="-122"/>
                <a:cs typeface="Tahoma" pitchFamily="34" charset="0"/>
              </a:rPr>
              <a:t>算法</a:t>
            </a:r>
            <a:r>
              <a:rPr lang="zh-CN" altLang="en-US" sz="2400" dirty="0">
                <a:latin typeface="Tahoma" pitchFamily="34" charset="0"/>
                <a:ea typeface="隶书" pitchFamily="49" charset="-122"/>
                <a:cs typeface="Tahoma" pitchFamily="34" charset="0"/>
              </a:rPr>
              <a:t>：</a:t>
            </a:r>
            <a:r>
              <a:rPr kumimoji="1" lang="zh-CN" altLang="en-US" sz="2400" dirty="0">
                <a:latin typeface="+mj-ea"/>
                <a:ea typeface="+mj-ea"/>
              </a:rPr>
              <a:t>对于给定的无向图</a:t>
            </a:r>
            <a:r>
              <a:rPr kumimoji="1" lang="en-US" altLang="zh-CN" sz="2400" dirty="0">
                <a:latin typeface="+mj-ea"/>
                <a:ea typeface="+mj-ea"/>
              </a:rPr>
              <a:t>G，</a:t>
            </a:r>
            <a:r>
              <a:rPr kumimoji="1" lang="zh-CN" altLang="en-US" sz="2400" dirty="0">
                <a:latin typeface="+mj-ea"/>
                <a:ea typeface="+mj-ea"/>
              </a:rPr>
              <a:t>可以利用找</a:t>
            </a:r>
            <a:r>
              <a:rPr kumimoji="1" lang="zh-CN" altLang="en-US" sz="2400" b="1" dirty="0">
                <a:latin typeface="+mj-ea"/>
                <a:ea typeface="+mj-ea"/>
              </a:rPr>
              <a:t>图</a:t>
            </a:r>
            <a:r>
              <a:rPr kumimoji="1" lang="en-US" altLang="zh-CN" sz="2400" b="1" dirty="0">
                <a:latin typeface="+mj-ea"/>
                <a:ea typeface="+mj-ea"/>
              </a:rPr>
              <a:t>G</a:t>
            </a:r>
            <a:r>
              <a:rPr kumimoji="1" lang="zh-CN" altLang="en-US" sz="2400" b="1" dirty="0">
                <a:latin typeface="+mj-ea"/>
                <a:ea typeface="+mj-ea"/>
              </a:rPr>
              <a:t>的最小生成树</a:t>
            </a:r>
            <a:r>
              <a:rPr kumimoji="1" lang="zh-CN" altLang="en-US" sz="2400" dirty="0">
                <a:latin typeface="+mj-ea"/>
                <a:ea typeface="+mj-ea"/>
              </a:rPr>
              <a:t>的算法设计找近似最优的旅行售货员回路的算法。 </a:t>
            </a:r>
            <a:endParaRPr lang="zh-CN" altLang="en-US" sz="2400" dirty="0">
              <a:latin typeface="+mj-ea"/>
              <a:ea typeface="+mj-ea"/>
              <a:cs typeface="Tahoma" pitchFamily="34" charset="0"/>
            </a:endParaRPr>
          </a:p>
        </p:txBody>
      </p:sp>
      <p:sp>
        <p:nvSpPr>
          <p:cNvPr id="10" name="Text Box 4">
            <a:extLst>
              <a:ext uri="{FF2B5EF4-FFF2-40B4-BE49-F238E27FC236}">
                <a16:creationId xmlns:a16="http://schemas.microsoft.com/office/drawing/2014/main" id="{35D12B83-541E-4839-B71A-7F5244D504D2}"/>
              </a:ext>
            </a:extLst>
          </p:cNvPr>
          <p:cNvSpPr txBox="1">
            <a:spLocks noChangeArrowheads="1"/>
          </p:cNvSpPr>
          <p:nvPr/>
        </p:nvSpPr>
        <p:spPr bwMode="auto">
          <a:xfrm>
            <a:off x="611188" y="2049463"/>
            <a:ext cx="7924800" cy="2922587"/>
          </a:xfrm>
          <a:prstGeom prst="rect">
            <a:avLst/>
          </a:prstGeom>
          <a:noFill/>
          <a:ln w="6350">
            <a:noFill/>
            <a:miter lim="800000"/>
            <a:headEnd/>
            <a:tailEnd/>
          </a:ln>
        </p:spPr>
        <p:txBody>
          <a:bodyPr>
            <a:spAutoFit/>
          </a:bodyPr>
          <a:lstStyle/>
          <a:p>
            <a:pPr algn="just">
              <a:spcBef>
                <a:spcPct val="20000"/>
              </a:spcBef>
              <a:defRPr/>
            </a:pPr>
            <a:r>
              <a:rPr kumimoji="1" lang="en-US" altLang="zh-CN" sz="2000" dirty="0">
                <a:latin typeface="+mj-ea"/>
                <a:ea typeface="+mj-ea"/>
              </a:rPr>
              <a:t>void </a:t>
            </a:r>
            <a:r>
              <a:rPr kumimoji="1" lang="en-US" altLang="zh-CN" sz="2000" b="1" dirty="0" err="1">
                <a:latin typeface="+mj-ea"/>
                <a:ea typeface="+mj-ea"/>
              </a:rPr>
              <a:t>approxTSP</a:t>
            </a:r>
            <a:r>
              <a:rPr kumimoji="1" lang="en-US" altLang="zh-CN" sz="2000" dirty="0">
                <a:latin typeface="+mj-ea"/>
                <a:ea typeface="+mj-ea"/>
              </a:rPr>
              <a:t> (Graph g)</a:t>
            </a:r>
          </a:p>
          <a:p>
            <a:pPr algn="just">
              <a:spcBef>
                <a:spcPct val="20000"/>
              </a:spcBef>
              <a:defRPr/>
            </a:pPr>
            <a:r>
              <a:rPr kumimoji="1" lang="en-US" altLang="zh-CN" sz="2000" dirty="0">
                <a:latin typeface="+mj-ea"/>
                <a:ea typeface="+mj-ea"/>
              </a:rPr>
              <a:t>{</a:t>
            </a:r>
          </a:p>
          <a:p>
            <a:pPr algn="just">
              <a:spcBef>
                <a:spcPct val="20000"/>
              </a:spcBef>
              <a:defRPr/>
            </a:pPr>
            <a:r>
              <a:rPr kumimoji="1" lang="en-US" altLang="zh-CN" sz="2000" dirty="0">
                <a:latin typeface="+mj-ea"/>
                <a:ea typeface="+mj-ea"/>
              </a:rPr>
              <a:t>       (1)</a:t>
            </a:r>
            <a:r>
              <a:rPr kumimoji="1" lang="zh-CN" altLang="en-US" sz="2000" dirty="0">
                <a:latin typeface="+mj-ea"/>
                <a:ea typeface="+mj-ea"/>
              </a:rPr>
              <a:t>选择</a:t>
            </a:r>
            <a:r>
              <a:rPr kumimoji="1" lang="en-US" altLang="zh-CN" sz="2000" dirty="0">
                <a:latin typeface="+mj-ea"/>
                <a:ea typeface="+mj-ea"/>
              </a:rPr>
              <a:t>g</a:t>
            </a:r>
            <a:r>
              <a:rPr kumimoji="1" lang="zh-CN" altLang="en-US" sz="2000" dirty="0">
                <a:latin typeface="+mj-ea"/>
                <a:ea typeface="+mj-ea"/>
              </a:rPr>
              <a:t>的任一顶点</a:t>
            </a:r>
            <a:r>
              <a:rPr kumimoji="1" lang="en-US" altLang="zh-CN" sz="2000" dirty="0">
                <a:latin typeface="+mj-ea"/>
                <a:ea typeface="+mj-ea"/>
              </a:rPr>
              <a:t>r；</a:t>
            </a:r>
          </a:p>
          <a:p>
            <a:pPr algn="just">
              <a:spcBef>
                <a:spcPct val="20000"/>
              </a:spcBef>
              <a:defRPr/>
            </a:pPr>
            <a:r>
              <a:rPr kumimoji="1" lang="en-US" altLang="zh-CN" sz="2000" dirty="0">
                <a:latin typeface="+mj-ea"/>
                <a:ea typeface="+mj-ea"/>
              </a:rPr>
              <a:t>       (2)</a:t>
            </a:r>
            <a:r>
              <a:rPr kumimoji="1" lang="zh-CN" altLang="en-US" sz="2000" dirty="0">
                <a:latin typeface="+mj-ea"/>
                <a:ea typeface="+mj-ea"/>
              </a:rPr>
              <a:t>用</a:t>
            </a:r>
            <a:r>
              <a:rPr kumimoji="1" lang="en-US" altLang="zh-CN" sz="2000" dirty="0">
                <a:latin typeface="+mj-ea"/>
                <a:ea typeface="+mj-ea"/>
              </a:rPr>
              <a:t>Prim</a:t>
            </a:r>
            <a:r>
              <a:rPr kumimoji="1" lang="zh-CN" altLang="en-US" sz="2000" dirty="0">
                <a:latin typeface="+mj-ea"/>
                <a:ea typeface="+mj-ea"/>
              </a:rPr>
              <a:t>算法找出带权图</a:t>
            </a:r>
            <a:r>
              <a:rPr kumimoji="1" lang="en-US" altLang="zh-CN" sz="2000" dirty="0">
                <a:latin typeface="+mj-ea"/>
                <a:ea typeface="+mj-ea"/>
              </a:rPr>
              <a:t>g</a:t>
            </a:r>
            <a:r>
              <a:rPr kumimoji="1" lang="zh-CN" altLang="en-US" sz="2000" dirty="0">
                <a:latin typeface="+mj-ea"/>
                <a:ea typeface="+mj-ea"/>
              </a:rPr>
              <a:t>的一棵以</a:t>
            </a:r>
            <a:r>
              <a:rPr kumimoji="1" lang="en-US" altLang="zh-CN" sz="2000" dirty="0">
                <a:latin typeface="+mj-ea"/>
                <a:ea typeface="+mj-ea"/>
              </a:rPr>
              <a:t>r</a:t>
            </a:r>
            <a:r>
              <a:rPr kumimoji="1" lang="zh-CN" altLang="en-US" sz="2000" dirty="0">
                <a:latin typeface="+mj-ea"/>
                <a:ea typeface="+mj-ea"/>
              </a:rPr>
              <a:t>为根的最小生成树</a:t>
            </a:r>
            <a:r>
              <a:rPr kumimoji="1" lang="en-US" altLang="zh-CN" sz="2000" dirty="0">
                <a:latin typeface="+mj-ea"/>
                <a:ea typeface="+mj-ea"/>
              </a:rPr>
              <a:t>T；</a:t>
            </a:r>
          </a:p>
          <a:p>
            <a:pPr algn="just">
              <a:spcBef>
                <a:spcPct val="20000"/>
              </a:spcBef>
              <a:defRPr/>
            </a:pPr>
            <a:r>
              <a:rPr kumimoji="1" lang="en-US" altLang="zh-CN" sz="2000" dirty="0">
                <a:latin typeface="+mj-ea"/>
                <a:ea typeface="+mj-ea"/>
              </a:rPr>
              <a:t>       (3)</a:t>
            </a:r>
            <a:r>
              <a:rPr kumimoji="1" lang="zh-CN" altLang="en-US" sz="2000" dirty="0">
                <a:latin typeface="+mj-ea"/>
                <a:ea typeface="+mj-ea"/>
              </a:rPr>
              <a:t>前序遍历树</a:t>
            </a:r>
            <a:r>
              <a:rPr kumimoji="1" lang="en-US" altLang="zh-CN" sz="2000" dirty="0">
                <a:latin typeface="+mj-ea"/>
                <a:ea typeface="+mj-ea"/>
              </a:rPr>
              <a:t>T</a:t>
            </a:r>
            <a:r>
              <a:rPr kumimoji="1" lang="zh-CN" altLang="en-US" sz="2000" dirty="0">
                <a:latin typeface="+mj-ea"/>
                <a:ea typeface="+mj-ea"/>
              </a:rPr>
              <a:t>得到的顶点表</a:t>
            </a:r>
            <a:r>
              <a:rPr kumimoji="1" lang="en-US" altLang="zh-CN" sz="2000" dirty="0">
                <a:latin typeface="+mj-ea"/>
                <a:ea typeface="+mj-ea"/>
              </a:rPr>
              <a:t>L；</a:t>
            </a:r>
          </a:p>
          <a:p>
            <a:pPr algn="just">
              <a:spcBef>
                <a:spcPct val="20000"/>
              </a:spcBef>
              <a:defRPr/>
            </a:pPr>
            <a:r>
              <a:rPr kumimoji="1" lang="en-US" altLang="zh-CN" sz="2000" dirty="0">
                <a:latin typeface="+mj-ea"/>
                <a:ea typeface="+mj-ea"/>
              </a:rPr>
              <a:t>       (4)</a:t>
            </a:r>
            <a:r>
              <a:rPr kumimoji="1" lang="zh-CN" altLang="en-US" sz="2000" dirty="0">
                <a:latin typeface="+mj-ea"/>
                <a:ea typeface="+mj-ea"/>
              </a:rPr>
              <a:t>将</a:t>
            </a:r>
            <a:r>
              <a:rPr kumimoji="1" lang="en-US" altLang="zh-CN" sz="2000" dirty="0">
                <a:latin typeface="+mj-ea"/>
                <a:ea typeface="+mj-ea"/>
              </a:rPr>
              <a:t>r</a:t>
            </a:r>
            <a:r>
              <a:rPr kumimoji="1" lang="zh-CN" altLang="en-US" sz="2000" dirty="0">
                <a:latin typeface="+mj-ea"/>
                <a:ea typeface="+mj-ea"/>
              </a:rPr>
              <a:t>加到表</a:t>
            </a:r>
            <a:r>
              <a:rPr kumimoji="1" lang="en-US" altLang="zh-CN" sz="2000" dirty="0">
                <a:latin typeface="+mj-ea"/>
                <a:ea typeface="+mj-ea"/>
              </a:rPr>
              <a:t>L</a:t>
            </a:r>
            <a:r>
              <a:rPr kumimoji="1" lang="zh-CN" altLang="en-US" sz="2000" dirty="0">
                <a:latin typeface="+mj-ea"/>
                <a:ea typeface="+mj-ea"/>
              </a:rPr>
              <a:t>的末尾，按表</a:t>
            </a:r>
            <a:r>
              <a:rPr kumimoji="1" lang="en-US" altLang="zh-CN" sz="2000" dirty="0">
                <a:latin typeface="+mj-ea"/>
                <a:ea typeface="+mj-ea"/>
              </a:rPr>
              <a:t>L</a:t>
            </a:r>
            <a:r>
              <a:rPr kumimoji="1" lang="zh-CN" altLang="en-US" sz="2000" dirty="0">
                <a:latin typeface="+mj-ea"/>
                <a:ea typeface="+mj-ea"/>
              </a:rPr>
              <a:t>中顶点次序组成回路</a:t>
            </a:r>
            <a:r>
              <a:rPr kumimoji="1" lang="en-US" altLang="zh-CN" sz="2000" dirty="0">
                <a:latin typeface="+mj-ea"/>
                <a:ea typeface="+mj-ea"/>
              </a:rPr>
              <a:t>H，</a:t>
            </a:r>
            <a:r>
              <a:rPr kumimoji="1" lang="zh-CN" altLang="en-US" sz="2000" dirty="0">
                <a:latin typeface="+mj-ea"/>
                <a:ea typeface="+mj-ea"/>
              </a:rPr>
              <a:t>作为计	算结果返回；</a:t>
            </a:r>
          </a:p>
          <a:p>
            <a:pPr>
              <a:spcBef>
                <a:spcPct val="20000"/>
              </a:spcBef>
              <a:defRPr/>
            </a:pPr>
            <a:r>
              <a:rPr kumimoji="1" lang="zh-CN" altLang="en-US" sz="2000" dirty="0">
                <a:latin typeface="+mj-ea"/>
                <a:ea typeface="+mj-ea"/>
              </a:rPr>
              <a:t>} </a:t>
            </a:r>
          </a:p>
        </p:txBody>
      </p:sp>
      <p:sp>
        <p:nvSpPr>
          <p:cNvPr id="11" name="Rectangle 5">
            <a:extLst>
              <a:ext uri="{FF2B5EF4-FFF2-40B4-BE49-F238E27FC236}">
                <a16:creationId xmlns:a16="http://schemas.microsoft.com/office/drawing/2014/main" id="{81D6D693-F95F-4986-84D6-09D907BC3F6A}"/>
              </a:ext>
            </a:extLst>
          </p:cNvPr>
          <p:cNvSpPr>
            <a:spLocks noChangeArrowheads="1"/>
          </p:cNvSpPr>
          <p:nvPr/>
        </p:nvSpPr>
        <p:spPr bwMode="auto">
          <a:xfrm>
            <a:off x="700088" y="5300663"/>
            <a:ext cx="7543800" cy="812800"/>
          </a:xfrm>
          <a:prstGeom prst="rect">
            <a:avLst/>
          </a:prstGeom>
          <a:solidFill>
            <a:schemeClr val="hlink"/>
          </a:solidFill>
          <a:ln w="50800">
            <a:solidFill>
              <a:srgbClr val="FF6600"/>
            </a:solidFill>
            <a:miter lim="800000"/>
            <a:headEnd/>
            <a:tailEnd/>
          </a:ln>
        </p:spPr>
        <p:txBody>
          <a:bodyPr anchor="ct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zh-CN" altLang="en-US" sz="2000"/>
              <a:t>    当费用函数满足三角不等式时，算法找出的旅行售货员回路的费用不会超过最优旅行售货员回路费用的2倍。</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utoUpdateAnimBg="0"/>
      <p:bldP spid="11"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8FE7F-823F-45A8-BD1D-5ED8245A0A3F}"/>
              </a:ext>
            </a:extLst>
          </p:cNvPr>
          <p:cNvSpPr>
            <a:spLocks noGrp="1"/>
          </p:cNvSpPr>
          <p:nvPr>
            <p:ph type="title"/>
          </p:nvPr>
        </p:nvSpPr>
        <p:spPr/>
        <p:txBody>
          <a:bodyPr/>
          <a:lstStyle/>
          <a:p>
            <a:pPr>
              <a:defRPr/>
            </a:pPr>
            <a:r>
              <a:rPr lang="en-US" altLang="zh-CN" dirty="0"/>
              <a:t>TSP</a:t>
            </a:r>
            <a:r>
              <a:rPr lang="zh-CN" altLang="en-US" dirty="0"/>
              <a:t>问题</a:t>
            </a:r>
            <a:r>
              <a:rPr lang="en-US" altLang="zh-CN" dirty="0"/>
              <a:t>-</a:t>
            </a:r>
            <a:r>
              <a:rPr lang="zh-CN" altLang="en-US" dirty="0"/>
              <a:t>例子</a:t>
            </a:r>
          </a:p>
        </p:txBody>
      </p:sp>
      <p:sp>
        <p:nvSpPr>
          <p:cNvPr id="16387" name="日期占位符 3">
            <a:extLst>
              <a:ext uri="{FF2B5EF4-FFF2-40B4-BE49-F238E27FC236}">
                <a16:creationId xmlns:a16="http://schemas.microsoft.com/office/drawing/2014/main" id="{E72BE617-4C25-4D57-935E-446A6760898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A891845-2D6A-4388-B6C0-26013E3C7FB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6388" name="灯片编号占位符 4">
            <a:extLst>
              <a:ext uri="{FF2B5EF4-FFF2-40B4-BE49-F238E27FC236}">
                <a16:creationId xmlns:a16="http://schemas.microsoft.com/office/drawing/2014/main" id="{4846FC46-07B9-4DBD-BD9D-51C5802111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5C1E1BB7-41D4-477E-8026-F75EC43E633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13</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16389" name="AutoShape 2" descr="“TSP”的图片搜索结果">
            <a:extLst>
              <a:ext uri="{FF2B5EF4-FFF2-40B4-BE49-F238E27FC236}">
                <a16:creationId xmlns:a16="http://schemas.microsoft.com/office/drawing/2014/main" id="{B9EC3476-9586-42F6-85A7-A80C11F70454}"/>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6390" name="AutoShape 4" descr="“TSP”的图片搜索结果">
            <a:extLst>
              <a:ext uri="{FF2B5EF4-FFF2-40B4-BE49-F238E27FC236}">
                <a16:creationId xmlns:a16="http://schemas.microsoft.com/office/drawing/2014/main" id="{D8229672-8AAE-41A5-997D-4AFA054F0A8F}"/>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pic>
        <p:nvPicPr>
          <p:cNvPr id="16391" name="Picture 3" descr="t92">
            <a:extLst>
              <a:ext uri="{FF2B5EF4-FFF2-40B4-BE49-F238E27FC236}">
                <a16:creationId xmlns:a16="http://schemas.microsoft.com/office/drawing/2014/main" id="{25D25018-0D03-4450-B7F5-F0D7770B7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1412875"/>
            <a:ext cx="6477000"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4">
            <a:extLst>
              <a:ext uri="{FF2B5EF4-FFF2-40B4-BE49-F238E27FC236}">
                <a16:creationId xmlns:a16="http://schemas.microsoft.com/office/drawing/2014/main" id="{7F6E7870-5109-40FD-870B-1A2A1255121B}"/>
              </a:ext>
            </a:extLst>
          </p:cNvPr>
          <p:cNvSpPr>
            <a:spLocks noChangeArrowheads="1"/>
          </p:cNvSpPr>
          <p:nvPr/>
        </p:nvSpPr>
        <p:spPr bwMode="auto">
          <a:xfrm>
            <a:off x="5548313" y="3860800"/>
            <a:ext cx="3200400" cy="2057400"/>
          </a:xfrm>
          <a:prstGeom prst="wedgeRoundRectCallout">
            <a:avLst>
              <a:gd name="adj1" fmla="val -58037"/>
              <a:gd name="adj2" fmla="val -59954"/>
              <a:gd name="adj3" fmla="val 16667"/>
            </a:avLst>
          </a:prstGeom>
          <a:solidFill>
            <a:schemeClr val="hlink"/>
          </a:solidFill>
          <a:ln w="6350">
            <a:solidFill>
              <a:schemeClr val="hlink"/>
            </a:solidFill>
            <a:miter lim="800000"/>
            <a:headEnd/>
            <a:tailEnd/>
          </a:ln>
        </p:spPr>
        <p:txBody>
          <a:bodyPr anchor="ctr"/>
          <a:lstStyle/>
          <a:p>
            <a:pPr>
              <a:defRPr/>
            </a:pPr>
            <a:r>
              <a:rPr lang="zh-CN" altLang="en-US" sz="2000" b="1" dirty="0">
                <a:latin typeface="+mj-ea"/>
                <a:ea typeface="+mj-ea"/>
              </a:rPr>
              <a:t>(</a:t>
            </a:r>
            <a:r>
              <a:rPr lang="en-US" altLang="zh-CN" sz="2000" b="1" dirty="0">
                <a:latin typeface="+mj-ea"/>
                <a:ea typeface="+mj-ea"/>
              </a:rPr>
              <a:t>b)</a:t>
            </a:r>
            <a:r>
              <a:rPr lang="zh-CN" altLang="en-US" sz="2000" b="1" dirty="0">
                <a:latin typeface="+mj-ea"/>
                <a:ea typeface="+mj-ea"/>
              </a:rPr>
              <a:t>表示找到的最小生成树</a:t>
            </a:r>
            <a:r>
              <a:rPr lang="en-US" altLang="zh-CN" sz="2000" b="1" dirty="0">
                <a:latin typeface="+mj-ea"/>
                <a:ea typeface="+mj-ea"/>
              </a:rPr>
              <a:t>T；</a:t>
            </a:r>
            <a:r>
              <a:rPr lang="zh-CN" altLang="en-US" sz="2000" b="1" dirty="0">
                <a:latin typeface="+mj-ea"/>
                <a:ea typeface="+mj-ea"/>
              </a:rPr>
              <a:t>(</a:t>
            </a:r>
            <a:r>
              <a:rPr lang="en-US" altLang="zh-CN" sz="2000" b="1" dirty="0">
                <a:latin typeface="+mj-ea"/>
                <a:ea typeface="+mj-ea"/>
              </a:rPr>
              <a:t>c)</a:t>
            </a:r>
            <a:r>
              <a:rPr lang="zh-CN" altLang="en-US" sz="2000" b="1" dirty="0">
                <a:latin typeface="+mj-ea"/>
                <a:ea typeface="+mj-ea"/>
              </a:rPr>
              <a:t>表示对</a:t>
            </a:r>
            <a:r>
              <a:rPr lang="en-US" altLang="zh-CN" sz="2000" b="1" dirty="0">
                <a:latin typeface="+mj-ea"/>
                <a:ea typeface="+mj-ea"/>
              </a:rPr>
              <a:t>T</a:t>
            </a:r>
            <a:r>
              <a:rPr lang="zh-CN" altLang="en-US" sz="2000" b="1" dirty="0">
                <a:latin typeface="+mj-ea"/>
                <a:ea typeface="+mj-ea"/>
              </a:rPr>
              <a:t>作前序遍历的次序；</a:t>
            </a:r>
            <a:r>
              <a:rPr lang="en-US" altLang="zh-CN" sz="2000" b="1" dirty="0">
                <a:latin typeface="+mj-ea"/>
                <a:ea typeface="+mj-ea"/>
              </a:rPr>
              <a:t>(d)</a:t>
            </a:r>
            <a:r>
              <a:rPr lang="zh-CN" altLang="en-US" sz="2000" b="1" dirty="0">
                <a:latin typeface="+mj-ea"/>
                <a:ea typeface="+mj-ea"/>
              </a:rPr>
              <a:t>表示</a:t>
            </a:r>
            <a:r>
              <a:rPr lang="en-US" altLang="zh-CN" sz="2000" b="1" dirty="0">
                <a:latin typeface="+mj-ea"/>
                <a:ea typeface="+mj-ea"/>
              </a:rPr>
              <a:t>L</a:t>
            </a:r>
            <a:r>
              <a:rPr lang="zh-CN" altLang="en-US" sz="2000" b="1" dirty="0">
                <a:latin typeface="+mj-ea"/>
                <a:ea typeface="+mj-ea"/>
              </a:rPr>
              <a:t>产生的哈密顿回路</a:t>
            </a:r>
            <a:r>
              <a:rPr lang="en-US" altLang="zh-CN" sz="2000" b="1" dirty="0">
                <a:latin typeface="+mj-ea"/>
                <a:ea typeface="+mj-ea"/>
              </a:rPr>
              <a:t>H；</a:t>
            </a:r>
          </a:p>
          <a:p>
            <a:pPr>
              <a:defRPr/>
            </a:pPr>
            <a:r>
              <a:rPr lang="en-US" altLang="zh-CN" sz="2000" b="1" dirty="0">
                <a:latin typeface="+mj-ea"/>
                <a:ea typeface="+mj-ea"/>
              </a:rPr>
              <a:t>(e)</a:t>
            </a:r>
            <a:r>
              <a:rPr lang="zh-CN" altLang="en-US" sz="2000" b="1" dirty="0">
                <a:latin typeface="+mj-ea"/>
                <a:ea typeface="+mj-ea"/>
              </a:rPr>
              <a:t>是</a:t>
            </a:r>
            <a:r>
              <a:rPr lang="en-US" altLang="zh-CN" sz="2000" b="1" dirty="0">
                <a:latin typeface="+mj-ea"/>
                <a:ea typeface="+mj-ea"/>
              </a:rPr>
              <a:t>G</a:t>
            </a:r>
            <a:r>
              <a:rPr lang="zh-CN" altLang="en-US" sz="2000" b="1" dirty="0">
                <a:latin typeface="+mj-ea"/>
                <a:ea typeface="+mj-ea"/>
              </a:rPr>
              <a:t>的一个最小费用旅行售货员回路。 </a:t>
            </a:r>
            <a:r>
              <a:rPr lang="en-US" altLang="zh-CN" sz="2000" b="1" dirty="0">
                <a:latin typeface="+mj-ea"/>
                <a:ea typeface="+mj-ea"/>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D6584-12A4-4BDF-9280-B980ECF5BD4B}"/>
              </a:ext>
            </a:extLst>
          </p:cNvPr>
          <p:cNvSpPr>
            <a:spLocks noGrp="1"/>
          </p:cNvSpPr>
          <p:nvPr>
            <p:ph type="title"/>
          </p:nvPr>
        </p:nvSpPr>
        <p:spPr/>
        <p:txBody>
          <a:bodyPr/>
          <a:lstStyle/>
          <a:p>
            <a:pPr>
              <a:defRPr/>
            </a:pPr>
            <a:r>
              <a:rPr lang="zh-CN" altLang="en-US" dirty="0"/>
              <a:t>一般图上的</a:t>
            </a:r>
            <a:r>
              <a:rPr lang="en-US" altLang="zh-CN" dirty="0"/>
              <a:t>TSP</a:t>
            </a:r>
            <a:r>
              <a:rPr lang="zh-CN" altLang="en-US" dirty="0"/>
              <a:t>问题</a:t>
            </a:r>
          </a:p>
        </p:txBody>
      </p:sp>
      <p:sp>
        <p:nvSpPr>
          <p:cNvPr id="17411" name="日期占位符 3">
            <a:extLst>
              <a:ext uri="{FF2B5EF4-FFF2-40B4-BE49-F238E27FC236}">
                <a16:creationId xmlns:a16="http://schemas.microsoft.com/office/drawing/2014/main" id="{1E9EC5D2-4847-488C-B3BA-895505E1A25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B54730B-14DE-4D21-A501-EF61876A2C55}"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17412" name="灯片编号占位符 4">
            <a:extLst>
              <a:ext uri="{FF2B5EF4-FFF2-40B4-BE49-F238E27FC236}">
                <a16:creationId xmlns:a16="http://schemas.microsoft.com/office/drawing/2014/main" id="{A4608C53-73A5-4204-862D-761F232FE4B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7B5C5216-16AE-4F44-B676-95699B38A554}"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14</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17413" name="AutoShape 2" descr="“TSP”的图片搜索结果">
            <a:extLst>
              <a:ext uri="{FF2B5EF4-FFF2-40B4-BE49-F238E27FC236}">
                <a16:creationId xmlns:a16="http://schemas.microsoft.com/office/drawing/2014/main" id="{48175280-CD52-4C9D-8B1F-AB2A557719EE}"/>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7414" name="AutoShape 4" descr="“TSP”的图片搜索结果">
            <a:extLst>
              <a:ext uri="{FF2B5EF4-FFF2-40B4-BE49-F238E27FC236}">
                <a16:creationId xmlns:a16="http://schemas.microsoft.com/office/drawing/2014/main" id="{FB781C5E-102E-4282-9958-3E205CCF8ED0}"/>
              </a:ext>
            </a:extLst>
          </p:cNvPr>
          <p:cNvSpPr>
            <a:spLocks noChangeAspect="1" noChangeArrowheads="1"/>
          </p:cNvSpPr>
          <p:nvPr/>
        </p:nvSpPr>
        <p:spPr bwMode="auto">
          <a:xfrm>
            <a:off x="14922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9" name="Rectangle 9">
            <a:extLst>
              <a:ext uri="{FF2B5EF4-FFF2-40B4-BE49-F238E27FC236}">
                <a16:creationId xmlns:a16="http://schemas.microsoft.com/office/drawing/2014/main" id="{17290096-4539-44AB-B4C0-86FA0A05DA2C}"/>
              </a:ext>
            </a:extLst>
          </p:cNvPr>
          <p:cNvSpPr txBox="1">
            <a:spLocks noChangeArrowheads="1"/>
          </p:cNvSpPr>
          <p:nvPr/>
        </p:nvSpPr>
        <p:spPr bwMode="auto">
          <a:xfrm>
            <a:off x="323850" y="1052513"/>
            <a:ext cx="8434388" cy="2663825"/>
          </a:xfrm>
          <a:prstGeom prst="rect">
            <a:avLst/>
          </a:prstGeom>
          <a:noFill/>
          <a:ln w="9525">
            <a:noFill/>
            <a:miter lim="800000"/>
            <a:headEnd/>
            <a:tailEnd/>
          </a:ln>
        </p:spPr>
        <p:txBody>
          <a:bodyPr/>
          <a:lstStyle/>
          <a:p>
            <a:pPr marL="342900" indent="-342900">
              <a:lnSpc>
                <a:spcPct val="115000"/>
              </a:lnSpc>
              <a:spcBef>
                <a:spcPct val="15000"/>
              </a:spcBef>
              <a:buClr>
                <a:schemeClr val="tx2"/>
              </a:buClr>
              <a:buSzPct val="90000"/>
              <a:buFont typeface="Monotype Sorts" pitchFamily="2" charset="2"/>
              <a:buChar char="n"/>
              <a:defRPr/>
            </a:pPr>
            <a:r>
              <a:rPr kumimoji="1" lang="zh-CN" altLang="en-US" sz="2400" dirty="0">
                <a:latin typeface="+mj-ea"/>
                <a:ea typeface="+mj-ea"/>
              </a:rPr>
              <a:t>在费用函数不一定满足三角不等式的一般情况下，不存在具有常数性能比的解</a:t>
            </a:r>
            <a:r>
              <a:rPr kumimoji="1" lang="en-US" altLang="zh-CN" sz="2400" dirty="0">
                <a:latin typeface="+mj-ea"/>
                <a:ea typeface="+mj-ea"/>
              </a:rPr>
              <a:t>TSP</a:t>
            </a:r>
            <a:r>
              <a:rPr kumimoji="1" lang="zh-CN" altLang="en-US" sz="2400" dirty="0">
                <a:latin typeface="+mj-ea"/>
                <a:ea typeface="+mj-ea"/>
              </a:rPr>
              <a:t>问题的多项式时间近似算法，除非</a:t>
            </a:r>
            <a:r>
              <a:rPr kumimoji="1" lang="en-US" altLang="zh-CN" sz="2400" dirty="0">
                <a:latin typeface="+mj-ea"/>
                <a:ea typeface="+mj-ea"/>
              </a:rPr>
              <a:t>P=NP。</a:t>
            </a:r>
            <a:r>
              <a:rPr kumimoji="1" lang="zh-CN" altLang="en-US" sz="2400" dirty="0">
                <a:latin typeface="+mj-ea"/>
                <a:ea typeface="+mj-ea"/>
              </a:rPr>
              <a:t>换句话说，若</a:t>
            </a:r>
            <a:r>
              <a:rPr kumimoji="1" lang="en-US" altLang="zh-CN" sz="2400" dirty="0">
                <a:latin typeface="+mj-ea"/>
                <a:ea typeface="+mj-ea"/>
              </a:rPr>
              <a:t>P≠NP，</a:t>
            </a:r>
            <a:r>
              <a:rPr kumimoji="1" lang="zh-CN" altLang="en-US" sz="2400" dirty="0">
                <a:latin typeface="+mj-ea"/>
                <a:ea typeface="+mj-ea"/>
              </a:rPr>
              <a:t>则对任意常数</a:t>
            </a:r>
            <a:r>
              <a:rPr kumimoji="1" lang="en-US" altLang="zh-CN" sz="2400" dirty="0">
                <a:latin typeface="+mj-ea"/>
                <a:ea typeface="+mj-ea"/>
              </a:rPr>
              <a:t>ρ&gt;1，</a:t>
            </a:r>
            <a:r>
              <a:rPr kumimoji="1" lang="zh-CN" altLang="en-US" sz="2400" dirty="0">
                <a:latin typeface="+mj-ea"/>
                <a:ea typeface="+mj-ea"/>
              </a:rPr>
              <a:t>不存在性能比为</a:t>
            </a:r>
            <a:r>
              <a:rPr kumimoji="1" lang="en-US" altLang="zh-CN" sz="2400" dirty="0">
                <a:latin typeface="+mj-ea"/>
                <a:ea typeface="+mj-ea"/>
              </a:rPr>
              <a:t>ρ</a:t>
            </a:r>
            <a:r>
              <a:rPr kumimoji="1" lang="zh-CN" altLang="en-US" sz="2400" dirty="0">
                <a:latin typeface="+mj-ea"/>
                <a:ea typeface="+mj-ea"/>
              </a:rPr>
              <a:t>的解旅行售货员问题的多项式时间近似算法。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E7669071-5CA7-431A-BC19-2C83A4CA4FCA}"/>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C713A45-628F-4A75-ADBE-B9764D4B75DC}"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15</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053" name="Rectangle 2">
            <a:extLst>
              <a:ext uri="{FF2B5EF4-FFF2-40B4-BE49-F238E27FC236}">
                <a16:creationId xmlns:a16="http://schemas.microsoft.com/office/drawing/2014/main" id="{AB892A9F-4647-42B1-99F7-C44E31912935}"/>
              </a:ext>
            </a:extLst>
          </p:cNvPr>
          <p:cNvSpPr>
            <a:spLocks noGrp="1" noChangeArrowheads="1"/>
          </p:cNvSpPr>
          <p:nvPr>
            <p:ph type="title"/>
          </p:nvPr>
        </p:nvSpPr>
        <p:spPr>
          <a:xfrm>
            <a:off x="468313" y="333375"/>
            <a:ext cx="7772400" cy="582613"/>
          </a:xfrm>
        </p:spPr>
        <p:txBody>
          <a:bodyPr/>
          <a:lstStyle/>
          <a:p>
            <a:pPr>
              <a:defRPr/>
            </a:pPr>
            <a:r>
              <a:rPr lang="zh-CN" altLang="en-US" sz="4000" dirty="0"/>
              <a:t>集合覆盖问题</a:t>
            </a:r>
          </a:p>
        </p:txBody>
      </p:sp>
      <mc:AlternateContent xmlns:mc="http://schemas.openxmlformats.org/markup-compatibility/2006" xmlns:a14="http://schemas.microsoft.com/office/drawing/2010/main">
        <mc:Choice Requires="a14">
          <p:sp>
            <p:nvSpPr>
              <p:cNvPr id="2056" name="Text Box 5">
                <a:extLst>
                  <a:ext uri="{FF2B5EF4-FFF2-40B4-BE49-F238E27FC236}">
                    <a16:creationId xmlns:a16="http://schemas.microsoft.com/office/drawing/2014/main" id="{87FA0013-5BE2-47F8-99DA-2623578F0F8B}"/>
                  </a:ext>
                </a:extLst>
              </p:cNvPr>
              <p:cNvSpPr txBox="1">
                <a:spLocks noChangeArrowheads="1"/>
              </p:cNvSpPr>
              <p:nvPr/>
            </p:nvSpPr>
            <p:spPr bwMode="auto">
              <a:xfrm>
                <a:off x="647700" y="4287902"/>
                <a:ext cx="8147248" cy="2012859"/>
              </a:xfrm>
              <a:prstGeom prst="rect">
                <a:avLst/>
              </a:prstGeom>
              <a:noFill/>
              <a:ln w="6350">
                <a:noFill/>
                <a:miter lim="800000"/>
                <a:headEnd/>
                <a:tailEnd/>
              </a:ln>
            </p:spPr>
            <p:txBody>
              <a:bodyPr wrap="square">
                <a:spAutoFit/>
              </a:bodyPr>
              <a:lstStyle/>
              <a:p>
                <a:pPr>
                  <a:spcBef>
                    <a:spcPct val="20000"/>
                  </a:spcBef>
                  <a:defRPr/>
                </a:pPr>
                <a:r>
                  <a:rPr kumimoji="1" lang="zh-CN" altLang="en-US" sz="2400" dirty="0">
                    <a:solidFill>
                      <a:schemeClr val="tx1"/>
                    </a:solidFill>
                    <a:latin typeface="+mj-ea"/>
                    <a:ea typeface="+mj-ea"/>
                  </a:rPr>
                  <a:t>对于</a:t>
                </a:r>
                <a:r>
                  <a:rPr kumimoji="1" lang="en-US" altLang="zh-CN" sz="2400" dirty="0">
                    <a:solidFill>
                      <a:schemeClr val="tx1"/>
                    </a:solidFill>
                    <a:latin typeface="+mj-ea"/>
                    <a:ea typeface="+mj-ea"/>
                  </a:rPr>
                  <a:t>S</a:t>
                </a:r>
                <a:r>
                  <a:rPr kumimoji="1" lang="zh-CN" altLang="en-US" sz="2400" dirty="0">
                    <a:solidFill>
                      <a:schemeClr val="tx1"/>
                    </a:solidFill>
                    <a:latin typeface="+mj-ea"/>
                    <a:ea typeface="+mj-ea"/>
                  </a:rPr>
                  <a:t>的一个子集</a:t>
                </a:r>
                <a:r>
                  <a:rPr kumimoji="1" lang="en-US" altLang="zh-CN" sz="2400" dirty="0">
                    <a:solidFill>
                      <a:schemeClr val="tx1"/>
                    </a:solidFill>
                    <a:latin typeface="+mj-ea"/>
                    <a:ea typeface="+mj-ea"/>
                  </a:rPr>
                  <a:t>C</a:t>
                </a:r>
                <a:r>
                  <a:rPr kumimoji="1" lang="en-US" altLang="zh-CN" sz="2400" dirty="0">
                    <a:solidFill>
                      <a:schemeClr val="tx1"/>
                    </a:solidFill>
                    <a:latin typeface="+mj-ea"/>
                    <a:ea typeface="+mj-ea"/>
                    <a:sym typeface="Symbol" pitchFamily="18" charset="2"/>
                  </a:rPr>
                  <a:t>S</a:t>
                </a:r>
                <a:r>
                  <a:rPr kumimoji="1" lang="en-US" altLang="zh-CN" sz="2400" dirty="0">
                    <a:solidFill>
                      <a:schemeClr val="tx1"/>
                    </a:solidFill>
                    <a:latin typeface="+mj-ea"/>
                    <a:ea typeface="+mj-ea"/>
                  </a:rPr>
                  <a:t>，</a:t>
                </a:r>
                <a:r>
                  <a:rPr kumimoji="1" lang="zh-CN" altLang="en-US" sz="2400" dirty="0">
                    <a:solidFill>
                      <a:schemeClr val="tx1"/>
                    </a:solidFill>
                    <a:latin typeface="+mj-ea"/>
                    <a:ea typeface="+mj-ea"/>
                  </a:rPr>
                  <a:t>若满足</a:t>
                </a:r>
                <a:r>
                  <a:rPr kumimoji="1" lang="en-US" altLang="zh-CN" sz="2400" b="0" dirty="0">
                    <a:solidFill>
                      <a:schemeClr val="tx1"/>
                    </a:solidFill>
                    <a:ea typeface="+mj-ea"/>
                  </a:rPr>
                  <a:t> </a:t>
                </a:r>
                <a14:m>
                  <m:oMath xmlns:m="http://schemas.openxmlformats.org/officeDocument/2006/math">
                    <m:sSub>
                      <m:sSubPr>
                        <m:ctrlPr>
                          <a:rPr kumimoji="1" lang="en-US" altLang="zh-CN" sz="2400" b="0" i="1" dirty="0" smtClean="0">
                            <a:solidFill>
                              <a:schemeClr val="tx1"/>
                            </a:solidFill>
                            <a:latin typeface="Cambria Math" panose="02040503050406030204" pitchFamily="18" charset="0"/>
                            <a:ea typeface="+mj-ea"/>
                          </a:rPr>
                        </m:ctrlPr>
                      </m:sSubPr>
                      <m:e>
                        <m:r>
                          <a:rPr kumimoji="1" lang="en-US" altLang="zh-CN" sz="2400" b="0" i="1" dirty="0" smtClean="0">
                            <a:solidFill>
                              <a:schemeClr val="tx1"/>
                            </a:solidFill>
                            <a:latin typeface="Cambria Math" panose="02040503050406030204" pitchFamily="18" charset="0"/>
                            <a:ea typeface="+mj-ea"/>
                          </a:rPr>
                          <m:t>∪</m:t>
                        </m:r>
                      </m:e>
                      <m:sub>
                        <m:r>
                          <a:rPr kumimoji="1" lang="en-US" altLang="zh-CN" sz="2400" b="0" i="1" dirty="0" smtClean="0">
                            <a:solidFill>
                              <a:schemeClr val="tx1"/>
                            </a:solidFill>
                            <a:latin typeface="Cambria Math" panose="02040503050406030204" pitchFamily="18" charset="0"/>
                            <a:ea typeface="+mj-ea"/>
                          </a:rPr>
                          <m:t>𝑐</m:t>
                        </m:r>
                        <m:r>
                          <a:rPr kumimoji="1" lang="en-US" altLang="zh-CN" sz="2400" b="0" i="1" dirty="0" smtClean="0">
                            <a:solidFill>
                              <a:schemeClr val="tx1"/>
                            </a:solidFill>
                            <a:latin typeface="Cambria Math" panose="02040503050406030204" pitchFamily="18" charset="0"/>
                            <a:ea typeface="+mj-ea"/>
                          </a:rPr>
                          <m:t>∈</m:t>
                        </m:r>
                        <m:r>
                          <a:rPr kumimoji="1" lang="en-US" altLang="zh-CN" sz="2400" b="0" i="1" dirty="0" smtClean="0">
                            <a:solidFill>
                              <a:schemeClr val="tx1"/>
                            </a:solidFill>
                            <a:latin typeface="Cambria Math" panose="02040503050406030204" pitchFamily="18" charset="0"/>
                            <a:ea typeface="+mj-ea"/>
                          </a:rPr>
                          <m:t>𝐶</m:t>
                        </m:r>
                      </m:sub>
                    </m:sSub>
                    <m:r>
                      <a:rPr kumimoji="1" lang="en-US" altLang="zh-CN" sz="2400" b="0" i="1" dirty="0" smtClean="0">
                        <a:solidFill>
                          <a:schemeClr val="tx1"/>
                        </a:solidFill>
                        <a:latin typeface="Cambria Math" panose="02040503050406030204" pitchFamily="18" charset="0"/>
                        <a:ea typeface="+mj-ea"/>
                      </a:rPr>
                      <m:t>=</m:t>
                    </m:r>
                    <m:r>
                      <a:rPr kumimoji="1" lang="en-US" altLang="zh-CN" sz="2400" b="0" i="1" dirty="0" smtClean="0">
                        <a:solidFill>
                          <a:schemeClr val="tx1"/>
                        </a:solidFill>
                        <a:latin typeface="Cambria Math" panose="02040503050406030204" pitchFamily="18" charset="0"/>
                        <a:ea typeface="+mj-ea"/>
                      </a:rPr>
                      <m:t>𝑈</m:t>
                    </m:r>
                  </m:oMath>
                </a14:m>
                <a:r>
                  <a:rPr kumimoji="1" lang="en-US" altLang="zh-CN" sz="2400" dirty="0">
                    <a:solidFill>
                      <a:schemeClr val="tx1"/>
                    </a:solidFill>
                    <a:latin typeface="+mj-ea"/>
                    <a:ea typeface="+mj-ea"/>
                  </a:rPr>
                  <a:t>,</a:t>
                </a:r>
                <a:r>
                  <a:rPr kumimoji="1" lang="zh-CN" altLang="en-US" sz="2400" dirty="0">
                    <a:solidFill>
                      <a:schemeClr val="tx1"/>
                    </a:solidFill>
                    <a:latin typeface="+mj-ea"/>
                    <a:ea typeface="+mj-ea"/>
                  </a:rPr>
                  <a:t>则称</a:t>
                </a:r>
                <a:r>
                  <a:rPr kumimoji="1" lang="en-US" altLang="zh-CN" sz="2400" dirty="0">
                    <a:solidFill>
                      <a:srgbClr val="3333FF"/>
                    </a:solidFill>
                    <a:latin typeface="+mj-ea"/>
                    <a:ea typeface="+mj-ea"/>
                  </a:rPr>
                  <a:t>C</a:t>
                </a:r>
                <a:r>
                  <a:rPr kumimoji="1" lang="zh-CN" altLang="en-US" sz="2400" dirty="0">
                    <a:solidFill>
                      <a:srgbClr val="3333FF"/>
                    </a:solidFill>
                    <a:latin typeface="+mj-ea"/>
                    <a:ea typeface="+mj-ea"/>
                  </a:rPr>
                  <a:t>覆盖了</a:t>
                </a:r>
                <a:r>
                  <a:rPr kumimoji="1" lang="en-US" altLang="zh-CN" sz="2400" dirty="0">
                    <a:solidFill>
                      <a:srgbClr val="3333FF"/>
                    </a:solidFill>
                    <a:latin typeface="+mj-ea"/>
                    <a:ea typeface="+mj-ea"/>
                  </a:rPr>
                  <a:t>U</a:t>
                </a:r>
                <a:r>
                  <a:rPr kumimoji="1" lang="en-US" altLang="zh-CN" sz="2400" dirty="0">
                    <a:solidFill>
                      <a:schemeClr val="tx1"/>
                    </a:solidFill>
                    <a:latin typeface="+mj-ea"/>
                    <a:ea typeface="+mj-ea"/>
                  </a:rPr>
                  <a:t>。</a:t>
                </a:r>
                <a:br>
                  <a:rPr kumimoji="1" lang="en-US" altLang="zh-CN" sz="2400" dirty="0">
                    <a:solidFill>
                      <a:schemeClr val="tx1"/>
                    </a:solidFill>
                    <a:latin typeface="+mj-ea"/>
                    <a:ea typeface="+mj-ea"/>
                  </a:rPr>
                </a:br>
                <a:r>
                  <a:rPr kumimoji="1" lang="zh-CN" altLang="en-US" sz="2400" dirty="0">
                    <a:solidFill>
                      <a:srgbClr val="3333FF"/>
                    </a:solidFill>
                    <a:latin typeface="+mj-ea"/>
                    <a:ea typeface="+mj-ea"/>
                  </a:rPr>
                  <a:t>集合覆盖问题</a:t>
                </a:r>
                <a:r>
                  <a:rPr kumimoji="1" lang="zh-CN" altLang="en-US" sz="2400" dirty="0">
                    <a:solidFill>
                      <a:schemeClr val="tx1"/>
                    </a:solidFill>
                    <a:latin typeface="+mj-ea"/>
                    <a:ea typeface="+mj-ea"/>
                  </a:rPr>
                  <a:t>就是要找出</a:t>
                </a:r>
                <a:r>
                  <a:rPr kumimoji="1" lang="en-US" altLang="zh-CN" sz="2400" dirty="0">
                    <a:solidFill>
                      <a:schemeClr val="tx1"/>
                    </a:solidFill>
                    <a:latin typeface="+mj-ea"/>
                    <a:ea typeface="+mj-ea"/>
                  </a:rPr>
                  <a:t>S</a:t>
                </a:r>
                <a:r>
                  <a:rPr kumimoji="1" lang="zh-CN" altLang="en-US" sz="2400" dirty="0">
                    <a:solidFill>
                      <a:schemeClr val="tx1"/>
                    </a:solidFill>
                    <a:latin typeface="+mj-ea"/>
                    <a:ea typeface="+mj-ea"/>
                  </a:rPr>
                  <a:t>中覆盖</a:t>
                </a:r>
                <a:r>
                  <a:rPr kumimoji="1" lang="en-US" altLang="zh-CN" sz="2400" dirty="0">
                    <a:solidFill>
                      <a:schemeClr val="tx1"/>
                    </a:solidFill>
                    <a:latin typeface="+mj-ea"/>
                    <a:ea typeface="+mj-ea"/>
                  </a:rPr>
                  <a:t>F</a:t>
                </a:r>
                <a:r>
                  <a:rPr kumimoji="1" lang="zh-CN" altLang="en-US" sz="2400" dirty="0">
                    <a:solidFill>
                      <a:schemeClr val="tx1"/>
                    </a:solidFill>
                    <a:latin typeface="+mj-ea"/>
                    <a:ea typeface="+mj-ea"/>
                  </a:rPr>
                  <a:t>的最小子集</a:t>
                </a:r>
                <a:r>
                  <a:rPr kumimoji="1" lang="en-US" altLang="zh-CN" sz="2400" dirty="0">
                    <a:solidFill>
                      <a:schemeClr val="tx1"/>
                    </a:solidFill>
                    <a:latin typeface="+mj-ea"/>
                    <a:ea typeface="+mj-ea"/>
                  </a:rPr>
                  <a:t>C</a:t>
                </a:r>
                <a:r>
                  <a:rPr kumimoji="1" lang="en-US" altLang="zh-CN" sz="2400" baseline="30000" dirty="0">
                    <a:solidFill>
                      <a:schemeClr val="tx1"/>
                    </a:solidFill>
                    <a:latin typeface="+mj-ea"/>
                    <a:ea typeface="+mj-ea"/>
                  </a:rPr>
                  <a:t>* </a:t>
                </a:r>
                <a:r>
                  <a:rPr kumimoji="1" lang="zh-CN" altLang="en-US" sz="2400" baseline="-25000" dirty="0">
                    <a:solidFill>
                      <a:schemeClr val="tx1"/>
                    </a:solidFill>
                    <a:latin typeface="+mj-ea"/>
                    <a:ea typeface="+mj-ea"/>
                  </a:rPr>
                  <a:t>。</a:t>
                </a:r>
                <a:endParaRPr kumimoji="1" lang="en-US" altLang="zh-CN" sz="2400" baseline="-25000" dirty="0">
                  <a:solidFill>
                    <a:schemeClr val="tx1"/>
                  </a:solidFill>
                  <a:latin typeface="+mj-ea"/>
                  <a:ea typeface="+mj-ea"/>
                </a:endParaRPr>
              </a:p>
              <a:p>
                <a:pPr>
                  <a:spcBef>
                    <a:spcPct val="20000"/>
                  </a:spcBef>
                  <a:defRPr/>
                </a:pPr>
                <a:r>
                  <a:rPr kumimoji="1" lang="zh-CN" altLang="en-US" sz="2400" dirty="0">
                    <a:solidFill>
                      <a:schemeClr val="tx1"/>
                    </a:solidFill>
                    <a:latin typeface="+mj-ea"/>
                    <a:ea typeface="+mj-ea"/>
                  </a:rPr>
                  <a:t>一个</a:t>
                </a:r>
                <a:r>
                  <a:rPr kumimoji="1" lang="en-US" altLang="zh-CN" sz="2400" dirty="0">
                    <a:solidFill>
                      <a:schemeClr val="tx1"/>
                    </a:solidFill>
                    <a:latin typeface="+mj-ea"/>
                    <a:ea typeface="+mj-ea"/>
                  </a:rPr>
                  <a:t>U</a:t>
                </a:r>
                <a:r>
                  <a:rPr kumimoji="1" lang="zh-CN" altLang="en-US" sz="2400" dirty="0">
                    <a:solidFill>
                      <a:schemeClr val="tx1"/>
                    </a:solidFill>
                    <a:latin typeface="+mj-ea"/>
                    <a:ea typeface="+mj-ea"/>
                  </a:rPr>
                  <a:t>中的元素的</a:t>
                </a:r>
                <a:r>
                  <a:rPr kumimoji="1" lang="zh-CN" altLang="en-US" sz="2400" dirty="0">
                    <a:solidFill>
                      <a:srgbClr val="3333FF"/>
                    </a:solidFill>
                    <a:latin typeface="+mj-ea"/>
                    <a:ea typeface="+mj-ea"/>
                  </a:rPr>
                  <a:t>频率</a:t>
                </a:r>
                <a:r>
                  <a:rPr kumimoji="1" lang="zh-CN" altLang="en-US" sz="2400" dirty="0">
                    <a:solidFill>
                      <a:schemeClr val="tx1"/>
                    </a:solidFill>
                    <a:latin typeface="+mj-ea"/>
                    <a:ea typeface="+mj-ea"/>
                  </a:rPr>
                  <a:t>是指它在</a:t>
                </a:r>
                <a:r>
                  <a:rPr kumimoji="1" lang="en-US" altLang="zh-CN" sz="2400" dirty="0">
                    <a:solidFill>
                      <a:schemeClr val="tx1"/>
                    </a:solidFill>
                    <a:latin typeface="+mj-ea"/>
                    <a:ea typeface="+mj-ea"/>
                  </a:rPr>
                  <a:t>S</a:t>
                </a:r>
                <a:r>
                  <a:rPr kumimoji="1" lang="zh-CN" altLang="en-US" sz="2400" dirty="0">
                    <a:solidFill>
                      <a:schemeClr val="tx1"/>
                    </a:solidFill>
                    <a:latin typeface="+mj-ea"/>
                    <a:ea typeface="+mj-ea"/>
                  </a:rPr>
                  <a:t>里的子集合中出现的次数，所有元素的频率最大的值记为</a:t>
                </a:r>
                <a:r>
                  <a:rPr kumimoji="1" lang="en-US" altLang="zh-CN" sz="2400" dirty="0">
                    <a:solidFill>
                      <a:srgbClr val="3333FF"/>
                    </a:solidFill>
                    <a:latin typeface="+mj-ea"/>
                    <a:ea typeface="+mj-ea"/>
                  </a:rPr>
                  <a:t>f</a:t>
                </a:r>
                <a:r>
                  <a:rPr kumimoji="1" lang="en-US" altLang="zh-CN" sz="2400" dirty="0">
                    <a:solidFill>
                      <a:schemeClr val="tx1"/>
                    </a:solidFill>
                    <a:latin typeface="+mj-ea"/>
                    <a:ea typeface="+mj-ea"/>
                  </a:rPr>
                  <a:t>. </a:t>
                </a:r>
                <a:r>
                  <a:rPr kumimoji="1" lang="zh-CN" altLang="en-US" sz="2400" dirty="0">
                    <a:solidFill>
                      <a:schemeClr val="tx1"/>
                    </a:solidFill>
                    <a:latin typeface="+mj-ea"/>
                    <a:ea typeface="+mj-ea"/>
                  </a:rPr>
                  <a:t>当</a:t>
                </a:r>
                <a:r>
                  <a:rPr kumimoji="1" lang="en-US" altLang="zh-CN" sz="2400" dirty="0">
                    <a:solidFill>
                      <a:schemeClr val="tx1"/>
                    </a:solidFill>
                    <a:latin typeface="+mj-ea"/>
                    <a:ea typeface="+mj-ea"/>
                  </a:rPr>
                  <a:t>f=2</a:t>
                </a:r>
                <a:r>
                  <a:rPr kumimoji="1" lang="zh-CN" altLang="en-US" sz="2400" dirty="0">
                    <a:solidFill>
                      <a:schemeClr val="tx1"/>
                    </a:solidFill>
                    <a:latin typeface="+mj-ea"/>
                    <a:ea typeface="+mj-ea"/>
                  </a:rPr>
                  <a:t>时，集合覆盖问题就是</a:t>
                </a:r>
                <a:r>
                  <a:rPr kumimoji="1" lang="zh-CN" altLang="en-US" sz="2400" dirty="0">
                    <a:solidFill>
                      <a:srgbClr val="3333FF"/>
                    </a:solidFill>
                    <a:latin typeface="+mj-ea"/>
                    <a:ea typeface="+mj-ea"/>
                  </a:rPr>
                  <a:t>点覆盖问题</a:t>
                </a:r>
                <a:r>
                  <a:rPr kumimoji="1" lang="zh-CN" altLang="en-US" sz="2400" dirty="0">
                    <a:solidFill>
                      <a:schemeClr val="tx1"/>
                    </a:solidFill>
                    <a:latin typeface="+mj-ea"/>
                    <a:ea typeface="+mj-ea"/>
                  </a:rPr>
                  <a:t>。</a:t>
                </a:r>
              </a:p>
            </p:txBody>
          </p:sp>
        </mc:Choice>
        <mc:Fallback xmlns="">
          <p:sp>
            <p:nvSpPr>
              <p:cNvPr id="2056" name="Text Box 5">
                <a:extLst>
                  <a:ext uri="{FF2B5EF4-FFF2-40B4-BE49-F238E27FC236}">
                    <a16:creationId xmlns:a16="http://schemas.microsoft.com/office/drawing/2014/main" id="{87FA0013-5BE2-47F8-99DA-2623578F0F8B}"/>
                  </a:ext>
                </a:extLst>
              </p:cNvPr>
              <p:cNvSpPr txBox="1">
                <a:spLocks noRot="1" noChangeAspect="1" noMove="1" noResize="1" noEditPoints="1" noAdjustHandles="1" noChangeArrowheads="1" noChangeShapeType="1" noTextEdit="1"/>
              </p:cNvSpPr>
              <p:nvPr/>
            </p:nvSpPr>
            <p:spPr bwMode="auto">
              <a:xfrm>
                <a:off x="647700" y="4287902"/>
                <a:ext cx="8147248" cy="2012859"/>
              </a:xfrm>
              <a:prstGeom prst="rect">
                <a:avLst/>
              </a:prstGeom>
              <a:blipFill>
                <a:blip r:embed="rId2"/>
                <a:stretch>
                  <a:fillRect l="-1122" t="-3323" r="-673" b="-5740"/>
                </a:stretch>
              </a:blipFill>
              <a:ln w="6350">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5">
                <a:extLst>
                  <a:ext uri="{FF2B5EF4-FFF2-40B4-BE49-F238E27FC236}">
                    <a16:creationId xmlns:a16="http://schemas.microsoft.com/office/drawing/2014/main" id="{7EC546A7-A6A0-4E3A-8476-8855BB9024C8}"/>
                  </a:ext>
                </a:extLst>
              </p:cNvPr>
              <p:cNvSpPr txBox="1">
                <a:spLocks noChangeArrowheads="1"/>
              </p:cNvSpPr>
              <p:nvPr/>
            </p:nvSpPr>
            <p:spPr bwMode="auto">
              <a:xfrm>
                <a:off x="539552" y="980727"/>
                <a:ext cx="8147248" cy="2991973"/>
              </a:xfrm>
              <a:prstGeom prst="rect">
                <a:avLst/>
              </a:prstGeom>
              <a:noFill/>
              <a:ln w="6350">
                <a:noFill/>
                <a:miter lim="800000"/>
                <a:headEnd/>
                <a:tailEnd/>
              </a:ln>
            </p:spPr>
            <p:txBody>
              <a:bodyPr wrap="square">
                <a:spAutoFit/>
              </a:bodyPr>
              <a:lstStyle/>
              <a:p>
                <a:pPr>
                  <a:spcBef>
                    <a:spcPct val="20000"/>
                  </a:spcBef>
                  <a:defRPr/>
                </a:pPr>
                <a:r>
                  <a:rPr kumimoji="1" lang="zh-CN" altLang="en-US" sz="2400" dirty="0">
                    <a:latin typeface="+mj-ea"/>
                    <a:ea typeface="+mj-ea"/>
                  </a:rPr>
                  <a:t>    集合覆盖问题</a:t>
                </a:r>
                <a:endParaRPr kumimoji="1" lang="en-US" altLang="zh-CN" sz="2400" dirty="0">
                  <a:latin typeface="+mj-ea"/>
                  <a:ea typeface="+mj-ea"/>
                </a:endParaRPr>
              </a:p>
              <a:p>
                <a:pPr>
                  <a:spcBef>
                    <a:spcPct val="20000"/>
                  </a:spcBef>
                  <a:defRPr/>
                </a:pPr>
                <a:br>
                  <a:rPr kumimoji="1" lang="en-US" altLang="zh-CN" sz="2400" dirty="0">
                    <a:latin typeface="+mj-ea"/>
                    <a:ea typeface="+mj-ea"/>
                  </a:rPr>
                </a:br>
                <a:r>
                  <a:rPr kumimoji="1" lang="en-US" altLang="zh-CN" sz="2400" dirty="0">
                    <a:latin typeface="+mj-ea"/>
                    <a:ea typeface="+mj-ea"/>
                  </a:rPr>
                  <a:t>    </a:t>
                </a:r>
                <a:r>
                  <a:rPr kumimoji="1" lang="zh-CN" altLang="en-US" sz="2400" dirty="0">
                    <a:latin typeface="+mj-ea"/>
                    <a:ea typeface="+mj-ea"/>
                  </a:rPr>
                  <a:t>输入：</a:t>
                </a:r>
                <a:r>
                  <a:rPr kumimoji="1" lang="zh-CN" altLang="en-US" sz="2400" dirty="0">
                    <a:solidFill>
                      <a:schemeClr val="tx1"/>
                    </a:solidFill>
                    <a:latin typeface="+mj-ea"/>
                    <a:ea typeface="+mj-ea"/>
                  </a:rPr>
                  <a:t>由</a:t>
                </a:r>
                <a:r>
                  <a:rPr kumimoji="1" lang="en-US" altLang="zh-CN" sz="2400" dirty="0">
                    <a:solidFill>
                      <a:schemeClr val="tx1"/>
                    </a:solidFill>
                    <a:latin typeface="+mj-ea"/>
                    <a:ea typeface="+mj-ea"/>
                  </a:rPr>
                  <a:t>n</a:t>
                </a:r>
                <a:r>
                  <a:rPr kumimoji="1" lang="zh-CN" altLang="en-US" sz="2400" dirty="0">
                    <a:solidFill>
                      <a:schemeClr val="tx1"/>
                    </a:solidFill>
                    <a:latin typeface="+mj-ea"/>
                    <a:ea typeface="+mj-ea"/>
                  </a:rPr>
                  <a:t>个元素组成的集合</a:t>
                </a:r>
                <a:r>
                  <a:rPr kumimoji="1" lang="en-US" altLang="zh-CN" sz="2400" dirty="0">
                    <a:solidFill>
                      <a:schemeClr val="tx1"/>
                    </a:solidFill>
                    <a:latin typeface="+mj-ea"/>
                    <a:ea typeface="+mj-ea"/>
                  </a:rPr>
                  <a:t>U</a:t>
                </a:r>
                <a:r>
                  <a:rPr kumimoji="1" lang="zh-CN" altLang="en-US" sz="2400" dirty="0">
                    <a:solidFill>
                      <a:schemeClr val="tx1"/>
                    </a:solidFill>
                    <a:latin typeface="+mj-ea"/>
                    <a:ea typeface="+mj-ea"/>
                  </a:rPr>
                  <a:t>，以及</a:t>
                </a:r>
                <a:r>
                  <a:rPr kumimoji="1" lang="en-US" altLang="zh-CN" sz="2400" dirty="0">
                    <a:solidFill>
                      <a:schemeClr val="tx1"/>
                    </a:solidFill>
                    <a:latin typeface="+mj-ea"/>
                    <a:ea typeface="+mj-ea"/>
                  </a:rPr>
                  <a:t>U</a:t>
                </a:r>
                <a:r>
                  <a:rPr kumimoji="1" lang="zh-CN" altLang="en-US" sz="2400" dirty="0">
                    <a:solidFill>
                      <a:schemeClr val="tx1"/>
                    </a:solidFill>
                    <a:latin typeface="+mj-ea"/>
                    <a:ea typeface="+mj-ea"/>
                  </a:rPr>
                  <a:t>的一个子集族</a:t>
                </a:r>
                <a14:m>
                  <m:oMath xmlns:m="http://schemas.openxmlformats.org/officeDocument/2006/math">
                    <m:r>
                      <m:rPr>
                        <m:sty m:val="p"/>
                      </m:rPr>
                      <a:rPr kumimoji="1" lang="en-US" altLang="zh-CN" sz="2400" i="1">
                        <a:solidFill>
                          <a:schemeClr val="tx1"/>
                        </a:solidFill>
                        <a:latin typeface="Cambria Math" panose="02040503050406030204" pitchFamily="18" charset="0"/>
                        <a:ea typeface="+mj-ea"/>
                      </a:rPr>
                      <m:t>S</m:t>
                    </m:r>
                    <m:r>
                      <a:rPr kumimoji="1" lang="en-US" altLang="zh-CN" sz="2400" i="1" smtClean="0">
                        <a:solidFill>
                          <a:schemeClr val="tx1"/>
                        </a:solidFill>
                        <a:latin typeface="Cambria Math" panose="02040503050406030204" pitchFamily="18" charset="0"/>
                        <a:ea typeface="+mj-ea"/>
                      </a:rPr>
                      <m:t>=</m:t>
                    </m:r>
                    <m:r>
                      <a:rPr kumimoji="1" lang="en-US" altLang="zh-CN" sz="2400" b="0" i="1" smtClean="0">
                        <a:solidFill>
                          <a:schemeClr val="tx1"/>
                        </a:solidFill>
                        <a:latin typeface="Cambria Math" panose="02040503050406030204" pitchFamily="18" charset="0"/>
                        <a:ea typeface="+mj-ea"/>
                      </a:rPr>
                      <m:t>{</m:t>
                    </m:r>
                    <m:sSub>
                      <m:sSubPr>
                        <m:ctrlPr>
                          <a:rPr kumimoji="1" lang="en-US" altLang="zh-CN" sz="2400" b="0" i="1" smtClean="0">
                            <a:solidFill>
                              <a:schemeClr val="tx1"/>
                            </a:solidFill>
                            <a:latin typeface="Cambria Math" panose="02040503050406030204" pitchFamily="18" charset="0"/>
                            <a:ea typeface="+mj-ea"/>
                          </a:rPr>
                        </m:ctrlPr>
                      </m:sSubPr>
                      <m:e>
                        <m:r>
                          <a:rPr kumimoji="1" lang="en-US" altLang="zh-CN" sz="2400" i="1">
                            <a:solidFill>
                              <a:schemeClr val="tx1"/>
                            </a:solidFill>
                            <a:latin typeface="Cambria Math" panose="02040503050406030204" pitchFamily="18" charset="0"/>
                            <a:ea typeface="+mj-ea"/>
                          </a:rPr>
                          <m:t>𝑆</m:t>
                        </m:r>
                      </m:e>
                      <m:sub>
                        <m:r>
                          <a:rPr kumimoji="1" lang="en-US" altLang="zh-CN" sz="2400" b="0" i="1" smtClean="0">
                            <a:solidFill>
                              <a:schemeClr val="tx1"/>
                            </a:solidFill>
                            <a:latin typeface="Cambria Math" panose="02040503050406030204" pitchFamily="18" charset="0"/>
                            <a:ea typeface="+mj-ea"/>
                          </a:rPr>
                          <m:t>1</m:t>
                        </m:r>
                      </m:sub>
                    </m:sSub>
                    <m:r>
                      <a:rPr kumimoji="1" lang="en-US" altLang="zh-CN" sz="2400" b="0" i="1" smtClean="0">
                        <a:solidFill>
                          <a:schemeClr val="tx1"/>
                        </a:solidFill>
                        <a:latin typeface="Cambria Math" panose="02040503050406030204" pitchFamily="18" charset="0"/>
                        <a:ea typeface="+mj-ea"/>
                      </a:rPr>
                      <m:t>,</m:t>
                    </m:r>
                    <m:sSub>
                      <m:sSubPr>
                        <m:ctrlPr>
                          <a:rPr kumimoji="1" lang="en-US" altLang="zh-CN" sz="2400" i="1">
                            <a:solidFill>
                              <a:schemeClr val="tx1"/>
                            </a:solidFill>
                            <a:latin typeface="Cambria Math" panose="02040503050406030204" pitchFamily="18" charset="0"/>
                          </a:rPr>
                        </m:ctrlPr>
                      </m:sSubPr>
                      <m:e>
                        <m:r>
                          <a:rPr kumimoji="1" lang="en-US" altLang="zh-CN" sz="2400" i="1">
                            <a:solidFill>
                              <a:schemeClr val="tx1"/>
                            </a:solidFill>
                            <a:latin typeface="Cambria Math" panose="02040503050406030204" pitchFamily="18" charset="0"/>
                          </a:rPr>
                          <m:t>𝑆</m:t>
                        </m:r>
                      </m:e>
                      <m:sub>
                        <m:r>
                          <a:rPr kumimoji="1" lang="en-US" altLang="zh-CN" sz="2400" b="0" i="1" smtClean="0">
                            <a:solidFill>
                              <a:schemeClr val="tx1"/>
                            </a:solidFill>
                            <a:latin typeface="Cambria Math" panose="02040503050406030204" pitchFamily="18" charset="0"/>
                          </a:rPr>
                          <m:t>2</m:t>
                        </m:r>
                      </m:sub>
                    </m:sSub>
                    <m:r>
                      <a:rPr kumimoji="1" lang="en-US" altLang="zh-CN" sz="2400" b="0" i="1" smtClean="0">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rPr>
                        </m:ctrlPr>
                      </m:sSubPr>
                      <m:e>
                        <m:r>
                          <a:rPr kumimoji="1" lang="en-US" altLang="zh-CN" sz="2400" i="1">
                            <a:solidFill>
                              <a:schemeClr val="tx1"/>
                            </a:solidFill>
                            <a:latin typeface="Cambria Math" panose="02040503050406030204" pitchFamily="18" charset="0"/>
                          </a:rPr>
                          <m:t>𝑆</m:t>
                        </m:r>
                      </m:e>
                      <m:sub>
                        <m:r>
                          <a:rPr kumimoji="1" lang="en-US" altLang="zh-CN" sz="2400" b="0" i="1" smtClean="0">
                            <a:solidFill>
                              <a:schemeClr val="tx1"/>
                            </a:solidFill>
                            <a:latin typeface="Cambria Math" panose="02040503050406030204" pitchFamily="18" charset="0"/>
                          </a:rPr>
                          <m:t>𝑘</m:t>
                        </m:r>
                      </m:sub>
                    </m:sSub>
                    <m:r>
                      <a:rPr kumimoji="1" lang="en-US" altLang="zh-CN" sz="2400" b="0" i="1" smtClean="0">
                        <a:solidFill>
                          <a:schemeClr val="tx1"/>
                        </a:solidFill>
                        <a:latin typeface="Cambria Math" panose="02040503050406030204" pitchFamily="18" charset="0"/>
                        <a:ea typeface="+mj-ea"/>
                      </a:rPr>
                      <m:t>}</m:t>
                    </m:r>
                  </m:oMath>
                </a14:m>
                <a:r>
                  <a:rPr kumimoji="1" lang="en-US" altLang="zh-CN" sz="2400" dirty="0">
                    <a:solidFill>
                      <a:schemeClr val="tx1"/>
                    </a:solidFill>
                    <a:latin typeface="+mj-ea"/>
                    <a:ea typeface="+mj-ea"/>
                  </a:rPr>
                  <a:t>.     (</a:t>
                </a:r>
                <a:r>
                  <a:rPr kumimoji="1" lang="zh-CN" altLang="en-US" sz="2400" dirty="0">
                    <a:solidFill>
                      <a:schemeClr val="tx1"/>
                    </a:solidFill>
                    <a:latin typeface="+mj-ea"/>
                    <a:ea typeface="+mj-ea"/>
                  </a:rPr>
                  <a:t>带权版本：每个</a:t>
                </a:r>
                <a:r>
                  <a:rPr kumimoji="1" lang="en-US" altLang="zh-CN" sz="2400" dirty="0">
                    <a:solidFill>
                      <a:schemeClr val="tx1"/>
                    </a:solidFill>
                    <a:latin typeface="+mj-ea"/>
                    <a:ea typeface="+mj-ea"/>
                  </a:rPr>
                  <a:t>S</a:t>
                </a:r>
                <a:r>
                  <a:rPr kumimoji="1" lang="zh-CN" altLang="en-US" sz="2400" dirty="0">
                    <a:solidFill>
                      <a:schemeClr val="tx1"/>
                    </a:solidFill>
                    <a:latin typeface="+mj-ea"/>
                    <a:ea typeface="+mj-ea"/>
                  </a:rPr>
                  <a:t>中的子集有个权重</a:t>
                </a:r>
                <a:r>
                  <a:rPr kumimoji="1" lang="en-US" altLang="zh-CN" sz="2400" dirty="0">
                    <a:solidFill>
                      <a:schemeClr val="tx1"/>
                    </a:solidFill>
                    <a:latin typeface="+mj-ea"/>
                    <a:ea typeface="+mj-ea"/>
                  </a:rPr>
                  <a:t>)</a:t>
                </a:r>
              </a:p>
              <a:p>
                <a:pPr>
                  <a:spcBef>
                    <a:spcPct val="20000"/>
                  </a:spcBef>
                  <a:defRPr/>
                </a:pPr>
                <a:r>
                  <a:rPr kumimoji="1" lang="zh-CN" altLang="en-US" sz="2400" dirty="0">
                    <a:latin typeface="+mj-ea"/>
                    <a:ea typeface="+mj-ea"/>
                  </a:rPr>
                  <a:t>    输出：</a:t>
                </a:r>
                <a:r>
                  <a:rPr kumimoji="1" lang="en-US" altLang="zh-CN" sz="2400" dirty="0">
                    <a:solidFill>
                      <a:schemeClr val="tx1"/>
                    </a:solidFill>
                    <a:latin typeface="+mj-ea"/>
                    <a:ea typeface="+mj-ea"/>
                  </a:rPr>
                  <a:t>S</a:t>
                </a:r>
                <a:r>
                  <a:rPr kumimoji="1" lang="zh-CN" altLang="en-US" sz="2400" dirty="0">
                    <a:solidFill>
                      <a:schemeClr val="tx1"/>
                    </a:solidFill>
                    <a:latin typeface="+mj-ea"/>
                    <a:ea typeface="+mj-ea"/>
                  </a:rPr>
                  <a:t>的一个子集</a:t>
                </a:r>
                <a14:m>
                  <m:oMath xmlns:m="http://schemas.openxmlformats.org/officeDocument/2006/math">
                    <m:sSup>
                      <m:sSupPr>
                        <m:ctrlPr>
                          <a:rPr kumimoji="1" lang="en-US" altLang="zh-CN" sz="2400" b="0" i="1" dirty="0" smtClean="0">
                            <a:solidFill>
                              <a:schemeClr val="tx1"/>
                            </a:solidFill>
                            <a:latin typeface="Cambria Math" panose="02040503050406030204" pitchFamily="18" charset="0"/>
                            <a:ea typeface="+mj-ea"/>
                          </a:rPr>
                        </m:ctrlPr>
                      </m:sSupPr>
                      <m:e>
                        <m:r>
                          <m:rPr>
                            <m:sty m:val="p"/>
                          </m:rPr>
                          <a:rPr kumimoji="1" lang="en-US" altLang="zh-CN" sz="2400" i="1" dirty="0">
                            <a:solidFill>
                              <a:schemeClr val="tx1"/>
                            </a:solidFill>
                            <a:latin typeface="Cambria Math" panose="02040503050406030204" pitchFamily="18" charset="0"/>
                            <a:ea typeface="+mj-ea"/>
                          </a:rPr>
                          <m:t>C</m:t>
                        </m:r>
                      </m:e>
                      <m:sup/>
                    </m:sSup>
                    <m:r>
                      <a:rPr kumimoji="1" lang="en-US" altLang="zh-CN" sz="2400" i="1" dirty="0" smtClean="0">
                        <a:solidFill>
                          <a:schemeClr val="tx1"/>
                        </a:solidFill>
                        <a:latin typeface="Cambria Math" panose="02040503050406030204" pitchFamily="18" charset="0"/>
                        <a:ea typeface="+mj-ea"/>
                      </a:rPr>
                      <m:t>⊆</m:t>
                    </m:r>
                    <m:r>
                      <a:rPr kumimoji="1" lang="en-US" altLang="zh-CN" sz="2400" b="0" i="1" dirty="0" smtClean="0">
                        <a:solidFill>
                          <a:schemeClr val="tx1"/>
                        </a:solidFill>
                        <a:latin typeface="Cambria Math" panose="02040503050406030204" pitchFamily="18" charset="0"/>
                        <a:ea typeface="+mj-ea"/>
                      </a:rPr>
                      <m:t>𝑆</m:t>
                    </m:r>
                    <m:r>
                      <a:rPr kumimoji="1" lang="zh-CN" altLang="en-US" sz="2400" i="1" dirty="0">
                        <a:solidFill>
                          <a:schemeClr val="tx1"/>
                        </a:solidFill>
                        <a:latin typeface="Cambria Math" panose="02040503050406030204" pitchFamily="18" charset="0"/>
                        <a:ea typeface="+mj-ea"/>
                      </a:rPr>
                      <m:t>满足</m:t>
                    </m:r>
                    <m:sSub>
                      <m:sSubPr>
                        <m:ctrlPr>
                          <a:rPr kumimoji="1" lang="en-US" altLang="zh-CN" sz="2400" b="0" i="1" dirty="0" smtClean="0">
                            <a:solidFill>
                              <a:schemeClr val="tx1"/>
                            </a:solidFill>
                            <a:latin typeface="Cambria Math" panose="02040503050406030204" pitchFamily="18" charset="0"/>
                            <a:ea typeface="+mj-ea"/>
                          </a:rPr>
                        </m:ctrlPr>
                      </m:sSubPr>
                      <m:e>
                        <m:r>
                          <a:rPr kumimoji="1" lang="en-US" altLang="zh-CN" sz="2400" b="0" i="1" dirty="0" smtClean="0">
                            <a:solidFill>
                              <a:schemeClr val="tx1"/>
                            </a:solidFill>
                            <a:latin typeface="Cambria Math" panose="02040503050406030204" pitchFamily="18" charset="0"/>
                            <a:ea typeface="+mj-ea"/>
                          </a:rPr>
                          <m:t>∪</m:t>
                        </m:r>
                      </m:e>
                      <m:sub>
                        <m:r>
                          <a:rPr kumimoji="1" lang="en-US" altLang="zh-CN" sz="2400" b="0" i="1" dirty="0" smtClean="0">
                            <a:solidFill>
                              <a:schemeClr val="tx1"/>
                            </a:solidFill>
                            <a:latin typeface="Cambria Math" panose="02040503050406030204" pitchFamily="18" charset="0"/>
                            <a:ea typeface="+mj-ea"/>
                          </a:rPr>
                          <m:t>𝑐</m:t>
                        </m:r>
                        <m:r>
                          <a:rPr kumimoji="1" lang="en-US" altLang="zh-CN" sz="2400" b="0" i="1" dirty="0" smtClean="0">
                            <a:solidFill>
                              <a:schemeClr val="tx1"/>
                            </a:solidFill>
                            <a:latin typeface="Cambria Math" panose="02040503050406030204" pitchFamily="18" charset="0"/>
                            <a:ea typeface="+mj-ea"/>
                          </a:rPr>
                          <m:t>∈</m:t>
                        </m:r>
                        <m:sSup>
                          <m:sSupPr>
                            <m:ctrlPr>
                              <a:rPr kumimoji="1" lang="en-US" altLang="zh-CN" sz="2400" b="0" i="1" dirty="0" smtClean="0">
                                <a:solidFill>
                                  <a:schemeClr val="tx1"/>
                                </a:solidFill>
                                <a:latin typeface="Cambria Math" panose="02040503050406030204" pitchFamily="18" charset="0"/>
                                <a:ea typeface="+mj-ea"/>
                              </a:rPr>
                            </m:ctrlPr>
                          </m:sSupPr>
                          <m:e>
                            <m:r>
                              <a:rPr kumimoji="1" lang="en-US" altLang="zh-CN" sz="2400" b="0" i="1" dirty="0" smtClean="0">
                                <a:solidFill>
                                  <a:schemeClr val="tx1"/>
                                </a:solidFill>
                                <a:latin typeface="Cambria Math" panose="02040503050406030204" pitchFamily="18" charset="0"/>
                                <a:ea typeface="+mj-ea"/>
                              </a:rPr>
                              <m:t>𝐶</m:t>
                            </m:r>
                          </m:e>
                          <m:sup/>
                        </m:sSup>
                      </m:sub>
                    </m:sSub>
                    <m:r>
                      <a:rPr kumimoji="1" lang="en-US" altLang="zh-CN" sz="2400" b="0" i="1" dirty="0" smtClean="0">
                        <a:solidFill>
                          <a:schemeClr val="tx1"/>
                        </a:solidFill>
                        <a:latin typeface="Cambria Math" panose="02040503050406030204" pitchFamily="18" charset="0"/>
                        <a:ea typeface="+mj-ea"/>
                      </a:rPr>
                      <m:t>=</m:t>
                    </m:r>
                    <m:r>
                      <a:rPr kumimoji="1" lang="en-US" altLang="zh-CN" sz="2400" b="0" i="1" dirty="0" smtClean="0">
                        <a:solidFill>
                          <a:schemeClr val="tx1"/>
                        </a:solidFill>
                        <a:latin typeface="Cambria Math" panose="02040503050406030204" pitchFamily="18" charset="0"/>
                        <a:ea typeface="+mj-ea"/>
                      </a:rPr>
                      <m:t>𝑈</m:t>
                    </m:r>
                    <m:r>
                      <a:rPr kumimoji="1" lang="en-US" altLang="zh-CN" sz="2400" b="0" i="1" dirty="0" smtClean="0">
                        <a:solidFill>
                          <a:schemeClr val="tx1"/>
                        </a:solidFill>
                        <a:latin typeface="Cambria Math" panose="02040503050406030204" pitchFamily="18" charset="0"/>
                        <a:ea typeface="+mj-ea"/>
                      </a:rPr>
                      <m:t>,</m:t>
                    </m:r>
                  </m:oMath>
                </a14:m>
                <a:r>
                  <a:rPr kumimoji="1" lang="zh-CN" altLang="en-US" sz="2400" dirty="0">
                    <a:solidFill>
                      <a:schemeClr val="tx1"/>
                    </a:solidFill>
                    <a:latin typeface="+mj-ea"/>
                    <a:ea typeface="+mj-ea"/>
                  </a:rPr>
                  <a:t>要求</a:t>
                </a:r>
                <a:r>
                  <a:rPr kumimoji="1" lang="en-US" altLang="zh-CN" sz="2400" dirty="0">
                    <a:solidFill>
                      <a:schemeClr val="tx1"/>
                    </a:solidFill>
                    <a:latin typeface="+mj-ea"/>
                    <a:ea typeface="+mj-ea"/>
                  </a:rPr>
                  <a:t>C</a:t>
                </a:r>
                <a:r>
                  <a:rPr kumimoji="1" lang="zh-CN" altLang="en-US" sz="2400" dirty="0">
                    <a:solidFill>
                      <a:schemeClr val="tx1"/>
                    </a:solidFill>
                    <a:latin typeface="+mj-ea"/>
                    <a:ea typeface="+mj-ea"/>
                  </a:rPr>
                  <a:t>里的子集个数达到最小（权重和最小），即</a:t>
                </a:r>
                <a:endParaRPr kumimoji="1" lang="zh-CN" altLang="en-US" sz="2400" dirty="0">
                  <a:latin typeface="+mj-ea"/>
                  <a:ea typeface="+mj-ea"/>
                </a:endParaRPr>
              </a:p>
              <a:p>
                <a:pPr>
                  <a:spcBef>
                    <a:spcPct val="20000"/>
                  </a:spcBef>
                  <a:defRPr/>
                </a:pPr>
                <a:r>
                  <a:rPr kumimoji="1" lang="zh-CN" altLang="en-US" sz="2400" dirty="0">
                    <a:latin typeface="+mj-ea"/>
                    <a:ea typeface="+mj-ea"/>
                  </a:rPr>
                  <a:t>            </a:t>
                </a:r>
                <a:r>
                  <a:rPr kumimoji="1" lang="en-US" altLang="zh-CN" sz="2400" dirty="0">
                    <a:solidFill>
                      <a:srgbClr val="FF0000"/>
                    </a:solidFill>
                    <a:latin typeface="+mj-ea"/>
                    <a:ea typeface="+mj-ea"/>
                  </a:rPr>
                  <a:t>C = </a:t>
                </a:r>
                <a:r>
                  <a:rPr kumimoji="1" lang="en-US" altLang="zh-CN" sz="2400" dirty="0" err="1">
                    <a:solidFill>
                      <a:srgbClr val="FF0000"/>
                    </a:solidFill>
                    <a:latin typeface="+mj-ea"/>
                    <a:ea typeface="+mj-ea"/>
                  </a:rPr>
                  <a:t>argmin</a:t>
                </a:r>
                <a:r>
                  <a:rPr kumimoji="1" lang="en-US" altLang="zh-CN" sz="2400" dirty="0">
                    <a:solidFill>
                      <a:srgbClr val="FF0000"/>
                    </a:solidFill>
                    <a:latin typeface="+mj-ea"/>
                    <a:ea typeface="+mj-ea"/>
                  </a:rPr>
                  <a:t>{|C|  |  C</a:t>
                </a:r>
                <a:r>
                  <a:rPr kumimoji="1" lang="en-US" altLang="zh-CN" sz="2400" dirty="0">
                    <a:solidFill>
                      <a:srgbClr val="FF0000"/>
                    </a:solidFill>
                    <a:latin typeface="+mj-ea"/>
                    <a:ea typeface="+mj-ea"/>
                    <a:sym typeface="Symbol" pitchFamily="18" charset="2"/>
                  </a:rPr>
                  <a:t>S</a:t>
                </a:r>
                <a:r>
                  <a:rPr kumimoji="1" lang="zh-CN" altLang="en-US" sz="2400" dirty="0">
                    <a:solidFill>
                      <a:srgbClr val="FF0000"/>
                    </a:solidFill>
                    <a:latin typeface="+mj-ea"/>
                    <a:ea typeface="+mj-ea"/>
                  </a:rPr>
                  <a:t>且</a:t>
                </a:r>
                <a:r>
                  <a:rPr kumimoji="1" lang="en-US" altLang="zh-CN" sz="2400" dirty="0">
                    <a:solidFill>
                      <a:srgbClr val="FF0000"/>
                    </a:solidFill>
                    <a:latin typeface="+mj-ea"/>
                    <a:ea typeface="+mj-ea"/>
                  </a:rPr>
                  <a:t>C</a:t>
                </a:r>
                <a:r>
                  <a:rPr kumimoji="1" lang="zh-CN" altLang="en-US" sz="2400" dirty="0">
                    <a:solidFill>
                      <a:srgbClr val="FF0000"/>
                    </a:solidFill>
                    <a:latin typeface="+mj-ea"/>
                    <a:ea typeface="+mj-ea"/>
                  </a:rPr>
                  <a:t>覆盖</a:t>
                </a:r>
                <a:r>
                  <a:rPr kumimoji="1" lang="en-US" altLang="zh-CN" sz="2400" dirty="0">
                    <a:solidFill>
                      <a:srgbClr val="FF0000"/>
                    </a:solidFill>
                    <a:latin typeface="+mj-ea"/>
                    <a:ea typeface="+mj-ea"/>
                  </a:rPr>
                  <a:t>U}. </a:t>
                </a:r>
                <a:endParaRPr kumimoji="1" lang="zh-CN" altLang="en-US" sz="2400" dirty="0">
                  <a:solidFill>
                    <a:srgbClr val="FF0000"/>
                  </a:solidFill>
                  <a:latin typeface="+mj-ea"/>
                  <a:ea typeface="+mj-ea"/>
                </a:endParaRPr>
              </a:p>
            </p:txBody>
          </p:sp>
        </mc:Choice>
        <mc:Fallback>
          <p:sp>
            <p:nvSpPr>
              <p:cNvPr id="9" name="Text Box 5">
                <a:extLst>
                  <a:ext uri="{FF2B5EF4-FFF2-40B4-BE49-F238E27FC236}">
                    <a16:creationId xmlns:a16="http://schemas.microsoft.com/office/drawing/2014/main" id="{7EC546A7-A6A0-4E3A-8476-8855BB9024C8}"/>
                  </a:ext>
                </a:extLst>
              </p:cNvPr>
              <p:cNvSpPr txBox="1">
                <a:spLocks noRot="1" noChangeAspect="1" noMove="1" noResize="1" noEditPoints="1" noAdjustHandles="1" noChangeArrowheads="1" noChangeShapeType="1" noTextEdit="1"/>
              </p:cNvSpPr>
              <p:nvPr/>
            </p:nvSpPr>
            <p:spPr bwMode="auto">
              <a:xfrm>
                <a:off x="539552" y="980727"/>
                <a:ext cx="8147248" cy="2991973"/>
              </a:xfrm>
              <a:prstGeom prst="rect">
                <a:avLst/>
              </a:prstGeom>
              <a:blipFill>
                <a:blip r:embed="rId3"/>
                <a:stretch>
                  <a:fillRect l="-1198" t="-1629" r="-449" b="-3870"/>
                </a:stretch>
              </a:blipFill>
              <a:ln w="6350">
                <a:noFill/>
                <a:miter lim="800000"/>
                <a:headEnd/>
                <a:tailEnd/>
              </a:ln>
            </p:spPr>
            <p:txBody>
              <a:bodyPr/>
              <a:lstStyle/>
              <a:p>
                <a:r>
                  <a:rPr lang="zh-CN" altLang="en-US">
                    <a:noFill/>
                  </a:rPr>
                  <a:t> </a:t>
                </a:r>
              </a:p>
            </p:txBody>
          </p:sp>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F39EB758-ED02-4431-8292-348900DE5590}"/>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24824EA9-C2F0-4A9A-A8D9-894B0E245FB2}"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16</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24643" name="Text Box 3">
            <a:extLst>
              <a:ext uri="{FF2B5EF4-FFF2-40B4-BE49-F238E27FC236}">
                <a16:creationId xmlns:a16="http://schemas.microsoft.com/office/drawing/2014/main" id="{8EF766B0-CD30-4E5E-886B-B27F93967B36}"/>
              </a:ext>
            </a:extLst>
          </p:cNvPr>
          <p:cNvSpPr txBox="1">
            <a:spLocks noChangeArrowheads="1"/>
          </p:cNvSpPr>
          <p:nvPr/>
        </p:nvSpPr>
        <p:spPr bwMode="auto">
          <a:xfrm>
            <a:off x="683568" y="1373188"/>
            <a:ext cx="420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kumimoji="1" lang="zh-CN" altLang="en-US" dirty="0">
                <a:latin typeface="Times New Roman" panose="02020603050405020304" pitchFamily="18" charset="0"/>
              </a:rPr>
              <a:t>集合覆盖问题举例：</a:t>
            </a:r>
          </a:p>
        </p:txBody>
      </p:sp>
      <p:pic>
        <p:nvPicPr>
          <p:cNvPr id="624644" name="Picture 4" descr="t93">
            <a:extLst>
              <a:ext uri="{FF2B5EF4-FFF2-40B4-BE49-F238E27FC236}">
                <a16:creationId xmlns:a16="http://schemas.microsoft.com/office/drawing/2014/main" id="{C4451294-AF03-4956-B32D-066F53FD39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81981"/>
            <a:ext cx="3962400"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24645" name="AutoShape 5">
                <a:extLst>
                  <a:ext uri="{FF2B5EF4-FFF2-40B4-BE49-F238E27FC236}">
                    <a16:creationId xmlns:a16="http://schemas.microsoft.com/office/drawing/2014/main" id="{3A1CCB40-6A21-484C-9916-1AF6CF284E73}"/>
                  </a:ext>
                </a:extLst>
              </p:cNvPr>
              <p:cNvSpPr>
                <a:spLocks noChangeArrowheads="1"/>
              </p:cNvSpPr>
              <p:nvPr/>
            </p:nvSpPr>
            <p:spPr bwMode="auto">
              <a:xfrm>
                <a:off x="5508104" y="2643981"/>
                <a:ext cx="3178696" cy="2895600"/>
              </a:xfrm>
              <a:prstGeom prst="wedgeRoundRectCallout">
                <a:avLst>
                  <a:gd name="adj1" fmla="val -80329"/>
                  <a:gd name="adj2" fmla="val -19736"/>
                  <a:gd name="adj3" fmla="val 16667"/>
                </a:avLst>
              </a:prstGeom>
              <a:solidFill>
                <a:schemeClr val="accent2">
                  <a:lumMod val="20000"/>
                  <a:lumOff val="80000"/>
                </a:schemeClr>
              </a:solidFill>
              <a:ln w="6350">
                <a:solidFill>
                  <a:schemeClr val="hlink"/>
                </a:solidFill>
                <a:miter lim="800000"/>
                <a:headEnd/>
                <a:tailEnd/>
              </a:ln>
            </p:spPr>
            <p:txBody>
              <a:bodyPr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zh-CN" altLang="en-US" sz="2000" b="1" dirty="0">
                    <a:latin typeface="宋体" panose="02010600030101010101" pitchFamily="2" charset="-122"/>
                    <a:ea typeface="宋体" panose="02010600030101010101" pitchFamily="2" charset="-122"/>
                  </a:rPr>
                  <a:t>用12个黑点表示集合</a:t>
                </a:r>
                <a:r>
                  <a:rPr lang="en-US" altLang="zh-CN" sz="2000" b="1" dirty="0">
                    <a:latin typeface="宋体" panose="02010600030101010101" pitchFamily="2" charset="-122"/>
                    <a:ea typeface="宋体" panose="02010600030101010101" pitchFamily="2" charset="-122"/>
                  </a:rPr>
                  <a:t>U。</a:t>
                </a:r>
                <a14:m>
                  <m:oMath xmlns:m="http://schemas.openxmlformats.org/officeDocument/2006/math">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i="0" baseline="-25000" dirty="0" smtClean="0">
                        <a:latin typeface="宋体" panose="02010600030101010101" pitchFamily="2" charset="-122"/>
                        <a:ea typeface="宋体" panose="02010600030101010101" pitchFamily="2" charset="-122"/>
                      </a:rPr>
                      <m:t>1</m:t>
                    </m:r>
                    <m:r>
                      <m:rPr>
                        <m:nor/>
                      </m:rPr>
                      <a:rPr lang="en-US" altLang="zh-CN" sz="2000" b="1" i="0"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baseline="-25000" dirty="0" smtClean="0">
                        <a:latin typeface="宋体" panose="02010600030101010101" pitchFamily="2" charset="-122"/>
                        <a:ea typeface="宋体" panose="02010600030101010101" pitchFamily="2" charset="-122"/>
                      </a:rPr>
                      <m:t>2</m:t>
                    </m:r>
                    <m:r>
                      <m:rPr>
                        <m:nor/>
                      </m:rPr>
                      <a:rPr lang="en-US" altLang="zh-CN" sz="2000" b="1"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baseline="-25000" dirty="0" smtClean="0">
                        <a:latin typeface="宋体" panose="02010600030101010101" pitchFamily="2" charset="-122"/>
                        <a:ea typeface="宋体" panose="02010600030101010101" pitchFamily="2" charset="-122"/>
                      </a:rPr>
                      <m:t>3</m:t>
                    </m:r>
                    <m:r>
                      <m:rPr>
                        <m:nor/>
                      </m:rPr>
                      <a:rPr lang="en-US" altLang="zh-CN" sz="2000" b="1"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baseline="-25000" dirty="0" smtClean="0">
                        <a:latin typeface="宋体" panose="02010600030101010101" pitchFamily="2" charset="-122"/>
                        <a:ea typeface="宋体" panose="02010600030101010101" pitchFamily="2" charset="-122"/>
                      </a:rPr>
                      <m:t>4</m:t>
                    </m:r>
                    <m:r>
                      <m:rPr>
                        <m:nor/>
                      </m:rPr>
                      <a:rPr lang="en-US" altLang="zh-CN" sz="2000" b="1"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baseline="-25000" dirty="0" smtClean="0">
                        <a:latin typeface="宋体" panose="02010600030101010101" pitchFamily="2" charset="-122"/>
                        <a:ea typeface="宋体" panose="02010600030101010101" pitchFamily="2" charset="-122"/>
                      </a:rPr>
                      <m:t>5</m:t>
                    </m:r>
                    <m:r>
                      <m:rPr>
                        <m:nor/>
                      </m:rPr>
                      <a:rPr lang="en-US" altLang="zh-CN" sz="2000" b="1" dirty="0" smtClean="0">
                        <a:latin typeface="宋体" panose="02010600030101010101" pitchFamily="2" charset="-122"/>
                        <a:ea typeface="宋体" panose="02010600030101010101" pitchFamily="2" charset="-122"/>
                      </a:rPr>
                      <m:t>,</m:t>
                    </m:r>
                    <m:r>
                      <m:rPr>
                        <m:nor/>
                      </m:rPr>
                      <a:rPr lang="en-US" altLang="zh-CN" sz="2000" b="1" dirty="0" smtClean="0">
                        <a:latin typeface="宋体" panose="02010600030101010101" pitchFamily="2" charset="-122"/>
                        <a:ea typeface="宋体" panose="02010600030101010101" pitchFamily="2" charset="-122"/>
                      </a:rPr>
                      <m:t>S</m:t>
                    </m:r>
                    <m:r>
                      <m:rPr>
                        <m:nor/>
                      </m:rPr>
                      <a:rPr lang="en-US" altLang="zh-CN" sz="2000" b="1" baseline="-25000" dirty="0" smtClean="0">
                        <a:latin typeface="宋体" panose="02010600030101010101" pitchFamily="2" charset="-122"/>
                        <a:ea typeface="宋体" panose="02010600030101010101" pitchFamily="2" charset="-122"/>
                      </a:rPr>
                      <m:t>6</m:t>
                    </m:r>
                    <m:r>
                      <m:rPr>
                        <m:nor/>
                      </m:rPr>
                      <a:rPr lang="en-US" altLang="zh-CN" sz="2000" b="1" dirty="0" smtClean="0">
                        <a:latin typeface="宋体" panose="02010600030101010101" pitchFamily="2" charset="-122"/>
                        <a:ea typeface="宋体" panose="02010600030101010101" pitchFamily="2" charset="-122"/>
                      </a:rPr>
                      <m:t>}，</m:t>
                    </m:r>
                  </m:oMath>
                </a14:m>
                <a:r>
                  <a:rPr lang="zh-CN" altLang="en-US" sz="2000" b="1" dirty="0">
                    <a:latin typeface="宋体" panose="02010600030101010101" pitchFamily="2" charset="-122"/>
                    <a:ea typeface="宋体" panose="02010600030101010101" pitchFamily="2" charset="-122"/>
                  </a:rPr>
                  <a:t>如图所示。</a:t>
                </a:r>
                <a:endParaRPr lang="en-US" altLang="zh-CN" sz="2000" b="1" dirty="0">
                  <a:latin typeface="宋体" panose="02010600030101010101" pitchFamily="2" charset="-122"/>
                  <a:ea typeface="宋体" panose="02010600030101010101" pitchFamily="2" charset="-122"/>
                </a:endParaRPr>
              </a:p>
              <a:p>
                <a:pPr>
                  <a:spcBef>
                    <a:spcPct val="0"/>
                  </a:spcBef>
                  <a:buClrTx/>
                  <a:buSzTx/>
                  <a:buFontTx/>
                  <a:buNone/>
                </a:pPr>
                <a:endParaRPr lang="en-US" altLang="zh-CN" sz="2000" b="1" dirty="0">
                  <a:latin typeface="宋体" panose="02010600030101010101" pitchFamily="2" charset="-122"/>
                  <a:ea typeface="宋体" panose="02010600030101010101" pitchFamily="2" charset="-122"/>
                </a:endParaRPr>
              </a:p>
              <a:p>
                <a:pPr>
                  <a:spcBef>
                    <a:spcPct val="0"/>
                  </a:spcBef>
                  <a:buClrTx/>
                  <a:buSzTx/>
                  <a:buFontTx/>
                  <a:buNone/>
                </a:pPr>
                <a:r>
                  <a:rPr lang="zh-CN" altLang="en-US" sz="2000" b="1" dirty="0">
                    <a:latin typeface="宋体" panose="02010600030101010101" pitchFamily="2" charset="-122"/>
                    <a:ea typeface="宋体" panose="02010600030101010101" pitchFamily="2" charset="-122"/>
                  </a:rPr>
                  <a:t>这个例子，最小集合覆盖为：</a:t>
                </a:r>
                <a:r>
                  <a:rPr lang="en-US" altLang="zh-CN" sz="2000" b="1" dirty="0">
                    <a:latin typeface="宋体" panose="02010600030101010101" pitchFamily="2" charset="-122"/>
                    <a:ea typeface="宋体" panose="02010600030101010101" pitchFamily="2" charset="-122"/>
                  </a:rPr>
                  <a:t>C={S</a:t>
                </a:r>
                <a:r>
                  <a:rPr lang="en-US" altLang="zh-CN" sz="2000" b="1" baseline="-25000" dirty="0">
                    <a:latin typeface="宋体" panose="02010600030101010101" pitchFamily="2" charset="-122"/>
                    <a:ea typeface="宋体" panose="02010600030101010101" pitchFamily="2" charset="-122"/>
                  </a:rPr>
                  <a:t>3</a:t>
                </a:r>
                <a:r>
                  <a:rPr lang="en-US" altLang="zh-CN" sz="2000" b="1" dirty="0">
                    <a:latin typeface="宋体" panose="02010600030101010101" pitchFamily="2" charset="-122"/>
                    <a:ea typeface="宋体" panose="02010600030101010101" pitchFamily="2" charset="-122"/>
                  </a:rPr>
                  <a:t>,S</a:t>
                </a:r>
                <a:r>
                  <a:rPr lang="en-US" altLang="zh-CN" sz="2000" b="1" baseline="-25000" dirty="0">
                    <a:latin typeface="宋体" panose="02010600030101010101" pitchFamily="2" charset="-122"/>
                    <a:ea typeface="宋体" panose="02010600030101010101" pitchFamily="2" charset="-122"/>
                  </a:rPr>
                  <a:t>4</a:t>
                </a:r>
                <a:r>
                  <a:rPr lang="en-US" altLang="zh-CN" sz="2000" b="1" dirty="0">
                    <a:latin typeface="宋体" panose="02010600030101010101" pitchFamily="2" charset="-122"/>
                    <a:ea typeface="宋体" panose="02010600030101010101" pitchFamily="2" charset="-122"/>
                  </a:rPr>
                  <a:t>,S</a:t>
                </a:r>
                <a:r>
                  <a:rPr lang="en-US" altLang="zh-CN" sz="2000" b="1" baseline="-25000" dirty="0">
                    <a:latin typeface="宋体" panose="02010600030101010101" pitchFamily="2" charset="-122"/>
                    <a:ea typeface="宋体" panose="02010600030101010101" pitchFamily="2" charset="-122"/>
                  </a:rPr>
                  <a:t>5</a:t>
                </a:r>
                <a:r>
                  <a:rPr lang="en-US" altLang="zh-CN" sz="2000" b="1" dirty="0">
                    <a:latin typeface="宋体" panose="02010600030101010101" pitchFamily="2" charset="-122"/>
                    <a:ea typeface="宋体" panose="02010600030101010101" pitchFamily="2" charset="-122"/>
                  </a:rPr>
                  <a:t>}。 </a:t>
                </a:r>
                <a:endParaRPr lang="zh-CN" altLang="en-US" sz="2000" b="1" dirty="0">
                  <a:latin typeface="宋体" panose="02010600030101010101" pitchFamily="2" charset="-122"/>
                  <a:ea typeface="宋体" panose="02010600030101010101" pitchFamily="2" charset="-122"/>
                </a:endParaRPr>
              </a:p>
            </p:txBody>
          </p:sp>
        </mc:Choice>
        <mc:Fallback xmlns="">
          <p:sp>
            <p:nvSpPr>
              <p:cNvPr id="624645" name="AutoShape 5">
                <a:extLst>
                  <a:ext uri="{FF2B5EF4-FFF2-40B4-BE49-F238E27FC236}">
                    <a16:creationId xmlns:a16="http://schemas.microsoft.com/office/drawing/2014/main" id="{3A1CCB40-6A21-484C-9916-1AF6CF284E73}"/>
                  </a:ext>
                </a:extLst>
              </p:cNvPr>
              <p:cNvSpPr>
                <a:spLocks noRot="1" noChangeAspect="1" noMove="1" noResize="1" noEditPoints="1" noAdjustHandles="1" noChangeArrowheads="1" noChangeShapeType="1" noTextEdit="1"/>
              </p:cNvSpPr>
              <p:nvPr/>
            </p:nvSpPr>
            <p:spPr bwMode="auto">
              <a:xfrm>
                <a:off x="5508104" y="2643981"/>
                <a:ext cx="3178696" cy="2895600"/>
              </a:xfrm>
              <a:prstGeom prst="wedgeRoundRectCallout">
                <a:avLst>
                  <a:gd name="adj1" fmla="val -80329"/>
                  <a:gd name="adj2" fmla="val -19736"/>
                  <a:gd name="adj3" fmla="val 16667"/>
                </a:avLst>
              </a:prstGeom>
              <a:blipFill>
                <a:blip r:embed="rId3"/>
                <a:stretch>
                  <a:fillRect/>
                </a:stretch>
              </a:blipFill>
              <a:ln w="6350">
                <a:solidFill>
                  <a:schemeClr val="hlink"/>
                </a:solidFill>
                <a:miter lim="800000"/>
                <a:headEnd/>
                <a:tailEnd/>
              </a:ln>
            </p:spPr>
            <p:txBody>
              <a:bodyPr/>
              <a:lstStyle/>
              <a:p>
                <a:r>
                  <a:rPr lang="zh-CN" altLang="en-US">
                    <a:noFill/>
                  </a:rPr>
                  <a:t> </a:t>
                </a:r>
              </a:p>
            </p:txBody>
          </p:sp>
        </mc:Fallback>
      </mc:AlternateContent>
      <p:sp>
        <p:nvSpPr>
          <p:cNvPr id="8" name="Rectangle 2">
            <a:extLst>
              <a:ext uri="{FF2B5EF4-FFF2-40B4-BE49-F238E27FC236}">
                <a16:creationId xmlns:a16="http://schemas.microsoft.com/office/drawing/2014/main" id="{0350A741-367C-4775-BB00-3C4B08CCD3CA}"/>
              </a:ext>
            </a:extLst>
          </p:cNvPr>
          <p:cNvSpPr txBox="1">
            <a:spLocks noChangeArrowheads="1"/>
          </p:cNvSpPr>
          <p:nvPr/>
        </p:nvSpPr>
        <p:spPr bwMode="auto">
          <a:xfrm>
            <a:off x="468313" y="333375"/>
            <a:ext cx="7772400" cy="582613"/>
          </a:xfrm>
          <a:prstGeom prst="rect">
            <a:avLst/>
          </a:prstGeom>
          <a:noFill/>
          <a:ln w="9525">
            <a:noFill/>
            <a:miter lim="800000"/>
            <a:headEnd/>
            <a:tailEnd/>
          </a:ln>
        </p:spPr>
        <p:txBody>
          <a:bodyPr anchor="b"/>
          <a:lstStyle/>
          <a:p>
            <a:pPr>
              <a:defRPr/>
            </a:pPr>
            <a:r>
              <a:rPr lang="zh-CN" altLang="en-US" sz="4000" kern="0" dirty="0">
                <a:solidFill>
                  <a:srgbClr val="FF3300"/>
                </a:solidFill>
                <a:effectLst>
                  <a:outerShdw blurRad="38100" dist="38100" dir="2700000" algn="tl">
                    <a:srgbClr val="C0C0C0"/>
                  </a:outerShdw>
                </a:effectLst>
                <a:latin typeface="+mj-lt"/>
                <a:ea typeface="+mj-ea"/>
                <a:cs typeface="+mj-cs"/>
              </a:rPr>
              <a:t>集合覆盖问题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43"/>
                                        </p:tgtEl>
                                        <p:attrNameLst>
                                          <p:attrName>style.visibility</p:attrName>
                                        </p:attrNameLst>
                                      </p:cBhvr>
                                      <p:to>
                                        <p:strVal val="visible"/>
                                      </p:to>
                                    </p:set>
                                    <p:animEffect transition="in" filter="blinds(horizontal)">
                                      <p:cBhvr>
                                        <p:cTn id="7" dur="500"/>
                                        <p:tgtEl>
                                          <p:spTgt spid="6246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624644"/>
                                        </p:tgtEl>
                                        <p:attrNameLst>
                                          <p:attrName>style.visibility</p:attrName>
                                        </p:attrNameLst>
                                      </p:cBhvr>
                                      <p:to>
                                        <p:strVal val="visible"/>
                                      </p:to>
                                    </p:set>
                                    <p:anim calcmode="lin" valueType="num">
                                      <p:cBhvr additive="base">
                                        <p:cTn id="12" dur="500" fill="hold"/>
                                        <p:tgtEl>
                                          <p:spTgt spid="624644"/>
                                        </p:tgtEl>
                                        <p:attrNameLst>
                                          <p:attrName>ppt_x</p:attrName>
                                        </p:attrNameLst>
                                      </p:cBhvr>
                                      <p:tavLst>
                                        <p:tav tm="0">
                                          <p:val>
                                            <p:strVal val="0-#ppt_w/2"/>
                                          </p:val>
                                        </p:tav>
                                        <p:tav tm="100000">
                                          <p:val>
                                            <p:strVal val="#ppt_x"/>
                                          </p:val>
                                        </p:tav>
                                      </p:tavLst>
                                    </p:anim>
                                    <p:anim calcmode="lin" valueType="num">
                                      <p:cBhvr additive="base">
                                        <p:cTn id="13" dur="500" fill="hold"/>
                                        <p:tgtEl>
                                          <p:spTgt spid="62464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624645"/>
                                        </p:tgtEl>
                                        <p:attrNameLst>
                                          <p:attrName>style.visibility</p:attrName>
                                        </p:attrNameLst>
                                      </p:cBhvr>
                                      <p:to>
                                        <p:strVal val="visible"/>
                                      </p:to>
                                    </p:set>
                                    <p:anim calcmode="lin" valueType="num">
                                      <p:cBhvr additive="base">
                                        <p:cTn id="18" dur="500" fill="hold"/>
                                        <p:tgtEl>
                                          <p:spTgt spid="624645"/>
                                        </p:tgtEl>
                                        <p:attrNameLst>
                                          <p:attrName>ppt_x</p:attrName>
                                        </p:attrNameLst>
                                      </p:cBhvr>
                                      <p:tavLst>
                                        <p:tav tm="0">
                                          <p:val>
                                            <p:strVal val="1+#ppt_w/2"/>
                                          </p:val>
                                        </p:tav>
                                        <p:tav tm="100000">
                                          <p:val>
                                            <p:strVal val="#ppt_x"/>
                                          </p:val>
                                        </p:tav>
                                      </p:tavLst>
                                    </p:anim>
                                    <p:anim calcmode="lin" valueType="num">
                                      <p:cBhvr additive="base">
                                        <p:cTn id="19" dur="500" fill="hold"/>
                                        <p:tgtEl>
                                          <p:spTgt spid="62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autoUpdateAnimBg="0"/>
      <p:bldP spid="62464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A886A193-33D9-4219-81D8-FD96C1730B6A}"/>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A264A55D-B67E-44B6-8E74-9BCF1715484B}"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17</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25667" name="Text Box 3">
            <a:extLst>
              <a:ext uri="{FF2B5EF4-FFF2-40B4-BE49-F238E27FC236}">
                <a16:creationId xmlns:a16="http://schemas.microsoft.com/office/drawing/2014/main" id="{758EDC69-321D-4BE6-8456-ED197BE7818D}"/>
              </a:ext>
            </a:extLst>
          </p:cNvPr>
          <p:cNvSpPr txBox="1">
            <a:spLocks noChangeArrowheads="1"/>
          </p:cNvSpPr>
          <p:nvPr/>
        </p:nvSpPr>
        <p:spPr bwMode="auto">
          <a:xfrm>
            <a:off x="669925" y="1676400"/>
            <a:ext cx="534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kumimoji="1" lang="zh-CN" altLang="en-US">
                <a:latin typeface="Times New Roman" panose="02020603050405020304" pitchFamily="18" charset="0"/>
              </a:rPr>
              <a:t>集合覆盖问题近似算法——贪心算法</a:t>
            </a:r>
            <a:endParaRPr kumimoji="1" lang="en-US" altLang="zh-CN">
              <a:latin typeface="Times New Roman" panose="02020603050405020304" pitchFamily="18" charset="0"/>
            </a:endParaRPr>
          </a:p>
        </p:txBody>
      </p:sp>
      <p:sp>
        <p:nvSpPr>
          <p:cNvPr id="625668" name="AutoShape 4">
            <a:extLst>
              <a:ext uri="{FF2B5EF4-FFF2-40B4-BE49-F238E27FC236}">
                <a16:creationId xmlns:a16="http://schemas.microsoft.com/office/drawing/2014/main" id="{F02E2E4D-8806-4185-BB83-68A8DDD4A50D}"/>
              </a:ext>
            </a:extLst>
          </p:cNvPr>
          <p:cNvSpPr>
            <a:spLocks noChangeArrowheads="1"/>
          </p:cNvSpPr>
          <p:nvPr/>
        </p:nvSpPr>
        <p:spPr bwMode="auto">
          <a:xfrm>
            <a:off x="5638800" y="2514600"/>
            <a:ext cx="3200400" cy="3505200"/>
          </a:xfrm>
          <a:prstGeom prst="wedgeRoundRectCallout">
            <a:avLst>
              <a:gd name="adj1" fmla="val -81694"/>
              <a:gd name="adj2" fmla="val -10282"/>
              <a:gd name="adj3" fmla="val 16667"/>
            </a:avLst>
          </a:prstGeom>
          <a:solidFill>
            <a:schemeClr val="accent2">
              <a:lumMod val="20000"/>
              <a:lumOff val="80000"/>
            </a:schemeClr>
          </a:solidFill>
          <a:ln w="6350">
            <a:solidFill>
              <a:schemeClr val="hlink"/>
            </a:solidFill>
            <a:miter lim="800000"/>
            <a:headEnd/>
            <a:tailEnd/>
          </a:ln>
        </p:spPr>
        <p:txBody>
          <a:bodyPr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zh-CN" altLang="en-US" sz="2000" b="1" dirty="0">
                <a:latin typeface="宋体" panose="02010600030101010101" pitchFamily="2" charset="-122"/>
                <a:ea typeface="宋体" panose="02010600030101010101" pitchFamily="2" charset="-122"/>
              </a:rPr>
              <a:t>    算法的循环体最多执行</a:t>
            </a:r>
            <a:r>
              <a:rPr lang="en-US" altLang="zh-CN" sz="2000" b="1" dirty="0">
                <a:latin typeface="宋体" panose="02010600030101010101" pitchFamily="2" charset="-122"/>
                <a:ea typeface="宋体" panose="02010600030101010101" pitchFamily="2" charset="-122"/>
              </a:rPr>
              <a:t>min{|S|，|U|}</a:t>
            </a:r>
            <a:r>
              <a:rPr lang="zh-CN" altLang="en-US" sz="2000" b="1" dirty="0">
                <a:latin typeface="宋体" panose="02010600030101010101" pitchFamily="2" charset="-122"/>
                <a:ea typeface="宋体" panose="02010600030101010101" pitchFamily="2" charset="-122"/>
              </a:rPr>
              <a:t>次。而循环体内的计算显然可在</a:t>
            </a:r>
            <a:r>
              <a:rPr lang="en-US" altLang="zh-CN" sz="2000" b="1" dirty="0">
                <a:latin typeface="宋体" panose="02010600030101010101" pitchFamily="2" charset="-122"/>
                <a:ea typeface="宋体" panose="02010600030101010101" pitchFamily="2" charset="-122"/>
              </a:rPr>
              <a:t>O(|S||U|)</a:t>
            </a:r>
            <a:r>
              <a:rPr lang="zh-CN" altLang="en-US" sz="2000" b="1" dirty="0">
                <a:latin typeface="宋体" panose="02010600030101010101" pitchFamily="2" charset="-122"/>
                <a:ea typeface="宋体" panose="02010600030101010101" pitchFamily="2" charset="-122"/>
              </a:rPr>
              <a:t>时间内完成。因此，算法的计算时间为</a:t>
            </a:r>
            <a:r>
              <a:rPr lang="en-US" altLang="zh-CN" sz="2000" b="1" dirty="0">
                <a:latin typeface="宋体" panose="02010600030101010101" pitchFamily="2" charset="-122"/>
                <a:ea typeface="宋体" panose="02010600030101010101" pitchFamily="2" charset="-122"/>
              </a:rPr>
              <a:t>O(|S||</a:t>
            </a:r>
            <a:r>
              <a:rPr lang="en-US" altLang="zh-CN" sz="2000" b="1" dirty="0" err="1">
                <a:latin typeface="宋体" panose="02010600030101010101" pitchFamily="2" charset="-122"/>
                <a:ea typeface="宋体" panose="02010600030101010101" pitchFamily="2" charset="-122"/>
              </a:rPr>
              <a:t>U|min</a:t>
            </a:r>
            <a:r>
              <a:rPr lang="en-US" altLang="zh-CN" sz="2000" b="1" dirty="0">
                <a:latin typeface="宋体" panose="02010600030101010101" pitchFamily="2" charset="-122"/>
                <a:ea typeface="宋体" panose="02010600030101010101" pitchFamily="2" charset="-122"/>
              </a:rPr>
              <a:t>{|S|，|U|})。</a:t>
            </a:r>
            <a:r>
              <a:rPr lang="zh-CN" altLang="en-US" sz="2000" b="1" dirty="0">
                <a:latin typeface="宋体" panose="02010600030101010101" pitchFamily="2" charset="-122"/>
                <a:ea typeface="宋体" panose="02010600030101010101" pitchFamily="2" charset="-122"/>
              </a:rPr>
              <a:t>由此即知，该算法是一个多项式时间算法。 </a:t>
            </a:r>
          </a:p>
        </p:txBody>
      </p:sp>
      <p:sp>
        <p:nvSpPr>
          <p:cNvPr id="625669" name="Text Box 5">
            <a:extLst>
              <a:ext uri="{FF2B5EF4-FFF2-40B4-BE49-F238E27FC236}">
                <a16:creationId xmlns:a16="http://schemas.microsoft.com/office/drawing/2014/main" id="{2A53C11E-B0A3-4E50-BEEB-BEF113DCD77E}"/>
              </a:ext>
            </a:extLst>
          </p:cNvPr>
          <p:cNvSpPr txBox="1">
            <a:spLocks noChangeArrowheads="1"/>
          </p:cNvSpPr>
          <p:nvPr/>
        </p:nvSpPr>
        <p:spPr bwMode="auto">
          <a:xfrm>
            <a:off x="457200" y="2209800"/>
            <a:ext cx="5197475" cy="4167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kumimoji="1" lang="zh-CN" altLang="en-US" sz="2000" dirty="0"/>
              <a:t>  </a:t>
            </a:r>
            <a:r>
              <a:rPr kumimoji="1" lang="en-US" altLang="zh-CN" sz="2000" dirty="0"/>
              <a:t>Set </a:t>
            </a:r>
            <a:r>
              <a:rPr kumimoji="1" lang="en-US" altLang="zh-CN" sz="2000" b="1" dirty="0" err="1"/>
              <a:t>greedySetCover</a:t>
            </a:r>
            <a:r>
              <a:rPr kumimoji="1" lang="en-US" altLang="zh-CN" sz="2000" b="1" dirty="0"/>
              <a:t> </a:t>
            </a:r>
            <a:r>
              <a:rPr kumimoji="1" lang="en-US" altLang="zh-CN" sz="2000" dirty="0"/>
              <a:t>(U,S)</a:t>
            </a:r>
          </a:p>
          <a:p>
            <a:pPr algn="just">
              <a:spcBef>
                <a:spcPct val="20000"/>
              </a:spcBef>
              <a:buClrTx/>
              <a:buSzTx/>
              <a:buFontTx/>
              <a:buNone/>
            </a:pPr>
            <a:r>
              <a:rPr kumimoji="1" lang="en-US" altLang="zh-CN" sz="2000" dirty="0"/>
              <a:t>{</a:t>
            </a:r>
          </a:p>
          <a:p>
            <a:pPr algn="just">
              <a:spcBef>
                <a:spcPct val="20000"/>
              </a:spcBef>
              <a:buClrTx/>
              <a:buSzTx/>
              <a:buFontTx/>
              <a:buNone/>
            </a:pPr>
            <a:r>
              <a:rPr kumimoji="1" lang="en-US" altLang="zh-CN" sz="2000" dirty="0"/>
              <a:t>       F=U；</a:t>
            </a:r>
          </a:p>
          <a:p>
            <a:pPr algn="just">
              <a:spcBef>
                <a:spcPct val="20000"/>
              </a:spcBef>
              <a:buClrTx/>
              <a:buSzTx/>
              <a:buFontTx/>
              <a:buNone/>
            </a:pPr>
            <a:r>
              <a:rPr kumimoji="1" lang="en-US" altLang="zh-CN" sz="2000" dirty="0"/>
              <a:t>       C=</a:t>
            </a:r>
            <a:r>
              <a:rPr kumimoji="1" lang="en-US" altLang="zh-CN" sz="2000" dirty="0">
                <a:sym typeface="Symbol" panose="05050102010706020507" pitchFamily="18" charset="2"/>
              </a:rPr>
              <a:t></a:t>
            </a:r>
            <a:r>
              <a:rPr kumimoji="1" lang="en-US" altLang="zh-CN" sz="2000" dirty="0"/>
              <a:t>；</a:t>
            </a:r>
          </a:p>
          <a:p>
            <a:pPr algn="just">
              <a:spcBef>
                <a:spcPct val="20000"/>
              </a:spcBef>
              <a:buClrTx/>
              <a:buSzTx/>
              <a:buFontTx/>
              <a:buNone/>
            </a:pPr>
            <a:r>
              <a:rPr kumimoji="1" lang="en-US" altLang="zh-CN" sz="2000" dirty="0"/>
              <a:t>       while (F !=</a:t>
            </a:r>
            <a:r>
              <a:rPr kumimoji="1" lang="en-US" altLang="zh-CN" sz="2000" dirty="0">
                <a:sym typeface="Symbol" panose="05050102010706020507" pitchFamily="18" charset="2"/>
              </a:rPr>
              <a:t></a:t>
            </a:r>
            <a:r>
              <a:rPr kumimoji="1" lang="en-US" altLang="zh-CN" sz="2000" dirty="0"/>
              <a:t>) {</a:t>
            </a:r>
          </a:p>
          <a:p>
            <a:pPr algn="just">
              <a:spcBef>
                <a:spcPct val="20000"/>
              </a:spcBef>
              <a:buClrTx/>
              <a:buSzTx/>
              <a:buFontTx/>
              <a:buNone/>
            </a:pPr>
            <a:r>
              <a:rPr kumimoji="1" lang="en-US" altLang="zh-CN" sz="2000" dirty="0"/>
              <a:t>         </a:t>
            </a:r>
            <a:r>
              <a:rPr kumimoji="1" lang="zh-CN" altLang="en-US" sz="2000" dirty="0"/>
              <a:t>选择</a:t>
            </a:r>
            <a:r>
              <a:rPr kumimoji="1" lang="en-US" altLang="zh-CN" sz="2000" dirty="0"/>
              <a:t>S</a:t>
            </a:r>
            <a:r>
              <a:rPr kumimoji="1" lang="zh-CN" altLang="en-US" sz="2000" dirty="0"/>
              <a:t>中使|</a:t>
            </a:r>
            <a:r>
              <a:rPr kumimoji="1" lang="en-US" altLang="zh-CN" sz="2000" dirty="0"/>
              <a:t>c ∩ F|</a:t>
            </a:r>
            <a:r>
              <a:rPr kumimoji="1" lang="zh-CN" altLang="en-US" sz="2000" dirty="0"/>
              <a:t>最大的子集</a:t>
            </a:r>
            <a:r>
              <a:rPr kumimoji="1" lang="en-US" altLang="zh-CN" sz="2000" dirty="0"/>
              <a:t>c；</a:t>
            </a:r>
          </a:p>
          <a:p>
            <a:pPr algn="just">
              <a:spcBef>
                <a:spcPct val="20000"/>
              </a:spcBef>
              <a:buClrTx/>
              <a:buSzTx/>
              <a:buFontTx/>
              <a:buNone/>
            </a:pPr>
            <a:r>
              <a:rPr kumimoji="1" lang="en-US" altLang="zh-CN" sz="2000" dirty="0"/>
              <a:t>         F=F-c；</a:t>
            </a:r>
          </a:p>
          <a:p>
            <a:pPr algn="just">
              <a:spcBef>
                <a:spcPct val="20000"/>
              </a:spcBef>
              <a:buClrTx/>
              <a:buSzTx/>
              <a:buFontTx/>
              <a:buNone/>
            </a:pPr>
            <a:r>
              <a:rPr kumimoji="1" lang="en-US" altLang="zh-CN" sz="2000" dirty="0"/>
              <a:t>         C=C∪{c}；</a:t>
            </a:r>
          </a:p>
          <a:p>
            <a:pPr algn="just">
              <a:spcBef>
                <a:spcPct val="20000"/>
              </a:spcBef>
              <a:buClrTx/>
              <a:buSzTx/>
              <a:buFontTx/>
              <a:buNone/>
            </a:pPr>
            <a:r>
              <a:rPr kumimoji="1" lang="en-US" altLang="zh-CN" sz="2000" dirty="0"/>
              <a:t>         }</a:t>
            </a:r>
          </a:p>
          <a:p>
            <a:pPr algn="just">
              <a:spcBef>
                <a:spcPct val="20000"/>
              </a:spcBef>
              <a:buClrTx/>
              <a:buSzTx/>
              <a:buFontTx/>
              <a:buNone/>
            </a:pPr>
            <a:r>
              <a:rPr kumimoji="1" lang="en-US" altLang="zh-CN" sz="2000" dirty="0"/>
              <a:t>       return C；</a:t>
            </a:r>
          </a:p>
          <a:p>
            <a:pPr>
              <a:spcBef>
                <a:spcPct val="20000"/>
              </a:spcBef>
              <a:buClrTx/>
              <a:buSzTx/>
              <a:buFontTx/>
              <a:buNone/>
            </a:pPr>
            <a:r>
              <a:rPr kumimoji="1" lang="en-US" altLang="zh-CN" sz="2000" dirty="0"/>
              <a:t>  }</a:t>
            </a:r>
            <a:r>
              <a:rPr kumimoji="1" lang="en-US" altLang="zh-CN" dirty="0"/>
              <a:t> </a:t>
            </a:r>
            <a:endParaRPr kumimoji="1" lang="zh-CN" altLang="en-US" dirty="0"/>
          </a:p>
        </p:txBody>
      </p:sp>
      <p:sp>
        <p:nvSpPr>
          <p:cNvPr id="7" name="Rectangle 2">
            <a:extLst>
              <a:ext uri="{FF2B5EF4-FFF2-40B4-BE49-F238E27FC236}">
                <a16:creationId xmlns:a16="http://schemas.microsoft.com/office/drawing/2014/main" id="{9438AE73-0FBF-432F-9A47-C8EE5D338B19}"/>
              </a:ext>
            </a:extLst>
          </p:cNvPr>
          <p:cNvSpPr txBox="1">
            <a:spLocks noChangeArrowheads="1"/>
          </p:cNvSpPr>
          <p:nvPr/>
        </p:nvSpPr>
        <p:spPr bwMode="auto">
          <a:xfrm>
            <a:off x="468313" y="333375"/>
            <a:ext cx="7772400" cy="582613"/>
          </a:xfrm>
          <a:prstGeom prst="rect">
            <a:avLst/>
          </a:prstGeom>
          <a:noFill/>
          <a:ln w="9525">
            <a:noFill/>
            <a:miter lim="800000"/>
            <a:headEnd/>
            <a:tailEnd/>
          </a:ln>
        </p:spPr>
        <p:txBody>
          <a:bodyPr anchor="b"/>
          <a:lstStyle/>
          <a:p>
            <a:pPr>
              <a:defRPr/>
            </a:pPr>
            <a:r>
              <a:rPr lang="zh-CN" altLang="en-US" sz="4000" kern="0">
                <a:solidFill>
                  <a:srgbClr val="FF3300"/>
                </a:solidFill>
                <a:effectLst>
                  <a:outerShdw blurRad="38100" dist="38100" dir="2700000" algn="tl">
                    <a:srgbClr val="C0C0C0"/>
                  </a:outerShdw>
                </a:effectLst>
                <a:latin typeface="+mj-lt"/>
                <a:ea typeface="+mj-ea"/>
                <a:cs typeface="+mj-cs"/>
              </a:rPr>
              <a:t>集合覆盖问题</a:t>
            </a:r>
            <a:endParaRPr lang="zh-CN" altLang="en-US" sz="4000" kern="0" dirty="0">
              <a:solidFill>
                <a:srgbClr val="FF3300"/>
              </a:solidFill>
              <a:effectLst>
                <a:outerShdw blurRad="38100" dist="38100" dir="2700000" algn="tl">
                  <a:srgbClr val="C0C0C0"/>
                </a:outerShdw>
              </a:effectLst>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667"/>
                                        </p:tgtEl>
                                        <p:attrNameLst>
                                          <p:attrName>style.visibility</p:attrName>
                                        </p:attrNameLst>
                                      </p:cBhvr>
                                      <p:to>
                                        <p:strVal val="visible"/>
                                      </p:to>
                                    </p:set>
                                    <p:animEffect transition="in" filter="blinds(horizontal)">
                                      <p:cBhvr>
                                        <p:cTn id="7" dur="500"/>
                                        <p:tgtEl>
                                          <p:spTgt spid="6256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5669"/>
                                        </p:tgtEl>
                                        <p:attrNameLst>
                                          <p:attrName>style.visibility</p:attrName>
                                        </p:attrNameLst>
                                      </p:cBhvr>
                                      <p:to>
                                        <p:strVal val="visible"/>
                                      </p:to>
                                    </p:set>
                                    <p:animEffect transition="in" filter="blinds(horizontal)">
                                      <p:cBhvr>
                                        <p:cTn id="12" dur="500"/>
                                        <p:tgtEl>
                                          <p:spTgt spid="6256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25668"/>
                                        </p:tgtEl>
                                        <p:attrNameLst>
                                          <p:attrName>style.visibility</p:attrName>
                                        </p:attrNameLst>
                                      </p:cBhvr>
                                      <p:to>
                                        <p:strVal val="visible"/>
                                      </p:to>
                                    </p:set>
                                    <p:anim calcmode="lin" valueType="num">
                                      <p:cBhvr additive="base">
                                        <p:cTn id="17" dur="500" fill="hold"/>
                                        <p:tgtEl>
                                          <p:spTgt spid="625668"/>
                                        </p:tgtEl>
                                        <p:attrNameLst>
                                          <p:attrName>ppt_x</p:attrName>
                                        </p:attrNameLst>
                                      </p:cBhvr>
                                      <p:tavLst>
                                        <p:tav tm="0">
                                          <p:val>
                                            <p:strVal val="1+#ppt_w/2"/>
                                          </p:val>
                                        </p:tav>
                                        <p:tav tm="100000">
                                          <p:val>
                                            <p:strVal val="#ppt_x"/>
                                          </p:val>
                                        </p:tav>
                                      </p:tavLst>
                                    </p:anim>
                                    <p:anim calcmode="lin" valueType="num">
                                      <p:cBhvr additive="base">
                                        <p:cTn id="18" dur="500" fill="hold"/>
                                        <p:tgtEl>
                                          <p:spTgt spid="6256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7" grpId="0" autoUpdateAnimBg="0"/>
      <p:bldP spid="625668" grpId="0" animBg="1" autoUpdateAnimBg="0"/>
      <p:bldP spid="62566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A886A193-33D9-4219-81D8-FD96C1730B6A}"/>
              </a:ext>
            </a:extLst>
          </p:cNvPr>
          <p:cNvSpPr>
            <a:spLocks noGrp="1"/>
          </p:cNvSpPr>
          <p:nvPr>
            <p:ph type="sldNum" sz="quarter" idx="11"/>
          </p:nvPr>
        </p:nvSpPr>
        <p:spPr>
          <a:xfrm>
            <a:off x="6553200" y="6356350"/>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A264A55D-B67E-44B6-8E74-9BCF1715484B}"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25667" name="Text Box 3">
            <a:extLst>
              <a:ext uri="{FF2B5EF4-FFF2-40B4-BE49-F238E27FC236}">
                <a16:creationId xmlns:a16="http://schemas.microsoft.com/office/drawing/2014/main" id="{758EDC69-321D-4BE6-8456-ED197BE7818D}"/>
              </a:ext>
            </a:extLst>
          </p:cNvPr>
          <p:cNvSpPr txBox="1">
            <a:spLocks noChangeArrowheads="1"/>
          </p:cNvSpPr>
          <p:nvPr/>
        </p:nvSpPr>
        <p:spPr bwMode="auto">
          <a:xfrm>
            <a:off x="669925" y="1676400"/>
            <a:ext cx="7570788"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kumimoji="1" lang="zh-CN" altLang="en-US" dirty="0">
                <a:solidFill>
                  <a:schemeClr val="tx1"/>
                </a:solidFill>
                <a:latin typeface="Times New Roman" panose="02020603050405020304" pitchFamily="18" charset="0"/>
              </a:rPr>
              <a:t>假设最优解的个数是</a:t>
            </a:r>
            <a:r>
              <a:rPr kumimoji="1" lang="en-US" altLang="zh-CN" dirty="0">
                <a:solidFill>
                  <a:srgbClr val="3333FF"/>
                </a:solidFill>
                <a:latin typeface="Times New Roman" panose="02020603050405020304" pitchFamily="18" charset="0"/>
              </a:rPr>
              <a:t>opt</a:t>
            </a:r>
            <a:r>
              <a:rPr kumimoji="1" lang="zh-CN" altLang="en-US" dirty="0">
                <a:solidFill>
                  <a:schemeClr val="tx1"/>
                </a:solidFill>
                <a:latin typeface="Times New Roman" panose="02020603050405020304" pitchFamily="18" charset="0"/>
              </a:rPr>
              <a:t>。</a:t>
            </a:r>
            <a:endParaRPr kumimoji="1" lang="en-US" altLang="zh-CN" dirty="0">
              <a:solidFill>
                <a:schemeClr val="tx1"/>
              </a:solidFill>
              <a:latin typeface="Times New Roman" panose="02020603050405020304" pitchFamily="18" charset="0"/>
            </a:endParaRPr>
          </a:p>
          <a:p>
            <a:pPr>
              <a:spcBef>
                <a:spcPct val="20000"/>
              </a:spcBef>
              <a:buClrTx/>
              <a:buSzTx/>
              <a:buFontTx/>
              <a:buNone/>
            </a:pPr>
            <a:r>
              <a:rPr kumimoji="1" lang="zh-CN" altLang="en-US" dirty="0">
                <a:solidFill>
                  <a:schemeClr val="tx1"/>
                </a:solidFill>
                <a:latin typeface="Times New Roman" panose="02020603050405020304" pitchFamily="18" charset="0"/>
              </a:rPr>
              <a:t>对每个元素来说，定义它的</a:t>
            </a:r>
            <a:r>
              <a:rPr kumimoji="1" lang="zh-CN" altLang="en-US" dirty="0">
                <a:solidFill>
                  <a:srgbClr val="3333FF"/>
                </a:solidFill>
                <a:latin typeface="Times New Roman" panose="02020603050405020304" pitchFamily="18" charset="0"/>
              </a:rPr>
              <a:t>价格</a:t>
            </a:r>
            <a:r>
              <a:rPr kumimoji="1" lang="zh-CN" altLang="en-US" dirty="0">
                <a:solidFill>
                  <a:schemeClr val="tx1"/>
                </a:solidFill>
                <a:latin typeface="Times New Roman" panose="02020603050405020304" pitchFamily="18" charset="0"/>
              </a:rPr>
              <a:t>为覆盖它所需要的平均集合个数。</a:t>
            </a:r>
            <a:endParaRPr kumimoji="1" lang="en-US" altLang="zh-CN" dirty="0">
              <a:solidFill>
                <a:schemeClr val="tx1"/>
              </a:solidFill>
              <a:latin typeface="Times New Roman" panose="02020603050405020304" pitchFamily="18" charset="0"/>
            </a:endParaRPr>
          </a:p>
          <a:p>
            <a:pPr>
              <a:spcBef>
                <a:spcPct val="20000"/>
              </a:spcBef>
              <a:buClrTx/>
              <a:buSzTx/>
              <a:buFontTx/>
              <a:buNone/>
            </a:pPr>
            <a:r>
              <a:rPr kumimoji="1" lang="zh-CN" altLang="en-US" dirty="0">
                <a:solidFill>
                  <a:schemeClr val="tx1"/>
                </a:solidFill>
                <a:latin typeface="Times New Roman" panose="02020603050405020304" pitchFamily="18" charset="0"/>
              </a:rPr>
              <a:t>对最优解来说，每个元素的价格就是</a:t>
            </a:r>
            <a:r>
              <a:rPr kumimoji="1" lang="en-US" altLang="zh-CN" dirty="0">
                <a:solidFill>
                  <a:srgbClr val="3333FF"/>
                </a:solidFill>
                <a:latin typeface="Times New Roman" panose="02020603050405020304" pitchFamily="18" charset="0"/>
              </a:rPr>
              <a:t>opt/n</a:t>
            </a:r>
            <a:r>
              <a:rPr kumimoji="1" lang="zh-CN" altLang="en-US" dirty="0">
                <a:solidFill>
                  <a:schemeClr val="tx1"/>
                </a:solidFill>
                <a:latin typeface="Times New Roman" panose="02020603050405020304" pitchFamily="18" charset="0"/>
              </a:rPr>
              <a:t>。</a:t>
            </a:r>
            <a:endParaRPr kumimoji="1" lang="en-US" altLang="zh-CN" dirty="0">
              <a:solidFill>
                <a:schemeClr val="tx1"/>
              </a:solidFill>
              <a:latin typeface="Times New Roman" panose="02020603050405020304" pitchFamily="18" charset="0"/>
            </a:endParaRPr>
          </a:p>
          <a:p>
            <a:pPr>
              <a:spcBef>
                <a:spcPct val="20000"/>
              </a:spcBef>
              <a:buClrTx/>
              <a:buSzTx/>
              <a:buFontTx/>
              <a:buNone/>
            </a:pPr>
            <a:endParaRPr kumimoji="1" lang="en-US" altLang="zh-CN" dirty="0">
              <a:solidFill>
                <a:schemeClr val="tx1"/>
              </a:solidFill>
              <a:latin typeface="Times New Roman" panose="02020603050405020304" pitchFamily="18" charset="0"/>
            </a:endParaRPr>
          </a:p>
          <a:p>
            <a:pPr>
              <a:spcBef>
                <a:spcPct val="20000"/>
              </a:spcBef>
              <a:buClrTx/>
              <a:buSzTx/>
              <a:buFontTx/>
              <a:buNone/>
            </a:pPr>
            <a:r>
              <a:rPr kumimoji="1" lang="zh-CN" altLang="en-US" dirty="0">
                <a:solidFill>
                  <a:schemeClr val="tx1"/>
                </a:solidFill>
                <a:latin typeface="Times New Roman" panose="02020603050405020304" pitchFamily="18" charset="0"/>
              </a:rPr>
              <a:t>在贪心算法中，每次被覆盖的元素的价格依次不高于：</a:t>
            </a:r>
            <a:br>
              <a:rPr kumimoji="1" lang="en-US" altLang="zh-CN" dirty="0">
                <a:solidFill>
                  <a:schemeClr val="tx1"/>
                </a:solidFill>
                <a:latin typeface="Times New Roman" panose="02020603050405020304" pitchFamily="18" charset="0"/>
              </a:rPr>
            </a:br>
            <a:br>
              <a:rPr kumimoji="1" lang="en-US" altLang="zh-CN" dirty="0">
                <a:solidFill>
                  <a:schemeClr val="tx1"/>
                </a:solidFill>
                <a:latin typeface="Times New Roman" panose="02020603050405020304" pitchFamily="18" charset="0"/>
              </a:rPr>
            </a:br>
            <a:r>
              <a:rPr kumimoji="1" lang="en-US" altLang="zh-CN" dirty="0">
                <a:solidFill>
                  <a:srgbClr val="3333FF"/>
                </a:solidFill>
                <a:latin typeface="Times New Roman" panose="02020603050405020304" pitchFamily="18" charset="0"/>
              </a:rPr>
              <a:t>opt/n,  opt/(n-1),  opt/(n-2),  … ,  opt</a:t>
            </a:r>
          </a:p>
          <a:p>
            <a:pPr>
              <a:spcBef>
                <a:spcPct val="20000"/>
              </a:spcBef>
              <a:buClrTx/>
              <a:buSzTx/>
              <a:buFontTx/>
              <a:buNone/>
            </a:pPr>
            <a:endParaRPr kumimoji="1" lang="en-US" altLang="zh-CN" dirty="0">
              <a:solidFill>
                <a:schemeClr val="tx1"/>
              </a:solidFill>
              <a:latin typeface="Times New Roman" panose="02020603050405020304" pitchFamily="18" charset="0"/>
            </a:endParaRPr>
          </a:p>
          <a:p>
            <a:pPr>
              <a:spcBef>
                <a:spcPct val="20000"/>
              </a:spcBef>
              <a:buClrTx/>
              <a:buSzTx/>
              <a:buFontTx/>
              <a:buNone/>
            </a:pPr>
            <a:r>
              <a:rPr kumimoji="1" lang="zh-CN" altLang="en-US" dirty="0">
                <a:solidFill>
                  <a:schemeClr val="tx1"/>
                </a:solidFill>
                <a:latin typeface="Times New Roman" panose="02020603050405020304" pitchFamily="18" charset="0"/>
              </a:rPr>
              <a:t>之和不会超过</a:t>
            </a:r>
            <a:r>
              <a:rPr kumimoji="1" lang="en-US" altLang="zh-CN" dirty="0">
                <a:solidFill>
                  <a:schemeClr val="tx1"/>
                </a:solidFill>
                <a:latin typeface="Times New Roman" panose="02020603050405020304" pitchFamily="18" charset="0"/>
              </a:rPr>
              <a:t>opt</a:t>
            </a:r>
            <a:r>
              <a:rPr kumimoji="1" lang="zh-CN" altLang="en-US" dirty="0">
                <a:solidFill>
                  <a:schemeClr val="tx1"/>
                </a:solidFill>
                <a:latin typeface="Times New Roman" panose="02020603050405020304" pitchFamily="18" charset="0"/>
              </a:rPr>
              <a:t>的</a:t>
            </a:r>
            <a:r>
              <a:rPr kumimoji="1" lang="en-US" altLang="zh-CN" dirty="0">
                <a:solidFill>
                  <a:srgbClr val="3333FF"/>
                </a:solidFill>
                <a:latin typeface="Times New Roman" panose="02020603050405020304" pitchFamily="18" charset="0"/>
              </a:rPr>
              <a:t>log n</a:t>
            </a:r>
            <a:r>
              <a:rPr kumimoji="1" lang="zh-CN" altLang="en-US" dirty="0">
                <a:solidFill>
                  <a:schemeClr val="tx1"/>
                </a:solidFill>
                <a:latin typeface="Times New Roman" panose="02020603050405020304" pitchFamily="18" charset="0"/>
              </a:rPr>
              <a:t>倍。</a:t>
            </a:r>
            <a:endParaRPr kumimoji="1" lang="en-US" altLang="zh-CN" dirty="0">
              <a:solidFill>
                <a:schemeClr val="tx1"/>
              </a:solidFill>
              <a:latin typeface="Times New Roman" panose="02020603050405020304" pitchFamily="18" charset="0"/>
            </a:endParaRPr>
          </a:p>
        </p:txBody>
      </p:sp>
      <p:sp>
        <p:nvSpPr>
          <p:cNvPr id="7" name="Rectangle 2">
            <a:extLst>
              <a:ext uri="{FF2B5EF4-FFF2-40B4-BE49-F238E27FC236}">
                <a16:creationId xmlns:a16="http://schemas.microsoft.com/office/drawing/2014/main" id="{9438AE73-0FBF-432F-9A47-C8EE5D338B19}"/>
              </a:ext>
            </a:extLst>
          </p:cNvPr>
          <p:cNvSpPr txBox="1">
            <a:spLocks noChangeArrowheads="1"/>
          </p:cNvSpPr>
          <p:nvPr/>
        </p:nvSpPr>
        <p:spPr bwMode="auto">
          <a:xfrm>
            <a:off x="468313" y="333375"/>
            <a:ext cx="7772400" cy="582613"/>
          </a:xfrm>
          <a:prstGeom prst="rect">
            <a:avLst/>
          </a:prstGeom>
          <a:noFill/>
          <a:ln w="9525">
            <a:noFill/>
            <a:miter lim="800000"/>
            <a:headEnd/>
            <a:tailEnd/>
          </a:ln>
        </p:spPr>
        <p:txBody>
          <a:bodyPr anchor="b"/>
          <a:lstStyle/>
          <a:p>
            <a:pPr>
              <a:defRPr/>
            </a:pPr>
            <a:r>
              <a:rPr lang="zh-CN" altLang="en-US" sz="4000" kern="0">
                <a:solidFill>
                  <a:srgbClr val="FF3300"/>
                </a:solidFill>
                <a:effectLst>
                  <a:outerShdw blurRad="38100" dist="38100" dir="2700000" algn="tl">
                    <a:srgbClr val="C0C0C0"/>
                  </a:outerShdw>
                </a:effectLst>
                <a:latin typeface="+mj-lt"/>
                <a:ea typeface="+mj-ea"/>
                <a:cs typeface="+mj-cs"/>
              </a:rPr>
              <a:t>集合覆盖问题</a:t>
            </a:r>
            <a:endParaRPr lang="zh-CN" altLang="en-US" sz="4000" kern="0" dirty="0">
              <a:solidFill>
                <a:srgbClr val="FF3300"/>
              </a:solidFill>
              <a:effectLst>
                <a:outerShdw blurRad="38100" dist="38100" dir="2700000" algn="tl">
                  <a:srgbClr val="C0C0C0"/>
                </a:outerShdw>
              </a:effectLst>
              <a:latin typeface="+mj-lt"/>
              <a:ea typeface="+mj-ea"/>
              <a:cs typeface="+mj-cs"/>
            </a:endParaRPr>
          </a:p>
        </p:txBody>
      </p:sp>
    </p:spTree>
    <p:extLst>
      <p:ext uri="{BB962C8B-B14F-4D97-AF65-F5344CB8AC3E}">
        <p14:creationId xmlns:p14="http://schemas.microsoft.com/office/powerpoint/2010/main" val="15925379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667"/>
                                        </p:tgtEl>
                                        <p:attrNameLst>
                                          <p:attrName>style.visibility</p:attrName>
                                        </p:attrNameLst>
                                      </p:cBhvr>
                                      <p:to>
                                        <p:strVal val="visible"/>
                                      </p:to>
                                    </p:set>
                                    <p:animEffect transition="in" filter="blinds(horizontal)">
                                      <p:cBhvr>
                                        <p:cTn id="7" dur="500"/>
                                        <p:tgtEl>
                                          <p:spTgt spid="625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日期占位符 3">
            <a:extLst>
              <a:ext uri="{FF2B5EF4-FFF2-40B4-BE49-F238E27FC236}">
                <a16:creationId xmlns:a16="http://schemas.microsoft.com/office/drawing/2014/main" id="{6FDE4D79-2BA2-42D7-9044-BAFA7B32FCB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5F60FDCA-5384-4ABB-B6E8-46A39C0C6B77}"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1507" name="灯片编号占位符 4">
            <a:extLst>
              <a:ext uri="{FF2B5EF4-FFF2-40B4-BE49-F238E27FC236}">
                <a16:creationId xmlns:a16="http://schemas.microsoft.com/office/drawing/2014/main" id="{537C3D08-87D7-4921-8BE4-3CDB61CC97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F802B97A-6D26-44A1-B6BC-48D7213D2791}"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19</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81954" name="Rectangle 2">
            <a:extLst>
              <a:ext uri="{FF2B5EF4-FFF2-40B4-BE49-F238E27FC236}">
                <a16:creationId xmlns:a16="http://schemas.microsoft.com/office/drawing/2014/main" id="{5075F5E4-B4AD-4E0A-AA66-98FCA9D08996}"/>
              </a:ext>
            </a:extLst>
          </p:cNvPr>
          <p:cNvSpPr>
            <a:spLocks noGrp="1" noChangeArrowheads="1"/>
          </p:cNvSpPr>
          <p:nvPr>
            <p:ph type="title"/>
          </p:nvPr>
        </p:nvSpPr>
        <p:spPr/>
        <p:txBody>
          <a:bodyPr/>
          <a:lstStyle/>
          <a:p>
            <a:pPr>
              <a:defRPr/>
            </a:pPr>
            <a:r>
              <a:rPr lang="zh-CN" altLang="en-US" b="1">
                <a:solidFill>
                  <a:schemeClr val="tx1"/>
                </a:solidFill>
              </a:rPr>
              <a:t>主要内容</a:t>
            </a:r>
            <a:endParaRPr lang="zh-CN" altLang="en-US">
              <a:solidFill>
                <a:schemeClr val="tx1"/>
              </a:solidFill>
              <a:ea typeface="宋体" pitchFamily="2" charset="-122"/>
            </a:endParaRPr>
          </a:p>
        </p:txBody>
      </p:sp>
      <p:sp>
        <p:nvSpPr>
          <p:cNvPr id="20485" name="Rectangle 3">
            <a:extLst>
              <a:ext uri="{FF2B5EF4-FFF2-40B4-BE49-F238E27FC236}">
                <a16:creationId xmlns:a16="http://schemas.microsoft.com/office/drawing/2014/main" id="{E72A03D6-BF36-46CF-9263-7F126E264B83}"/>
              </a:ext>
            </a:extLst>
          </p:cNvPr>
          <p:cNvSpPr>
            <a:spLocks noGrp="1" noChangeArrowheads="1"/>
          </p:cNvSpPr>
          <p:nvPr>
            <p:ph type="body" idx="1"/>
          </p:nvPr>
        </p:nvSpPr>
        <p:spPr>
          <a:xfrm>
            <a:off x="323850" y="1052513"/>
            <a:ext cx="8362950" cy="5545137"/>
          </a:xfrm>
        </p:spPr>
        <p:txBody>
          <a:bodyPr/>
          <a:lstStyle/>
          <a:p>
            <a:pPr marL="722313" indent="-722313">
              <a:lnSpc>
                <a:spcPct val="115000"/>
              </a:lnSpc>
              <a:spcBef>
                <a:spcPct val="15000"/>
              </a:spcBef>
              <a:buFont typeface="Monotype Sorts" pitchFamily="2" charset="2"/>
              <a:buNone/>
              <a:defRPr/>
            </a:pPr>
            <a:r>
              <a:rPr lang="en-US" altLang="zh-CN" b="1" dirty="0">
                <a:latin typeface="+mj-ea"/>
                <a:ea typeface="+mj-ea"/>
              </a:rPr>
              <a:t>5.1  </a:t>
            </a:r>
            <a:r>
              <a:rPr lang="zh-CN" altLang="en-US" b="1" dirty="0">
                <a:solidFill>
                  <a:schemeClr val="bg1"/>
                </a:solidFill>
                <a:latin typeface="+mj-ea"/>
                <a:ea typeface="+mj-ea"/>
              </a:rPr>
              <a:t>近似算法</a:t>
            </a:r>
            <a:r>
              <a:rPr lang="zh-CN" altLang="en-US" b="1" dirty="0">
                <a:latin typeface="+mj-ea"/>
                <a:ea typeface="+mj-ea"/>
              </a:rPr>
              <a:t>	</a:t>
            </a:r>
          </a:p>
          <a:p>
            <a:pPr marL="722313" indent="-722313">
              <a:lnSpc>
                <a:spcPct val="115000"/>
              </a:lnSpc>
              <a:spcBef>
                <a:spcPct val="15000"/>
              </a:spcBef>
              <a:buFont typeface="Monotype Sorts" pitchFamily="2" charset="2"/>
              <a:buNone/>
              <a:defRPr/>
            </a:pPr>
            <a:r>
              <a:rPr lang="en-US" altLang="zh-CN" b="1" dirty="0">
                <a:latin typeface="+mj-ea"/>
                <a:ea typeface="+mj-ea"/>
              </a:rPr>
              <a:t>5.2  </a:t>
            </a:r>
            <a:r>
              <a:rPr lang="zh-CN" altLang="en-US" b="1" dirty="0">
                <a:solidFill>
                  <a:srgbClr val="FF0000"/>
                </a:solidFill>
                <a:latin typeface="+mj-ea"/>
                <a:ea typeface="+mj-ea"/>
              </a:rPr>
              <a:t>概率算法</a:t>
            </a:r>
          </a:p>
          <a:p>
            <a:pPr marL="722313" indent="-722313">
              <a:lnSpc>
                <a:spcPct val="115000"/>
              </a:lnSpc>
              <a:spcBef>
                <a:spcPct val="15000"/>
              </a:spcBef>
              <a:buFont typeface="Monotype Sorts" pitchFamily="2" charset="2"/>
              <a:buNone/>
              <a:defRPr/>
            </a:pPr>
            <a:r>
              <a:rPr lang="zh-CN" altLang="en-US" b="1" dirty="0">
                <a:latin typeface="+mj-ea"/>
                <a:ea typeface="+mj-ea"/>
              </a:rPr>
              <a:t>	</a:t>
            </a:r>
            <a:r>
              <a:rPr lang="en-US" altLang="zh-CN" b="1" dirty="0">
                <a:latin typeface="+mj-ea"/>
                <a:ea typeface="+mj-ea"/>
              </a:rPr>
              <a:t>BPP</a:t>
            </a:r>
            <a:r>
              <a:rPr lang="zh-CN" altLang="en-US" b="1" dirty="0">
                <a:latin typeface="+mj-ea"/>
                <a:ea typeface="+mj-ea"/>
              </a:rPr>
              <a:t>类、素数性</a:t>
            </a:r>
          </a:p>
          <a:p>
            <a:pPr marL="722313" indent="-722313">
              <a:lnSpc>
                <a:spcPct val="115000"/>
              </a:lnSpc>
              <a:spcBef>
                <a:spcPct val="15000"/>
              </a:spcBef>
              <a:buFont typeface="Monotype Sorts" pitchFamily="2" charset="2"/>
              <a:buNone/>
              <a:defRPr/>
            </a:pPr>
            <a:r>
              <a:rPr lang="en-US" altLang="zh-CN" b="1" dirty="0">
                <a:latin typeface="+mj-ea"/>
                <a:ea typeface="+mj-ea"/>
              </a:rPr>
              <a:t>5.3  </a:t>
            </a:r>
            <a:r>
              <a:rPr lang="zh-CN" altLang="en-US" b="1" dirty="0">
                <a:latin typeface="+mj-ea"/>
                <a:ea typeface="+mj-ea"/>
              </a:rPr>
              <a:t>参数算法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a:extLst>
              <a:ext uri="{FF2B5EF4-FFF2-40B4-BE49-F238E27FC236}">
                <a16:creationId xmlns:a16="http://schemas.microsoft.com/office/drawing/2014/main" id="{49266783-F17B-44AC-99F5-EE57C284EBA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25D0619-7FA5-4630-810C-D17354E0666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2531" name="灯片编号占位符 4">
            <a:extLst>
              <a:ext uri="{FF2B5EF4-FFF2-40B4-BE49-F238E27FC236}">
                <a16:creationId xmlns:a16="http://schemas.microsoft.com/office/drawing/2014/main" id="{477C9CDA-CFD6-4002-BF81-844D34F649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DB75C691-50CC-4524-83F1-CAF9D25BDA4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6962" name="Rectangle 2">
            <a:extLst>
              <a:ext uri="{FF2B5EF4-FFF2-40B4-BE49-F238E27FC236}">
                <a16:creationId xmlns:a16="http://schemas.microsoft.com/office/drawing/2014/main" id="{BDF4C60F-5921-4E4B-9DE5-E63FBFBDFC15}"/>
              </a:ext>
            </a:extLst>
          </p:cNvPr>
          <p:cNvSpPr>
            <a:spLocks noGrp="1" noChangeArrowheads="1"/>
          </p:cNvSpPr>
          <p:nvPr>
            <p:ph type="title"/>
          </p:nvPr>
        </p:nvSpPr>
        <p:spPr/>
        <p:txBody>
          <a:bodyPr/>
          <a:lstStyle/>
          <a:p>
            <a:pPr>
              <a:defRPr/>
            </a:pPr>
            <a:r>
              <a:rPr lang="zh-CN" altLang="en-US" b="1"/>
              <a:t>米凯尔</a:t>
            </a:r>
            <a:r>
              <a:rPr lang="en-US" altLang="zh-CN" b="1">
                <a:latin typeface="Arial"/>
              </a:rPr>
              <a:t>·</a:t>
            </a:r>
            <a:r>
              <a:rPr lang="zh-CN" altLang="en-US" b="1"/>
              <a:t>拉宾</a:t>
            </a:r>
            <a:r>
              <a:rPr lang="zh-CN" altLang="en-US"/>
              <a:t> </a:t>
            </a:r>
            <a:r>
              <a:rPr lang="en-US" altLang="zh-CN"/>
              <a:t>(Michael O</a:t>
            </a:r>
            <a:r>
              <a:rPr lang="zh-CN" altLang="en-US"/>
              <a:t>．</a:t>
            </a:r>
            <a:r>
              <a:rPr lang="en-US" altLang="zh-CN"/>
              <a:t>Rabin) </a:t>
            </a:r>
          </a:p>
        </p:txBody>
      </p:sp>
      <p:sp>
        <p:nvSpPr>
          <p:cNvPr id="296963" name="Rectangle 3">
            <a:extLst>
              <a:ext uri="{FF2B5EF4-FFF2-40B4-BE49-F238E27FC236}">
                <a16:creationId xmlns:a16="http://schemas.microsoft.com/office/drawing/2014/main" id="{8DA11C09-1215-4179-B492-01AA8F89B415}"/>
              </a:ext>
            </a:extLst>
          </p:cNvPr>
          <p:cNvSpPr>
            <a:spLocks noGrp="1" noChangeArrowheads="1"/>
          </p:cNvSpPr>
          <p:nvPr>
            <p:ph type="body" idx="1"/>
          </p:nvPr>
        </p:nvSpPr>
        <p:spPr>
          <a:xfrm>
            <a:off x="2627313" y="1125538"/>
            <a:ext cx="6265862" cy="5543550"/>
          </a:xfrm>
        </p:spPr>
        <p:txBody>
          <a:bodyPr/>
          <a:lstStyle/>
          <a:p>
            <a:pPr>
              <a:lnSpc>
                <a:spcPct val="115000"/>
              </a:lnSpc>
              <a:spcBef>
                <a:spcPct val="15000"/>
              </a:spcBef>
              <a:defRPr/>
            </a:pPr>
            <a:r>
              <a:rPr lang="zh-CN" altLang="en-US" sz="2000" dirty="0">
                <a:latin typeface="Tahoma" pitchFamily="34" charset="0"/>
                <a:ea typeface="+mj-ea"/>
                <a:cs typeface="Tahoma" pitchFamily="34" charset="0"/>
              </a:rPr>
              <a:t>非确定性有限状态自动机理论的开创者。 </a:t>
            </a:r>
          </a:p>
          <a:p>
            <a:pPr>
              <a:lnSpc>
                <a:spcPct val="115000"/>
              </a:lnSpc>
              <a:spcBef>
                <a:spcPct val="15000"/>
              </a:spcBef>
              <a:defRPr/>
            </a:pPr>
            <a:r>
              <a:rPr lang="en-US" altLang="zh-CN" sz="2000" dirty="0">
                <a:latin typeface="Tahoma" pitchFamily="34" charset="0"/>
                <a:ea typeface="Tahoma" pitchFamily="34" charset="0"/>
                <a:cs typeface="Tahoma" pitchFamily="34" charset="0"/>
              </a:rPr>
              <a:t>1976</a:t>
            </a:r>
            <a:r>
              <a:rPr lang="zh-CN" altLang="en-US" sz="2000" dirty="0">
                <a:latin typeface="Tahoma" pitchFamily="34" charset="0"/>
                <a:ea typeface="+mj-ea"/>
                <a:cs typeface="Tahoma" pitchFamily="34" charset="0"/>
              </a:rPr>
              <a:t>年度的图灵奖获得者</a:t>
            </a:r>
            <a:r>
              <a:rPr lang="en-US" altLang="zh-CN" sz="2000" dirty="0">
                <a:latin typeface="Tahoma" pitchFamily="34" charset="0"/>
                <a:ea typeface="Tahoma" pitchFamily="34" charset="0"/>
                <a:cs typeface="Tahoma" pitchFamily="34" charset="0"/>
              </a:rPr>
              <a:t>(</a:t>
            </a:r>
            <a:r>
              <a:rPr lang="zh-CN" altLang="en-US" sz="2000" dirty="0">
                <a:latin typeface="Tahoma" pitchFamily="34" charset="0"/>
                <a:ea typeface="+mj-ea"/>
                <a:cs typeface="Tahoma" pitchFamily="34" charset="0"/>
              </a:rPr>
              <a:t>与斯科特共同获得</a:t>
            </a:r>
            <a:r>
              <a:rPr lang="en-US" altLang="zh-CN" sz="2000" dirty="0">
                <a:latin typeface="Tahoma" pitchFamily="34" charset="0"/>
                <a:ea typeface="Tahoma" pitchFamily="34" charset="0"/>
                <a:cs typeface="Tahoma" pitchFamily="34" charset="0"/>
              </a:rPr>
              <a:t>)</a:t>
            </a:r>
            <a:r>
              <a:rPr lang="zh-CN" altLang="en-US" sz="2000" dirty="0">
                <a:latin typeface="Tahoma" pitchFamily="34" charset="0"/>
                <a:ea typeface="+mj-ea"/>
                <a:cs typeface="Tahoma" pitchFamily="34" charset="0"/>
              </a:rPr>
              <a:t>。</a:t>
            </a:r>
          </a:p>
          <a:p>
            <a:pPr>
              <a:lnSpc>
                <a:spcPct val="115000"/>
              </a:lnSpc>
              <a:spcBef>
                <a:spcPct val="15000"/>
              </a:spcBef>
              <a:defRPr/>
            </a:pPr>
            <a:r>
              <a:rPr lang="zh-CN" altLang="en-US" sz="2000" dirty="0">
                <a:latin typeface="Tahoma" pitchFamily="34" charset="0"/>
                <a:ea typeface="+mj-ea"/>
                <a:cs typeface="Tahoma" pitchFamily="34" charset="0"/>
              </a:rPr>
              <a:t>波兰数学家普里斯伯克在</a:t>
            </a:r>
            <a:r>
              <a:rPr lang="en-US" altLang="zh-CN" sz="2000" dirty="0">
                <a:latin typeface="Tahoma" pitchFamily="34" charset="0"/>
                <a:ea typeface="Tahoma" pitchFamily="34" charset="0"/>
                <a:cs typeface="Tahoma" pitchFamily="34" charset="0"/>
              </a:rPr>
              <a:t>1930</a:t>
            </a:r>
            <a:r>
              <a:rPr lang="zh-CN" altLang="en-US" sz="2000" dirty="0">
                <a:latin typeface="Tahoma" pitchFamily="34" charset="0"/>
                <a:ea typeface="+mj-ea"/>
                <a:cs typeface="Tahoma" pitchFamily="34" charset="0"/>
              </a:rPr>
              <a:t>年提出一个命题：</a:t>
            </a:r>
            <a:r>
              <a:rPr lang="zh-CN" altLang="en-US" sz="2000" dirty="0">
                <a:solidFill>
                  <a:srgbClr val="FF0000"/>
                </a:solidFill>
                <a:latin typeface="Tahoma" pitchFamily="34" charset="0"/>
                <a:ea typeface="+mj-ea"/>
                <a:cs typeface="Tahoma" pitchFamily="34" charset="0"/>
              </a:rPr>
              <a:t>只包括自然数相加运算的数学系统是完备的</a:t>
            </a:r>
            <a:r>
              <a:rPr lang="zh-CN" altLang="en-US" sz="2000" dirty="0">
                <a:latin typeface="Tahoma" pitchFamily="34" charset="0"/>
                <a:ea typeface="+mj-ea"/>
                <a:cs typeface="Tahoma" pitchFamily="34" charset="0"/>
              </a:rPr>
              <a:t>，即这样的系统在图灵机上都是可计算的。因此这被称为普里斯伯格算术系统，不少计算机科学家试图编写出能证明这个系统中的定理的计算机程序。</a:t>
            </a:r>
          </a:p>
          <a:p>
            <a:pPr>
              <a:lnSpc>
                <a:spcPct val="115000"/>
              </a:lnSpc>
              <a:spcBef>
                <a:spcPct val="15000"/>
              </a:spcBef>
              <a:defRPr/>
            </a:pPr>
            <a:r>
              <a:rPr lang="en-US" altLang="zh-CN" sz="2000" dirty="0">
                <a:latin typeface="Tahoma" pitchFamily="34" charset="0"/>
                <a:ea typeface="Tahoma" pitchFamily="34" charset="0"/>
                <a:cs typeface="Tahoma" pitchFamily="34" charset="0"/>
              </a:rPr>
              <a:t>1974</a:t>
            </a:r>
            <a:r>
              <a:rPr lang="zh-CN" altLang="en-US" sz="2000" dirty="0">
                <a:latin typeface="Tahoma" pitchFamily="34" charset="0"/>
                <a:ea typeface="+mj-ea"/>
                <a:cs typeface="Tahoma" pitchFamily="34" charset="0"/>
              </a:rPr>
              <a:t>年拉宾指出，这是极其困难而无法实现的。 </a:t>
            </a:r>
          </a:p>
          <a:p>
            <a:pPr>
              <a:lnSpc>
                <a:spcPct val="115000"/>
              </a:lnSpc>
              <a:spcBef>
                <a:spcPct val="15000"/>
              </a:spcBef>
              <a:defRPr/>
            </a:pPr>
            <a:r>
              <a:rPr lang="zh-CN" altLang="en-US" sz="2000" dirty="0">
                <a:latin typeface="Tahoma" pitchFamily="34" charset="0"/>
                <a:ea typeface="+mj-ea"/>
                <a:cs typeface="Tahoma" pitchFamily="34" charset="0"/>
              </a:rPr>
              <a:t>他认为应该放弃的只是以完全确定的方式去获得结果的企图，但完全</a:t>
            </a:r>
            <a:r>
              <a:rPr lang="zh-CN" altLang="en-US" sz="2000" dirty="0">
                <a:solidFill>
                  <a:srgbClr val="FF0000"/>
                </a:solidFill>
                <a:latin typeface="Tahoma" pitchFamily="34" charset="0"/>
                <a:ea typeface="+mj-ea"/>
                <a:cs typeface="Tahoma" pitchFamily="34" charset="0"/>
              </a:rPr>
              <a:t>可以利用随机性以某种方式很快获得结果，这种结果可能出错，然而出错的可能性微乎其微</a:t>
            </a:r>
            <a:r>
              <a:rPr lang="zh-CN" altLang="en-US" sz="2000" dirty="0">
                <a:latin typeface="Tahoma" pitchFamily="34" charset="0"/>
                <a:ea typeface="+mj-ea"/>
                <a:cs typeface="Tahoma" pitchFamily="34" charset="0"/>
              </a:rPr>
              <a:t>，也就是说可以把概率算法</a:t>
            </a:r>
            <a:r>
              <a:rPr lang="en-US" altLang="zh-CN" sz="2000" dirty="0">
                <a:latin typeface="Tahoma" pitchFamily="34" charset="0"/>
                <a:ea typeface="Tahoma" pitchFamily="34" charset="0"/>
                <a:cs typeface="Tahoma" pitchFamily="34" charset="0"/>
              </a:rPr>
              <a:t>(probabilistic algorithm</a:t>
            </a:r>
            <a:r>
              <a:rPr lang="zh-CN" altLang="en-US" sz="2000" dirty="0">
                <a:latin typeface="Tahoma" pitchFamily="34" charset="0"/>
                <a:ea typeface="+mj-ea"/>
                <a:cs typeface="Tahoma" pitchFamily="34" charset="0"/>
              </a:rPr>
              <a:t>，或叫随机算法，</a:t>
            </a:r>
            <a:r>
              <a:rPr lang="en-US" altLang="zh-CN" sz="2000" dirty="0">
                <a:latin typeface="Tahoma" pitchFamily="34" charset="0"/>
                <a:ea typeface="Tahoma" pitchFamily="34" charset="0"/>
                <a:cs typeface="Tahoma" pitchFamily="34" charset="0"/>
              </a:rPr>
              <a:t>randomize algorithm)</a:t>
            </a:r>
            <a:r>
              <a:rPr lang="zh-CN" altLang="en-US" sz="2000" dirty="0">
                <a:latin typeface="Tahoma" pitchFamily="34" charset="0"/>
                <a:ea typeface="+mj-ea"/>
                <a:cs typeface="Tahoma" pitchFamily="34" charset="0"/>
              </a:rPr>
              <a:t>用到这类问题中来。  </a:t>
            </a:r>
          </a:p>
        </p:txBody>
      </p:sp>
      <p:pic>
        <p:nvPicPr>
          <p:cNvPr id="22534" name="Picture 4" descr="1c01129q1191f6">
            <a:hlinkClick r:id="rId2"/>
            <a:extLst>
              <a:ext uri="{FF2B5EF4-FFF2-40B4-BE49-F238E27FC236}">
                <a16:creationId xmlns:a16="http://schemas.microsoft.com/office/drawing/2014/main" id="{2B11D88B-40C0-4564-B5DE-D3384DCAF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25538"/>
            <a:ext cx="21875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a:extLst>
              <a:ext uri="{FF2B5EF4-FFF2-40B4-BE49-F238E27FC236}">
                <a16:creationId xmlns:a16="http://schemas.microsoft.com/office/drawing/2014/main" id="{29D5BDC6-3EC1-41D6-945C-F3D1E85A8D6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5AC4B34E-2ACC-4C79-BE67-B7DE29EBCE65}"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3555" name="灯片编号占位符 4">
            <a:extLst>
              <a:ext uri="{FF2B5EF4-FFF2-40B4-BE49-F238E27FC236}">
                <a16:creationId xmlns:a16="http://schemas.microsoft.com/office/drawing/2014/main" id="{28A7BF68-9704-4334-A5C3-0580D7B1AC2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097058B-0392-473D-AE76-C46EFBB40B6F}"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21</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7986" name="Rectangle 2">
            <a:extLst>
              <a:ext uri="{FF2B5EF4-FFF2-40B4-BE49-F238E27FC236}">
                <a16:creationId xmlns:a16="http://schemas.microsoft.com/office/drawing/2014/main" id="{B53ADAB6-A26A-41B0-AA51-27784DBBFC2D}"/>
              </a:ext>
            </a:extLst>
          </p:cNvPr>
          <p:cNvSpPr>
            <a:spLocks noGrp="1" noChangeArrowheads="1"/>
          </p:cNvSpPr>
          <p:nvPr>
            <p:ph type="title"/>
          </p:nvPr>
        </p:nvSpPr>
        <p:spPr/>
        <p:txBody>
          <a:bodyPr/>
          <a:lstStyle/>
          <a:p>
            <a:pPr>
              <a:defRPr/>
            </a:pPr>
            <a:r>
              <a:rPr lang="zh-CN" altLang="en-US"/>
              <a:t>概率算法</a:t>
            </a:r>
          </a:p>
        </p:txBody>
      </p:sp>
      <p:sp>
        <p:nvSpPr>
          <p:cNvPr id="297987" name="Rectangle 3">
            <a:extLst>
              <a:ext uri="{FF2B5EF4-FFF2-40B4-BE49-F238E27FC236}">
                <a16:creationId xmlns:a16="http://schemas.microsoft.com/office/drawing/2014/main" id="{C52C32FD-0765-4AE8-9FDF-D3FBA5763CFF}"/>
              </a:ext>
            </a:extLst>
          </p:cNvPr>
          <p:cNvSpPr>
            <a:spLocks noGrp="1" noChangeArrowheads="1"/>
          </p:cNvSpPr>
          <p:nvPr>
            <p:ph type="body" idx="1"/>
          </p:nvPr>
        </p:nvSpPr>
        <p:spPr>
          <a:xfrm>
            <a:off x="323850" y="1125538"/>
            <a:ext cx="8640763" cy="5588000"/>
          </a:xfrm>
        </p:spPr>
        <p:txBody>
          <a:bodyPr/>
          <a:lstStyle/>
          <a:p>
            <a:pPr>
              <a:defRPr/>
            </a:pPr>
            <a:r>
              <a:rPr lang="zh-CN" altLang="en-US" dirty="0">
                <a:latin typeface="Tahoma" pitchFamily="34" charset="0"/>
                <a:ea typeface="+mj-ea"/>
                <a:cs typeface="Tahoma" pitchFamily="34" charset="0"/>
              </a:rPr>
              <a:t>所谓概率算法，就是</a:t>
            </a:r>
            <a:r>
              <a:rPr lang="zh-CN" altLang="en-US" dirty="0">
                <a:solidFill>
                  <a:srgbClr val="FF0000"/>
                </a:solidFill>
                <a:latin typeface="Tahoma" pitchFamily="34" charset="0"/>
                <a:ea typeface="+mj-ea"/>
                <a:cs typeface="Tahoma" pitchFamily="34" charset="0"/>
              </a:rPr>
              <a:t>带有随机操作</a:t>
            </a:r>
            <a:r>
              <a:rPr lang="zh-CN" altLang="en-US" dirty="0">
                <a:latin typeface="Tahoma" pitchFamily="34" charset="0"/>
                <a:ea typeface="+mj-ea"/>
                <a:cs typeface="Tahoma" pitchFamily="34" charset="0"/>
              </a:rPr>
              <a:t>的一类算法。这种算法</a:t>
            </a:r>
            <a:r>
              <a:rPr lang="zh-CN" altLang="en-US" dirty="0">
                <a:solidFill>
                  <a:srgbClr val="FF0000"/>
                </a:solidFill>
                <a:latin typeface="Tahoma" pitchFamily="34" charset="0"/>
                <a:ea typeface="+mj-ea"/>
                <a:cs typeface="Tahoma" pitchFamily="34" charset="0"/>
              </a:rPr>
              <a:t>在计算的某一步或某些步产生符合规定要求的随机数</a:t>
            </a:r>
            <a:r>
              <a:rPr lang="zh-CN" altLang="en-US" dirty="0">
                <a:latin typeface="Tahoma" pitchFamily="34" charset="0"/>
                <a:ea typeface="+mj-ea"/>
                <a:cs typeface="Tahoma" pitchFamily="34" charset="0"/>
              </a:rPr>
              <a:t>，然后</a:t>
            </a:r>
            <a:r>
              <a:rPr lang="zh-CN" altLang="en-US" dirty="0">
                <a:solidFill>
                  <a:srgbClr val="FF0000"/>
                </a:solidFill>
                <a:latin typeface="Tahoma" pitchFamily="34" charset="0"/>
                <a:ea typeface="+mj-ea"/>
                <a:cs typeface="Tahoma" pitchFamily="34" charset="0"/>
              </a:rPr>
              <a:t>根据产生出的随机数决定下一步的计算</a:t>
            </a:r>
            <a:r>
              <a:rPr lang="zh-CN" altLang="en-US" dirty="0">
                <a:latin typeface="Tahoma" pitchFamily="34" charset="0"/>
                <a:ea typeface="+mj-ea"/>
                <a:cs typeface="Tahoma" pitchFamily="34" charset="0"/>
              </a:rPr>
              <a:t>。</a:t>
            </a:r>
          </a:p>
          <a:p>
            <a:pPr>
              <a:defRPr/>
            </a:pPr>
            <a:r>
              <a:rPr lang="zh-CN" altLang="en-US" dirty="0">
                <a:latin typeface="Tahoma" pitchFamily="34" charset="0"/>
                <a:ea typeface="+mj-ea"/>
                <a:cs typeface="Tahoma" pitchFamily="34" charset="0"/>
              </a:rPr>
              <a:t>例如，在计算的某一步有两种选择：执行 </a:t>
            </a:r>
            <a:r>
              <a:rPr lang="en-US" altLang="zh-CN" dirty="0">
                <a:latin typeface="Tahoma" pitchFamily="34" charset="0"/>
                <a:ea typeface="Tahoma" pitchFamily="34" charset="0"/>
                <a:cs typeface="Tahoma" pitchFamily="34" charset="0"/>
              </a:rPr>
              <a:t>A </a:t>
            </a:r>
            <a:r>
              <a:rPr lang="zh-CN" altLang="en-US" dirty="0">
                <a:latin typeface="Tahoma" pitchFamily="34" charset="0"/>
                <a:ea typeface="+mj-ea"/>
                <a:cs typeface="Tahoma" pitchFamily="34" charset="0"/>
              </a:rPr>
              <a:t>或执行 </a:t>
            </a:r>
            <a:r>
              <a:rPr lang="en-US" altLang="zh-CN" dirty="0">
                <a:latin typeface="Tahoma" pitchFamily="34" charset="0"/>
                <a:ea typeface="Tahoma" pitchFamily="34" charset="0"/>
                <a:cs typeface="Tahoma" pitchFamily="34" charset="0"/>
              </a:rPr>
              <a:t>B</a:t>
            </a:r>
            <a:r>
              <a:rPr lang="zh-CN" altLang="en-US" dirty="0">
                <a:latin typeface="Tahoma" pitchFamily="34" charset="0"/>
                <a:ea typeface="+mj-ea"/>
                <a:cs typeface="Tahoma" pitchFamily="34" charset="0"/>
              </a:rPr>
              <a:t>。此时随机产生一个 </a:t>
            </a:r>
            <a:r>
              <a:rPr lang="en-US" altLang="zh-CN" dirty="0">
                <a:latin typeface="Tahoma" pitchFamily="34" charset="0"/>
                <a:ea typeface="Tahoma" pitchFamily="34" charset="0"/>
                <a:cs typeface="Tahoma" pitchFamily="34" charset="0"/>
              </a:rPr>
              <a:t>0 </a:t>
            </a:r>
            <a:r>
              <a:rPr lang="zh-CN" altLang="en-US" dirty="0">
                <a:latin typeface="Tahoma" pitchFamily="34" charset="0"/>
                <a:ea typeface="+mj-ea"/>
                <a:cs typeface="Tahoma" pitchFamily="34" charset="0"/>
              </a:rPr>
              <a:t>或 </a:t>
            </a:r>
            <a:r>
              <a:rPr lang="en-US" altLang="zh-CN" dirty="0">
                <a:latin typeface="Tahoma" pitchFamily="34" charset="0"/>
                <a:ea typeface="Tahoma" pitchFamily="34" charset="0"/>
                <a:cs typeface="Tahoma" pitchFamily="34" charset="0"/>
              </a:rPr>
              <a:t>1</a:t>
            </a:r>
            <a:r>
              <a:rPr lang="zh-CN" altLang="en-US" dirty="0">
                <a:latin typeface="Tahoma" pitchFamily="34" charset="0"/>
                <a:ea typeface="+mj-ea"/>
                <a:cs typeface="Tahoma" pitchFamily="34" charset="0"/>
              </a:rPr>
              <a:t>。若产生的是 </a:t>
            </a:r>
            <a:r>
              <a:rPr lang="en-US" altLang="zh-CN" dirty="0">
                <a:latin typeface="Tahoma" pitchFamily="34" charset="0"/>
                <a:ea typeface="Tahoma" pitchFamily="34" charset="0"/>
                <a:cs typeface="Tahoma" pitchFamily="34" charset="0"/>
              </a:rPr>
              <a:t>0 </a:t>
            </a:r>
            <a:r>
              <a:rPr lang="zh-CN" altLang="en-US" dirty="0">
                <a:latin typeface="Tahoma" pitchFamily="34" charset="0"/>
                <a:ea typeface="+mj-ea"/>
                <a:cs typeface="Tahoma" pitchFamily="34" charset="0"/>
              </a:rPr>
              <a:t>则执行 </a:t>
            </a:r>
            <a:r>
              <a:rPr lang="en-US" altLang="zh-CN" dirty="0">
                <a:latin typeface="Tahoma" pitchFamily="34" charset="0"/>
                <a:ea typeface="Tahoma" pitchFamily="34" charset="0"/>
                <a:cs typeface="Tahoma" pitchFamily="34" charset="0"/>
              </a:rPr>
              <a:t>A</a:t>
            </a:r>
            <a:r>
              <a:rPr lang="zh-CN" altLang="en-US" dirty="0">
                <a:latin typeface="Tahoma" pitchFamily="34" charset="0"/>
                <a:ea typeface="+mj-ea"/>
                <a:cs typeface="Tahoma" pitchFamily="34" charset="0"/>
              </a:rPr>
              <a:t>，若产生的是 </a:t>
            </a:r>
            <a:r>
              <a:rPr lang="en-US" altLang="zh-CN" dirty="0">
                <a:latin typeface="Tahoma" pitchFamily="34" charset="0"/>
                <a:ea typeface="Tahoma" pitchFamily="34" charset="0"/>
                <a:cs typeface="Tahoma" pitchFamily="34" charset="0"/>
              </a:rPr>
              <a:t>1</a:t>
            </a:r>
            <a:r>
              <a:rPr lang="zh-CN" altLang="en-US" dirty="0">
                <a:latin typeface="Tahoma" pitchFamily="34" charset="0"/>
                <a:ea typeface="+mj-ea"/>
                <a:cs typeface="Tahoma" pitchFamily="34" charset="0"/>
              </a:rPr>
              <a:t>则执行 </a:t>
            </a:r>
            <a:r>
              <a:rPr lang="en-US" altLang="zh-CN" dirty="0">
                <a:latin typeface="Tahoma" pitchFamily="34" charset="0"/>
                <a:ea typeface="Tahoma" pitchFamily="34" charset="0"/>
                <a:cs typeface="Tahoma" pitchFamily="34" charset="0"/>
              </a:rPr>
              <a:t>B</a:t>
            </a:r>
            <a:r>
              <a:rPr lang="zh-CN" altLang="en-US" dirty="0">
                <a:latin typeface="Tahoma" pitchFamily="34" charset="0"/>
                <a:ea typeface="+mj-ea"/>
                <a:cs typeface="Tahoma" pitchFamily="34" charset="0"/>
              </a:rPr>
              <a:t>。</a:t>
            </a:r>
          </a:p>
          <a:p>
            <a:pPr>
              <a:defRPr/>
            </a:pPr>
            <a:r>
              <a:rPr lang="zh-CN" altLang="en-US" dirty="0">
                <a:solidFill>
                  <a:srgbClr val="FF0000"/>
                </a:solidFill>
                <a:latin typeface="Tahoma" pitchFamily="34" charset="0"/>
                <a:ea typeface="+mj-ea"/>
                <a:cs typeface="Tahoma" pitchFamily="34" charset="0"/>
              </a:rPr>
              <a:t>根据掷一枚硬币的结果 </a:t>
            </a:r>
            <a:r>
              <a:rPr lang="en-US" altLang="zh-CN" dirty="0">
                <a:solidFill>
                  <a:srgbClr val="FF0000"/>
                </a:solidFill>
                <a:latin typeface="Tahoma" pitchFamily="34" charset="0"/>
                <a:ea typeface="Tahoma" pitchFamily="34" charset="0"/>
                <a:cs typeface="Tahoma" pitchFamily="34" charset="0"/>
              </a:rPr>
              <a:t>(</a:t>
            </a:r>
            <a:r>
              <a:rPr lang="zh-CN" altLang="en-US" dirty="0">
                <a:solidFill>
                  <a:srgbClr val="FF0000"/>
                </a:solidFill>
                <a:latin typeface="Tahoma" pitchFamily="34" charset="0"/>
                <a:ea typeface="+mj-ea"/>
                <a:cs typeface="Tahoma" pitchFamily="34" charset="0"/>
              </a:rPr>
              <a:t>正面或反面</a:t>
            </a:r>
            <a:r>
              <a:rPr lang="en-US" altLang="zh-CN" dirty="0">
                <a:solidFill>
                  <a:srgbClr val="FF0000"/>
                </a:solidFill>
                <a:latin typeface="Tahoma" pitchFamily="34" charset="0"/>
                <a:ea typeface="Tahoma" pitchFamily="34" charset="0"/>
                <a:cs typeface="Tahoma" pitchFamily="34" charset="0"/>
              </a:rPr>
              <a:t>) </a:t>
            </a:r>
            <a:r>
              <a:rPr lang="zh-CN" altLang="en-US" dirty="0">
                <a:solidFill>
                  <a:srgbClr val="FF0000"/>
                </a:solidFill>
                <a:latin typeface="Tahoma" pitchFamily="34" charset="0"/>
                <a:ea typeface="+mj-ea"/>
                <a:cs typeface="Tahoma" pitchFamily="34" charset="0"/>
              </a:rPr>
              <a:t>决定下一步的计算</a:t>
            </a:r>
            <a:r>
              <a:rPr lang="zh-CN" altLang="en-US" dirty="0">
                <a:latin typeface="Tahoma" pitchFamily="34" charset="0"/>
                <a:ea typeface="+mj-ea"/>
                <a:cs typeface="Tahoma" pitchFamily="34" charset="0"/>
              </a:rPr>
              <a:t>。 </a:t>
            </a:r>
          </a:p>
          <a:p>
            <a:pPr>
              <a:defRPr/>
            </a:pPr>
            <a:r>
              <a:rPr lang="zh-CN" altLang="en-US" dirty="0">
                <a:latin typeface="Tahoma" pitchFamily="34" charset="0"/>
                <a:ea typeface="+mj-ea"/>
                <a:cs typeface="Tahoma" pitchFamily="34" charset="0"/>
              </a:rPr>
              <a:t>拉宾在</a:t>
            </a:r>
            <a:r>
              <a:rPr lang="en-US" altLang="zh-CN" dirty="0">
                <a:latin typeface="Tahoma" pitchFamily="34" charset="0"/>
                <a:ea typeface="Tahoma" pitchFamily="34" charset="0"/>
                <a:cs typeface="Tahoma" pitchFamily="34" charset="0"/>
              </a:rPr>
              <a:t>1976</a:t>
            </a:r>
            <a:r>
              <a:rPr lang="zh-CN" altLang="en-US" dirty="0">
                <a:latin typeface="Tahoma" pitchFamily="34" charset="0"/>
                <a:ea typeface="+mj-ea"/>
                <a:cs typeface="Tahoma" pitchFamily="34" charset="0"/>
              </a:rPr>
              <a:t>年提出了一个判定素数的概率算法，取得了极大成功。这个算法的理论根据是：当 </a:t>
            </a:r>
            <a:r>
              <a:rPr lang="en-US" altLang="zh-CN" i="1" dirty="0">
                <a:latin typeface="Tahoma" pitchFamily="34" charset="0"/>
                <a:ea typeface="Tahoma" pitchFamily="34" charset="0"/>
                <a:cs typeface="Tahoma" pitchFamily="34" charset="0"/>
              </a:rPr>
              <a:t>n</a:t>
            </a:r>
            <a:r>
              <a:rPr lang="en-US" altLang="zh-CN" dirty="0">
                <a:latin typeface="Tahoma" pitchFamily="34" charset="0"/>
                <a:ea typeface="Tahoma" pitchFamily="34" charset="0"/>
                <a:cs typeface="Tahoma" pitchFamily="34" charset="0"/>
              </a:rPr>
              <a:t> </a:t>
            </a:r>
            <a:r>
              <a:rPr lang="zh-CN" altLang="en-US" dirty="0">
                <a:latin typeface="Tahoma" pitchFamily="34" charset="0"/>
                <a:ea typeface="+mj-ea"/>
                <a:cs typeface="Tahoma" pitchFamily="34" charset="0"/>
              </a:rPr>
              <a:t>是合数时，在 </a:t>
            </a:r>
            <a:r>
              <a:rPr lang="en-US" altLang="zh-CN" dirty="0">
                <a:latin typeface="Tahoma" pitchFamily="34" charset="0"/>
                <a:ea typeface="Tahoma" pitchFamily="34" charset="0"/>
                <a:cs typeface="Tahoma" pitchFamily="34" charset="0"/>
              </a:rPr>
              <a:t>1 </a:t>
            </a:r>
            <a:r>
              <a:rPr lang="zh-CN" altLang="en-US" dirty="0">
                <a:latin typeface="Tahoma" pitchFamily="34" charset="0"/>
                <a:ea typeface="+mj-ea"/>
                <a:cs typeface="Tahoma" pitchFamily="34" charset="0"/>
              </a:rPr>
              <a:t>到 </a:t>
            </a:r>
            <a:r>
              <a:rPr lang="en-US" altLang="zh-CN" i="1" dirty="0">
                <a:latin typeface="Tahoma" pitchFamily="34" charset="0"/>
                <a:ea typeface="Tahoma" pitchFamily="34" charset="0"/>
                <a:cs typeface="Tahoma" pitchFamily="34" charset="0"/>
              </a:rPr>
              <a:t>n</a:t>
            </a:r>
            <a:r>
              <a:rPr lang="en-US" altLang="zh-CN" dirty="0">
                <a:latin typeface="Tahoma" pitchFamily="34" charset="0"/>
                <a:ea typeface="Tahoma" pitchFamily="34" charset="0"/>
                <a:cs typeface="Tahoma" pitchFamily="34" charset="0"/>
              </a:rPr>
              <a:t>-1 </a:t>
            </a:r>
            <a:r>
              <a:rPr lang="zh-CN" altLang="en-US" dirty="0">
                <a:latin typeface="Tahoma" pitchFamily="34" charset="0"/>
                <a:ea typeface="+mj-ea"/>
                <a:cs typeface="Tahoma" pitchFamily="34" charset="0"/>
              </a:rPr>
              <a:t>的整数中有一半以上是 </a:t>
            </a:r>
            <a:r>
              <a:rPr lang="en-US" altLang="zh-CN" i="1" dirty="0">
                <a:latin typeface="Tahoma" pitchFamily="34" charset="0"/>
                <a:ea typeface="Tahoma" pitchFamily="34" charset="0"/>
                <a:cs typeface="Tahoma" pitchFamily="34" charset="0"/>
              </a:rPr>
              <a:t>n</a:t>
            </a:r>
            <a:r>
              <a:rPr lang="zh-CN" altLang="en-US" dirty="0">
                <a:latin typeface="Tahoma" pitchFamily="34" charset="0"/>
                <a:ea typeface="+mj-ea"/>
                <a:cs typeface="Tahoma" pitchFamily="34" charset="0"/>
              </a:rPr>
              <a:t>为合数的“见证”。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animEffect transition="in" filter="wipe(left)">
                                      <p:cBhvr>
                                        <p:cTn id="7" dur="500"/>
                                        <p:tgtEl>
                                          <p:spTgt spid="297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987">
                                            <p:txEl>
                                              <p:pRg st="1" end="1"/>
                                            </p:txEl>
                                          </p:spTgt>
                                        </p:tgtEl>
                                        <p:attrNameLst>
                                          <p:attrName>style.visibility</p:attrName>
                                        </p:attrNameLst>
                                      </p:cBhvr>
                                      <p:to>
                                        <p:strVal val="visible"/>
                                      </p:to>
                                    </p:set>
                                    <p:animEffect transition="in" filter="wipe(left)">
                                      <p:cBhvr>
                                        <p:cTn id="12" dur="500"/>
                                        <p:tgtEl>
                                          <p:spTgt spid="297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987">
                                            <p:txEl>
                                              <p:pRg st="2" end="2"/>
                                            </p:txEl>
                                          </p:spTgt>
                                        </p:tgtEl>
                                        <p:attrNameLst>
                                          <p:attrName>style.visibility</p:attrName>
                                        </p:attrNameLst>
                                      </p:cBhvr>
                                      <p:to>
                                        <p:strVal val="visible"/>
                                      </p:to>
                                    </p:set>
                                    <p:animEffect transition="in" filter="wipe(left)">
                                      <p:cBhvr>
                                        <p:cTn id="17" dur="500"/>
                                        <p:tgtEl>
                                          <p:spTgt spid="297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987">
                                            <p:txEl>
                                              <p:pRg st="3" end="3"/>
                                            </p:txEl>
                                          </p:spTgt>
                                        </p:tgtEl>
                                        <p:attrNameLst>
                                          <p:attrName>style.visibility</p:attrName>
                                        </p:attrNameLst>
                                      </p:cBhvr>
                                      <p:to>
                                        <p:strVal val="visible"/>
                                      </p:to>
                                    </p:set>
                                    <p:animEffect transition="in" filter="wipe(left)">
                                      <p:cBhvr>
                                        <p:cTn id="22" dur="500"/>
                                        <p:tgtEl>
                                          <p:spTgt spid="297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a:extLst>
              <a:ext uri="{FF2B5EF4-FFF2-40B4-BE49-F238E27FC236}">
                <a16:creationId xmlns:a16="http://schemas.microsoft.com/office/drawing/2014/main" id="{EAC4C712-39F9-4C7C-A0CC-2646AFA59DF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5482FE9-382B-4552-8CCF-B1E510A2F609}"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4579" name="灯片编号占位符 4">
            <a:extLst>
              <a:ext uri="{FF2B5EF4-FFF2-40B4-BE49-F238E27FC236}">
                <a16:creationId xmlns:a16="http://schemas.microsoft.com/office/drawing/2014/main" id="{043C28E8-5573-4A61-ACDF-4B63314C4D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E9336A8F-5CE6-4E46-9F7F-9D8274FE74E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22</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99010" name="Rectangle 2">
            <a:extLst>
              <a:ext uri="{FF2B5EF4-FFF2-40B4-BE49-F238E27FC236}">
                <a16:creationId xmlns:a16="http://schemas.microsoft.com/office/drawing/2014/main" id="{2F5464F0-B7F0-41FD-B4FC-72FA5E75F770}"/>
              </a:ext>
            </a:extLst>
          </p:cNvPr>
          <p:cNvSpPr>
            <a:spLocks noGrp="1" noChangeArrowheads="1"/>
          </p:cNvSpPr>
          <p:nvPr>
            <p:ph type="title"/>
          </p:nvPr>
        </p:nvSpPr>
        <p:spPr/>
        <p:txBody>
          <a:bodyPr/>
          <a:lstStyle/>
          <a:p>
            <a:pPr>
              <a:defRPr/>
            </a:pPr>
            <a:r>
              <a:rPr lang="zh-CN" altLang="en-US" dirty="0"/>
              <a:t>概率算法</a:t>
            </a:r>
          </a:p>
        </p:txBody>
      </p:sp>
      <p:sp>
        <p:nvSpPr>
          <p:cNvPr id="299011" name="Rectangle 3">
            <a:extLst>
              <a:ext uri="{FF2B5EF4-FFF2-40B4-BE49-F238E27FC236}">
                <a16:creationId xmlns:a16="http://schemas.microsoft.com/office/drawing/2014/main" id="{8223B961-B659-43C8-8968-B887F4ACC49C}"/>
              </a:ext>
            </a:extLst>
          </p:cNvPr>
          <p:cNvSpPr>
            <a:spLocks noGrp="1" noChangeArrowheads="1"/>
          </p:cNvSpPr>
          <p:nvPr>
            <p:ph type="body" idx="1"/>
          </p:nvPr>
        </p:nvSpPr>
        <p:spPr>
          <a:xfrm>
            <a:off x="323850" y="1125538"/>
            <a:ext cx="8424863" cy="5588000"/>
          </a:xfrm>
        </p:spPr>
        <p:txBody>
          <a:bodyPr/>
          <a:lstStyle/>
          <a:p>
            <a:pPr>
              <a:lnSpc>
                <a:spcPct val="110000"/>
              </a:lnSpc>
              <a:defRPr/>
            </a:pPr>
            <a:r>
              <a:rPr lang="zh-CN" altLang="en-US" sz="2000" dirty="0">
                <a:latin typeface="Tahoma" pitchFamily="34" charset="0"/>
                <a:ea typeface="+mj-ea"/>
                <a:cs typeface="Tahoma" pitchFamily="34" charset="0"/>
              </a:rPr>
              <a:t>近</a:t>
            </a:r>
            <a:r>
              <a:rPr lang="en-US" altLang="zh-CN" sz="2000" dirty="0">
                <a:latin typeface="Tahoma" pitchFamily="34" charset="0"/>
                <a:ea typeface="Tahoma" pitchFamily="34" charset="0"/>
                <a:cs typeface="Tahoma" pitchFamily="34" charset="0"/>
              </a:rPr>
              <a:t>20</a:t>
            </a:r>
            <a:r>
              <a:rPr lang="zh-CN" altLang="en-US" sz="2000" dirty="0">
                <a:latin typeface="Tahoma" pitchFamily="34" charset="0"/>
                <a:ea typeface="+mj-ea"/>
                <a:cs typeface="Tahoma" pitchFamily="34" charset="0"/>
              </a:rPr>
              <a:t>年来概率算法在非数值计算中得到很好的应用。例如，已经设计出关于排序和搜索、素数判定、有限域上的多项式分解和求根、字符串的模式匹配等方面的有效概率算法。概率算法同样也应用到并行计算中，得到概率并行算法。</a:t>
            </a:r>
          </a:p>
          <a:p>
            <a:pPr>
              <a:lnSpc>
                <a:spcPct val="110000"/>
              </a:lnSpc>
              <a:defRPr/>
            </a:pPr>
            <a:r>
              <a:rPr lang="zh-CN" altLang="en-US" sz="1800" dirty="0">
                <a:latin typeface="Tahoma" pitchFamily="34" charset="0"/>
                <a:ea typeface="+mj-ea"/>
                <a:cs typeface="Tahoma" pitchFamily="34" charset="0"/>
              </a:rPr>
              <a:t>概率算法在分布式计算、通信、信息检索、计算几何、密码学等方面都有广泛的应用。</a:t>
            </a:r>
            <a:endParaRPr lang="zh-CN" altLang="en-US" sz="2000" dirty="0">
              <a:latin typeface="Tahoma" pitchFamily="34" charset="0"/>
              <a:ea typeface="+mj-ea"/>
              <a:cs typeface="Tahoma" pitchFamily="34" charset="0"/>
            </a:endParaRPr>
          </a:p>
          <a:p>
            <a:pPr>
              <a:lnSpc>
                <a:spcPct val="110000"/>
              </a:lnSpc>
              <a:defRPr/>
            </a:pPr>
            <a:r>
              <a:rPr lang="zh-CN" altLang="en-US" sz="1800" dirty="0">
                <a:latin typeface="Tahoma" pitchFamily="34" charset="0"/>
                <a:ea typeface="+mj-ea"/>
                <a:cs typeface="Tahoma" pitchFamily="34" charset="0"/>
              </a:rPr>
              <a:t>目前，在连接高度并行的计算机的专用网络上发送信息的算法就是拉宾的另一个同事瓦里安特</a:t>
            </a:r>
            <a:r>
              <a:rPr lang="en-US" altLang="zh-CN" sz="1800" dirty="0">
                <a:latin typeface="Tahoma" pitchFamily="34" charset="0"/>
                <a:ea typeface="Tahoma" pitchFamily="34" charset="0"/>
                <a:cs typeface="Tahoma" pitchFamily="34" charset="0"/>
              </a:rPr>
              <a:t>(L</a:t>
            </a:r>
            <a:r>
              <a:rPr lang="zh-CN" altLang="en-US" sz="1800" dirty="0">
                <a:latin typeface="Tahoma" pitchFamily="34" charset="0"/>
                <a:ea typeface="+mj-ea"/>
                <a:cs typeface="Tahoma" pitchFamily="34" charset="0"/>
              </a:rPr>
              <a:t>．</a:t>
            </a:r>
            <a:r>
              <a:rPr lang="en-US" altLang="zh-CN" sz="1800" dirty="0">
                <a:latin typeface="Tahoma" pitchFamily="34" charset="0"/>
                <a:ea typeface="Tahoma" pitchFamily="34" charset="0"/>
                <a:cs typeface="Tahoma" pitchFamily="34" charset="0"/>
              </a:rPr>
              <a:t>Valiant)</a:t>
            </a:r>
            <a:r>
              <a:rPr lang="zh-CN" altLang="en-US" sz="1800" dirty="0">
                <a:latin typeface="Tahoma" pitchFamily="34" charset="0"/>
                <a:ea typeface="+mj-ea"/>
                <a:cs typeface="Tahoma" pitchFamily="34" charset="0"/>
              </a:rPr>
              <a:t>所设计的一种随机算法，这种算法</a:t>
            </a:r>
            <a:r>
              <a:rPr lang="zh-CN" altLang="en-US" sz="1800" dirty="0">
                <a:solidFill>
                  <a:srgbClr val="FF0000"/>
                </a:solidFill>
                <a:latin typeface="Tahoma" pitchFamily="34" charset="0"/>
                <a:ea typeface="+mj-ea"/>
                <a:cs typeface="Tahoma" pitchFamily="34" charset="0"/>
              </a:rPr>
              <a:t>不将信息直接发往目的地，而是先发送到任意一个节点，然后再由该节点发往目的地</a:t>
            </a:r>
            <a:r>
              <a:rPr lang="zh-CN" altLang="en-US" sz="1800" dirty="0">
                <a:latin typeface="Tahoma" pitchFamily="34" charset="0"/>
                <a:ea typeface="+mj-ea"/>
                <a:cs typeface="Tahoma" pitchFamily="34" charset="0"/>
              </a:rPr>
              <a:t>。瓦里安特证明这种看上去似乎疯了的方法能有效地减少网络中的竞争，避免阻塞。这正是随机化的威力和魅力所在。 </a:t>
            </a:r>
          </a:p>
          <a:p>
            <a:pPr>
              <a:lnSpc>
                <a:spcPct val="110000"/>
              </a:lnSpc>
              <a:defRPr/>
            </a:pPr>
            <a:r>
              <a:rPr lang="zh-CN" altLang="en-US" sz="1800" dirty="0">
                <a:latin typeface="Tahoma" pitchFamily="34" charset="0"/>
                <a:ea typeface="+mj-ea"/>
                <a:cs typeface="Tahoma" pitchFamily="34" charset="0"/>
              </a:rPr>
              <a:t>在密码技术中目前广泛采用的公开密钥体制 </a:t>
            </a:r>
            <a:r>
              <a:rPr lang="en-US" altLang="zh-CN" sz="1800" dirty="0">
                <a:latin typeface="Tahoma" pitchFamily="34" charset="0"/>
                <a:ea typeface="Tahoma" pitchFamily="34" charset="0"/>
                <a:cs typeface="Tahoma" pitchFamily="34" charset="0"/>
              </a:rPr>
              <a:t>(public key) </a:t>
            </a:r>
            <a:r>
              <a:rPr lang="zh-CN" altLang="en-US" sz="1800" dirty="0">
                <a:latin typeface="Tahoma" pitchFamily="34" charset="0"/>
                <a:ea typeface="+mj-ea"/>
                <a:cs typeface="Tahoma" pitchFamily="34" charset="0"/>
              </a:rPr>
              <a:t>和 </a:t>
            </a:r>
            <a:r>
              <a:rPr lang="en-US" altLang="zh-CN" sz="1800" dirty="0">
                <a:latin typeface="Tahoma" pitchFamily="34" charset="0"/>
                <a:ea typeface="Tahoma" pitchFamily="34" charset="0"/>
                <a:cs typeface="Tahoma" pitchFamily="34" charset="0"/>
              </a:rPr>
              <a:t>RSA </a:t>
            </a:r>
            <a:r>
              <a:rPr lang="zh-CN" altLang="en-US" sz="1800" dirty="0">
                <a:latin typeface="Tahoma" pitchFamily="34" charset="0"/>
                <a:ea typeface="+mj-ea"/>
                <a:cs typeface="Tahoma" pitchFamily="34" charset="0"/>
              </a:rPr>
              <a:t>算法</a:t>
            </a:r>
            <a:r>
              <a:rPr lang="en-US" altLang="zh-CN" sz="1800" dirty="0">
                <a:latin typeface="Tahoma" pitchFamily="34" charset="0"/>
                <a:ea typeface="Tahoma" pitchFamily="34" charset="0"/>
                <a:cs typeface="Tahoma" pitchFamily="34" charset="0"/>
              </a:rPr>
              <a:t>(</a:t>
            </a:r>
            <a:r>
              <a:rPr lang="en-US" altLang="zh-CN" sz="1800" dirty="0" err="1">
                <a:latin typeface="Tahoma" pitchFamily="34" charset="0"/>
                <a:ea typeface="Tahoma" pitchFamily="34" charset="0"/>
                <a:cs typeface="Tahoma" pitchFamily="34" charset="0"/>
              </a:rPr>
              <a:t>Rivest</a:t>
            </a:r>
            <a:r>
              <a:rPr lang="en-US" altLang="zh-CN" sz="1800" dirty="0">
                <a:latin typeface="Tahoma" pitchFamily="34" charset="0"/>
                <a:ea typeface="Tahoma" pitchFamily="34" charset="0"/>
                <a:cs typeface="Tahoma" pitchFamily="34" charset="0"/>
              </a:rPr>
              <a:t>—</a:t>
            </a:r>
            <a:r>
              <a:rPr lang="en-US" altLang="zh-CN" sz="1800" dirty="0" err="1">
                <a:latin typeface="Tahoma" pitchFamily="34" charset="0"/>
                <a:ea typeface="Tahoma" pitchFamily="34" charset="0"/>
                <a:cs typeface="Tahoma" pitchFamily="34" charset="0"/>
              </a:rPr>
              <a:t>Shsmjr</a:t>
            </a:r>
            <a:r>
              <a:rPr lang="en-US" altLang="zh-CN" sz="1800" dirty="0">
                <a:latin typeface="Tahoma" pitchFamily="34" charset="0"/>
                <a:ea typeface="Tahoma" pitchFamily="34" charset="0"/>
                <a:cs typeface="Tahoma" pitchFamily="34" charset="0"/>
              </a:rPr>
              <a:t>—</a:t>
            </a:r>
            <a:r>
              <a:rPr lang="en-US" altLang="zh-CN" sz="1800" dirty="0" err="1">
                <a:latin typeface="Tahoma" pitchFamily="34" charset="0"/>
                <a:ea typeface="Tahoma" pitchFamily="34" charset="0"/>
                <a:cs typeface="Tahoma" pitchFamily="34" charset="0"/>
              </a:rPr>
              <a:t>Adleman</a:t>
            </a:r>
            <a:r>
              <a:rPr lang="en-US" altLang="zh-CN" sz="1800" dirty="0">
                <a:latin typeface="Tahoma" pitchFamily="34" charset="0"/>
                <a:ea typeface="Tahoma" pitchFamily="34" charset="0"/>
                <a:cs typeface="Tahoma" pitchFamily="34" charset="0"/>
              </a:rPr>
              <a:t> algorithm) </a:t>
            </a:r>
            <a:r>
              <a:rPr lang="zh-CN" altLang="en-US" sz="1800" dirty="0">
                <a:latin typeface="Tahoma" pitchFamily="34" charset="0"/>
                <a:ea typeface="+mj-ea"/>
                <a:cs typeface="Tahoma" pitchFamily="34" charset="0"/>
              </a:rPr>
              <a:t>也使用了拉宾的随机化和概率技术。</a:t>
            </a:r>
          </a:p>
          <a:p>
            <a:pPr>
              <a:lnSpc>
                <a:spcPct val="110000"/>
              </a:lnSpc>
              <a:defRPr/>
            </a:pPr>
            <a:r>
              <a:rPr lang="en-US" altLang="zh-CN" sz="1800" dirty="0">
                <a:latin typeface="Tahoma" pitchFamily="34" charset="0"/>
                <a:ea typeface="Tahoma" pitchFamily="34" charset="0"/>
                <a:cs typeface="Tahoma" pitchFamily="34" charset="0"/>
              </a:rPr>
              <a:t>1988</a:t>
            </a:r>
            <a:r>
              <a:rPr lang="zh-CN" altLang="en-US" sz="1800" dirty="0">
                <a:latin typeface="Tahoma" pitchFamily="34" charset="0"/>
                <a:ea typeface="+mj-ea"/>
                <a:cs typeface="Tahoma" pitchFamily="34" charset="0"/>
              </a:rPr>
              <a:t>年</a:t>
            </a:r>
            <a:r>
              <a:rPr lang="en-US" altLang="zh-CN" sz="1800" dirty="0">
                <a:latin typeface="Tahoma" pitchFamily="34" charset="0"/>
                <a:ea typeface="Tahoma" pitchFamily="34" charset="0"/>
                <a:cs typeface="Tahoma" pitchFamily="34" charset="0"/>
              </a:rPr>
              <a:t>11</a:t>
            </a:r>
            <a:r>
              <a:rPr lang="zh-CN" altLang="en-US" sz="1800" dirty="0">
                <a:latin typeface="Tahoma" pitchFamily="34" charset="0"/>
                <a:ea typeface="+mj-ea"/>
                <a:cs typeface="Tahoma" pitchFamily="34" charset="0"/>
              </a:rPr>
              <a:t>月在 </a:t>
            </a:r>
            <a:r>
              <a:rPr lang="en-US" altLang="zh-CN" sz="1800" dirty="0">
                <a:latin typeface="Tahoma" pitchFamily="34" charset="0"/>
                <a:ea typeface="Tahoma" pitchFamily="34" charset="0"/>
                <a:cs typeface="Tahoma" pitchFamily="34" charset="0"/>
              </a:rPr>
              <a:t>Internet </a:t>
            </a:r>
            <a:r>
              <a:rPr lang="zh-CN" altLang="en-US" sz="1800" dirty="0">
                <a:latin typeface="Tahoma" pitchFamily="34" charset="0"/>
                <a:ea typeface="+mj-ea"/>
                <a:cs typeface="Tahoma" pitchFamily="34" charset="0"/>
              </a:rPr>
              <a:t>上广泛传播的病毒正是拉宾在哈佛大学时的一个大学生罗伯特</a:t>
            </a:r>
            <a:r>
              <a:rPr lang="en-US" altLang="zh-CN" sz="1800" dirty="0">
                <a:latin typeface="Tahoma" pitchFamily="34" charset="0"/>
                <a:ea typeface="Tahoma" pitchFamily="34" charset="0"/>
                <a:cs typeface="Tahoma" pitchFamily="34" charset="0"/>
              </a:rPr>
              <a:t>•</a:t>
            </a:r>
            <a:r>
              <a:rPr lang="zh-CN" altLang="en-US" sz="1800" dirty="0">
                <a:latin typeface="Tahoma" pitchFamily="34" charset="0"/>
                <a:ea typeface="+mj-ea"/>
                <a:cs typeface="Tahoma" pitchFamily="34" charset="0"/>
              </a:rPr>
              <a:t>莫里斯</a:t>
            </a:r>
            <a:r>
              <a:rPr lang="en-US" altLang="zh-CN" sz="1800" dirty="0">
                <a:latin typeface="Tahoma" pitchFamily="34" charset="0"/>
                <a:ea typeface="Tahoma" pitchFamily="34" charset="0"/>
                <a:cs typeface="Tahoma" pitchFamily="34" charset="0"/>
              </a:rPr>
              <a:t>(Robert Tappan Morris)</a:t>
            </a:r>
            <a:r>
              <a:rPr lang="zh-CN" altLang="en-US" sz="1800" dirty="0">
                <a:latin typeface="Tahoma" pitchFamily="34" charset="0"/>
                <a:ea typeface="+mj-ea"/>
                <a:cs typeface="Tahoma" pitchFamily="34" charset="0"/>
              </a:rPr>
              <a:t>利用学到的随机化技术设计出来并加以传播的。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animEffect transition="in" filter="wipe(left)">
                                      <p:cBhvr>
                                        <p:cTn id="7" dur="500"/>
                                        <p:tgtEl>
                                          <p:spTgt spid="299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9011">
                                            <p:txEl>
                                              <p:pRg st="1" end="1"/>
                                            </p:txEl>
                                          </p:spTgt>
                                        </p:tgtEl>
                                        <p:attrNameLst>
                                          <p:attrName>style.visibility</p:attrName>
                                        </p:attrNameLst>
                                      </p:cBhvr>
                                      <p:to>
                                        <p:strVal val="visible"/>
                                      </p:to>
                                    </p:set>
                                    <p:animEffect transition="in" filter="wipe(left)">
                                      <p:cBhvr>
                                        <p:cTn id="12" dur="500"/>
                                        <p:tgtEl>
                                          <p:spTgt spid="299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9011">
                                            <p:txEl>
                                              <p:pRg st="2" end="2"/>
                                            </p:txEl>
                                          </p:spTgt>
                                        </p:tgtEl>
                                        <p:attrNameLst>
                                          <p:attrName>style.visibility</p:attrName>
                                        </p:attrNameLst>
                                      </p:cBhvr>
                                      <p:to>
                                        <p:strVal val="visible"/>
                                      </p:to>
                                    </p:set>
                                    <p:animEffect transition="in" filter="wipe(left)">
                                      <p:cBhvr>
                                        <p:cTn id="17" dur="500"/>
                                        <p:tgtEl>
                                          <p:spTgt spid="299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9011">
                                            <p:txEl>
                                              <p:pRg st="3" end="3"/>
                                            </p:txEl>
                                          </p:spTgt>
                                        </p:tgtEl>
                                        <p:attrNameLst>
                                          <p:attrName>style.visibility</p:attrName>
                                        </p:attrNameLst>
                                      </p:cBhvr>
                                      <p:to>
                                        <p:strVal val="visible"/>
                                      </p:to>
                                    </p:set>
                                    <p:animEffect transition="in" filter="wipe(left)">
                                      <p:cBhvr>
                                        <p:cTn id="22" dur="500"/>
                                        <p:tgtEl>
                                          <p:spTgt spid="2990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9011">
                                            <p:txEl>
                                              <p:pRg st="4" end="4"/>
                                            </p:txEl>
                                          </p:spTgt>
                                        </p:tgtEl>
                                        <p:attrNameLst>
                                          <p:attrName>style.visibility</p:attrName>
                                        </p:attrNameLst>
                                      </p:cBhvr>
                                      <p:to>
                                        <p:strVal val="visible"/>
                                      </p:to>
                                    </p:set>
                                    <p:animEffect transition="in" filter="wipe(left)">
                                      <p:cBhvr>
                                        <p:cTn id="27" dur="500"/>
                                        <p:tgtEl>
                                          <p:spTgt spid="2990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a:extLst>
              <a:ext uri="{FF2B5EF4-FFF2-40B4-BE49-F238E27FC236}">
                <a16:creationId xmlns:a16="http://schemas.microsoft.com/office/drawing/2014/main" id="{04F285CF-495F-41F6-A363-CD26CF53F90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01F1558F-9FE9-4F70-8F27-33CBD208663B}"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5603" name="灯片编号占位符 4">
            <a:extLst>
              <a:ext uri="{FF2B5EF4-FFF2-40B4-BE49-F238E27FC236}">
                <a16:creationId xmlns:a16="http://schemas.microsoft.com/office/drawing/2014/main" id="{8E12551F-9C91-4CF5-8381-D955332C68A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A80D0CC-CA1F-468D-9407-9BF862FDDA43}"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23</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25604" name="AutoShape 2">
            <a:extLst>
              <a:ext uri="{FF2B5EF4-FFF2-40B4-BE49-F238E27FC236}">
                <a16:creationId xmlns:a16="http://schemas.microsoft.com/office/drawing/2014/main" id="{B974EEE9-1281-44DB-BB44-7A0CCA5D3C32}"/>
              </a:ext>
            </a:extLst>
          </p:cNvPr>
          <p:cNvSpPr>
            <a:spLocks noChangeArrowheads="1"/>
          </p:cNvSpPr>
          <p:nvPr/>
        </p:nvSpPr>
        <p:spPr bwMode="gray">
          <a:xfrm>
            <a:off x="296863" y="950913"/>
            <a:ext cx="8596312" cy="3990975"/>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00035" name="AutoShape 3">
            <a:extLst>
              <a:ext uri="{FF2B5EF4-FFF2-40B4-BE49-F238E27FC236}">
                <a16:creationId xmlns:a16="http://schemas.microsoft.com/office/drawing/2014/main" id="{F2A6C683-EC67-4F16-8745-C5E357862514}"/>
              </a:ext>
            </a:extLst>
          </p:cNvPr>
          <p:cNvSpPr>
            <a:spLocks noChangeArrowheads="1"/>
          </p:cNvSpPr>
          <p:nvPr/>
        </p:nvSpPr>
        <p:spPr bwMode="gray">
          <a:xfrm>
            <a:off x="461963" y="1052513"/>
            <a:ext cx="1130300" cy="1063625"/>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00036" name="Freeform 4">
            <a:extLst>
              <a:ext uri="{FF2B5EF4-FFF2-40B4-BE49-F238E27FC236}">
                <a16:creationId xmlns:a16="http://schemas.microsoft.com/office/drawing/2014/main" id="{F2C8D713-670F-4870-9DE2-8A2C9E239092}"/>
              </a:ext>
            </a:extLst>
          </p:cNvPr>
          <p:cNvSpPr>
            <a:spLocks/>
          </p:cNvSpPr>
          <p:nvPr/>
        </p:nvSpPr>
        <p:spPr bwMode="gray">
          <a:xfrm>
            <a:off x="533400" y="1346200"/>
            <a:ext cx="563563" cy="53181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00037" name="Text Box 5">
            <a:extLst>
              <a:ext uri="{FF2B5EF4-FFF2-40B4-BE49-F238E27FC236}">
                <a16:creationId xmlns:a16="http://schemas.microsoft.com/office/drawing/2014/main" id="{EC419E0F-9928-4EE7-984E-67511BC366D0}"/>
              </a:ext>
            </a:extLst>
          </p:cNvPr>
          <p:cNvSpPr txBox="1">
            <a:spLocks noChangeArrowheads="1"/>
          </p:cNvSpPr>
          <p:nvPr/>
        </p:nvSpPr>
        <p:spPr bwMode="gray">
          <a:xfrm>
            <a:off x="617538" y="1243013"/>
            <a:ext cx="858837" cy="457200"/>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定义</a:t>
            </a:r>
            <a:endParaRPr lang="en-US" altLang="zh-CN" sz="2400" b="1" dirty="0">
              <a:effectLst>
                <a:outerShdw blurRad="38100" dist="38100" dir="2700000" algn="tl">
                  <a:srgbClr val="C0C0C0"/>
                </a:outerShdw>
              </a:effectLst>
              <a:latin typeface="+mj-ea"/>
              <a:ea typeface="+mj-ea"/>
            </a:endParaRPr>
          </a:p>
        </p:txBody>
      </p:sp>
      <p:sp>
        <p:nvSpPr>
          <p:cNvPr id="300038" name="Text Box 6">
            <a:extLst>
              <a:ext uri="{FF2B5EF4-FFF2-40B4-BE49-F238E27FC236}">
                <a16:creationId xmlns:a16="http://schemas.microsoft.com/office/drawing/2014/main" id="{6422F4DC-C7B1-42DE-BA36-A6F2B9195263}"/>
              </a:ext>
            </a:extLst>
          </p:cNvPr>
          <p:cNvSpPr txBox="1">
            <a:spLocks noChangeArrowheads="1"/>
          </p:cNvSpPr>
          <p:nvPr/>
        </p:nvSpPr>
        <p:spPr bwMode="gray">
          <a:xfrm>
            <a:off x="1547813" y="981075"/>
            <a:ext cx="7127875" cy="387667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0000"/>
              </a:lnSpc>
              <a:spcBef>
                <a:spcPct val="15000"/>
              </a:spcBef>
              <a:defRPr/>
            </a:pPr>
            <a:r>
              <a:rPr kumimoji="1" lang="zh-CN" altLang="en-US" sz="2400" b="1" dirty="0">
                <a:latin typeface="Tahoma" pitchFamily="34" charset="0"/>
                <a:ea typeface="+mj-ea"/>
                <a:cs typeface="Tahoma" pitchFamily="34" charset="0"/>
              </a:rPr>
              <a:t>概率图灵机</a:t>
            </a:r>
            <a:r>
              <a:rPr kumimoji="1" lang="zh-CN" altLang="en-US" sz="2400" b="1" dirty="0">
                <a:solidFill>
                  <a:schemeClr val="tx1"/>
                </a:solidFill>
                <a:latin typeface="Tahoma" pitchFamily="34" charset="0"/>
                <a:ea typeface="+mj-ea"/>
                <a:cs typeface="Tahoma" pitchFamily="34" charset="0"/>
              </a:rPr>
              <a:t> </a:t>
            </a:r>
            <a:r>
              <a:rPr kumimoji="1" lang="en-US" altLang="zh-CN" sz="2400" b="1" i="1" dirty="0">
                <a:solidFill>
                  <a:schemeClr val="tx1"/>
                </a:solidFill>
                <a:latin typeface="Tahoma" pitchFamily="34" charset="0"/>
                <a:ea typeface="Tahoma" pitchFamily="34" charset="0"/>
                <a:cs typeface="Tahoma" pitchFamily="34" charset="0"/>
              </a:rPr>
              <a:t>M </a:t>
            </a:r>
            <a:r>
              <a:rPr kumimoji="1" lang="zh-CN" altLang="en-US" sz="2400" b="1" dirty="0">
                <a:solidFill>
                  <a:schemeClr val="tx1"/>
                </a:solidFill>
                <a:latin typeface="Tahoma" pitchFamily="34" charset="0"/>
                <a:ea typeface="+mj-ea"/>
                <a:cs typeface="Tahoma" pitchFamily="34" charset="0"/>
              </a:rPr>
              <a:t>是一种非确定型图灵机，它的每一非确定性步，称做</a:t>
            </a:r>
            <a:r>
              <a:rPr kumimoji="1" lang="zh-CN" altLang="en-US" sz="2400" b="1" dirty="0">
                <a:latin typeface="Tahoma" pitchFamily="34" charset="0"/>
                <a:ea typeface="+mj-ea"/>
                <a:cs typeface="Tahoma" pitchFamily="34" charset="0"/>
              </a:rPr>
              <a:t>掷硬币步 </a:t>
            </a:r>
            <a:r>
              <a:rPr kumimoji="1" lang="en-US" altLang="zh-CN" sz="2400" b="1" dirty="0">
                <a:solidFill>
                  <a:schemeClr val="tx1"/>
                </a:solidFill>
                <a:latin typeface="Tahoma" pitchFamily="34" charset="0"/>
                <a:ea typeface="Tahoma" pitchFamily="34" charset="0"/>
                <a:cs typeface="Tahoma" pitchFamily="34" charset="0"/>
              </a:rPr>
              <a:t>(coin-flip step)</a:t>
            </a:r>
            <a:r>
              <a:rPr kumimoji="1" lang="zh-CN" altLang="en-US" sz="2400" b="1" dirty="0">
                <a:solidFill>
                  <a:schemeClr val="tx1"/>
                </a:solidFill>
                <a:latin typeface="Tahoma" pitchFamily="34" charset="0"/>
                <a:ea typeface="+mj-ea"/>
                <a:cs typeface="Tahoma" pitchFamily="34" charset="0"/>
              </a:rPr>
              <a:t>，并且有两个合法的下次动作。按照下述方式把概率赋给 </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对输入 </a:t>
            </a:r>
            <a:r>
              <a:rPr kumimoji="1" lang="en-US" altLang="zh-CN" sz="2400" b="1" i="1" dirty="0">
                <a:solidFill>
                  <a:schemeClr val="tx1"/>
                </a:solidFill>
                <a:latin typeface="Tahoma" pitchFamily="34" charset="0"/>
                <a:ea typeface="Tahoma" pitchFamily="34" charset="0"/>
                <a:cs typeface="Tahoma" pitchFamily="34" charset="0"/>
              </a:rPr>
              <a:t>w</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的每一个计算分支 </a:t>
            </a:r>
            <a:r>
              <a:rPr kumimoji="1" lang="en-US" altLang="zh-CN" sz="2400" b="1" i="1" dirty="0">
                <a:solidFill>
                  <a:schemeClr val="tx1"/>
                </a:solidFill>
                <a:latin typeface="Tahoma" pitchFamily="34" charset="0"/>
                <a:ea typeface="Tahoma" pitchFamily="34" charset="0"/>
                <a:cs typeface="Tahoma" pitchFamily="34" charset="0"/>
              </a:rPr>
              <a:t>b</a:t>
            </a:r>
            <a:r>
              <a:rPr kumimoji="1" lang="zh-CN" altLang="en-US" sz="2400" b="1" dirty="0">
                <a:solidFill>
                  <a:schemeClr val="tx1"/>
                </a:solidFill>
                <a:latin typeface="Tahoma" pitchFamily="34" charset="0"/>
                <a:ea typeface="+mj-ea"/>
                <a:cs typeface="Tahoma" pitchFamily="34" charset="0"/>
              </a:rPr>
              <a:t>。定义分支 </a:t>
            </a:r>
            <a:r>
              <a:rPr kumimoji="1" lang="en-US" altLang="zh-CN" sz="2400" b="1" i="1" dirty="0">
                <a:solidFill>
                  <a:schemeClr val="tx1"/>
                </a:solidFill>
                <a:latin typeface="Tahoma" pitchFamily="34" charset="0"/>
                <a:ea typeface="Tahoma" pitchFamily="34" charset="0"/>
                <a:cs typeface="Tahoma" pitchFamily="34" charset="0"/>
              </a:rPr>
              <a:t>b</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的概率为</a:t>
            </a:r>
          </a:p>
          <a:p>
            <a:pPr algn="ctr">
              <a:lnSpc>
                <a:spcPct val="110000"/>
              </a:lnSpc>
              <a:spcBef>
                <a:spcPct val="15000"/>
              </a:spcBef>
              <a:defRPr/>
            </a:pPr>
            <a:r>
              <a:rPr kumimoji="1" lang="en-US" altLang="zh-CN" sz="2400" b="1" dirty="0" err="1">
                <a:solidFill>
                  <a:schemeClr val="tx1"/>
                </a:solidFill>
                <a:latin typeface="Tahoma" pitchFamily="34" charset="0"/>
                <a:ea typeface="Tahoma" pitchFamily="34" charset="0"/>
                <a:cs typeface="Tahoma" pitchFamily="34" charset="0"/>
              </a:rPr>
              <a:t>Pr</a:t>
            </a:r>
            <a:r>
              <a:rPr kumimoji="1" lang="en-US" altLang="zh-CN" sz="2400" b="1" dirty="0">
                <a:solidFill>
                  <a:schemeClr val="tx1"/>
                </a:solidFill>
                <a:latin typeface="Tahoma" pitchFamily="34" charset="0"/>
                <a:ea typeface="Tahoma" pitchFamily="34" charset="0"/>
                <a:cs typeface="Tahoma" pitchFamily="34" charset="0"/>
              </a:rPr>
              <a:t>[</a:t>
            </a:r>
            <a:r>
              <a:rPr kumimoji="1" lang="en-US" altLang="zh-CN" sz="2400" b="1" i="1" dirty="0">
                <a:solidFill>
                  <a:schemeClr val="tx1"/>
                </a:solidFill>
                <a:latin typeface="Tahoma" pitchFamily="34" charset="0"/>
                <a:ea typeface="Tahoma" pitchFamily="34" charset="0"/>
                <a:cs typeface="Tahoma" pitchFamily="34" charset="0"/>
              </a:rPr>
              <a:t>b</a:t>
            </a:r>
            <a:r>
              <a:rPr kumimoji="1" lang="en-US" altLang="zh-CN" sz="2400" b="1" dirty="0">
                <a:solidFill>
                  <a:schemeClr val="tx1"/>
                </a:solidFill>
                <a:latin typeface="Tahoma" pitchFamily="34" charset="0"/>
                <a:ea typeface="Tahoma" pitchFamily="34" charset="0"/>
                <a:cs typeface="Tahoma" pitchFamily="34" charset="0"/>
              </a:rPr>
              <a:t>] = 2</a:t>
            </a:r>
            <a:r>
              <a:rPr kumimoji="1" lang="en-US" altLang="zh-CN" sz="2400" b="1" baseline="50000" dirty="0">
                <a:solidFill>
                  <a:schemeClr val="tx1"/>
                </a:solidFill>
                <a:latin typeface="Tahoma" pitchFamily="34" charset="0"/>
                <a:ea typeface="Tahoma" pitchFamily="34" charset="0"/>
                <a:cs typeface="Tahoma" pitchFamily="34" charset="0"/>
              </a:rPr>
              <a:t>-</a:t>
            </a:r>
            <a:r>
              <a:rPr kumimoji="1" lang="en-US" altLang="zh-CN" sz="2400" b="1" i="1" baseline="50000" dirty="0">
                <a:solidFill>
                  <a:schemeClr val="tx1"/>
                </a:solidFill>
                <a:latin typeface="Tahoma" pitchFamily="34" charset="0"/>
                <a:ea typeface="Tahoma" pitchFamily="34" charset="0"/>
                <a:cs typeface="Tahoma" pitchFamily="34" charset="0"/>
              </a:rPr>
              <a:t>k</a:t>
            </a:r>
          </a:p>
          <a:p>
            <a:pPr>
              <a:lnSpc>
                <a:spcPct val="110000"/>
              </a:lnSpc>
              <a:spcBef>
                <a:spcPct val="15000"/>
              </a:spcBef>
              <a:defRPr/>
            </a:pPr>
            <a:r>
              <a:rPr kumimoji="1" lang="zh-CN" altLang="en-US" sz="2400" b="1" dirty="0">
                <a:solidFill>
                  <a:schemeClr val="tx1"/>
                </a:solidFill>
                <a:latin typeface="Tahoma" pitchFamily="34" charset="0"/>
                <a:ea typeface="+mj-ea"/>
                <a:cs typeface="Tahoma" pitchFamily="34" charset="0"/>
              </a:rPr>
              <a:t>其中，</a:t>
            </a:r>
            <a:r>
              <a:rPr kumimoji="1" lang="en-US" altLang="zh-CN" sz="2400" b="1" i="1" dirty="0">
                <a:solidFill>
                  <a:schemeClr val="tx1"/>
                </a:solidFill>
                <a:latin typeface="Tahoma" pitchFamily="34" charset="0"/>
                <a:ea typeface="Tahoma" pitchFamily="34" charset="0"/>
                <a:cs typeface="Tahoma" pitchFamily="34" charset="0"/>
              </a:rPr>
              <a:t>k </a:t>
            </a:r>
            <a:r>
              <a:rPr kumimoji="1" lang="zh-CN" altLang="en-US" sz="2400" b="1" dirty="0">
                <a:solidFill>
                  <a:schemeClr val="tx1"/>
                </a:solidFill>
                <a:latin typeface="Tahoma" pitchFamily="34" charset="0"/>
                <a:ea typeface="+mj-ea"/>
                <a:cs typeface="Tahoma" pitchFamily="34" charset="0"/>
              </a:rPr>
              <a:t>是在分支 </a:t>
            </a:r>
            <a:r>
              <a:rPr kumimoji="1" lang="en-US" altLang="zh-CN" sz="2400" b="1" i="1" dirty="0">
                <a:solidFill>
                  <a:schemeClr val="tx1"/>
                </a:solidFill>
                <a:latin typeface="Tahoma" pitchFamily="34" charset="0"/>
                <a:ea typeface="Tahoma" pitchFamily="34" charset="0"/>
                <a:cs typeface="Tahoma" pitchFamily="34" charset="0"/>
              </a:rPr>
              <a:t>b</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中出现的掷硬币步的步数，定义 </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接受 </a:t>
            </a:r>
            <a:r>
              <a:rPr kumimoji="1" lang="en-US" altLang="zh-CN" sz="2400" b="1" i="1" dirty="0">
                <a:solidFill>
                  <a:schemeClr val="tx1"/>
                </a:solidFill>
                <a:latin typeface="Tahoma" pitchFamily="34" charset="0"/>
                <a:ea typeface="Tahoma" pitchFamily="34" charset="0"/>
                <a:cs typeface="Tahoma" pitchFamily="34" charset="0"/>
              </a:rPr>
              <a:t>w</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的概率为</a:t>
            </a:r>
          </a:p>
          <a:p>
            <a:pPr>
              <a:lnSpc>
                <a:spcPct val="110000"/>
              </a:lnSpc>
              <a:spcBef>
                <a:spcPct val="15000"/>
              </a:spcBef>
              <a:defRPr/>
            </a:pPr>
            <a:r>
              <a:rPr kumimoji="1" lang="zh-CN" altLang="en-US" sz="2400" b="1" dirty="0">
                <a:solidFill>
                  <a:schemeClr val="tx1"/>
                </a:solidFill>
                <a:latin typeface="Tahoma" pitchFamily="34" charset="0"/>
                <a:ea typeface="+mj-ea"/>
                <a:cs typeface="Tahoma" pitchFamily="34" charset="0"/>
              </a:rPr>
              <a:t>           </a:t>
            </a:r>
            <a:r>
              <a:rPr kumimoji="1" lang="en-US" altLang="zh-CN" sz="2400" b="1" dirty="0" err="1">
                <a:solidFill>
                  <a:schemeClr val="tx1"/>
                </a:solidFill>
                <a:latin typeface="Tahoma" pitchFamily="34" charset="0"/>
                <a:ea typeface="Tahoma" pitchFamily="34" charset="0"/>
                <a:cs typeface="Tahoma" pitchFamily="34" charset="0"/>
              </a:rPr>
              <a:t>Pr</a:t>
            </a:r>
            <a:r>
              <a:rPr kumimoji="1" lang="en-US" altLang="zh-CN" sz="2400" b="1" dirty="0">
                <a:solidFill>
                  <a:schemeClr val="tx1"/>
                </a:solidFill>
                <a:latin typeface="Tahoma" pitchFamily="34" charset="0"/>
                <a:ea typeface="Tahoma" pitchFamily="34" charset="0"/>
                <a:cs typeface="Tahoma" pitchFamily="34" charset="0"/>
              </a:rPr>
              <a:t>[ </a:t>
            </a:r>
            <a:r>
              <a:rPr kumimoji="1" lang="en-US" altLang="zh-CN" sz="2400" b="1" i="1" dirty="0">
                <a:solidFill>
                  <a:schemeClr val="tx1"/>
                </a:solidFill>
                <a:latin typeface="Tahoma" pitchFamily="34" charset="0"/>
                <a:ea typeface="Tahoma" pitchFamily="34" charset="0"/>
                <a:cs typeface="Tahoma" pitchFamily="34" charset="0"/>
              </a:rPr>
              <a:t>M</a:t>
            </a:r>
            <a:r>
              <a:rPr kumimoji="1" lang="zh-CN" altLang="en-US" sz="2400" b="1" dirty="0">
                <a:solidFill>
                  <a:schemeClr val="tx1"/>
                </a:solidFill>
                <a:latin typeface="Tahoma" pitchFamily="34" charset="0"/>
                <a:ea typeface="+mn-ea"/>
                <a:cs typeface="Tahoma" pitchFamily="34" charset="0"/>
              </a:rPr>
              <a:t>接受</a:t>
            </a:r>
            <a:r>
              <a:rPr kumimoji="1" lang="en-US" altLang="zh-CN" sz="2400" b="1" i="1" dirty="0">
                <a:solidFill>
                  <a:schemeClr val="tx1"/>
                </a:solidFill>
                <a:latin typeface="Tahoma" pitchFamily="34" charset="0"/>
                <a:ea typeface="Tahoma" pitchFamily="34" charset="0"/>
                <a:cs typeface="Tahoma" pitchFamily="34" charset="0"/>
              </a:rPr>
              <a:t>w </a:t>
            </a:r>
            <a:r>
              <a:rPr kumimoji="1" lang="en-US" altLang="zh-CN" sz="2400" b="1" dirty="0">
                <a:solidFill>
                  <a:schemeClr val="tx1"/>
                </a:solidFill>
                <a:latin typeface="Tahoma" pitchFamily="34" charset="0"/>
                <a:ea typeface="Tahoma" pitchFamily="34" charset="0"/>
                <a:cs typeface="Tahoma" pitchFamily="34" charset="0"/>
              </a:rPr>
              <a:t>] = </a:t>
            </a:r>
            <a:r>
              <a:rPr kumimoji="1" lang="en-US" altLang="zh-TW" sz="2400" b="1" dirty="0">
                <a:solidFill>
                  <a:schemeClr val="tx1"/>
                </a:solidFill>
                <a:latin typeface="Tahoma" pitchFamily="34" charset="0"/>
                <a:ea typeface="Tahoma" pitchFamily="34" charset="0"/>
                <a:cs typeface="Tahoma" pitchFamily="34" charset="0"/>
                <a:sym typeface="Symbol" panose="05050102010706020507" pitchFamily="18" charset="2"/>
              </a:rPr>
              <a:t></a:t>
            </a:r>
            <a:r>
              <a:rPr kumimoji="1" lang="en-US" altLang="zh-CN" sz="2400" b="1" i="1" baseline="-25000" dirty="0">
                <a:solidFill>
                  <a:schemeClr val="tx1"/>
                </a:solidFill>
                <a:latin typeface="Tahoma" pitchFamily="34" charset="0"/>
                <a:ea typeface="Tahoma" pitchFamily="34" charset="0"/>
                <a:cs typeface="Tahoma" pitchFamily="34" charset="0"/>
                <a:sym typeface="Symbol" panose="05050102010706020507" pitchFamily="18" charset="2"/>
              </a:rPr>
              <a:t>b</a:t>
            </a:r>
            <a:r>
              <a:rPr kumimoji="1" lang="zh-CN" altLang="en-US" sz="2400" b="1" baseline="-25000" dirty="0">
                <a:solidFill>
                  <a:schemeClr val="tx1"/>
                </a:solidFill>
                <a:latin typeface="Tahoma" pitchFamily="34" charset="0"/>
                <a:ea typeface="+mn-ea"/>
                <a:cs typeface="Tahoma" pitchFamily="34" charset="0"/>
                <a:sym typeface="Symbol" panose="05050102010706020507" pitchFamily="18" charset="2"/>
              </a:rPr>
              <a:t>是接受分支</a:t>
            </a:r>
            <a:r>
              <a:rPr kumimoji="1" lang="en-US" altLang="zh-CN" sz="2400" b="1" dirty="0" err="1">
                <a:solidFill>
                  <a:schemeClr val="tx1"/>
                </a:solidFill>
                <a:latin typeface="Tahoma" pitchFamily="34" charset="0"/>
                <a:ea typeface="Tahoma" pitchFamily="34" charset="0"/>
                <a:cs typeface="Tahoma" pitchFamily="34" charset="0"/>
                <a:sym typeface="Symbol" panose="05050102010706020507" pitchFamily="18" charset="2"/>
              </a:rPr>
              <a:t>Pr</a:t>
            </a:r>
            <a:r>
              <a:rPr kumimoji="1"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a:t>
            </a:r>
            <a:r>
              <a:rPr kumimoji="1" lang="en-US" altLang="zh-CN" sz="2400" b="1" i="1" dirty="0">
                <a:solidFill>
                  <a:schemeClr val="tx1"/>
                </a:solidFill>
                <a:latin typeface="Tahoma" pitchFamily="34" charset="0"/>
                <a:ea typeface="Tahoma" pitchFamily="34" charset="0"/>
                <a:cs typeface="Tahoma" pitchFamily="34" charset="0"/>
                <a:sym typeface="Symbol" panose="05050102010706020507" pitchFamily="18" charset="2"/>
              </a:rPr>
              <a:t>b</a:t>
            </a:r>
            <a:r>
              <a:rPr kumimoji="1"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a:t>
            </a:r>
          </a:p>
        </p:txBody>
      </p:sp>
      <p:sp>
        <p:nvSpPr>
          <p:cNvPr id="300039" name="Rectangle 7">
            <a:extLst>
              <a:ext uri="{FF2B5EF4-FFF2-40B4-BE49-F238E27FC236}">
                <a16:creationId xmlns:a16="http://schemas.microsoft.com/office/drawing/2014/main" id="{CF75313B-7E84-4C37-8E5D-2594FBFD237F}"/>
              </a:ext>
            </a:extLst>
          </p:cNvPr>
          <p:cNvSpPr>
            <a:spLocks noGrp="1" noChangeArrowheads="1"/>
          </p:cNvSpPr>
          <p:nvPr>
            <p:ph type="title"/>
          </p:nvPr>
        </p:nvSpPr>
        <p:spPr/>
        <p:txBody>
          <a:bodyPr anchor="ctr"/>
          <a:lstStyle/>
          <a:p>
            <a:pPr>
              <a:defRPr/>
            </a:pPr>
            <a:r>
              <a:rPr lang="zh-CN" altLang="en-US"/>
              <a:t>概率图灵机</a:t>
            </a:r>
          </a:p>
        </p:txBody>
      </p:sp>
      <p:sp>
        <p:nvSpPr>
          <p:cNvPr id="300040" name="Rectangle 8">
            <a:extLst>
              <a:ext uri="{FF2B5EF4-FFF2-40B4-BE49-F238E27FC236}">
                <a16:creationId xmlns:a16="http://schemas.microsoft.com/office/drawing/2014/main" id="{69C26B91-E3D5-4099-8661-38707FE0028F}"/>
              </a:ext>
            </a:extLst>
          </p:cNvPr>
          <p:cNvSpPr>
            <a:spLocks noGrp="1" noChangeArrowheads="1"/>
          </p:cNvSpPr>
          <p:nvPr>
            <p:ph type="body" idx="1"/>
          </p:nvPr>
        </p:nvSpPr>
        <p:spPr>
          <a:xfrm>
            <a:off x="323850" y="5013325"/>
            <a:ext cx="8362950" cy="1511300"/>
          </a:xfrm>
        </p:spPr>
        <p:txBody>
          <a:bodyPr/>
          <a:lstStyle/>
          <a:p>
            <a:pPr>
              <a:lnSpc>
                <a:spcPct val="90000"/>
              </a:lnSpc>
              <a:defRPr/>
            </a:pPr>
            <a:r>
              <a:rPr lang="zh-CN" altLang="en-US" dirty="0">
                <a:latin typeface="Tahoma" pitchFamily="34" charset="0"/>
                <a:ea typeface="+mj-ea"/>
                <a:cs typeface="Tahoma" pitchFamily="34" charset="0"/>
              </a:rPr>
              <a:t>换言之，如果模拟 </a:t>
            </a:r>
            <a:r>
              <a:rPr lang="en-US" altLang="zh-CN" i="1" dirty="0">
                <a:latin typeface="Tahoma" pitchFamily="34" charset="0"/>
                <a:ea typeface="Tahoma" pitchFamily="34" charset="0"/>
                <a:cs typeface="Tahoma" pitchFamily="34" charset="0"/>
              </a:rPr>
              <a:t>M</a:t>
            </a:r>
            <a:r>
              <a:rPr lang="en-US" altLang="zh-CN" dirty="0">
                <a:latin typeface="Tahoma" pitchFamily="34" charset="0"/>
                <a:ea typeface="Tahoma" pitchFamily="34" charset="0"/>
                <a:cs typeface="Tahoma" pitchFamily="34" charset="0"/>
              </a:rPr>
              <a:t> </a:t>
            </a:r>
            <a:r>
              <a:rPr lang="zh-CN" altLang="en-US" dirty="0">
                <a:latin typeface="Tahoma" pitchFamily="34" charset="0"/>
                <a:ea typeface="+mj-ea"/>
                <a:cs typeface="Tahoma" pitchFamily="34" charset="0"/>
              </a:rPr>
              <a:t>对 </a:t>
            </a:r>
            <a:r>
              <a:rPr lang="en-US" altLang="zh-CN" i="1" dirty="0">
                <a:latin typeface="Tahoma" pitchFamily="34" charset="0"/>
                <a:ea typeface="Tahoma" pitchFamily="34" charset="0"/>
                <a:cs typeface="Tahoma" pitchFamily="34" charset="0"/>
              </a:rPr>
              <a:t>w </a:t>
            </a:r>
            <a:r>
              <a:rPr lang="zh-CN" altLang="en-US" dirty="0">
                <a:latin typeface="Tahoma" pitchFamily="34" charset="0"/>
                <a:ea typeface="+mj-ea"/>
                <a:cs typeface="Tahoma" pitchFamily="34" charset="0"/>
              </a:rPr>
              <a:t>的计算，在每一掷硬币步，用掷硬币决定下一步的动作，则 </a:t>
            </a:r>
            <a:r>
              <a:rPr lang="en-US" altLang="zh-CN" i="1" dirty="0">
                <a:latin typeface="Tahoma" pitchFamily="34" charset="0"/>
                <a:ea typeface="Tahoma" pitchFamily="34" charset="0"/>
                <a:cs typeface="Tahoma" pitchFamily="34" charset="0"/>
              </a:rPr>
              <a:t>M</a:t>
            </a:r>
            <a:r>
              <a:rPr lang="en-US" altLang="zh-CN" dirty="0">
                <a:latin typeface="Tahoma" pitchFamily="34" charset="0"/>
                <a:ea typeface="Tahoma" pitchFamily="34" charset="0"/>
                <a:cs typeface="Tahoma" pitchFamily="34" charset="0"/>
              </a:rPr>
              <a:t> </a:t>
            </a:r>
            <a:r>
              <a:rPr lang="zh-CN" altLang="en-US" dirty="0">
                <a:latin typeface="Tahoma" pitchFamily="34" charset="0"/>
                <a:ea typeface="+mj-ea"/>
                <a:cs typeface="Tahoma" pitchFamily="34" charset="0"/>
              </a:rPr>
              <a:t>接受 </a:t>
            </a:r>
            <a:r>
              <a:rPr lang="en-US" altLang="zh-CN" i="1" dirty="0">
                <a:latin typeface="Tahoma" pitchFamily="34" charset="0"/>
                <a:ea typeface="Tahoma" pitchFamily="34" charset="0"/>
                <a:cs typeface="Tahoma" pitchFamily="34" charset="0"/>
              </a:rPr>
              <a:t>w</a:t>
            </a:r>
            <a:r>
              <a:rPr lang="en-US" altLang="zh-CN" dirty="0">
                <a:latin typeface="Tahoma" pitchFamily="34" charset="0"/>
                <a:ea typeface="Tahoma" pitchFamily="34" charset="0"/>
                <a:cs typeface="Tahoma" pitchFamily="34" charset="0"/>
              </a:rPr>
              <a:t> </a:t>
            </a:r>
            <a:r>
              <a:rPr lang="zh-CN" altLang="en-US" dirty="0">
                <a:latin typeface="Tahoma" pitchFamily="34" charset="0"/>
                <a:ea typeface="+mj-ea"/>
                <a:cs typeface="Tahoma" pitchFamily="34" charset="0"/>
              </a:rPr>
              <a:t>的概率等于它到达接受格局的概率。</a:t>
            </a:r>
          </a:p>
          <a:p>
            <a:pPr algn="ctr">
              <a:lnSpc>
                <a:spcPct val="90000"/>
              </a:lnSpc>
              <a:buFont typeface="Monotype Sorts" pitchFamily="2" charset="2"/>
              <a:buNone/>
              <a:defRPr/>
            </a:pPr>
            <a:r>
              <a:rPr lang="en-US" altLang="zh-CN" dirty="0" err="1">
                <a:solidFill>
                  <a:srgbClr val="FF0000"/>
                </a:solidFill>
                <a:latin typeface="Tahoma" pitchFamily="34" charset="0"/>
                <a:ea typeface="Tahoma" pitchFamily="34" charset="0"/>
                <a:cs typeface="Tahoma" pitchFamily="34" charset="0"/>
              </a:rPr>
              <a:t>Pr</a:t>
            </a:r>
            <a:r>
              <a:rPr lang="en-US" altLang="zh-CN" dirty="0">
                <a:solidFill>
                  <a:srgbClr val="FF0000"/>
                </a:solidFill>
                <a:latin typeface="Tahoma" pitchFamily="34" charset="0"/>
                <a:ea typeface="Tahoma" pitchFamily="34" charset="0"/>
                <a:cs typeface="Tahoma" pitchFamily="34" charset="0"/>
              </a:rPr>
              <a:t>[ </a:t>
            </a:r>
            <a:r>
              <a:rPr lang="en-US" altLang="zh-CN" i="1" dirty="0">
                <a:solidFill>
                  <a:srgbClr val="FF0000"/>
                </a:solidFill>
                <a:latin typeface="Tahoma" pitchFamily="34" charset="0"/>
                <a:ea typeface="Tahoma" pitchFamily="34" charset="0"/>
                <a:cs typeface="Tahoma" pitchFamily="34" charset="0"/>
              </a:rPr>
              <a:t>M </a:t>
            </a:r>
            <a:r>
              <a:rPr lang="zh-CN" altLang="en-US" dirty="0">
                <a:solidFill>
                  <a:srgbClr val="FF0000"/>
                </a:solidFill>
                <a:latin typeface="Tahoma" pitchFamily="34" charset="0"/>
                <a:cs typeface="Tahoma" pitchFamily="34" charset="0"/>
              </a:rPr>
              <a:t>拒绝 </a:t>
            </a:r>
            <a:r>
              <a:rPr lang="en-US" altLang="zh-CN" i="1" dirty="0">
                <a:solidFill>
                  <a:srgbClr val="FF0000"/>
                </a:solidFill>
                <a:latin typeface="Tahoma" pitchFamily="34" charset="0"/>
                <a:ea typeface="Tahoma" pitchFamily="34" charset="0"/>
                <a:cs typeface="Tahoma" pitchFamily="34" charset="0"/>
              </a:rPr>
              <a:t>w</a:t>
            </a:r>
            <a:r>
              <a:rPr lang="en-US" altLang="zh-CN" dirty="0">
                <a:solidFill>
                  <a:srgbClr val="FF0000"/>
                </a:solidFill>
                <a:latin typeface="Tahoma" pitchFamily="34" charset="0"/>
                <a:ea typeface="Tahoma" pitchFamily="34" charset="0"/>
                <a:cs typeface="Tahoma" pitchFamily="34" charset="0"/>
              </a:rPr>
              <a:t>]=1-Pr[ </a:t>
            </a:r>
            <a:r>
              <a:rPr lang="en-US" altLang="zh-CN" i="1" dirty="0">
                <a:solidFill>
                  <a:srgbClr val="FF0000"/>
                </a:solidFill>
                <a:latin typeface="Tahoma" pitchFamily="34" charset="0"/>
                <a:ea typeface="Tahoma" pitchFamily="34" charset="0"/>
                <a:cs typeface="Tahoma" pitchFamily="34" charset="0"/>
              </a:rPr>
              <a:t>M </a:t>
            </a:r>
            <a:r>
              <a:rPr lang="zh-CN" altLang="en-US" dirty="0">
                <a:solidFill>
                  <a:srgbClr val="FF0000"/>
                </a:solidFill>
                <a:latin typeface="Tahoma" pitchFamily="34" charset="0"/>
                <a:cs typeface="Tahoma" pitchFamily="34" charset="0"/>
              </a:rPr>
              <a:t>接受 </a:t>
            </a:r>
            <a:r>
              <a:rPr lang="en-US" altLang="zh-CN" i="1" dirty="0">
                <a:solidFill>
                  <a:srgbClr val="FF0000"/>
                </a:solidFill>
                <a:latin typeface="Tahoma" pitchFamily="34" charset="0"/>
                <a:ea typeface="Tahoma" pitchFamily="34" charset="0"/>
                <a:cs typeface="Tahoma" pitchFamily="34" charset="0"/>
              </a:rPr>
              <a:t>w</a:t>
            </a:r>
            <a:r>
              <a:rPr lang="en-US" altLang="zh-CN" dirty="0">
                <a:solidFill>
                  <a:srgbClr val="FF0000"/>
                </a:solidFill>
                <a:latin typeface="Tahoma" pitchFamily="34" charset="0"/>
                <a:ea typeface="Tahoma" pitchFamily="34" charset="0"/>
                <a:cs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8">
                                            <p:txEl>
                                              <p:pRg st="0" end="0"/>
                                            </p:txEl>
                                          </p:spTgt>
                                        </p:tgtEl>
                                        <p:attrNameLst>
                                          <p:attrName>style.visibility</p:attrName>
                                        </p:attrNameLst>
                                      </p:cBhvr>
                                      <p:to>
                                        <p:strVal val="visible"/>
                                      </p:to>
                                    </p:set>
                                    <p:animEffect transition="in" filter="wipe(left)">
                                      <p:cBhvr>
                                        <p:cTn id="7" dur="500"/>
                                        <p:tgtEl>
                                          <p:spTgt spid="3000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0038">
                                            <p:txEl>
                                              <p:pRg st="1" end="1"/>
                                            </p:txEl>
                                          </p:spTgt>
                                        </p:tgtEl>
                                        <p:attrNameLst>
                                          <p:attrName>style.visibility</p:attrName>
                                        </p:attrNameLst>
                                      </p:cBhvr>
                                      <p:to>
                                        <p:strVal val="visible"/>
                                      </p:to>
                                    </p:set>
                                    <p:animEffect transition="in" filter="wipe(left)">
                                      <p:cBhvr>
                                        <p:cTn id="12" dur="500"/>
                                        <p:tgtEl>
                                          <p:spTgt spid="3000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0038">
                                            <p:txEl>
                                              <p:pRg st="2" end="2"/>
                                            </p:txEl>
                                          </p:spTgt>
                                        </p:tgtEl>
                                        <p:attrNameLst>
                                          <p:attrName>style.visibility</p:attrName>
                                        </p:attrNameLst>
                                      </p:cBhvr>
                                      <p:to>
                                        <p:strVal val="visible"/>
                                      </p:to>
                                    </p:set>
                                    <p:animEffect transition="in" filter="wipe(left)">
                                      <p:cBhvr>
                                        <p:cTn id="17" dur="500"/>
                                        <p:tgtEl>
                                          <p:spTgt spid="30003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0038">
                                            <p:txEl>
                                              <p:pRg st="3" end="3"/>
                                            </p:txEl>
                                          </p:spTgt>
                                        </p:tgtEl>
                                        <p:attrNameLst>
                                          <p:attrName>style.visibility</p:attrName>
                                        </p:attrNameLst>
                                      </p:cBhvr>
                                      <p:to>
                                        <p:strVal val="visible"/>
                                      </p:to>
                                    </p:set>
                                    <p:animEffect transition="in" filter="wipe(left)">
                                      <p:cBhvr>
                                        <p:cTn id="22" dur="500"/>
                                        <p:tgtEl>
                                          <p:spTgt spid="30003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0040">
                                            <p:txEl>
                                              <p:pRg st="0" end="0"/>
                                            </p:txEl>
                                          </p:spTgt>
                                        </p:tgtEl>
                                        <p:attrNameLst>
                                          <p:attrName>style.visibility</p:attrName>
                                        </p:attrNameLst>
                                      </p:cBhvr>
                                      <p:to>
                                        <p:strVal val="visible"/>
                                      </p:to>
                                    </p:set>
                                    <p:animEffect transition="in" filter="wipe(left)">
                                      <p:cBhvr>
                                        <p:cTn id="27" dur="500"/>
                                        <p:tgtEl>
                                          <p:spTgt spid="300040">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0040">
                                            <p:txEl>
                                              <p:pRg st="1" end="1"/>
                                            </p:txEl>
                                          </p:spTgt>
                                        </p:tgtEl>
                                        <p:attrNameLst>
                                          <p:attrName>style.visibility</p:attrName>
                                        </p:attrNameLst>
                                      </p:cBhvr>
                                      <p:to>
                                        <p:strVal val="visible"/>
                                      </p:to>
                                    </p:set>
                                    <p:animEffect transition="in" filter="wipe(left)">
                                      <p:cBhvr>
                                        <p:cTn id="32" dur="500"/>
                                        <p:tgtEl>
                                          <p:spTgt spid="3000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8" grpId="0" build="p"/>
      <p:bldP spid="30004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4">
            <a:extLst>
              <a:ext uri="{FF2B5EF4-FFF2-40B4-BE49-F238E27FC236}">
                <a16:creationId xmlns:a16="http://schemas.microsoft.com/office/drawing/2014/main" id="{3A3F0A62-E13C-4DC9-96C5-C8B4899CAF5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991541A3-55AC-4663-A9B0-12D7FF3FD6BF}"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6627" name="灯片编号占位符 5">
            <a:extLst>
              <a:ext uri="{FF2B5EF4-FFF2-40B4-BE49-F238E27FC236}">
                <a16:creationId xmlns:a16="http://schemas.microsoft.com/office/drawing/2014/main" id="{8A31267E-0F0A-48E2-8FF4-24FAC2454A6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42F5CF27-D584-45C6-AB51-23FFD9DF920A}"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24</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1058" name="Rectangle 2">
            <a:extLst>
              <a:ext uri="{FF2B5EF4-FFF2-40B4-BE49-F238E27FC236}">
                <a16:creationId xmlns:a16="http://schemas.microsoft.com/office/drawing/2014/main" id="{345388C6-292B-4715-AC12-7A858C57B9BF}"/>
              </a:ext>
            </a:extLst>
          </p:cNvPr>
          <p:cNvSpPr>
            <a:spLocks noGrp="1" noChangeArrowheads="1"/>
          </p:cNvSpPr>
          <p:nvPr>
            <p:ph type="title"/>
          </p:nvPr>
        </p:nvSpPr>
        <p:spPr/>
        <p:txBody>
          <a:bodyPr/>
          <a:lstStyle/>
          <a:p>
            <a:pPr>
              <a:defRPr/>
            </a:pPr>
            <a:r>
              <a:rPr lang="en-US" altLang="zh-CN" b="1"/>
              <a:t>BPP</a:t>
            </a:r>
            <a:r>
              <a:rPr lang="en-US" altLang="zh-CN"/>
              <a:t> </a:t>
            </a:r>
            <a:r>
              <a:rPr lang="zh-CN" altLang="en-US"/>
              <a:t>类</a:t>
            </a:r>
          </a:p>
        </p:txBody>
      </p:sp>
      <p:sp>
        <p:nvSpPr>
          <p:cNvPr id="301059" name="Rectangle 3">
            <a:extLst>
              <a:ext uri="{FF2B5EF4-FFF2-40B4-BE49-F238E27FC236}">
                <a16:creationId xmlns:a16="http://schemas.microsoft.com/office/drawing/2014/main" id="{1D36B48F-0DF4-4BC6-8731-6E47D1942C64}"/>
              </a:ext>
            </a:extLst>
          </p:cNvPr>
          <p:cNvSpPr>
            <a:spLocks noGrp="1" noChangeArrowheads="1"/>
          </p:cNvSpPr>
          <p:nvPr>
            <p:ph type="body" sz="half" idx="1"/>
          </p:nvPr>
        </p:nvSpPr>
        <p:spPr>
          <a:xfrm>
            <a:off x="179388" y="1125538"/>
            <a:ext cx="8375650" cy="1871662"/>
          </a:xfrm>
        </p:spPr>
        <p:txBody>
          <a:bodyPr/>
          <a:lstStyle/>
          <a:p>
            <a:r>
              <a:rPr lang="zh-CN" altLang="en-US">
                <a:latin typeface="Tahoma" panose="020B0604030504040204" pitchFamily="34" charset="0"/>
                <a:ea typeface="隶书" panose="02010509060101010101" pitchFamily="49" charset="-122"/>
                <a:cs typeface="Tahoma" panose="020B0604030504040204" pitchFamily="34" charset="0"/>
              </a:rPr>
              <a:t>对于 </a:t>
            </a:r>
            <a:r>
              <a:rPr lang="en-US" altLang="zh-CN">
                <a:latin typeface="Tahoma" panose="020B0604030504040204" pitchFamily="34" charset="0"/>
                <a:ea typeface="隶书" panose="02010509060101010101" pitchFamily="49" charset="-122"/>
                <a:cs typeface="Tahoma" panose="020B0604030504040204" pitchFamily="34" charset="0"/>
              </a:rPr>
              <a:t>0 </a:t>
            </a:r>
            <a:r>
              <a:rPr lang="en-US" altLang="en-US">
                <a:latin typeface="Tahoma" panose="020B0604030504040204" pitchFamily="34" charset="0"/>
                <a:ea typeface="隶书" panose="02010509060101010101" pitchFamily="49" charset="-122"/>
                <a:cs typeface="Tahoma" panose="020B0604030504040204" pitchFamily="34" charset="0"/>
              </a:rPr>
              <a:t>≤</a:t>
            </a:r>
            <a:r>
              <a:rPr lang="en-US" altLang="zh-CN" i="1">
                <a:latin typeface="Tahoma" panose="020B0604030504040204" pitchFamily="34" charset="0"/>
                <a:ea typeface="隶书" panose="02010509060101010101" pitchFamily="49" charset="-122"/>
                <a:cs typeface="Tahoma" panose="020B0604030504040204" pitchFamily="34" charset="0"/>
              </a:rPr>
              <a:t>ε</a:t>
            </a:r>
            <a:r>
              <a:rPr lang="en-US" altLang="zh-CN">
                <a:latin typeface="Tahoma" panose="020B0604030504040204" pitchFamily="34" charset="0"/>
                <a:ea typeface="隶书" panose="02010509060101010101" pitchFamily="49" charset="-122"/>
                <a:cs typeface="Tahoma" panose="020B0604030504040204" pitchFamily="34" charset="0"/>
              </a:rPr>
              <a:t>&lt;1/2</a:t>
            </a:r>
            <a:r>
              <a:rPr lang="zh-CN" altLang="en-US">
                <a:latin typeface="Tahoma" panose="020B0604030504040204" pitchFamily="34" charset="0"/>
                <a:ea typeface="隶书" panose="02010509060101010101" pitchFamily="49" charset="-122"/>
                <a:cs typeface="Tahoma" panose="020B0604030504040204" pitchFamily="34" charset="0"/>
              </a:rPr>
              <a:t>，如果满足下面的条件则称 </a:t>
            </a:r>
            <a:r>
              <a:rPr lang="en-US" altLang="zh-CN" i="1">
                <a:latin typeface="Tahoma" panose="020B0604030504040204" pitchFamily="34" charset="0"/>
                <a:ea typeface="隶书" panose="02010509060101010101" pitchFamily="49" charset="-122"/>
                <a:cs typeface="Tahoma" panose="020B0604030504040204" pitchFamily="34" charset="0"/>
              </a:rPr>
              <a:t>M </a:t>
            </a:r>
            <a:r>
              <a:rPr lang="zh-CN" altLang="en-US">
                <a:latin typeface="Tahoma" panose="020B0604030504040204" pitchFamily="34" charset="0"/>
                <a:ea typeface="隶书" panose="02010509060101010101" pitchFamily="49" charset="-122"/>
                <a:cs typeface="Tahoma" panose="020B0604030504040204" pitchFamily="34" charset="0"/>
              </a:rPr>
              <a:t>以错误概率</a:t>
            </a:r>
            <a:r>
              <a:rPr lang="en-US" altLang="zh-CN">
                <a:latin typeface="Tahoma" panose="020B0604030504040204" pitchFamily="34" charset="0"/>
                <a:ea typeface="隶书" panose="02010509060101010101" pitchFamily="49" charset="-122"/>
                <a:cs typeface="Tahoma" panose="020B0604030504040204" pitchFamily="34" charset="0"/>
              </a:rPr>
              <a:t>ε</a:t>
            </a:r>
            <a:r>
              <a:rPr lang="zh-CN" altLang="en-US">
                <a:latin typeface="Tahoma" panose="020B0604030504040204" pitchFamily="34" charset="0"/>
                <a:ea typeface="隶书" panose="02010509060101010101" pitchFamily="49" charset="-122"/>
                <a:cs typeface="Tahoma" panose="020B0604030504040204" pitchFamily="34" charset="0"/>
              </a:rPr>
              <a:t>识别语言 </a:t>
            </a:r>
            <a:r>
              <a:rPr lang="en-US" altLang="zh-CN" i="1">
                <a:latin typeface="Tahoma" panose="020B0604030504040204" pitchFamily="34" charset="0"/>
                <a:ea typeface="隶书" panose="02010509060101010101" pitchFamily="49" charset="-122"/>
                <a:cs typeface="Tahoma" panose="020B0604030504040204" pitchFamily="34" charset="0"/>
              </a:rPr>
              <a:t>A</a:t>
            </a:r>
            <a:r>
              <a:rPr lang="zh-CN" altLang="en-US">
                <a:latin typeface="Tahoma" panose="020B0604030504040204" pitchFamily="34" charset="0"/>
                <a:ea typeface="隶书" panose="02010509060101010101" pitchFamily="49" charset="-122"/>
                <a:cs typeface="Tahoma" panose="020B0604030504040204" pitchFamily="34" charset="0"/>
              </a:rPr>
              <a:t>。</a:t>
            </a:r>
          </a:p>
          <a:p>
            <a:pPr>
              <a:buFont typeface="Monotype Sorts" pitchFamily="2" charset="2"/>
              <a:buNone/>
            </a:pPr>
            <a:r>
              <a:rPr lang="zh-CN" altLang="en-US">
                <a:latin typeface="Tahoma" panose="020B0604030504040204" pitchFamily="34" charset="0"/>
                <a:ea typeface="隶书" panose="02010509060101010101" pitchFamily="49" charset="-122"/>
                <a:cs typeface="Tahoma" panose="020B0604030504040204" pitchFamily="34" charset="0"/>
              </a:rPr>
              <a:t>	</a:t>
            </a:r>
            <a:r>
              <a:rPr lang="en-US" altLang="zh-CN">
                <a:latin typeface="Tahoma" panose="020B0604030504040204" pitchFamily="34" charset="0"/>
                <a:ea typeface="隶书" panose="02010509060101010101" pitchFamily="49" charset="-122"/>
                <a:cs typeface="Tahoma" panose="020B0604030504040204" pitchFamily="34" charset="0"/>
              </a:rPr>
              <a:t>1) </a:t>
            </a:r>
            <a:r>
              <a:rPr lang="en-US" altLang="zh-CN" i="1">
                <a:latin typeface="Tahoma" panose="020B0604030504040204" pitchFamily="34" charset="0"/>
                <a:ea typeface="隶书" panose="02010509060101010101" pitchFamily="49" charset="-122"/>
                <a:cs typeface="Tahoma" panose="020B0604030504040204" pitchFamily="34" charset="0"/>
              </a:rPr>
              <a:t>w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a:latin typeface="Tahoma" panose="020B0604030504040204" pitchFamily="34" charset="0"/>
                <a:ea typeface="隶书" panose="02010509060101010101" pitchFamily="49" charset="-122"/>
                <a:cs typeface="Tahoma" panose="020B0604030504040204" pitchFamily="34" charset="0"/>
              </a:rPr>
              <a:t>A </a:t>
            </a:r>
            <a:r>
              <a:rPr lang="zh-CN" altLang="en-US">
                <a:latin typeface="Tahoma" panose="020B0604030504040204" pitchFamily="34" charset="0"/>
                <a:ea typeface="隶书" panose="02010509060101010101" pitchFamily="49" charset="-122"/>
                <a:cs typeface="Tahoma" panose="020B0604030504040204" pitchFamily="34" charset="0"/>
              </a:rPr>
              <a:t>蕴含 </a:t>
            </a:r>
            <a:r>
              <a:rPr lang="en-US" altLang="zh-CN">
                <a:latin typeface="Tahoma" panose="020B0604030504040204" pitchFamily="34" charset="0"/>
                <a:ea typeface="隶书" panose="02010509060101010101" pitchFamily="49" charset="-122"/>
                <a:cs typeface="Tahoma" panose="020B0604030504040204" pitchFamily="34" charset="0"/>
              </a:rPr>
              <a:t>Pr[</a:t>
            </a:r>
            <a:r>
              <a:rPr lang="en-US" altLang="zh-CN" i="1">
                <a:latin typeface="Tahoma" panose="020B0604030504040204" pitchFamily="34" charset="0"/>
                <a:ea typeface="隶书" panose="02010509060101010101" pitchFamily="49" charset="-122"/>
                <a:cs typeface="Tahoma" panose="020B0604030504040204" pitchFamily="34" charset="0"/>
              </a:rPr>
              <a:t>M </a:t>
            </a:r>
            <a:r>
              <a:rPr lang="zh-CN" altLang="en-US">
                <a:latin typeface="Tahoma" panose="020B0604030504040204" pitchFamily="34" charset="0"/>
                <a:ea typeface="隶书" panose="02010509060101010101" pitchFamily="49" charset="-122"/>
                <a:cs typeface="Tahoma" panose="020B0604030504040204" pitchFamily="34" charset="0"/>
              </a:rPr>
              <a:t>接受 </a:t>
            </a:r>
            <a:r>
              <a:rPr lang="en-US" altLang="zh-CN" i="1">
                <a:latin typeface="Tahoma" panose="020B0604030504040204" pitchFamily="34" charset="0"/>
                <a:ea typeface="隶书" panose="02010509060101010101" pitchFamily="49" charset="-122"/>
                <a:cs typeface="Tahoma" panose="020B0604030504040204" pitchFamily="34" charset="0"/>
              </a:rPr>
              <a:t>w</a:t>
            </a:r>
            <a:r>
              <a:rPr lang="en-US" altLang="zh-CN">
                <a:latin typeface="Tahoma" panose="020B0604030504040204" pitchFamily="34" charset="0"/>
                <a:ea typeface="隶书" panose="02010509060101010101" pitchFamily="49" charset="-122"/>
                <a:cs typeface="Tahoma" panose="020B0604030504040204" pitchFamily="34" charset="0"/>
              </a:rPr>
              <a:t> ]≥</a:t>
            </a:r>
            <a:r>
              <a:rPr lang="en-US" altLang="zh-CN" sz="2000">
                <a:latin typeface="Tahoma" panose="020B0604030504040204" pitchFamily="34" charset="0"/>
                <a:ea typeface="隶书" panose="02010509060101010101" pitchFamily="49" charset="-122"/>
                <a:cs typeface="Tahoma" panose="020B0604030504040204" pitchFamily="34" charset="0"/>
              </a:rPr>
              <a:t>1-</a:t>
            </a:r>
            <a:r>
              <a:rPr lang="en-US" altLang="zh-CN" i="1">
                <a:latin typeface="Tahoma" panose="020B0604030504040204" pitchFamily="34" charset="0"/>
                <a:ea typeface="隶书" panose="02010509060101010101" pitchFamily="49" charset="-122"/>
                <a:cs typeface="Tahoma" panose="020B0604030504040204" pitchFamily="34" charset="0"/>
              </a:rPr>
              <a:t>ε</a:t>
            </a:r>
            <a:r>
              <a:rPr lang="zh-CN" altLang="en-US">
                <a:latin typeface="Tahoma" panose="020B0604030504040204" pitchFamily="34" charset="0"/>
                <a:ea typeface="隶书" panose="02010509060101010101" pitchFamily="49" charset="-122"/>
                <a:cs typeface="Tahoma" panose="020B0604030504040204" pitchFamily="34" charset="0"/>
              </a:rPr>
              <a:t>，并且</a:t>
            </a:r>
          </a:p>
          <a:p>
            <a:pPr>
              <a:buFont typeface="Monotype Sorts" pitchFamily="2" charset="2"/>
              <a:buNone/>
            </a:pPr>
            <a:r>
              <a:rPr lang="zh-CN" altLang="en-US">
                <a:latin typeface="Tahoma" panose="020B0604030504040204" pitchFamily="34" charset="0"/>
                <a:ea typeface="隶书" panose="02010509060101010101" pitchFamily="49" charset="-122"/>
                <a:cs typeface="Tahoma" panose="020B0604030504040204" pitchFamily="34" charset="0"/>
              </a:rPr>
              <a:t>	</a:t>
            </a:r>
            <a:r>
              <a:rPr lang="en-US" altLang="zh-CN">
                <a:latin typeface="Tahoma" panose="020B0604030504040204" pitchFamily="34" charset="0"/>
                <a:ea typeface="隶书" panose="02010509060101010101" pitchFamily="49" charset="-122"/>
                <a:cs typeface="Tahoma" panose="020B0604030504040204" pitchFamily="34" charset="0"/>
              </a:rPr>
              <a:t>2) </a:t>
            </a:r>
            <a:r>
              <a:rPr lang="en-US" altLang="zh-CN" i="1">
                <a:latin typeface="Tahoma" panose="020B0604030504040204" pitchFamily="34" charset="0"/>
                <a:ea typeface="隶书" panose="02010509060101010101" pitchFamily="49" charset="-122"/>
                <a:cs typeface="Tahoma" panose="020B0604030504040204" pitchFamily="34" charset="0"/>
              </a:rPr>
              <a:t>w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a:latin typeface="Tahoma" panose="020B0604030504040204" pitchFamily="34" charset="0"/>
                <a:ea typeface="隶书" panose="02010509060101010101" pitchFamily="49" charset="-122"/>
                <a:cs typeface="Tahoma" panose="020B0604030504040204" pitchFamily="34" charset="0"/>
              </a:rPr>
              <a:t>A </a:t>
            </a:r>
            <a:r>
              <a:rPr lang="zh-CN" altLang="en-US">
                <a:latin typeface="Tahoma" panose="020B0604030504040204" pitchFamily="34" charset="0"/>
                <a:ea typeface="隶书" panose="02010509060101010101" pitchFamily="49" charset="-122"/>
                <a:cs typeface="Tahoma" panose="020B0604030504040204" pitchFamily="34" charset="0"/>
              </a:rPr>
              <a:t>蕴含 </a:t>
            </a:r>
            <a:r>
              <a:rPr lang="en-US" altLang="zh-CN">
                <a:latin typeface="Tahoma" panose="020B0604030504040204" pitchFamily="34" charset="0"/>
                <a:ea typeface="隶书" panose="02010509060101010101" pitchFamily="49" charset="-122"/>
                <a:cs typeface="Tahoma" panose="020B0604030504040204" pitchFamily="34" charset="0"/>
              </a:rPr>
              <a:t>Pr[</a:t>
            </a:r>
            <a:r>
              <a:rPr lang="en-US" altLang="zh-CN" i="1">
                <a:latin typeface="Tahoma" panose="020B0604030504040204" pitchFamily="34" charset="0"/>
                <a:ea typeface="隶书" panose="02010509060101010101" pitchFamily="49" charset="-122"/>
                <a:cs typeface="Tahoma" panose="020B0604030504040204" pitchFamily="34" charset="0"/>
              </a:rPr>
              <a:t>M </a:t>
            </a:r>
            <a:r>
              <a:rPr lang="zh-CN" altLang="en-US">
                <a:latin typeface="Tahoma" panose="020B0604030504040204" pitchFamily="34" charset="0"/>
                <a:ea typeface="隶书" panose="02010509060101010101" pitchFamily="49" charset="-122"/>
                <a:cs typeface="Tahoma" panose="020B0604030504040204" pitchFamily="34" charset="0"/>
              </a:rPr>
              <a:t>拒绝 </a:t>
            </a:r>
            <a:r>
              <a:rPr lang="en-US" altLang="zh-CN" i="1">
                <a:latin typeface="Tahoma" panose="020B0604030504040204" pitchFamily="34" charset="0"/>
                <a:ea typeface="隶书" panose="02010509060101010101" pitchFamily="49" charset="-122"/>
                <a:cs typeface="Tahoma" panose="020B0604030504040204" pitchFamily="34" charset="0"/>
              </a:rPr>
              <a:t>w</a:t>
            </a:r>
            <a:r>
              <a:rPr lang="en-US" altLang="zh-CN">
                <a:latin typeface="Tahoma" panose="020B0604030504040204" pitchFamily="34" charset="0"/>
                <a:ea typeface="隶书" panose="02010509060101010101" pitchFamily="49" charset="-122"/>
                <a:cs typeface="Tahoma" panose="020B0604030504040204" pitchFamily="34" charset="0"/>
              </a:rPr>
              <a:t> ]≥</a:t>
            </a:r>
            <a:r>
              <a:rPr lang="en-US" altLang="zh-CN" sz="2000">
                <a:latin typeface="Tahoma" panose="020B0604030504040204" pitchFamily="34" charset="0"/>
                <a:ea typeface="隶书" panose="02010509060101010101" pitchFamily="49" charset="-122"/>
                <a:cs typeface="Tahoma" panose="020B0604030504040204" pitchFamily="34" charset="0"/>
              </a:rPr>
              <a:t>1-</a:t>
            </a:r>
            <a:r>
              <a:rPr lang="en-US" altLang="zh-CN" i="1">
                <a:latin typeface="Tahoma" panose="020B0604030504040204" pitchFamily="34" charset="0"/>
                <a:ea typeface="隶书" panose="02010509060101010101" pitchFamily="49" charset="-122"/>
                <a:cs typeface="Tahoma" panose="020B0604030504040204" pitchFamily="34" charset="0"/>
              </a:rPr>
              <a:t>ε</a:t>
            </a:r>
            <a:endParaRPr lang="en-US" altLang="zh-CN">
              <a:latin typeface="Tahoma" panose="020B0604030504040204" pitchFamily="34" charset="0"/>
              <a:ea typeface="隶书" panose="02010509060101010101" pitchFamily="49" charset="-122"/>
              <a:cs typeface="Tahoma" panose="020B0604030504040204" pitchFamily="34" charset="0"/>
            </a:endParaRPr>
          </a:p>
        </p:txBody>
      </p:sp>
      <p:sp>
        <p:nvSpPr>
          <p:cNvPr id="301060" name="Rectangle 4">
            <a:extLst>
              <a:ext uri="{FF2B5EF4-FFF2-40B4-BE49-F238E27FC236}">
                <a16:creationId xmlns:a16="http://schemas.microsoft.com/office/drawing/2014/main" id="{6BC36758-48E7-4A62-83B7-59E2FE7C2B9B}"/>
              </a:ext>
            </a:extLst>
          </p:cNvPr>
          <p:cNvSpPr>
            <a:spLocks noChangeArrowheads="1"/>
          </p:cNvSpPr>
          <p:nvPr/>
        </p:nvSpPr>
        <p:spPr bwMode="auto">
          <a:xfrm>
            <a:off x="323850" y="3068638"/>
            <a:ext cx="806450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换言之，模拟 </a:t>
            </a:r>
            <a:r>
              <a:rPr lang="en-US" altLang="zh-CN" i="1">
                <a:latin typeface="Tahoma" panose="020B0604030504040204" pitchFamily="34" charset="0"/>
                <a:ea typeface="隶书" panose="02010509060101010101" pitchFamily="49" charset="-122"/>
                <a:cs typeface="Tahoma" panose="020B0604030504040204" pitchFamily="34" charset="0"/>
              </a:rPr>
              <a:t>M</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得到错误答案的概率至多为</a:t>
            </a:r>
            <a:r>
              <a:rPr lang="en-US" altLang="zh-CN">
                <a:latin typeface="Tahoma" panose="020B0604030504040204" pitchFamily="34" charset="0"/>
                <a:ea typeface="隶书" panose="02010509060101010101" pitchFamily="49" charset="-122"/>
                <a:cs typeface="Tahoma" panose="020B0604030504040204" pitchFamily="34" charset="0"/>
              </a:rPr>
              <a:t>ε</a:t>
            </a:r>
            <a:r>
              <a:rPr lang="zh-CN" altLang="en-US">
                <a:latin typeface="Tahoma" panose="020B0604030504040204" pitchFamily="34" charset="0"/>
                <a:ea typeface="隶书" panose="02010509060101010101" pitchFamily="49" charset="-122"/>
                <a:cs typeface="Tahoma" panose="020B0604030504040204" pitchFamily="34" charset="0"/>
              </a:rPr>
              <a:t>。</a:t>
            </a: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错误概率的边界依赖于输入串的长度 </a:t>
            </a:r>
            <a:r>
              <a:rPr lang="en-US" altLang="zh-CN" i="1">
                <a:latin typeface="Tahoma" panose="020B0604030504040204" pitchFamily="34" charset="0"/>
                <a:ea typeface="隶书" panose="02010509060101010101" pitchFamily="49" charset="-122"/>
                <a:cs typeface="Tahoma" panose="020B0604030504040204" pitchFamily="34" charset="0"/>
              </a:rPr>
              <a:t>n</a:t>
            </a:r>
            <a:endParaRPr lang="zh-CN" altLang="en-US">
              <a:latin typeface="Tahoma" panose="020B0604030504040204" pitchFamily="34" charset="0"/>
              <a:ea typeface="隶书" panose="02010509060101010101" pitchFamily="49" charset="-122"/>
              <a:cs typeface="Tahoma" panose="020B0604030504040204" pitchFamily="34" charset="0"/>
            </a:endParaRPr>
          </a:p>
          <a:p>
            <a:pPr>
              <a:lnSpc>
                <a:spcPct val="115000"/>
              </a:lnSpc>
              <a:spcBef>
                <a:spcPct val="15000"/>
              </a:spcBef>
              <a:buFont typeface="Monotype Sorts" pitchFamily="2" charset="2"/>
              <a:buNone/>
            </a:pPr>
            <a:r>
              <a:rPr lang="zh-CN" altLang="en-US">
                <a:latin typeface="Tahoma" panose="020B0604030504040204" pitchFamily="34" charset="0"/>
                <a:ea typeface="隶书" panose="02010509060101010101" pitchFamily="49" charset="-122"/>
                <a:cs typeface="Tahoma" panose="020B0604030504040204" pitchFamily="34" charset="0"/>
              </a:rPr>
              <a:t>	例如，错误概率</a:t>
            </a:r>
            <a:r>
              <a:rPr lang="en-US" altLang="zh-CN">
                <a:latin typeface="Tahoma" panose="020B0604030504040204" pitchFamily="34" charset="0"/>
                <a:ea typeface="隶书" panose="02010509060101010101" pitchFamily="49" charset="-122"/>
                <a:cs typeface="Tahoma" panose="020B0604030504040204" pitchFamily="34" charset="0"/>
              </a:rPr>
              <a:t>ε=2</a:t>
            </a:r>
            <a:r>
              <a:rPr lang="en-US" altLang="zh-CN" baseline="30000">
                <a:latin typeface="Tahoma" panose="020B0604030504040204" pitchFamily="34" charset="0"/>
                <a:ea typeface="隶书" panose="02010509060101010101" pitchFamily="49" charset="-122"/>
                <a:cs typeface="Tahoma" panose="020B0604030504040204" pitchFamily="34" charset="0"/>
              </a:rPr>
              <a:t>-</a:t>
            </a:r>
            <a:r>
              <a:rPr lang="en-US" altLang="zh-CN" i="1" baseline="30000">
                <a:latin typeface="Tahoma" panose="020B0604030504040204" pitchFamily="34" charset="0"/>
                <a:ea typeface="隶书" panose="02010509060101010101" pitchFamily="49" charset="-122"/>
                <a:cs typeface="Tahoma" panose="020B0604030504040204" pitchFamily="34" charset="0"/>
              </a:rPr>
              <a:t>n </a:t>
            </a:r>
            <a:r>
              <a:rPr lang="zh-CN" altLang="en-US">
                <a:latin typeface="Tahoma" panose="020B0604030504040204" pitchFamily="34" charset="0"/>
                <a:ea typeface="隶书" panose="02010509060101010101" pitchFamily="49" charset="-122"/>
                <a:cs typeface="Tahoma" panose="020B0604030504040204" pitchFamily="34" charset="0"/>
              </a:rPr>
              <a:t>表示指数小的错误概率。</a:t>
            </a:r>
          </a:p>
        </p:txBody>
      </p:sp>
      <p:grpSp>
        <p:nvGrpSpPr>
          <p:cNvPr id="2" name="Group 5">
            <a:extLst>
              <a:ext uri="{FF2B5EF4-FFF2-40B4-BE49-F238E27FC236}">
                <a16:creationId xmlns:a16="http://schemas.microsoft.com/office/drawing/2014/main" id="{7ACCD660-D551-402F-B8D6-11647EC8A2E8}"/>
              </a:ext>
            </a:extLst>
          </p:cNvPr>
          <p:cNvGrpSpPr>
            <a:grpSpLocks/>
          </p:cNvGrpSpPr>
          <p:nvPr/>
        </p:nvGrpSpPr>
        <p:grpSpPr bwMode="auto">
          <a:xfrm>
            <a:off x="179388" y="4714875"/>
            <a:ext cx="8596312" cy="1439863"/>
            <a:chOff x="187" y="709"/>
            <a:chExt cx="5415" cy="907"/>
          </a:xfrm>
        </p:grpSpPr>
        <p:sp>
          <p:nvSpPr>
            <p:cNvPr id="26633" name="AutoShape 6">
              <a:extLst>
                <a:ext uri="{FF2B5EF4-FFF2-40B4-BE49-F238E27FC236}">
                  <a16:creationId xmlns:a16="http://schemas.microsoft.com/office/drawing/2014/main" id="{C13312D5-C5A5-4D17-89FC-59A49DE3E685}"/>
                </a:ext>
              </a:extLst>
            </p:cNvPr>
            <p:cNvSpPr>
              <a:spLocks noChangeArrowheads="1"/>
            </p:cNvSpPr>
            <p:nvPr/>
          </p:nvSpPr>
          <p:spPr bwMode="gray">
            <a:xfrm>
              <a:off x="187" y="709"/>
              <a:ext cx="5415" cy="907"/>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01063" name="AutoShape 7">
              <a:extLst>
                <a:ext uri="{FF2B5EF4-FFF2-40B4-BE49-F238E27FC236}">
                  <a16:creationId xmlns:a16="http://schemas.microsoft.com/office/drawing/2014/main" id="{0B8E3F98-806E-4C7D-A072-B023C1F0E279}"/>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01064" name="Freeform 8">
              <a:extLst>
                <a:ext uri="{FF2B5EF4-FFF2-40B4-BE49-F238E27FC236}">
                  <a16:creationId xmlns:a16="http://schemas.microsoft.com/office/drawing/2014/main" id="{C061A7BC-FC6A-47B4-A52A-6DD3C9C0211C}"/>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01065" name="Text Box 9">
              <a:extLst>
                <a:ext uri="{FF2B5EF4-FFF2-40B4-BE49-F238E27FC236}">
                  <a16:creationId xmlns:a16="http://schemas.microsoft.com/office/drawing/2014/main" id="{AB0A1D48-CB51-4EAC-8B22-875553F0B321}"/>
                </a:ext>
              </a:extLst>
            </p:cNvPr>
            <p:cNvSpPr txBox="1">
              <a:spLocks noChangeArrowheads="1"/>
            </p:cNvSpPr>
            <p:nvPr/>
          </p:nvSpPr>
          <p:spPr bwMode="gray">
            <a:xfrm>
              <a:off x="389" y="853"/>
              <a:ext cx="541" cy="523"/>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定义</a:t>
              </a:r>
            </a:p>
            <a:p>
              <a:pPr algn="ctr">
                <a:defRPr/>
              </a:pPr>
              <a:endParaRPr lang="en-US" altLang="zh-CN" sz="2400" b="1" dirty="0">
                <a:effectLst>
                  <a:outerShdw blurRad="38100" dist="38100" dir="2700000" algn="tl">
                    <a:srgbClr val="C0C0C0"/>
                  </a:outerShdw>
                </a:effectLst>
                <a:latin typeface="Times New Roman" pitchFamily="18" charset="0"/>
              </a:endParaRPr>
            </a:p>
          </p:txBody>
        </p:sp>
        <p:sp>
          <p:nvSpPr>
            <p:cNvPr id="25613" name="Text Box 10">
              <a:extLst>
                <a:ext uri="{FF2B5EF4-FFF2-40B4-BE49-F238E27FC236}">
                  <a16:creationId xmlns:a16="http://schemas.microsoft.com/office/drawing/2014/main" id="{EB85472E-D4FA-4B04-8C4E-6653BC38B4F0}"/>
                </a:ext>
              </a:extLst>
            </p:cNvPr>
            <p:cNvSpPr txBox="1">
              <a:spLocks noChangeArrowheads="1"/>
            </p:cNvSpPr>
            <p:nvPr/>
          </p:nvSpPr>
          <p:spPr bwMode="gray">
            <a:xfrm>
              <a:off x="1020" y="846"/>
              <a:ext cx="4445" cy="56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kumimoji="1"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BPP </a:t>
              </a:r>
              <a:r>
                <a:rPr kumimoji="1" lang="zh-CN" altLang="en-US" sz="2400" b="1" dirty="0">
                  <a:solidFill>
                    <a:schemeClr val="tx1"/>
                  </a:solidFill>
                  <a:latin typeface="Tahoma" pitchFamily="34" charset="0"/>
                  <a:ea typeface="+mj-ea"/>
                  <a:cs typeface="Tahoma" pitchFamily="34" charset="0"/>
                  <a:sym typeface="Symbol" panose="05050102010706020507" pitchFamily="18" charset="2"/>
                </a:rPr>
                <a:t>是多项式时间的概率图灵机以错误概率 </a:t>
              </a:r>
              <a:r>
                <a:rPr kumimoji="1" lang="en-US" altLang="zh-CN" sz="2400" b="1" dirty="0">
                  <a:solidFill>
                    <a:srgbClr val="FF0000"/>
                  </a:solidFill>
                  <a:latin typeface="Tahoma" pitchFamily="34" charset="0"/>
                  <a:ea typeface="Tahoma" pitchFamily="34" charset="0"/>
                  <a:cs typeface="Tahoma" pitchFamily="34" charset="0"/>
                  <a:sym typeface="Symbol" panose="05050102010706020507" pitchFamily="18" charset="2"/>
                </a:rPr>
                <a:t>1/3</a:t>
              </a:r>
              <a:r>
                <a:rPr kumimoji="1"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 </a:t>
              </a:r>
              <a:r>
                <a:rPr kumimoji="1" lang="zh-CN" altLang="en-US" sz="2400" b="1" dirty="0">
                  <a:solidFill>
                    <a:schemeClr val="tx1"/>
                  </a:solidFill>
                  <a:latin typeface="Tahoma" pitchFamily="34" charset="0"/>
                  <a:ea typeface="+mj-ea"/>
                  <a:cs typeface="Tahoma" pitchFamily="34" charset="0"/>
                  <a:sym typeface="Symbol" panose="05050102010706020507" pitchFamily="18" charset="2"/>
                </a:rPr>
                <a:t>识别的语言类。</a:t>
              </a:r>
            </a:p>
          </p:txBody>
        </p:sp>
      </p:grpSp>
      <p:sp>
        <p:nvSpPr>
          <p:cNvPr id="19464" name="Line 11">
            <a:extLst>
              <a:ext uri="{FF2B5EF4-FFF2-40B4-BE49-F238E27FC236}">
                <a16:creationId xmlns:a16="http://schemas.microsoft.com/office/drawing/2014/main" id="{68E5CC73-FCBD-4D7B-AB6C-CA9FE1899E06}"/>
              </a:ext>
            </a:extLst>
          </p:cNvPr>
          <p:cNvSpPr>
            <a:spLocks noChangeShapeType="1"/>
          </p:cNvSpPr>
          <p:nvPr/>
        </p:nvSpPr>
        <p:spPr bwMode="auto">
          <a:xfrm flipH="1">
            <a:off x="1357313" y="2606675"/>
            <a:ext cx="144462"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animEffect transition="in" filter="wipe(left)">
                                      <p:cBhvr>
                                        <p:cTn id="7" dur="500"/>
                                        <p:tgtEl>
                                          <p:spTgt spid="301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1059">
                                            <p:txEl>
                                              <p:pRg st="1" end="1"/>
                                            </p:txEl>
                                          </p:spTgt>
                                        </p:tgtEl>
                                        <p:attrNameLst>
                                          <p:attrName>style.visibility</p:attrName>
                                        </p:attrNameLst>
                                      </p:cBhvr>
                                      <p:to>
                                        <p:strVal val="visible"/>
                                      </p:to>
                                    </p:set>
                                    <p:animEffect transition="in" filter="wipe(left)">
                                      <p:cBhvr>
                                        <p:cTn id="12" dur="500"/>
                                        <p:tgtEl>
                                          <p:spTgt spid="301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1059">
                                            <p:txEl>
                                              <p:pRg st="2" end="2"/>
                                            </p:txEl>
                                          </p:spTgt>
                                        </p:tgtEl>
                                        <p:attrNameLst>
                                          <p:attrName>style.visibility</p:attrName>
                                        </p:attrNameLst>
                                      </p:cBhvr>
                                      <p:to>
                                        <p:strVal val="visible"/>
                                      </p:to>
                                    </p:set>
                                    <p:animEffect transition="in" filter="wipe(left)">
                                      <p:cBhvr>
                                        <p:cTn id="17" dur="500"/>
                                        <p:tgtEl>
                                          <p:spTgt spid="301059">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19464"/>
                                        </p:tgtEl>
                                        <p:attrNameLst>
                                          <p:attrName>style.visibility</p:attrName>
                                        </p:attrNameLst>
                                      </p:cBhvr>
                                      <p:to>
                                        <p:strVal val="visible"/>
                                      </p:to>
                                    </p:set>
                                    <p:animEffect transition="in" filter="wipe(left)">
                                      <p:cBhvr>
                                        <p:cTn id="20" dur="500"/>
                                        <p:tgtEl>
                                          <p:spTgt spid="1946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01060"/>
                                        </p:tgtEl>
                                        <p:attrNameLst>
                                          <p:attrName>style.visibility</p:attrName>
                                        </p:attrNameLst>
                                      </p:cBhvr>
                                      <p:to>
                                        <p:strVal val="visible"/>
                                      </p:to>
                                    </p:set>
                                    <p:animEffect transition="in" filter="wipe(left)">
                                      <p:cBhvr>
                                        <p:cTn id="25" dur="500"/>
                                        <p:tgtEl>
                                          <p:spTgt spid="30106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p:bldP spid="3010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a:extLst>
              <a:ext uri="{FF2B5EF4-FFF2-40B4-BE49-F238E27FC236}">
                <a16:creationId xmlns:a16="http://schemas.microsoft.com/office/drawing/2014/main" id="{DCD3AF7D-29B2-44DB-A1F1-64F8DB06D2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56862AA9-BB05-486A-BEDD-DE87ABE4746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7651" name="灯片编号占位符 4">
            <a:extLst>
              <a:ext uri="{FF2B5EF4-FFF2-40B4-BE49-F238E27FC236}">
                <a16:creationId xmlns:a16="http://schemas.microsoft.com/office/drawing/2014/main" id="{703E60A2-2B35-4821-A074-66E5F9CC15C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7220B20B-5044-4047-8623-C7D21688678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25</a:t>
            </a:fld>
            <a:r>
              <a:rPr lang="zh-CN" altLang="en-US" sz="1200">
                <a:solidFill>
                  <a:schemeClr val="bg2"/>
                </a:solidFill>
                <a:latin typeface="Times New Roman" panose="02020603050405020304" pitchFamily="18" charset="0"/>
                <a:ea typeface="宋体" panose="02010600030101010101" pitchFamily="2" charset="-122"/>
              </a:rPr>
              <a:t>页</a:t>
            </a:r>
          </a:p>
        </p:txBody>
      </p:sp>
      <p:grpSp>
        <p:nvGrpSpPr>
          <p:cNvPr id="2" name="Group 2">
            <a:extLst>
              <a:ext uri="{FF2B5EF4-FFF2-40B4-BE49-F238E27FC236}">
                <a16:creationId xmlns:a16="http://schemas.microsoft.com/office/drawing/2014/main" id="{832B398C-AB99-44DD-A27D-42EBE445379E}"/>
              </a:ext>
            </a:extLst>
          </p:cNvPr>
          <p:cNvGrpSpPr>
            <a:grpSpLocks/>
          </p:cNvGrpSpPr>
          <p:nvPr/>
        </p:nvGrpSpPr>
        <p:grpSpPr bwMode="auto">
          <a:xfrm>
            <a:off x="296863" y="1125538"/>
            <a:ext cx="8596312" cy="2016125"/>
            <a:chOff x="187" y="709"/>
            <a:chExt cx="5415" cy="1270"/>
          </a:xfrm>
        </p:grpSpPr>
        <p:sp>
          <p:nvSpPr>
            <p:cNvPr id="27656" name="AutoShape 3">
              <a:extLst>
                <a:ext uri="{FF2B5EF4-FFF2-40B4-BE49-F238E27FC236}">
                  <a16:creationId xmlns:a16="http://schemas.microsoft.com/office/drawing/2014/main" id="{231CCE74-63DB-4744-A631-DD8DC586641D}"/>
                </a:ext>
              </a:extLst>
            </p:cNvPr>
            <p:cNvSpPr>
              <a:spLocks noChangeArrowheads="1"/>
            </p:cNvSpPr>
            <p:nvPr/>
          </p:nvSpPr>
          <p:spPr bwMode="gray">
            <a:xfrm>
              <a:off x="187" y="709"/>
              <a:ext cx="5415" cy="1270"/>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02084" name="AutoShape 4">
              <a:extLst>
                <a:ext uri="{FF2B5EF4-FFF2-40B4-BE49-F238E27FC236}">
                  <a16:creationId xmlns:a16="http://schemas.microsoft.com/office/drawing/2014/main" id="{4550F9B4-D067-4EA8-B96F-2C3C279EDE54}"/>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02085" name="Freeform 5">
              <a:extLst>
                <a:ext uri="{FF2B5EF4-FFF2-40B4-BE49-F238E27FC236}">
                  <a16:creationId xmlns:a16="http://schemas.microsoft.com/office/drawing/2014/main" id="{8FD47886-5CFF-4C13-8AAC-17165B5DC452}"/>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02086" name="Text Box 6">
              <a:extLst>
                <a:ext uri="{FF2B5EF4-FFF2-40B4-BE49-F238E27FC236}">
                  <a16:creationId xmlns:a16="http://schemas.microsoft.com/office/drawing/2014/main" id="{9FB30E09-0B70-49AE-BBFE-46E63D18E856}"/>
                </a:ext>
              </a:extLst>
            </p:cNvPr>
            <p:cNvSpPr txBox="1">
              <a:spLocks noChangeArrowheads="1"/>
            </p:cNvSpPr>
            <p:nvPr/>
          </p:nvSpPr>
          <p:spPr bwMode="gray">
            <a:xfrm>
              <a:off x="389" y="853"/>
              <a:ext cx="541" cy="288"/>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引理</a:t>
              </a:r>
              <a:endParaRPr lang="en-US" altLang="zh-CN" sz="2400" b="1" dirty="0">
                <a:effectLst>
                  <a:outerShdw blurRad="38100" dist="38100" dir="2700000" algn="tl">
                    <a:srgbClr val="C0C0C0"/>
                  </a:outerShdw>
                </a:effectLst>
                <a:latin typeface="+mj-ea"/>
                <a:ea typeface="+mj-ea"/>
              </a:endParaRPr>
            </a:p>
          </p:txBody>
        </p:sp>
        <p:sp>
          <p:nvSpPr>
            <p:cNvPr id="26636" name="Text Box 7">
              <a:extLst>
                <a:ext uri="{FF2B5EF4-FFF2-40B4-BE49-F238E27FC236}">
                  <a16:creationId xmlns:a16="http://schemas.microsoft.com/office/drawing/2014/main" id="{C2B69162-3DCB-4768-8928-466022F2E1B3}"/>
                </a:ext>
              </a:extLst>
            </p:cNvPr>
            <p:cNvSpPr txBox="1">
              <a:spLocks noChangeArrowheads="1"/>
            </p:cNvSpPr>
            <p:nvPr/>
          </p:nvSpPr>
          <p:spPr bwMode="gray">
            <a:xfrm>
              <a:off x="1066" y="780"/>
              <a:ext cx="4490" cy="1118"/>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kumimoji="1" lang="zh-CN" altLang="en-US" sz="2400" b="1" dirty="0">
                  <a:solidFill>
                    <a:schemeClr val="tx1"/>
                  </a:solidFill>
                  <a:latin typeface="Tahoma" pitchFamily="34" charset="0"/>
                  <a:ea typeface="+mj-ea"/>
                  <a:cs typeface="Tahoma" pitchFamily="34" charset="0"/>
                  <a:sym typeface="Symbol" panose="05050102010706020507" pitchFamily="18" charset="2"/>
                </a:rPr>
                <a:t>设 </a:t>
              </a:r>
              <a:r>
                <a:rPr lang="zh-CN" altLang="en-US" sz="2400" b="1" dirty="0">
                  <a:solidFill>
                    <a:schemeClr val="tx1"/>
                  </a:solidFill>
                  <a:latin typeface="Tahoma" pitchFamily="34" charset="0"/>
                  <a:ea typeface="+mj-ea"/>
                  <a:cs typeface="Tahoma" pitchFamily="34" charset="0"/>
                  <a:sym typeface="Symbol" panose="05050102010706020507" pitchFamily="18" charset="2"/>
                </a:rPr>
                <a:t> 是一给定的常数，且</a:t>
              </a:r>
              <a:r>
                <a:rPr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0&lt;&lt;1/2</a:t>
              </a:r>
              <a:r>
                <a:rPr lang="zh-CN" altLang="en-US" sz="2400" b="1" dirty="0">
                  <a:solidFill>
                    <a:schemeClr val="tx1"/>
                  </a:solidFill>
                  <a:latin typeface="Tahoma" pitchFamily="34" charset="0"/>
                  <a:ea typeface="+mj-ea"/>
                  <a:cs typeface="Tahoma" pitchFamily="34" charset="0"/>
                  <a:sym typeface="Symbol" panose="05050102010706020507" pitchFamily="18" charset="2"/>
                </a:rPr>
                <a:t>。又设 </a:t>
              </a:r>
              <a:r>
                <a:rPr lang="en-US" altLang="zh-CN" sz="2400" b="1" i="1" dirty="0">
                  <a:solidFill>
                    <a:schemeClr val="tx1"/>
                  </a:solidFill>
                  <a:latin typeface="Tahoma" pitchFamily="34" charset="0"/>
                  <a:ea typeface="Tahoma" pitchFamily="34" charset="0"/>
                  <a:cs typeface="Tahoma" pitchFamily="34" charset="0"/>
                  <a:sym typeface="Symbol" panose="05050102010706020507" pitchFamily="18" charset="2"/>
                </a:rPr>
                <a:t>M</a:t>
              </a:r>
              <a:r>
                <a:rPr lang="en-US" altLang="zh-CN" sz="2400" b="1" baseline="-10000" dirty="0">
                  <a:solidFill>
                    <a:schemeClr val="tx1"/>
                  </a:solidFill>
                  <a:latin typeface="Tahoma" pitchFamily="34" charset="0"/>
                  <a:ea typeface="Tahoma" pitchFamily="34" charset="0"/>
                  <a:cs typeface="Tahoma" pitchFamily="34" charset="0"/>
                  <a:sym typeface="Symbol" panose="05050102010706020507" pitchFamily="18" charset="2"/>
                </a:rPr>
                <a:t>1 </a:t>
              </a:r>
              <a:r>
                <a:rPr lang="zh-CN" altLang="en-US" sz="2400" b="1" dirty="0">
                  <a:solidFill>
                    <a:schemeClr val="tx1"/>
                  </a:solidFill>
                  <a:latin typeface="Tahoma" pitchFamily="34" charset="0"/>
                  <a:ea typeface="+mj-ea"/>
                  <a:cs typeface="Tahoma" pitchFamily="34" charset="0"/>
                  <a:sym typeface="Symbol" panose="05050102010706020507" pitchFamily="18" charset="2"/>
                </a:rPr>
                <a:t>是一台错误概率为  的多项式时间概率图灵机，则对于任意给定的多项式 </a:t>
              </a:r>
              <a:r>
                <a:rPr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poly(</a:t>
              </a:r>
              <a:r>
                <a:rPr lang="en-US" altLang="zh-CN" sz="2400" b="1" i="1" dirty="0">
                  <a:solidFill>
                    <a:schemeClr val="tx1"/>
                  </a:solidFill>
                  <a:latin typeface="Tahoma" pitchFamily="34" charset="0"/>
                  <a:ea typeface="Tahoma" pitchFamily="34" charset="0"/>
                  <a:cs typeface="Tahoma" pitchFamily="34" charset="0"/>
                  <a:sym typeface="Symbol" panose="05050102010706020507" pitchFamily="18" charset="2"/>
                </a:rPr>
                <a:t>n</a:t>
              </a:r>
              <a:r>
                <a:rPr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a:t>
              </a:r>
              <a:r>
                <a:rPr lang="zh-CN" altLang="en-US" sz="2400" b="1" dirty="0">
                  <a:solidFill>
                    <a:schemeClr val="tx1"/>
                  </a:solidFill>
                  <a:latin typeface="Tahoma" pitchFamily="34" charset="0"/>
                  <a:ea typeface="+mj-ea"/>
                  <a:cs typeface="Tahoma" pitchFamily="34" charset="0"/>
                  <a:sym typeface="Symbol" panose="05050102010706020507" pitchFamily="18" charset="2"/>
                </a:rPr>
                <a:t>，存在与 </a:t>
              </a:r>
              <a:r>
                <a:rPr lang="en-US" altLang="zh-CN" sz="2400" b="1" i="1" dirty="0">
                  <a:solidFill>
                    <a:schemeClr val="tx1"/>
                  </a:solidFill>
                  <a:latin typeface="Tahoma" pitchFamily="34" charset="0"/>
                  <a:ea typeface="Tahoma" pitchFamily="34" charset="0"/>
                  <a:cs typeface="Tahoma" pitchFamily="34" charset="0"/>
                  <a:sym typeface="Symbol" panose="05050102010706020507" pitchFamily="18" charset="2"/>
                </a:rPr>
                <a:t>M</a:t>
              </a:r>
              <a:r>
                <a:rPr lang="en-US" altLang="zh-CN" sz="2400" b="1" baseline="-10000" dirty="0">
                  <a:solidFill>
                    <a:schemeClr val="tx1"/>
                  </a:solidFill>
                  <a:latin typeface="Tahoma" pitchFamily="34" charset="0"/>
                  <a:ea typeface="Tahoma" pitchFamily="34" charset="0"/>
                  <a:cs typeface="Tahoma" pitchFamily="34" charset="0"/>
                  <a:sym typeface="Symbol" panose="05050102010706020507" pitchFamily="18" charset="2"/>
                </a:rPr>
                <a:t>1 </a:t>
              </a:r>
              <a:r>
                <a:rPr lang="zh-CN" altLang="en-US" sz="2400" b="1" dirty="0">
                  <a:solidFill>
                    <a:schemeClr val="tx1"/>
                  </a:solidFill>
                  <a:latin typeface="Tahoma" pitchFamily="34" charset="0"/>
                  <a:ea typeface="+mj-ea"/>
                  <a:cs typeface="Tahoma" pitchFamily="34" charset="0"/>
                  <a:sym typeface="Symbol" panose="05050102010706020507" pitchFamily="18" charset="2"/>
                </a:rPr>
                <a:t>等价的错误概率为 </a:t>
              </a:r>
              <a:r>
                <a:rPr lang="en-US" altLang="zh-CN" sz="2400" b="1" dirty="0">
                  <a:solidFill>
                    <a:schemeClr val="tx1"/>
                  </a:solidFill>
                  <a:latin typeface="Tahoma" pitchFamily="34" charset="0"/>
                  <a:ea typeface="Tahoma" pitchFamily="34" charset="0"/>
                  <a:cs typeface="Tahoma" pitchFamily="34" charset="0"/>
                  <a:sym typeface="Symbol" panose="05050102010706020507" pitchFamily="18" charset="2"/>
                </a:rPr>
                <a:t>2</a:t>
              </a:r>
              <a:r>
                <a:rPr lang="en-US" altLang="zh-CN" sz="2400" b="1" baseline="30000" dirty="0">
                  <a:solidFill>
                    <a:schemeClr val="tx1"/>
                  </a:solidFill>
                  <a:latin typeface="Tahoma" pitchFamily="34" charset="0"/>
                  <a:ea typeface="Tahoma" pitchFamily="34" charset="0"/>
                  <a:cs typeface="Tahoma" pitchFamily="34" charset="0"/>
                  <a:sym typeface="Symbol" panose="05050102010706020507" pitchFamily="18" charset="2"/>
                </a:rPr>
                <a:t>-poly(</a:t>
              </a:r>
              <a:r>
                <a:rPr lang="en-US" altLang="zh-CN" sz="2400" b="1" i="1" baseline="30000" dirty="0">
                  <a:solidFill>
                    <a:schemeClr val="tx1"/>
                  </a:solidFill>
                  <a:latin typeface="Tahoma" pitchFamily="34" charset="0"/>
                  <a:ea typeface="Tahoma" pitchFamily="34" charset="0"/>
                  <a:cs typeface="Tahoma" pitchFamily="34" charset="0"/>
                  <a:sym typeface="Symbol" panose="05050102010706020507" pitchFamily="18" charset="2"/>
                </a:rPr>
                <a:t>n</a:t>
              </a:r>
              <a:r>
                <a:rPr lang="en-US" altLang="zh-CN" sz="2400" b="1" baseline="30000" dirty="0">
                  <a:solidFill>
                    <a:schemeClr val="tx1"/>
                  </a:solidFill>
                  <a:latin typeface="Tahoma" pitchFamily="34" charset="0"/>
                  <a:ea typeface="Tahoma" pitchFamily="34" charset="0"/>
                  <a:cs typeface="Tahoma" pitchFamily="34" charset="0"/>
                  <a:sym typeface="Symbol" panose="05050102010706020507" pitchFamily="18" charset="2"/>
                </a:rPr>
                <a:t>) </a:t>
              </a:r>
              <a:r>
                <a:rPr lang="zh-CN" altLang="en-US" sz="2400" b="1" dirty="0">
                  <a:solidFill>
                    <a:schemeClr val="tx1"/>
                  </a:solidFill>
                  <a:latin typeface="Tahoma" pitchFamily="34" charset="0"/>
                  <a:ea typeface="+mj-ea"/>
                  <a:cs typeface="Tahoma" pitchFamily="34" charset="0"/>
                  <a:sym typeface="Symbol" panose="05050102010706020507" pitchFamily="18" charset="2"/>
                </a:rPr>
                <a:t>的多项式时间概率图灵机 </a:t>
              </a:r>
              <a:r>
                <a:rPr lang="en-US" altLang="zh-CN" sz="2400" b="1" i="1" dirty="0">
                  <a:solidFill>
                    <a:schemeClr val="tx1"/>
                  </a:solidFill>
                  <a:latin typeface="Tahoma" pitchFamily="34" charset="0"/>
                  <a:ea typeface="Tahoma" pitchFamily="34" charset="0"/>
                  <a:cs typeface="Tahoma" pitchFamily="34" charset="0"/>
                  <a:sym typeface="Symbol" panose="05050102010706020507" pitchFamily="18" charset="2"/>
                </a:rPr>
                <a:t>M</a:t>
              </a:r>
              <a:r>
                <a:rPr lang="en-US" altLang="zh-CN" sz="2400" b="1" baseline="-10000" dirty="0">
                  <a:solidFill>
                    <a:schemeClr val="tx1"/>
                  </a:solidFill>
                  <a:latin typeface="Tahoma" pitchFamily="34" charset="0"/>
                  <a:ea typeface="Tahoma" pitchFamily="34" charset="0"/>
                  <a:cs typeface="Tahoma" pitchFamily="34" charset="0"/>
                  <a:sym typeface="Symbol" panose="05050102010706020507" pitchFamily="18" charset="2"/>
                </a:rPr>
                <a:t>2</a:t>
              </a:r>
              <a:r>
                <a:rPr lang="zh-CN" altLang="en-US" sz="2400" b="1" dirty="0">
                  <a:solidFill>
                    <a:schemeClr val="tx1"/>
                  </a:solidFill>
                  <a:latin typeface="Tahoma" pitchFamily="34" charset="0"/>
                  <a:ea typeface="+mj-ea"/>
                  <a:cs typeface="Tahoma" pitchFamily="34" charset="0"/>
                  <a:sym typeface="Symbol" panose="05050102010706020507" pitchFamily="18" charset="2"/>
                </a:rPr>
                <a:t>。</a:t>
              </a:r>
            </a:p>
          </p:txBody>
        </p:sp>
      </p:grpSp>
      <p:sp>
        <p:nvSpPr>
          <p:cNvPr id="302088" name="Rectangle 8">
            <a:extLst>
              <a:ext uri="{FF2B5EF4-FFF2-40B4-BE49-F238E27FC236}">
                <a16:creationId xmlns:a16="http://schemas.microsoft.com/office/drawing/2014/main" id="{224A5CE7-AC94-4080-A74F-8DAE182F0C11}"/>
              </a:ext>
            </a:extLst>
          </p:cNvPr>
          <p:cNvSpPr>
            <a:spLocks noGrp="1" noChangeArrowheads="1"/>
          </p:cNvSpPr>
          <p:nvPr>
            <p:ph type="title"/>
          </p:nvPr>
        </p:nvSpPr>
        <p:spPr/>
        <p:txBody>
          <a:bodyPr anchor="ctr"/>
          <a:lstStyle/>
          <a:p>
            <a:pPr>
              <a:defRPr/>
            </a:pPr>
            <a:r>
              <a:rPr lang="en-US" altLang="zh-CN"/>
              <a:t>BPP </a:t>
            </a:r>
            <a:r>
              <a:rPr lang="zh-CN" altLang="en-US"/>
              <a:t>类</a:t>
            </a:r>
          </a:p>
        </p:txBody>
      </p:sp>
      <p:sp>
        <p:nvSpPr>
          <p:cNvPr id="302089" name="Text Box 9">
            <a:extLst>
              <a:ext uri="{FF2B5EF4-FFF2-40B4-BE49-F238E27FC236}">
                <a16:creationId xmlns:a16="http://schemas.microsoft.com/office/drawing/2014/main" id="{6A9BB62E-3D87-4C06-8657-5933E5C2A6CF}"/>
              </a:ext>
            </a:extLst>
          </p:cNvPr>
          <p:cNvSpPr txBox="1">
            <a:spLocks noChangeArrowheads="1"/>
          </p:cNvSpPr>
          <p:nvPr/>
        </p:nvSpPr>
        <p:spPr bwMode="auto">
          <a:xfrm>
            <a:off x="277813" y="3429000"/>
            <a:ext cx="8542337" cy="267176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buClr>
                <a:schemeClr val="tx2"/>
              </a:buClr>
              <a:buSzPct val="90000"/>
              <a:buFont typeface="Monotype Sorts" pitchFamily="2" charset="2"/>
              <a:buNone/>
              <a:defRPr/>
            </a:pPr>
            <a:r>
              <a:rPr kumimoji="1" lang="zh-CN" altLang="en-US" sz="2400" b="1" dirty="0">
                <a:solidFill>
                  <a:schemeClr val="tx1"/>
                </a:solidFill>
                <a:latin typeface="Tahoma" pitchFamily="34" charset="0"/>
                <a:ea typeface="+mj-ea"/>
                <a:cs typeface="Tahoma" pitchFamily="34" charset="0"/>
              </a:rPr>
              <a:t>注意：错误概率为 </a:t>
            </a:r>
            <a:r>
              <a:rPr kumimoji="1" lang="en-US" altLang="zh-CN" sz="2400" b="1" dirty="0">
                <a:solidFill>
                  <a:schemeClr val="tx1"/>
                </a:solidFill>
                <a:latin typeface="Tahoma" pitchFamily="34" charset="0"/>
                <a:ea typeface="Tahoma" pitchFamily="34" charset="0"/>
                <a:cs typeface="Tahoma" pitchFamily="34" charset="0"/>
              </a:rPr>
              <a:t>2</a:t>
            </a:r>
            <a:r>
              <a:rPr kumimoji="1" lang="en-US" altLang="zh-CN" sz="2400" b="1" baseline="30000" dirty="0">
                <a:solidFill>
                  <a:schemeClr val="tx1"/>
                </a:solidFill>
                <a:latin typeface="Tahoma" pitchFamily="34" charset="0"/>
                <a:ea typeface="Tahoma" pitchFamily="34" charset="0"/>
                <a:cs typeface="Tahoma" pitchFamily="34" charset="0"/>
              </a:rPr>
              <a:t>-100</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的概率算法，由于运行它的计算机硬件失灵，给出错误结果的可能性远大于由于掷硬币不走运给出错误结果的可能性。</a:t>
            </a:r>
          </a:p>
          <a:p>
            <a:pPr>
              <a:lnSpc>
                <a:spcPct val="115000"/>
              </a:lnSpc>
              <a:spcBef>
                <a:spcPct val="15000"/>
              </a:spcBef>
              <a:buClr>
                <a:schemeClr val="tx2"/>
              </a:buClr>
              <a:buSzPct val="90000"/>
              <a:buFont typeface="Monotype Sorts" pitchFamily="2" charset="2"/>
              <a:buNone/>
              <a:defRPr/>
            </a:pPr>
            <a:r>
              <a:rPr kumimoji="1" lang="zh-CN" altLang="en-US" sz="2400" b="1" dirty="0">
                <a:solidFill>
                  <a:schemeClr val="tx1"/>
                </a:solidFill>
                <a:latin typeface="Tahoma" pitchFamily="34" charset="0"/>
                <a:ea typeface="+mj-ea"/>
                <a:cs typeface="Tahoma" pitchFamily="34" charset="0"/>
              </a:rPr>
              <a:t>证明思路：</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baseline="-25000" dirty="0">
                <a:solidFill>
                  <a:schemeClr val="tx1"/>
                </a:solidFill>
                <a:latin typeface="Tahoma" pitchFamily="34" charset="0"/>
                <a:ea typeface="Tahoma" pitchFamily="34" charset="0"/>
                <a:cs typeface="Tahoma" pitchFamily="34" charset="0"/>
              </a:rPr>
              <a:t>2 </a:t>
            </a:r>
            <a:r>
              <a:rPr kumimoji="1" lang="zh-CN" altLang="en-US" sz="2400" b="1" dirty="0">
                <a:solidFill>
                  <a:schemeClr val="tx1"/>
                </a:solidFill>
                <a:latin typeface="Tahoma" pitchFamily="34" charset="0"/>
                <a:ea typeface="+mj-ea"/>
                <a:cs typeface="Tahoma" pitchFamily="34" charset="0"/>
              </a:rPr>
              <a:t>用如下方式模拟 </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baseline="-25000" dirty="0">
                <a:solidFill>
                  <a:schemeClr val="tx1"/>
                </a:solidFill>
                <a:latin typeface="Tahoma" pitchFamily="34" charset="0"/>
                <a:ea typeface="Tahoma" pitchFamily="34" charset="0"/>
                <a:cs typeface="Tahoma" pitchFamily="34" charset="0"/>
              </a:rPr>
              <a:t>1</a:t>
            </a:r>
            <a:r>
              <a:rPr kumimoji="1" lang="zh-CN" altLang="en-US" sz="2400" b="1" dirty="0">
                <a:solidFill>
                  <a:schemeClr val="tx1"/>
                </a:solidFill>
                <a:latin typeface="Tahoma" pitchFamily="34" charset="0"/>
                <a:ea typeface="+mj-ea"/>
                <a:cs typeface="Tahoma" pitchFamily="34" charset="0"/>
              </a:rPr>
              <a:t>：运行 </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baseline="-25000" dirty="0">
                <a:solidFill>
                  <a:schemeClr val="tx1"/>
                </a:solidFill>
                <a:latin typeface="Tahoma" pitchFamily="34" charset="0"/>
                <a:ea typeface="Tahoma" pitchFamily="34" charset="0"/>
                <a:cs typeface="Tahoma" pitchFamily="34" charset="0"/>
              </a:rPr>
              <a:t>1</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多项式次，并且取这些运行结果中的多数作为计算结果。错误概率将随 </a:t>
            </a:r>
            <a:r>
              <a:rPr kumimoji="1" lang="en-US" altLang="zh-CN" sz="2400" b="1" i="1" dirty="0">
                <a:solidFill>
                  <a:schemeClr val="tx1"/>
                </a:solidFill>
                <a:latin typeface="Tahoma" pitchFamily="34" charset="0"/>
                <a:ea typeface="Tahoma" pitchFamily="34" charset="0"/>
                <a:cs typeface="Tahoma" pitchFamily="34" charset="0"/>
              </a:rPr>
              <a:t>M</a:t>
            </a:r>
            <a:r>
              <a:rPr kumimoji="1" lang="en-US" altLang="zh-CN" sz="2400" b="1" baseline="-25000" dirty="0">
                <a:solidFill>
                  <a:schemeClr val="tx1"/>
                </a:solidFill>
                <a:latin typeface="Tahoma" pitchFamily="34" charset="0"/>
                <a:ea typeface="Tahoma" pitchFamily="34" charset="0"/>
                <a:cs typeface="Tahoma" pitchFamily="34" charset="0"/>
              </a:rPr>
              <a:t>1</a:t>
            </a:r>
            <a:r>
              <a:rPr kumimoji="1" lang="en-US" altLang="zh-CN" sz="2400" b="1" dirty="0">
                <a:solidFill>
                  <a:schemeClr val="tx1"/>
                </a:solidFill>
                <a:latin typeface="Tahoma" pitchFamily="34" charset="0"/>
                <a:ea typeface="Tahoma" pitchFamily="34" charset="0"/>
                <a:cs typeface="Tahoma" pitchFamily="34" charset="0"/>
              </a:rPr>
              <a:t> </a:t>
            </a:r>
            <a:r>
              <a:rPr kumimoji="1" lang="zh-CN" altLang="en-US" sz="2400" b="1" dirty="0">
                <a:solidFill>
                  <a:schemeClr val="tx1"/>
                </a:solidFill>
                <a:latin typeface="Tahoma" pitchFamily="34" charset="0"/>
                <a:ea typeface="+mj-ea"/>
                <a:cs typeface="Tahoma" pitchFamily="34" charset="0"/>
              </a:rPr>
              <a:t>的运行次数指数下降。</a:t>
            </a:r>
          </a:p>
        </p:txBody>
      </p:sp>
      <p:sp>
        <p:nvSpPr>
          <p:cNvPr id="302090" name="AutoShape 10">
            <a:hlinkClick r:id="rId2" action="ppaction://hlinksldjump"/>
            <a:extLst>
              <a:ext uri="{FF2B5EF4-FFF2-40B4-BE49-F238E27FC236}">
                <a16:creationId xmlns:a16="http://schemas.microsoft.com/office/drawing/2014/main" id="{5A6AF40A-02E0-4E05-B905-E5640F203A75}"/>
              </a:ext>
            </a:extLst>
          </p:cNvPr>
          <p:cNvSpPr>
            <a:spLocks noChangeArrowheads="1"/>
          </p:cNvSpPr>
          <p:nvPr/>
        </p:nvSpPr>
        <p:spPr bwMode="auto">
          <a:xfrm>
            <a:off x="8027988" y="5949950"/>
            <a:ext cx="936625" cy="720725"/>
          </a:xfrm>
          <a:prstGeom prst="rightArrow">
            <a:avLst>
              <a:gd name="adj1" fmla="val 50000"/>
              <a:gd name="adj2" fmla="val 32489"/>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zh-CN" altLang="en-US" sz="2000" b="1">
                <a:solidFill>
                  <a:schemeClr val="tx1"/>
                </a:solidFill>
                <a:latin typeface="隶书" panose="02010509060101010101" pitchFamily="49" charset="-122"/>
                <a:ea typeface="隶书" panose="02010509060101010101" pitchFamily="49" charset="-122"/>
              </a:rPr>
              <a:t>证明略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2089">
                                            <p:txEl>
                                              <p:pRg st="0" end="0"/>
                                            </p:txEl>
                                          </p:spTgt>
                                        </p:tgtEl>
                                        <p:attrNameLst>
                                          <p:attrName>style.visibility</p:attrName>
                                        </p:attrNameLst>
                                      </p:cBhvr>
                                      <p:to>
                                        <p:strVal val="visible"/>
                                      </p:to>
                                    </p:set>
                                    <p:animEffect transition="in" filter="wipe(left)">
                                      <p:cBhvr>
                                        <p:cTn id="12" dur="500"/>
                                        <p:tgtEl>
                                          <p:spTgt spid="30208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2089">
                                            <p:txEl>
                                              <p:pRg st="1" end="1"/>
                                            </p:txEl>
                                          </p:spTgt>
                                        </p:tgtEl>
                                        <p:attrNameLst>
                                          <p:attrName>style.visibility</p:attrName>
                                        </p:attrNameLst>
                                      </p:cBhvr>
                                      <p:to>
                                        <p:strVal val="visible"/>
                                      </p:to>
                                    </p:set>
                                    <p:animEffect transition="in" filter="wipe(left)">
                                      <p:cBhvr>
                                        <p:cTn id="17" dur="500"/>
                                        <p:tgtEl>
                                          <p:spTgt spid="30208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2090"/>
                                        </p:tgtEl>
                                        <p:attrNameLst>
                                          <p:attrName>style.visibility</p:attrName>
                                        </p:attrNameLst>
                                      </p:cBhvr>
                                      <p:to>
                                        <p:strVal val="visible"/>
                                      </p:to>
                                    </p:set>
                                    <p:animEffect transition="in" filter="blinds(horizontal)">
                                      <p:cBhvr>
                                        <p:cTn id="22" dur="500"/>
                                        <p:tgtEl>
                                          <p:spTgt spid="302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9" grpId="0" build="p"/>
      <p:bldP spid="30209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a:extLst>
              <a:ext uri="{FF2B5EF4-FFF2-40B4-BE49-F238E27FC236}">
                <a16:creationId xmlns:a16="http://schemas.microsoft.com/office/drawing/2014/main" id="{D13B909A-3A40-43DD-92E9-5454348B144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F5F4E137-9DF1-4B6D-93DF-0ED2425083B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8675" name="灯片编号占位符 4">
            <a:extLst>
              <a:ext uri="{FF2B5EF4-FFF2-40B4-BE49-F238E27FC236}">
                <a16:creationId xmlns:a16="http://schemas.microsoft.com/office/drawing/2014/main" id="{B3DBBC80-2949-4458-9D07-1D59CF15964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13FF5065-0AEC-4A91-9F7A-6978DFDD1573}"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26</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3106" name="Rectangle 2">
            <a:extLst>
              <a:ext uri="{FF2B5EF4-FFF2-40B4-BE49-F238E27FC236}">
                <a16:creationId xmlns:a16="http://schemas.microsoft.com/office/drawing/2014/main" id="{E62B06D5-412F-4F8F-94F6-691F5C71F47A}"/>
              </a:ext>
            </a:extLst>
          </p:cNvPr>
          <p:cNvSpPr>
            <a:spLocks noGrp="1" noChangeArrowheads="1"/>
          </p:cNvSpPr>
          <p:nvPr>
            <p:ph type="title"/>
          </p:nvPr>
        </p:nvSpPr>
        <p:spPr/>
        <p:txBody>
          <a:bodyPr anchor="ctr"/>
          <a:lstStyle/>
          <a:p>
            <a:pPr>
              <a:defRPr/>
            </a:pPr>
            <a:r>
              <a:rPr lang="zh-CN" altLang="en-US"/>
              <a:t>证明</a:t>
            </a:r>
          </a:p>
        </p:txBody>
      </p:sp>
      <p:sp>
        <p:nvSpPr>
          <p:cNvPr id="27653" name="Text Box 3">
            <a:extLst>
              <a:ext uri="{FF2B5EF4-FFF2-40B4-BE49-F238E27FC236}">
                <a16:creationId xmlns:a16="http://schemas.microsoft.com/office/drawing/2014/main" id="{F2850749-4018-42F3-9981-1BD64367A6CF}"/>
              </a:ext>
            </a:extLst>
          </p:cNvPr>
          <p:cNvSpPr txBox="1">
            <a:spLocks noChangeArrowheads="1"/>
          </p:cNvSpPr>
          <p:nvPr/>
        </p:nvSpPr>
        <p:spPr bwMode="auto">
          <a:xfrm>
            <a:off x="357188" y="1000125"/>
            <a:ext cx="8542337" cy="5176838"/>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0000"/>
              </a:lnSpc>
              <a:spcBef>
                <a:spcPct val="30000"/>
              </a:spcBef>
              <a:defRPr/>
            </a:pPr>
            <a:r>
              <a:rPr lang="zh-CN" altLang="en-US" sz="2400" dirty="0">
                <a:solidFill>
                  <a:schemeClr val="tx1"/>
                </a:solidFill>
                <a:latin typeface="Tahoma" pitchFamily="34" charset="0"/>
                <a:ea typeface="+mj-ea"/>
                <a:cs typeface="Tahoma" pitchFamily="34" charset="0"/>
              </a:rPr>
              <a:t>给定 </a:t>
            </a:r>
            <a:r>
              <a:rPr lang="en-US" altLang="zh-CN" sz="2400" dirty="0">
                <a:solidFill>
                  <a:schemeClr val="tx1"/>
                </a:solidFill>
                <a:latin typeface="Tahoma" pitchFamily="34" charset="0"/>
                <a:ea typeface="Tahoma" pitchFamily="34" charset="0"/>
                <a:cs typeface="Tahoma" pitchFamily="34" charset="0"/>
              </a:rPr>
              <a:t>TM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1 </a:t>
            </a:r>
            <a:r>
              <a:rPr lang="zh-CN" altLang="en-US" sz="2400" dirty="0">
                <a:solidFill>
                  <a:schemeClr val="tx1"/>
                </a:solidFill>
                <a:latin typeface="Tahoma" pitchFamily="34" charset="0"/>
                <a:ea typeface="+mj-ea"/>
                <a:cs typeface="Tahoma" pitchFamily="34" charset="0"/>
              </a:rPr>
              <a:t>和多项式 </a:t>
            </a:r>
            <a:r>
              <a:rPr lang="en-US" altLang="zh-CN" sz="2400" dirty="0">
                <a:solidFill>
                  <a:schemeClr val="tx1"/>
                </a:solidFill>
                <a:latin typeface="Tahoma" pitchFamily="34" charset="0"/>
                <a:ea typeface="Tahoma" pitchFamily="34" charset="0"/>
                <a:cs typeface="Tahoma" pitchFamily="34" charset="0"/>
              </a:rPr>
              <a:t>poly(</a:t>
            </a:r>
            <a:r>
              <a:rPr lang="en-US" altLang="zh-CN" sz="2400" i="1" dirty="0">
                <a:solidFill>
                  <a:schemeClr val="tx1"/>
                </a:solidFill>
                <a:latin typeface="Tahoma" pitchFamily="34" charset="0"/>
                <a:ea typeface="Tahoma" pitchFamily="34" charset="0"/>
                <a:cs typeface="Tahoma" pitchFamily="34" charset="0"/>
              </a:rPr>
              <a:t>n</a:t>
            </a:r>
            <a:r>
              <a:rPr lang="en-US" altLang="zh-CN" sz="2400" dirty="0">
                <a:solidFill>
                  <a:schemeClr val="tx1"/>
                </a:solidFill>
                <a:latin typeface="Tahoma" pitchFamily="34" charset="0"/>
                <a:ea typeface="Tahoma" pitchFamily="34" charset="0"/>
                <a:cs typeface="Tahoma" pitchFamily="34" charset="0"/>
              </a:rPr>
              <a:t>)</a:t>
            </a:r>
            <a:r>
              <a:rPr lang="zh-CN" altLang="en-US" sz="2400" dirty="0">
                <a:solidFill>
                  <a:schemeClr val="tx1"/>
                </a:solidFill>
                <a:latin typeface="Tahoma" pitchFamily="34" charset="0"/>
                <a:ea typeface="+mj-ea"/>
                <a:cs typeface="Tahoma" pitchFamily="34" charset="0"/>
              </a:rPr>
              <a:t>，</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1 </a:t>
            </a:r>
            <a:r>
              <a:rPr lang="zh-CN" altLang="en-US" sz="2400" dirty="0">
                <a:solidFill>
                  <a:schemeClr val="tx1"/>
                </a:solidFill>
                <a:latin typeface="Tahoma" pitchFamily="34" charset="0"/>
                <a:ea typeface="+mj-ea"/>
                <a:cs typeface="Tahoma" pitchFamily="34" charset="0"/>
              </a:rPr>
              <a:t>以错误概率 </a:t>
            </a:r>
            <a:r>
              <a:rPr lang="zh-CN" altLang="en-US" sz="2400" dirty="0">
                <a:solidFill>
                  <a:schemeClr val="tx1"/>
                </a:solidFill>
                <a:latin typeface="Tahoma" pitchFamily="34" charset="0"/>
                <a:ea typeface="+mj-ea"/>
                <a:cs typeface="Tahoma" pitchFamily="34" charset="0"/>
                <a:sym typeface="Symbol" panose="05050102010706020507" pitchFamily="18" charset="2"/>
              </a:rPr>
              <a:t></a:t>
            </a:r>
            <a:r>
              <a:rPr lang="en-US" altLang="zh-CN" sz="2400" dirty="0">
                <a:solidFill>
                  <a:schemeClr val="tx1"/>
                </a:solidFill>
                <a:latin typeface="Tahoma" pitchFamily="34" charset="0"/>
                <a:ea typeface="Tahoma" pitchFamily="34" charset="0"/>
                <a:cs typeface="Tahoma" pitchFamily="34" charset="0"/>
              </a:rPr>
              <a:t>&lt;1/2 </a:t>
            </a:r>
            <a:r>
              <a:rPr lang="zh-CN" altLang="en-US" sz="2400" dirty="0">
                <a:solidFill>
                  <a:schemeClr val="tx1"/>
                </a:solidFill>
                <a:latin typeface="Tahoma" pitchFamily="34" charset="0"/>
                <a:ea typeface="+mj-ea"/>
                <a:cs typeface="Tahoma" pitchFamily="34" charset="0"/>
              </a:rPr>
              <a:t>识别一个语言，要构造下述 </a:t>
            </a:r>
            <a:r>
              <a:rPr lang="en-US" altLang="zh-CN" sz="2400" dirty="0">
                <a:solidFill>
                  <a:schemeClr val="tx1"/>
                </a:solidFill>
                <a:latin typeface="Tahoma" pitchFamily="34" charset="0"/>
                <a:ea typeface="Tahoma" pitchFamily="34" charset="0"/>
                <a:cs typeface="Tahoma" pitchFamily="34" charset="0"/>
              </a:rPr>
              <a:t>TM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2</a:t>
            </a:r>
            <a:r>
              <a:rPr lang="zh-CN" altLang="en-US" sz="2400" baseline="-10000" dirty="0">
                <a:solidFill>
                  <a:schemeClr val="tx1"/>
                </a:solidFill>
                <a:latin typeface="Tahoma" pitchFamily="34" charset="0"/>
                <a:ea typeface="+mj-ea"/>
                <a:cs typeface="Tahoma" pitchFamily="34" charset="0"/>
              </a:rPr>
              <a:t>，</a:t>
            </a:r>
            <a:r>
              <a:rPr lang="zh-CN" altLang="en-US" sz="2400" dirty="0">
                <a:solidFill>
                  <a:schemeClr val="tx1"/>
                </a:solidFill>
                <a:latin typeface="Tahoma" pitchFamily="34" charset="0"/>
                <a:ea typeface="+mj-ea"/>
                <a:cs typeface="Tahoma" pitchFamily="34" charset="0"/>
              </a:rPr>
              <a:t>它以错误概率 </a:t>
            </a:r>
            <a:r>
              <a:rPr lang="en-US" altLang="zh-CN" sz="2400" dirty="0">
                <a:solidFill>
                  <a:schemeClr val="tx1"/>
                </a:solidFill>
                <a:latin typeface="Tahoma" pitchFamily="34" charset="0"/>
                <a:ea typeface="Tahoma" pitchFamily="34" charset="0"/>
                <a:cs typeface="Tahoma" pitchFamily="34" charset="0"/>
              </a:rPr>
              <a:t>2</a:t>
            </a:r>
            <a:r>
              <a:rPr lang="en-US" altLang="zh-CN" sz="2400" baseline="30000" dirty="0">
                <a:solidFill>
                  <a:schemeClr val="tx1"/>
                </a:solidFill>
                <a:latin typeface="Tahoma" pitchFamily="34" charset="0"/>
                <a:ea typeface="Tahoma" pitchFamily="34" charset="0"/>
                <a:cs typeface="Tahoma" pitchFamily="34" charset="0"/>
              </a:rPr>
              <a:t>-poly(</a:t>
            </a:r>
            <a:r>
              <a:rPr lang="en-US" altLang="zh-CN" sz="2400" i="1" baseline="30000" dirty="0">
                <a:solidFill>
                  <a:schemeClr val="tx1"/>
                </a:solidFill>
                <a:latin typeface="Tahoma" pitchFamily="34" charset="0"/>
                <a:ea typeface="Tahoma" pitchFamily="34" charset="0"/>
                <a:cs typeface="Tahoma" pitchFamily="34" charset="0"/>
              </a:rPr>
              <a:t>n</a:t>
            </a:r>
            <a:r>
              <a:rPr lang="en-US" altLang="zh-CN" sz="2400" baseline="300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识别同一语言。</a:t>
            </a:r>
          </a:p>
          <a:p>
            <a:pPr>
              <a:lnSpc>
                <a:spcPct val="110000"/>
              </a:lnSpc>
              <a:spcBef>
                <a:spcPct val="30000"/>
              </a:spcBef>
              <a:defRPr/>
            </a:pP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2 </a:t>
            </a:r>
            <a:r>
              <a:rPr lang="en-US" altLang="zh-CN" sz="2400" dirty="0">
                <a:solidFill>
                  <a:schemeClr val="tx1"/>
                </a:solidFill>
                <a:latin typeface="Tahoma" pitchFamily="34" charset="0"/>
                <a:ea typeface="Tahoma" pitchFamily="34" charset="0"/>
                <a:cs typeface="Tahoma" pitchFamily="34" charset="0"/>
              </a:rPr>
              <a:t>=</a:t>
            </a:r>
            <a:r>
              <a:rPr lang="en-US" altLang="zh-CN" sz="2400" baseline="-10000" dirty="0">
                <a:solidFill>
                  <a:schemeClr val="tx1"/>
                </a:solidFill>
                <a:latin typeface="Tahoma" pitchFamily="34" charset="0"/>
                <a:ea typeface="Tahoma" pitchFamily="34" charset="0"/>
                <a:cs typeface="Tahoma" pitchFamily="34" charset="0"/>
              </a:rPr>
              <a:t> </a:t>
            </a:r>
            <a:r>
              <a:rPr lang="en-US" altLang="zh-CN" sz="2400" dirty="0">
                <a:solidFill>
                  <a:schemeClr val="tx1"/>
                </a:solidFill>
                <a:latin typeface="Tahoma" pitchFamily="34" charset="0"/>
                <a:ea typeface="Tahoma" pitchFamily="34" charset="0"/>
                <a:cs typeface="Tahoma" pitchFamily="34" charset="0"/>
              </a:rPr>
              <a:t>“</a:t>
            </a:r>
            <a:r>
              <a:rPr lang="zh-CN" altLang="en-US" sz="2400" dirty="0">
                <a:solidFill>
                  <a:schemeClr val="tx1"/>
                </a:solidFill>
                <a:latin typeface="Tahoma" pitchFamily="34" charset="0"/>
                <a:ea typeface="+mj-ea"/>
                <a:cs typeface="Tahoma" pitchFamily="34" charset="0"/>
              </a:rPr>
              <a:t>对输入 </a:t>
            </a:r>
            <a:r>
              <a:rPr lang="en-US" altLang="zh-CN" sz="2400" i="1" dirty="0">
                <a:solidFill>
                  <a:schemeClr val="tx1"/>
                </a:solidFill>
                <a:latin typeface="Tahoma" pitchFamily="34" charset="0"/>
                <a:ea typeface="Tahoma" pitchFamily="34" charset="0"/>
                <a:cs typeface="Tahoma" pitchFamily="34" charset="0"/>
              </a:rPr>
              <a:t>w</a:t>
            </a:r>
            <a:r>
              <a:rPr lang="zh-CN" altLang="en-US" sz="2400" dirty="0">
                <a:solidFill>
                  <a:schemeClr val="tx1"/>
                </a:solidFill>
                <a:latin typeface="Tahoma" pitchFamily="34" charset="0"/>
                <a:ea typeface="+mj-ea"/>
                <a:cs typeface="Tahoma" pitchFamily="34" charset="0"/>
              </a:rPr>
              <a:t>：</a:t>
            </a:r>
          </a:p>
          <a:p>
            <a:pPr>
              <a:lnSpc>
                <a:spcPct val="110000"/>
              </a:lnSpc>
              <a:spcBef>
                <a:spcPct val="30000"/>
              </a:spcBef>
              <a:defRPr/>
            </a:pPr>
            <a:r>
              <a:rPr lang="zh-CN" altLang="en-US" sz="2400" baseline="-10000" dirty="0">
                <a:solidFill>
                  <a:schemeClr val="tx1"/>
                </a:solidFill>
                <a:latin typeface="Tahoma" pitchFamily="34" charset="0"/>
                <a:ea typeface="+mj-ea"/>
                <a:cs typeface="Tahoma" pitchFamily="34" charset="0"/>
              </a:rPr>
              <a:t>       </a:t>
            </a:r>
            <a:r>
              <a:rPr lang="en-US" altLang="zh-CN" sz="2400" dirty="0">
                <a:solidFill>
                  <a:schemeClr val="tx1"/>
                </a:solidFill>
                <a:latin typeface="Tahoma" pitchFamily="34" charset="0"/>
                <a:ea typeface="Tahoma" pitchFamily="34" charset="0"/>
                <a:cs typeface="Tahoma" pitchFamily="34" charset="0"/>
              </a:rPr>
              <a:t>1) </a:t>
            </a:r>
            <a:r>
              <a:rPr lang="zh-CN" altLang="en-US" sz="2400" dirty="0">
                <a:solidFill>
                  <a:schemeClr val="tx1"/>
                </a:solidFill>
                <a:latin typeface="Tahoma" pitchFamily="34" charset="0"/>
                <a:ea typeface="+mj-ea"/>
                <a:cs typeface="Tahoma" pitchFamily="34" charset="0"/>
              </a:rPr>
              <a:t>计算 </a:t>
            </a:r>
            <a:r>
              <a:rPr lang="en-US" altLang="zh-CN" sz="2400" i="1" dirty="0">
                <a:solidFill>
                  <a:schemeClr val="tx1"/>
                </a:solidFill>
                <a:latin typeface="Tahoma" pitchFamily="34" charset="0"/>
                <a:ea typeface="Tahoma" pitchFamily="34" charset="0"/>
                <a:cs typeface="Tahoma" pitchFamily="34" charset="0"/>
              </a:rPr>
              <a:t>k</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的值（请注意下边的分析）。</a:t>
            </a:r>
          </a:p>
          <a:p>
            <a:pPr>
              <a:lnSpc>
                <a:spcPct val="110000"/>
              </a:lnSpc>
              <a:spcBef>
                <a:spcPct val="30000"/>
              </a:spcBef>
              <a:defRPr/>
            </a:pPr>
            <a:r>
              <a:rPr lang="zh-CN" altLang="en-US" sz="2400" dirty="0">
                <a:solidFill>
                  <a:schemeClr val="tx1"/>
                </a:solidFill>
                <a:latin typeface="Tahoma" pitchFamily="34" charset="0"/>
                <a:ea typeface="+mj-ea"/>
                <a:cs typeface="Tahoma" pitchFamily="34" charset="0"/>
              </a:rPr>
              <a:t>     </a:t>
            </a:r>
            <a:r>
              <a:rPr lang="en-US" altLang="zh-CN" sz="2400" dirty="0">
                <a:solidFill>
                  <a:schemeClr val="tx1"/>
                </a:solidFill>
                <a:latin typeface="Tahoma" pitchFamily="34" charset="0"/>
                <a:ea typeface="Tahoma" pitchFamily="34" charset="0"/>
                <a:cs typeface="Tahoma" pitchFamily="34" charset="0"/>
              </a:rPr>
              <a:t>2) </a:t>
            </a:r>
            <a:r>
              <a:rPr lang="zh-CN" altLang="en-US" sz="2400" dirty="0">
                <a:solidFill>
                  <a:schemeClr val="tx1"/>
                </a:solidFill>
                <a:latin typeface="Tahoma" pitchFamily="34" charset="0"/>
                <a:ea typeface="+mj-ea"/>
                <a:cs typeface="Tahoma" pitchFamily="34" charset="0"/>
              </a:rPr>
              <a:t>对输入 </a:t>
            </a:r>
            <a:r>
              <a:rPr lang="en-US" altLang="zh-CN" sz="2400" i="1" dirty="0">
                <a:solidFill>
                  <a:schemeClr val="tx1"/>
                </a:solidFill>
                <a:latin typeface="Tahoma" pitchFamily="34" charset="0"/>
                <a:ea typeface="Tahoma" pitchFamily="34" charset="0"/>
                <a:cs typeface="Tahoma" pitchFamily="34" charset="0"/>
              </a:rPr>
              <a:t>w </a:t>
            </a:r>
            <a:r>
              <a:rPr lang="zh-CN" altLang="en-US" sz="2400" dirty="0">
                <a:solidFill>
                  <a:schemeClr val="tx1"/>
                </a:solidFill>
                <a:latin typeface="Tahoma" pitchFamily="34" charset="0"/>
                <a:ea typeface="+mj-ea"/>
                <a:cs typeface="Tahoma" pitchFamily="34" charset="0"/>
              </a:rPr>
              <a:t>进行 </a:t>
            </a:r>
            <a:r>
              <a:rPr lang="en-US" altLang="zh-CN" sz="2400" dirty="0">
                <a:solidFill>
                  <a:schemeClr val="tx1"/>
                </a:solidFill>
                <a:latin typeface="Tahoma" pitchFamily="34" charset="0"/>
                <a:ea typeface="Tahoma" pitchFamily="34" charset="0"/>
                <a:cs typeface="Tahoma" pitchFamily="34" charset="0"/>
              </a:rPr>
              <a:t>2</a:t>
            </a:r>
            <a:r>
              <a:rPr lang="en-US" altLang="zh-CN" sz="2400" i="1" dirty="0">
                <a:solidFill>
                  <a:schemeClr val="tx1"/>
                </a:solidFill>
                <a:latin typeface="Tahoma" pitchFamily="34" charset="0"/>
                <a:ea typeface="Tahoma" pitchFamily="34" charset="0"/>
                <a:cs typeface="Tahoma" pitchFamily="34" charset="0"/>
              </a:rPr>
              <a:t>k</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次独立的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1 </a:t>
            </a:r>
            <a:r>
              <a:rPr lang="zh-CN" altLang="en-US" sz="2400" dirty="0">
                <a:solidFill>
                  <a:schemeClr val="tx1"/>
                </a:solidFill>
                <a:latin typeface="Tahoma" pitchFamily="34" charset="0"/>
                <a:ea typeface="+mj-ea"/>
                <a:cs typeface="Tahoma" pitchFamily="34" charset="0"/>
              </a:rPr>
              <a:t>模拟运行。</a:t>
            </a:r>
          </a:p>
          <a:p>
            <a:pPr>
              <a:lnSpc>
                <a:spcPct val="110000"/>
              </a:lnSpc>
              <a:spcBef>
                <a:spcPct val="30000"/>
              </a:spcBef>
              <a:defRPr/>
            </a:pPr>
            <a:r>
              <a:rPr lang="zh-CN" altLang="en-US" sz="2400" dirty="0">
                <a:solidFill>
                  <a:schemeClr val="tx1"/>
                </a:solidFill>
                <a:latin typeface="Tahoma" pitchFamily="34" charset="0"/>
                <a:ea typeface="+mj-ea"/>
                <a:cs typeface="Tahoma" pitchFamily="34" charset="0"/>
              </a:rPr>
              <a:t>     </a:t>
            </a:r>
            <a:r>
              <a:rPr lang="en-US" altLang="zh-CN" sz="2400" dirty="0">
                <a:solidFill>
                  <a:schemeClr val="tx1"/>
                </a:solidFill>
                <a:latin typeface="Tahoma" pitchFamily="34" charset="0"/>
                <a:ea typeface="Tahoma" pitchFamily="34" charset="0"/>
                <a:cs typeface="Tahoma" pitchFamily="34" charset="0"/>
              </a:rPr>
              <a:t>3) </a:t>
            </a:r>
            <a:r>
              <a:rPr lang="zh-CN" altLang="en-US" sz="2400" dirty="0">
                <a:solidFill>
                  <a:schemeClr val="tx1"/>
                </a:solidFill>
                <a:latin typeface="Tahoma" pitchFamily="34" charset="0"/>
                <a:ea typeface="+mj-ea"/>
                <a:cs typeface="Tahoma" pitchFamily="34" charset="0"/>
              </a:rPr>
              <a:t>如果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25000" dirty="0">
                <a:solidFill>
                  <a:schemeClr val="tx1"/>
                </a:solidFill>
                <a:latin typeface="Tahoma" pitchFamily="34" charset="0"/>
                <a:ea typeface="Tahoma" pitchFamily="34" charset="0"/>
                <a:cs typeface="Tahoma" pitchFamily="34" charset="0"/>
              </a:rPr>
              <a:t>1</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接受 </a:t>
            </a:r>
            <a:r>
              <a:rPr lang="en-US" altLang="zh-CN" sz="2400" i="1" dirty="0">
                <a:solidFill>
                  <a:schemeClr val="tx1"/>
                </a:solidFill>
                <a:latin typeface="Tahoma" pitchFamily="34" charset="0"/>
                <a:ea typeface="Tahoma" pitchFamily="34" charset="0"/>
                <a:cs typeface="Tahoma" pitchFamily="34" charset="0"/>
              </a:rPr>
              <a:t>w</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的次数多，则接受；否则拒绝。”</a:t>
            </a:r>
          </a:p>
          <a:p>
            <a:pPr>
              <a:lnSpc>
                <a:spcPct val="110000"/>
              </a:lnSpc>
              <a:spcBef>
                <a:spcPct val="30000"/>
              </a:spcBef>
              <a:defRPr/>
            </a:pPr>
            <a:r>
              <a:rPr lang="zh-CN" altLang="en-US" sz="2400" dirty="0">
                <a:solidFill>
                  <a:schemeClr val="tx1"/>
                </a:solidFill>
                <a:latin typeface="Tahoma" pitchFamily="34" charset="0"/>
                <a:ea typeface="+mj-ea"/>
                <a:cs typeface="Tahoma" pitchFamily="34" charset="0"/>
              </a:rPr>
              <a:t>我们设法限定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2 </a:t>
            </a:r>
            <a:r>
              <a:rPr lang="zh-CN" altLang="en-US" sz="2400" dirty="0">
                <a:solidFill>
                  <a:schemeClr val="tx1"/>
                </a:solidFill>
                <a:latin typeface="Tahoma" pitchFamily="34" charset="0"/>
                <a:ea typeface="+mj-ea"/>
                <a:cs typeface="Tahoma" pitchFamily="34" charset="0"/>
              </a:rPr>
              <a:t>在输入</a:t>
            </a:r>
            <a:r>
              <a:rPr lang="zh-CN" altLang="en-US" sz="2400" i="1" dirty="0">
                <a:solidFill>
                  <a:schemeClr val="tx1"/>
                </a:solidFill>
                <a:latin typeface="Tahoma" pitchFamily="34" charset="0"/>
                <a:ea typeface="+mj-ea"/>
                <a:cs typeface="Tahoma" pitchFamily="34" charset="0"/>
              </a:rPr>
              <a:t> </a:t>
            </a:r>
            <a:r>
              <a:rPr lang="en-US" altLang="zh-CN" sz="2400" i="1" dirty="0">
                <a:solidFill>
                  <a:schemeClr val="tx1"/>
                </a:solidFill>
                <a:latin typeface="Tahoma" pitchFamily="34" charset="0"/>
                <a:ea typeface="Tahoma" pitchFamily="34" charset="0"/>
                <a:cs typeface="Tahoma" pitchFamily="34" charset="0"/>
              </a:rPr>
              <a:t>w</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上运行错误的概率。</a:t>
            </a:r>
          </a:p>
          <a:p>
            <a:pPr>
              <a:lnSpc>
                <a:spcPct val="110000"/>
              </a:lnSpc>
              <a:spcBef>
                <a:spcPct val="30000"/>
              </a:spcBef>
              <a:defRPr/>
            </a:pPr>
            <a:r>
              <a:rPr lang="zh-CN" altLang="en-US" sz="2400" dirty="0">
                <a:solidFill>
                  <a:schemeClr val="tx1"/>
                </a:solidFill>
                <a:latin typeface="Tahoma" pitchFamily="34" charset="0"/>
                <a:ea typeface="+mj-ea"/>
                <a:cs typeface="Tahoma" pitchFamily="34" charset="0"/>
              </a:rPr>
              <a:t>阶段 </a:t>
            </a:r>
            <a:r>
              <a:rPr lang="en-US" altLang="zh-CN" sz="2400" dirty="0">
                <a:solidFill>
                  <a:schemeClr val="tx1"/>
                </a:solidFill>
                <a:latin typeface="Tahoma" pitchFamily="34" charset="0"/>
                <a:ea typeface="Tahoma" pitchFamily="34" charset="0"/>
                <a:cs typeface="Tahoma" pitchFamily="34" charset="0"/>
              </a:rPr>
              <a:t>2 </a:t>
            </a:r>
            <a:r>
              <a:rPr lang="zh-CN" altLang="en-US" sz="2400" dirty="0">
                <a:solidFill>
                  <a:schemeClr val="tx1"/>
                </a:solidFill>
                <a:latin typeface="Tahoma" pitchFamily="34" charset="0"/>
                <a:ea typeface="+mj-ea"/>
                <a:cs typeface="Tahoma" pitchFamily="34" charset="0"/>
              </a:rPr>
              <a:t>产生一个由模拟 </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1 </a:t>
            </a:r>
            <a:r>
              <a:rPr lang="zh-CN" altLang="en-US" sz="2400" dirty="0">
                <a:solidFill>
                  <a:schemeClr val="tx1"/>
                </a:solidFill>
                <a:latin typeface="Tahoma" pitchFamily="34" charset="0"/>
                <a:ea typeface="+mj-ea"/>
                <a:cs typeface="Tahoma" pitchFamily="34" charset="0"/>
              </a:rPr>
              <a:t>得到的 </a:t>
            </a:r>
            <a:r>
              <a:rPr lang="en-US" altLang="zh-CN" sz="2400" dirty="0">
                <a:solidFill>
                  <a:schemeClr val="tx1"/>
                </a:solidFill>
                <a:latin typeface="Tahoma" pitchFamily="34" charset="0"/>
                <a:ea typeface="Tahoma" pitchFamily="34" charset="0"/>
                <a:cs typeface="Tahoma" pitchFamily="34" charset="0"/>
              </a:rPr>
              <a:t>2</a:t>
            </a:r>
            <a:r>
              <a:rPr lang="en-US" altLang="zh-CN" sz="2400" i="1" dirty="0">
                <a:solidFill>
                  <a:schemeClr val="tx1"/>
                </a:solidFill>
                <a:latin typeface="Tahoma" pitchFamily="34" charset="0"/>
                <a:ea typeface="Tahoma" pitchFamily="34" charset="0"/>
                <a:cs typeface="Tahoma" pitchFamily="34" charset="0"/>
              </a:rPr>
              <a:t>k</a:t>
            </a:r>
            <a:r>
              <a:rPr lang="en-US" altLang="zh-CN" sz="2400" dirty="0">
                <a:solidFill>
                  <a:schemeClr val="tx1"/>
                </a:solidFill>
                <a:latin typeface="Tahoma" pitchFamily="34" charset="0"/>
                <a:ea typeface="Tahoma" pitchFamily="34" charset="0"/>
                <a:cs typeface="Tahoma" pitchFamily="34" charset="0"/>
              </a:rPr>
              <a:t> </a:t>
            </a:r>
            <a:r>
              <a:rPr lang="zh-CN" altLang="en-US" sz="2400" dirty="0">
                <a:solidFill>
                  <a:schemeClr val="tx1"/>
                </a:solidFill>
                <a:latin typeface="Tahoma" pitchFamily="34" charset="0"/>
                <a:ea typeface="+mj-ea"/>
                <a:cs typeface="Tahoma" pitchFamily="34" charset="0"/>
              </a:rPr>
              <a:t>个结果的序列，每个结果要么正确要么错误。如果这些结果大多数都正确，</a:t>
            </a:r>
            <a:r>
              <a:rPr lang="en-US" altLang="zh-CN" sz="2400" i="1" dirty="0">
                <a:solidFill>
                  <a:schemeClr val="tx1"/>
                </a:solidFill>
                <a:latin typeface="Tahoma" pitchFamily="34" charset="0"/>
                <a:ea typeface="Tahoma" pitchFamily="34" charset="0"/>
                <a:cs typeface="Tahoma" pitchFamily="34" charset="0"/>
              </a:rPr>
              <a:t>M</a:t>
            </a:r>
            <a:r>
              <a:rPr lang="en-US" altLang="zh-CN" sz="2400" baseline="-10000" dirty="0">
                <a:solidFill>
                  <a:schemeClr val="tx1"/>
                </a:solidFill>
                <a:latin typeface="Tahoma" pitchFamily="34" charset="0"/>
                <a:ea typeface="Tahoma" pitchFamily="34" charset="0"/>
                <a:cs typeface="Tahoma" pitchFamily="34" charset="0"/>
              </a:rPr>
              <a:t>2 </a:t>
            </a:r>
            <a:r>
              <a:rPr lang="zh-CN" altLang="en-US" sz="2400" dirty="0">
                <a:solidFill>
                  <a:schemeClr val="tx1"/>
                </a:solidFill>
                <a:latin typeface="Tahoma" pitchFamily="34" charset="0"/>
                <a:ea typeface="+mj-ea"/>
                <a:cs typeface="Tahoma" pitchFamily="34" charset="0"/>
              </a:rPr>
              <a:t>给出正确的回答。我们限定概率为至少一半的结果都是错误的。</a:t>
            </a:r>
            <a:endParaRPr lang="zh-CN" altLang="en-US" sz="2400" baseline="-10000" dirty="0">
              <a:solidFill>
                <a:schemeClr val="tx1"/>
              </a:solidFill>
              <a:latin typeface="Tahoma" pitchFamily="34" charset="0"/>
              <a:ea typeface="+mj-ea"/>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a:extLst>
              <a:ext uri="{FF2B5EF4-FFF2-40B4-BE49-F238E27FC236}">
                <a16:creationId xmlns:a16="http://schemas.microsoft.com/office/drawing/2014/main" id="{BCB89402-1EDB-4160-B588-C0EC4C5A541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3842D61D-2135-42EC-A4F3-D0743193C06D}"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29699" name="灯片编号占位符 4">
            <a:extLst>
              <a:ext uri="{FF2B5EF4-FFF2-40B4-BE49-F238E27FC236}">
                <a16:creationId xmlns:a16="http://schemas.microsoft.com/office/drawing/2014/main" id="{2C4A8ED0-2321-45C1-B51A-770F3F46559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5737B31-8EEB-4B8A-827A-9A750BD1778A}"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27</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4131" name="Rectangle 3">
            <a:extLst>
              <a:ext uri="{FF2B5EF4-FFF2-40B4-BE49-F238E27FC236}">
                <a16:creationId xmlns:a16="http://schemas.microsoft.com/office/drawing/2014/main" id="{BD113F99-6874-467E-A7EA-D63D5BF39B74}"/>
              </a:ext>
            </a:extLst>
          </p:cNvPr>
          <p:cNvSpPr>
            <a:spLocks noGrp="1" noChangeArrowheads="1"/>
          </p:cNvSpPr>
          <p:nvPr>
            <p:ph type="title"/>
          </p:nvPr>
        </p:nvSpPr>
        <p:spPr/>
        <p:txBody>
          <a:bodyPr anchor="ctr"/>
          <a:lstStyle/>
          <a:p>
            <a:pPr>
              <a:defRPr/>
            </a:pPr>
            <a:r>
              <a:rPr lang="zh-CN" altLang="en-US"/>
              <a:t>证明</a:t>
            </a:r>
          </a:p>
        </p:txBody>
      </p:sp>
      <p:sp>
        <p:nvSpPr>
          <p:cNvPr id="1031" name="Text Box 4">
            <a:extLst>
              <a:ext uri="{FF2B5EF4-FFF2-40B4-BE49-F238E27FC236}">
                <a16:creationId xmlns:a16="http://schemas.microsoft.com/office/drawing/2014/main" id="{5C6F4E84-5759-4F27-8EDA-F17EF25017DC}"/>
              </a:ext>
            </a:extLst>
          </p:cNvPr>
          <p:cNvSpPr txBox="1">
            <a:spLocks noChangeArrowheads="1"/>
          </p:cNvSpPr>
          <p:nvPr/>
        </p:nvSpPr>
        <p:spPr bwMode="auto">
          <a:xfrm>
            <a:off x="357188" y="1071563"/>
            <a:ext cx="8643937"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假定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S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表示阶段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2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中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得到的结果序列。令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Ps</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表示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得到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S</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的概率。假定</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S</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中有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c</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个正确的结果，</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rPr>
              <a:t>w</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个错误的结果，我们有</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c + w =2k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a:t>
            </a:r>
            <a:endPar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endParaRPr>
          </a:p>
          <a:p>
            <a:pPr>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如果</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c≤w</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并且</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得到</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，那么</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输出不正确。我们把这样的序列</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称为一个坏的序列。如果</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是一个坏的序列，那么</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ps≤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w</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(1 -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c</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。因为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k≤w</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&lt;1 -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，所以</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至多是</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k</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(1 -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a:t>
            </a:r>
          </a:p>
          <a:p>
            <a:pPr>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对所有</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为坏序列的情况</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ps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求和，即得到</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输出不正确的概率。坏序列至多有</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2k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个，这是显而易见的，因为所有不同序列的总数为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rPr>
              <a:t>2k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。因此，得到如下等式：</a:t>
            </a:r>
          </a:p>
          <a:p>
            <a:pPr>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Pr[M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在输入</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w</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上输出不正确</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a:t>
            </a:r>
          </a:p>
          <a:p>
            <a:pPr>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a:t>
            </a:r>
          </a:p>
          <a:p>
            <a:pPr>
              <a:spcBef>
                <a:spcPct val="0"/>
              </a:spcBef>
              <a:buClrTx/>
              <a:buSzTx/>
              <a:buFontTx/>
              <a:buNone/>
            </a:pPr>
            <a:endPar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endParaRPr>
          </a:p>
          <a:p>
            <a:pPr>
              <a:spcBef>
                <a:spcPct val="0"/>
              </a:spcBef>
              <a:buClrTx/>
              <a:buSzTx/>
              <a:buFontTx/>
              <a:buNone/>
            </a:pPr>
            <a:endPar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endParaRPr>
          </a:p>
          <a:p>
            <a:pPr>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由于假定</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&lt;1/2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，我们有</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4(1 - )&lt;1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，因此上述概率将随</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的增加指数地减少，</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的错误概率也将随</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的增加指数地减少。为得到一个特定的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值，使得我们能很好地将</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的错误概率限定在小于</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（其中</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），我们令</a:t>
            </a:r>
            <a:endPar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a:p>
            <a:pPr>
              <a:spcBef>
                <a:spcPct val="0"/>
              </a:spcBef>
              <a:buClrTx/>
              <a:buSzTx/>
              <a:buFontTx/>
              <a:buNone/>
            </a:pP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 log</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(4 (1 -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，并选择</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k≥t/a</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。于是，我们得到多项式时间内的错误概率</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-poly(n)</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p:txBody>
      </p:sp>
      <p:graphicFrame>
        <p:nvGraphicFramePr>
          <p:cNvPr id="1026" name="Object 2">
            <a:extLst>
              <a:ext uri="{FF2B5EF4-FFF2-40B4-BE49-F238E27FC236}">
                <a16:creationId xmlns:a16="http://schemas.microsoft.com/office/drawing/2014/main" id="{AAA2D899-B73B-46B7-8D72-311E61BA1349}"/>
              </a:ext>
            </a:extLst>
          </p:cNvPr>
          <p:cNvGraphicFramePr>
            <a:graphicFrameLocks noGrp="1" noChangeAspect="1"/>
          </p:cNvGraphicFramePr>
          <p:nvPr>
            <p:ph idx="1"/>
          </p:nvPr>
        </p:nvGraphicFramePr>
        <p:xfrm>
          <a:off x="2928938" y="3929063"/>
          <a:ext cx="4637087" cy="687387"/>
        </p:xfrm>
        <a:graphic>
          <a:graphicData uri="http://schemas.openxmlformats.org/presentationml/2006/ole">
            <mc:AlternateContent xmlns:mc="http://schemas.openxmlformats.org/markup-compatibility/2006">
              <mc:Choice xmlns:v="urn:schemas-microsoft-com:vml" Requires="v">
                <p:oleObj name="Equation" r:id="rId2" imgW="2400300" imgH="355600" progId="Equation.DSMT4">
                  <p:embed/>
                </p:oleObj>
              </mc:Choice>
              <mc:Fallback>
                <p:oleObj name="Equation" r:id="rId2" imgW="2400300" imgH="355600" progId="Equation.DSMT4">
                  <p:embed/>
                  <p:pic>
                    <p:nvPicPr>
                      <p:cNvPr id="1026" name="Object 2">
                        <a:extLst>
                          <a:ext uri="{FF2B5EF4-FFF2-40B4-BE49-F238E27FC236}">
                            <a16:creationId xmlns:a16="http://schemas.microsoft.com/office/drawing/2014/main" id="{AAA2D899-B73B-46B7-8D72-311E61BA1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38" y="3929063"/>
                        <a:ext cx="4637087"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1"/>
                                        </p:tgtEl>
                                        <p:attrNameLst>
                                          <p:attrName>style.visibility</p:attrName>
                                        </p:attrNameLst>
                                      </p:cBhvr>
                                      <p:to>
                                        <p:strVal val="visible"/>
                                      </p:to>
                                    </p:set>
                                    <p:animEffect transition="in" filter="wipe(left)">
                                      <p:cBhvr>
                                        <p:cTn id="7" dur="500"/>
                                        <p:tgtEl>
                                          <p:spTgt spid="1031"/>
                                        </p:tgtEl>
                                      </p:cBhvr>
                                    </p:animEffect>
                                  </p:childTnLst>
                                </p:cTn>
                              </p:par>
                              <p:par>
                                <p:cTn id="8" presetID="22" presetClass="entr" presetSubtype="8"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wipe(left)">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a:extLst>
              <a:ext uri="{FF2B5EF4-FFF2-40B4-BE49-F238E27FC236}">
                <a16:creationId xmlns:a16="http://schemas.microsoft.com/office/drawing/2014/main" id="{8EF62323-0433-4A26-8C01-B26559F3F31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CF4CCF3E-B60D-4DF2-871B-6C76075D786E}"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0723" name="灯片编号占位符 4">
            <a:extLst>
              <a:ext uri="{FF2B5EF4-FFF2-40B4-BE49-F238E27FC236}">
                <a16:creationId xmlns:a16="http://schemas.microsoft.com/office/drawing/2014/main" id="{7F874DEB-E07D-4FD0-BE7D-1A1AA560A20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C052916-7E58-4890-98AD-395E84A10F00}"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28</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5154" name="Rectangle 2">
            <a:extLst>
              <a:ext uri="{FF2B5EF4-FFF2-40B4-BE49-F238E27FC236}">
                <a16:creationId xmlns:a16="http://schemas.microsoft.com/office/drawing/2014/main" id="{ADBABB80-22A1-4E1E-B842-592E6BE8E5FE}"/>
              </a:ext>
            </a:extLst>
          </p:cNvPr>
          <p:cNvSpPr>
            <a:spLocks noGrp="1" noChangeArrowheads="1"/>
          </p:cNvSpPr>
          <p:nvPr>
            <p:ph type="title"/>
          </p:nvPr>
        </p:nvSpPr>
        <p:spPr/>
        <p:txBody>
          <a:bodyPr/>
          <a:lstStyle/>
          <a:p>
            <a:pPr>
              <a:defRPr/>
            </a:pPr>
            <a:r>
              <a:rPr lang="zh-CN" altLang="en-US">
                <a:solidFill>
                  <a:srgbClr val="FF0000"/>
                </a:solidFill>
              </a:rPr>
              <a:t>素数性</a:t>
            </a:r>
          </a:p>
        </p:txBody>
      </p:sp>
      <p:sp>
        <p:nvSpPr>
          <p:cNvPr id="305155" name="Rectangle 3">
            <a:extLst>
              <a:ext uri="{FF2B5EF4-FFF2-40B4-BE49-F238E27FC236}">
                <a16:creationId xmlns:a16="http://schemas.microsoft.com/office/drawing/2014/main" id="{15713DB6-448E-4DC3-BC66-BB645F5C558B}"/>
              </a:ext>
            </a:extLst>
          </p:cNvPr>
          <p:cNvSpPr>
            <a:spLocks noGrp="1" noChangeArrowheads="1"/>
          </p:cNvSpPr>
          <p:nvPr>
            <p:ph type="body" idx="1"/>
          </p:nvPr>
        </p:nvSpPr>
        <p:spPr/>
        <p:txBody>
          <a:bodyPr/>
          <a:lstStyle/>
          <a:p>
            <a:pPr>
              <a:lnSpc>
                <a:spcPct val="115000"/>
              </a:lnSpc>
              <a:spcBef>
                <a:spcPct val="15000"/>
              </a:spcBef>
            </a:pP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素数</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是大于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并且不能被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和自身以外的任何正整数除尽的整数。</a:t>
            </a: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大于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的非素数叫做</a:t>
            </a: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合数</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判定一个数是否是素数，一种最直接的方法是检查所有小于这个数的整数，看是否有能整除这个数的数，即</a:t>
            </a: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因子</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ct val="115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对于任一大于 </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的数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，如果两个数仅相差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的整数倍，我们说两个数是</a:t>
            </a: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模 </a:t>
            </a:r>
            <a:r>
              <a:rPr lang="en-US" altLang="zh-CN" i="1">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 </a:t>
            </a:r>
            <a:r>
              <a:rPr lang="zh-CN" altLang="en-US">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等价的</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ct val="115000"/>
              </a:lnSpc>
              <a:spcBef>
                <a:spcPct val="15000"/>
              </a:spcBef>
            </a:pP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x</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y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是模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等价的，记作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x </a:t>
            </a:r>
            <a:r>
              <a:rPr lang="en-US" altLang="zh-CN">
                <a:latin typeface="Tahoma" panose="020B0604030504040204" pitchFamily="34" charset="0"/>
                <a:ea typeface="隶书" panose="02010509060101010101" pitchFamily="49" charset="-122"/>
                <a:cs typeface="Tahoma" panose="020B0604030504040204" pitchFamily="34" charset="0"/>
              </a:rPr>
              <a:t>≡</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y</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 </a:t>
            </a:r>
            <a:r>
              <a:rPr lang="en-US" altLang="zh-CN" i="1">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ct val="115000"/>
              </a:lnSpc>
              <a:spcBef>
                <a:spcPct val="15000"/>
              </a:spcBef>
            </a:pPr>
            <a:r>
              <a:rPr lang="en-US" altLang="zh-CN" i="1">
                <a:latin typeface="Tahoma" panose="020B0604030504040204" pitchFamily="34" charset="0"/>
                <a:ea typeface="隶书" panose="02010509060101010101" pitchFamily="49" charset="-122"/>
                <a:cs typeface="Tahoma" panose="020B0604030504040204" pitchFamily="34" charset="0"/>
              </a:rPr>
              <a:t>Z</a:t>
            </a:r>
            <a:r>
              <a:rPr lang="en-US" altLang="zh-CN" i="1" baseline="-25000">
                <a:latin typeface="Tahoma" panose="020B0604030504040204" pitchFamily="34" charset="0"/>
                <a:ea typeface="隶书" panose="02010509060101010101" pitchFamily="49" charset="-122"/>
                <a:cs typeface="Tahoma" panose="020B0604030504040204" pitchFamily="34" charset="0"/>
              </a:rPr>
              <a:t>p</a:t>
            </a:r>
            <a:r>
              <a:rPr lang="en-US" altLang="zh-CN" baseline="30000">
                <a:latin typeface="Tahoma" panose="020B0604030504040204" pitchFamily="34" charset="0"/>
                <a:ea typeface="隶书" panose="02010509060101010101" pitchFamily="49" charset="-122"/>
                <a:cs typeface="Tahoma" panose="020B0604030504040204" pitchFamily="34" charset="0"/>
              </a:rPr>
              <a:t>+ </a:t>
            </a:r>
            <a:r>
              <a:rPr lang="en-US" altLang="zh-CN">
                <a:latin typeface="Tahoma" panose="020B0604030504040204" pitchFamily="34" charset="0"/>
                <a:ea typeface="隶书" panose="02010509060101010101" pitchFamily="49" charset="-122"/>
                <a:cs typeface="Tahoma" panose="020B0604030504040204" pitchFamily="34" charset="0"/>
              </a:rPr>
              <a:t>={1, 2, … ,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-1}</a:t>
            </a:r>
          </a:p>
          <a:p>
            <a:pPr>
              <a:lnSpc>
                <a:spcPct val="115000"/>
              </a:lnSpc>
              <a:spcBef>
                <a:spcPct val="15000"/>
              </a:spcBef>
            </a:pPr>
            <a:r>
              <a:rPr lang="en-US" altLang="zh-CN" i="1">
                <a:latin typeface="Tahoma" panose="020B0604030504040204" pitchFamily="34" charset="0"/>
                <a:ea typeface="隶书" panose="02010509060101010101" pitchFamily="49" charset="-122"/>
                <a:cs typeface="Tahoma" panose="020B0604030504040204" pitchFamily="34" charset="0"/>
              </a:rPr>
              <a:t>Z</a:t>
            </a:r>
            <a:r>
              <a:rPr lang="en-US" altLang="zh-CN" i="1" baseline="-25000">
                <a:latin typeface="Tahoma" panose="020B0604030504040204" pitchFamily="34" charset="0"/>
                <a:ea typeface="隶书" panose="02010509060101010101" pitchFamily="49" charset="-122"/>
                <a:cs typeface="Tahoma" panose="020B0604030504040204" pitchFamily="34" charset="0"/>
              </a:rPr>
              <a:t>p</a:t>
            </a:r>
            <a:r>
              <a:rPr lang="en-US" altLang="zh-CN" baseline="30000">
                <a:latin typeface="Tahoma" panose="020B0604030504040204" pitchFamily="34" charset="0"/>
                <a:ea typeface="隶书" panose="02010509060101010101" pitchFamily="49" charset="-122"/>
                <a:cs typeface="Tahoma" panose="020B0604030504040204" pitchFamily="34" charset="0"/>
              </a:rPr>
              <a:t> </a:t>
            </a:r>
            <a:r>
              <a:rPr lang="en-US" altLang="zh-CN">
                <a:latin typeface="Tahoma" panose="020B0604030504040204" pitchFamily="34" charset="0"/>
                <a:ea typeface="隶书" panose="02010509060101010101" pitchFamily="49" charset="-122"/>
                <a:cs typeface="Tahoma" panose="020B0604030504040204" pitchFamily="34" charset="0"/>
              </a:rPr>
              <a:t>= {0, 1, … ,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wipe(left)">
                                      <p:cBhvr>
                                        <p:cTn id="7" dur="500"/>
                                        <p:tgtEl>
                                          <p:spTgt spid="305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wipe(left)">
                                      <p:cBhvr>
                                        <p:cTn id="12" dur="500"/>
                                        <p:tgtEl>
                                          <p:spTgt spid="305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wipe(left)">
                                      <p:cBhvr>
                                        <p:cTn id="17" dur="500"/>
                                        <p:tgtEl>
                                          <p:spTgt spid="305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wipe(left)">
                                      <p:cBhvr>
                                        <p:cTn id="22" dur="500"/>
                                        <p:tgtEl>
                                          <p:spTgt spid="3051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5155">
                                            <p:txEl>
                                              <p:pRg st="4" end="4"/>
                                            </p:txEl>
                                          </p:spTgt>
                                        </p:tgtEl>
                                        <p:attrNameLst>
                                          <p:attrName>style.visibility</p:attrName>
                                        </p:attrNameLst>
                                      </p:cBhvr>
                                      <p:to>
                                        <p:strVal val="visible"/>
                                      </p:to>
                                    </p:set>
                                    <p:animEffect transition="in" filter="wipe(left)">
                                      <p:cBhvr>
                                        <p:cTn id="27" dur="500"/>
                                        <p:tgtEl>
                                          <p:spTgt spid="3051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5155">
                                            <p:txEl>
                                              <p:pRg st="5" end="5"/>
                                            </p:txEl>
                                          </p:spTgt>
                                        </p:tgtEl>
                                        <p:attrNameLst>
                                          <p:attrName>style.visibility</p:attrName>
                                        </p:attrNameLst>
                                      </p:cBhvr>
                                      <p:to>
                                        <p:strVal val="visible"/>
                                      </p:to>
                                    </p:set>
                                    <p:animEffect transition="in" filter="wipe(left)">
                                      <p:cBhvr>
                                        <p:cTn id="32" dur="500"/>
                                        <p:tgtEl>
                                          <p:spTgt spid="3051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5155">
                                            <p:txEl>
                                              <p:pRg st="6" end="6"/>
                                            </p:txEl>
                                          </p:spTgt>
                                        </p:tgtEl>
                                        <p:attrNameLst>
                                          <p:attrName>style.visibility</p:attrName>
                                        </p:attrNameLst>
                                      </p:cBhvr>
                                      <p:to>
                                        <p:strVal val="visible"/>
                                      </p:to>
                                    </p:set>
                                    <p:animEffect transition="in" filter="wipe(left)">
                                      <p:cBhvr>
                                        <p:cTn id="37" dur="500"/>
                                        <p:tgtEl>
                                          <p:spTgt spid="3051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a:extLst>
              <a:ext uri="{FF2B5EF4-FFF2-40B4-BE49-F238E27FC236}">
                <a16:creationId xmlns:a16="http://schemas.microsoft.com/office/drawing/2014/main" id="{BEFAF0AD-4ADB-48E9-97ED-8959200C2D9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9D86E31-B965-45E7-9F63-6C0F2AF06928}"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1747" name="灯片编号占位符 4">
            <a:extLst>
              <a:ext uri="{FF2B5EF4-FFF2-40B4-BE49-F238E27FC236}">
                <a16:creationId xmlns:a16="http://schemas.microsoft.com/office/drawing/2014/main" id="{4ECF742B-6026-46A1-80F6-82548753B4C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1EF4D0C-E8FB-4887-AB36-A0F08706F703}"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29</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6178" name="Rectangle 2">
            <a:extLst>
              <a:ext uri="{FF2B5EF4-FFF2-40B4-BE49-F238E27FC236}">
                <a16:creationId xmlns:a16="http://schemas.microsoft.com/office/drawing/2014/main" id="{DC723999-49C2-4431-A5FD-7B5E51A7AAE3}"/>
              </a:ext>
            </a:extLst>
          </p:cNvPr>
          <p:cNvSpPr>
            <a:spLocks noGrp="1" noChangeArrowheads="1"/>
          </p:cNvSpPr>
          <p:nvPr>
            <p:ph type="title"/>
          </p:nvPr>
        </p:nvSpPr>
        <p:spPr/>
        <p:txBody>
          <a:bodyPr anchor="ctr"/>
          <a:lstStyle/>
          <a:p>
            <a:pPr>
              <a:defRPr/>
            </a:pPr>
            <a:r>
              <a:rPr lang="zh-CN" altLang="en-US">
                <a:solidFill>
                  <a:schemeClr val="tx1"/>
                </a:solidFill>
              </a:rPr>
              <a:t>费马小定理</a:t>
            </a:r>
          </a:p>
        </p:txBody>
      </p:sp>
      <p:grpSp>
        <p:nvGrpSpPr>
          <p:cNvPr id="2" name="Group 3">
            <a:extLst>
              <a:ext uri="{FF2B5EF4-FFF2-40B4-BE49-F238E27FC236}">
                <a16:creationId xmlns:a16="http://schemas.microsoft.com/office/drawing/2014/main" id="{BE257B29-87C5-4C80-915F-F635B7CB4613}"/>
              </a:ext>
            </a:extLst>
          </p:cNvPr>
          <p:cNvGrpSpPr>
            <a:grpSpLocks/>
          </p:cNvGrpSpPr>
          <p:nvPr/>
        </p:nvGrpSpPr>
        <p:grpSpPr bwMode="auto">
          <a:xfrm>
            <a:off x="296863" y="1125538"/>
            <a:ext cx="8751887" cy="1266825"/>
            <a:chOff x="187" y="709"/>
            <a:chExt cx="5513" cy="798"/>
          </a:xfrm>
        </p:grpSpPr>
        <p:sp>
          <p:nvSpPr>
            <p:cNvPr id="306180" name="Freeform 4">
              <a:extLst>
                <a:ext uri="{FF2B5EF4-FFF2-40B4-BE49-F238E27FC236}">
                  <a16:creationId xmlns:a16="http://schemas.microsoft.com/office/drawing/2014/main" id="{30DD7415-B541-4395-A396-5E1109506FA3}"/>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1752" name="AutoShape 5">
              <a:extLst>
                <a:ext uri="{FF2B5EF4-FFF2-40B4-BE49-F238E27FC236}">
                  <a16:creationId xmlns:a16="http://schemas.microsoft.com/office/drawing/2014/main" id="{F91B0CAE-409D-4ABD-8886-79AE24B23129}"/>
                </a:ext>
              </a:extLst>
            </p:cNvPr>
            <p:cNvSpPr>
              <a:spLocks noChangeArrowheads="1"/>
            </p:cNvSpPr>
            <p:nvPr/>
          </p:nvSpPr>
          <p:spPr bwMode="gray">
            <a:xfrm>
              <a:off x="187" y="709"/>
              <a:ext cx="5415" cy="798"/>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06182" name="AutoShape 6">
              <a:extLst>
                <a:ext uri="{FF2B5EF4-FFF2-40B4-BE49-F238E27FC236}">
                  <a16:creationId xmlns:a16="http://schemas.microsoft.com/office/drawing/2014/main" id="{97D4B40D-CC4B-4B2D-A18F-0E7AC88AA6C8}"/>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06183" name="Freeform 7">
              <a:extLst>
                <a:ext uri="{FF2B5EF4-FFF2-40B4-BE49-F238E27FC236}">
                  <a16:creationId xmlns:a16="http://schemas.microsoft.com/office/drawing/2014/main" id="{28D3128E-0018-4A42-B268-9A3E3B995BEF}"/>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06184" name="Text Box 8">
              <a:extLst>
                <a:ext uri="{FF2B5EF4-FFF2-40B4-BE49-F238E27FC236}">
                  <a16:creationId xmlns:a16="http://schemas.microsoft.com/office/drawing/2014/main" id="{0BCE537F-8F19-4901-AD15-F0A8D85E0054}"/>
                </a:ext>
              </a:extLst>
            </p:cNvPr>
            <p:cNvSpPr txBox="1">
              <a:spLocks noChangeArrowheads="1"/>
            </p:cNvSpPr>
            <p:nvPr/>
          </p:nvSpPr>
          <p:spPr bwMode="gray">
            <a:xfrm>
              <a:off x="389" y="853"/>
              <a:ext cx="541" cy="523"/>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定理</a:t>
              </a:r>
            </a:p>
            <a:p>
              <a:pPr algn="ctr">
                <a:defRPr/>
              </a:pPr>
              <a:endParaRPr lang="en-US" altLang="zh-CN" sz="2400" b="1" dirty="0">
                <a:effectLst>
                  <a:outerShdw blurRad="38100" dist="38100" dir="2700000" algn="tl">
                    <a:srgbClr val="C0C0C0"/>
                  </a:outerShdw>
                </a:effectLst>
                <a:latin typeface="Times New Roman" pitchFamily="18" charset="0"/>
              </a:endParaRPr>
            </a:p>
          </p:txBody>
        </p:sp>
        <p:sp>
          <p:nvSpPr>
            <p:cNvPr id="29708" name="Text Box 9">
              <a:extLst>
                <a:ext uri="{FF2B5EF4-FFF2-40B4-BE49-F238E27FC236}">
                  <a16:creationId xmlns:a16="http://schemas.microsoft.com/office/drawing/2014/main" id="{65B9BFB1-849C-4D75-B8E3-B75CC49F9CEF}"/>
                </a:ext>
              </a:extLst>
            </p:cNvPr>
            <p:cNvSpPr txBox="1">
              <a:spLocks noChangeArrowheads="1"/>
            </p:cNvSpPr>
            <p:nvPr/>
          </p:nvSpPr>
          <p:spPr bwMode="gray">
            <a:xfrm>
              <a:off x="1111" y="930"/>
              <a:ext cx="4589" cy="326"/>
            </a:xfrm>
            <a:prstGeom prst="rect">
              <a:avLst/>
            </a:prstGeom>
            <a:noFill/>
            <a:ln>
              <a:noFill/>
            </a:ln>
          </p:spPr>
          <p:txBody>
            <a:bodyPr>
              <a:spAutoFit/>
            </a:bodyPr>
            <a:lstStyle>
              <a:lvl1pPr marL="442913" indent="-442913">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zh-CN" altLang="en-US" sz="2400" b="1" dirty="0">
                  <a:solidFill>
                    <a:schemeClr val="tx1"/>
                  </a:solidFill>
                  <a:latin typeface="+mj-ea"/>
                  <a:ea typeface="+mj-ea"/>
                </a:rPr>
                <a:t>如果 </a:t>
              </a:r>
              <a:r>
                <a:rPr lang="en-US" altLang="zh-CN" sz="2400" b="1" i="1" dirty="0">
                  <a:solidFill>
                    <a:schemeClr val="tx1"/>
                  </a:solidFill>
                  <a:latin typeface="+mj-ea"/>
                  <a:ea typeface="+mj-ea"/>
                </a:rPr>
                <a:t>p</a:t>
              </a:r>
              <a:r>
                <a:rPr lang="en-US" altLang="zh-CN" sz="2400" b="1" dirty="0">
                  <a:solidFill>
                    <a:schemeClr val="tx1"/>
                  </a:solidFill>
                  <a:latin typeface="+mj-ea"/>
                  <a:ea typeface="+mj-ea"/>
                </a:rPr>
                <a:t> </a:t>
              </a:r>
              <a:r>
                <a:rPr lang="zh-CN" altLang="en-US" sz="2400" b="1" dirty="0">
                  <a:solidFill>
                    <a:schemeClr val="tx1"/>
                  </a:solidFill>
                  <a:latin typeface="+mj-ea"/>
                  <a:ea typeface="+mj-ea"/>
                </a:rPr>
                <a:t>是素数，且 </a:t>
              </a:r>
              <a:r>
                <a:rPr lang="en-US" altLang="zh-CN" sz="2400" b="1" i="1" dirty="0" err="1">
                  <a:solidFill>
                    <a:schemeClr val="tx1"/>
                  </a:solidFill>
                  <a:latin typeface="+mj-ea"/>
                  <a:ea typeface="+mj-ea"/>
                </a:rPr>
                <a:t>a</a:t>
              </a:r>
              <a:r>
                <a:rPr lang="en-US" altLang="zh-CN" sz="2400" b="1" dirty="0" err="1">
                  <a:solidFill>
                    <a:schemeClr val="tx1"/>
                  </a:solidFill>
                  <a:latin typeface="+mj-ea"/>
                  <a:ea typeface="+mj-ea"/>
                </a:rPr>
                <a:t>∈</a:t>
              </a:r>
              <a:r>
                <a:rPr lang="en-US" altLang="zh-CN" sz="2400" b="1" i="1" dirty="0" err="1">
                  <a:solidFill>
                    <a:schemeClr val="tx1"/>
                  </a:solidFill>
                  <a:latin typeface="+mj-ea"/>
                  <a:ea typeface="+mj-ea"/>
                </a:rPr>
                <a:t>Z</a:t>
              </a:r>
              <a:r>
                <a:rPr lang="en-US" altLang="zh-CN" sz="2400" b="1" i="1" baseline="-10000" dirty="0" err="1">
                  <a:solidFill>
                    <a:schemeClr val="tx1"/>
                  </a:solidFill>
                  <a:latin typeface="+mj-ea"/>
                  <a:ea typeface="+mj-ea"/>
                </a:rPr>
                <a:t>p</a:t>
              </a:r>
              <a:r>
                <a:rPr lang="en-US" altLang="zh-CN" sz="2400" b="1" baseline="50000" dirty="0">
                  <a:solidFill>
                    <a:schemeClr val="tx1"/>
                  </a:solidFill>
                  <a:latin typeface="+mj-ea"/>
                  <a:ea typeface="+mj-ea"/>
                </a:rPr>
                <a:t>+</a:t>
              </a:r>
              <a:r>
                <a:rPr lang="zh-CN" altLang="en-US" sz="2400" b="1" dirty="0">
                  <a:solidFill>
                    <a:schemeClr val="tx1"/>
                  </a:solidFill>
                  <a:latin typeface="+mj-ea"/>
                  <a:ea typeface="+mj-ea"/>
                </a:rPr>
                <a:t>，则 </a:t>
              </a:r>
              <a:r>
                <a:rPr lang="en-US" altLang="zh-CN" sz="2400" b="1" i="1" dirty="0">
                  <a:solidFill>
                    <a:schemeClr val="tx1"/>
                  </a:solidFill>
                  <a:latin typeface="+mj-ea"/>
                  <a:ea typeface="+mj-ea"/>
                </a:rPr>
                <a:t>a </a:t>
              </a:r>
              <a:r>
                <a:rPr lang="en-US" altLang="zh-CN" sz="2400" b="1" i="1" baseline="50000" dirty="0">
                  <a:solidFill>
                    <a:schemeClr val="tx1"/>
                  </a:solidFill>
                  <a:latin typeface="+mj-ea"/>
                  <a:ea typeface="+mj-ea"/>
                </a:rPr>
                <a:t>p</a:t>
              </a:r>
              <a:r>
                <a:rPr lang="en-US" altLang="zh-CN" sz="2400" b="1" baseline="50000" dirty="0">
                  <a:solidFill>
                    <a:schemeClr val="tx1"/>
                  </a:solidFill>
                  <a:latin typeface="+mj-ea"/>
                  <a:ea typeface="+mj-ea"/>
                </a:rPr>
                <a:t>-1 </a:t>
              </a:r>
              <a:r>
                <a:rPr lang="en-US" altLang="zh-CN" sz="2400" b="1" dirty="0">
                  <a:solidFill>
                    <a:schemeClr val="tx1"/>
                  </a:solidFill>
                  <a:latin typeface="+mj-ea"/>
                  <a:ea typeface="+mj-ea"/>
                </a:rPr>
                <a:t>≡1 (mod </a:t>
              </a:r>
              <a:r>
                <a:rPr lang="en-US" altLang="zh-CN" sz="2400" b="1" i="1" dirty="0">
                  <a:solidFill>
                    <a:schemeClr val="tx1"/>
                  </a:solidFill>
                  <a:latin typeface="+mj-ea"/>
                  <a:ea typeface="+mj-ea"/>
                </a:rPr>
                <a:t>p</a:t>
              </a:r>
              <a:r>
                <a:rPr lang="en-US" altLang="zh-CN" sz="2400" b="1" dirty="0">
                  <a:solidFill>
                    <a:schemeClr val="tx1"/>
                  </a:solidFill>
                  <a:latin typeface="+mj-ea"/>
                  <a:ea typeface="+mj-ea"/>
                </a:rPr>
                <a:t>)</a:t>
              </a:r>
              <a:r>
                <a:rPr lang="zh-CN" altLang="en-US" sz="2400" b="1" dirty="0">
                  <a:solidFill>
                    <a:schemeClr val="tx1"/>
                  </a:solidFill>
                  <a:latin typeface="+mj-ea"/>
                  <a:ea typeface="+mj-ea"/>
                </a:rPr>
                <a:t>。</a:t>
              </a:r>
            </a:p>
          </p:txBody>
        </p:sp>
      </p:grpSp>
      <p:sp>
        <p:nvSpPr>
          <p:cNvPr id="306186" name="Rectangle 10">
            <a:extLst>
              <a:ext uri="{FF2B5EF4-FFF2-40B4-BE49-F238E27FC236}">
                <a16:creationId xmlns:a16="http://schemas.microsoft.com/office/drawing/2014/main" id="{2A6708D6-7610-41BF-B705-E6E0F747A7C3}"/>
              </a:ext>
            </a:extLst>
          </p:cNvPr>
          <p:cNvSpPr>
            <a:spLocks noChangeArrowheads="1"/>
          </p:cNvSpPr>
          <p:nvPr/>
        </p:nvSpPr>
        <p:spPr bwMode="auto">
          <a:xfrm>
            <a:off x="179388" y="2492375"/>
            <a:ext cx="878522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r>
              <a:rPr lang="en-US" altLang="zh-CN" i="1">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p</a:t>
            </a:r>
            <a:r>
              <a:rPr lang="en-US" altLang="zh-CN">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=7</a:t>
            </a:r>
            <a:r>
              <a:rPr lang="zh-CN" altLang="en-US">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i="1">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a</a:t>
            </a:r>
            <a:r>
              <a:rPr lang="en-US" altLang="zh-CN">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=2</a:t>
            </a:r>
            <a:r>
              <a:rPr lang="zh-CN" altLang="en-US">
                <a:latin typeface="Tahoma" panose="020B0604030504040204" pitchFamily="34" charset="0"/>
                <a:ea typeface="隶书" panose="02010509060101010101" pitchFamily="49" charset="-122"/>
                <a:sym typeface="Symbol" panose="05050102010706020507" pitchFamily="18" charset="2"/>
              </a:rPr>
              <a:t>，</a:t>
            </a:r>
            <a:r>
              <a:rPr lang="en-US" altLang="zh-CN">
                <a:latin typeface="Tahoma" panose="020B0604030504040204" pitchFamily="34" charset="0"/>
                <a:ea typeface="宋体" panose="02010600030101010101" pitchFamily="2" charset="-122"/>
                <a:sym typeface="Symbol" panose="05050102010706020507" pitchFamily="18" charset="2"/>
              </a:rPr>
              <a:t>2</a:t>
            </a:r>
            <a:r>
              <a:rPr lang="en-US" altLang="zh-CN" baseline="30000">
                <a:latin typeface="Tahoma" panose="020B0604030504040204" pitchFamily="34" charset="0"/>
                <a:ea typeface="宋体" panose="02010600030101010101" pitchFamily="2" charset="-122"/>
                <a:sym typeface="Symbol" panose="05050102010706020507" pitchFamily="18" charset="2"/>
              </a:rPr>
              <a:t>(7-1) </a:t>
            </a:r>
            <a:r>
              <a:rPr lang="en-US" altLang="zh-CN">
                <a:latin typeface="Tahoma" panose="020B0604030504040204" pitchFamily="34" charset="0"/>
                <a:ea typeface="宋体" panose="02010600030101010101" pitchFamily="2" charset="-122"/>
                <a:sym typeface="Symbol" panose="05050102010706020507" pitchFamily="18" charset="2"/>
              </a:rPr>
              <a:t>= 2</a:t>
            </a:r>
            <a:r>
              <a:rPr lang="en-US" altLang="zh-CN" baseline="30000">
                <a:latin typeface="Tahoma" panose="020B0604030504040204" pitchFamily="34" charset="0"/>
                <a:ea typeface="宋体" panose="02010600030101010101" pitchFamily="2" charset="-122"/>
                <a:sym typeface="Symbol" panose="05050102010706020507" pitchFamily="18" charset="2"/>
              </a:rPr>
              <a:t>6 </a:t>
            </a:r>
            <a:r>
              <a:rPr lang="en-US" altLang="zh-CN">
                <a:latin typeface="Tahoma" panose="020B0604030504040204" pitchFamily="34" charset="0"/>
                <a:ea typeface="宋体" panose="02010600030101010101" pitchFamily="2" charset="-122"/>
                <a:sym typeface="Symbol" panose="05050102010706020507" pitchFamily="18" charset="2"/>
              </a:rPr>
              <a:t>= 64</a:t>
            </a:r>
            <a:r>
              <a:rPr lang="zh-CN" altLang="en-US">
                <a:latin typeface="Tahoma" panose="020B0604030504040204" pitchFamily="34" charset="0"/>
                <a:ea typeface="隶书" panose="02010509060101010101" pitchFamily="49" charset="-122"/>
                <a:sym typeface="Symbol" panose="05050102010706020507" pitchFamily="18" charset="2"/>
              </a:rPr>
              <a:t>，</a:t>
            </a:r>
            <a:r>
              <a:rPr lang="en-US" altLang="zh-CN">
                <a:latin typeface="Tahoma" panose="020B0604030504040204" pitchFamily="34" charset="0"/>
                <a:ea typeface="宋体" panose="02010600030101010101" pitchFamily="2" charset="-122"/>
                <a:sym typeface="Symbol" panose="05050102010706020507" pitchFamily="18" charset="2"/>
              </a:rPr>
              <a:t>64 mod 7 = 1</a:t>
            </a:r>
            <a:r>
              <a:rPr lang="zh-CN" altLang="en-US">
                <a:latin typeface="Tahoma" panose="020B0604030504040204" pitchFamily="34" charset="0"/>
                <a:ea typeface="隶书" panose="02010509060101010101" pitchFamily="49" charset="-122"/>
                <a:sym typeface="Symbol" panose="05050102010706020507" pitchFamily="18" charset="2"/>
              </a:rPr>
              <a:t>。</a:t>
            </a:r>
          </a:p>
          <a:p>
            <a:r>
              <a:rPr lang="en-US" altLang="zh-CN" i="1">
                <a:latin typeface="Tahoma" panose="020B0604030504040204" pitchFamily="34" charset="0"/>
                <a:ea typeface="宋体" panose="02010600030101010101" pitchFamily="2" charset="-122"/>
                <a:sym typeface="Symbol" panose="05050102010706020507" pitchFamily="18" charset="2"/>
              </a:rPr>
              <a:t>p</a:t>
            </a:r>
            <a:r>
              <a:rPr lang="en-US" altLang="zh-CN">
                <a:latin typeface="Tahoma" panose="020B0604030504040204" pitchFamily="34" charset="0"/>
                <a:ea typeface="宋体" panose="02010600030101010101" pitchFamily="2" charset="-122"/>
                <a:sym typeface="Symbol" panose="05050102010706020507" pitchFamily="18" charset="2"/>
              </a:rPr>
              <a:t>=6</a:t>
            </a:r>
            <a:r>
              <a:rPr lang="zh-CN" altLang="en-US">
                <a:latin typeface="Tahoma" panose="020B0604030504040204" pitchFamily="34" charset="0"/>
                <a:ea typeface="隶书" panose="02010509060101010101" pitchFamily="49" charset="-122"/>
                <a:sym typeface="Symbol" panose="05050102010706020507" pitchFamily="18" charset="2"/>
              </a:rPr>
              <a:t>， </a:t>
            </a:r>
            <a:r>
              <a:rPr lang="en-US" altLang="zh-CN" i="1">
                <a:latin typeface="Tahoma" panose="020B0604030504040204" pitchFamily="34" charset="0"/>
                <a:ea typeface="宋体" panose="02010600030101010101" pitchFamily="2" charset="-122"/>
                <a:sym typeface="Symbol" panose="05050102010706020507" pitchFamily="18" charset="2"/>
              </a:rPr>
              <a:t>a</a:t>
            </a:r>
            <a:r>
              <a:rPr lang="en-US" altLang="zh-CN">
                <a:latin typeface="Tahoma" panose="020B0604030504040204" pitchFamily="34" charset="0"/>
                <a:ea typeface="宋体" panose="02010600030101010101" pitchFamily="2" charset="-122"/>
                <a:sym typeface="Symbol" panose="05050102010706020507" pitchFamily="18" charset="2"/>
              </a:rPr>
              <a:t>=2</a:t>
            </a:r>
            <a:r>
              <a:rPr lang="zh-CN" altLang="en-US">
                <a:latin typeface="Tahoma" panose="020B0604030504040204" pitchFamily="34" charset="0"/>
                <a:ea typeface="隶书" panose="02010509060101010101" pitchFamily="49" charset="-122"/>
                <a:sym typeface="Symbol" panose="05050102010706020507" pitchFamily="18" charset="2"/>
              </a:rPr>
              <a:t>，</a:t>
            </a:r>
            <a:r>
              <a:rPr lang="en-US" altLang="zh-CN">
                <a:latin typeface="Tahoma" panose="020B0604030504040204" pitchFamily="34" charset="0"/>
                <a:ea typeface="宋体" panose="02010600030101010101" pitchFamily="2" charset="-122"/>
                <a:sym typeface="Symbol" panose="05050102010706020507" pitchFamily="18" charset="2"/>
              </a:rPr>
              <a:t>2</a:t>
            </a:r>
            <a:r>
              <a:rPr lang="en-US" altLang="zh-CN" baseline="30000">
                <a:latin typeface="Tahoma" panose="020B0604030504040204" pitchFamily="34" charset="0"/>
                <a:ea typeface="宋体" panose="02010600030101010101" pitchFamily="2" charset="-122"/>
                <a:sym typeface="Symbol" panose="05050102010706020507" pitchFamily="18" charset="2"/>
              </a:rPr>
              <a:t>(6-1) </a:t>
            </a:r>
            <a:r>
              <a:rPr lang="en-US" altLang="zh-CN">
                <a:latin typeface="Tahoma" panose="020B0604030504040204" pitchFamily="34" charset="0"/>
                <a:ea typeface="宋体" panose="02010600030101010101" pitchFamily="2" charset="-122"/>
                <a:sym typeface="Symbol" panose="05050102010706020507" pitchFamily="18" charset="2"/>
              </a:rPr>
              <a:t>= 2</a:t>
            </a:r>
            <a:r>
              <a:rPr lang="en-US" altLang="zh-CN" baseline="30000">
                <a:latin typeface="Tahoma" panose="020B0604030504040204" pitchFamily="34" charset="0"/>
                <a:ea typeface="宋体" panose="02010600030101010101" pitchFamily="2" charset="-122"/>
                <a:sym typeface="Symbol" panose="05050102010706020507" pitchFamily="18" charset="2"/>
              </a:rPr>
              <a:t>5 </a:t>
            </a:r>
            <a:r>
              <a:rPr lang="en-US" altLang="zh-CN">
                <a:latin typeface="Tahoma" panose="020B0604030504040204" pitchFamily="34" charset="0"/>
                <a:ea typeface="宋体" panose="02010600030101010101" pitchFamily="2" charset="-122"/>
                <a:sym typeface="Symbol" panose="05050102010706020507" pitchFamily="18" charset="2"/>
              </a:rPr>
              <a:t>= 32</a:t>
            </a:r>
            <a:r>
              <a:rPr lang="zh-CN" altLang="en-US">
                <a:latin typeface="Tahoma" panose="020B0604030504040204" pitchFamily="34" charset="0"/>
                <a:ea typeface="隶书" panose="02010509060101010101" pitchFamily="49" charset="-122"/>
                <a:sym typeface="Symbol" panose="05050102010706020507" pitchFamily="18" charset="2"/>
              </a:rPr>
              <a:t>，</a:t>
            </a:r>
            <a:r>
              <a:rPr lang="en-US" altLang="zh-CN">
                <a:latin typeface="Tahoma" panose="020B0604030504040204" pitchFamily="34" charset="0"/>
                <a:ea typeface="宋体" panose="02010600030101010101" pitchFamily="2" charset="-122"/>
                <a:sym typeface="Symbol" panose="05050102010706020507" pitchFamily="18" charset="2"/>
              </a:rPr>
              <a:t>32 mod 6 = 2</a:t>
            </a:r>
            <a:r>
              <a:rPr lang="zh-CN" altLang="en-US">
                <a:latin typeface="Tahoma" panose="020B0604030504040204" pitchFamily="34" charset="0"/>
                <a:ea typeface="隶书" panose="02010509060101010101" pitchFamily="49" charset="-122"/>
                <a:sym typeface="Symbol" panose="05050102010706020507" pitchFamily="18" charset="2"/>
              </a:rPr>
              <a:t>。</a:t>
            </a:r>
          </a:p>
          <a:p>
            <a:r>
              <a:rPr lang="zh-CN" altLang="en-US">
                <a:latin typeface="Tahoma" panose="020B0604030504040204" pitchFamily="34" charset="0"/>
                <a:ea typeface="隶书" panose="02010509060101010101" pitchFamily="49" charset="-122"/>
                <a:sym typeface="Symbol" panose="05050102010706020507" pitchFamily="18" charset="2"/>
              </a:rPr>
              <a:t>该定理是一种“测试”素数的方法，称为</a:t>
            </a:r>
            <a:r>
              <a:rPr lang="zh-CN" altLang="en-US">
                <a:solidFill>
                  <a:srgbClr val="FF0000"/>
                </a:solidFill>
                <a:latin typeface="Tahoma" panose="020B0604030504040204" pitchFamily="34" charset="0"/>
                <a:ea typeface="隶书" panose="02010509060101010101" pitchFamily="49" charset="-122"/>
                <a:sym typeface="Symbol" panose="05050102010706020507" pitchFamily="18" charset="2"/>
              </a:rPr>
              <a:t>费马测试</a:t>
            </a:r>
            <a:r>
              <a:rPr lang="zh-CN" altLang="en-US">
                <a:latin typeface="Tahoma" panose="020B0604030504040204" pitchFamily="34" charset="0"/>
                <a:ea typeface="隶书" panose="02010509060101010101" pitchFamily="49" charset="-122"/>
                <a:sym typeface="Symbol" panose="05050102010706020507" pitchFamily="18" charset="2"/>
              </a:rPr>
              <a:t>。</a:t>
            </a:r>
          </a:p>
          <a:p>
            <a:r>
              <a:rPr lang="zh-CN" altLang="en-US">
                <a:latin typeface="Tahoma" panose="020B0604030504040204" pitchFamily="34" charset="0"/>
                <a:ea typeface="隶书" panose="02010509060101010101" pitchFamily="49" charset="-122"/>
                <a:sym typeface="Symbol" panose="05050102010706020507" pitchFamily="18" charset="2"/>
              </a:rPr>
              <a:t>当我们说 </a:t>
            </a:r>
            <a:r>
              <a:rPr lang="en-US" altLang="zh-CN" i="1">
                <a:latin typeface="Tahoma" panose="020B0604030504040204" pitchFamily="34" charset="0"/>
                <a:ea typeface="宋体" panose="02010600030101010101" pitchFamily="2" charset="-122"/>
                <a:sym typeface="Symbol" panose="05050102010706020507" pitchFamily="18" charset="2"/>
              </a:rPr>
              <a:t>p</a:t>
            </a:r>
            <a:r>
              <a:rPr lang="en-US" altLang="zh-CN">
                <a:latin typeface="Tahoma" panose="020B0604030504040204" pitchFamily="34" charset="0"/>
                <a:ea typeface="宋体" panose="02010600030101010101" pitchFamily="2" charset="-122"/>
                <a:sym typeface="Symbol" panose="05050102010706020507" pitchFamily="18" charset="2"/>
              </a:rPr>
              <a:t> </a:t>
            </a:r>
            <a:r>
              <a:rPr lang="zh-CN" altLang="en-US">
                <a:latin typeface="Tahoma" panose="020B0604030504040204" pitchFamily="34" charset="0"/>
                <a:ea typeface="隶书" panose="02010509060101010101" pitchFamily="49" charset="-122"/>
                <a:sym typeface="Symbol" panose="05050102010706020507" pitchFamily="18" charset="2"/>
              </a:rPr>
              <a:t>通过在 </a:t>
            </a:r>
            <a:r>
              <a:rPr lang="en-US" altLang="zh-CN" i="1">
                <a:latin typeface="Tahoma" panose="020B0604030504040204" pitchFamily="34" charset="0"/>
                <a:ea typeface="宋体" panose="02010600030101010101" pitchFamily="2" charset="-122"/>
                <a:sym typeface="Symbol" panose="05050102010706020507" pitchFamily="18" charset="2"/>
              </a:rPr>
              <a:t>a </a:t>
            </a:r>
            <a:r>
              <a:rPr lang="zh-CN" altLang="en-US">
                <a:latin typeface="Tahoma" panose="020B0604030504040204" pitchFamily="34" charset="0"/>
                <a:ea typeface="隶书" panose="02010509060101010101" pitchFamily="49" charset="-122"/>
                <a:sym typeface="Symbol" panose="05050102010706020507" pitchFamily="18" charset="2"/>
              </a:rPr>
              <a:t>的费马测试，是指 </a:t>
            </a:r>
            <a:r>
              <a:rPr lang="en-US" altLang="zh-CN" i="1">
                <a:latin typeface="Tahoma" panose="020B0604030504040204" pitchFamily="34" charset="0"/>
                <a:ea typeface="宋体" panose="02010600030101010101" pitchFamily="2" charset="-122"/>
                <a:sym typeface="Symbol" panose="05050102010706020507" pitchFamily="18" charset="2"/>
              </a:rPr>
              <a:t>a</a:t>
            </a:r>
            <a:r>
              <a:rPr lang="en-US" altLang="zh-CN" i="1" baseline="30000">
                <a:latin typeface="Tahoma" panose="020B0604030504040204" pitchFamily="34" charset="0"/>
                <a:ea typeface="宋体" panose="02010600030101010101" pitchFamily="2" charset="-122"/>
                <a:sym typeface="Symbol" panose="05050102010706020507" pitchFamily="18" charset="2"/>
              </a:rPr>
              <a:t>p</a:t>
            </a:r>
            <a:r>
              <a:rPr lang="en-US" altLang="zh-CN" baseline="30000">
                <a:latin typeface="Tahoma" panose="020B0604030504040204" pitchFamily="34" charset="0"/>
                <a:ea typeface="宋体" panose="02010600030101010101" pitchFamily="2" charset="-122"/>
                <a:sym typeface="Symbol" panose="05050102010706020507" pitchFamily="18" charset="2"/>
              </a:rPr>
              <a:t>-1</a:t>
            </a:r>
            <a:r>
              <a:rPr lang="en-US" altLang="zh-CN">
                <a:latin typeface="Tahoma" panose="020B0604030504040204" pitchFamily="34" charset="0"/>
                <a:ea typeface="宋体" panose="02010600030101010101" pitchFamily="2" charset="-122"/>
                <a:sym typeface="Symbol" panose="05050102010706020507" pitchFamily="18" charset="2"/>
              </a:rPr>
              <a:t> </a:t>
            </a:r>
            <a:r>
              <a:rPr lang="en-US" altLang="zh-CN">
                <a:latin typeface="Tahoma" panose="020B0604030504040204" pitchFamily="34" charset="0"/>
                <a:ea typeface="宋体" panose="02010600030101010101" pitchFamily="2" charset="-122"/>
              </a:rPr>
              <a:t>≡1 (mod </a:t>
            </a:r>
            <a:r>
              <a:rPr lang="en-US" altLang="zh-CN" i="1">
                <a:latin typeface="Tahoma" panose="020B0604030504040204" pitchFamily="34" charset="0"/>
                <a:ea typeface="宋体" panose="02010600030101010101" pitchFamily="2" charset="-122"/>
              </a:rPr>
              <a:t>p</a:t>
            </a:r>
            <a:r>
              <a:rPr lang="en-US" altLang="zh-CN">
                <a:latin typeface="Tahoma" panose="020B0604030504040204" pitchFamily="34" charset="0"/>
                <a:ea typeface="宋体" panose="02010600030101010101" pitchFamily="2" charset="-122"/>
              </a:rPr>
              <a:t>)</a:t>
            </a:r>
            <a:r>
              <a:rPr lang="zh-CN" altLang="en-US">
                <a:latin typeface="Tahoma" panose="020B0604030504040204" pitchFamily="34" charset="0"/>
                <a:ea typeface="隶书" panose="02010509060101010101" pitchFamily="49" charset="-122"/>
              </a:rPr>
              <a:t>。</a:t>
            </a:r>
          </a:p>
          <a:p>
            <a:r>
              <a:rPr lang="zh-CN" altLang="en-US">
                <a:latin typeface="Tahoma" panose="020B0604030504040204" pitchFamily="34" charset="0"/>
                <a:ea typeface="隶书" panose="02010509060101010101" pitchFamily="49" charset="-122"/>
                <a:sym typeface="Symbol" panose="05050102010706020507" pitchFamily="18" charset="2"/>
              </a:rPr>
              <a:t>如果一个数能够通过所有关于小于它且与它互素的数的费马测试，则称这个数是</a:t>
            </a:r>
            <a:r>
              <a:rPr lang="zh-CN" altLang="en-US">
                <a:solidFill>
                  <a:srgbClr val="FF0000"/>
                </a:solidFill>
                <a:latin typeface="Tahoma" panose="020B0604030504040204" pitchFamily="34" charset="0"/>
                <a:ea typeface="隶书" panose="02010509060101010101" pitchFamily="49" charset="-122"/>
                <a:sym typeface="Symbol" panose="05050102010706020507" pitchFamily="18" charset="2"/>
              </a:rPr>
              <a:t>伪素数</a:t>
            </a:r>
            <a:r>
              <a:rPr lang="zh-CN" altLang="en-US">
                <a:latin typeface="Tahoma" panose="020B0604030504040204" pitchFamily="34" charset="0"/>
                <a:ea typeface="隶书" panose="02010509060101010101" pitchFamily="49" charset="-122"/>
                <a:sym typeface="Symbol" panose="05050102010706020507" pitchFamily="18" charset="2"/>
              </a:rPr>
              <a:t>。除了相对来说少量的</a:t>
            </a:r>
            <a:r>
              <a:rPr lang="zh-CN" altLang="en-US">
                <a:solidFill>
                  <a:srgbClr val="FF0000"/>
                </a:solidFill>
                <a:latin typeface="Tahoma" panose="020B0604030504040204" pitchFamily="34" charset="0"/>
                <a:ea typeface="隶书" panose="02010509060101010101" pitchFamily="49" charset="-122"/>
                <a:sym typeface="Symbol" panose="05050102010706020507" pitchFamily="18" charset="2"/>
              </a:rPr>
              <a:t>卡米切尔数</a:t>
            </a:r>
            <a:r>
              <a:rPr lang="zh-CN" altLang="en-US">
                <a:latin typeface="Tahoma" panose="020B0604030504040204" pitchFamily="34" charset="0"/>
                <a:ea typeface="隶书" panose="02010509060101010101" pitchFamily="49" charset="-122"/>
                <a:sym typeface="Symbol" panose="05050102010706020507" pitchFamily="18" charset="2"/>
              </a:rPr>
              <a:t>外，所有的伪素数都是素数。</a:t>
            </a:r>
          </a:p>
          <a:p>
            <a:r>
              <a:rPr lang="zh-CN" altLang="en-US">
                <a:latin typeface="Tahoma" panose="020B0604030504040204" pitchFamily="34" charset="0"/>
                <a:ea typeface="隶书" panose="02010509060101010101" pitchFamily="49" charset="-122"/>
                <a:sym typeface="Symbol" panose="05050102010706020507" pitchFamily="18" charset="2"/>
              </a:rPr>
              <a:t>卡米切尔数是合数，但能</a:t>
            </a:r>
            <a:r>
              <a:rPr lang="zh-CN" altLang="en-US">
                <a:solidFill>
                  <a:srgbClr val="FF0000"/>
                </a:solidFill>
                <a:latin typeface="Tahoma" panose="020B0604030504040204" pitchFamily="34" charset="0"/>
                <a:ea typeface="隶书" panose="02010509060101010101" pitchFamily="49" charset="-122"/>
                <a:sym typeface="Symbol" panose="05050102010706020507" pitchFamily="18" charset="2"/>
              </a:rPr>
              <a:t>通过所有比它小且互素的数的费马测试</a:t>
            </a:r>
            <a:r>
              <a:rPr lang="zh-CN" altLang="en-US">
                <a:latin typeface="Tahoma" panose="020B0604030504040204" pitchFamily="34" charset="0"/>
                <a:ea typeface="隶书" panose="02010509060101010101" pitchFamily="49" charset="-122"/>
                <a:sym typeface="Symbol" panose="05050102010706020507" pitchFamily="18" charset="2"/>
              </a:rPr>
              <a:t>。</a:t>
            </a:r>
            <a:endParaRPr lang="zh-CN" altLang="en-US">
              <a:latin typeface="Tahoma" panose="020B0604030504040204" pitchFamily="34"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6186">
                                            <p:txEl>
                                              <p:pRg st="0" end="0"/>
                                            </p:txEl>
                                          </p:spTgt>
                                        </p:tgtEl>
                                        <p:attrNameLst>
                                          <p:attrName>style.visibility</p:attrName>
                                        </p:attrNameLst>
                                      </p:cBhvr>
                                      <p:to>
                                        <p:strVal val="visible"/>
                                      </p:to>
                                    </p:set>
                                    <p:animEffect transition="in" filter="wipe(left)">
                                      <p:cBhvr>
                                        <p:cTn id="12" dur="500"/>
                                        <p:tgtEl>
                                          <p:spTgt spid="30618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6186">
                                            <p:txEl>
                                              <p:pRg st="1" end="1"/>
                                            </p:txEl>
                                          </p:spTgt>
                                        </p:tgtEl>
                                        <p:attrNameLst>
                                          <p:attrName>style.visibility</p:attrName>
                                        </p:attrNameLst>
                                      </p:cBhvr>
                                      <p:to>
                                        <p:strVal val="visible"/>
                                      </p:to>
                                    </p:set>
                                    <p:animEffect transition="in" filter="wipe(left)">
                                      <p:cBhvr>
                                        <p:cTn id="17" dur="500"/>
                                        <p:tgtEl>
                                          <p:spTgt spid="30618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6186">
                                            <p:txEl>
                                              <p:pRg st="2" end="2"/>
                                            </p:txEl>
                                          </p:spTgt>
                                        </p:tgtEl>
                                        <p:attrNameLst>
                                          <p:attrName>style.visibility</p:attrName>
                                        </p:attrNameLst>
                                      </p:cBhvr>
                                      <p:to>
                                        <p:strVal val="visible"/>
                                      </p:to>
                                    </p:set>
                                    <p:animEffect transition="in" filter="wipe(left)">
                                      <p:cBhvr>
                                        <p:cTn id="22" dur="500"/>
                                        <p:tgtEl>
                                          <p:spTgt spid="30618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6186">
                                            <p:txEl>
                                              <p:pRg st="3" end="3"/>
                                            </p:txEl>
                                          </p:spTgt>
                                        </p:tgtEl>
                                        <p:attrNameLst>
                                          <p:attrName>style.visibility</p:attrName>
                                        </p:attrNameLst>
                                      </p:cBhvr>
                                      <p:to>
                                        <p:strVal val="visible"/>
                                      </p:to>
                                    </p:set>
                                    <p:animEffect transition="in" filter="wipe(left)">
                                      <p:cBhvr>
                                        <p:cTn id="27" dur="500"/>
                                        <p:tgtEl>
                                          <p:spTgt spid="30618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6186">
                                            <p:txEl>
                                              <p:pRg st="4" end="4"/>
                                            </p:txEl>
                                          </p:spTgt>
                                        </p:tgtEl>
                                        <p:attrNameLst>
                                          <p:attrName>style.visibility</p:attrName>
                                        </p:attrNameLst>
                                      </p:cBhvr>
                                      <p:to>
                                        <p:strVal val="visible"/>
                                      </p:to>
                                    </p:set>
                                    <p:animEffect transition="in" filter="wipe(left)">
                                      <p:cBhvr>
                                        <p:cTn id="32" dur="500"/>
                                        <p:tgtEl>
                                          <p:spTgt spid="30618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6186">
                                            <p:txEl>
                                              <p:pRg st="5" end="5"/>
                                            </p:txEl>
                                          </p:spTgt>
                                        </p:tgtEl>
                                        <p:attrNameLst>
                                          <p:attrName>style.visibility</p:attrName>
                                        </p:attrNameLst>
                                      </p:cBhvr>
                                      <p:to>
                                        <p:strVal val="visible"/>
                                      </p:to>
                                    </p:set>
                                    <p:animEffect transition="in" filter="wipe(left)">
                                      <p:cBhvr>
                                        <p:cTn id="37" dur="500"/>
                                        <p:tgtEl>
                                          <p:spTgt spid="30618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a:extLst>
              <a:ext uri="{FF2B5EF4-FFF2-40B4-BE49-F238E27FC236}">
                <a16:creationId xmlns:a16="http://schemas.microsoft.com/office/drawing/2014/main" id="{D7168440-7BD6-4C11-AC7E-4E3C398F199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7AAC8668-37E5-4261-98ED-86E3F77DB0F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2771" name="灯片编号占位符 4">
            <a:extLst>
              <a:ext uri="{FF2B5EF4-FFF2-40B4-BE49-F238E27FC236}">
                <a16:creationId xmlns:a16="http://schemas.microsoft.com/office/drawing/2014/main" id="{F93F9CE4-92C6-43F6-A610-0CA5669CE1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F4A8523F-EFCF-4EE5-919E-5BDDA27831F8}"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30</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7202" name="Rectangle 2">
            <a:extLst>
              <a:ext uri="{FF2B5EF4-FFF2-40B4-BE49-F238E27FC236}">
                <a16:creationId xmlns:a16="http://schemas.microsoft.com/office/drawing/2014/main" id="{C741B27E-CD64-4020-9AA5-78E10D21939B}"/>
              </a:ext>
            </a:extLst>
          </p:cNvPr>
          <p:cNvSpPr>
            <a:spLocks noGrp="1" noChangeArrowheads="1"/>
          </p:cNvSpPr>
          <p:nvPr>
            <p:ph type="title"/>
          </p:nvPr>
        </p:nvSpPr>
        <p:spPr/>
        <p:txBody>
          <a:bodyPr/>
          <a:lstStyle/>
          <a:p>
            <a:pPr>
              <a:defRPr/>
            </a:pPr>
            <a:r>
              <a:rPr lang="zh-CN" altLang="en-US"/>
              <a:t>测试伪素数的多项式概率算法</a:t>
            </a:r>
          </a:p>
        </p:txBody>
      </p:sp>
      <p:sp>
        <p:nvSpPr>
          <p:cNvPr id="307203" name="Rectangle 3">
            <a:extLst>
              <a:ext uri="{FF2B5EF4-FFF2-40B4-BE49-F238E27FC236}">
                <a16:creationId xmlns:a16="http://schemas.microsoft.com/office/drawing/2014/main" id="{AB1069DA-DA65-4778-9ABB-36C5823189DE}"/>
              </a:ext>
            </a:extLst>
          </p:cNvPr>
          <p:cNvSpPr>
            <a:spLocks noGrp="1" noChangeArrowheads="1"/>
          </p:cNvSpPr>
          <p:nvPr>
            <p:ph type="body" idx="1"/>
          </p:nvPr>
        </p:nvSpPr>
        <p:spPr>
          <a:xfrm>
            <a:off x="179388" y="1125538"/>
            <a:ext cx="8685212" cy="2921000"/>
          </a:xfrm>
        </p:spPr>
        <p:txBody>
          <a:bodyPr/>
          <a:lstStyle/>
          <a:p>
            <a:pPr>
              <a:defRPr/>
            </a:pPr>
            <a:r>
              <a:rPr lang="zh-CN" altLang="en-US" dirty="0">
                <a:latin typeface="Tahoma" pitchFamily="34" charset="0"/>
                <a:ea typeface="+mj-ea"/>
                <a:cs typeface="Tahoma" pitchFamily="34" charset="0"/>
              </a:rPr>
              <a:t>判定一个数是否具有伪素数性，要对之进行全部的费马测试，因此判定伪素数性的算法需要指数时间。</a:t>
            </a:r>
          </a:p>
          <a:p>
            <a:pPr>
              <a:defRPr/>
            </a:pPr>
            <a:r>
              <a:rPr lang="zh-CN" altLang="en-US" dirty="0">
                <a:latin typeface="Tahoma" pitchFamily="34" charset="0"/>
                <a:ea typeface="+mj-ea"/>
                <a:cs typeface="Tahoma" pitchFamily="34" charset="0"/>
              </a:rPr>
              <a:t>多项式时间概率算法的关键是，</a:t>
            </a:r>
            <a:r>
              <a:rPr lang="zh-CN" altLang="en-US" dirty="0">
                <a:solidFill>
                  <a:srgbClr val="FF0000"/>
                </a:solidFill>
                <a:latin typeface="Tahoma" pitchFamily="34" charset="0"/>
                <a:ea typeface="+mj-ea"/>
                <a:cs typeface="Tahoma" pitchFamily="34" charset="0"/>
              </a:rPr>
              <a:t>如果一个数不是伪素数，则它至少不能通过全部费马测试的一半</a:t>
            </a:r>
            <a:r>
              <a:rPr lang="zh-CN" altLang="en-US" dirty="0">
                <a:latin typeface="Tahoma" pitchFamily="34" charset="0"/>
                <a:ea typeface="+mj-ea"/>
                <a:cs typeface="Tahoma" pitchFamily="34" charset="0"/>
              </a:rPr>
              <a:t>。算法随机进行若干个测试，如果有一个测试没有通过，则这个数一定是合数。如果测试通过，则这个数可能</a:t>
            </a:r>
            <a:r>
              <a:rPr lang="zh-CN" altLang="en-US" dirty="0">
                <a:latin typeface="隶书" pitchFamily="49" charset="-122"/>
                <a:ea typeface="隶书" pitchFamily="49" charset="-122"/>
                <a:cs typeface="Tahoma" pitchFamily="34" charset="0"/>
              </a:rPr>
              <a:t>是一个伪素数</a:t>
            </a:r>
            <a:r>
              <a:rPr lang="zh-CN" altLang="en-US" dirty="0">
                <a:latin typeface="Tahoma" pitchFamily="34" charset="0"/>
                <a:ea typeface="+mj-ea"/>
                <a:cs typeface="Tahoma" pitchFamily="34" charset="0"/>
              </a:rPr>
              <a:t>。算法含有一个用来确定错误概率的参数 </a:t>
            </a:r>
            <a:r>
              <a:rPr lang="en-US" altLang="zh-CN" i="1" dirty="0">
                <a:latin typeface="Tahoma" pitchFamily="34" charset="0"/>
                <a:ea typeface="Tahoma" pitchFamily="34" charset="0"/>
                <a:cs typeface="Tahoma" pitchFamily="34" charset="0"/>
              </a:rPr>
              <a:t>k</a:t>
            </a:r>
            <a:r>
              <a:rPr lang="zh-CN" altLang="en-US" dirty="0">
                <a:latin typeface="Tahoma" pitchFamily="34" charset="0"/>
                <a:ea typeface="+mj-ea"/>
                <a:cs typeface="Tahoma" pitchFamily="34" charset="0"/>
              </a:rPr>
              <a:t>。</a:t>
            </a:r>
          </a:p>
        </p:txBody>
      </p:sp>
      <p:sp>
        <p:nvSpPr>
          <p:cNvPr id="307204" name="Rectangle 4">
            <a:extLst>
              <a:ext uri="{FF2B5EF4-FFF2-40B4-BE49-F238E27FC236}">
                <a16:creationId xmlns:a16="http://schemas.microsoft.com/office/drawing/2014/main" id="{F931777C-247B-434B-8076-4768C2405498}"/>
              </a:ext>
            </a:extLst>
          </p:cNvPr>
          <p:cNvSpPr>
            <a:spLocks noChangeArrowheads="1"/>
          </p:cNvSpPr>
          <p:nvPr/>
        </p:nvSpPr>
        <p:spPr bwMode="auto">
          <a:xfrm>
            <a:off x="142875" y="4000500"/>
            <a:ext cx="8929688" cy="22653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buFont typeface="Monotype Sorts" pitchFamily="2" charset="2"/>
              <a:buNone/>
            </a:pPr>
            <a:r>
              <a:rPr lang="en-US" altLang="zh-CN">
                <a:latin typeface="Tahoma" panose="020B0604030504040204" pitchFamily="34" charset="0"/>
                <a:ea typeface="宋体" panose="02010600030101010101" pitchFamily="2" charset="-122"/>
                <a:cs typeface="Tahoma" panose="020B0604030504040204" pitchFamily="34" charset="0"/>
              </a:rPr>
              <a:t>PSEUDOPRIME = “</a:t>
            </a:r>
            <a:r>
              <a:rPr lang="zh-CN" altLang="en-US">
                <a:latin typeface="Tahoma" panose="020B0604030504040204" pitchFamily="34" charset="0"/>
                <a:ea typeface="隶书" panose="02010509060101010101" pitchFamily="49" charset="-122"/>
                <a:cs typeface="Tahoma" panose="020B0604030504040204" pitchFamily="34" charset="0"/>
              </a:rPr>
              <a:t>对输入 </a:t>
            </a:r>
            <a:r>
              <a:rPr lang="en-US" altLang="zh-CN" i="1">
                <a:latin typeface="Tahoma" panose="020B0604030504040204" pitchFamily="34" charset="0"/>
                <a:ea typeface="宋体" panose="02010600030101010101" pitchFamily="2" charset="-122"/>
                <a:cs typeface="Tahoma" panose="020B0604030504040204" pitchFamily="34" charset="0"/>
              </a:rPr>
              <a:t>p</a:t>
            </a:r>
            <a:r>
              <a:rPr lang="zh-CN" altLang="en-US">
                <a:latin typeface="Tahoma" panose="020B0604030504040204" pitchFamily="34" charset="0"/>
                <a:ea typeface="隶书" panose="02010509060101010101" pitchFamily="49" charset="-122"/>
              </a:rPr>
              <a:t>：</a:t>
            </a:r>
          </a:p>
          <a:p>
            <a:pPr lvl="1">
              <a:buFont typeface="Monotype Sorts" pitchFamily="2" charset="2"/>
              <a:buNone/>
            </a:pPr>
            <a:r>
              <a:rPr lang="en-US" altLang="zh-CN" sz="2800">
                <a:latin typeface="Tahoma" panose="020B0604030504040204" pitchFamily="34" charset="0"/>
                <a:ea typeface="宋体" panose="02010600030101010101" pitchFamily="2" charset="-122"/>
              </a:rPr>
              <a:t>1) </a:t>
            </a:r>
            <a:r>
              <a:rPr lang="zh-CN" altLang="en-US" sz="2800">
                <a:latin typeface="Tahoma" panose="020B0604030504040204" pitchFamily="34" charset="0"/>
                <a:ea typeface="隶书" panose="02010509060101010101" pitchFamily="49" charset="-122"/>
              </a:rPr>
              <a:t>在 </a:t>
            </a:r>
            <a:r>
              <a:rPr lang="en-US" altLang="zh-CN" sz="2800">
                <a:latin typeface="Tahoma" panose="020B0604030504040204" pitchFamily="34" charset="0"/>
                <a:ea typeface="宋体" panose="02010600030101010101" pitchFamily="2" charset="-122"/>
              </a:rPr>
              <a:t>Z</a:t>
            </a:r>
            <a:r>
              <a:rPr lang="en-US" altLang="zh-CN" sz="2800" i="1" baseline="-25000">
                <a:latin typeface="Tahoma" panose="020B0604030504040204" pitchFamily="34" charset="0"/>
                <a:ea typeface="宋体" panose="02010600030101010101" pitchFamily="2" charset="-122"/>
              </a:rPr>
              <a:t>p</a:t>
            </a:r>
            <a:r>
              <a:rPr lang="en-US" altLang="zh-CN" sz="2800" baseline="30000">
                <a:latin typeface="Tahoma" panose="020B0604030504040204" pitchFamily="34" charset="0"/>
                <a:ea typeface="宋体" panose="02010600030101010101" pitchFamily="2" charset="-122"/>
              </a:rPr>
              <a:t>+</a:t>
            </a:r>
            <a:r>
              <a:rPr lang="en-US" altLang="zh-CN" sz="2800">
                <a:latin typeface="Tahoma" panose="020B0604030504040204" pitchFamily="34" charset="0"/>
                <a:ea typeface="宋体" panose="02010600030101010101" pitchFamily="2" charset="-122"/>
              </a:rPr>
              <a:t> </a:t>
            </a:r>
            <a:r>
              <a:rPr lang="zh-CN" altLang="en-US" sz="2800">
                <a:latin typeface="Tahoma" panose="020B0604030504040204" pitchFamily="34" charset="0"/>
                <a:ea typeface="隶书" panose="02010509060101010101" pitchFamily="49" charset="-122"/>
              </a:rPr>
              <a:t>中</a:t>
            </a:r>
            <a:r>
              <a:rPr lang="zh-CN" altLang="en-US" sz="2800">
                <a:solidFill>
                  <a:srgbClr val="FF0000"/>
                </a:solidFill>
                <a:latin typeface="Tahoma" panose="020B0604030504040204" pitchFamily="34" charset="0"/>
                <a:ea typeface="隶书" panose="02010509060101010101" pitchFamily="49" charset="-122"/>
              </a:rPr>
              <a:t>随机地选取</a:t>
            </a:r>
            <a:r>
              <a:rPr lang="zh-CN" altLang="en-US" sz="2800">
                <a:latin typeface="Tahoma" panose="020B0604030504040204" pitchFamily="34" charset="0"/>
                <a:ea typeface="隶书" panose="02010509060101010101" pitchFamily="49" charset="-122"/>
              </a:rPr>
              <a:t> </a:t>
            </a:r>
            <a:r>
              <a:rPr lang="en-US" altLang="zh-CN" sz="2800" i="1">
                <a:latin typeface="Tahoma" panose="020B0604030504040204" pitchFamily="34" charset="0"/>
                <a:ea typeface="宋体" panose="02010600030101010101" pitchFamily="2" charset="-122"/>
              </a:rPr>
              <a:t>a</a:t>
            </a:r>
            <a:r>
              <a:rPr lang="en-US" altLang="zh-CN" sz="2800" baseline="-25000">
                <a:latin typeface="Tahoma" panose="020B0604030504040204" pitchFamily="34" charset="0"/>
                <a:ea typeface="宋体" panose="02010600030101010101" pitchFamily="2" charset="-122"/>
              </a:rPr>
              <a:t>1</a:t>
            </a:r>
            <a:r>
              <a:rPr lang="en-US" altLang="zh-CN" sz="2800">
                <a:latin typeface="Tahoma" panose="020B0604030504040204" pitchFamily="34" charset="0"/>
                <a:ea typeface="宋体" panose="02010600030101010101" pitchFamily="2" charset="-122"/>
              </a:rPr>
              <a:t>, … , </a:t>
            </a:r>
            <a:r>
              <a:rPr lang="en-US" altLang="zh-CN" sz="2800" i="1">
                <a:latin typeface="Tahoma" panose="020B0604030504040204" pitchFamily="34" charset="0"/>
                <a:ea typeface="宋体" panose="02010600030101010101" pitchFamily="2" charset="-122"/>
              </a:rPr>
              <a:t>a</a:t>
            </a:r>
            <a:r>
              <a:rPr lang="en-US" altLang="zh-CN" sz="2800" i="1" baseline="-25000">
                <a:latin typeface="Tahoma" panose="020B0604030504040204" pitchFamily="34" charset="0"/>
                <a:ea typeface="宋体" panose="02010600030101010101" pitchFamily="2" charset="-122"/>
              </a:rPr>
              <a:t>k</a:t>
            </a:r>
          </a:p>
          <a:p>
            <a:pPr lvl="1">
              <a:buFont typeface="Monotype Sorts" pitchFamily="2" charset="2"/>
              <a:buNone/>
            </a:pPr>
            <a:r>
              <a:rPr lang="en-US" altLang="zh-CN" sz="2800">
                <a:latin typeface="Tahoma" panose="020B0604030504040204" pitchFamily="34" charset="0"/>
                <a:ea typeface="宋体" panose="02010600030101010101" pitchFamily="2" charset="-122"/>
              </a:rPr>
              <a:t>2) </a:t>
            </a:r>
            <a:r>
              <a:rPr lang="zh-CN" altLang="en-US" sz="2800">
                <a:latin typeface="Tahoma" panose="020B0604030504040204" pitchFamily="34" charset="0"/>
                <a:ea typeface="隶书" panose="02010509060101010101" pitchFamily="49" charset="-122"/>
              </a:rPr>
              <a:t>对于每一个 </a:t>
            </a:r>
            <a:r>
              <a:rPr lang="en-US" altLang="zh-CN" sz="2800" i="1">
                <a:latin typeface="Tahoma" panose="020B0604030504040204" pitchFamily="34" charset="0"/>
                <a:ea typeface="宋体" panose="02010600030101010101" pitchFamily="2" charset="-122"/>
              </a:rPr>
              <a:t>i</a:t>
            </a:r>
            <a:r>
              <a:rPr lang="zh-CN" altLang="en-US" sz="2800">
                <a:latin typeface="Tahoma" panose="020B0604030504040204" pitchFamily="34" charset="0"/>
                <a:ea typeface="隶书" panose="02010509060101010101" pitchFamily="49" charset="-122"/>
              </a:rPr>
              <a:t>，</a:t>
            </a:r>
            <a:r>
              <a:rPr lang="zh-CN" altLang="en-US" sz="2800">
                <a:solidFill>
                  <a:srgbClr val="FF0000"/>
                </a:solidFill>
                <a:latin typeface="Tahoma" panose="020B0604030504040204" pitchFamily="34" charset="0"/>
                <a:ea typeface="隶书" panose="02010509060101010101" pitchFamily="49" charset="-122"/>
              </a:rPr>
              <a:t>计算 </a:t>
            </a:r>
            <a:r>
              <a:rPr lang="en-US" altLang="zh-CN" sz="2800" i="1">
                <a:solidFill>
                  <a:srgbClr val="FF0000"/>
                </a:solidFill>
                <a:latin typeface="Tahoma" panose="020B0604030504040204" pitchFamily="34" charset="0"/>
                <a:ea typeface="宋体" panose="02010600030101010101" pitchFamily="2" charset="-122"/>
              </a:rPr>
              <a:t>a</a:t>
            </a:r>
            <a:r>
              <a:rPr lang="en-US" altLang="zh-CN" sz="2800" i="1" baseline="-25000">
                <a:solidFill>
                  <a:srgbClr val="FF0000"/>
                </a:solidFill>
                <a:latin typeface="Tahoma" panose="020B0604030504040204" pitchFamily="34" charset="0"/>
                <a:ea typeface="宋体" panose="02010600030101010101" pitchFamily="2" charset="-122"/>
              </a:rPr>
              <a:t>i</a:t>
            </a:r>
            <a:r>
              <a:rPr lang="en-US" altLang="zh-CN" sz="2800" i="1" baseline="30000">
                <a:solidFill>
                  <a:srgbClr val="FF0000"/>
                </a:solidFill>
                <a:latin typeface="Tahoma" panose="020B0604030504040204" pitchFamily="34" charset="0"/>
                <a:ea typeface="宋体" panose="02010600030101010101" pitchFamily="2" charset="-122"/>
              </a:rPr>
              <a:t>p</a:t>
            </a:r>
            <a:r>
              <a:rPr lang="en-US" altLang="zh-CN" sz="2800" baseline="30000">
                <a:solidFill>
                  <a:srgbClr val="FF0000"/>
                </a:solidFill>
                <a:latin typeface="Tahoma" panose="020B0604030504040204" pitchFamily="34" charset="0"/>
                <a:ea typeface="宋体" panose="02010600030101010101" pitchFamily="2" charset="-122"/>
              </a:rPr>
              <a:t>-1</a:t>
            </a:r>
            <a:r>
              <a:rPr lang="en-US" altLang="zh-CN" sz="2800">
                <a:solidFill>
                  <a:srgbClr val="FF0000"/>
                </a:solidFill>
                <a:latin typeface="Tahoma" panose="020B0604030504040204" pitchFamily="34" charset="0"/>
                <a:ea typeface="宋体" panose="02010600030101010101" pitchFamily="2" charset="-122"/>
              </a:rPr>
              <a:t> mod </a:t>
            </a:r>
            <a:r>
              <a:rPr lang="en-US" altLang="zh-CN" sz="2800" i="1">
                <a:solidFill>
                  <a:srgbClr val="FF0000"/>
                </a:solidFill>
                <a:latin typeface="Tahoma" panose="020B0604030504040204" pitchFamily="34" charset="0"/>
                <a:ea typeface="宋体" panose="02010600030101010101" pitchFamily="2" charset="-122"/>
              </a:rPr>
              <a:t>p</a:t>
            </a:r>
            <a:r>
              <a:rPr lang="zh-CN" altLang="en-US" sz="2800">
                <a:latin typeface="Tahoma" panose="020B0604030504040204" pitchFamily="34" charset="0"/>
                <a:ea typeface="隶书" panose="02010509060101010101" pitchFamily="49" charset="-122"/>
              </a:rPr>
              <a:t>。</a:t>
            </a:r>
          </a:p>
          <a:p>
            <a:pPr lvl="1">
              <a:buFont typeface="Monotype Sorts" pitchFamily="2" charset="2"/>
              <a:buNone/>
            </a:pPr>
            <a:r>
              <a:rPr lang="en-US" altLang="zh-CN" sz="2800">
                <a:latin typeface="Tahoma" panose="020B0604030504040204" pitchFamily="34" charset="0"/>
                <a:ea typeface="宋体" panose="02010600030101010101" pitchFamily="2" charset="-122"/>
              </a:rPr>
              <a:t>3) </a:t>
            </a:r>
            <a:r>
              <a:rPr lang="zh-CN" altLang="en-US" sz="2800">
                <a:latin typeface="Tahoma" panose="020B0604030504040204" pitchFamily="34" charset="0"/>
                <a:ea typeface="隶书" panose="02010509060101010101" pitchFamily="49" charset="-122"/>
              </a:rPr>
              <a:t>如果所有计算值都等于 </a:t>
            </a:r>
            <a:r>
              <a:rPr lang="en-US" altLang="zh-CN" sz="2800">
                <a:latin typeface="Tahoma" panose="020B0604030504040204" pitchFamily="34" charset="0"/>
                <a:ea typeface="宋体" panose="02010600030101010101" pitchFamily="2" charset="-122"/>
              </a:rPr>
              <a:t>1</a:t>
            </a:r>
            <a:r>
              <a:rPr lang="zh-CN" altLang="en-US" sz="2800">
                <a:latin typeface="Tahoma" panose="020B0604030504040204" pitchFamily="34" charset="0"/>
                <a:ea typeface="隶书" panose="02010509060101010101" pitchFamily="49" charset="-122"/>
              </a:rPr>
              <a:t>，则接受；否则拒绝。”</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animEffect transition="in" filter="wipe(left)">
                                      <p:cBhvr>
                                        <p:cTn id="7" dur="500"/>
                                        <p:tgtEl>
                                          <p:spTgt spid="3072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03">
                                            <p:txEl>
                                              <p:pRg st="1" end="1"/>
                                            </p:txEl>
                                          </p:spTgt>
                                        </p:tgtEl>
                                        <p:attrNameLst>
                                          <p:attrName>style.visibility</p:attrName>
                                        </p:attrNameLst>
                                      </p:cBhvr>
                                      <p:to>
                                        <p:strVal val="visible"/>
                                      </p:to>
                                    </p:set>
                                    <p:animEffect transition="in" filter="wipe(left)">
                                      <p:cBhvr>
                                        <p:cTn id="12" dur="500"/>
                                        <p:tgtEl>
                                          <p:spTgt spid="3072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7204"/>
                                        </p:tgtEl>
                                        <p:attrNameLst>
                                          <p:attrName>style.visibility</p:attrName>
                                        </p:attrNameLst>
                                      </p:cBhvr>
                                      <p:to>
                                        <p:strVal val="visible"/>
                                      </p:to>
                                    </p:set>
                                    <p:animEffect transition="in" filter="wipe(up)">
                                      <p:cBhvr>
                                        <p:cTn id="17" dur="500"/>
                                        <p:tgtEl>
                                          <p:spTgt spid="307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P spid="30720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a:extLst>
              <a:ext uri="{FF2B5EF4-FFF2-40B4-BE49-F238E27FC236}">
                <a16:creationId xmlns:a16="http://schemas.microsoft.com/office/drawing/2014/main" id="{3C7C7E7A-969D-462A-84E8-10EED12F772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89196F0-5C51-42B0-99EC-98DDF6753E0A}"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3795" name="灯片编号占位符 4">
            <a:extLst>
              <a:ext uri="{FF2B5EF4-FFF2-40B4-BE49-F238E27FC236}">
                <a16:creationId xmlns:a16="http://schemas.microsoft.com/office/drawing/2014/main" id="{65EDAD5A-A522-46B9-AAFE-AD2E7CE29F5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60B0EEA-B0E0-4D73-93CD-7AB969D6F5B8}"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31</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8226" name="Rectangle 2">
            <a:extLst>
              <a:ext uri="{FF2B5EF4-FFF2-40B4-BE49-F238E27FC236}">
                <a16:creationId xmlns:a16="http://schemas.microsoft.com/office/drawing/2014/main" id="{486AB667-A83B-49DC-8A7A-89F2D7BE70FF}"/>
              </a:ext>
            </a:extLst>
          </p:cNvPr>
          <p:cNvSpPr>
            <a:spLocks noGrp="1" noChangeArrowheads="1"/>
          </p:cNvSpPr>
          <p:nvPr>
            <p:ph type="title"/>
          </p:nvPr>
        </p:nvSpPr>
        <p:spPr/>
        <p:txBody>
          <a:bodyPr/>
          <a:lstStyle/>
          <a:p>
            <a:pPr>
              <a:defRPr/>
            </a:pPr>
            <a:r>
              <a:rPr lang="zh-CN" altLang="en-US"/>
              <a:t>避免卡米切尔数的算法 </a:t>
            </a:r>
            <a:r>
              <a:rPr lang="en-US" altLang="zh-CN" b="1" i="1"/>
              <a:t>PRIME</a:t>
            </a:r>
          </a:p>
        </p:txBody>
      </p:sp>
      <p:sp>
        <p:nvSpPr>
          <p:cNvPr id="308227" name="Rectangle 3">
            <a:extLst>
              <a:ext uri="{FF2B5EF4-FFF2-40B4-BE49-F238E27FC236}">
                <a16:creationId xmlns:a16="http://schemas.microsoft.com/office/drawing/2014/main" id="{15AF3C39-5D12-4A28-8D45-ABFE1441FF62}"/>
              </a:ext>
            </a:extLst>
          </p:cNvPr>
          <p:cNvSpPr>
            <a:spLocks noGrp="1" noChangeArrowheads="1"/>
          </p:cNvSpPr>
          <p:nvPr>
            <p:ph type="body" idx="1"/>
          </p:nvPr>
        </p:nvSpPr>
        <p:spPr>
          <a:xfrm>
            <a:off x="323850" y="1052513"/>
            <a:ext cx="8534400" cy="863600"/>
          </a:xfrm>
        </p:spPr>
        <p:txBody>
          <a:bodyPr/>
          <a:lstStyle/>
          <a:p>
            <a:pPr>
              <a:lnSpc>
                <a:spcPct val="115000"/>
              </a:lnSpc>
              <a:spcBef>
                <a:spcPct val="15000"/>
              </a:spcBef>
              <a:defRPr/>
            </a:pPr>
            <a:r>
              <a:rPr lang="zh-CN" altLang="en-US" sz="2000" dirty="0">
                <a:latin typeface="Tahoma" pitchFamily="34" charset="0"/>
                <a:ea typeface="+mj-ea"/>
                <a:cs typeface="Tahoma" pitchFamily="34" charset="0"/>
              </a:rPr>
              <a:t>基本原理是：对于任意素数 </a:t>
            </a:r>
            <a:r>
              <a:rPr lang="en-US" altLang="zh-CN" sz="2000" i="1" dirty="0">
                <a:latin typeface="Tahoma" pitchFamily="34" charset="0"/>
                <a:ea typeface="Tahoma" pitchFamily="34" charset="0"/>
                <a:cs typeface="Tahoma" pitchFamily="34" charset="0"/>
              </a:rPr>
              <a:t>p</a:t>
            </a:r>
            <a:r>
              <a:rPr lang="zh-CN" altLang="en-US" sz="2000" dirty="0">
                <a:latin typeface="Tahoma" pitchFamily="34" charset="0"/>
                <a:ea typeface="+mj-ea"/>
                <a:cs typeface="Tahoma" pitchFamily="34" charset="0"/>
              </a:rPr>
              <a:t>，</a:t>
            </a:r>
            <a:r>
              <a:rPr lang="en-US" altLang="zh-CN" sz="2000" dirty="0">
                <a:latin typeface="Tahoma" pitchFamily="34" charset="0"/>
                <a:ea typeface="Tahoma" pitchFamily="34" charset="0"/>
                <a:cs typeface="Tahoma" pitchFamily="34" charset="0"/>
              </a:rPr>
              <a:t>1 </a:t>
            </a:r>
            <a:r>
              <a:rPr lang="zh-CN" altLang="en-US" sz="2000" dirty="0">
                <a:latin typeface="Tahoma" pitchFamily="34" charset="0"/>
                <a:ea typeface="+mj-ea"/>
                <a:cs typeface="Tahoma" pitchFamily="34" charset="0"/>
              </a:rPr>
              <a:t>恰好有两个模 </a:t>
            </a:r>
            <a:r>
              <a:rPr lang="en-US" altLang="zh-CN" sz="2000" i="1" dirty="0">
                <a:latin typeface="Tahoma" pitchFamily="34" charset="0"/>
                <a:ea typeface="Tahoma" pitchFamily="34" charset="0"/>
                <a:cs typeface="Tahoma" pitchFamily="34" charset="0"/>
              </a:rPr>
              <a:t>p</a:t>
            </a:r>
            <a:r>
              <a:rPr lang="en-US" altLang="zh-CN" sz="2000" dirty="0">
                <a:latin typeface="Tahoma" pitchFamily="34" charset="0"/>
                <a:ea typeface="Tahoma" pitchFamily="34" charset="0"/>
                <a:cs typeface="Tahoma" pitchFamily="34" charset="0"/>
              </a:rPr>
              <a:t> </a:t>
            </a:r>
            <a:r>
              <a:rPr lang="zh-CN" altLang="en-US" sz="2000" dirty="0">
                <a:latin typeface="Tahoma" pitchFamily="34" charset="0"/>
                <a:ea typeface="+mj-ea"/>
                <a:cs typeface="Tahoma" pitchFamily="34" charset="0"/>
              </a:rPr>
              <a:t>的平方根：</a:t>
            </a:r>
            <a:r>
              <a:rPr lang="en-US" altLang="zh-CN" sz="2000" dirty="0">
                <a:latin typeface="Tahoma" pitchFamily="34" charset="0"/>
                <a:ea typeface="Tahoma" pitchFamily="34" charset="0"/>
                <a:cs typeface="Tahoma" pitchFamily="34" charset="0"/>
              </a:rPr>
              <a:t>1 </a:t>
            </a:r>
            <a:r>
              <a:rPr lang="zh-CN" altLang="en-US" sz="2000" dirty="0">
                <a:latin typeface="Tahoma" pitchFamily="34" charset="0"/>
                <a:ea typeface="+mj-ea"/>
                <a:cs typeface="Tahoma" pitchFamily="34" charset="0"/>
              </a:rPr>
              <a:t>和 </a:t>
            </a:r>
            <a:r>
              <a:rPr lang="en-US" altLang="zh-CN" sz="2000" dirty="0">
                <a:latin typeface="Tahoma" pitchFamily="34" charset="0"/>
                <a:ea typeface="Tahoma" pitchFamily="34" charset="0"/>
                <a:cs typeface="Tahoma" pitchFamily="34" charset="0"/>
              </a:rPr>
              <a:t>-1</a:t>
            </a:r>
            <a:r>
              <a:rPr lang="zh-CN" altLang="en-US" sz="2000" dirty="0">
                <a:latin typeface="Tahoma" pitchFamily="34" charset="0"/>
                <a:ea typeface="+mj-ea"/>
                <a:cs typeface="Tahoma" pitchFamily="34" charset="0"/>
              </a:rPr>
              <a:t>。而对于许多合数，包括卡米切尔数在内，</a:t>
            </a:r>
            <a:r>
              <a:rPr lang="en-US" altLang="zh-CN" sz="2000" dirty="0">
                <a:latin typeface="Tahoma" pitchFamily="34" charset="0"/>
                <a:ea typeface="Tahoma" pitchFamily="34" charset="0"/>
                <a:cs typeface="Tahoma" pitchFamily="34" charset="0"/>
              </a:rPr>
              <a:t>1 </a:t>
            </a:r>
            <a:r>
              <a:rPr lang="zh-CN" altLang="en-US" sz="2000" dirty="0">
                <a:latin typeface="Tahoma" pitchFamily="34" charset="0"/>
                <a:ea typeface="+mj-ea"/>
                <a:cs typeface="Tahoma" pitchFamily="34" charset="0"/>
              </a:rPr>
              <a:t>有</a:t>
            </a:r>
            <a:r>
              <a:rPr lang="en-US" altLang="zh-CN" sz="2000" dirty="0">
                <a:latin typeface="Tahoma" pitchFamily="34" charset="0"/>
                <a:ea typeface="Tahoma" pitchFamily="34" charset="0"/>
                <a:cs typeface="Tahoma" pitchFamily="34" charset="0"/>
              </a:rPr>
              <a:t>4 </a:t>
            </a:r>
            <a:r>
              <a:rPr lang="zh-CN" altLang="en-US" sz="2000" dirty="0">
                <a:latin typeface="Tahoma" pitchFamily="34" charset="0"/>
                <a:ea typeface="+mj-ea"/>
                <a:cs typeface="Tahoma" pitchFamily="34" charset="0"/>
              </a:rPr>
              <a:t>个或更多的平方根</a:t>
            </a:r>
            <a:r>
              <a:rPr lang="zh-CN" altLang="en-US" sz="2000" dirty="0">
                <a:latin typeface="Tahoma" pitchFamily="34" charset="0"/>
                <a:cs typeface="Tahoma" pitchFamily="34" charset="0"/>
              </a:rPr>
              <a:t>。</a:t>
            </a:r>
          </a:p>
        </p:txBody>
      </p:sp>
      <p:sp>
        <p:nvSpPr>
          <p:cNvPr id="308228" name="Rectangle 4">
            <a:extLst>
              <a:ext uri="{FF2B5EF4-FFF2-40B4-BE49-F238E27FC236}">
                <a16:creationId xmlns:a16="http://schemas.microsoft.com/office/drawing/2014/main" id="{C79A6697-4C64-4C2A-BADC-59E23635223A}"/>
              </a:ext>
            </a:extLst>
          </p:cNvPr>
          <p:cNvSpPr>
            <a:spLocks noChangeArrowheads="1"/>
          </p:cNvSpPr>
          <p:nvPr/>
        </p:nvSpPr>
        <p:spPr bwMode="auto">
          <a:xfrm>
            <a:off x="323850" y="1916113"/>
            <a:ext cx="8362950" cy="576262"/>
          </a:xfrm>
          <a:prstGeom prst="rect">
            <a:avLst/>
          </a:prstGeom>
          <a:noFill/>
          <a:ln>
            <a:noFill/>
          </a:ln>
        </p:spPr>
        <p:txBody>
          <a:bodyPr/>
          <a:lstStyle>
            <a:lvl1pPr marL="342900" indent="-342900">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spcBef>
                <a:spcPct val="35000"/>
              </a:spcBef>
              <a:buClr>
                <a:schemeClr val="tx2"/>
              </a:buClr>
              <a:buSzPct val="90000"/>
              <a:buFont typeface="Monotype Sorts" pitchFamily="2" charset="2"/>
              <a:buNone/>
              <a:defRPr/>
            </a:pPr>
            <a:r>
              <a:rPr lang="zh-CN" altLang="en-US" sz="2000" dirty="0">
                <a:latin typeface="Tahoma" pitchFamily="34" charset="0"/>
                <a:ea typeface="+mj-ea"/>
                <a:cs typeface="Tahoma" pitchFamily="34" charset="0"/>
              </a:rPr>
              <a:t>例：如果 </a:t>
            </a:r>
            <a:r>
              <a:rPr lang="en-US" altLang="zh-CN" sz="2000" i="1" dirty="0">
                <a:latin typeface="Tahoma" pitchFamily="34" charset="0"/>
                <a:ea typeface="Tahoma" pitchFamily="34" charset="0"/>
                <a:cs typeface="Tahoma" pitchFamily="34" charset="0"/>
              </a:rPr>
              <a:t>n</a:t>
            </a:r>
            <a:r>
              <a:rPr lang="en-US" altLang="zh-CN" sz="2000" dirty="0">
                <a:latin typeface="Tahoma" pitchFamily="34" charset="0"/>
                <a:ea typeface="Tahoma" pitchFamily="34" charset="0"/>
                <a:cs typeface="Tahoma" pitchFamily="34" charset="0"/>
              </a:rPr>
              <a:t> </a:t>
            </a:r>
            <a:r>
              <a:rPr lang="zh-CN" altLang="en-US" sz="2000" dirty="0">
                <a:latin typeface="Tahoma" pitchFamily="34" charset="0"/>
                <a:ea typeface="+mj-ea"/>
                <a:cs typeface="Tahoma" pitchFamily="34" charset="0"/>
              </a:rPr>
              <a:t>是</a:t>
            </a:r>
            <a:r>
              <a:rPr lang="en-US" altLang="zh-CN" sz="2000" dirty="0">
                <a:latin typeface="Tahoma" pitchFamily="34" charset="0"/>
                <a:ea typeface="Tahoma" pitchFamily="34" charset="0"/>
                <a:cs typeface="Tahoma" pitchFamily="34" charset="0"/>
              </a:rPr>
              <a:t>7(</a:t>
            </a:r>
            <a:r>
              <a:rPr lang="zh-CN" altLang="en-US" sz="2000" dirty="0">
                <a:latin typeface="Tahoma" pitchFamily="34" charset="0"/>
                <a:ea typeface="+mj-ea"/>
                <a:cs typeface="Tahoma" pitchFamily="34" charset="0"/>
              </a:rPr>
              <a:t>一个素数</a:t>
            </a:r>
            <a:r>
              <a:rPr lang="en-US" altLang="zh-CN" sz="2000" dirty="0">
                <a:latin typeface="Tahoma" pitchFamily="34" charset="0"/>
                <a:ea typeface="Tahoma" pitchFamily="34" charset="0"/>
                <a:cs typeface="Tahoma" pitchFamily="34" charset="0"/>
              </a:rPr>
              <a:t>)</a:t>
            </a:r>
            <a:r>
              <a:rPr lang="zh-CN" altLang="en-US" sz="2000" dirty="0">
                <a:latin typeface="Tahoma" pitchFamily="34" charset="0"/>
                <a:ea typeface="+mj-ea"/>
                <a:cs typeface="Tahoma" pitchFamily="34" charset="0"/>
              </a:rPr>
              <a:t>，</a:t>
            </a:r>
            <a:r>
              <a:rPr lang="en-US" altLang="zh-CN" sz="2000" dirty="0">
                <a:latin typeface="Tahoma" pitchFamily="34" charset="0"/>
                <a:ea typeface="Tahoma" pitchFamily="34" charset="0"/>
                <a:cs typeface="Tahoma" pitchFamily="34" charset="0"/>
              </a:rPr>
              <a:t>1 mod </a:t>
            </a:r>
            <a:r>
              <a:rPr lang="en-US" altLang="zh-CN" sz="2000" i="1" dirty="0">
                <a:latin typeface="Tahoma" pitchFamily="34" charset="0"/>
                <a:ea typeface="Tahoma" pitchFamily="34" charset="0"/>
                <a:cs typeface="Tahoma" pitchFamily="34" charset="0"/>
              </a:rPr>
              <a:t>n</a:t>
            </a:r>
            <a:r>
              <a:rPr lang="zh-CN" altLang="en-US" sz="2000" dirty="0">
                <a:latin typeface="Tahoma" pitchFamily="34" charset="0"/>
                <a:ea typeface="+mj-ea"/>
                <a:cs typeface="Tahoma" pitchFamily="34" charset="0"/>
              </a:rPr>
              <a:t>的平方根是多少？ </a:t>
            </a:r>
          </a:p>
        </p:txBody>
      </p:sp>
      <p:pic>
        <p:nvPicPr>
          <p:cNvPr id="308229" name="Picture 5" descr="161513250">
            <a:extLst>
              <a:ext uri="{FF2B5EF4-FFF2-40B4-BE49-F238E27FC236}">
                <a16:creationId xmlns:a16="http://schemas.microsoft.com/office/drawing/2014/main" id="{E184A3F9-8FE3-485D-BC79-90E54136E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7750"/>
          <a:stretch>
            <a:fillRect/>
          </a:stretch>
        </p:blipFill>
        <p:spPr bwMode="auto">
          <a:xfrm>
            <a:off x="971550" y="2463800"/>
            <a:ext cx="41052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30" name="Rectangle 6">
            <a:extLst>
              <a:ext uri="{FF2B5EF4-FFF2-40B4-BE49-F238E27FC236}">
                <a16:creationId xmlns:a16="http://schemas.microsoft.com/office/drawing/2014/main" id="{0C2D5A9D-09B2-4E48-8FA9-9AE84E6BA84E}"/>
              </a:ext>
            </a:extLst>
          </p:cNvPr>
          <p:cNvSpPr>
            <a:spLocks noChangeArrowheads="1"/>
          </p:cNvSpPr>
          <p:nvPr/>
        </p:nvSpPr>
        <p:spPr bwMode="auto">
          <a:xfrm>
            <a:off x="323850" y="3644900"/>
            <a:ext cx="8362950" cy="431800"/>
          </a:xfrm>
          <a:prstGeom prst="rect">
            <a:avLst/>
          </a:prstGeom>
          <a:noFill/>
          <a:ln>
            <a:noFill/>
          </a:ln>
        </p:spPr>
        <p:txBody>
          <a:bodyPr/>
          <a:lstStyle>
            <a:lvl1pPr marL="342900" indent="-342900">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spcBef>
                <a:spcPct val="35000"/>
              </a:spcBef>
              <a:buClr>
                <a:schemeClr val="tx2"/>
              </a:buClr>
              <a:buSzPct val="90000"/>
              <a:buFont typeface="Monotype Sorts" pitchFamily="2" charset="2"/>
              <a:buNone/>
              <a:defRPr/>
            </a:pPr>
            <a:r>
              <a:rPr lang="zh-CN" altLang="en-US" sz="2000" dirty="0">
                <a:latin typeface="Tahoma" pitchFamily="34" charset="0"/>
                <a:ea typeface="+mj-ea"/>
                <a:cs typeface="Tahoma" pitchFamily="34" charset="0"/>
              </a:rPr>
              <a:t>例：如果 </a:t>
            </a:r>
            <a:r>
              <a:rPr lang="en-US" altLang="zh-CN" sz="2000" i="1" dirty="0">
                <a:latin typeface="Tahoma" pitchFamily="34" charset="0"/>
                <a:ea typeface="Tahoma" pitchFamily="34" charset="0"/>
                <a:cs typeface="Tahoma" pitchFamily="34" charset="0"/>
              </a:rPr>
              <a:t>n</a:t>
            </a:r>
            <a:r>
              <a:rPr lang="en-US" altLang="zh-CN" sz="2000" dirty="0">
                <a:latin typeface="Tahoma" pitchFamily="34" charset="0"/>
                <a:ea typeface="Tahoma" pitchFamily="34" charset="0"/>
                <a:cs typeface="Tahoma" pitchFamily="34" charset="0"/>
              </a:rPr>
              <a:t> </a:t>
            </a:r>
            <a:r>
              <a:rPr lang="zh-CN" altLang="en-US" sz="2000" dirty="0">
                <a:latin typeface="Tahoma" pitchFamily="34" charset="0"/>
                <a:ea typeface="+mj-ea"/>
                <a:cs typeface="Tahoma" pitchFamily="34" charset="0"/>
              </a:rPr>
              <a:t>是</a:t>
            </a:r>
            <a:r>
              <a:rPr lang="en-US" altLang="zh-CN" sz="2000" dirty="0">
                <a:latin typeface="Tahoma" pitchFamily="34" charset="0"/>
                <a:ea typeface="Tahoma" pitchFamily="34" charset="0"/>
                <a:cs typeface="Tahoma" pitchFamily="34" charset="0"/>
              </a:rPr>
              <a:t>8(</a:t>
            </a:r>
            <a:r>
              <a:rPr lang="zh-CN" altLang="en-US" sz="2000" dirty="0">
                <a:latin typeface="Tahoma" pitchFamily="34" charset="0"/>
                <a:ea typeface="+mj-ea"/>
                <a:cs typeface="Tahoma" pitchFamily="34" charset="0"/>
              </a:rPr>
              <a:t>一个合数</a:t>
            </a:r>
            <a:r>
              <a:rPr lang="en-US" altLang="zh-CN" sz="2000" dirty="0">
                <a:latin typeface="Tahoma" pitchFamily="34" charset="0"/>
                <a:ea typeface="Tahoma" pitchFamily="34" charset="0"/>
                <a:cs typeface="Tahoma" pitchFamily="34" charset="0"/>
              </a:rPr>
              <a:t>)</a:t>
            </a:r>
            <a:r>
              <a:rPr lang="zh-CN" altLang="en-US" sz="2000" dirty="0">
                <a:latin typeface="Tahoma" pitchFamily="34" charset="0"/>
                <a:ea typeface="+mj-ea"/>
                <a:cs typeface="Tahoma" pitchFamily="34" charset="0"/>
              </a:rPr>
              <a:t>，</a:t>
            </a:r>
            <a:r>
              <a:rPr lang="en-US" altLang="zh-CN" sz="2000" dirty="0">
                <a:latin typeface="Tahoma" pitchFamily="34" charset="0"/>
                <a:ea typeface="Tahoma" pitchFamily="34" charset="0"/>
                <a:cs typeface="Tahoma" pitchFamily="34" charset="0"/>
              </a:rPr>
              <a:t>1 mod </a:t>
            </a:r>
            <a:r>
              <a:rPr lang="en-US" altLang="zh-CN" sz="2000" i="1" dirty="0">
                <a:latin typeface="Tahoma" pitchFamily="34" charset="0"/>
                <a:ea typeface="Tahoma" pitchFamily="34" charset="0"/>
                <a:cs typeface="Tahoma" pitchFamily="34" charset="0"/>
              </a:rPr>
              <a:t>n</a:t>
            </a:r>
            <a:r>
              <a:rPr lang="zh-CN" altLang="en-US" sz="2000" dirty="0">
                <a:latin typeface="Tahoma" pitchFamily="34" charset="0"/>
                <a:ea typeface="+mj-ea"/>
                <a:cs typeface="Tahoma" pitchFamily="34" charset="0"/>
              </a:rPr>
              <a:t>的平方根是多少？ </a:t>
            </a:r>
          </a:p>
        </p:txBody>
      </p:sp>
      <p:pic>
        <p:nvPicPr>
          <p:cNvPr id="308231" name="Picture 7" descr="161627162">
            <a:extLst>
              <a:ext uri="{FF2B5EF4-FFF2-40B4-BE49-F238E27FC236}">
                <a16:creationId xmlns:a16="http://schemas.microsoft.com/office/drawing/2014/main" id="{BCB4EF7B-259A-4B4F-9A9B-60DC349981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7784" b="3940"/>
          <a:stretch>
            <a:fillRect/>
          </a:stretch>
        </p:blipFill>
        <p:spPr bwMode="auto">
          <a:xfrm>
            <a:off x="900113" y="4144963"/>
            <a:ext cx="42481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32" name="Rectangle 8">
            <a:extLst>
              <a:ext uri="{FF2B5EF4-FFF2-40B4-BE49-F238E27FC236}">
                <a16:creationId xmlns:a16="http://schemas.microsoft.com/office/drawing/2014/main" id="{98FC1F34-1FC8-4707-8EFE-B68D5A512900}"/>
              </a:ext>
            </a:extLst>
          </p:cNvPr>
          <p:cNvSpPr>
            <a:spLocks noChangeArrowheads="1"/>
          </p:cNvSpPr>
          <p:nvPr/>
        </p:nvSpPr>
        <p:spPr bwMode="auto">
          <a:xfrm>
            <a:off x="323850" y="4941888"/>
            <a:ext cx="8640763"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15000"/>
              </a:lnSpc>
              <a:spcBef>
                <a:spcPct val="15000"/>
              </a:spcBef>
            </a:pPr>
            <a:r>
              <a:rPr lang="zh-CN" altLang="en-US" sz="2000">
                <a:latin typeface="Tahoma" panose="020B0604030504040204" pitchFamily="34" charset="0"/>
                <a:ea typeface="隶书" panose="02010509060101010101" pitchFamily="49" charset="-122"/>
                <a:cs typeface="Tahoma" panose="020B0604030504040204" pitchFamily="34" charset="0"/>
              </a:rPr>
              <a:t>如果 </a:t>
            </a:r>
            <a:r>
              <a:rPr lang="en-US" altLang="zh-CN" sz="2000" i="1">
                <a:latin typeface="Tahoma" panose="020B0604030504040204" pitchFamily="34" charset="0"/>
                <a:ea typeface="隶书" panose="02010509060101010101" pitchFamily="49" charset="-122"/>
                <a:cs typeface="Tahoma" panose="020B0604030504040204" pitchFamily="34" charset="0"/>
              </a:rPr>
              <a:t>p</a:t>
            </a:r>
            <a:r>
              <a:rPr lang="en-US" altLang="zh-CN" sz="2000">
                <a:latin typeface="Tahoma" panose="020B0604030504040204" pitchFamily="34" charset="0"/>
                <a:ea typeface="隶书" panose="02010509060101010101" pitchFamily="49" charset="-122"/>
                <a:cs typeface="Tahoma" panose="020B0604030504040204" pitchFamily="34" charset="0"/>
              </a:rPr>
              <a:t> </a:t>
            </a:r>
            <a:r>
              <a:rPr lang="zh-CN" altLang="en-US" sz="2000">
                <a:latin typeface="Tahoma" panose="020B0604030504040204" pitchFamily="34" charset="0"/>
                <a:ea typeface="隶书" panose="02010509060101010101" pitchFamily="49" charset="-122"/>
                <a:cs typeface="Tahoma" panose="020B0604030504040204" pitchFamily="34" charset="0"/>
              </a:rPr>
              <a:t>通过在 </a:t>
            </a:r>
            <a:r>
              <a:rPr lang="en-US" altLang="zh-CN" sz="2000" i="1">
                <a:latin typeface="Tahoma" panose="020B0604030504040204" pitchFamily="34" charset="0"/>
                <a:ea typeface="隶书" panose="02010509060101010101" pitchFamily="49" charset="-122"/>
                <a:cs typeface="Tahoma" panose="020B0604030504040204" pitchFamily="34" charset="0"/>
              </a:rPr>
              <a:t>a</a:t>
            </a:r>
            <a:r>
              <a:rPr lang="en-US" altLang="zh-CN" sz="2000">
                <a:latin typeface="Tahoma" panose="020B0604030504040204" pitchFamily="34" charset="0"/>
                <a:ea typeface="隶书" panose="02010509060101010101" pitchFamily="49" charset="-122"/>
                <a:cs typeface="Tahoma" panose="020B0604030504040204" pitchFamily="34" charset="0"/>
              </a:rPr>
              <a:t> </a:t>
            </a:r>
            <a:r>
              <a:rPr lang="zh-CN" altLang="en-US" sz="2000">
                <a:latin typeface="Tahoma" panose="020B0604030504040204" pitchFamily="34" charset="0"/>
                <a:ea typeface="隶书" panose="02010509060101010101" pitchFamily="49" charset="-122"/>
                <a:cs typeface="Tahoma" panose="020B0604030504040204" pitchFamily="34" charset="0"/>
              </a:rPr>
              <a:t>的费马测试，由于</a:t>
            </a:r>
            <a:r>
              <a:rPr lang="en-US" altLang="zh-CN" sz="2000" i="1">
                <a:latin typeface="Tahoma" panose="020B0604030504040204" pitchFamily="34" charset="0"/>
                <a:ea typeface="隶书" panose="02010509060101010101" pitchFamily="49" charset="-122"/>
                <a:cs typeface="Tahoma" panose="020B0604030504040204" pitchFamily="34" charset="0"/>
              </a:rPr>
              <a:t>a</a:t>
            </a:r>
            <a:r>
              <a:rPr lang="en-US" altLang="zh-CN" sz="2000" i="1" baseline="30000">
                <a:latin typeface="Tahoma" panose="020B0604030504040204" pitchFamily="34" charset="0"/>
                <a:ea typeface="隶书" panose="02010509060101010101" pitchFamily="49" charset="-122"/>
                <a:cs typeface="Tahoma" panose="020B0604030504040204" pitchFamily="34" charset="0"/>
              </a:rPr>
              <a:t>p</a:t>
            </a:r>
            <a:r>
              <a:rPr lang="en-US" altLang="zh-CN" sz="2000" baseline="30000">
                <a:latin typeface="Tahoma" panose="020B0604030504040204" pitchFamily="34" charset="0"/>
                <a:ea typeface="隶书" panose="02010509060101010101" pitchFamily="49" charset="-122"/>
                <a:cs typeface="Tahoma" panose="020B0604030504040204" pitchFamily="34" charset="0"/>
              </a:rPr>
              <a:t>-1</a:t>
            </a:r>
            <a:r>
              <a:rPr lang="en-US" altLang="zh-CN" sz="2000">
                <a:latin typeface="Tahoma" panose="020B0604030504040204" pitchFamily="34" charset="0"/>
                <a:ea typeface="隶书" panose="02010509060101010101" pitchFamily="49" charset="-122"/>
                <a:cs typeface="Tahoma" panose="020B0604030504040204" pitchFamily="34" charset="0"/>
              </a:rPr>
              <a:t> mod</a:t>
            </a:r>
            <a:r>
              <a:rPr lang="en-US" altLang="zh-CN" sz="2000" i="1">
                <a:latin typeface="Tahoma" panose="020B0604030504040204" pitchFamily="34" charset="0"/>
                <a:ea typeface="隶书" panose="02010509060101010101" pitchFamily="49" charset="-122"/>
                <a:cs typeface="Tahoma" panose="020B0604030504040204" pitchFamily="34" charset="0"/>
              </a:rPr>
              <a:t> p</a:t>
            </a:r>
            <a:r>
              <a:rPr lang="en-US" altLang="zh-CN" sz="2000">
                <a:latin typeface="Tahoma" panose="020B0604030504040204" pitchFamily="34" charset="0"/>
                <a:ea typeface="隶书" panose="02010509060101010101" pitchFamily="49" charset="-122"/>
                <a:cs typeface="Tahoma" panose="020B0604030504040204" pitchFamily="34" charset="0"/>
              </a:rPr>
              <a:t>=1</a:t>
            </a:r>
            <a:r>
              <a:rPr lang="zh-CN" altLang="en-US" sz="2000">
                <a:latin typeface="Tahoma" panose="020B0604030504040204" pitchFamily="34" charset="0"/>
                <a:ea typeface="隶书" panose="02010509060101010101" pitchFamily="49" charset="-122"/>
                <a:cs typeface="Tahoma" panose="020B0604030504040204" pitchFamily="34" charset="0"/>
              </a:rPr>
              <a:t>，从而 </a:t>
            </a:r>
            <a:r>
              <a:rPr lang="en-US" altLang="zh-CN" sz="2000" i="1">
                <a:latin typeface="Tahoma" panose="020B0604030504040204" pitchFamily="34" charset="0"/>
                <a:ea typeface="隶书" panose="02010509060101010101" pitchFamily="49" charset="-122"/>
                <a:cs typeface="Tahoma" panose="020B0604030504040204" pitchFamily="34" charset="0"/>
              </a:rPr>
              <a:t>a</a:t>
            </a:r>
            <a:r>
              <a:rPr lang="en-US" altLang="zh-CN" sz="2000" baseline="30000">
                <a:latin typeface="Tahoma" panose="020B0604030504040204" pitchFamily="34" charset="0"/>
                <a:ea typeface="隶书" panose="02010509060101010101" pitchFamily="49" charset="-122"/>
                <a:cs typeface="Tahoma" panose="020B0604030504040204" pitchFamily="34" charset="0"/>
              </a:rPr>
              <a:t>(</a:t>
            </a:r>
            <a:r>
              <a:rPr lang="en-US" altLang="zh-CN" sz="2000" i="1" baseline="30000">
                <a:latin typeface="Tahoma" panose="020B0604030504040204" pitchFamily="34" charset="0"/>
                <a:ea typeface="隶书" panose="02010509060101010101" pitchFamily="49" charset="-122"/>
                <a:cs typeface="Tahoma" panose="020B0604030504040204" pitchFamily="34" charset="0"/>
              </a:rPr>
              <a:t>p</a:t>
            </a:r>
            <a:r>
              <a:rPr lang="en-US" altLang="zh-CN" sz="2000" baseline="30000">
                <a:latin typeface="Tahoma" panose="020B0604030504040204" pitchFamily="34" charset="0"/>
                <a:ea typeface="隶书" panose="02010509060101010101" pitchFamily="49" charset="-122"/>
                <a:cs typeface="Tahoma" panose="020B0604030504040204" pitchFamily="34" charset="0"/>
              </a:rPr>
              <a:t>-1)/2</a:t>
            </a:r>
            <a:r>
              <a:rPr lang="en-US" altLang="zh-CN" sz="2000">
                <a:latin typeface="Tahoma" panose="020B0604030504040204" pitchFamily="34" charset="0"/>
                <a:ea typeface="隶书" panose="02010509060101010101" pitchFamily="49" charset="-122"/>
                <a:cs typeface="Tahoma" panose="020B0604030504040204" pitchFamily="34" charset="0"/>
              </a:rPr>
              <a:t> mod </a:t>
            </a:r>
            <a:r>
              <a:rPr lang="en-US" altLang="zh-CN" sz="2000" i="1">
                <a:latin typeface="Tahoma" panose="020B0604030504040204" pitchFamily="34" charset="0"/>
                <a:ea typeface="隶书" panose="02010509060101010101" pitchFamily="49" charset="-122"/>
                <a:cs typeface="Tahoma" panose="020B0604030504040204" pitchFamily="34" charset="0"/>
              </a:rPr>
              <a:t>p</a:t>
            </a:r>
            <a:r>
              <a:rPr lang="en-US" altLang="zh-CN" sz="2000">
                <a:latin typeface="Tahoma" panose="020B0604030504040204" pitchFamily="34" charset="0"/>
                <a:ea typeface="隶书" panose="02010509060101010101" pitchFamily="49" charset="-122"/>
                <a:cs typeface="Tahoma" panose="020B0604030504040204" pitchFamily="34" charset="0"/>
              </a:rPr>
              <a:t> </a:t>
            </a:r>
            <a:r>
              <a:rPr lang="zh-CN" altLang="en-US" sz="2000">
                <a:latin typeface="Tahoma" panose="020B0604030504040204" pitchFamily="34" charset="0"/>
                <a:ea typeface="隶书" panose="02010509060101010101" pitchFamily="49" charset="-122"/>
                <a:cs typeface="Tahoma" panose="020B0604030504040204" pitchFamily="34" charset="0"/>
              </a:rPr>
              <a:t>是 </a:t>
            </a:r>
            <a:r>
              <a:rPr lang="en-US" altLang="zh-CN" sz="2000">
                <a:latin typeface="Tahoma" panose="020B0604030504040204" pitchFamily="34" charset="0"/>
                <a:ea typeface="隶书" panose="02010509060101010101" pitchFamily="49" charset="-122"/>
                <a:cs typeface="Tahoma" panose="020B0604030504040204" pitchFamily="34" charset="0"/>
              </a:rPr>
              <a:t>1 </a:t>
            </a:r>
            <a:r>
              <a:rPr lang="zh-CN" altLang="en-US" sz="2000">
                <a:latin typeface="Tahoma" panose="020B0604030504040204" pitchFamily="34" charset="0"/>
                <a:ea typeface="隶书" panose="02010509060101010101" pitchFamily="49" charset="-122"/>
                <a:cs typeface="Tahoma" panose="020B0604030504040204" pitchFamily="34" charset="0"/>
              </a:rPr>
              <a:t>的一个平方根。如果这个值仍是 </a:t>
            </a:r>
            <a:r>
              <a:rPr lang="en-US" altLang="zh-CN" sz="2000">
                <a:latin typeface="Tahoma" panose="020B0604030504040204" pitchFamily="34" charset="0"/>
                <a:ea typeface="隶书" panose="02010509060101010101" pitchFamily="49" charset="-122"/>
                <a:cs typeface="Tahoma" panose="020B0604030504040204" pitchFamily="34" charset="0"/>
              </a:rPr>
              <a:t>1</a:t>
            </a:r>
            <a:r>
              <a:rPr lang="zh-CN" altLang="en-US" sz="2000">
                <a:latin typeface="Tahoma" panose="020B0604030504040204" pitchFamily="34" charset="0"/>
                <a:ea typeface="隶书" panose="02010509060101010101" pitchFamily="49" charset="-122"/>
                <a:cs typeface="Tahoma" panose="020B0604030504040204" pitchFamily="34" charset="0"/>
              </a:rPr>
              <a:t>，则可以重复用 </a:t>
            </a:r>
            <a:r>
              <a:rPr lang="en-US" altLang="zh-CN" sz="2000">
                <a:latin typeface="Tahoma" panose="020B0604030504040204" pitchFamily="34" charset="0"/>
                <a:ea typeface="隶书" panose="02010509060101010101" pitchFamily="49" charset="-122"/>
                <a:cs typeface="Tahoma" panose="020B0604030504040204" pitchFamily="34" charset="0"/>
              </a:rPr>
              <a:t>2 </a:t>
            </a:r>
            <a:r>
              <a:rPr lang="zh-CN" altLang="en-US" sz="2000">
                <a:latin typeface="Tahoma" panose="020B0604030504040204" pitchFamily="34" charset="0"/>
                <a:ea typeface="隶书" panose="02010509060101010101" pitchFamily="49" charset="-122"/>
                <a:cs typeface="Tahoma" panose="020B0604030504040204" pitchFamily="34" charset="0"/>
              </a:rPr>
              <a:t>除指数。看第一个不为 </a:t>
            </a:r>
            <a:r>
              <a:rPr lang="en-US" altLang="zh-CN" sz="2000">
                <a:latin typeface="Tahoma" panose="020B0604030504040204" pitchFamily="34" charset="0"/>
                <a:ea typeface="隶书" panose="02010509060101010101" pitchFamily="49" charset="-122"/>
                <a:cs typeface="Tahoma" panose="020B0604030504040204" pitchFamily="34" charset="0"/>
              </a:rPr>
              <a:t>1 </a:t>
            </a:r>
            <a:r>
              <a:rPr lang="zh-CN" altLang="en-US" sz="2000">
                <a:latin typeface="Tahoma" panose="020B0604030504040204" pitchFamily="34" charset="0"/>
                <a:ea typeface="隶书" panose="02010509060101010101" pitchFamily="49" charset="-122"/>
                <a:cs typeface="Tahoma" panose="020B0604030504040204" pitchFamily="34" charset="0"/>
              </a:rPr>
              <a:t>的值是 </a:t>
            </a:r>
            <a:r>
              <a:rPr lang="en-US" altLang="zh-CN" sz="2000">
                <a:latin typeface="Tahoma" panose="020B0604030504040204" pitchFamily="34" charset="0"/>
                <a:ea typeface="隶书" panose="02010509060101010101" pitchFamily="49" charset="-122"/>
                <a:cs typeface="Tahoma" panose="020B0604030504040204" pitchFamily="34" charset="0"/>
              </a:rPr>
              <a:t>-1</a:t>
            </a:r>
            <a:r>
              <a:rPr lang="zh-CN" altLang="en-US" sz="2000">
                <a:latin typeface="Tahoma" panose="020B0604030504040204" pitchFamily="34" charset="0"/>
                <a:ea typeface="隶书" panose="02010509060101010101" pitchFamily="49" charset="-122"/>
                <a:cs typeface="Tahoma" panose="020B0604030504040204" pitchFamily="34" charset="0"/>
              </a:rPr>
              <a:t>，还是某个其它的数。</a:t>
            </a:r>
          </a:p>
          <a:p>
            <a:pPr>
              <a:lnSpc>
                <a:spcPct val="115000"/>
              </a:lnSpc>
              <a:spcBef>
                <a:spcPct val="15000"/>
              </a:spcBef>
            </a:pPr>
            <a:r>
              <a:rPr lang="zh-CN" altLang="en-US" sz="2000">
                <a:latin typeface="Tahoma" panose="020B0604030504040204" pitchFamily="34" charset="0"/>
                <a:ea typeface="隶书" panose="02010509060101010101" pitchFamily="49" charset="-122"/>
                <a:cs typeface="Tahoma" panose="020B0604030504040204" pitchFamily="34" charset="0"/>
              </a:rPr>
              <a:t>取 </a:t>
            </a:r>
            <a:r>
              <a:rPr lang="en-US" altLang="zh-CN" sz="2000" i="1">
                <a:latin typeface="Tahoma" panose="020B0604030504040204" pitchFamily="34" charset="0"/>
                <a:ea typeface="隶书" panose="02010509060101010101" pitchFamily="49" charset="-122"/>
                <a:cs typeface="Tahoma" panose="020B0604030504040204" pitchFamily="34" charset="0"/>
              </a:rPr>
              <a:t>k</a:t>
            </a:r>
            <a:r>
              <a:rPr lang="en-US" altLang="en-US" sz="2000">
                <a:latin typeface="Tahoma" panose="020B0604030504040204" pitchFamily="34" charset="0"/>
                <a:ea typeface="隶书" panose="02010509060101010101" pitchFamily="49" charset="-122"/>
                <a:cs typeface="Tahoma" panose="020B0604030504040204" pitchFamily="34" charset="0"/>
              </a:rPr>
              <a:t>≥</a:t>
            </a:r>
            <a:r>
              <a:rPr lang="en-US" altLang="zh-CN" sz="2000">
                <a:latin typeface="Tahoma" panose="020B0604030504040204" pitchFamily="34" charset="0"/>
                <a:ea typeface="隶书" panose="02010509060101010101" pitchFamily="49" charset="-122"/>
                <a:cs typeface="Tahoma" panose="020B0604030504040204" pitchFamily="34" charset="0"/>
              </a:rPr>
              <a:t>1 </a:t>
            </a:r>
            <a:r>
              <a:rPr lang="zh-CN" altLang="en-US" sz="2000">
                <a:latin typeface="Tahoma" panose="020B0604030504040204" pitchFamily="34" charset="0"/>
                <a:ea typeface="隶书" panose="02010509060101010101" pitchFamily="49" charset="-122"/>
                <a:cs typeface="Tahoma" panose="020B0604030504040204" pitchFamily="34" charset="0"/>
              </a:rPr>
              <a:t>作为一个参数，它确定最大错误概率为</a:t>
            </a:r>
            <a:r>
              <a:rPr lang="en-US" altLang="zh-CN" sz="2000">
                <a:latin typeface="Tahoma" panose="020B0604030504040204" pitchFamily="34" charset="0"/>
                <a:ea typeface="隶书" panose="02010509060101010101" pitchFamily="49" charset="-122"/>
                <a:cs typeface="Tahoma" panose="020B0604030504040204" pitchFamily="34" charset="0"/>
              </a:rPr>
              <a:t>2</a:t>
            </a:r>
            <a:r>
              <a:rPr lang="en-US" altLang="zh-CN" sz="2000" baseline="30000">
                <a:latin typeface="Tahoma" panose="020B0604030504040204" pitchFamily="34" charset="0"/>
                <a:ea typeface="隶书" panose="02010509060101010101" pitchFamily="49" charset="-122"/>
                <a:cs typeface="Tahoma" panose="020B0604030504040204" pitchFamily="34" charset="0"/>
              </a:rPr>
              <a:t>-</a:t>
            </a:r>
            <a:r>
              <a:rPr lang="en-US" altLang="zh-CN" sz="2000" i="1" baseline="30000">
                <a:latin typeface="Tahoma" panose="020B0604030504040204" pitchFamily="34" charset="0"/>
                <a:ea typeface="隶书" panose="02010509060101010101" pitchFamily="49" charset="-122"/>
                <a:cs typeface="Tahoma" panose="020B0604030504040204" pitchFamily="34" charset="0"/>
              </a:rPr>
              <a:t>k</a:t>
            </a:r>
            <a:r>
              <a:rPr lang="zh-CN" altLang="en-US" sz="2000">
                <a:latin typeface="Tahoma" panose="020B0604030504040204" pitchFamily="34" charset="0"/>
                <a:ea typeface="隶书" panose="02010509060101010101" pitchFamily="49" charset="-122"/>
                <a:cs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wipe(left)">
                                      <p:cBhvr>
                                        <p:cTn id="7" dur="500"/>
                                        <p:tgtEl>
                                          <p:spTgt spid="308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8228"/>
                                        </p:tgtEl>
                                        <p:attrNameLst>
                                          <p:attrName>style.visibility</p:attrName>
                                        </p:attrNameLst>
                                      </p:cBhvr>
                                      <p:to>
                                        <p:strVal val="visible"/>
                                      </p:to>
                                    </p:set>
                                    <p:animEffect transition="in" filter="wipe(left)">
                                      <p:cBhvr>
                                        <p:cTn id="12" dur="500"/>
                                        <p:tgtEl>
                                          <p:spTgt spid="3082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8229"/>
                                        </p:tgtEl>
                                        <p:attrNameLst>
                                          <p:attrName>style.visibility</p:attrName>
                                        </p:attrNameLst>
                                      </p:cBhvr>
                                      <p:to>
                                        <p:strVal val="visible"/>
                                      </p:to>
                                    </p:set>
                                    <p:animEffect transition="in" filter="wipe(left)">
                                      <p:cBhvr>
                                        <p:cTn id="17" dur="500"/>
                                        <p:tgtEl>
                                          <p:spTgt spid="3082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8230"/>
                                        </p:tgtEl>
                                        <p:attrNameLst>
                                          <p:attrName>style.visibility</p:attrName>
                                        </p:attrNameLst>
                                      </p:cBhvr>
                                      <p:to>
                                        <p:strVal val="visible"/>
                                      </p:to>
                                    </p:set>
                                    <p:animEffect transition="in" filter="wipe(left)">
                                      <p:cBhvr>
                                        <p:cTn id="22" dur="500"/>
                                        <p:tgtEl>
                                          <p:spTgt spid="3082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8231"/>
                                        </p:tgtEl>
                                        <p:attrNameLst>
                                          <p:attrName>style.visibility</p:attrName>
                                        </p:attrNameLst>
                                      </p:cBhvr>
                                      <p:to>
                                        <p:strVal val="visible"/>
                                      </p:to>
                                    </p:set>
                                    <p:animEffect transition="in" filter="wipe(left)">
                                      <p:cBhvr>
                                        <p:cTn id="27" dur="500"/>
                                        <p:tgtEl>
                                          <p:spTgt spid="3082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8232">
                                            <p:txEl>
                                              <p:pRg st="0" end="0"/>
                                            </p:txEl>
                                          </p:spTgt>
                                        </p:tgtEl>
                                        <p:attrNameLst>
                                          <p:attrName>style.visibility</p:attrName>
                                        </p:attrNameLst>
                                      </p:cBhvr>
                                      <p:to>
                                        <p:strVal val="visible"/>
                                      </p:to>
                                    </p:set>
                                    <p:animEffect transition="in" filter="wipe(left)">
                                      <p:cBhvr>
                                        <p:cTn id="32" dur="500"/>
                                        <p:tgtEl>
                                          <p:spTgt spid="30823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8232">
                                            <p:txEl>
                                              <p:pRg st="1" end="1"/>
                                            </p:txEl>
                                          </p:spTgt>
                                        </p:tgtEl>
                                        <p:attrNameLst>
                                          <p:attrName>style.visibility</p:attrName>
                                        </p:attrNameLst>
                                      </p:cBhvr>
                                      <p:to>
                                        <p:strVal val="visible"/>
                                      </p:to>
                                    </p:set>
                                    <p:animEffect transition="in" filter="wipe(left)">
                                      <p:cBhvr>
                                        <p:cTn id="37" dur="500"/>
                                        <p:tgtEl>
                                          <p:spTgt spid="3082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P spid="308228" grpId="0"/>
      <p:bldP spid="308230" grpId="0"/>
      <p:bldP spid="30823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4">
            <a:extLst>
              <a:ext uri="{FF2B5EF4-FFF2-40B4-BE49-F238E27FC236}">
                <a16:creationId xmlns:a16="http://schemas.microsoft.com/office/drawing/2014/main" id="{1DA5E9AB-E118-49CD-B54D-C97632BB070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C6E53F1A-0BFE-4719-8936-AABEA4794F24}"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4819" name="灯片编号占位符 5">
            <a:extLst>
              <a:ext uri="{FF2B5EF4-FFF2-40B4-BE49-F238E27FC236}">
                <a16:creationId xmlns:a16="http://schemas.microsoft.com/office/drawing/2014/main" id="{39739447-CF94-4DC4-9534-945E1F99CC6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EB8B0FD4-795F-46CE-A514-4ABE344E1AD0}"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32</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09250" name="Rectangle 2">
            <a:extLst>
              <a:ext uri="{FF2B5EF4-FFF2-40B4-BE49-F238E27FC236}">
                <a16:creationId xmlns:a16="http://schemas.microsoft.com/office/drawing/2014/main" id="{253C685E-9A16-479A-B818-1EA51E3703C1}"/>
              </a:ext>
            </a:extLst>
          </p:cNvPr>
          <p:cNvSpPr>
            <a:spLocks noGrp="1" noChangeArrowheads="1"/>
          </p:cNvSpPr>
          <p:nvPr>
            <p:ph type="title"/>
          </p:nvPr>
        </p:nvSpPr>
        <p:spPr/>
        <p:txBody>
          <a:bodyPr/>
          <a:lstStyle/>
          <a:p>
            <a:pPr>
              <a:defRPr/>
            </a:pPr>
            <a:r>
              <a:rPr lang="zh-CN" altLang="en-US"/>
              <a:t>避免卡米切尔数的算法 </a:t>
            </a:r>
            <a:r>
              <a:rPr lang="en-US" altLang="zh-CN" b="1" i="1"/>
              <a:t>PRIME</a:t>
            </a:r>
          </a:p>
        </p:txBody>
      </p:sp>
      <p:sp>
        <p:nvSpPr>
          <p:cNvPr id="27653" name="Rectangle 4">
            <a:extLst>
              <a:ext uri="{FF2B5EF4-FFF2-40B4-BE49-F238E27FC236}">
                <a16:creationId xmlns:a16="http://schemas.microsoft.com/office/drawing/2014/main" id="{71AA2341-B392-485E-B560-96F8BBA5E346}"/>
              </a:ext>
            </a:extLst>
          </p:cNvPr>
          <p:cNvSpPr>
            <a:spLocks noGrp="1" noChangeArrowheads="1"/>
          </p:cNvSpPr>
          <p:nvPr>
            <p:ph type="body" sz="half" idx="1"/>
          </p:nvPr>
        </p:nvSpPr>
        <p:spPr>
          <a:xfrm>
            <a:off x="323850" y="1052513"/>
            <a:ext cx="8569325" cy="5472112"/>
          </a:xfrm>
          <a:noFill/>
          <a:ln>
            <a:solidFill>
              <a:srgbClr val="000000"/>
            </a:solidFill>
            <a:miter lim="800000"/>
            <a:headEnd/>
            <a:tailEnd/>
          </a:ln>
        </p:spPr>
        <p:txBody>
          <a:bodyPr/>
          <a:lstStyle/>
          <a:p>
            <a:pPr>
              <a:buFont typeface="Monotype Sorts" pitchFamily="2" charset="2"/>
              <a:buNone/>
            </a:pPr>
            <a:r>
              <a:rPr lang="en-US" altLang="zh-CN" i="1">
                <a:latin typeface="Tahoma" panose="020B0604030504040204" pitchFamily="34" charset="0"/>
                <a:cs typeface="Tahoma" panose="020B0604030504040204" pitchFamily="34" charset="0"/>
              </a:rPr>
              <a:t>PRIME</a:t>
            </a:r>
            <a:r>
              <a:rPr lang="en-US" altLang="zh-CN">
                <a:latin typeface="Tahoma" panose="020B0604030504040204" pitchFamily="34" charset="0"/>
                <a:cs typeface="Tahoma" panose="020B0604030504040204" pitchFamily="34" charset="0"/>
              </a:rPr>
              <a:t> = “</a:t>
            </a:r>
            <a:r>
              <a:rPr lang="zh-CN" altLang="en-US">
                <a:latin typeface="Tahoma" panose="020B0604030504040204" pitchFamily="34" charset="0"/>
                <a:ea typeface="隶书" panose="02010509060101010101" pitchFamily="49" charset="-122"/>
                <a:cs typeface="Tahoma" panose="020B0604030504040204" pitchFamily="34" charset="0"/>
              </a:rPr>
              <a:t>对输入 </a:t>
            </a:r>
            <a:r>
              <a:rPr lang="en-US" altLang="zh-CN" i="1">
                <a:latin typeface="Tahoma" panose="020B0604030504040204" pitchFamily="34" charset="0"/>
                <a:cs typeface="Tahoma" panose="020B0604030504040204" pitchFamily="34" charset="0"/>
              </a:rPr>
              <a:t>p</a:t>
            </a:r>
            <a:r>
              <a:rPr lang="zh-CN" altLang="en-US">
                <a:latin typeface="Tahoma" panose="020B0604030504040204" pitchFamily="34" charset="0"/>
                <a:ea typeface="隶书" panose="02010509060101010101" pitchFamily="49" charset="-122"/>
              </a:rPr>
              <a:t>：</a:t>
            </a:r>
          </a:p>
          <a:p>
            <a:pPr>
              <a:buFont typeface="Monotype Sorts" pitchFamily="2" charset="2"/>
              <a:buNone/>
            </a:pPr>
            <a:r>
              <a:rPr lang="en-US" altLang="zh-CN">
                <a:latin typeface="Tahoma" panose="020B0604030504040204" pitchFamily="34" charset="0"/>
                <a:cs typeface="Tahoma" panose="020B0604030504040204" pitchFamily="34" charset="0"/>
              </a:rPr>
              <a:t>1) </a:t>
            </a:r>
            <a:r>
              <a:rPr lang="zh-CN" altLang="en-US">
                <a:latin typeface="Tahoma" panose="020B0604030504040204" pitchFamily="34" charset="0"/>
                <a:ea typeface="隶书" panose="02010509060101010101" pitchFamily="49" charset="-122"/>
              </a:rPr>
              <a:t>如果 </a:t>
            </a:r>
            <a:r>
              <a:rPr lang="en-US" altLang="zh-CN" i="1">
                <a:solidFill>
                  <a:srgbClr val="FF0000"/>
                </a:solidFill>
                <a:latin typeface="Tahoma" panose="020B0604030504040204" pitchFamily="34" charset="0"/>
                <a:cs typeface="Tahoma" panose="020B0604030504040204" pitchFamily="34" charset="0"/>
              </a:rPr>
              <a:t>p </a:t>
            </a:r>
            <a:r>
              <a:rPr lang="zh-CN" altLang="en-US">
                <a:solidFill>
                  <a:srgbClr val="FF0000"/>
                </a:solidFill>
                <a:latin typeface="Tahoma" panose="020B0604030504040204" pitchFamily="34" charset="0"/>
                <a:ea typeface="隶书" panose="02010509060101010101" pitchFamily="49" charset="-122"/>
              </a:rPr>
              <a:t>是偶数</a:t>
            </a:r>
            <a:r>
              <a:rPr lang="zh-CN" altLang="en-US">
                <a:latin typeface="Tahoma" panose="020B0604030504040204" pitchFamily="34" charset="0"/>
                <a:ea typeface="隶书" panose="02010509060101010101" pitchFamily="49" charset="-122"/>
              </a:rPr>
              <a:t>， 则如果 </a:t>
            </a:r>
            <a:r>
              <a:rPr lang="en-US" altLang="zh-CN" i="1">
                <a:latin typeface="Tahoma" panose="020B0604030504040204" pitchFamily="34" charset="0"/>
                <a:cs typeface="Tahoma" panose="020B0604030504040204" pitchFamily="34" charset="0"/>
              </a:rPr>
              <a:t>p</a:t>
            </a:r>
            <a:r>
              <a:rPr lang="en-US" altLang="zh-CN">
                <a:latin typeface="Tahoma" panose="020B0604030504040204" pitchFamily="34" charset="0"/>
                <a:cs typeface="Tahoma" panose="020B0604030504040204" pitchFamily="34" charset="0"/>
              </a:rPr>
              <a:t>=2</a:t>
            </a:r>
            <a:r>
              <a:rPr lang="zh-CN" altLang="en-US">
                <a:latin typeface="Tahoma" panose="020B0604030504040204" pitchFamily="34" charset="0"/>
                <a:ea typeface="隶书" panose="02010509060101010101" pitchFamily="49" charset="-122"/>
              </a:rPr>
              <a:t>，则接受；否则拒绝。</a:t>
            </a:r>
          </a:p>
          <a:p>
            <a:pPr>
              <a:buFont typeface="Monotype Sorts" pitchFamily="2" charset="2"/>
              <a:buNone/>
            </a:pPr>
            <a:r>
              <a:rPr lang="en-US" altLang="zh-CN">
                <a:latin typeface="Tahoma" panose="020B0604030504040204" pitchFamily="34" charset="0"/>
                <a:cs typeface="Tahoma" panose="020B0604030504040204" pitchFamily="34" charset="0"/>
              </a:rPr>
              <a:t>2) </a:t>
            </a:r>
            <a:r>
              <a:rPr lang="zh-CN" altLang="en-US">
                <a:latin typeface="Tahoma" panose="020B0604030504040204" pitchFamily="34" charset="0"/>
                <a:ea typeface="隶书" panose="02010509060101010101" pitchFamily="49" charset="-122"/>
              </a:rPr>
              <a:t>在 </a:t>
            </a:r>
            <a:r>
              <a:rPr lang="en-US" altLang="zh-CN" i="1">
                <a:latin typeface="Tahoma" panose="020B0604030504040204" pitchFamily="34" charset="0"/>
                <a:cs typeface="Tahoma" panose="020B0604030504040204" pitchFamily="34" charset="0"/>
              </a:rPr>
              <a:t>Z</a:t>
            </a:r>
            <a:r>
              <a:rPr lang="en-US" altLang="zh-CN" i="1" baseline="-25000">
                <a:latin typeface="Tahoma" panose="020B0604030504040204" pitchFamily="34" charset="0"/>
                <a:cs typeface="Tahoma" panose="020B0604030504040204" pitchFamily="34" charset="0"/>
              </a:rPr>
              <a:t>p</a:t>
            </a:r>
            <a:r>
              <a:rPr lang="en-US" altLang="zh-CN" baseline="30000">
                <a:latin typeface="Tahoma" panose="020B0604030504040204" pitchFamily="34" charset="0"/>
                <a:cs typeface="Tahoma" panose="020B0604030504040204" pitchFamily="34" charset="0"/>
              </a:rPr>
              <a:t>+</a:t>
            </a:r>
            <a:r>
              <a:rPr lang="en-US" altLang="zh-CN">
                <a:latin typeface="Tahoma" panose="020B0604030504040204" pitchFamily="34" charset="0"/>
                <a:cs typeface="Tahoma" panose="020B0604030504040204" pitchFamily="34" charset="0"/>
              </a:rPr>
              <a:t> </a:t>
            </a:r>
            <a:r>
              <a:rPr lang="zh-CN" altLang="en-US">
                <a:latin typeface="Tahoma" panose="020B0604030504040204" pitchFamily="34" charset="0"/>
                <a:ea typeface="隶书" panose="02010509060101010101" pitchFamily="49" charset="-122"/>
              </a:rPr>
              <a:t>中</a:t>
            </a:r>
            <a:r>
              <a:rPr lang="zh-CN" altLang="en-US">
                <a:solidFill>
                  <a:srgbClr val="FF0000"/>
                </a:solidFill>
                <a:latin typeface="Tahoma" panose="020B0604030504040204" pitchFamily="34" charset="0"/>
                <a:ea typeface="隶书" panose="02010509060101010101" pitchFamily="49" charset="-122"/>
              </a:rPr>
              <a:t>随机地选取 </a:t>
            </a:r>
            <a:r>
              <a:rPr lang="en-US" altLang="zh-CN" i="1">
                <a:solidFill>
                  <a:srgbClr val="FF0000"/>
                </a:solidFill>
                <a:latin typeface="Tahoma" panose="020B0604030504040204" pitchFamily="34" charset="0"/>
                <a:cs typeface="Tahoma" panose="020B0604030504040204" pitchFamily="34" charset="0"/>
              </a:rPr>
              <a:t>a</a:t>
            </a:r>
            <a:r>
              <a:rPr lang="en-US" altLang="zh-CN" baseline="-25000">
                <a:solidFill>
                  <a:srgbClr val="FF0000"/>
                </a:solidFill>
                <a:latin typeface="Tahoma" panose="020B0604030504040204" pitchFamily="34" charset="0"/>
                <a:cs typeface="Tahoma" panose="020B0604030504040204" pitchFamily="34" charset="0"/>
              </a:rPr>
              <a:t>1</a:t>
            </a:r>
            <a:r>
              <a:rPr lang="en-US" altLang="zh-CN">
                <a:solidFill>
                  <a:srgbClr val="FF0000"/>
                </a:solidFill>
                <a:latin typeface="Tahoma" panose="020B0604030504040204" pitchFamily="34" charset="0"/>
                <a:cs typeface="Tahoma" panose="020B0604030504040204" pitchFamily="34" charset="0"/>
              </a:rPr>
              <a:t>, … , </a:t>
            </a:r>
            <a:r>
              <a:rPr lang="en-US" altLang="zh-CN" i="1">
                <a:solidFill>
                  <a:srgbClr val="FF0000"/>
                </a:solidFill>
                <a:latin typeface="Tahoma" panose="020B0604030504040204" pitchFamily="34" charset="0"/>
                <a:cs typeface="Tahoma" panose="020B0604030504040204" pitchFamily="34" charset="0"/>
              </a:rPr>
              <a:t>a</a:t>
            </a:r>
            <a:r>
              <a:rPr lang="en-US" altLang="zh-CN" i="1" baseline="-25000">
                <a:solidFill>
                  <a:srgbClr val="FF0000"/>
                </a:solidFill>
                <a:latin typeface="Tahoma" panose="020B0604030504040204" pitchFamily="34" charset="0"/>
                <a:cs typeface="Tahoma" panose="020B0604030504040204" pitchFamily="34" charset="0"/>
              </a:rPr>
              <a:t>k</a:t>
            </a:r>
          </a:p>
          <a:p>
            <a:pPr>
              <a:buFont typeface="Monotype Sorts" pitchFamily="2" charset="2"/>
              <a:buNone/>
            </a:pPr>
            <a:r>
              <a:rPr lang="en-US" altLang="zh-CN">
                <a:latin typeface="Tahoma" panose="020B0604030504040204" pitchFamily="34" charset="0"/>
                <a:cs typeface="Tahoma" panose="020B0604030504040204" pitchFamily="34" charset="0"/>
              </a:rPr>
              <a:t>3) </a:t>
            </a:r>
            <a:r>
              <a:rPr lang="zh-CN" altLang="en-US">
                <a:latin typeface="Tahoma" panose="020B0604030504040204" pitchFamily="34" charset="0"/>
                <a:ea typeface="隶书" panose="02010509060101010101" pitchFamily="49" charset="-122"/>
              </a:rPr>
              <a:t>对 </a:t>
            </a:r>
            <a:r>
              <a:rPr lang="en-US" altLang="zh-CN" i="1">
                <a:latin typeface="Tahoma" panose="020B0604030504040204" pitchFamily="34" charset="0"/>
                <a:cs typeface="Tahoma" panose="020B0604030504040204" pitchFamily="34" charset="0"/>
              </a:rPr>
              <a:t>i </a:t>
            </a:r>
            <a:r>
              <a:rPr lang="en-US" altLang="zh-CN">
                <a:latin typeface="Tahoma" panose="020B0604030504040204" pitchFamily="34" charset="0"/>
                <a:cs typeface="Tahoma" panose="020B0604030504040204" pitchFamily="34" charset="0"/>
              </a:rPr>
              <a:t>=1, … , </a:t>
            </a:r>
            <a:r>
              <a:rPr lang="en-US" altLang="zh-CN" i="1">
                <a:latin typeface="Tahoma" panose="020B0604030504040204" pitchFamily="34" charset="0"/>
                <a:cs typeface="Tahoma" panose="020B0604030504040204" pitchFamily="34" charset="0"/>
              </a:rPr>
              <a:t>k</a:t>
            </a:r>
            <a:r>
              <a:rPr lang="zh-CN" altLang="en-US">
                <a:latin typeface="Tahoma" panose="020B0604030504040204" pitchFamily="34" charset="0"/>
                <a:ea typeface="隶书" panose="02010509060101010101" pitchFamily="49" charset="-122"/>
              </a:rPr>
              <a:t>：</a:t>
            </a:r>
          </a:p>
          <a:p>
            <a:pPr>
              <a:buFont typeface="Monotype Sorts" pitchFamily="2" charset="2"/>
              <a:buNone/>
            </a:pPr>
            <a:r>
              <a:rPr lang="en-US" altLang="zh-CN">
                <a:latin typeface="Tahoma" panose="020B0604030504040204" pitchFamily="34" charset="0"/>
                <a:cs typeface="Tahoma" panose="020B0604030504040204" pitchFamily="34" charset="0"/>
              </a:rPr>
              <a:t>4)		</a:t>
            </a:r>
            <a:r>
              <a:rPr lang="zh-CN" altLang="en-US">
                <a:solidFill>
                  <a:srgbClr val="FF0000"/>
                </a:solidFill>
                <a:latin typeface="Tahoma" panose="020B0604030504040204" pitchFamily="34" charset="0"/>
                <a:ea typeface="隶书" panose="02010509060101010101" pitchFamily="49" charset="-122"/>
              </a:rPr>
              <a:t>计算 </a:t>
            </a:r>
            <a:r>
              <a:rPr lang="en-US" altLang="zh-CN" i="1">
                <a:solidFill>
                  <a:srgbClr val="FF0000"/>
                </a:solidFill>
                <a:latin typeface="Tahoma" panose="020B0604030504040204" pitchFamily="34" charset="0"/>
                <a:cs typeface="Tahoma" panose="020B0604030504040204" pitchFamily="34" charset="0"/>
              </a:rPr>
              <a:t>a</a:t>
            </a:r>
            <a:r>
              <a:rPr lang="en-US" altLang="zh-CN" i="1" baseline="-25000">
                <a:solidFill>
                  <a:srgbClr val="FF0000"/>
                </a:solidFill>
                <a:latin typeface="Tahoma" panose="020B0604030504040204" pitchFamily="34" charset="0"/>
                <a:cs typeface="Tahoma" panose="020B0604030504040204" pitchFamily="34" charset="0"/>
              </a:rPr>
              <a:t>i</a:t>
            </a:r>
            <a:r>
              <a:rPr lang="en-US" altLang="zh-CN" i="1" baseline="30000">
                <a:solidFill>
                  <a:srgbClr val="FF0000"/>
                </a:solidFill>
                <a:latin typeface="Tahoma" panose="020B0604030504040204" pitchFamily="34" charset="0"/>
                <a:cs typeface="Tahoma" panose="020B0604030504040204" pitchFamily="34" charset="0"/>
              </a:rPr>
              <a:t>p</a:t>
            </a:r>
            <a:r>
              <a:rPr lang="en-US" altLang="zh-CN" baseline="30000">
                <a:solidFill>
                  <a:srgbClr val="FF0000"/>
                </a:solidFill>
                <a:latin typeface="Tahoma" panose="020B0604030504040204" pitchFamily="34" charset="0"/>
                <a:cs typeface="Tahoma" panose="020B0604030504040204" pitchFamily="34" charset="0"/>
              </a:rPr>
              <a:t>-1</a:t>
            </a:r>
            <a:r>
              <a:rPr lang="en-US" altLang="zh-CN">
                <a:solidFill>
                  <a:srgbClr val="FF0000"/>
                </a:solidFill>
                <a:latin typeface="Tahoma" panose="020B0604030504040204" pitchFamily="34" charset="0"/>
                <a:cs typeface="Tahoma" panose="020B0604030504040204" pitchFamily="34" charset="0"/>
              </a:rPr>
              <a:t> mod </a:t>
            </a:r>
            <a:r>
              <a:rPr lang="en-US" altLang="zh-CN" i="1">
                <a:solidFill>
                  <a:srgbClr val="FF0000"/>
                </a:solidFill>
                <a:latin typeface="Tahoma" panose="020B0604030504040204" pitchFamily="34" charset="0"/>
                <a:cs typeface="Tahoma" panose="020B0604030504040204" pitchFamily="34" charset="0"/>
              </a:rPr>
              <a:t>p</a:t>
            </a:r>
            <a:r>
              <a:rPr lang="zh-CN" altLang="en-US">
                <a:latin typeface="Tahoma" panose="020B0604030504040204" pitchFamily="34" charset="0"/>
                <a:ea typeface="隶书" panose="02010509060101010101" pitchFamily="49" charset="-122"/>
              </a:rPr>
              <a:t>，并且如果不等于 </a:t>
            </a:r>
            <a:r>
              <a:rPr lang="en-US" altLang="zh-CN">
                <a:latin typeface="Tahoma" panose="020B0604030504040204" pitchFamily="34" charset="0"/>
                <a:cs typeface="Tahoma" panose="020B0604030504040204" pitchFamily="34" charset="0"/>
              </a:rPr>
              <a:t>1</a:t>
            </a:r>
            <a:r>
              <a:rPr lang="zh-CN" altLang="en-US">
                <a:latin typeface="Tahoma" panose="020B0604030504040204" pitchFamily="34" charset="0"/>
                <a:ea typeface="隶书" panose="02010509060101010101" pitchFamily="49" charset="-122"/>
              </a:rPr>
              <a:t>，则拒绝。</a:t>
            </a:r>
          </a:p>
          <a:p>
            <a:pPr>
              <a:buFont typeface="Monotype Sorts" pitchFamily="2" charset="2"/>
              <a:buNone/>
            </a:pPr>
            <a:r>
              <a:rPr lang="en-US" altLang="zh-CN">
                <a:latin typeface="Tahoma" panose="020B0604030504040204" pitchFamily="34" charset="0"/>
                <a:cs typeface="Tahoma" panose="020B0604030504040204" pitchFamily="34" charset="0"/>
              </a:rPr>
              <a:t>5)		</a:t>
            </a:r>
            <a:r>
              <a:rPr lang="zh-CN" altLang="en-US">
                <a:latin typeface="Tahoma" panose="020B0604030504040204" pitchFamily="34" charset="0"/>
                <a:ea typeface="隶书" panose="02010509060101010101" pitchFamily="49" charset="-122"/>
              </a:rPr>
              <a:t>令 </a:t>
            </a:r>
            <a:r>
              <a:rPr lang="en-US" altLang="zh-CN" i="1">
                <a:latin typeface="Tahoma" panose="020B0604030504040204" pitchFamily="34" charset="0"/>
                <a:cs typeface="Tahoma" panose="020B0604030504040204" pitchFamily="34" charset="0"/>
              </a:rPr>
              <a:t>p</a:t>
            </a:r>
            <a:r>
              <a:rPr lang="en-US" altLang="zh-CN">
                <a:latin typeface="Tahoma" panose="020B0604030504040204" pitchFamily="34" charset="0"/>
                <a:cs typeface="Tahoma" panose="020B0604030504040204" pitchFamily="34" charset="0"/>
              </a:rPr>
              <a:t>-1=</a:t>
            </a:r>
            <a:r>
              <a:rPr lang="en-US" altLang="zh-CN" i="1">
                <a:latin typeface="Tahoma" panose="020B0604030504040204" pitchFamily="34" charset="0"/>
                <a:cs typeface="Tahoma" panose="020B0604030504040204" pitchFamily="34" charset="0"/>
              </a:rPr>
              <a:t>st</a:t>
            </a:r>
            <a:r>
              <a:rPr lang="zh-CN" altLang="en-US">
                <a:latin typeface="Tahoma" panose="020B0604030504040204" pitchFamily="34" charset="0"/>
                <a:ea typeface="隶书" panose="02010509060101010101" pitchFamily="49" charset="-122"/>
              </a:rPr>
              <a:t>，其中 </a:t>
            </a:r>
            <a:r>
              <a:rPr lang="en-US" altLang="zh-CN" i="1">
                <a:latin typeface="Tahoma" panose="020B0604030504040204" pitchFamily="34" charset="0"/>
                <a:cs typeface="Tahoma" panose="020B0604030504040204" pitchFamily="34" charset="0"/>
              </a:rPr>
              <a:t>s</a:t>
            </a:r>
            <a:r>
              <a:rPr lang="en-US" altLang="zh-CN">
                <a:latin typeface="Tahoma" panose="020B0604030504040204" pitchFamily="34" charset="0"/>
                <a:cs typeface="Tahoma" panose="020B0604030504040204" pitchFamily="34" charset="0"/>
              </a:rPr>
              <a:t> </a:t>
            </a:r>
            <a:r>
              <a:rPr lang="zh-CN" altLang="en-US">
                <a:latin typeface="Tahoma" panose="020B0604030504040204" pitchFamily="34" charset="0"/>
                <a:ea typeface="隶书" panose="02010509060101010101" pitchFamily="49" charset="-122"/>
              </a:rPr>
              <a:t>是奇数，</a:t>
            </a:r>
            <a:r>
              <a:rPr lang="en-US" altLang="zh-CN" i="1">
                <a:latin typeface="Tahoma" panose="020B0604030504040204" pitchFamily="34" charset="0"/>
                <a:cs typeface="Tahoma" panose="020B0604030504040204" pitchFamily="34" charset="0"/>
              </a:rPr>
              <a:t>t</a:t>
            </a:r>
            <a:r>
              <a:rPr lang="en-US" altLang="zh-CN">
                <a:latin typeface="Tahoma" panose="020B0604030504040204" pitchFamily="34" charset="0"/>
                <a:cs typeface="Tahoma" panose="020B0604030504040204" pitchFamily="34" charset="0"/>
              </a:rPr>
              <a:t>=2</a:t>
            </a:r>
            <a:r>
              <a:rPr lang="en-US" altLang="zh-CN" i="1" baseline="30000">
                <a:latin typeface="Tahoma" panose="020B0604030504040204" pitchFamily="34" charset="0"/>
                <a:cs typeface="Tahoma" panose="020B0604030504040204" pitchFamily="34" charset="0"/>
              </a:rPr>
              <a:t>h </a:t>
            </a:r>
            <a:r>
              <a:rPr lang="zh-CN" altLang="en-US">
                <a:latin typeface="Tahoma" panose="020B0604030504040204" pitchFamily="34" charset="0"/>
                <a:ea typeface="隶书" panose="02010509060101010101" pitchFamily="49" charset="-122"/>
              </a:rPr>
              <a:t>是 </a:t>
            </a:r>
            <a:r>
              <a:rPr lang="en-US" altLang="zh-CN">
                <a:latin typeface="Tahoma" panose="020B0604030504040204" pitchFamily="34" charset="0"/>
                <a:cs typeface="Tahoma" panose="020B0604030504040204" pitchFamily="34" charset="0"/>
              </a:rPr>
              <a:t>2 </a:t>
            </a:r>
            <a:r>
              <a:rPr lang="zh-CN" altLang="en-US">
                <a:latin typeface="Tahoma" panose="020B0604030504040204" pitchFamily="34" charset="0"/>
                <a:ea typeface="隶书" panose="02010509060101010101" pitchFamily="49" charset="-122"/>
              </a:rPr>
              <a:t>的幂。</a:t>
            </a:r>
          </a:p>
          <a:p>
            <a:pPr>
              <a:buFont typeface="Monotype Sorts" pitchFamily="2" charset="2"/>
              <a:buNone/>
            </a:pPr>
            <a:r>
              <a:rPr lang="en-US" altLang="zh-CN">
                <a:latin typeface="Tahoma" panose="020B0604030504040204" pitchFamily="34" charset="0"/>
                <a:cs typeface="Tahoma" panose="020B0604030504040204" pitchFamily="34" charset="0"/>
              </a:rPr>
              <a:t>6)		</a:t>
            </a:r>
            <a:r>
              <a:rPr lang="zh-CN" altLang="en-US">
                <a:latin typeface="Tahoma" panose="020B0604030504040204" pitchFamily="34" charset="0"/>
                <a:ea typeface="隶书" panose="02010509060101010101" pitchFamily="49" charset="-122"/>
              </a:rPr>
              <a:t>计算序列</a:t>
            </a:r>
          </a:p>
          <a:p>
            <a:pPr>
              <a:buFont typeface="Monotype Sorts" pitchFamily="2" charset="2"/>
              <a:buNone/>
            </a:pPr>
            <a:r>
              <a:rPr lang="en-US" altLang="zh-CN">
                <a:latin typeface="Tahoma" panose="020B0604030504040204" pitchFamily="34" charset="0"/>
                <a:cs typeface="Tahoma" panose="020B0604030504040204" pitchFamily="34" charset="0"/>
              </a:rPr>
              <a:t>7)		</a:t>
            </a:r>
            <a:r>
              <a:rPr lang="zh-CN" altLang="en-US">
                <a:latin typeface="Tahoma" panose="020B0604030504040204" pitchFamily="34" charset="0"/>
                <a:ea typeface="隶书" panose="02010509060101010101" pitchFamily="49" charset="-122"/>
              </a:rPr>
              <a:t>如果该序列中的某个数不等于 </a:t>
            </a:r>
            <a:r>
              <a:rPr lang="en-US" altLang="zh-CN">
                <a:latin typeface="Tahoma" panose="020B0604030504040204" pitchFamily="34" charset="0"/>
                <a:cs typeface="Tahoma" panose="020B0604030504040204" pitchFamily="34" charset="0"/>
              </a:rPr>
              <a:t>1</a:t>
            </a:r>
            <a:r>
              <a:rPr lang="zh-CN" altLang="en-US">
                <a:latin typeface="Tahoma" panose="020B0604030504040204" pitchFamily="34" charset="0"/>
                <a:ea typeface="隶书" panose="02010509060101010101" pitchFamily="49" charset="-122"/>
              </a:rPr>
              <a:t>，</a:t>
            </a:r>
          </a:p>
          <a:p>
            <a:pPr>
              <a:buFont typeface="Monotype Sorts" pitchFamily="2" charset="2"/>
              <a:buNone/>
            </a:pPr>
            <a:r>
              <a:rPr lang="zh-CN" altLang="en-US">
                <a:latin typeface="Tahoma" panose="020B0604030504040204" pitchFamily="34" charset="0"/>
                <a:ea typeface="隶书" panose="02010509060101010101" pitchFamily="49" charset="-122"/>
              </a:rPr>
              <a:t>		则找到最后一个不等于 </a:t>
            </a:r>
            <a:r>
              <a:rPr lang="en-US" altLang="zh-CN">
                <a:latin typeface="Tahoma" panose="020B0604030504040204" pitchFamily="34" charset="0"/>
                <a:cs typeface="Tahoma" panose="020B0604030504040204" pitchFamily="34" charset="0"/>
              </a:rPr>
              <a:t>1 </a:t>
            </a:r>
            <a:r>
              <a:rPr lang="zh-CN" altLang="en-US">
                <a:latin typeface="Tahoma" panose="020B0604030504040204" pitchFamily="34" charset="0"/>
                <a:ea typeface="隶书" panose="02010509060101010101" pitchFamily="49" charset="-122"/>
              </a:rPr>
              <a:t>的数。</a:t>
            </a:r>
          </a:p>
          <a:p>
            <a:pPr>
              <a:buFont typeface="Monotype Sorts" pitchFamily="2" charset="2"/>
              <a:buNone/>
            </a:pPr>
            <a:r>
              <a:rPr lang="zh-CN" altLang="en-US">
                <a:latin typeface="Tahoma" panose="020B0604030504040204" pitchFamily="34" charset="0"/>
                <a:ea typeface="隶书" panose="02010509060101010101" pitchFamily="49" charset="-122"/>
              </a:rPr>
              <a:t>		如果这个数不等于</a:t>
            </a:r>
            <a:r>
              <a:rPr lang="en-US" altLang="zh-CN">
                <a:latin typeface="Tahoma" panose="020B0604030504040204" pitchFamily="34" charset="0"/>
                <a:cs typeface="Tahoma" panose="020B0604030504040204" pitchFamily="34" charset="0"/>
              </a:rPr>
              <a:t>-1</a:t>
            </a:r>
            <a:r>
              <a:rPr lang="zh-CN" altLang="en-US">
                <a:latin typeface="Tahoma" panose="020B0604030504040204" pitchFamily="34" charset="0"/>
                <a:ea typeface="隶书" panose="02010509060101010101" pitchFamily="49" charset="-122"/>
              </a:rPr>
              <a:t>，则拒绝。</a:t>
            </a:r>
          </a:p>
          <a:p>
            <a:pPr>
              <a:buFont typeface="Monotype Sorts" pitchFamily="2" charset="2"/>
              <a:buNone/>
            </a:pPr>
            <a:r>
              <a:rPr lang="en-US" altLang="zh-CN">
                <a:latin typeface="Tahoma" panose="020B0604030504040204" pitchFamily="34" charset="0"/>
                <a:cs typeface="Tahoma" panose="020B0604030504040204" pitchFamily="34" charset="0"/>
              </a:rPr>
              <a:t>8) </a:t>
            </a:r>
            <a:r>
              <a:rPr lang="zh-CN" altLang="en-US">
                <a:latin typeface="Tahoma" panose="020B0604030504040204" pitchFamily="34" charset="0"/>
                <a:ea typeface="隶书" panose="02010509060101010101" pitchFamily="49" charset="-122"/>
              </a:rPr>
              <a:t>这时已经通过全部测试，故接受。”</a:t>
            </a:r>
          </a:p>
        </p:txBody>
      </p:sp>
      <p:graphicFrame>
        <p:nvGraphicFramePr>
          <p:cNvPr id="27654" name="Object 2">
            <a:extLst>
              <a:ext uri="{FF2B5EF4-FFF2-40B4-BE49-F238E27FC236}">
                <a16:creationId xmlns:a16="http://schemas.microsoft.com/office/drawing/2014/main" id="{459D7DD2-3BD7-46AC-8A86-8982216C9CD6}"/>
              </a:ext>
            </a:extLst>
          </p:cNvPr>
          <p:cNvGraphicFramePr>
            <a:graphicFrameLocks noGrp="1" noChangeAspect="1"/>
          </p:cNvGraphicFramePr>
          <p:nvPr>
            <p:ph sz="half" idx="2"/>
          </p:nvPr>
        </p:nvGraphicFramePr>
        <p:xfrm>
          <a:off x="2771775" y="3932238"/>
          <a:ext cx="3889375" cy="649287"/>
        </p:xfrm>
        <a:graphic>
          <a:graphicData uri="http://schemas.openxmlformats.org/presentationml/2006/ole">
            <mc:AlternateContent xmlns:mc="http://schemas.openxmlformats.org/markup-compatibility/2006">
              <mc:Choice xmlns:v="urn:schemas-microsoft-com:vml" Requires="v">
                <p:oleObj name="公式" r:id="rId2" imgW="1600200" imgH="266700" progId="Equation.3">
                  <p:embed/>
                </p:oleObj>
              </mc:Choice>
              <mc:Fallback>
                <p:oleObj name="公式" r:id="rId2" imgW="1600200" imgH="266700" progId="Equation.3">
                  <p:embed/>
                  <p:pic>
                    <p:nvPicPr>
                      <p:cNvPr id="27654" name="Object 2">
                        <a:extLst>
                          <a:ext uri="{FF2B5EF4-FFF2-40B4-BE49-F238E27FC236}">
                            <a16:creationId xmlns:a16="http://schemas.microsoft.com/office/drawing/2014/main" id="{459D7DD2-3BD7-46AC-8A86-8982216C9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3932238"/>
                        <a:ext cx="3889375"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animEffect transition="in" filter="wipe(left)">
                                      <p:cBhvr>
                                        <p:cTn id="7" dur="500"/>
                                        <p:tgtEl>
                                          <p:spTgt spid="2765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7653">
                                            <p:txEl>
                                              <p:pRg st="1" end="1"/>
                                            </p:txEl>
                                          </p:spTgt>
                                        </p:tgtEl>
                                        <p:attrNameLst>
                                          <p:attrName>style.visibility</p:attrName>
                                        </p:attrNameLst>
                                      </p:cBhvr>
                                      <p:to>
                                        <p:strVal val="visible"/>
                                      </p:to>
                                    </p:set>
                                    <p:animEffect transition="in" filter="wipe(left)">
                                      <p:cBhvr>
                                        <p:cTn id="10" dur="500"/>
                                        <p:tgtEl>
                                          <p:spTgt spid="2765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7653">
                                            <p:txEl>
                                              <p:pRg st="2" end="2"/>
                                            </p:txEl>
                                          </p:spTgt>
                                        </p:tgtEl>
                                        <p:attrNameLst>
                                          <p:attrName>style.visibility</p:attrName>
                                        </p:attrNameLst>
                                      </p:cBhvr>
                                      <p:to>
                                        <p:strVal val="visible"/>
                                      </p:to>
                                    </p:set>
                                    <p:animEffect transition="in" filter="wipe(left)">
                                      <p:cBhvr>
                                        <p:cTn id="13" dur="500"/>
                                        <p:tgtEl>
                                          <p:spTgt spid="27653">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27653">
                                            <p:txEl>
                                              <p:pRg st="3" end="3"/>
                                            </p:txEl>
                                          </p:spTgt>
                                        </p:tgtEl>
                                        <p:attrNameLst>
                                          <p:attrName>style.visibility</p:attrName>
                                        </p:attrNameLst>
                                      </p:cBhvr>
                                      <p:to>
                                        <p:strVal val="visible"/>
                                      </p:to>
                                    </p:set>
                                    <p:animEffect transition="in" filter="wipe(left)">
                                      <p:cBhvr>
                                        <p:cTn id="16" dur="500"/>
                                        <p:tgtEl>
                                          <p:spTgt spid="27653">
                                            <p:txEl>
                                              <p:pRg st="3" end="3"/>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27653">
                                            <p:txEl>
                                              <p:pRg st="4" end="4"/>
                                            </p:txEl>
                                          </p:spTgt>
                                        </p:tgtEl>
                                        <p:attrNameLst>
                                          <p:attrName>style.visibility</p:attrName>
                                        </p:attrNameLst>
                                      </p:cBhvr>
                                      <p:to>
                                        <p:strVal val="visible"/>
                                      </p:to>
                                    </p:set>
                                    <p:animEffect transition="in" filter="wipe(left)">
                                      <p:cBhvr>
                                        <p:cTn id="19" dur="500"/>
                                        <p:tgtEl>
                                          <p:spTgt spid="27653">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27653">
                                            <p:txEl>
                                              <p:pRg st="5" end="5"/>
                                            </p:txEl>
                                          </p:spTgt>
                                        </p:tgtEl>
                                        <p:attrNameLst>
                                          <p:attrName>style.visibility</p:attrName>
                                        </p:attrNameLst>
                                      </p:cBhvr>
                                      <p:to>
                                        <p:strVal val="visible"/>
                                      </p:to>
                                    </p:set>
                                    <p:animEffect transition="in" filter="wipe(left)">
                                      <p:cBhvr>
                                        <p:cTn id="22" dur="500"/>
                                        <p:tgtEl>
                                          <p:spTgt spid="27653">
                                            <p:txEl>
                                              <p:pRg st="5" end="5"/>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7653">
                                            <p:txEl>
                                              <p:pRg st="6" end="6"/>
                                            </p:txEl>
                                          </p:spTgt>
                                        </p:tgtEl>
                                        <p:attrNameLst>
                                          <p:attrName>style.visibility</p:attrName>
                                        </p:attrNameLst>
                                      </p:cBhvr>
                                      <p:to>
                                        <p:strVal val="visible"/>
                                      </p:to>
                                    </p:set>
                                    <p:animEffect transition="in" filter="wipe(left)">
                                      <p:cBhvr>
                                        <p:cTn id="25" dur="500"/>
                                        <p:tgtEl>
                                          <p:spTgt spid="27653">
                                            <p:txEl>
                                              <p:pRg st="6" end="6"/>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27653">
                                            <p:txEl>
                                              <p:pRg st="7" end="7"/>
                                            </p:txEl>
                                          </p:spTgt>
                                        </p:tgtEl>
                                        <p:attrNameLst>
                                          <p:attrName>style.visibility</p:attrName>
                                        </p:attrNameLst>
                                      </p:cBhvr>
                                      <p:to>
                                        <p:strVal val="visible"/>
                                      </p:to>
                                    </p:set>
                                    <p:animEffect transition="in" filter="wipe(left)">
                                      <p:cBhvr>
                                        <p:cTn id="28" dur="500"/>
                                        <p:tgtEl>
                                          <p:spTgt spid="27653">
                                            <p:txEl>
                                              <p:pRg st="7" end="7"/>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27653">
                                            <p:txEl>
                                              <p:pRg st="8" end="8"/>
                                            </p:txEl>
                                          </p:spTgt>
                                        </p:tgtEl>
                                        <p:attrNameLst>
                                          <p:attrName>style.visibility</p:attrName>
                                        </p:attrNameLst>
                                      </p:cBhvr>
                                      <p:to>
                                        <p:strVal val="visible"/>
                                      </p:to>
                                    </p:set>
                                    <p:animEffect transition="in" filter="wipe(left)">
                                      <p:cBhvr>
                                        <p:cTn id="31" dur="500"/>
                                        <p:tgtEl>
                                          <p:spTgt spid="27653">
                                            <p:txEl>
                                              <p:pRg st="8" end="8"/>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27653">
                                            <p:txEl>
                                              <p:pRg st="9" end="9"/>
                                            </p:txEl>
                                          </p:spTgt>
                                        </p:tgtEl>
                                        <p:attrNameLst>
                                          <p:attrName>style.visibility</p:attrName>
                                        </p:attrNameLst>
                                      </p:cBhvr>
                                      <p:to>
                                        <p:strVal val="visible"/>
                                      </p:to>
                                    </p:set>
                                    <p:animEffect transition="in" filter="wipe(left)">
                                      <p:cBhvr>
                                        <p:cTn id="34" dur="500"/>
                                        <p:tgtEl>
                                          <p:spTgt spid="27653">
                                            <p:txEl>
                                              <p:pRg st="9" end="9"/>
                                            </p:txEl>
                                          </p:spTgt>
                                        </p:tgtEl>
                                      </p:cBhvr>
                                    </p:animEffect>
                                  </p:childTnLst>
                                </p:cTn>
                              </p:par>
                              <p:par>
                                <p:cTn id="35" presetID="22" presetClass="entr" presetSubtype="8" fill="hold" nodeType="withEffect">
                                  <p:stCondLst>
                                    <p:cond delay="0"/>
                                  </p:stCondLst>
                                  <p:childTnLst>
                                    <p:set>
                                      <p:cBhvr>
                                        <p:cTn id="36" dur="1" fill="hold">
                                          <p:stCondLst>
                                            <p:cond delay="0"/>
                                          </p:stCondLst>
                                        </p:cTn>
                                        <p:tgtEl>
                                          <p:spTgt spid="27653">
                                            <p:txEl>
                                              <p:pRg st="10" end="10"/>
                                            </p:txEl>
                                          </p:spTgt>
                                        </p:tgtEl>
                                        <p:attrNameLst>
                                          <p:attrName>style.visibility</p:attrName>
                                        </p:attrNameLst>
                                      </p:cBhvr>
                                      <p:to>
                                        <p:strVal val="visible"/>
                                      </p:to>
                                    </p:set>
                                    <p:animEffect transition="in" filter="wipe(left)">
                                      <p:cBhvr>
                                        <p:cTn id="37" dur="500"/>
                                        <p:tgtEl>
                                          <p:spTgt spid="27653">
                                            <p:txEl>
                                              <p:pRg st="10" end="10"/>
                                            </p:txEl>
                                          </p:spTgt>
                                        </p:tgtEl>
                                      </p:cBhvr>
                                    </p:animEffect>
                                  </p:childTnLst>
                                </p:cTn>
                              </p:par>
                              <p:par>
                                <p:cTn id="38" presetID="22" presetClass="entr" presetSubtype="8" fill="hold" nodeType="withEffect">
                                  <p:stCondLst>
                                    <p:cond delay="0"/>
                                  </p:stCondLst>
                                  <p:childTnLst>
                                    <p:set>
                                      <p:cBhvr>
                                        <p:cTn id="39" dur="1" fill="hold">
                                          <p:stCondLst>
                                            <p:cond delay="0"/>
                                          </p:stCondLst>
                                        </p:cTn>
                                        <p:tgtEl>
                                          <p:spTgt spid="27654"/>
                                        </p:tgtEl>
                                        <p:attrNameLst>
                                          <p:attrName>style.visibility</p:attrName>
                                        </p:attrNameLst>
                                      </p:cBhvr>
                                      <p:to>
                                        <p:strVal val="visible"/>
                                      </p:to>
                                    </p:set>
                                    <p:animEffect transition="in" filter="wipe(left)">
                                      <p:cBhvr>
                                        <p:cTn id="40"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a:extLst>
              <a:ext uri="{FF2B5EF4-FFF2-40B4-BE49-F238E27FC236}">
                <a16:creationId xmlns:a16="http://schemas.microsoft.com/office/drawing/2014/main" id="{C8A1E030-9DD7-460A-81E9-D232140F703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0F3EA74-0FCF-4A8B-85AB-23E1D4C84AC0}"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5843" name="灯片编号占位符 4">
            <a:extLst>
              <a:ext uri="{FF2B5EF4-FFF2-40B4-BE49-F238E27FC236}">
                <a16:creationId xmlns:a16="http://schemas.microsoft.com/office/drawing/2014/main" id="{670C7CF2-6BD9-4C83-B495-786C43B6A2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52A1E46-B82B-4BF3-8299-F5927E72163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33</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0274" name="Rectangle 2">
            <a:extLst>
              <a:ext uri="{FF2B5EF4-FFF2-40B4-BE49-F238E27FC236}">
                <a16:creationId xmlns:a16="http://schemas.microsoft.com/office/drawing/2014/main" id="{EC93084E-1C89-4116-913D-1AEC6D0CD5B9}"/>
              </a:ext>
            </a:extLst>
          </p:cNvPr>
          <p:cNvSpPr>
            <a:spLocks noGrp="1" noChangeArrowheads="1"/>
          </p:cNvSpPr>
          <p:nvPr>
            <p:ph type="title"/>
          </p:nvPr>
        </p:nvSpPr>
        <p:spPr/>
        <p:txBody>
          <a:bodyPr/>
          <a:lstStyle/>
          <a:p>
            <a:pPr>
              <a:defRPr/>
            </a:pPr>
            <a:r>
              <a:rPr lang="zh-CN" altLang="en-US"/>
              <a:t>素数性概率算法的正确性说明</a:t>
            </a:r>
          </a:p>
        </p:txBody>
      </p:sp>
      <p:sp>
        <p:nvSpPr>
          <p:cNvPr id="32773" name="Rectangle 3">
            <a:extLst>
              <a:ext uri="{FF2B5EF4-FFF2-40B4-BE49-F238E27FC236}">
                <a16:creationId xmlns:a16="http://schemas.microsoft.com/office/drawing/2014/main" id="{C35BE902-27A8-4D07-99CC-25481FF618A0}"/>
              </a:ext>
            </a:extLst>
          </p:cNvPr>
          <p:cNvSpPr>
            <a:spLocks noGrp="1" noChangeArrowheads="1"/>
          </p:cNvSpPr>
          <p:nvPr>
            <p:ph type="body" idx="1"/>
          </p:nvPr>
        </p:nvSpPr>
        <p:spPr>
          <a:xfrm>
            <a:off x="323850" y="1196975"/>
            <a:ext cx="8640763" cy="4319588"/>
          </a:xfrm>
        </p:spPr>
        <p:txBody>
          <a:bodyPr/>
          <a:lstStyle/>
          <a:p>
            <a:pPr>
              <a:lnSpc>
                <a:spcPct val="150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当 </a:t>
            </a:r>
            <a:r>
              <a:rPr lang="en-US" altLang="zh-CN" i="1">
                <a:latin typeface="Tahoma" panose="020B0604030504040204" pitchFamily="34" charset="0"/>
                <a:ea typeface="隶书" panose="02010509060101010101" pitchFamily="49" charset="-122"/>
                <a:cs typeface="Tahoma" panose="020B0604030504040204" pitchFamily="34" charset="0"/>
              </a:rPr>
              <a:t>p </a:t>
            </a:r>
            <a:r>
              <a:rPr lang="zh-CN" altLang="en-US">
                <a:latin typeface="Tahoma" panose="020B0604030504040204" pitchFamily="34" charset="0"/>
                <a:ea typeface="隶书" panose="02010509060101010101" pitchFamily="49" charset="-122"/>
                <a:cs typeface="Tahoma" panose="020B0604030504040204" pitchFamily="34" charset="0"/>
              </a:rPr>
              <a:t>是偶数时，算法显然正确。</a:t>
            </a:r>
          </a:p>
          <a:p>
            <a:pPr>
              <a:lnSpc>
                <a:spcPct val="150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如果算法 </a:t>
            </a:r>
            <a:r>
              <a:rPr lang="en-US" altLang="zh-CN" i="1">
                <a:latin typeface="Tahoma" panose="020B0604030504040204" pitchFamily="34" charset="0"/>
                <a:ea typeface="隶书" panose="02010509060101010101" pitchFamily="49" charset="-122"/>
                <a:cs typeface="Tahoma" panose="020B0604030504040204" pitchFamily="34" charset="0"/>
              </a:rPr>
              <a:t>PRIME </a:t>
            </a:r>
            <a:r>
              <a:rPr lang="zh-CN" altLang="en-US">
                <a:latin typeface="Tahoma" panose="020B0604030504040204" pitchFamily="34" charset="0"/>
                <a:ea typeface="隶书" panose="02010509060101010101" pitchFamily="49" charset="-122"/>
                <a:cs typeface="Tahoma" panose="020B0604030504040204" pitchFamily="34" charset="0"/>
              </a:rPr>
              <a:t>使用 </a:t>
            </a:r>
            <a:r>
              <a:rPr lang="en-US" altLang="zh-CN" i="1">
                <a:latin typeface="Tahoma" panose="020B0604030504040204" pitchFamily="34" charset="0"/>
                <a:ea typeface="隶书" panose="02010509060101010101" pitchFamily="49" charset="-122"/>
                <a:cs typeface="Tahoma" panose="020B0604030504040204" pitchFamily="34" charset="0"/>
              </a:rPr>
              <a:t>a</a:t>
            </a:r>
            <a:r>
              <a:rPr lang="en-US" altLang="zh-CN" i="1" baseline="-25000">
                <a:latin typeface="Tahoma" panose="020B0604030504040204" pitchFamily="34" charset="0"/>
                <a:ea typeface="隶书" panose="02010509060101010101" pitchFamily="49" charset="-122"/>
                <a:cs typeface="Tahoma" panose="020B0604030504040204" pitchFamily="34" charset="0"/>
              </a:rPr>
              <a:t>i</a:t>
            </a:r>
            <a:r>
              <a:rPr lang="en-US" altLang="zh-CN" i="1">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在步骤 </a:t>
            </a:r>
            <a:r>
              <a:rPr lang="en-US" altLang="zh-CN">
                <a:latin typeface="Tahoma" panose="020B0604030504040204" pitchFamily="34" charset="0"/>
                <a:ea typeface="隶书" panose="02010509060101010101" pitchFamily="49" charset="-122"/>
                <a:cs typeface="Tahoma" panose="020B0604030504040204" pitchFamily="34" charset="0"/>
              </a:rPr>
              <a:t>4 </a:t>
            </a:r>
            <a:r>
              <a:rPr lang="zh-CN" altLang="en-US">
                <a:latin typeface="Tahoma" panose="020B0604030504040204" pitchFamily="34" charset="0"/>
                <a:ea typeface="隶书" panose="02010509060101010101" pitchFamily="49" charset="-122"/>
                <a:cs typeface="Tahoma" panose="020B0604030504040204" pitchFamily="34" charset="0"/>
              </a:rPr>
              <a:t>或步骤 </a:t>
            </a:r>
            <a:r>
              <a:rPr lang="en-US" altLang="zh-CN">
                <a:latin typeface="Tahoma" panose="020B0604030504040204" pitchFamily="34" charset="0"/>
                <a:ea typeface="隶书" panose="02010509060101010101" pitchFamily="49" charset="-122"/>
                <a:cs typeface="Tahoma" panose="020B0604030504040204" pitchFamily="34" charset="0"/>
              </a:rPr>
              <a:t>7 </a:t>
            </a:r>
            <a:r>
              <a:rPr lang="zh-CN" altLang="en-US">
                <a:latin typeface="Tahoma" panose="020B0604030504040204" pitchFamily="34" charset="0"/>
                <a:ea typeface="隶书" panose="02010509060101010101" pitchFamily="49" charset="-122"/>
                <a:cs typeface="Tahoma" panose="020B0604030504040204" pitchFamily="34" charset="0"/>
              </a:rPr>
              <a:t>拒绝，则称 </a:t>
            </a:r>
            <a:r>
              <a:rPr lang="en-US" altLang="zh-CN" i="1">
                <a:latin typeface="Tahoma" panose="020B0604030504040204" pitchFamily="34" charset="0"/>
                <a:ea typeface="隶书" panose="02010509060101010101" pitchFamily="49" charset="-122"/>
                <a:cs typeface="Tahoma" panose="020B0604030504040204" pitchFamily="34" charset="0"/>
              </a:rPr>
              <a:t>a</a:t>
            </a:r>
            <a:r>
              <a:rPr lang="en-US" altLang="zh-CN" i="1" baseline="-25000">
                <a:latin typeface="Tahoma" panose="020B0604030504040204" pitchFamily="34" charset="0"/>
                <a:ea typeface="隶书" panose="02010509060101010101" pitchFamily="49" charset="-122"/>
                <a:cs typeface="Tahoma" panose="020B0604030504040204" pitchFamily="34" charset="0"/>
              </a:rPr>
              <a:t>i</a:t>
            </a:r>
            <a:r>
              <a:rPr lang="zh-CN" altLang="en-US">
                <a:latin typeface="Tahoma" panose="020B0604030504040204" pitchFamily="34" charset="0"/>
                <a:ea typeface="隶书" panose="02010509060101010101" pitchFamily="49" charset="-122"/>
                <a:cs typeface="Tahoma" panose="020B0604030504040204" pitchFamily="34" charset="0"/>
              </a:rPr>
              <a:t>是一个 </a:t>
            </a:r>
            <a:r>
              <a:rPr lang="en-US" altLang="zh-CN">
                <a:latin typeface="Tahoma" panose="020B0604030504040204" pitchFamily="34" charset="0"/>
                <a:ea typeface="隶书" panose="02010509060101010101" pitchFamily="49" charset="-122"/>
                <a:cs typeface="Tahoma" panose="020B0604030504040204" pitchFamily="34" charset="0"/>
              </a:rPr>
              <a:t>(</a:t>
            </a:r>
            <a:r>
              <a:rPr lang="zh-CN" altLang="en-US">
                <a:latin typeface="Tahoma" panose="020B0604030504040204" pitchFamily="34" charset="0"/>
                <a:ea typeface="隶书" panose="02010509060101010101" pitchFamily="49" charset="-122"/>
                <a:cs typeface="Tahoma" panose="020B0604030504040204" pitchFamily="34" charset="0"/>
              </a:rPr>
              <a:t>合数</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见证。</a:t>
            </a:r>
          </a:p>
          <a:p>
            <a:pPr>
              <a:lnSpc>
                <a:spcPct val="150000"/>
              </a:lnSpc>
              <a:spcBef>
                <a:spcPct val="15000"/>
              </a:spcBef>
            </a:pPr>
            <a:r>
              <a:rPr lang="zh-CN" altLang="en-US">
                <a:solidFill>
                  <a:schemeClr val="tx2"/>
                </a:solidFill>
                <a:latin typeface="Tahoma" panose="020B0604030504040204" pitchFamily="34" charset="0"/>
                <a:ea typeface="隶书" panose="02010509060101010101" pitchFamily="49" charset="-122"/>
                <a:cs typeface="Tahoma" panose="020B0604030504040204" pitchFamily="34" charset="0"/>
              </a:rPr>
              <a:t>引理</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如果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是一个奇素数，则 </a:t>
            </a:r>
            <a:r>
              <a:rPr lang="en-US" altLang="zh-CN">
                <a:latin typeface="Tahoma" panose="020B0604030504040204" pitchFamily="34" charset="0"/>
                <a:ea typeface="隶书" panose="02010509060101010101" pitchFamily="49" charset="-122"/>
                <a:cs typeface="Tahoma" panose="020B0604030504040204" pitchFamily="34" charset="0"/>
              </a:rPr>
              <a:t>Pr[ </a:t>
            </a:r>
            <a:r>
              <a:rPr lang="en-US" altLang="zh-CN" i="1">
                <a:latin typeface="Tahoma" panose="020B0604030504040204" pitchFamily="34" charset="0"/>
                <a:ea typeface="隶书" panose="02010509060101010101" pitchFamily="49" charset="-122"/>
                <a:cs typeface="Tahoma" panose="020B0604030504040204" pitchFamily="34" charset="0"/>
              </a:rPr>
              <a:t>PRIME</a:t>
            </a:r>
            <a:r>
              <a:rPr lang="zh-CN" altLang="en-US">
                <a:latin typeface="Tahoma" panose="020B0604030504040204" pitchFamily="34" charset="0"/>
                <a:ea typeface="隶书" panose="02010509060101010101" pitchFamily="49" charset="-122"/>
                <a:cs typeface="Tahoma" panose="020B0604030504040204" pitchFamily="34" charset="0"/>
              </a:rPr>
              <a:t>接受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 = 1</a:t>
            </a:r>
            <a:r>
              <a:rPr lang="zh-CN" altLang="en-US">
                <a:latin typeface="Tahoma" panose="020B0604030504040204" pitchFamily="34" charset="0"/>
                <a:ea typeface="隶书" panose="02010509060101010101" pitchFamily="49" charset="-122"/>
                <a:cs typeface="Tahoma" panose="020B0604030504040204" pitchFamily="34" charset="0"/>
              </a:rPr>
              <a:t>。</a:t>
            </a:r>
          </a:p>
          <a:p>
            <a:pPr>
              <a:lnSpc>
                <a:spcPct val="150000"/>
              </a:lnSpc>
              <a:spcBef>
                <a:spcPct val="15000"/>
              </a:spcBef>
            </a:pPr>
            <a:r>
              <a:rPr lang="zh-CN" altLang="en-US">
                <a:latin typeface="Tahoma" panose="020B0604030504040204" pitchFamily="34" charset="0"/>
                <a:ea typeface="隶书" panose="02010509060101010101" pitchFamily="49" charset="-122"/>
                <a:cs typeface="Tahoma" panose="020B0604030504040204" pitchFamily="34" charset="0"/>
              </a:rPr>
              <a:t>中国剩余定理  如果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和 </a:t>
            </a:r>
            <a:r>
              <a:rPr lang="en-US" altLang="zh-CN" i="1">
                <a:latin typeface="Tahoma" panose="020B0604030504040204" pitchFamily="34" charset="0"/>
                <a:ea typeface="隶书" panose="02010509060101010101" pitchFamily="49" charset="-122"/>
                <a:cs typeface="Tahoma" panose="020B0604030504040204" pitchFamily="34" charset="0"/>
              </a:rPr>
              <a:t>q</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互素，则在 </a:t>
            </a:r>
            <a:r>
              <a:rPr lang="en-US" altLang="zh-CN" i="1">
                <a:latin typeface="Tahoma" panose="020B0604030504040204" pitchFamily="34" charset="0"/>
                <a:ea typeface="隶书" panose="02010509060101010101" pitchFamily="49" charset="-122"/>
                <a:cs typeface="Tahoma" panose="020B0604030504040204" pitchFamily="34" charset="0"/>
              </a:rPr>
              <a:t>Z</a:t>
            </a:r>
            <a:r>
              <a:rPr lang="en-US" altLang="zh-CN" i="1" baseline="-25000">
                <a:latin typeface="Tahoma" panose="020B0604030504040204" pitchFamily="34" charset="0"/>
                <a:ea typeface="隶书" panose="02010509060101010101" pitchFamily="49" charset="-122"/>
                <a:cs typeface="Tahoma" panose="020B0604030504040204" pitchFamily="34" charset="0"/>
              </a:rPr>
              <a:t>pq</a:t>
            </a:r>
            <a:r>
              <a:rPr lang="en-US" altLang="zh-CN" i="1">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和 </a:t>
            </a:r>
            <a:r>
              <a:rPr lang="en-US" altLang="zh-CN" i="1">
                <a:latin typeface="Tahoma" panose="020B0604030504040204" pitchFamily="34" charset="0"/>
                <a:ea typeface="隶书" panose="02010509060101010101" pitchFamily="49" charset="-122"/>
                <a:cs typeface="Tahoma" panose="020B0604030504040204" pitchFamily="34" charset="0"/>
              </a:rPr>
              <a:t>Z</a:t>
            </a:r>
            <a:r>
              <a:rPr lang="en-US" altLang="zh-CN" i="1" baseline="-25000">
                <a:latin typeface="Tahoma" panose="020B0604030504040204" pitchFamily="34" charset="0"/>
                <a:ea typeface="隶书" panose="02010509060101010101" pitchFamily="49" charset="-122"/>
                <a:cs typeface="Tahoma" panose="020B0604030504040204" pitchFamily="34" charset="0"/>
              </a:rPr>
              <a:t>p</a:t>
            </a:r>
            <a:r>
              <a:rPr lang="en-US" altLang="en-US">
                <a:latin typeface="Tahoma" panose="020B0604030504040204" pitchFamily="34" charset="0"/>
                <a:ea typeface="隶书" panose="02010509060101010101" pitchFamily="49" charset="-122"/>
                <a:cs typeface="Tahoma" panose="020B0604030504040204" pitchFamily="34" charset="0"/>
              </a:rPr>
              <a:t>×</a:t>
            </a:r>
            <a:r>
              <a:rPr lang="en-US" altLang="zh-CN" i="1">
                <a:latin typeface="Tahoma" panose="020B0604030504040204" pitchFamily="34" charset="0"/>
                <a:ea typeface="隶书" panose="02010509060101010101" pitchFamily="49" charset="-122"/>
                <a:cs typeface="Tahoma" panose="020B0604030504040204" pitchFamily="34" charset="0"/>
              </a:rPr>
              <a:t>Z</a:t>
            </a:r>
            <a:r>
              <a:rPr lang="en-US" altLang="zh-CN" i="1" baseline="-25000">
                <a:latin typeface="Tahoma" panose="020B0604030504040204" pitchFamily="34" charset="0"/>
                <a:ea typeface="隶书" panose="02010509060101010101" pitchFamily="49" charset="-122"/>
                <a:cs typeface="Tahoma" panose="020B0604030504040204" pitchFamily="34" charset="0"/>
              </a:rPr>
              <a:t>q</a:t>
            </a:r>
            <a:r>
              <a:rPr lang="zh-CN" altLang="en-US">
                <a:latin typeface="Tahoma" panose="020B0604030504040204" pitchFamily="34" charset="0"/>
                <a:ea typeface="隶书" panose="02010509060101010101" pitchFamily="49" charset="-122"/>
                <a:cs typeface="Tahoma" panose="020B0604030504040204" pitchFamily="34" charset="0"/>
              </a:rPr>
              <a:t>间存在着一一映射。</a:t>
            </a:r>
          </a:p>
          <a:p>
            <a:pPr>
              <a:lnSpc>
                <a:spcPct val="150000"/>
              </a:lnSpc>
              <a:spcBef>
                <a:spcPct val="15000"/>
              </a:spcBef>
            </a:pPr>
            <a:r>
              <a:rPr lang="zh-CN" altLang="en-US">
                <a:solidFill>
                  <a:schemeClr val="tx2"/>
                </a:solidFill>
                <a:latin typeface="Tahoma" panose="020B0604030504040204" pitchFamily="34" charset="0"/>
                <a:ea typeface="隶书" panose="02010509060101010101" pitchFamily="49" charset="-122"/>
                <a:cs typeface="Tahoma" panose="020B0604030504040204" pitchFamily="34" charset="0"/>
              </a:rPr>
              <a:t>引理</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如果 </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 </a:t>
            </a:r>
            <a:r>
              <a:rPr lang="zh-CN" altLang="en-US">
                <a:latin typeface="Tahoma" panose="020B0604030504040204" pitchFamily="34" charset="0"/>
                <a:ea typeface="隶书" panose="02010509060101010101" pitchFamily="49" charset="-122"/>
                <a:cs typeface="Tahoma" panose="020B0604030504040204" pitchFamily="34" charset="0"/>
              </a:rPr>
              <a:t>是一个奇合数，则 </a:t>
            </a:r>
            <a:r>
              <a:rPr lang="en-US" altLang="zh-CN">
                <a:latin typeface="Tahoma" panose="020B0604030504040204" pitchFamily="34" charset="0"/>
                <a:ea typeface="隶书" panose="02010509060101010101" pitchFamily="49" charset="-122"/>
                <a:cs typeface="Tahoma" panose="020B0604030504040204" pitchFamily="34" charset="0"/>
              </a:rPr>
              <a:t>Pr[ </a:t>
            </a:r>
            <a:r>
              <a:rPr lang="en-US" altLang="zh-CN" i="1">
                <a:latin typeface="Tahoma" panose="020B0604030504040204" pitchFamily="34" charset="0"/>
                <a:ea typeface="隶书" panose="02010509060101010101" pitchFamily="49" charset="-122"/>
                <a:cs typeface="Tahoma" panose="020B0604030504040204" pitchFamily="34" charset="0"/>
              </a:rPr>
              <a:t>PRIME</a:t>
            </a:r>
            <a:r>
              <a:rPr lang="zh-CN" altLang="en-US">
                <a:latin typeface="Tahoma" panose="020B0604030504040204" pitchFamily="34" charset="0"/>
                <a:ea typeface="隶书" panose="02010509060101010101" pitchFamily="49" charset="-122"/>
                <a:cs typeface="Tahoma" panose="020B0604030504040204" pitchFamily="34" charset="0"/>
              </a:rPr>
              <a:t>接受</a:t>
            </a:r>
            <a:r>
              <a:rPr lang="en-US" altLang="zh-CN" i="1">
                <a:latin typeface="Tahoma" panose="020B0604030504040204" pitchFamily="34" charset="0"/>
                <a:ea typeface="隶书" panose="02010509060101010101" pitchFamily="49" charset="-122"/>
                <a:cs typeface="Tahoma" panose="020B0604030504040204" pitchFamily="34" charset="0"/>
              </a:rPr>
              <a:t>p</a:t>
            </a:r>
            <a:r>
              <a:rPr lang="en-US" altLang="zh-CN">
                <a:latin typeface="Tahoma" panose="020B0604030504040204" pitchFamily="34" charset="0"/>
                <a:ea typeface="隶书" panose="02010509060101010101" pitchFamily="49" charset="-122"/>
                <a:cs typeface="Tahoma" panose="020B0604030504040204" pitchFamily="34" charset="0"/>
              </a:rPr>
              <a:t> ]≤2</a:t>
            </a:r>
            <a:r>
              <a:rPr lang="en-US" altLang="zh-CN" baseline="30000">
                <a:latin typeface="Tahoma" panose="020B0604030504040204" pitchFamily="34" charset="0"/>
                <a:ea typeface="隶书" panose="02010509060101010101" pitchFamily="49" charset="-122"/>
                <a:cs typeface="Tahoma" panose="020B0604030504040204" pitchFamily="34" charset="0"/>
              </a:rPr>
              <a:t>-k</a:t>
            </a:r>
            <a:r>
              <a:rPr lang="zh-CN" altLang="en-US">
                <a:latin typeface="Tahoma" panose="020B0604030504040204" pitchFamily="34" charset="0"/>
                <a:ea typeface="隶书" panose="02010509060101010101" pitchFamily="49" charset="-122"/>
                <a:cs typeface="Tahoma" panose="020B0604030504040204" pitchFamily="34" charset="0"/>
              </a:rPr>
              <a:t>。</a:t>
            </a:r>
          </a:p>
        </p:txBody>
      </p:sp>
      <p:sp>
        <p:nvSpPr>
          <p:cNvPr id="310276" name="AutoShape 4">
            <a:hlinkClick r:id="rId2" action="ppaction://hlinksldjump"/>
            <a:extLst>
              <a:ext uri="{FF2B5EF4-FFF2-40B4-BE49-F238E27FC236}">
                <a16:creationId xmlns:a16="http://schemas.microsoft.com/office/drawing/2014/main" id="{A23DA75D-5219-4251-A6C3-790FDF9667C3}"/>
              </a:ext>
            </a:extLst>
          </p:cNvPr>
          <p:cNvSpPr>
            <a:spLocks noChangeArrowheads="1"/>
          </p:cNvSpPr>
          <p:nvPr/>
        </p:nvSpPr>
        <p:spPr bwMode="auto">
          <a:xfrm>
            <a:off x="8027988" y="5949950"/>
            <a:ext cx="936625" cy="720725"/>
          </a:xfrm>
          <a:prstGeom prst="rightArrow">
            <a:avLst>
              <a:gd name="adj1" fmla="val 50000"/>
              <a:gd name="adj2" fmla="val 32489"/>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zh-CN" altLang="en-US" sz="2000" b="1">
                <a:solidFill>
                  <a:schemeClr val="tx1"/>
                </a:solidFill>
                <a:latin typeface="隶书" panose="02010509060101010101" pitchFamily="49" charset="-122"/>
                <a:ea typeface="隶书" panose="02010509060101010101" pitchFamily="49" charset="-122"/>
              </a:rPr>
              <a:t>证明略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wipe(left)">
                                      <p:cBhvr>
                                        <p:cTn id="7" dur="500"/>
                                        <p:tgtEl>
                                          <p:spTgt spid="327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773">
                                            <p:txEl>
                                              <p:pRg st="1" end="1"/>
                                            </p:txEl>
                                          </p:spTgt>
                                        </p:tgtEl>
                                        <p:attrNameLst>
                                          <p:attrName>style.visibility</p:attrName>
                                        </p:attrNameLst>
                                      </p:cBhvr>
                                      <p:to>
                                        <p:strVal val="visible"/>
                                      </p:to>
                                    </p:set>
                                    <p:animEffect transition="in" filter="wipe(left)">
                                      <p:cBhvr>
                                        <p:cTn id="12" dur="500"/>
                                        <p:tgtEl>
                                          <p:spTgt spid="3277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Effect transition="in" filter="wipe(left)">
                                      <p:cBhvr>
                                        <p:cTn id="17" dur="500"/>
                                        <p:tgtEl>
                                          <p:spTgt spid="3277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773">
                                            <p:txEl>
                                              <p:pRg st="3" end="3"/>
                                            </p:txEl>
                                          </p:spTgt>
                                        </p:tgtEl>
                                        <p:attrNameLst>
                                          <p:attrName>style.visibility</p:attrName>
                                        </p:attrNameLst>
                                      </p:cBhvr>
                                      <p:to>
                                        <p:strVal val="visible"/>
                                      </p:to>
                                    </p:set>
                                    <p:animEffect transition="in" filter="wipe(left)">
                                      <p:cBhvr>
                                        <p:cTn id="22" dur="500"/>
                                        <p:tgtEl>
                                          <p:spTgt spid="3277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773">
                                            <p:txEl>
                                              <p:pRg st="4" end="4"/>
                                            </p:txEl>
                                          </p:spTgt>
                                        </p:tgtEl>
                                        <p:attrNameLst>
                                          <p:attrName>style.visibility</p:attrName>
                                        </p:attrNameLst>
                                      </p:cBhvr>
                                      <p:to>
                                        <p:strVal val="visible"/>
                                      </p:to>
                                    </p:set>
                                    <p:animEffect transition="in" filter="wipe(left)">
                                      <p:cBhvr>
                                        <p:cTn id="27" dur="500"/>
                                        <p:tgtEl>
                                          <p:spTgt spid="3277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0276"/>
                                        </p:tgtEl>
                                        <p:attrNameLst>
                                          <p:attrName>style.visibility</p:attrName>
                                        </p:attrNameLst>
                                      </p:cBhvr>
                                      <p:to>
                                        <p:strVal val="visible"/>
                                      </p:to>
                                    </p:set>
                                    <p:animEffect transition="in" filter="blinds(horizontal)">
                                      <p:cBhvr>
                                        <p:cTn id="32" dur="500"/>
                                        <p:tgtEl>
                                          <p:spTgt spid="310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a:extLst>
              <a:ext uri="{FF2B5EF4-FFF2-40B4-BE49-F238E27FC236}">
                <a16:creationId xmlns:a16="http://schemas.microsoft.com/office/drawing/2014/main" id="{CC3A47A0-F828-4A36-BF8F-858CAA6C22A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12F396A-711E-4AD4-9B60-50F853BAD6A4}"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6867" name="灯片编号占位符 4">
            <a:extLst>
              <a:ext uri="{FF2B5EF4-FFF2-40B4-BE49-F238E27FC236}">
                <a16:creationId xmlns:a16="http://schemas.microsoft.com/office/drawing/2014/main" id="{8E4EF4D8-8CE1-4D50-ADE4-B3A121FA89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3B6302D3-9626-41A7-9943-D42607C521CF}"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34</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1298" name="Rectangle 2">
            <a:extLst>
              <a:ext uri="{FF2B5EF4-FFF2-40B4-BE49-F238E27FC236}">
                <a16:creationId xmlns:a16="http://schemas.microsoft.com/office/drawing/2014/main" id="{B50D781C-EC77-43E3-852D-A4E3F427A9C0}"/>
              </a:ext>
            </a:extLst>
          </p:cNvPr>
          <p:cNvSpPr>
            <a:spLocks noGrp="1" noChangeArrowheads="1"/>
          </p:cNvSpPr>
          <p:nvPr>
            <p:ph type="title"/>
          </p:nvPr>
        </p:nvSpPr>
        <p:spPr/>
        <p:txBody>
          <a:bodyPr anchor="ctr"/>
          <a:lstStyle/>
          <a:p>
            <a:pPr>
              <a:defRPr/>
            </a:pPr>
            <a:r>
              <a:rPr lang="zh-CN" altLang="en-US"/>
              <a:t>素数性</a:t>
            </a:r>
          </a:p>
        </p:txBody>
      </p:sp>
      <p:grpSp>
        <p:nvGrpSpPr>
          <p:cNvPr id="2" name="Group 3">
            <a:extLst>
              <a:ext uri="{FF2B5EF4-FFF2-40B4-BE49-F238E27FC236}">
                <a16:creationId xmlns:a16="http://schemas.microsoft.com/office/drawing/2014/main" id="{003F1651-2DA7-437B-9173-A93A8EF8AEC3}"/>
              </a:ext>
            </a:extLst>
          </p:cNvPr>
          <p:cNvGrpSpPr>
            <a:grpSpLocks/>
          </p:cNvGrpSpPr>
          <p:nvPr/>
        </p:nvGrpSpPr>
        <p:grpSpPr bwMode="auto">
          <a:xfrm>
            <a:off x="296863" y="928688"/>
            <a:ext cx="8596312" cy="1216025"/>
            <a:chOff x="187" y="709"/>
            <a:chExt cx="5415" cy="766"/>
          </a:xfrm>
        </p:grpSpPr>
        <p:sp>
          <p:nvSpPr>
            <p:cNvPr id="311300" name="Freeform 4">
              <a:extLst>
                <a:ext uri="{FF2B5EF4-FFF2-40B4-BE49-F238E27FC236}">
                  <a16:creationId xmlns:a16="http://schemas.microsoft.com/office/drawing/2014/main" id="{38738180-19AF-4E0D-ACED-E6D764C506B9}"/>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6872" name="AutoShape 5">
              <a:extLst>
                <a:ext uri="{FF2B5EF4-FFF2-40B4-BE49-F238E27FC236}">
                  <a16:creationId xmlns:a16="http://schemas.microsoft.com/office/drawing/2014/main" id="{3B7FAE1D-2E42-4DD2-A27E-5FA3168008DA}"/>
                </a:ext>
              </a:extLst>
            </p:cNvPr>
            <p:cNvSpPr>
              <a:spLocks noChangeArrowheads="1"/>
            </p:cNvSpPr>
            <p:nvPr/>
          </p:nvSpPr>
          <p:spPr bwMode="gray">
            <a:xfrm>
              <a:off x="187" y="709"/>
              <a:ext cx="5415" cy="766"/>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11302" name="AutoShape 6">
              <a:extLst>
                <a:ext uri="{FF2B5EF4-FFF2-40B4-BE49-F238E27FC236}">
                  <a16:creationId xmlns:a16="http://schemas.microsoft.com/office/drawing/2014/main" id="{5C6011F2-E9ED-428D-A7C2-D03A2F4F5244}"/>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11303" name="Freeform 7">
              <a:extLst>
                <a:ext uri="{FF2B5EF4-FFF2-40B4-BE49-F238E27FC236}">
                  <a16:creationId xmlns:a16="http://schemas.microsoft.com/office/drawing/2014/main" id="{6B75ECFB-F19A-45E9-BC97-FF2F2E2AAB76}"/>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11304" name="Text Box 8">
              <a:extLst>
                <a:ext uri="{FF2B5EF4-FFF2-40B4-BE49-F238E27FC236}">
                  <a16:creationId xmlns:a16="http://schemas.microsoft.com/office/drawing/2014/main" id="{872A2292-34FC-49DD-A0AA-1B610613FB85}"/>
                </a:ext>
              </a:extLst>
            </p:cNvPr>
            <p:cNvSpPr txBox="1">
              <a:spLocks noChangeArrowheads="1"/>
            </p:cNvSpPr>
            <p:nvPr/>
          </p:nvSpPr>
          <p:spPr bwMode="gray">
            <a:xfrm>
              <a:off x="389" y="853"/>
              <a:ext cx="541" cy="288"/>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引理</a:t>
              </a:r>
              <a:endParaRPr lang="en-US" altLang="zh-CN" sz="2400" b="1" dirty="0">
                <a:effectLst>
                  <a:outerShdw blurRad="38100" dist="38100" dir="2700000" algn="tl">
                    <a:srgbClr val="C0C0C0"/>
                  </a:outerShdw>
                </a:effectLst>
                <a:latin typeface="+mj-ea"/>
                <a:ea typeface="+mj-ea"/>
              </a:endParaRPr>
            </a:p>
          </p:txBody>
        </p:sp>
        <p:sp>
          <p:nvSpPr>
            <p:cNvPr id="33804" name="Text Box 9">
              <a:extLst>
                <a:ext uri="{FF2B5EF4-FFF2-40B4-BE49-F238E27FC236}">
                  <a16:creationId xmlns:a16="http://schemas.microsoft.com/office/drawing/2014/main" id="{9BE1272C-CA36-4F08-9B86-F8F989031036}"/>
                </a:ext>
              </a:extLst>
            </p:cNvPr>
            <p:cNvSpPr txBox="1">
              <a:spLocks noChangeArrowheads="1"/>
            </p:cNvSpPr>
            <p:nvPr/>
          </p:nvSpPr>
          <p:spPr bwMode="gray">
            <a:xfrm>
              <a:off x="1021" y="930"/>
              <a:ext cx="4581" cy="326"/>
            </a:xfrm>
            <a:prstGeom prst="rect">
              <a:avLst/>
            </a:prstGeom>
            <a:noFill/>
            <a:ln>
              <a:noFill/>
            </a:ln>
          </p:spPr>
          <p:txBody>
            <a:bodyPr>
              <a:spAutoFit/>
            </a:bodyPr>
            <a:lstStyle>
              <a:lvl1pPr marL="442913" indent="-442913">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zh-CN" altLang="en-US" sz="2400" b="1" dirty="0">
                  <a:solidFill>
                    <a:schemeClr val="tx1"/>
                  </a:solidFill>
                  <a:latin typeface="Tahoma" pitchFamily="34" charset="0"/>
                  <a:ea typeface="+mj-ea"/>
                  <a:cs typeface="Tahoma" pitchFamily="34" charset="0"/>
                </a:rPr>
                <a:t>如果 </a:t>
              </a:r>
              <a:r>
                <a:rPr lang="en-US" altLang="zh-CN" sz="2400" b="1" i="1" dirty="0">
                  <a:solidFill>
                    <a:schemeClr val="tx1"/>
                  </a:solidFill>
                  <a:latin typeface="Tahoma" pitchFamily="34" charset="0"/>
                  <a:ea typeface="Tahoma" pitchFamily="34" charset="0"/>
                  <a:cs typeface="Tahoma" pitchFamily="34" charset="0"/>
                </a:rPr>
                <a:t>p</a:t>
              </a:r>
              <a:r>
                <a:rPr lang="en-US" altLang="zh-CN" sz="2400" b="1" dirty="0">
                  <a:solidFill>
                    <a:schemeClr val="tx1"/>
                  </a:solidFill>
                  <a:latin typeface="Tahoma" pitchFamily="34" charset="0"/>
                  <a:ea typeface="Tahoma" pitchFamily="34" charset="0"/>
                  <a:cs typeface="Tahoma" pitchFamily="34" charset="0"/>
                </a:rPr>
                <a:t> </a:t>
              </a:r>
              <a:r>
                <a:rPr lang="zh-CN" altLang="en-US" sz="2400" b="1" dirty="0">
                  <a:solidFill>
                    <a:schemeClr val="tx1"/>
                  </a:solidFill>
                  <a:latin typeface="Tahoma" pitchFamily="34" charset="0"/>
                  <a:ea typeface="+mj-ea"/>
                  <a:cs typeface="Tahoma" pitchFamily="34" charset="0"/>
                </a:rPr>
                <a:t>是一个奇素数，则 </a:t>
              </a:r>
              <a:r>
                <a:rPr lang="en-US" altLang="zh-CN" sz="2400" b="1" dirty="0" err="1">
                  <a:solidFill>
                    <a:schemeClr val="tx1"/>
                  </a:solidFill>
                  <a:latin typeface="Tahoma" pitchFamily="34" charset="0"/>
                  <a:ea typeface="Tahoma" pitchFamily="34" charset="0"/>
                  <a:cs typeface="Tahoma" pitchFamily="34" charset="0"/>
                </a:rPr>
                <a:t>Pr</a:t>
              </a:r>
              <a:r>
                <a:rPr lang="en-US" altLang="zh-CN" sz="2400" b="1" dirty="0">
                  <a:solidFill>
                    <a:schemeClr val="tx1"/>
                  </a:solidFill>
                  <a:latin typeface="Tahoma" pitchFamily="34" charset="0"/>
                  <a:ea typeface="Tahoma" pitchFamily="34" charset="0"/>
                  <a:cs typeface="Tahoma" pitchFamily="34" charset="0"/>
                </a:rPr>
                <a:t>[ </a:t>
              </a:r>
              <a:r>
                <a:rPr lang="en-US" altLang="zh-CN" sz="2400" b="1" i="1" dirty="0">
                  <a:solidFill>
                    <a:schemeClr val="tx1"/>
                  </a:solidFill>
                  <a:latin typeface="Tahoma" pitchFamily="34" charset="0"/>
                  <a:ea typeface="Tahoma" pitchFamily="34" charset="0"/>
                  <a:cs typeface="Tahoma" pitchFamily="34" charset="0"/>
                </a:rPr>
                <a:t>PRIME</a:t>
              </a:r>
              <a:r>
                <a:rPr lang="zh-CN" altLang="en-US" sz="2400" b="1" dirty="0">
                  <a:solidFill>
                    <a:schemeClr val="tx1"/>
                  </a:solidFill>
                  <a:latin typeface="Tahoma" pitchFamily="34" charset="0"/>
                  <a:ea typeface="+mj-ea"/>
                  <a:cs typeface="Tahoma" pitchFamily="34" charset="0"/>
                </a:rPr>
                <a:t>接受 </a:t>
              </a:r>
              <a:r>
                <a:rPr lang="en-US" altLang="zh-CN" sz="2400" b="1" i="1" dirty="0">
                  <a:solidFill>
                    <a:schemeClr val="tx1"/>
                  </a:solidFill>
                  <a:latin typeface="Tahoma" pitchFamily="34" charset="0"/>
                  <a:ea typeface="Tahoma" pitchFamily="34" charset="0"/>
                  <a:cs typeface="Tahoma" pitchFamily="34" charset="0"/>
                </a:rPr>
                <a:t>p</a:t>
              </a:r>
              <a:r>
                <a:rPr lang="en-US" altLang="zh-CN" sz="2400" b="1" dirty="0">
                  <a:solidFill>
                    <a:schemeClr val="tx1"/>
                  </a:solidFill>
                  <a:latin typeface="Tahoma" pitchFamily="34" charset="0"/>
                  <a:ea typeface="Tahoma" pitchFamily="34" charset="0"/>
                  <a:cs typeface="Tahoma" pitchFamily="34" charset="0"/>
                </a:rPr>
                <a:t>] = 1</a:t>
              </a:r>
              <a:r>
                <a:rPr lang="zh-CN" altLang="en-US" sz="2400" b="1" dirty="0">
                  <a:solidFill>
                    <a:schemeClr val="tx1"/>
                  </a:solidFill>
                  <a:latin typeface="Tahoma" pitchFamily="34" charset="0"/>
                  <a:ea typeface="+mj-ea"/>
                  <a:cs typeface="Tahoma" pitchFamily="34" charset="0"/>
                </a:rPr>
                <a:t>。</a:t>
              </a:r>
            </a:p>
          </p:txBody>
        </p:sp>
      </p:grpSp>
      <p:sp>
        <p:nvSpPr>
          <p:cNvPr id="33798" name="Text Box 10">
            <a:extLst>
              <a:ext uri="{FF2B5EF4-FFF2-40B4-BE49-F238E27FC236}">
                <a16:creationId xmlns:a16="http://schemas.microsoft.com/office/drawing/2014/main" id="{C3408764-7BCF-458E-9142-9C7D7154F0B5}"/>
              </a:ext>
            </a:extLst>
          </p:cNvPr>
          <p:cNvSpPr txBox="1">
            <a:spLocks noChangeArrowheads="1"/>
          </p:cNvSpPr>
          <p:nvPr/>
        </p:nvSpPr>
        <p:spPr bwMode="auto">
          <a:xfrm>
            <a:off x="214313" y="2286000"/>
            <a:ext cx="885825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首先要证明如果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是素数，则不存在见证，因而不存在算法的拒绝分支。</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如果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是步骤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4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中的见证，即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a:t>
            </a:r>
            <a:r>
              <a:rPr lang="en-US" altLang="zh-CN" sz="2000" i="1"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，根据费马小定理，</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是合数。</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如果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是步骤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7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中的见证，则存在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Z</a:t>
            </a:r>
            <a:r>
              <a:rPr lang="en-US" altLang="zh-CN" sz="2000" i="1"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使得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于是，</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 0 (mod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。因子分解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，得到</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- 1)(</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+ 1) ≡ 0 (mod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因而存在正整数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c</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，使得</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- 1)(</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+ 1)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cp</a:t>
            </a:r>
            <a:endPar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，所以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b</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都严格地在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0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之间。</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而一个素数的倍数不能表示成小于它的数的乘积，故 </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 </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是合数。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wipe(left)">
                                      <p:cBhvr>
                                        <p:cTn id="12"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3">
            <a:extLst>
              <a:ext uri="{FF2B5EF4-FFF2-40B4-BE49-F238E27FC236}">
                <a16:creationId xmlns:a16="http://schemas.microsoft.com/office/drawing/2014/main" id="{27D347B1-3ACD-4673-AA6E-F7DCD9B4712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D7B1672-D02C-4C28-AA01-CFE8C4A39029}"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7891" name="灯片编号占位符 4">
            <a:extLst>
              <a:ext uri="{FF2B5EF4-FFF2-40B4-BE49-F238E27FC236}">
                <a16:creationId xmlns:a16="http://schemas.microsoft.com/office/drawing/2014/main" id="{A4696157-F0BB-4C45-BD4D-ADBE88C0F7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2F812CAB-F1B0-4227-AEBD-70D7541536B4}"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35</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2322" name="Rectangle 2">
            <a:extLst>
              <a:ext uri="{FF2B5EF4-FFF2-40B4-BE49-F238E27FC236}">
                <a16:creationId xmlns:a16="http://schemas.microsoft.com/office/drawing/2014/main" id="{3F3BD0A6-3354-4EAD-B1DB-B82C0F853B4C}"/>
              </a:ext>
            </a:extLst>
          </p:cNvPr>
          <p:cNvSpPr>
            <a:spLocks noGrp="1" noChangeArrowheads="1"/>
          </p:cNvSpPr>
          <p:nvPr>
            <p:ph type="title"/>
          </p:nvPr>
        </p:nvSpPr>
        <p:spPr/>
        <p:txBody>
          <a:bodyPr anchor="ctr"/>
          <a:lstStyle/>
          <a:p>
            <a:pPr>
              <a:defRPr/>
            </a:pPr>
            <a:r>
              <a:rPr lang="zh-CN" altLang="en-US"/>
              <a:t>素数性</a:t>
            </a:r>
          </a:p>
        </p:txBody>
      </p:sp>
      <p:grpSp>
        <p:nvGrpSpPr>
          <p:cNvPr id="2" name="Group 3">
            <a:extLst>
              <a:ext uri="{FF2B5EF4-FFF2-40B4-BE49-F238E27FC236}">
                <a16:creationId xmlns:a16="http://schemas.microsoft.com/office/drawing/2014/main" id="{998B28AB-6799-4961-8E80-ABEBD3DBDBDE}"/>
              </a:ext>
            </a:extLst>
          </p:cNvPr>
          <p:cNvGrpSpPr>
            <a:grpSpLocks/>
          </p:cNvGrpSpPr>
          <p:nvPr/>
        </p:nvGrpSpPr>
        <p:grpSpPr bwMode="auto">
          <a:xfrm>
            <a:off x="296863" y="1000125"/>
            <a:ext cx="8704262" cy="1143000"/>
            <a:chOff x="187" y="709"/>
            <a:chExt cx="5483" cy="766"/>
          </a:xfrm>
        </p:grpSpPr>
        <p:sp>
          <p:nvSpPr>
            <p:cNvPr id="312324" name="Freeform 4">
              <a:extLst>
                <a:ext uri="{FF2B5EF4-FFF2-40B4-BE49-F238E27FC236}">
                  <a16:creationId xmlns:a16="http://schemas.microsoft.com/office/drawing/2014/main" id="{4224E5D2-F41D-4BC5-A65F-310FFCF07013}"/>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7897" name="AutoShape 5">
              <a:extLst>
                <a:ext uri="{FF2B5EF4-FFF2-40B4-BE49-F238E27FC236}">
                  <a16:creationId xmlns:a16="http://schemas.microsoft.com/office/drawing/2014/main" id="{8FB253D7-7281-4678-ABA2-251D7FDC8FF5}"/>
                </a:ext>
              </a:extLst>
            </p:cNvPr>
            <p:cNvSpPr>
              <a:spLocks noChangeArrowheads="1"/>
            </p:cNvSpPr>
            <p:nvPr/>
          </p:nvSpPr>
          <p:spPr bwMode="gray">
            <a:xfrm>
              <a:off x="187" y="709"/>
              <a:ext cx="5415" cy="766"/>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12326" name="AutoShape 6">
              <a:extLst>
                <a:ext uri="{FF2B5EF4-FFF2-40B4-BE49-F238E27FC236}">
                  <a16:creationId xmlns:a16="http://schemas.microsoft.com/office/drawing/2014/main" id="{2317D068-2B80-472F-AF5F-5D5300973BEB}"/>
                </a:ext>
              </a:extLst>
            </p:cNvPr>
            <p:cNvSpPr>
              <a:spLocks noChangeArrowheads="1"/>
            </p:cNvSpPr>
            <p:nvPr/>
          </p:nvSpPr>
          <p:spPr bwMode="gray">
            <a:xfrm>
              <a:off x="291" y="805"/>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12327" name="Freeform 7">
              <a:extLst>
                <a:ext uri="{FF2B5EF4-FFF2-40B4-BE49-F238E27FC236}">
                  <a16:creationId xmlns:a16="http://schemas.microsoft.com/office/drawing/2014/main" id="{3DF64894-C489-4228-857A-25F805C9E87B}"/>
                </a:ext>
              </a:extLst>
            </p:cNvPr>
            <p:cNvSpPr>
              <a:spLocks/>
            </p:cNvSpPr>
            <p:nvPr/>
          </p:nvSpPr>
          <p:spPr bwMode="gray">
            <a:xfrm>
              <a:off x="336" y="848"/>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12328" name="Text Box 8">
              <a:extLst>
                <a:ext uri="{FF2B5EF4-FFF2-40B4-BE49-F238E27FC236}">
                  <a16:creationId xmlns:a16="http://schemas.microsoft.com/office/drawing/2014/main" id="{6BC3504B-1A2A-4AB8-ACFB-F2A71010A262}"/>
                </a:ext>
              </a:extLst>
            </p:cNvPr>
            <p:cNvSpPr txBox="1">
              <a:spLocks noChangeArrowheads="1"/>
            </p:cNvSpPr>
            <p:nvPr/>
          </p:nvSpPr>
          <p:spPr bwMode="gray">
            <a:xfrm>
              <a:off x="389" y="853"/>
              <a:ext cx="541" cy="288"/>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引理</a:t>
              </a:r>
              <a:endParaRPr lang="en-US" altLang="zh-CN" sz="2400" b="1" dirty="0">
                <a:effectLst>
                  <a:outerShdw blurRad="38100" dist="38100" dir="2700000" algn="tl">
                    <a:srgbClr val="C0C0C0"/>
                  </a:outerShdw>
                </a:effectLst>
                <a:latin typeface="+mj-ea"/>
                <a:ea typeface="+mj-ea"/>
              </a:endParaRPr>
            </a:p>
          </p:txBody>
        </p:sp>
        <p:sp>
          <p:nvSpPr>
            <p:cNvPr id="37901" name="Text Box 9">
              <a:extLst>
                <a:ext uri="{FF2B5EF4-FFF2-40B4-BE49-F238E27FC236}">
                  <a16:creationId xmlns:a16="http://schemas.microsoft.com/office/drawing/2014/main" id="{637DFD46-10BD-486A-BBF6-E1E9ACFCE778}"/>
                </a:ext>
              </a:extLst>
            </p:cNvPr>
            <p:cNvSpPr txBox="1">
              <a:spLocks noChangeArrowheads="1"/>
            </p:cNvSpPr>
            <p:nvPr/>
          </p:nvSpPr>
          <p:spPr bwMode="gray">
            <a:xfrm>
              <a:off x="1021" y="930"/>
              <a:ext cx="464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42913" indent="-442913">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15000"/>
                </a:lnSpc>
                <a:spcBef>
                  <a:spcPct val="15000"/>
                </a:spcBef>
                <a:buClrTx/>
                <a:buSzTx/>
                <a:buFontTx/>
                <a:buNone/>
              </a:pPr>
              <a:r>
                <a:rPr lang="zh-CN" altLang="en-US" b="1">
                  <a:solidFill>
                    <a:schemeClr val="tx1"/>
                  </a:solidFill>
                  <a:latin typeface="Tahoma" panose="020B0604030504040204" pitchFamily="34" charset="0"/>
                  <a:ea typeface="隶书" panose="02010509060101010101" pitchFamily="49" charset="-122"/>
                  <a:cs typeface="Tahoma" panose="020B0604030504040204" pitchFamily="34" charset="0"/>
                </a:rPr>
                <a:t>如果 </a:t>
              </a:r>
              <a:r>
                <a:rPr lang="en-US" altLang="zh-CN" b="1" i="1">
                  <a:solidFill>
                    <a:schemeClr val="tx1"/>
                  </a:solidFill>
                  <a:latin typeface="Tahoma" panose="020B0604030504040204" pitchFamily="34" charset="0"/>
                  <a:ea typeface="隶书" panose="02010509060101010101" pitchFamily="49" charset="-122"/>
                  <a:cs typeface="Tahoma" panose="020B0604030504040204" pitchFamily="34" charset="0"/>
                </a:rPr>
                <a:t>p</a:t>
              </a:r>
              <a:r>
                <a:rPr lang="en-US" altLang="zh-CN" b="1">
                  <a:solidFill>
                    <a:schemeClr val="tx1"/>
                  </a:solidFill>
                  <a:latin typeface="Tahoma" panose="020B0604030504040204" pitchFamily="34" charset="0"/>
                  <a:ea typeface="隶书" panose="02010509060101010101" pitchFamily="49" charset="-122"/>
                  <a:cs typeface="Tahoma" panose="020B0604030504040204" pitchFamily="34" charset="0"/>
                </a:rPr>
                <a:t> </a:t>
              </a:r>
              <a:r>
                <a:rPr lang="zh-CN" altLang="en-US" b="1">
                  <a:solidFill>
                    <a:schemeClr val="tx1"/>
                  </a:solidFill>
                  <a:latin typeface="Tahoma" panose="020B0604030504040204" pitchFamily="34" charset="0"/>
                  <a:ea typeface="隶书" panose="02010509060101010101" pitchFamily="49" charset="-122"/>
                  <a:cs typeface="Tahoma" panose="020B0604030504040204" pitchFamily="34" charset="0"/>
                </a:rPr>
                <a:t>是一个奇合数，则 </a:t>
              </a:r>
              <a:r>
                <a:rPr lang="en-US" altLang="zh-CN" b="1">
                  <a:solidFill>
                    <a:schemeClr val="tx1"/>
                  </a:solidFill>
                  <a:latin typeface="Tahoma" panose="020B0604030504040204" pitchFamily="34" charset="0"/>
                  <a:ea typeface="隶书" panose="02010509060101010101" pitchFamily="49" charset="-122"/>
                  <a:cs typeface="Tahoma" panose="020B0604030504040204" pitchFamily="34" charset="0"/>
                </a:rPr>
                <a:t>Pr[ PRIME</a:t>
              </a:r>
              <a:r>
                <a:rPr lang="zh-CN" altLang="en-US" b="1">
                  <a:solidFill>
                    <a:schemeClr val="tx1"/>
                  </a:solidFill>
                  <a:latin typeface="Tahoma" panose="020B0604030504040204" pitchFamily="34" charset="0"/>
                  <a:ea typeface="隶书" panose="02010509060101010101" pitchFamily="49" charset="-122"/>
                  <a:cs typeface="Tahoma" panose="020B0604030504040204" pitchFamily="34" charset="0"/>
                </a:rPr>
                <a:t>接受</a:t>
              </a:r>
              <a:r>
                <a:rPr lang="en-US" altLang="zh-CN" b="1" i="1">
                  <a:solidFill>
                    <a:schemeClr val="tx1"/>
                  </a:solidFill>
                  <a:latin typeface="Tahoma" panose="020B0604030504040204" pitchFamily="34" charset="0"/>
                  <a:ea typeface="隶书" panose="02010509060101010101" pitchFamily="49" charset="-122"/>
                  <a:cs typeface="Tahoma" panose="020B0604030504040204" pitchFamily="34" charset="0"/>
                </a:rPr>
                <a:t>p</a:t>
              </a:r>
              <a:r>
                <a:rPr lang="en-US" altLang="zh-CN" b="1">
                  <a:solidFill>
                    <a:schemeClr val="tx1"/>
                  </a:solidFill>
                  <a:latin typeface="Tahoma" panose="020B0604030504040204" pitchFamily="34" charset="0"/>
                  <a:ea typeface="隶书" panose="02010509060101010101" pitchFamily="49" charset="-122"/>
                  <a:cs typeface="Tahoma" panose="020B0604030504040204" pitchFamily="34" charset="0"/>
                </a:rPr>
                <a:t> ]≤2</a:t>
              </a:r>
              <a:r>
                <a:rPr lang="en-US" altLang="zh-CN" b="1" baseline="50000">
                  <a:solidFill>
                    <a:schemeClr val="tx1"/>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chemeClr val="tx1"/>
                  </a:solidFill>
                  <a:latin typeface="Tahoma" panose="020B0604030504040204" pitchFamily="34" charset="0"/>
                  <a:ea typeface="隶书" panose="02010509060101010101" pitchFamily="49" charset="-122"/>
                  <a:cs typeface="Tahoma" panose="020B0604030504040204" pitchFamily="34" charset="0"/>
                </a:rPr>
                <a:t>。</a:t>
              </a:r>
            </a:p>
          </p:txBody>
        </p:sp>
      </p:grpSp>
      <p:sp>
        <p:nvSpPr>
          <p:cNvPr id="312330" name="Text Box 10">
            <a:extLst>
              <a:ext uri="{FF2B5EF4-FFF2-40B4-BE49-F238E27FC236}">
                <a16:creationId xmlns:a16="http://schemas.microsoft.com/office/drawing/2014/main" id="{BABC9D18-0A12-4C07-BF61-9B8E13628274}"/>
              </a:ext>
            </a:extLst>
          </p:cNvPr>
          <p:cNvSpPr txBox="1">
            <a:spLocks noChangeArrowheads="1"/>
          </p:cNvSpPr>
          <p:nvPr/>
        </p:nvSpPr>
        <p:spPr bwMode="auto">
          <a:xfrm>
            <a:off x="277813" y="2357438"/>
            <a:ext cx="8866187"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如下所示，如果</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是奇合数，</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是从</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Z</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中随机选取的一个数，则</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Pr[a</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rPr>
              <a:t>是一个见证</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rPr>
              <a:t>] ≥1/2</a:t>
            </a:r>
            <a:endPar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endParaRP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这只需要证明在</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Z</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中见证至少和非见证一样多。为此，对每一个非见证我</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们设法找到一个与它对应的独有的见证。</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对于每一个非见证，在步骤</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6</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中计算的序列要么都是</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，要么含有一个</a:t>
            </a:r>
          </a:p>
          <a:p>
            <a:pPr>
              <a:lnSpc>
                <a:spcPts val="2600"/>
              </a:lnSpc>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，这个</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的后面跟着</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。例如，</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本身是第一类非见证。由于</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是奇数，</a:t>
            </a:r>
          </a:p>
          <a:p>
            <a:pPr>
              <a:lnSpc>
                <a:spcPts val="2600"/>
              </a:lnSpc>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0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且</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，故</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是第二类非见证。在所有第二类非见证</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中，找出一个</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在序列中的最大位置的非见证。设这个非见证是</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h</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在它</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的序列中的位置为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，这里序列位置从</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0</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算起。于是，</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h</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由于</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是合数，所以或者</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是一个素数的幂，或者可以把它写成两个素数</a:t>
            </a:r>
          </a:p>
          <a:p>
            <a:pPr>
              <a:lnSpc>
                <a:spcPts val="2600"/>
              </a:lnSpc>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r</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的乘积。我们首先考虑后一种情况。根据中国剩余定理，在</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Z</a:t>
            </a:r>
            <a:r>
              <a:rPr lang="en-US" altLang="zh-CN" sz="2000" baseline="-1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中存在一</a:t>
            </a:r>
          </a:p>
          <a:p>
            <a:pPr>
              <a:lnSpc>
                <a:spcPts val="26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个数</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，使得</a:t>
            </a:r>
          </a:p>
        </p:txBody>
      </p:sp>
      <p:sp>
        <p:nvSpPr>
          <p:cNvPr id="312331" name="AutoShape 11">
            <a:hlinkClick r:id="rId2" action="ppaction://hlinksldjump"/>
            <a:extLst>
              <a:ext uri="{FF2B5EF4-FFF2-40B4-BE49-F238E27FC236}">
                <a16:creationId xmlns:a16="http://schemas.microsoft.com/office/drawing/2014/main" id="{7B06AC0F-2825-40A4-8D17-8C3A30F8F3E2}"/>
              </a:ext>
            </a:extLst>
          </p:cNvPr>
          <p:cNvSpPr>
            <a:spLocks noChangeArrowheads="1"/>
          </p:cNvSpPr>
          <p:nvPr/>
        </p:nvSpPr>
        <p:spPr bwMode="auto">
          <a:xfrm>
            <a:off x="8027988" y="6021388"/>
            <a:ext cx="900112" cy="620712"/>
          </a:xfrm>
          <a:prstGeom prst="rightArrow">
            <a:avLst>
              <a:gd name="adj1" fmla="val 50000"/>
              <a:gd name="adj2" fmla="val 36253"/>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zh-CN" altLang="en-US" sz="2000" b="1">
                <a:solidFill>
                  <a:schemeClr val="tx1"/>
                </a:solidFill>
                <a:latin typeface="隶书" panose="02010509060101010101" pitchFamily="49" charset="-122"/>
                <a:ea typeface="隶书" panose="02010509060101010101" pitchFamily="49" charset="-122"/>
              </a:rPr>
              <a:t>证明略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2330"/>
                                        </p:tgtEl>
                                        <p:attrNameLst>
                                          <p:attrName>style.visibility</p:attrName>
                                        </p:attrNameLst>
                                      </p:cBhvr>
                                      <p:to>
                                        <p:strVal val="visible"/>
                                      </p:to>
                                    </p:set>
                                    <p:animEffect transition="in" filter="wipe(left)">
                                      <p:cBhvr>
                                        <p:cTn id="12" dur="500"/>
                                        <p:tgtEl>
                                          <p:spTgt spid="3123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2331"/>
                                        </p:tgtEl>
                                        <p:attrNameLst>
                                          <p:attrName>style.visibility</p:attrName>
                                        </p:attrNameLst>
                                      </p:cBhvr>
                                      <p:to>
                                        <p:strVal val="visible"/>
                                      </p:to>
                                    </p:set>
                                    <p:animEffect transition="in" filter="blinds(horizontal)">
                                      <p:cBhvr>
                                        <p:cTn id="17" dur="500"/>
                                        <p:tgtEl>
                                          <p:spTgt spid="312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30" grpId="0"/>
      <p:bldP spid="3123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a:extLst>
              <a:ext uri="{FF2B5EF4-FFF2-40B4-BE49-F238E27FC236}">
                <a16:creationId xmlns:a16="http://schemas.microsoft.com/office/drawing/2014/main" id="{B3480C5F-94B5-4444-A024-68C54DFCAAB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89C61D2-3A07-45B1-A66C-CC1AD98BBDEC}"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8915" name="灯片编号占位符 4">
            <a:extLst>
              <a:ext uri="{FF2B5EF4-FFF2-40B4-BE49-F238E27FC236}">
                <a16:creationId xmlns:a16="http://schemas.microsoft.com/office/drawing/2014/main" id="{46D99A02-DC2D-4918-99BA-6B8DC64CA8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D323FD2A-0901-4035-9990-12366A978035}"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36</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3346" name="Rectangle 2">
            <a:extLst>
              <a:ext uri="{FF2B5EF4-FFF2-40B4-BE49-F238E27FC236}">
                <a16:creationId xmlns:a16="http://schemas.microsoft.com/office/drawing/2014/main" id="{AEC18C3F-C93F-494C-9322-62CC3987288D}"/>
              </a:ext>
            </a:extLst>
          </p:cNvPr>
          <p:cNvSpPr>
            <a:spLocks noGrp="1" noChangeArrowheads="1"/>
          </p:cNvSpPr>
          <p:nvPr>
            <p:ph type="title"/>
          </p:nvPr>
        </p:nvSpPr>
        <p:spPr/>
        <p:txBody>
          <a:bodyPr anchor="ctr"/>
          <a:lstStyle/>
          <a:p>
            <a:pPr>
              <a:defRPr/>
            </a:pPr>
            <a:r>
              <a:rPr lang="zh-CN" altLang="en-US"/>
              <a:t>素数性</a:t>
            </a:r>
          </a:p>
        </p:txBody>
      </p:sp>
      <p:sp>
        <p:nvSpPr>
          <p:cNvPr id="38917" name="Text Box 3">
            <a:extLst>
              <a:ext uri="{FF2B5EF4-FFF2-40B4-BE49-F238E27FC236}">
                <a16:creationId xmlns:a16="http://schemas.microsoft.com/office/drawing/2014/main" id="{920764EA-34F5-4848-BD5E-21F61C519A56}"/>
              </a:ext>
            </a:extLst>
          </p:cNvPr>
          <p:cNvSpPr txBox="1">
            <a:spLocks noChangeArrowheads="1"/>
          </p:cNvSpPr>
          <p:nvPr/>
        </p:nvSpPr>
        <p:spPr bwMode="auto">
          <a:xfrm>
            <a:off x="214313" y="928688"/>
            <a:ext cx="8866187"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t≡h(mod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t≡1(mod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r</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因此，</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6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6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r</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但是</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，所以</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是一个见证。</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现在我们得到了一个见证，还可以得到更多的见证。根据下述两点观察，</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可以证明对于每一个非见证</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是与它对应的独有的见证。首先，根</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据选择</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的方式，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且</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。因此，</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个见证，因为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而且</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6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其次，如果</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d2</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是两个不同的非见证，则</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i="1"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i="1"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。这是因为</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s.2j+1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，从而</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。所以，如果</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则</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modp=t</a:t>
            </a:r>
            <a:r>
              <a:rPr lang="en-US"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s.2</a:t>
            </a:r>
            <a:r>
              <a:rPr lang="en-US" altLang="zh-CN" sz="2000" baseline="5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j+1</a:t>
            </a:r>
            <a:r>
              <a:rPr lang="en-US" altLang="zh-CN" sz="2000"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modp=d</a:t>
            </a:r>
            <a:r>
              <a:rPr lang="en-US" altLang="zh-CN" sz="2000"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p>
          <a:p>
            <a:pPr>
              <a:lnSpc>
                <a:spcPts val="3000"/>
              </a:lnSpc>
              <a:spcBef>
                <a:spcPct val="0"/>
              </a:spcBef>
              <a:buClrTx/>
              <a:buSzTx/>
              <a:buFontTx/>
              <a:buNone/>
            </a:pP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所以，见证不会比非见证少。这样，我们证明了</a:t>
            </a:r>
            <a:r>
              <a:rPr lang="en-US" altLang="zh-CN" sz="2000"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不是一个素数幂时的情况。</a:t>
            </a:r>
            <a:r>
              <a:rPr lang="zh-CN" altLang="en-US" sz="2000">
                <a:solidFill>
                  <a:srgbClr val="FF0000"/>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p>
        </p:txBody>
      </p:sp>
      <p:sp>
        <p:nvSpPr>
          <p:cNvPr id="38918" name="Line 4">
            <a:extLst>
              <a:ext uri="{FF2B5EF4-FFF2-40B4-BE49-F238E27FC236}">
                <a16:creationId xmlns:a16="http://schemas.microsoft.com/office/drawing/2014/main" id="{E39118CC-9C6E-4E7C-8745-5F13D35273DA}"/>
              </a:ext>
            </a:extLst>
          </p:cNvPr>
          <p:cNvSpPr>
            <a:spLocks noChangeShapeType="1"/>
          </p:cNvSpPr>
          <p:nvPr/>
        </p:nvSpPr>
        <p:spPr bwMode="auto">
          <a:xfrm flipV="1">
            <a:off x="1476375" y="3068638"/>
            <a:ext cx="144463" cy="24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19" name="Line 5">
            <a:extLst>
              <a:ext uri="{FF2B5EF4-FFF2-40B4-BE49-F238E27FC236}">
                <a16:creationId xmlns:a16="http://schemas.microsoft.com/office/drawing/2014/main" id="{D8DD368B-75D2-4CB5-806A-B5FA92589E8B}"/>
              </a:ext>
            </a:extLst>
          </p:cNvPr>
          <p:cNvSpPr>
            <a:spLocks noChangeShapeType="1"/>
          </p:cNvSpPr>
          <p:nvPr/>
        </p:nvSpPr>
        <p:spPr bwMode="auto">
          <a:xfrm flipV="1">
            <a:off x="3059113" y="4581525"/>
            <a:ext cx="144462" cy="24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a:extLst>
              <a:ext uri="{FF2B5EF4-FFF2-40B4-BE49-F238E27FC236}">
                <a16:creationId xmlns:a16="http://schemas.microsoft.com/office/drawing/2014/main" id="{7AF5E1DC-AFF5-4284-A413-F7B8668DC32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C85BEAC3-08F3-49FD-977D-29C8244F75F7}"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39939" name="灯片编号占位符 4">
            <a:extLst>
              <a:ext uri="{FF2B5EF4-FFF2-40B4-BE49-F238E27FC236}">
                <a16:creationId xmlns:a16="http://schemas.microsoft.com/office/drawing/2014/main" id="{5FBF1994-08F1-404E-AAB6-75959D850F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0080070F-0785-4DDC-BCEB-ACCC42710DDB}"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37</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4370" name="Rectangle 2">
            <a:extLst>
              <a:ext uri="{FF2B5EF4-FFF2-40B4-BE49-F238E27FC236}">
                <a16:creationId xmlns:a16="http://schemas.microsoft.com/office/drawing/2014/main" id="{0C639550-E4E0-4F93-8B9A-B93A2565BCA9}"/>
              </a:ext>
            </a:extLst>
          </p:cNvPr>
          <p:cNvSpPr>
            <a:spLocks noGrp="1" noChangeArrowheads="1"/>
          </p:cNvSpPr>
          <p:nvPr>
            <p:ph type="title"/>
          </p:nvPr>
        </p:nvSpPr>
        <p:spPr/>
        <p:txBody>
          <a:bodyPr anchor="ctr"/>
          <a:lstStyle/>
          <a:p>
            <a:pPr>
              <a:defRPr/>
            </a:pPr>
            <a:r>
              <a:rPr lang="zh-CN" altLang="en-US"/>
              <a:t>素数性</a:t>
            </a:r>
          </a:p>
        </p:txBody>
      </p:sp>
      <p:sp>
        <p:nvSpPr>
          <p:cNvPr id="36869" name="Text Box 3">
            <a:extLst>
              <a:ext uri="{FF2B5EF4-FFF2-40B4-BE49-F238E27FC236}">
                <a16:creationId xmlns:a16="http://schemas.microsoft.com/office/drawing/2014/main" id="{6D59F610-4BB9-4BEC-ADC4-2677962AF673}"/>
              </a:ext>
            </a:extLst>
          </p:cNvPr>
          <p:cNvSpPr txBox="1">
            <a:spLocks noChangeArrowheads="1"/>
          </p:cNvSpPr>
          <p:nvPr/>
        </p:nvSpPr>
        <p:spPr bwMode="auto">
          <a:xfrm>
            <a:off x="277813" y="1052513"/>
            <a:ext cx="8866187"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对于</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是一个素数幂时的情况，我们有</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p=q</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，其中</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是一个素数，</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e&gt;1</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令</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t=1+q</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e-1</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。使用二项式定理扩展多项式</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可以得到下式，</a:t>
            </a: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=(1+q</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)=1+p</a:t>
            </a:r>
            <a:r>
              <a:rPr lang="en-US"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+q</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e-1</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更高次幂的倍数</a:t>
            </a: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这和</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是等价的。因此，</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是一个阶段</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4</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见证。这是因为：如果</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p-1 </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），则</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≡t ≡1(mod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。像前一个例子一样，可以用这个见证去获取其他很多见证。如果</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是一个非见证，则</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≡1(mod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，于是，</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是一个见证。更进一步，如果</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是两个不同的非见证，则</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i="1"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i="1"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。否则，</a:t>
            </a: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·t·t</a:t>
            </a:r>
            <a:r>
              <a:rPr lang="en-US" altLang="zh-CN" baseline="30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p-1</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mod</a:t>
            </a:r>
            <a:r>
              <a:rPr lang="en-US" altLang="zh-CN" i="1">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p</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=d</a:t>
            </a:r>
            <a:r>
              <a:rPr lang="en-US" altLang="zh-CN" baseline="-25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因此，见证的数目一定和非见证的数目一样多，证毕。</a:t>
            </a:r>
          </a:p>
          <a:p>
            <a:pPr>
              <a:spcBef>
                <a:spcPct val="0"/>
              </a:spcBef>
              <a:buClrTx/>
              <a:buSzTx/>
              <a:buFontTx/>
              <a:buNone/>
            </a:pP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
        <p:nvSpPr>
          <p:cNvPr id="33798" name="Line 4">
            <a:extLst>
              <a:ext uri="{FF2B5EF4-FFF2-40B4-BE49-F238E27FC236}">
                <a16:creationId xmlns:a16="http://schemas.microsoft.com/office/drawing/2014/main" id="{110DB287-910C-494E-8385-08A717F68C51}"/>
              </a:ext>
            </a:extLst>
          </p:cNvPr>
          <p:cNvSpPr>
            <a:spLocks noChangeShapeType="1"/>
          </p:cNvSpPr>
          <p:nvPr/>
        </p:nvSpPr>
        <p:spPr bwMode="auto">
          <a:xfrm flipV="1">
            <a:off x="4214813" y="3214688"/>
            <a:ext cx="144462" cy="2444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wipe(left)">
                                      <p:cBhvr>
                                        <p:cTn id="7" dur="500"/>
                                        <p:tgtEl>
                                          <p:spTgt spid="36869"/>
                                        </p:tgtEl>
                                      </p:cBhvr>
                                    </p:animEffect>
                                  </p:childTnLst>
                                </p:cTn>
                              </p:par>
                              <p:par>
                                <p:cTn id="8" presetID="22" presetClass="entr" presetSubtype="8" fill="hold" nodeType="withEffect">
                                  <p:stCondLst>
                                    <p:cond delay="0"/>
                                  </p:stCondLst>
                                  <p:childTnLst>
                                    <p:set>
                                      <p:cBhvr>
                                        <p:cTn id="9" dur="1" fill="hold">
                                          <p:stCondLst>
                                            <p:cond delay="0"/>
                                          </p:stCondLst>
                                        </p:cTn>
                                        <p:tgtEl>
                                          <p:spTgt spid="33798"/>
                                        </p:tgtEl>
                                        <p:attrNameLst>
                                          <p:attrName>style.visibility</p:attrName>
                                        </p:attrNameLst>
                                      </p:cBhvr>
                                      <p:to>
                                        <p:strVal val="visible"/>
                                      </p:to>
                                    </p:set>
                                    <p:animEffect transition="in" filter="wipe(left)">
                                      <p:cBhvr>
                                        <p:cTn id="10"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a:extLst>
              <a:ext uri="{FF2B5EF4-FFF2-40B4-BE49-F238E27FC236}">
                <a16:creationId xmlns:a16="http://schemas.microsoft.com/office/drawing/2014/main" id="{097147A5-CE94-4170-9B38-F4CE3B64C4C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FE3CD8A-3C36-4A72-AC37-448462E627F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0963" name="灯片编号占位符 4">
            <a:extLst>
              <a:ext uri="{FF2B5EF4-FFF2-40B4-BE49-F238E27FC236}">
                <a16:creationId xmlns:a16="http://schemas.microsoft.com/office/drawing/2014/main" id="{272A2913-CF2E-435E-B3FF-C31BD783EAF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A25A422-8679-4E5C-84A9-F77D2436792C}"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38</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5394" name="Rectangle 2">
            <a:extLst>
              <a:ext uri="{FF2B5EF4-FFF2-40B4-BE49-F238E27FC236}">
                <a16:creationId xmlns:a16="http://schemas.microsoft.com/office/drawing/2014/main" id="{50E1F4DB-F314-46F5-AAE2-5A97DB5A2E2E}"/>
              </a:ext>
            </a:extLst>
          </p:cNvPr>
          <p:cNvSpPr>
            <a:spLocks noGrp="1" noChangeArrowheads="1"/>
          </p:cNvSpPr>
          <p:nvPr>
            <p:ph type="title"/>
          </p:nvPr>
        </p:nvSpPr>
        <p:spPr/>
        <p:txBody>
          <a:bodyPr anchor="ctr"/>
          <a:lstStyle/>
          <a:p>
            <a:pPr>
              <a:defRPr/>
            </a:pPr>
            <a:r>
              <a:rPr lang="zh-CN" altLang="en-US"/>
              <a:t>素数性概率算法</a:t>
            </a:r>
          </a:p>
        </p:txBody>
      </p:sp>
      <p:grpSp>
        <p:nvGrpSpPr>
          <p:cNvPr id="2" name="Group 3">
            <a:extLst>
              <a:ext uri="{FF2B5EF4-FFF2-40B4-BE49-F238E27FC236}">
                <a16:creationId xmlns:a16="http://schemas.microsoft.com/office/drawing/2014/main" id="{846AD138-95E7-4004-ABAB-828B85C95CD9}"/>
              </a:ext>
            </a:extLst>
          </p:cNvPr>
          <p:cNvGrpSpPr>
            <a:grpSpLocks/>
          </p:cNvGrpSpPr>
          <p:nvPr/>
        </p:nvGrpSpPr>
        <p:grpSpPr bwMode="auto">
          <a:xfrm>
            <a:off x="285750" y="3500438"/>
            <a:ext cx="8640763" cy="1441450"/>
            <a:chOff x="204" y="1706"/>
            <a:chExt cx="5443" cy="908"/>
          </a:xfrm>
        </p:grpSpPr>
        <p:sp>
          <p:nvSpPr>
            <p:cNvPr id="315396" name="Freeform 4">
              <a:extLst>
                <a:ext uri="{FF2B5EF4-FFF2-40B4-BE49-F238E27FC236}">
                  <a16:creationId xmlns:a16="http://schemas.microsoft.com/office/drawing/2014/main" id="{B43C31AC-31B2-4812-A07D-FC8923F6D3B8}"/>
                </a:ext>
              </a:extLst>
            </p:cNvPr>
            <p:cNvSpPr>
              <a:spLocks/>
            </p:cNvSpPr>
            <p:nvPr/>
          </p:nvSpPr>
          <p:spPr bwMode="gray">
            <a:xfrm>
              <a:off x="353" y="1845"/>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40968" name="AutoShape 5">
              <a:extLst>
                <a:ext uri="{FF2B5EF4-FFF2-40B4-BE49-F238E27FC236}">
                  <a16:creationId xmlns:a16="http://schemas.microsoft.com/office/drawing/2014/main" id="{68284799-D6D8-4BFD-AF84-0009E3B8DB6A}"/>
                </a:ext>
              </a:extLst>
            </p:cNvPr>
            <p:cNvSpPr>
              <a:spLocks noChangeArrowheads="1"/>
            </p:cNvSpPr>
            <p:nvPr/>
          </p:nvSpPr>
          <p:spPr bwMode="gray">
            <a:xfrm>
              <a:off x="204" y="1706"/>
              <a:ext cx="5415" cy="908"/>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315398" name="AutoShape 6">
              <a:extLst>
                <a:ext uri="{FF2B5EF4-FFF2-40B4-BE49-F238E27FC236}">
                  <a16:creationId xmlns:a16="http://schemas.microsoft.com/office/drawing/2014/main" id="{96D48E7D-0816-44A3-9FE8-1CF6F12B024E}"/>
                </a:ext>
              </a:extLst>
            </p:cNvPr>
            <p:cNvSpPr>
              <a:spLocks noChangeArrowheads="1"/>
            </p:cNvSpPr>
            <p:nvPr/>
          </p:nvSpPr>
          <p:spPr bwMode="gray">
            <a:xfrm>
              <a:off x="308" y="1802"/>
              <a:ext cx="712" cy="670"/>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315399" name="Freeform 7">
              <a:extLst>
                <a:ext uri="{FF2B5EF4-FFF2-40B4-BE49-F238E27FC236}">
                  <a16:creationId xmlns:a16="http://schemas.microsoft.com/office/drawing/2014/main" id="{B72CEAB1-E13B-4849-8D5F-D91C41BAE0EB}"/>
                </a:ext>
              </a:extLst>
            </p:cNvPr>
            <p:cNvSpPr>
              <a:spLocks/>
            </p:cNvSpPr>
            <p:nvPr/>
          </p:nvSpPr>
          <p:spPr bwMode="gray">
            <a:xfrm>
              <a:off x="353" y="1845"/>
              <a:ext cx="355" cy="335"/>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315400" name="Text Box 8">
              <a:extLst>
                <a:ext uri="{FF2B5EF4-FFF2-40B4-BE49-F238E27FC236}">
                  <a16:creationId xmlns:a16="http://schemas.microsoft.com/office/drawing/2014/main" id="{3F8E1ACB-1478-4A38-AE1D-FF84F8FDDAB8}"/>
                </a:ext>
              </a:extLst>
            </p:cNvPr>
            <p:cNvSpPr txBox="1">
              <a:spLocks noChangeArrowheads="1"/>
            </p:cNvSpPr>
            <p:nvPr/>
          </p:nvSpPr>
          <p:spPr bwMode="gray">
            <a:xfrm>
              <a:off x="406" y="1850"/>
              <a:ext cx="614" cy="288"/>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定义</a:t>
              </a:r>
              <a:endParaRPr lang="en-US" altLang="zh-CN" sz="2400" b="1" dirty="0">
                <a:effectLst>
                  <a:outerShdw blurRad="38100" dist="38100" dir="2700000" algn="tl">
                    <a:srgbClr val="C0C0C0"/>
                  </a:outerShdw>
                </a:effectLst>
                <a:latin typeface="+mj-ea"/>
                <a:ea typeface="+mj-ea"/>
              </a:endParaRPr>
            </a:p>
          </p:txBody>
        </p:sp>
        <p:sp>
          <p:nvSpPr>
            <p:cNvPr id="37900" name="Text Box 9">
              <a:extLst>
                <a:ext uri="{FF2B5EF4-FFF2-40B4-BE49-F238E27FC236}">
                  <a16:creationId xmlns:a16="http://schemas.microsoft.com/office/drawing/2014/main" id="{E25258A7-0949-4BBB-9384-2D991CE04436}"/>
                </a:ext>
              </a:extLst>
            </p:cNvPr>
            <p:cNvSpPr txBox="1">
              <a:spLocks noChangeArrowheads="1"/>
            </p:cNvSpPr>
            <p:nvPr/>
          </p:nvSpPr>
          <p:spPr bwMode="gray">
            <a:xfrm>
              <a:off x="1038" y="1761"/>
              <a:ext cx="4609" cy="85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en-US" altLang="zh-CN" sz="2400" b="1" dirty="0">
                  <a:solidFill>
                    <a:schemeClr val="tx1"/>
                  </a:solidFill>
                  <a:latin typeface="Tahoma" pitchFamily="34" charset="0"/>
                  <a:ea typeface="Tahoma" pitchFamily="34" charset="0"/>
                  <a:cs typeface="Tahoma" pitchFamily="34" charset="0"/>
                </a:rPr>
                <a:t>RP </a:t>
              </a:r>
              <a:r>
                <a:rPr lang="zh-CN" altLang="en-US" sz="2400" b="1" dirty="0">
                  <a:solidFill>
                    <a:schemeClr val="tx1"/>
                  </a:solidFill>
                  <a:latin typeface="Tahoma" pitchFamily="34" charset="0"/>
                  <a:ea typeface="+mj-ea"/>
                  <a:cs typeface="Tahoma" pitchFamily="34" charset="0"/>
                </a:rPr>
                <a:t>是多项式时间概率图灵机识别的语言类，在这里</a:t>
              </a:r>
              <a:r>
                <a:rPr lang="en-US" altLang="zh-CN" sz="2400" b="1" dirty="0">
                  <a:solidFill>
                    <a:schemeClr val="tx1"/>
                  </a:solidFill>
                  <a:latin typeface="Tahoma" pitchFamily="34" charset="0"/>
                  <a:ea typeface="Tahoma" pitchFamily="34" charset="0"/>
                  <a:cs typeface="Tahoma" pitchFamily="34" charset="0"/>
                </a:rPr>
                <a:t>, </a:t>
              </a:r>
              <a:r>
                <a:rPr lang="zh-CN" altLang="en-US" sz="2400" b="1" dirty="0">
                  <a:solidFill>
                    <a:schemeClr val="tx1"/>
                  </a:solidFill>
                  <a:latin typeface="Tahoma" pitchFamily="34" charset="0"/>
                  <a:ea typeface="+mj-ea"/>
                  <a:cs typeface="Tahoma" pitchFamily="34" charset="0"/>
                </a:rPr>
                <a:t>在语言中的输入以不小于</a:t>
              </a:r>
              <a:r>
                <a:rPr lang="en-US" altLang="zh-CN" sz="2400" b="1" dirty="0">
                  <a:solidFill>
                    <a:schemeClr val="tx1"/>
                  </a:solidFill>
                  <a:latin typeface="Tahoma" pitchFamily="34" charset="0"/>
                  <a:ea typeface="Tahoma" pitchFamily="34" charset="0"/>
                  <a:cs typeface="Tahoma" pitchFamily="34" charset="0"/>
                </a:rPr>
                <a:t>1/2 </a:t>
              </a:r>
              <a:r>
                <a:rPr lang="zh-CN" altLang="en-US" sz="2400" b="1" dirty="0">
                  <a:solidFill>
                    <a:schemeClr val="tx1"/>
                  </a:solidFill>
                  <a:latin typeface="Tahoma" pitchFamily="34" charset="0"/>
                  <a:ea typeface="+mj-ea"/>
                  <a:cs typeface="Tahoma" pitchFamily="34" charset="0"/>
                </a:rPr>
                <a:t>的概率被接受；不在语言中的输入以概率 </a:t>
              </a:r>
              <a:r>
                <a:rPr lang="en-US" altLang="zh-CN" sz="2400" b="1" dirty="0">
                  <a:solidFill>
                    <a:schemeClr val="tx1"/>
                  </a:solidFill>
                  <a:latin typeface="Tahoma" pitchFamily="34" charset="0"/>
                  <a:ea typeface="Tahoma" pitchFamily="34" charset="0"/>
                  <a:cs typeface="Tahoma" pitchFamily="34" charset="0"/>
                </a:rPr>
                <a:t>1 </a:t>
              </a:r>
              <a:r>
                <a:rPr lang="zh-CN" altLang="en-US" sz="2400" b="1" dirty="0">
                  <a:solidFill>
                    <a:schemeClr val="tx1"/>
                  </a:solidFill>
                  <a:latin typeface="Tahoma" pitchFamily="34" charset="0"/>
                  <a:ea typeface="+mj-ea"/>
                  <a:cs typeface="Tahoma" pitchFamily="34" charset="0"/>
                </a:rPr>
                <a:t>被拒绝。</a:t>
              </a:r>
            </a:p>
          </p:txBody>
        </p:sp>
      </p:grpSp>
      <p:sp>
        <p:nvSpPr>
          <p:cNvPr id="315402" name="Text Box 10">
            <a:extLst>
              <a:ext uri="{FF2B5EF4-FFF2-40B4-BE49-F238E27FC236}">
                <a16:creationId xmlns:a16="http://schemas.microsoft.com/office/drawing/2014/main" id="{A47CC404-3CE9-4DEA-8238-F6E6A3C346D7}"/>
              </a:ext>
            </a:extLst>
          </p:cNvPr>
          <p:cNvSpPr txBox="1">
            <a:spLocks noChangeArrowheads="1"/>
          </p:cNvSpPr>
          <p:nvPr/>
        </p:nvSpPr>
        <p:spPr bwMode="auto">
          <a:xfrm>
            <a:off x="611188" y="1268413"/>
            <a:ext cx="8281987"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lnSpc>
                <a:spcPct val="115000"/>
              </a:lnSpc>
              <a:spcBef>
                <a:spcPct val="15000"/>
              </a:spcBef>
              <a:buClrTx/>
              <a:buSzTx/>
              <a:buFontTx/>
              <a:buNone/>
            </a:pPr>
            <a:r>
              <a:rPr lang="en-US" altLang="zh-CN" b="1" i="1">
                <a:solidFill>
                  <a:schemeClr val="tx1"/>
                </a:solidFill>
                <a:latin typeface="Tahoma" panose="020B0604030504040204" pitchFamily="34" charset="0"/>
                <a:ea typeface="宋体" panose="02010600030101010101" pitchFamily="2" charset="-122"/>
                <a:cs typeface="Tahoma" panose="020B0604030504040204" pitchFamily="34" charset="0"/>
              </a:rPr>
              <a:t>PRIMES</a:t>
            </a:r>
            <a:r>
              <a:rPr lang="en-US" altLang="zh-CN" b="1">
                <a:solidFill>
                  <a:schemeClr val="tx1"/>
                </a:solidFill>
                <a:latin typeface="Tahoma" panose="020B0604030504040204" pitchFamily="34" charset="0"/>
                <a:ea typeface="宋体" panose="02010600030101010101" pitchFamily="2" charset="-122"/>
                <a:cs typeface="Tahoma" panose="020B0604030504040204" pitchFamily="34" charset="0"/>
              </a:rPr>
              <a:t> = { </a:t>
            </a:r>
            <a:r>
              <a:rPr lang="en-US" altLang="zh-CN" b="1" i="1">
                <a:solidFill>
                  <a:schemeClr val="tx1"/>
                </a:solidFill>
                <a:latin typeface="Tahoma" panose="020B0604030504040204" pitchFamily="34" charset="0"/>
                <a:ea typeface="宋体" panose="02010600030101010101" pitchFamily="2" charset="-122"/>
                <a:cs typeface="Tahoma" panose="020B0604030504040204" pitchFamily="34" charset="0"/>
              </a:rPr>
              <a:t>n</a:t>
            </a:r>
            <a:r>
              <a:rPr lang="en-US" altLang="zh-CN" b="1">
                <a:solidFill>
                  <a:schemeClr val="tx1"/>
                </a:solidFill>
                <a:latin typeface="Tahoma" panose="020B0604030504040204" pitchFamily="34" charset="0"/>
                <a:ea typeface="宋体" panose="02010600030101010101" pitchFamily="2" charset="-122"/>
                <a:cs typeface="Tahoma" panose="020B0604030504040204" pitchFamily="34" charset="0"/>
              </a:rPr>
              <a:t> | </a:t>
            </a:r>
            <a:r>
              <a:rPr lang="en-US" altLang="zh-CN" b="1" i="1">
                <a:solidFill>
                  <a:schemeClr val="tx1"/>
                </a:solidFill>
                <a:latin typeface="Tahoma" panose="020B0604030504040204" pitchFamily="34" charset="0"/>
                <a:ea typeface="宋体" panose="02010600030101010101" pitchFamily="2" charset="-122"/>
                <a:cs typeface="Tahoma" panose="020B0604030504040204" pitchFamily="34" charset="0"/>
              </a:rPr>
              <a:t>n</a:t>
            </a:r>
            <a:r>
              <a:rPr lang="en-US" altLang="zh-CN" b="1">
                <a:solidFill>
                  <a:schemeClr val="tx1"/>
                </a:solidFill>
                <a:latin typeface="Tahoma" panose="020B0604030504040204" pitchFamily="34" charset="0"/>
                <a:ea typeface="宋体" panose="02010600030101010101" pitchFamily="2" charset="-122"/>
                <a:cs typeface="Tahoma" panose="020B0604030504040204" pitchFamily="34" charset="0"/>
              </a:rPr>
              <a:t> </a:t>
            </a:r>
            <a:r>
              <a:rPr lang="zh-CN" altLang="en-US" b="1">
                <a:solidFill>
                  <a:schemeClr val="tx1"/>
                </a:solidFill>
                <a:latin typeface="Tahoma" panose="020B0604030504040204" pitchFamily="34" charset="0"/>
                <a:ea typeface="隶书" panose="02010509060101010101" pitchFamily="49" charset="-122"/>
                <a:cs typeface="Tahoma" panose="020B0604030504040204" pitchFamily="34" charset="0"/>
              </a:rPr>
              <a:t>是二进制的素数 </a:t>
            </a:r>
            <a:r>
              <a:rPr lang="en-US" altLang="zh-CN" b="1">
                <a:solidFill>
                  <a:schemeClr val="tx1"/>
                </a:solidFill>
                <a:latin typeface="Tahoma" panose="020B0604030504040204" pitchFamily="34" charset="0"/>
                <a:ea typeface="宋体" panose="02010600030101010101" pitchFamily="2" charset="-122"/>
                <a:cs typeface="Tahoma" panose="020B0604030504040204" pitchFamily="34" charset="0"/>
              </a:rPr>
              <a:t>}</a:t>
            </a:r>
          </a:p>
          <a:p>
            <a:pPr>
              <a:lnSpc>
                <a:spcPct val="115000"/>
              </a:lnSpc>
              <a:spcBef>
                <a:spcPct val="15000"/>
              </a:spcBef>
              <a:buClrTx/>
              <a:buSzTx/>
              <a:buFontTx/>
              <a:buNone/>
            </a:pPr>
            <a:r>
              <a:rPr lang="zh-CN" altLang="en-US" b="1">
                <a:latin typeface="Tahoma" panose="020B0604030504040204" pitchFamily="34" charset="0"/>
                <a:ea typeface="隶书" panose="02010509060101010101" pitchFamily="49" charset="-122"/>
              </a:rPr>
              <a:t>定理    </a:t>
            </a:r>
            <a:r>
              <a:rPr lang="en-US" altLang="zh-CN" b="1" i="1">
                <a:solidFill>
                  <a:schemeClr val="tx1"/>
                </a:solidFill>
                <a:latin typeface="Tahoma" panose="020B0604030504040204" pitchFamily="34" charset="0"/>
                <a:ea typeface="宋体" panose="02010600030101010101" pitchFamily="2" charset="-122"/>
              </a:rPr>
              <a:t> PRIMES </a:t>
            </a:r>
            <a:r>
              <a:rPr lang="en-US" altLang="zh-CN" b="1">
                <a:solidFill>
                  <a:schemeClr val="tx1"/>
                </a:solidFill>
                <a:latin typeface="Tahoma" panose="020B0604030504040204" pitchFamily="34" charset="0"/>
                <a:ea typeface="宋体" panose="02010600030101010101" pitchFamily="2" charset="-122"/>
              </a:rPr>
              <a:t>∈ BPP</a:t>
            </a:r>
          </a:p>
          <a:p>
            <a:pPr>
              <a:lnSpc>
                <a:spcPct val="115000"/>
              </a:lnSpc>
              <a:spcBef>
                <a:spcPct val="15000"/>
              </a:spcBef>
              <a:buClrTx/>
              <a:buSzTx/>
              <a:buFontTx/>
              <a:buNone/>
            </a:pPr>
            <a:r>
              <a:rPr kumimoji="1" lang="zh-CN" altLang="en-US" b="1">
                <a:latin typeface="Tahoma" panose="020B0604030504040204" pitchFamily="34" charset="0"/>
                <a:ea typeface="隶书" panose="02010509060101010101" pitchFamily="49" charset="-122"/>
              </a:rPr>
              <a:t>单侧错误：</a:t>
            </a:r>
            <a:r>
              <a:rPr kumimoji="1" lang="zh-CN" altLang="en-US" b="1">
                <a:solidFill>
                  <a:schemeClr val="tx1"/>
                </a:solidFill>
                <a:latin typeface="Tahoma" panose="020B0604030504040204" pitchFamily="34" charset="0"/>
                <a:ea typeface="隶书" panose="02010509060101010101" pitchFamily="49" charset="-122"/>
              </a:rPr>
              <a:t>当算法输出</a:t>
            </a:r>
            <a:r>
              <a:rPr kumimoji="1" lang="zh-CN" altLang="en-US" b="1">
                <a:solidFill>
                  <a:srgbClr val="FF0000"/>
                </a:solidFill>
                <a:latin typeface="Tahoma" panose="020B0604030504040204" pitchFamily="34" charset="0"/>
                <a:ea typeface="隶书" panose="02010509060101010101" pitchFamily="49" charset="-122"/>
              </a:rPr>
              <a:t>拒绝时</a:t>
            </a:r>
            <a:r>
              <a:rPr kumimoji="1" lang="zh-CN" altLang="en-US" b="1">
                <a:solidFill>
                  <a:schemeClr val="tx1"/>
                </a:solidFill>
                <a:latin typeface="Tahoma" panose="020B0604030504040204" pitchFamily="34" charset="0"/>
                <a:ea typeface="隶书" panose="02010509060101010101" pitchFamily="49" charset="-122"/>
              </a:rPr>
              <a:t>，</a:t>
            </a:r>
            <a:r>
              <a:rPr kumimoji="1" lang="zh-CN" altLang="en-US" b="1">
                <a:solidFill>
                  <a:srgbClr val="FF0000"/>
                </a:solidFill>
                <a:latin typeface="Tahoma" panose="020B0604030504040204" pitchFamily="34" charset="0"/>
                <a:ea typeface="隶书" panose="02010509060101010101" pitchFamily="49" charset="-122"/>
              </a:rPr>
              <a:t>输入一定是合数</a:t>
            </a:r>
            <a:r>
              <a:rPr kumimoji="1" lang="zh-CN" altLang="en-US" b="1">
                <a:solidFill>
                  <a:schemeClr val="tx1"/>
                </a:solidFill>
                <a:latin typeface="Tahoma" panose="020B0604030504040204" pitchFamily="34" charset="0"/>
                <a:ea typeface="隶书" panose="02010509060101010101" pitchFamily="49" charset="-122"/>
              </a:rPr>
              <a:t>，当</a:t>
            </a:r>
            <a:r>
              <a:rPr kumimoji="1" lang="zh-CN" altLang="en-US" b="1">
                <a:solidFill>
                  <a:srgbClr val="FF0000"/>
                </a:solidFill>
                <a:latin typeface="Tahoma" panose="020B0604030504040204" pitchFamily="34" charset="0"/>
                <a:ea typeface="隶书" panose="02010509060101010101" pitchFamily="49" charset="-122"/>
              </a:rPr>
              <a:t>输出接受时</a:t>
            </a:r>
            <a:r>
              <a:rPr kumimoji="1" lang="zh-CN" altLang="en-US" b="1">
                <a:solidFill>
                  <a:schemeClr val="tx1"/>
                </a:solidFill>
                <a:latin typeface="Tahoma" panose="020B0604030504040204" pitchFamily="34" charset="0"/>
                <a:ea typeface="隶书" panose="02010509060101010101" pitchFamily="49" charset="-122"/>
              </a:rPr>
              <a:t>，只能知道输入</a:t>
            </a:r>
            <a:r>
              <a:rPr kumimoji="1" lang="zh-CN" altLang="en-US" b="1">
                <a:solidFill>
                  <a:srgbClr val="FF0000"/>
                </a:solidFill>
                <a:latin typeface="Tahoma" panose="020B0604030504040204" pitchFamily="34" charset="0"/>
                <a:ea typeface="隶书" panose="02010509060101010101" pitchFamily="49" charset="-122"/>
              </a:rPr>
              <a:t>可能是素数</a:t>
            </a:r>
            <a:r>
              <a:rPr kumimoji="1" lang="zh-CN" altLang="en-US" b="1">
                <a:solidFill>
                  <a:schemeClr val="tx1"/>
                </a:solidFill>
                <a:latin typeface="Tahoma" panose="020B0604030504040204" pitchFamily="34" charset="0"/>
                <a:ea typeface="隶书" panose="020105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02">
                                            <p:txEl>
                                              <p:pRg st="0" end="0"/>
                                            </p:txEl>
                                          </p:spTgt>
                                        </p:tgtEl>
                                        <p:attrNameLst>
                                          <p:attrName>style.visibility</p:attrName>
                                        </p:attrNameLst>
                                      </p:cBhvr>
                                      <p:to>
                                        <p:strVal val="visible"/>
                                      </p:to>
                                    </p:set>
                                    <p:animEffect transition="in" filter="wipe(left)">
                                      <p:cBhvr>
                                        <p:cTn id="7" dur="500"/>
                                        <p:tgtEl>
                                          <p:spTgt spid="3154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5402">
                                            <p:txEl>
                                              <p:pRg st="1" end="1"/>
                                            </p:txEl>
                                          </p:spTgt>
                                        </p:tgtEl>
                                        <p:attrNameLst>
                                          <p:attrName>style.visibility</p:attrName>
                                        </p:attrNameLst>
                                      </p:cBhvr>
                                      <p:to>
                                        <p:strVal val="visible"/>
                                      </p:to>
                                    </p:set>
                                    <p:animEffect transition="in" filter="wipe(left)">
                                      <p:cBhvr>
                                        <p:cTn id="12" dur="500"/>
                                        <p:tgtEl>
                                          <p:spTgt spid="3154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5402">
                                            <p:txEl>
                                              <p:pRg st="2" end="2"/>
                                            </p:txEl>
                                          </p:spTgt>
                                        </p:tgtEl>
                                        <p:attrNameLst>
                                          <p:attrName>style.visibility</p:attrName>
                                        </p:attrNameLst>
                                      </p:cBhvr>
                                      <p:to>
                                        <p:strVal val="visible"/>
                                      </p:to>
                                    </p:set>
                                    <p:animEffect transition="in" filter="wipe(left)">
                                      <p:cBhvr>
                                        <p:cTn id="17" dur="500"/>
                                        <p:tgtEl>
                                          <p:spTgt spid="3154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a:extLst>
              <a:ext uri="{FF2B5EF4-FFF2-40B4-BE49-F238E27FC236}">
                <a16:creationId xmlns:a16="http://schemas.microsoft.com/office/drawing/2014/main" id="{D01A46E5-30AF-4CD8-846A-3080A4CAD0A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DE14A177-A346-4A0E-A145-DE5BCCA1D30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1987" name="灯片编号占位符 4">
            <a:extLst>
              <a:ext uri="{FF2B5EF4-FFF2-40B4-BE49-F238E27FC236}">
                <a16:creationId xmlns:a16="http://schemas.microsoft.com/office/drawing/2014/main" id="{0200D76D-0977-445E-8C00-E4DF9B4B11F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227C2E8D-A866-4C39-8234-1AE7923BA47F}"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39</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4370" name="Rectangle 2">
            <a:extLst>
              <a:ext uri="{FF2B5EF4-FFF2-40B4-BE49-F238E27FC236}">
                <a16:creationId xmlns:a16="http://schemas.microsoft.com/office/drawing/2014/main" id="{627BFE81-E47F-4465-BB40-8EAB63368495}"/>
              </a:ext>
            </a:extLst>
          </p:cNvPr>
          <p:cNvSpPr>
            <a:spLocks noGrp="1" noChangeArrowheads="1"/>
          </p:cNvSpPr>
          <p:nvPr>
            <p:ph type="title"/>
          </p:nvPr>
        </p:nvSpPr>
        <p:spPr/>
        <p:txBody>
          <a:bodyPr anchor="ctr"/>
          <a:lstStyle/>
          <a:p>
            <a:pPr>
              <a:defRPr/>
            </a:pPr>
            <a:r>
              <a:rPr lang="zh-CN" altLang="en-US" dirty="0"/>
              <a:t>一些扩展的随机问题</a:t>
            </a:r>
          </a:p>
        </p:txBody>
      </p:sp>
      <p:sp>
        <p:nvSpPr>
          <p:cNvPr id="36869" name="Text Box 3">
            <a:extLst>
              <a:ext uri="{FF2B5EF4-FFF2-40B4-BE49-F238E27FC236}">
                <a16:creationId xmlns:a16="http://schemas.microsoft.com/office/drawing/2014/main" id="{6FFE0B51-7147-40B5-B542-E68CC144509A}"/>
              </a:ext>
            </a:extLst>
          </p:cNvPr>
          <p:cNvSpPr txBox="1">
            <a:spLocks noChangeArrowheads="1"/>
          </p:cNvSpPr>
          <p:nvPr/>
        </p:nvSpPr>
        <p:spPr bwMode="auto">
          <a:xfrm>
            <a:off x="204788" y="1870075"/>
            <a:ext cx="88646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solidFill>
                  <a:srgbClr val="3333FF"/>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随机方法证明：</a:t>
            </a:r>
            <a:b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b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随机对图中的顶点进行两种颜色着色来决定图的二分。当一条边的两个端点染不同颜色的时候，这条边被选到解（二分图）中。由于每个顶点是独立被染色，所以每条边有</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1/2</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的概率被选到解中。由线性期望可知，平均每次有</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1/2</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的边被选到解中。因此必定存在一种染色，有</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1/2</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的边在解中。           </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
        <p:nvSpPr>
          <p:cNvPr id="8" name="Freeform 4">
            <a:extLst>
              <a:ext uri="{FF2B5EF4-FFF2-40B4-BE49-F238E27FC236}">
                <a16:creationId xmlns:a16="http://schemas.microsoft.com/office/drawing/2014/main" id="{29CA0389-4CBA-4469-8E6F-3BCBFA0E0B8E}"/>
              </a:ext>
            </a:extLst>
          </p:cNvPr>
          <p:cNvSpPr>
            <a:spLocks/>
          </p:cNvSpPr>
          <p:nvPr/>
        </p:nvSpPr>
        <p:spPr bwMode="gray">
          <a:xfrm>
            <a:off x="522288" y="1273175"/>
            <a:ext cx="563562" cy="53181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41991" name="AutoShape 5">
            <a:extLst>
              <a:ext uri="{FF2B5EF4-FFF2-40B4-BE49-F238E27FC236}">
                <a16:creationId xmlns:a16="http://schemas.microsoft.com/office/drawing/2014/main" id="{95F8ACCD-3AC5-402F-B895-C4055E93BA67}"/>
              </a:ext>
            </a:extLst>
          </p:cNvPr>
          <p:cNvSpPr>
            <a:spLocks noChangeArrowheads="1"/>
          </p:cNvSpPr>
          <p:nvPr/>
        </p:nvSpPr>
        <p:spPr bwMode="gray">
          <a:xfrm>
            <a:off x="285750" y="1052513"/>
            <a:ext cx="8596313" cy="504825"/>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0" name="AutoShape 6">
            <a:extLst>
              <a:ext uri="{FF2B5EF4-FFF2-40B4-BE49-F238E27FC236}">
                <a16:creationId xmlns:a16="http://schemas.microsoft.com/office/drawing/2014/main" id="{4E691DFB-31E0-4496-8C52-FAF0ACED42B0}"/>
              </a:ext>
            </a:extLst>
          </p:cNvPr>
          <p:cNvSpPr>
            <a:spLocks noChangeArrowheads="1"/>
          </p:cNvSpPr>
          <p:nvPr/>
        </p:nvSpPr>
        <p:spPr bwMode="gray">
          <a:xfrm>
            <a:off x="450850" y="1095375"/>
            <a:ext cx="1130300" cy="382588"/>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12" name="Text Box 8">
            <a:extLst>
              <a:ext uri="{FF2B5EF4-FFF2-40B4-BE49-F238E27FC236}">
                <a16:creationId xmlns:a16="http://schemas.microsoft.com/office/drawing/2014/main" id="{B56C4D97-829E-44A6-B1E5-E0B013B8FD28}"/>
              </a:ext>
            </a:extLst>
          </p:cNvPr>
          <p:cNvSpPr txBox="1">
            <a:spLocks noChangeArrowheads="1"/>
          </p:cNvSpPr>
          <p:nvPr/>
        </p:nvSpPr>
        <p:spPr bwMode="gray">
          <a:xfrm>
            <a:off x="555625" y="1027113"/>
            <a:ext cx="974725" cy="457200"/>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问题</a:t>
            </a:r>
            <a:endParaRPr lang="en-US" altLang="zh-CN" sz="2400" b="1" dirty="0">
              <a:effectLst>
                <a:outerShdw blurRad="38100" dist="38100" dir="2700000" algn="tl">
                  <a:srgbClr val="C0C0C0"/>
                </a:outerShdw>
              </a:effectLst>
              <a:latin typeface="+mj-ea"/>
              <a:ea typeface="+mj-ea"/>
            </a:endParaRPr>
          </a:p>
        </p:txBody>
      </p:sp>
      <p:sp>
        <p:nvSpPr>
          <p:cNvPr id="41994" name="Text Box 9">
            <a:extLst>
              <a:ext uri="{FF2B5EF4-FFF2-40B4-BE49-F238E27FC236}">
                <a16:creationId xmlns:a16="http://schemas.microsoft.com/office/drawing/2014/main" id="{E68725D4-2FF3-4BAC-9C26-310E70FC53E4}"/>
              </a:ext>
            </a:extLst>
          </p:cNvPr>
          <p:cNvSpPr txBox="1">
            <a:spLocks noChangeArrowheads="1"/>
          </p:cNvSpPr>
          <p:nvPr/>
        </p:nvSpPr>
        <p:spPr bwMode="gray">
          <a:xfrm>
            <a:off x="1609725" y="1066800"/>
            <a:ext cx="7316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15000"/>
              </a:lnSpc>
              <a:spcBef>
                <a:spcPct val="15000"/>
              </a:spcBef>
              <a:buClrTx/>
              <a:buSzTx/>
              <a:buFontTx/>
              <a:buNone/>
            </a:pPr>
            <a:r>
              <a:rPr lang="zh-CN" altLang="en-US" sz="1800" b="1">
                <a:solidFill>
                  <a:schemeClr val="tx1"/>
                </a:solidFill>
                <a:latin typeface="Tahoma" panose="020B0604030504040204" pitchFamily="34" charset="0"/>
                <a:cs typeface="Tahoma" panose="020B0604030504040204" pitchFamily="34" charset="0"/>
              </a:rPr>
              <a:t>证明对任意一个图，都存在一个二分子图包含了原图中最少一半的边</a:t>
            </a:r>
            <a:r>
              <a:rPr lang="zh-CN" altLang="en-US" sz="1800" b="1">
                <a:solidFill>
                  <a:schemeClr val="tx1"/>
                </a:solidFill>
                <a:latin typeface="Tahoma" panose="020B0604030504040204" pitchFamily="34" charset="0"/>
                <a:ea typeface="隶书" panose="02010509060101010101" pitchFamily="49" charset="-122"/>
                <a:cs typeface="Tahoma" panose="020B0604030504040204" pitchFamily="34" charset="0"/>
              </a:rPr>
              <a:t>。</a:t>
            </a:r>
          </a:p>
        </p:txBody>
      </p:sp>
      <p:sp>
        <p:nvSpPr>
          <p:cNvPr id="14" name="Text Box 3">
            <a:extLst>
              <a:ext uri="{FF2B5EF4-FFF2-40B4-BE49-F238E27FC236}">
                <a16:creationId xmlns:a16="http://schemas.microsoft.com/office/drawing/2014/main" id="{04EBCF94-9FB3-4249-ADB3-9FE81AF19605}"/>
              </a:ext>
            </a:extLst>
          </p:cNvPr>
          <p:cNvSpPr txBox="1">
            <a:spLocks noChangeArrowheads="1"/>
          </p:cNvSpPr>
          <p:nvPr/>
        </p:nvSpPr>
        <p:spPr bwMode="auto">
          <a:xfrm>
            <a:off x="179388" y="4619625"/>
            <a:ext cx="8866187"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solidFill>
                  <a:srgbClr val="3333FF"/>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该随机方法特性</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b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b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证明了存在性却没具体给出一个解；</a:t>
            </a:r>
            <a:endPar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a:p>
            <a:pPr>
              <a:lnSpc>
                <a:spcPts val="3200"/>
              </a:lnSpc>
              <a:spcBef>
                <a:spcPct val="0"/>
              </a:spcBef>
              <a:buClrTx/>
              <a:buSzTx/>
              <a:buFontTx/>
              <a:buNone/>
            </a:pP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可以直接用该随机方法去找一个解，随着随机运行次数的增加，找到的概率越来越大。但不能</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100%</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保证在多少时间内一定找到。           </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wipe(left)">
                                      <p:cBhvr>
                                        <p:cTn id="7" dur="500"/>
                                        <p:tgtEl>
                                          <p:spTgt spid="368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a:extLst>
              <a:ext uri="{FF2B5EF4-FFF2-40B4-BE49-F238E27FC236}">
                <a16:creationId xmlns:a16="http://schemas.microsoft.com/office/drawing/2014/main" id="{E8B238F5-272F-42C9-A5F0-02F755BC42B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DA78166E-D168-4193-8005-DE536C98096A}"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3011" name="灯片编号占位符 4">
            <a:extLst>
              <a:ext uri="{FF2B5EF4-FFF2-40B4-BE49-F238E27FC236}">
                <a16:creationId xmlns:a16="http://schemas.microsoft.com/office/drawing/2014/main" id="{18FED03B-D020-496D-86E8-8563E863FF2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C1A8228A-00D2-4E4F-AF14-0A1992C391B7}"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40</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4370" name="Rectangle 2">
            <a:extLst>
              <a:ext uri="{FF2B5EF4-FFF2-40B4-BE49-F238E27FC236}">
                <a16:creationId xmlns:a16="http://schemas.microsoft.com/office/drawing/2014/main" id="{5DA66497-C95D-4C11-80F4-B8C5AE528AC3}"/>
              </a:ext>
            </a:extLst>
          </p:cNvPr>
          <p:cNvSpPr>
            <a:spLocks noGrp="1" noChangeArrowheads="1"/>
          </p:cNvSpPr>
          <p:nvPr>
            <p:ph type="title"/>
          </p:nvPr>
        </p:nvSpPr>
        <p:spPr/>
        <p:txBody>
          <a:bodyPr anchor="ctr"/>
          <a:lstStyle/>
          <a:p>
            <a:pPr>
              <a:defRPr/>
            </a:pPr>
            <a:r>
              <a:rPr lang="zh-CN" altLang="en-US" dirty="0"/>
              <a:t>一些扩展的随机问题</a:t>
            </a:r>
          </a:p>
        </p:txBody>
      </p:sp>
      <p:sp>
        <p:nvSpPr>
          <p:cNvPr id="43013" name="Text Box 3">
            <a:extLst>
              <a:ext uri="{FF2B5EF4-FFF2-40B4-BE49-F238E27FC236}">
                <a16:creationId xmlns:a16="http://schemas.microsoft.com/office/drawing/2014/main" id="{43F9BFBE-409F-4483-BAC6-75CAE74674CD}"/>
              </a:ext>
            </a:extLst>
          </p:cNvPr>
          <p:cNvSpPr txBox="1">
            <a:spLocks noChangeArrowheads="1"/>
          </p:cNvSpPr>
          <p:nvPr/>
        </p:nvSpPr>
        <p:spPr bwMode="auto">
          <a:xfrm>
            <a:off x="204788" y="1870075"/>
            <a:ext cx="886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这是一道多年前的国际数学奥林匹克竞赛题。</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
        <p:nvSpPr>
          <p:cNvPr id="8" name="Freeform 4">
            <a:extLst>
              <a:ext uri="{FF2B5EF4-FFF2-40B4-BE49-F238E27FC236}">
                <a16:creationId xmlns:a16="http://schemas.microsoft.com/office/drawing/2014/main" id="{29738700-B021-4F65-B243-B03BF787F30C}"/>
              </a:ext>
            </a:extLst>
          </p:cNvPr>
          <p:cNvSpPr>
            <a:spLocks/>
          </p:cNvSpPr>
          <p:nvPr/>
        </p:nvSpPr>
        <p:spPr bwMode="gray">
          <a:xfrm>
            <a:off x="522288" y="1273175"/>
            <a:ext cx="563562" cy="53181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43015" name="AutoShape 5">
            <a:extLst>
              <a:ext uri="{FF2B5EF4-FFF2-40B4-BE49-F238E27FC236}">
                <a16:creationId xmlns:a16="http://schemas.microsoft.com/office/drawing/2014/main" id="{9E00762B-F5D4-463F-831D-63E503A1ACEC}"/>
              </a:ext>
            </a:extLst>
          </p:cNvPr>
          <p:cNvSpPr>
            <a:spLocks noChangeArrowheads="1"/>
          </p:cNvSpPr>
          <p:nvPr/>
        </p:nvSpPr>
        <p:spPr bwMode="gray">
          <a:xfrm>
            <a:off x="285750" y="1052513"/>
            <a:ext cx="8596313" cy="504825"/>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0" name="AutoShape 6">
            <a:extLst>
              <a:ext uri="{FF2B5EF4-FFF2-40B4-BE49-F238E27FC236}">
                <a16:creationId xmlns:a16="http://schemas.microsoft.com/office/drawing/2014/main" id="{C1812088-EA27-4226-AC78-C36A29CBE9FF}"/>
              </a:ext>
            </a:extLst>
          </p:cNvPr>
          <p:cNvSpPr>
            <a:spLocks noChangeArrowheads="1"/>
          </p:cNvSpPr>
          <p:nvPr/>
        </p:nvSpPr>
        <p:spPr bwMode="gray">
          <a:xfrm>
            <a:off x="450850" y="1095375"/>
            <a:ext cx="1130300" cy="382588"/>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12" name="Text Box 8">
            <a:extLst>
              <a:ext uri="{FF2B5EF4-FFF2-40B4-BE49-F238E27FC236}">
                <a16:creationId xmlns:a16="http://schemas.microsoft.com/office/drawing/2014/main" id="{C0FAF380-CE3C-446E-974D-0F28BDA710EF}"/>
              </a:ext>
            </a:extLst>
          </p:cNvPr>
          <p:cNvSpPr txBox="1">
            <a:spLocks noChangeArrowheads="1"/>
          </p:cNvSpPr>
          <p:nvPr/>
        </p:nvSpPr>
        <p:spPr bwMode="gray">
          <a:xfrm>
            <a:off x="555625" y="1027113"/>
            <a:ext cx="974725" cy="457200"/>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问题</a:t>
            </a:r>
            <a:endParaRPr lang="en-US" altLang="zh-CN" sz="2400" b="1" dirty="0">
              <a:effectLst>
                <a:outerShdw blurRad="38100" dist="38100" dir="2700000" algn="tl">
                  <a:srgbClr val="C0C0C0"/>
                </a:outerShdw>
              </a:effectLst>
              <a:latin typeface="+mj-ea"/>
              <a:ea typeface="+mj-ea"/>
            </a:endParaRPr>
          </a:p>
        </p:txBody>
      </p:sp>
      <p:sp>
        <p:nvSpPr>
          <p:cNvPr id="13" name="Text Box 9">
            <a:extLst>
              <a:ext uri="{FF2B5EF4-FFF2-40B4-BE49-F238E27FC236}">
                <a16:creationId xmlns:a16="http://schemas.microsoft.com/office/drawing/2014/main" id="{7D90C88F-BF81-4EA5-93FB-3EA87ADBECA3}"/>
              </a:ext>
            </a:extLst>
          </p:cNvPr>
          <p:cNvSpPr txBox="1">
            <a:spLocks noChangeArrowheads="1"/>
          </p:cNvSpPr>
          <p:nvPr/>
        </p:nvSpPr>
        <p:spPr bwMode="gray">
          <a:xfrm>
            <a:off x="1609725" y="1066800"/>
            <a:ext cx="7316788" cy="41116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zh-CN" altLang="en-US" sz="1800" b="1" dirty="0">
                <a:solidFill>
                  <a:schemeClr val="tx1"/>
                </a:solidFill>
                <a:latin typeface="Tahoma" pitchFamily="34" charset="0"/>
                <a:ea typeface="+mj-ea"/>
                <a:cs typeface="Tahoma" pitchFamily="34" charset="0"/>
              </a:rPr>
              <a:t>证明世界上任意六人中总有三人相互认识或者相互不认识。</a:t>
            </a:r>
          </a:p>
        </p:txBody>
      </p:sp>
      <p:sp>
        <p:nvSpPr>
          <p:cNvPr id="15" name="Freeform 4">
            <a:extLst>
              <a:ext uri="{FF2B5EF4-FFF2-40B4-BE49-F238E27FC236}">
                <a16:creationId xmlns:a16="http://schemas.microsoft.com/office/drawing/2014/main" id="{D2BED01F-E2F8-41F6-A1AB-336669A5FB7F}"/>
              </a:ext>
            </a:extLst>
          </p:cNvPr>
          <p:cNvSpPr>
            <a:spLocks/>
          </p:cNvSpPr>
          <p:nvPr/>
        </p:nvSpPr>
        <p:spPr bwMode="gray">
          <a:xfrm>
            <a:off x="560388" y="3113088"/>
            <a:ext cx="563562" cy="531812"/>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43020" name="AutoShape 5">
            <a:extLst>
              <a:ext uri="{FF2B5EF4-FFF2-40B4-BE49-F238E27FC236}">
                <a16:creationId xmlns:a16="http://schemas.microsoft.com/office/drawing/2014/main" id="{6C8CB16D-11E2-4449-9888-56A6921AB4B8}"/>
              </a:ext>
            </a:extLst>
          </p:cNvPr>
          <p:cNvSpPr>
            <a:spLocks noChangeArrowheads="1"/>
          </p:cNvSpPr>
          <p:nvPr/>
        </p:nvSpPr>
        <p:spPr bwMode="gray">
          <a:xfrm>
            <a:off x="323850" y="2892425"/>
            <a:ext cx="8596313" cy="744538"/>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7" name="AutoShape 6">
            <a:extLst>
              <a:ext uri="{FF2B5EF4-FFF2-40B4-BE49-F238E27FC236}">
                <a16:creationId xmlns:a16="http://schemas.microsoft.com/office/drawing/2014/main" id="{9C5A900A-DE37-4CCE-A492-64AB1D10574C}"/>
              </a:ext>
            </a:extLst>
          </p:cNvPr>
          <p:cNvSpPr>
            <a:spLocks noChangeArrowheads="1"/>
          </p:cNvSpPr>
          <p:nvPr/>
        </p:nvSpPr>
        <p:spPr bwMode="gray">
          <a:xfrm>
            <a:off x="488950" y="2935288"/>
            <a:ext cx="1130300" cy="382587"/>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18" name="Text Box 8">
            <a:extLst>
              <a:ext uri="{FF2B5EF4-FFF2-40B4-BE49-F238E27FC236}">
                <a16:creationId xmlns:a16="http://schemas.microsoft.com/office/drawing/2014/main" id="{0DE30421-DD9F-4950-827B-24647671E6C1}"/>
              </a:ext>
            </a:extLst>
          </p:cNvPr>
          <p:cNvSpPr txBox="1">
            <a:spLocks noChangeArrowheads="1"/>
          </p:cNvSpPr>
          <p:nvPr/>
        </p:nvSpPr>
        <p:spPr bwMode="gray">
          <a:xfrm>
            <a:off x="593725" y="2868613"/>
            <a:ext cx="974725" cy="460375"/>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定义</a:t>
            </a:r>
            <a:endParaRPr lang="en-US" altLang="zh-CN" sz="2400" b="1" dirty="0">
              <a:effectLst>
                <a:outerShdw blurRad="38100" dist="38100" dir="2700000" algn="tl">
                  <a:srgbClr val="C0C0C0"/>
                </a:outerShdw>
              </a:effectLst>
              <a:latin typeface="+mj-ea"/>
              <a:ea typeface="+mj-ea"/>
            </a:endParaRPr>
          </a:p>
        </p:txBody>
      </p:sp>
      <p:sp>
        <p:nvSpPr>
          <p:cNvPr id="19" name="Text Box 9">
            <a:extLst>
              <a:ext uri="{FF2B5EF4-FFF2-40B4-BE49-F238E27FC236}">
                <a16:creationId xmlns:a16="http://schemas.microsoft.com/office/drawing/2014/main" id="{F60CAD86-EE58-4257-AC58-1800164B55A8}"/>
              </a:ext>
            </a:extLst>
          </p:cNvPr>
          <p:cNvSpPr txBox="1">
            <a:spLocks noChangeArrowheads="1"/>
          </p:cNvSpPr>
          <p:nvPr/>
        </p:nvSpPr>
        <p:spPr bwMode="gray">
          <a:xfrm>
            <a:off x="1647825" y="2906713"/>
            <a:ext cx="7316788" cy="730250"/>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en-US" altLang="zh-CN" sz="1800" b="1" dirty="0">
                <a:solidFill>
                  <a:srgbClr val="7030A0"/>
                </a:solidFill>
                <a:latin typeface="Tahoma" pitchFamily="34" charset="0"/>
                <a:ea typeface="+mj-ea"/>
                <a:cs typeface="Tahoma" pitchFamily="34" charset="0"/>
              </a:rPr>
              <a:t>Ramsey</a:t>
            </a:r>
            <a:r>
              <a:rPr lang="zh-CN" altLang="en-US" sz="1800" b="1" dirty="0">
                <a:solidFill>
                  <a:srgbClr val="7030A0"/>
                </a:solidFill>
                <a:latin typeface="Tahoma" pitchFamily="34" charset="0"/>
                <a:ea typeface="+mj-ea"/>
                <a:cs typeface="Tahoma" pitchFamily="34" charset="0"/>
              </a:rPr>
              <a:t>数 </a:t>
            </a:r>
            <a:r>
              <a:rPr lang="en-US" altLang="zh-CN" sz="1800" b="1" i="1" dirty="0">
                <a:solidFill>
                  <a:srgbClr val="7030A0"/>
                </a:solidFill>
                <a:latin typeface="Tahoma" pitchFamily="34" charset="0"/>
                <a:ea typeface="+mj-ea"/>
                <a:cs typeface="Tahoma" pitchFamily="34" charset="0"/>
              </a:rPr>
              <a:t>R(</a:t>
            </a:r>
            <a:r>
              <a:rPr lang="en-US" altLang="zh-CN" sz="1800" b="1" i="1" dirty="0" err="1">
                <a:solidFill>
                  <a:srgbClr val="7030A0"/>
                </a:solidFill>
                <a:latin typeface="Tahoma" pitchFamily="34" charset="0"/>
                <a:ea typeface="+mj-ea"/>
                <a:cs typeface="Tahoma" pitchFamily="34" charset="0"/>
              </a:rPr>
              <a:t>k,l</a:t>
            </a:r>
            <a:r>
              <a:rPr lang="en-US" altLang="zh-CN" sz="1800" b="1" i="1" dirty="0">
                <a:solidFill>
                  <a:srgbClr val="7030A0"/>
                </a:solidFill>
                <a:latin typeface="Tahoma" pitchFamily="34" charset="0"/>
                <a:ea typeface="+mj-ea"/>
                <a:cs typeface="Tahoma" pitchFamily="34" charset="0"/>
              </a:rPr>
              <a:t>)</a:t>
            </a:r>
            <a:r>
              <a:rPr lang="en-US" altLang="zh-CN" sz="1800" b="1" dirty="0">
                <a:solidFill>
                  <a:schemeClr val="tx1"/>
                </a:solidFill>
                <a:latin typeface="Tahoma" pitchFamily="34" charset="0"/>
                <a:ea typeface="+mj-ea"/>
                <a:cs typeface="Tahoma" pitchFamily="34" charset="0"/>
              </a:rPr>
              <a:t>: </a:t>
            </a:r>
            <a:r>
              <a:rPr lang="zh-CN" altLang="en-US" sz="1800" b="1" dirty="0">
                <a:solidFill>
                  <a:schemeClr val="tx1"/>
                </a:solidFill>
                <a:latin typeface="Tahoma" pitchFamily="34" charset="0"/>
                <a:ea typeface="+mj-ea"/>
                <a:cs typeface="Tahoma" pitchFamily="34" charset="0"/>
              </a:rPr>
              <a:t>最少顶点数</a:t>
            </a:r>
            <a:r>
              <a:rPr lang="en-US" altLang="zh-CN" sz="1800" b="1" dirty="0">
                <a:solidFill>
                  <a:schemeClr val="tx1"/>
                </a:solidFill>
                <a:latin typeface="Tahoma" pitchFamily="34" charset="0"/>
                <a:ea typeface="+mj-ea"/>
                <a:cs typeface="Tahoma" pitchFamily="34" charset="0"/>
              </a:rPr>
              <a:t>n</a:t>
            </a:r>
            <a:r>
              <a:rPr lang="zh-CN" altLang="en-US" sz="1800" b="1" dirty="0">
                <a:solidFill>
                  <a:schemeClr val="tx1"/>
                </a:solidFill>
                <a:latin typeface="Tahoma" pitchFamily="34" charset="0"/>
                <a:ea typeface="+mj-ea"/>
                <a:cs typeface="Tahoma" pitchFamily="34" charset="0"/>
              </a:rPr>
              <a:t>的完全图，使得无论对该完全图的所有边</a:t>
            </a:r>
            <a:r>
              <a:rPr lang="en-US" altLang="zh-CN" sz="1800" b="1" dirty="0">
                <a:solidFill>
                  <a:schemeClr val="tx1"/>
                </a:solidFill>
                <a:latin typeface="Tahoma" pitchFamily="34" charset="0"/>
                <a:ea typeface="+mj-ea"/>
                <a:cs typeface="Tahoma" pitchFamily="34" charset="0"/>
              </a:rPr>
              <a:t>2-</a:t>
            </a:r>
            <a:r>
              <a:rPr lang="zh-CN" altLang="en-US" sz="1800" b="1" dirty="0">
                <a:solidFill>
                  <a:schemeClr val="tx1"/>
                </a:solidFill>
                <a:latin typeface="Tahoma" pitchFamily="34" charset="0"/>
                <a:ea typeface="+mj-ea"/>
                <a:cs typeface="Tahoma" pitchFamily="34" charset="0"/>
              </a:rPr>
              <a:t>着色，总能存在一个红色的</a:t>
            </a:r>
            <a:r>
              <a:rPr lang="en-US" altLang="zh-CN" sz="1800" b="1" i="1" dirty="0">
                <a:solidFill>
                  <a:schemeClr val="tx1"/>
                </a:solidFill>
                <a:latin typeface="Tahoma" pitchFamily="34" charset="0"/>
                <a:ea typeface="+mj-ea"/>
                <a:cs typeface="Tahoma" pitchFamily="34" charset="0"/>
              </a:rPr>
              <a:t>k</a:t>
            </a:r>
            <a:r>
              <a:rPr lang="en-US" altLang="zh-CN" sz="1800" b="1" dirty="0">
                <a:solidFill>
                  <a:schemeClr val="tx1"/>
                </a:solidFill>
                <a:latin typeface="Tahoma" pitchFamily="34" charset="0"/>
                <a:ea typeface="+mj-ea"/>
                <a:cs typeface="Tahoma" pitchFamily="34" charset="0"/>
              </a:rPr>
              <a:t>-</a:t>
            </a:r>
            <a:r>
              <a:rPr lang="zh-CN" altLang="en-US" sz="1800" b="1" dirty="0">
                <a:solidFill>
                  <a:schemeClr val="tx1"/>
                </a:solidFill>
                <a:latin typeface="Tahoma" pitchFamily="34" charset="0"/>
                <a:ea typeface="+mj-ea"/>
                <a:cs typeface="Tahoma" pitchFamily="34" charset="0"/>
              </a:rPr>
              <a:t>完全图或者蓝色的</a:t>
            </a:r>
            <a:r>
              <a:rPr lang="en-US" altLang="zh-CN" sz="1800" b="1" i="1" dirty="0">
                <a:solidFill>
                  <a:schemeClr val="tx1"/>
                </a:solidFill>
                <a:latin typeface="Tahoma" pitchFamily="34" charset="0"/>
                <a:ea typeface="+mj-ea"/>
                <a:cs typeface="Tahoma" pitchFamily="34" charset="0"/>
              </a:rPr>
              <a:t>l</a:t>
            </a:r>
            <a:r>
              <a:rPr lang="en-US" altLang="zh-CN" sz="1800" b="1" dirty="0">
                <a:solidFill>
                  <a:schemeClr val="tx1"/>
                </a:solidFill>
                <a:latin typeface="Tahoma" pitchFamily="34" charset="0"/>
                <a:ea typeface="+mj-ea"/>
                <a:cs typeface="Tahoma" pitchFamily="34" charset="0"/>
              </a:rPr>
              <a:t>-</a:t>
            </a:r>
            <a:r>
              <a:rPr lang="zh-CN" altLang="en-US" sz="1800" b="1" dirty="0">
                <a:solidFill>
                  <a:schemeClr val="tx1"/>
                </a:solidFill>
                <a:latin typeface="Tahoma" pitchFamily="34" charset="0"/>
                <a:ea typeface="+mj-ea"/>
                <a:cs typeface="Tahoma" pitchFamily="34" charset="0"/>
              </a:rPr>
              <a:t>完全图。</a:t>
            </a:r>
          </a:p>
        </p:txBody>
      </p:sp>
      <p:sp>
        <p:nvSpPr>
          <p:cNvPr id="43024" name="矩形 1">
            <a:extLst>
              <a:ext uri="{FF2B5EF4-FFF2-40B4-BE49-F238E27FC236}">
                <a16:creationId xmlns:a16="http://schemas.microsoft.com/office/drawing/2014/main" id="{5CFC9378-FC20-44F3-A55A-BAA390E01BD3}"/>
              </a:ext>
            </a:extLst>
          </p:cNvPr>
          <p:cNvSpPr>
            <a:spLocks noChangeArrowheads="1"/>
          </p:cNvSpPr>
          <p:nvPr/>
        </p:nvSpPr>
        <p:spPr bwMode="auto">
          <a:xfrm>
            <a:off x="2771775" y="4933950"/>
            <a:ext cx="31400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pt-BR" altLang="zh-CN" sz="1600" i="1">
                <a:latin typeface="Helvetica" panose="020B0604020202020204" pitchFamily="34" charset="0"/>
                <a:ea typeface="宋体" panose="02010600030101010101" pitchFamily="2" charset="-122"/>
              </a:rPr>
              <a:t>R(</a:t>
            </a:r>
            <a:r>
              <a:rPr lang="en-US" altLang="zh-CN" sz="1600" i="1">
                <a:latin typeface="Helvetica" panose="020B0604020202020204" pitchFamily="34" charset="0"/>
                <a:ea typeface="宋体" panose="02010600030101010101" pitchFamily="2" charset="-122"/>
              </a:rPr>
              <a:t>k</a:t>
            </a:r>
            <a:r>
              <a:rPr lang="pt-BR" altLang="zh-CN" sz="1600" i="1">
                <a:latin typeface="Helvetica" panose="020B0604020202020204" pitchFamily="34" charset="0"/>
                <a:ea typeface="宋体" panose="02010600030101010101" pitchFamily="2" charset="-122"/>
              </a:rPr>
              <a:t>, l) ≤ R(k − 1, l) + R(k, l − 1)</a:t>
            </a:r>
            <a:endParaRPr lang="zh-CN" altLang="en-US" sz="1600" i="1">
              <a:latin typeface="Helvetica" panose="020B0604020202020204" pitchFamily="34" charset="0"/>
              <a:ea typeface="宋体" panose="02010600030101010101" pitchFamily="2" charset="-122"/>
            </a:endParaRPr>
          </a:p>
        </p:txBody>
      </p:sp>
      <p:sp>
        <p:nvSpPr>
          <p:cNvPr id="43025" name="Text Box 3">
            <a:extLst>
              <a:ext uri="{FF2B5EF4-FFF2-40B4-BE49-F238E27FC236}">
                <a16:creationId xmlns:a16="http://schemas.microsoft.com/office/drawing/2014/main" id="{D5E2F79A-7B3E-4BFD-868B-202F7C6F7DF4}"/>
              </a:ext>
            </a:extLst>
          </p:cNvPr>
          <p:cNvSpPr txBox="1">
            <a:spLocks noChangeArrowheads="1"/>
          </p:cNvSpPr>
          <p:nvPr/>
        </p:nvSpPr>
        <p:spPr bwMode="auto">
          <a:xfrm>
            <a:off x="107950" y="5487988"/>
            <a:ext cx="8866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以上公式可以证明。</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
        <p:nvSpPr>
          <p:cNvPr id="43026" name="Text Box 3">
            <a:extLst>
              <a:ext uri="{FF2B5EF4-FFF2-40B4-BE49-F238E27FC236}">
                <a16:creationId xmlns:a16="http://schemas.microsoft.com/office/drawing/2014/main" id="{7BD01493-0602-490B-9CFC-9825A0924E00}"/>
              </a:ext>
            </a:extLst>
          </p:cNvPr>
          <p:cNvSpPr txBox="1">
            <a:spLocks noChangeArrowheads="1"/>
          </p:cNvSpPr>
          <p:nvPr/>
        </p:nvSpPr>
        <p:spPr bwMode="auto">
          <a:xfrm>
            <a:off x="179388" y="4149725"/>
            <a:ext cx="886618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证明对于任意</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和</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l</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Ramsey</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数始终存在（一个有限的数）。</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5">
            <a:extLst>
              <a:ext uri="{FF2B5EF4-FFF2-40B4-BE49-F238E27FC236}">
                <a16:creationId xmlns:a16="http://schemas.microsoft.com/office/drawing/2014/main" id="{D8262656-FB37-423A-835D-9003FD3AA8E7}"/>
              </a:ext>
            </a:extLst>
          </p:cNvPr>
          <p:cNvSpPr>
            <a:spLocks noChangeArrowheads="1"/>
          </p:cNvSpPr>
          <p:nvPr/>
        </p:nvSpPr>
        <p:spPr bwMode="gray">
          <a:xfrm>
            <a:off x="250825" y="1844675"/>
            <a:ext cx="8631238" cy="2016125"/>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4035" name="日期占位符 3">
            <a:extLst>
              <a:ext uri="{FF2B5EF4-FFF2-40B4-BE49-F238E27FC236}">
                <a16:creationId xmlns:a16="http://schemas.microsoft.com/office/drawing/2014/main" id="{C34D9B1C-BE76-4A69-9A00-BDD9AB13C92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382AF768-0CA3-462F-83A0-34F6F4330C0D}"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4036" name="灯片编号占位符 4">
            <a:extLst>
              <a:ext uri="{FF2B5EF4-FFF2-40B4-BE49-F238E27FC236}">
                <a16:creationId xmlns:a16="http://schemas.microsoft.com/office/drawing/2014/main" id="{6315B6D9-7F94-49FC-B6F9-ADF8C888DB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19BBD0D-47B8-4437-B0AE-9B4DD4C85534}"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41</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14370" name="Rectangle 2">
            <a:extLst>
              <a:ext uri="{FF2B5EF4-FFF2-40B4-BE49-F238E27FC236}">
                <a16:creationId xmlns:a16="http://schemas.microsoft.com/office/drawing/2014/main" id="{78C1B5CF-7D93-4A37-BB89-18A628F3D6D2}"/>
              </a:ext>
            </a:extLst>
          </p:cNvPr>
          <p:cNvSpPr>
            <a:spLocks noGrp="1" noChangeArrowheads="1"/>
          </p:cNvSpPr>
          <p:nvPr>
            <p:ph type="title"/>
          </p:nvPr>
        </p:nvSpPr>
        <p:spPr/>
        <p:txBody>
          <a:bodyPr anchor="ctr"/>
          <a:lstStyle/>
          <a:p>
            <a:pPr>
              <a:defRPr/>
            </a:pPr>
            <a:r>
              <a:rPr lang="zh-CN" altLang="en-US" dirty="0"/>
              <a:t>一些扩展的随机问题</a:t>
            </a:r>
          </a:p>
        </p:txBody>
      </p:sp>
      <p:sp>
        <p:nvSpPr>
          <p:cNvPr id="44038" name="Text Box 3">
            <a:extLst>
              <a:ext uri="{FF2B5EF4-FFF2-40B4-BE49-F238E27FC236}">
                <a16:creationId xmlns:a16="http://schemas.microsoft.com/office/drawing/2014/main" id="{1F37AE50-08C4-4032-8732-C92267348246}"/>
              </a:ext>
            </a:extLst>
          </p:cNvPr>
          <p:cNvSpPr txBox="1">
            <a:spLocks noChangeArrowheads="1"/>
          </p:cNvSpPr>
          <p:nvPr/>
        </p:nvSpPr>
        <p:spPr bwMode="auto">
          <a:xfrm>
            <a:off x="204788" y="1870075"/>
            <a:ext cx="8864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对于满足如下条件的</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n</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sp>
        <p:nvSpPr>
          <p:cNvPr id="8" name="Freeform 4">
            <a:extLst>
              <a:ext uri="{FF2B5EF4-FFF2-40B4-BE49-F238E27FC236}">
                <a16:creationId xmlns:a16="http://schemas.microsoft.com/office/drawing/2014/main" id="{D338E2B3-E392-4536-9F9D-D6ACCAAEB43C}"/>
              </a:ext>
            </a:extLst>
          </p:cNvPr>
          <p:cNvSpPr>
            <a:spLocks/>
          </p:cNvSpPr>
          <p:nvPr/>
        </p:nvSpPr>
        <p:spPr bwMode="gray">
          <a:xfrm>
            <a:off x="522288" y="1273175"/>
            <a:ext cx="563562" cy="53181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zh-CN" altLang="en-US">
              <a:latin typeface="Helvetica" pitchFamily="2" charset="0"/>
            </a:endParaRPr>
          </a:p>
        </p:txBody>
      </p:sp>
      <p:sp>
        <p:nvSpPr>
          <p:cNvPr id="44040" name="AutoShape 5">
            <a:extLst>
              <a:ext uri="{FF2B5EF4-FFF2-40B4-BE49-F238E27FC236}">
                <a16:creationId xmlns:a16="http://schemas.microsoft.com/office/drawing/2014/main" id="{7A0DA5A5-6E19-447A-8988-66B8F826CF94}"/>
              </a:ext>
            </a:extLst>
          </p:cNvPr>
          <p:cNvSpPr>
            <a:spLocks noChangeArrowheads="1"/>
          </p:cNvSpPr>
          <p:nvPr/>
        </p:nvSpPr>
        <p:spPr bwMode="gray">
          <a:xfrm>
            <a:off x="285750" y="1052513"/>
            <a:ext cx="8596313" cy="504825"/>
          </a:xfrm>
          <a:prstGeom prst="roundRect">
            <a:avLst>
              <a:gd name="adj" fmla="val 10889"/>
            </a:avLst>
          </a:prstGeom>
          <a:gradFill rotWithShape="1">
            <a:gsLst>
              <a:gs pos="0">
                <a:srgbClr val="DDDDDD"/>
              </a:gs>
              <a:gs pos="50000">
                <a:srgbClr val="F3F3F3"/>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0" name="AutoShape 6">
            <a:extLst>
              <a:ext uri="{FF2B5EF4-FFF2-40B4-BE49-F238E27FC236}">
                <a16:creationId xmlns:a16="http://schemas.microsoft.com/office/drawing/2014/main" id="{EBF6B8B6-1AD6-4904-850D-140253E67154}"/>
              </a:ext>
            </a:extLst>
          </p:cNvPr>
          <p:cNvSpPr>
            <a:spLocks noChangeArrowheads="1"/>
          </p:cNvSpPr>
          <p:nvPr/>
        </p:nvSpPr>
        <p:spPr bwMode="gray">
          <a:xfrm>
            <a:off x="450850" y="1095375"/>
            <a:ext cx="1130300" cy="382588"/>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zh-CN" altLang="en-US">
              <a:latin typeface="Helvetica" pitchFamily="2" charset="0"/>
            </a:endParaRPr>
          </a:p>
        </p:txBody>
      </p:sp>
      <p:sp>
        <p:nvSpPr>
          <p:cNvPr id="12" name="Text Box 8">
            <a:extLst>
              <a:ext uri="{FF2B5EF4-FFF2-40B4-BE49-F238E27FC236}">
                <a16:creationId xmlns:a16="http://schemas.microsoft.com/office/drawing/2014/main" id="{764DB307-9CE9-4F83-A998-EAD1D5E7612D}"/>
              </a:ext>
            </a:extLst>
          </p:cNvPr>
          <p:cNvSpPr txBox="1">
            <a:spLocks noChangeArrowheads="1"/>
          </p:cNvSpPr>
          <p:nvPr/>
        </p:nvSpPr>
        <p:spPr bwMode="gray">
          <a:xfrm>
            <a:off x="555625" y="1027113"/>
            <a:ext cx="974725" cy="457200"/>
          </a:xfrm>
          <a:prstGeom prst="rect">
            <a:avLst/>
          </a:prstGeom>
          <a:noFill/>
          <a:ln w="9525" algn="ctr">
            <a:noFill/>
            <a:miter lim="800000"/>
            <a:headEnd/>
            <a:tailEnd/>
          </a:ln>
          <a:effectLst/>
        </p:spPr>
        <p:txBody>
          <a:bodyPr>
            <a:spAutoFit/>
          </a:bodyPr>
          <a:lstStyle/>
          <a:p>
            <a:pPr algn="ctr">
              <a:defRPr/>
            </a:pPr>
            <a:r>
              <a:rPr lang="zh-CN" altLang="en-US" sz="2400" b="1" dirty="0">
                <a:effectLst>
                  <a:outerShdw blurRad="38100" dist="38100" dir="2700000" algn="tl">
                    <a:srgbClr val="C0C0C0"/>
                  </a:outerShdw>
                </a:effectLst>
                <a:latin typeface="+mj-ea"/>
                <a:ea typeface="+mj-ea"/>
              </a:rPr>
              <a:t>问题</a:t>
            </a:r>
            <a:endParaRPr lang="en-US" altLang="zh-CN" sz="2400" b="1" dirty="0">
              <a:effectLst>
                <a:outerShdw blurRad="38100" dist="38100" dir="2700000" algn="tl">
                  <a:srgbClr val="C0C0C0"/>
                </a:outerShdw>
              </a:effectLst>
              <a:latin typeface="+mj-ea"/>
              <a:ea typeface="+mj-ea"/>
            </a:endParaRPr>
          </a:p>
        </p:txBody>
      </p:sp>
      <p:sp>
        <p:nvSpPr>
          <p:cNvPr id="13" name="Text Box 9">
            <a:extLst>
              <a:ext uri="{FF2B5EF4-FFF2-40B4-BE49-F238E27FC236}">
                <a16:creationId xmlns:a16="http://schemas.microsoft.com/office/drawing/2014/main" id="{CF311C99-8DCA-4051-996B-A5C8E4F5074D}"/>
              </a:ext>
            </a:extLst>
          </p:cNvPr>
          <p:cNvSpPr txBox="1">
            <a:spLocks noChangeArrowheads="1"/>
          </p:cNvSpPr>
          <p:nvPr/>
        </p:nvSpPr>
        <p:spPr bwMode="gray">
          <a:xfrm>
            <a:off x="1609725" y="1066800"/>
            <a:ext cx="7316788" cy="41116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15000"/>
              </a:lnSpc>
              <a:spcBef>
                <a:spcPct val="15000"/>
              </a:spcBef>
              <a:defRPr/>
            </a:pPr>
            <a:r>
              <a:rPr lang="zh-CN" altLang="en-US" sz="1800" b="1" dirty="0">
                <a:solidFill>
                  <a:schemeClr val="tx1"/>
                </a:solidFill>
                <a:latin typeface="Tahoma" pitchFamily="34" charset="0"/>
                <a:ea typeface="+mj-ea"/>
                <a:cs typeface="Tahoma" pitchFamily="34" charset="0"/>
              </a:rPr>
              <a:t>给出一个</a:t>
            </a:r>
            <a:r>
              <a:rPr lang="en-US" altLang="zh-CN" sz="1800" b="1" dirty="0">
                <a:solidFill>
                  <a:schemeClr val="tx1"/>
                </a:solidFill>
                <a:latin typeface="Tahoma" pitchFamily="34" charset="0"/>
                <a:ea typeface="+mj-ea"/>
                <a:cs typeface="Tahoma" pitchFamily="34" charset="0"/>
              </a:rPr>
              <a:t>R(</a:t>
            </a:r>
            <a:r>
              <a:rPr lang="en-US" altLang="zh-CN" sz="1800" b="1" dirty="0" err="1">
                <a:solidFill>
                  <a:schemeClr val="tx1"/>
                </a:solidFill>
                <a:latin typeface="Tahoma" pitchFamily="34" charset="0"/>
                <a:ea typeface="+mj-ea"/>
                <a:cs typeface="Tahoma" pitchFamily="34" charset="0"/>
              </a:rPr>
              <a:t>k,k</a:t>
            </a:r>
            <a:r>
              <a:rPr lang="en-US" altLang="zh-CN" sz="1800" b="1" dirty="0">
                <a:solidFill>
                  <a:schemeClr val="tx1"/>
                </a:solidFill>
                <a:latin typeface="Tahoma" pitchFamily="34" charset="0"/>
                <a:ea typeface="+mj-ea"/>
                <a:cs typeface="Tahoma" pitchFamily="34" charset="0"/>
              </a:rPr>
              <a:t>)</a:t>
            </a:r>
            <a:r>
              <a:rPr lang="zh-CN" altLang="en-US" sz="1800" b="1" dirty="0">
                <a:solidFill>
                  <a:schemeClr val="tx1"/>
                </a:solidFill>
                <a:latin typeface="Tahoma" pitchFamily="34" charset="0"/>
                <a:ea typeface="+mj-ea"/>
                <a:cs typeface="Tahoma" pitchFamily="34" charset="0"/>
              </a:rPr>
              <a:t>的下界。</a:t>
            </a:r>
          </a:p>
        </p:txBody>
      </p:sp>
      <p:sp>
        <p:nvSpPr>
          <p:cNvPr id="44044" name="Text Box 3">
            <a:extLst>
              <a:ext uri="{FF2B5EF4-FFF2-40B4-BE49-F238E27FC236}">
                <a16:creationId xmlns:a16="http://schemas.microsoft.com/office/drawing/2014/main" id="{100E98D5-8A6B-454E-BF98-BA8615B93DE2}"/>
              </a:ext>
            </a:extLst>
          </p:cNvPr>
          <p:cNvSpPr txBox="1">
            <a:spLocks noChangeArrowheads="1"/>
          </p:cNvSpPr>
          <p:nvPr/>
        </p:nvSpPr>
        <p:spPr bwMode="auto">
          <a:xfrm>
            <a:off x="285750" y="4119563"/>
            <a:ext cx="86106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概率证明方法：</a:t>
            </a:r>
            <a:b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b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对大小为</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n</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的完全图的所有边进行随机</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2</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染色。</a:t>
            </a:r>
            <a:b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b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对任意一个大小为</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的子图，其所有边染成相同色的概率是</a:t>
            </a:r>
            <a:endPar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总共有    个大小为</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k</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的子图，就算他们都独立，有一个染成同色的概率最多也就是</a:t>
            </a:r>
          </a:p>
        </p:txBody>
      </p:sp>
      <p:pic>
        <p:nvPicPr>
          <p:cNvPr id="44045" name="图片 2">
            <a:extLst>
              <a:ext uri="{FF2B5EF4-FFF2-40B4-BE49-F238E27FC236}">
                <a16:creationId xmlns:a16="http://schemas.microsoft.com/office/drawing/2014/main" id="{EBCBCB70-B510-4322-877C-0A0644116B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9475" y="2398713"/>
            <a:ext cx="19446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6" name="Text Box 3">
            <a:extLst>
              <a:ext uri="{FF2B5EF4-FFF2-40B4-BE49-F238E27FC236}">
                <a16:creationId xmlns:a16="http://schemas.microsoft.com/office/drawing/2014/main" id="{0578407C-A46A-407E-99E0-946B50D41E13}"/>
              </a:ext>
            </a:extLst>
          </p:cNvPr>
          <p:cNvSpPr txBox="1">
            <a:spLocks noChangeArrowheads="1"/>
          </p:cNvSpPr>
          <p:nvPr/>
        </p:nvSpPr>
        <p:spPr bwMode="auto">
          <a:xfrm>
            <a:off x="179388" y="3214688"/>
            <a:ext cx="886618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ts val="3200"/>
              </a:lnSpc>
              <a:spcBef>
                <a:spcPct val="0"/>
              </a:spcBef>
              <a:buClrTx/>
              <a:buSzTx/>
              <a:buFontTx/>
              <a:buNone/>
            </a:pP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    始终成立</a:t>
            </a:r>
            <a:r>
              <a:rPr lang="en-US" altLang="zh-CN">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R(k,k)&gt;n</a:t>
            </a:r>
            <a:r>
              <a:rPr lang="zh-CN" altLang="en-US">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rPr>
              <a:t>。</a:t>
            </a:r>
            <a:endParaRPr lang="zh-CN" altLang="en-US" sz="2000">
              <a:solidFill>
                <a:schemeClr val="tx1"/>
              </a:solidFill>
              <a:latin typeface="Tahoma" panose="020B0604030504040204" pitchFamily="34" charset="0"/>
              <a:ea typeface="隶书" panose="02010509060101010101" pitchFamily="49" charset="-122"/>
              <a:cs typeface="Tahoma" panose="020B0604030504040204" pitchFamily="34" charset="0"/>
              <a:sym typeface="Symbol" panose="05050102010706020507" pitchFamily="18" charset="2"/>
            </a:endParaRPr>
          </a:p>
        </p:txBody>
      </p:sp>
      <p:graphicFrame>
        <p:nvGraphicFramePr>
          <p:cNvPr id="44047" name="对象 3">
            <a:extLst>
              <a:ext uri="{FF2B5EF4-FFF2-40B4-BE49-F238E27FC236}">
                <a16:creationId xmlns:a16="http://schemas.microsoft.com/office/drawing/2014/main" id="{5069385B-F8E8-4387-AAC5-BB774B7273B7}"/>
              </a:ext>
            </a:extLst>
          </p:cNvPr>
          <p:cNvGraphicFramePr>
            <a:graphicFrameLocks noChangeAspect="1"/>
          </p:cNvGraphicFramePr>
          <p:nvPr/>
        </p:nvGraphicFramePr>
        <p:xfrm>
          <a:off x="8196263" y="4868863"/>
          <a:ext cx="485775" cy="504825"/>
        </p:xfrm>
        <a:graphic>
          <a:graphicData uri="http://schemas.openxmlformats.org/presentationml/2006/ole">
            <mc:AlternateContent xmlns:mc="http://schemas.openxmlformats.org/markup-compatibility/2006">
              <mc:Choice xmlns:v="urn:schemas-microsoft-com:vml" Requires="v">
                <p:oleObj name="Equation" r:id="rId3" imgW="330057" imgH="342751" progId="Equation.DSMT4">
                  <p:embed/>
                </p:oleObj>
              </mc:Choice>
              <mc:Fallback>
                <p:oleObj name="Equation" r:id="rId3" imgW="330057" imgH="342751" progId="Equation.DSMT4">
                  <p:embed/>
                  <p:pic>
                    <p:nvPicPr>
                      <p:cNvPr id="44047" name="对象 3">
                        <a:extLst>
                          <a:ext uri="{FF2B5EF4-FFF2-40B4-BE49-F238E27FC236}">
                            <a16:creationId xmlns:a16="http://schemas.microsoft.com/office/drawing/2014/main" id="{5069385B-F8E8-4387-AAC5-BB774B7273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6263" y="4868863"/>
                        <a:ext cx="4857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8" name="对象 23">
            <a:extLst>
              <a:ext uri="{FF2B5EF4-FFF2-40B4-BE49-F238E27FC236}">
                <a16:creationId xmlns:a16="http://schemas.microsoft.com/office/drawing/2014/main" id="{A24E46B6-EEF4-45B8-B708-25EF2B793248}"/>
              </a:ext>
            </a:extLst>
          </p:cNvPr>
          <p:cNvGraphicFramePr>
            <a:graphicFrameLocks noChangeAspect="1"/>
          </p:cNvGraphicFramePr>
          <p:nvPr/>
        </p:nvGraphicFramePr>
        <p:xfrm>
          <a:off x="3184525" y="5734050"/>
          <a:ext cx="841375" cy="528638"/>
        </p:xfrm>
        <a:graphic>
          <a:graphicData uri="http://schemas.openxmlformats.org/presentationml/2006/ole">
            <mc:AlternateContent xmlns:mc="http://schemas.openxmlformats.org/markup-compatibility/2006">
              <mc:Choice xmlns:v="urn:schemas-microsoft-com:vml" Requires="v">
                <p:oleObj name="Equation" r:id="rId5" imgW="571500" imgH="508000" progId="Equation.DSMT4">
                  <p:embed/>
                </p:oleObj>
              </mc:Choice>
              <mc:Fallback>
                <p:oleObj name="Equation" r:id="rId5" imgW="571500" imgH="508000" progId="Equation.DSMT4">
                  <p:embed/>
                  <p:pic>
                    <p:nvPicPr>
                      <p:cNvPr id="44048" name="对象 23">
                        <a:extLst>
                          <a:ext uri="{FF2B5EF4-FFF2-40B4-BE49-F238E27FC236}">
                            <a16:creationId xmlns:a16="http://schemas.microsoft.com/office/drawing/2014/main" id="{A24E46B6-EEF4-45B8-B708-25EF2B793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4525" y="5734050"/>
                        <a:ext cx="84137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9" name="对象 24">
            <a:extLst>
              <a:ext uri="{FF2B5EF4-FFF2-40B4-BE49-F238E27FC236}">
                <a16:creationId xmlns:a16="http://schemas.microsoft.com/office/drawing/2014/main" id="{5222A108-659C-45E9-9CFC-FC06722FE733}"/>
              </a:ext>
            </a:extLst>
          </p:cNvPr>
          <p:cNvGraphicFramePr>
            <a:graphicFrameLocks noChangeAspect="1"/>
          </p:cNvGraphicFramePr>
          <p:nvPr/>
        </p:nvGraphicFramePr>
        <p:xfrm>
          <a:off x="1258888" y="5326063"/>
          <a:ext cx="411162" cy="477837"/>
        </p:xfrm>
        <a:graphic>
          <a:graphicData uri="http://schemas.openxmlformats.org/presentationml/2006/ole">
            <mc:AlternateContent xmlns:mc="http://schemas.openxmlformats.org/markup-compatibility/2006">
              <mc:Choice xmlns:v="urn:schemas-microsoft-com:vml" Requires="v">
                <p:oleObj name="Equation" r:id="rId7" imgW="279400" imgH="457200" progId="Equation.DSMT4">
                  <p:embed/>
                </p:oleObj>
              </mc:Choice>
              <mc:Fallback>
                <p:oleObj name="Equation" r:id="rId7" imgW="279400" imgH="457200" progId="Equation.DSMT4">
                  <p:embed/>
                  <p:pic>
                    <p:nvPicPr>
                      <p:cNvPr id="44049" name="对象 24">
                        <a:extLst>
                          <a:ext uri="{FF2B5EF4-FFF2-40B4-BE49-F238E27FC236}">
                            <a16:creationId xmlns:a16="http://schemas.microsoft.com/office/drawing/2014/main" id="{5222A108-659C-45E9-9CFC-FC06722FE7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5326063"/>
                        <a:ext cx="411162"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日期占位符 3">
            <a:extLst>
              <a:ext uri="{FF2B5EF4-FFF2-40B4-BE49-F238E27FC236}">
                <a16:creationId xmlns:a16="http://schemas.microsoft.com/office/drawing/2014/main" id="{E8F80909-5E63-4ECC-885B-647EF5EFEDD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573B47A-02FB-4D1A-B387-D8BC7E47125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5059" name="灯片编号占位符 4">
            <a:extLst>
              <a:ext uri="{FF2B5EF4-FFF2-40B4-BE49-F238E27FC236}">
                <a16:creationId xmlns:a16="http://schemas.microsoft.com/office/drawing/2014/main" id="{FFF8234E-3F32-4587-9423-5C2059BAC0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9E76F6F-8C9A-4259-8BF1-42C81E65F73B}"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42</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381954" name="Rectangle 2">
            <a:extLst>
              <a:ext uri="{FF2B5EF4-FFF2-40B4-BE49-F238E27FC236}">
                <a16:creationId xmlns:a16="http://schemas.microsoft.com/office/drawing/2014/main" id="{CECDF049-7986-4078-BE0F-5870F4C3076F}"/>
              </a:ext>
            </a:extLst>
          </p:cNvPr>
          <p:cNvSpPr>
            <a:spLocks noGrp="1" noChangeArrowheads="1"/>
          </p:cNvSpPr>
          <p:nvPr>
            <p:ph type="title"/>
          </p:nvPr>
        </p:nvSpPr>
        <p:spPr/>
        <p:txBody>
          <a:bodyPr/>
          <a:lstStyle/>
          <a:p>
            <a:pPr>
              <a:defRPr/>
            </a:pPr>
            <a:r>
              <a:rPr lang="zh-CN" altLang="en-US" b="1">
                <a:solidFill>
                  <a:schemeClr val="tx1"/>
                </a:solidFill>
              </a:rPr>
              <a:t>主要内容</a:t>
            </a:r>
            <a:endParaRPr lang="zh-CN" altLang="en-US">
              <a:solidFill>
                <a:schemeClr val="tx1"/>
              </a:solidFill>
              <a:ea typeface="宋体" pitchFamily="2" charset="-122"/>
            </a:endParaRPr>
          </a:p>
        </p:txBody>
      </p:sp>
      <p:sp>
        <p:nvSpPr>
          <p:cNvPr id="20485" name="Rectangle 3">
            <a:extLst>
              <a:ext uri="{FF2B5EF4-FFF2-40B4-BE49-F238E27FC236}">
                <a16:creationId xmlns:a16="http://schemas.microsoft.com/office/drawing/2014/main" id="{3944D03F-41F5-4941-B985-EDF228132A5A}"/>
              </a:ext>
            </a:extLst>
          </p:cNvPr>
          <p:cNvSpPr>
            <a:spLocks noGrp="1" noChangeArrowheads="1"/>
          </p:cNvSpPr>
          <p:nvPr>
            <p:ph type="body" idx="1"/>
          </p:nvPr>
        </p:nvSpPr>
        <p:spPr>
          <a:xfrm>
            <a:off x="323850" y="1052513"/>
            <a:ext cx="8362950" cy="5545137"/>
          </a:xfrm>
        </p:spPr>
        <p:txBody>
          <a:bodyPr/>
          <a:lstStyle/>
          <a:p>
            <a:pPr marL="722313" indent="-722313">
              <a:lnSpc>
                <a:spcPct val="115000"/>
              </a:lnSpc>
              <a:spcBef>
                <a:spcPct val="15000"/>
              </a:spcBef>
              <a:buFont typeface="Monotype Sorts" pitchFamily="2" charset="2"/>
              <a:buNone/>
              <a:defRPr/>
            </a:pPr>
            <a:r>
              <a:rPr lang="en-US" altLang="zh-CN" b="1" dirty="0">
                <a:latin typeface="+mj-ea"/>
                <a:ea typeface="+mj-ea"/>
              </a:rPr>
              <a:t>5.1  </a:t>
            </a:r>
            <a:r>
              <a:rPr lang="zh-CN" altLang="en-US" b="1" dirty="0">
                <a:solidFill>
                  <a:schemeClr val="bg1"/>
                </a:solidFill>
                <a:latin typeface="+mj-ea"/>
                <a:ea typeface="+mj-ea"/>
              </a:rPr>
              <a:t>近似算法</a:t>
            </a:r>
            <a:r>
              <a:rPr lang="zh-CN" altLang="en-US" b="1" dirty="0">
                <a:latin typeface="+mj-ea"/>
                <a:ea typeface="+mj-ea"/>
              </a:rPr>
              <a:t>	</a:t>
            </a:r>
          </a:p>
          <a:p>
            <a:pPr marL="722313" indent="-722313">
              <a:lnSpc>
                <a:spcPct val="115000"/>
              </a:lnSpc>
              <a:spcBef>
                <a:spcPct val="15000"/>
              </a:spcBef>
              <a:buFont typeface="Monotype Sorts" pitchFamily="2" charset="2"/>
              <a:buNone/>
              <a:defRPr/>
            </a:pPr>
            <a:r>
              <a:rPr lang="en-US" altLang="zh-CN" b="1" dirty="0">
                <a:latin typeface="+mj-ea"/>
                <a:ea typeface="+mj-ea"/>
              </a:rPr>
              <a:t>5.2  </a:t>
            </a:r>
            <a:r>
              <a:rPr lang="zh-CN" altLang="en-US" b="1" dirty="0">
                <a:solidFill>
                  <a:schemeClr val="bg1"/>
                </a:solidFill>
                <a:latin typeface="+mj-ea"/>
                <a:ea typeface="+mj-ea"/>
              </a:rPr>
              <a:t>概率算法</a:t>
            </a:r>
          </a:p>
          <a:p>
            <a:pPr marL="722313" indent="-722313">
              <a:lnSpc>
                <a:spcPct val="115000"/>
              </a:lnSpc>
              <a:spcBef>
                <a:spcPct val="15000"/>
              </a:spcBef>
              <a:buFont typeface="Monotype Sorts" pitchFamily="2" charset="2"/>
              <a:buNone/>
              <a:defRPr/>
            </a:pPr>
            <a:r>
              <a:rPr lang="zh-CN" altLang="en-US" b="1" dirty="0">
                <a:solidFill>
                  <a:schemeClr val="bg1"/>
                </a:solidFill>
                <a:latin typeface="+mj-ea"/>
                <a:ea typeface="+mj-ea"/>
              </a:rPr>
              <a:t>	</a:t>
            </a:r>
            <a:r>
              <a:rPr lang="en-US" altLang="zh-CN" b="1" dirty="0">
                <a:solidFill>
                  <a:schemeClr val="bg1"/>
                </a:solidFill>
                <a:latin typeface="+mj-ea"/>
                <a:ea typeface="+mj-ea"/>
              </a:rPr>
              <a:t>BPP</a:t>
            </a:r>
            <a:r>
              <a:rPr lang="zh-CN" altLang="en-US" b="1" dirty="0">
                <a:solidFill>
                  <a:schemeClr val="bg1"/>
                </a:solidFill>
                <a:latin typeface="+mj-ea"/>
                <a:ea typeface="+mj-ea"/>
              </a:rPr>
              <a:t>类、素数性</a:t>
            </a:r>
          </a:p>
          <a:p>
            <a:pPr marL="722313" indent="-722313">
              <a:lnSpc>
                <a:spcPct val="115000"/>
              </a:lnSpc>
              <a:spcBef>
                <a:spcPct val="15000"/>
              </a:spcBef>
              <a:buFont typeface="Monotype Sorts" pitchFamily="2" charset="2"/>
              <a:buNone/>
              <a:defRPr/>
            </a:pPr>
            <a:r>
              <a:rPr lang="en-US" altLang="zh-CN" b="1" dirty="0">
                <a:latin typeface="+mj-ea"/>
                <a:ea typeface="+mj-ea"/>
              </a:rPr>
              <a:t>5.3  </a:t>
            </a:r>
            <a:r>
              <a:rPr lang="zh-CN" altLang="en-US" b="1" dirty="0">
                <a:solidFill>
                  <a:srgbClr val="FF0000"/>
                </a:solidFill>
                <a:latin typeface="+mj-ea"/>
                <a:ea typeface="+mj-ea"/>
              </a:rPr>
              <a:t>参数算法</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a:extLst>
              <a:ext uri="{FF2B5EF4-FFF2-40B4-BE49-F238E27FC236}">
                <a16:creationId xmlns:a16="http://schemas.microsoft.com/office/drawing/2014/main" id="{3026C5EB-37B1-4DFD-9DD0-0F6567E29336}"/>
              </a:ext>
            </a:extLst>
          </p:cNvPr>
          <p:cNvSpPr txBox="1">
            <a:spLocks noChangeArrowheads="1"/>
          </p:cNvSpPr>
          <p:nvPr/>
        </p:nvSpPr>
        <p:spPr bwMode="auto">
          <a:xfrm>
            <a:off x="684213" y="1341438"/>
            <a:ext cx="7993062" cy="11144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3333FF"/>
                </a:solidFill>
                <a:latin typeface="+mj-ea"/>
                <a:ea typeface="+mj-ea"/>
              </a:rPr>
              <a:t>参数算法：</a:t>
            </a:r>
            <a:r>
              <a:rPr lang="zh-CN" altLang="en-US" sz="2400" b="1" dirty="0">
                <a:solidFill>
                  <a:schemeClr val="tx1">
                    <a:lumMod val="95000"/>
                    <a:lumOff val="5000"/>
                  </a:schemeClr>
                </a:solidFill>
                <a:latin typeface="+mj-ea"/>
                <a:ea typeface="+mj-ea"/>
              </a:rPr>
              <a:t>考虑当某个参数较小的时候是否存在有效的算法。</a:t>
            </a:r>
          </a:p>
        </p:txBody>
      </p:sp>
      <p:sp>
        <p:nvSpPr>
          <p:cNvPr id="165892" name="Text Box 4">
            <a:extLst>
              <a:ext uri="{FF2B5EF4-FFF2-40B4-BE49-F238E27FC236}">
                <a16:creationId xmlns:a16="http://schemas.microsoft.com/office/drawing/2014/main" id="{F9BAA597-8900-4856-B78A-A0A44172A721}"/>
              </a:ext>
            </a:extLst>
          </p:cNvPr>
          <p:cNvSpPr txBox="1">
            <a:spLocks noChangeArrowheads="1"/>
          </p:cNvSpPr>
          <p:nvPr/>
        </p:nvSpPr>
        <p:spPr bwMode="auto">
          <a:xfrm>
            <a:off x="684213" y="2422525"/>
            <a:ext cx="7993062" cy="56991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dirty="0">
                <a:solidFill>
                  <a:srgbClr val="000000"/>
                </a:solidFill>
                <a:latin typeface="Tahoma" pitchFamily="34" charset="0"/>
                <a:ea typeface="+mj-ea"/>
                <a:cs typeface="Tahoma" pitchFamily="34" charset="0"/>
              </a:rPr>
              <a:t>这个参数可以是</a:t>
            </a:r>
            <a:r>
              <a:rPr lang="zh-CN" altLang="en-US" sz="2400" dirty="0">
                <a:solidFill>
                  <a:srgbClr val="FF0000"/>
                </a:solidFill>
                <a:latin typeface="Tahoma" pitchFamily="34" charset="0"/>
                <a:ea typeface="+mj-ea"/>
                <a:cs typeface="Tahoma" pitchFamily="34" charset="0"/>
              </a:rPr>
              <a:t>解集的大小</a:t>
            </a:r>
            <a:r>
              <a:rPr lang="zh-CN" altLang="en-US" sz="2400" dirty="0">
                <a:solidFill>
                  <a:srgbClr val="000000"/>
                </a:solidFill>
                <a:latin typeface="Tahoma" pitchFamily="34" charset="0"/>
                <a:ea typeface="+mj-ea"/>
                <a:cs typeface="Tahoma" pitchFamily="34" charset="0"/>
              </a:rPr>
              <a:t>、</a:t>
            </a:r>
            <a:r>
              <a:rPr lang="en-US" altLang="zh-CN" sz="2400" dirty="0" err="1">
                <a:solidFill>
                  <a:srgbClr val="000000"/>
                </a:solidFill>
                <a:latin typeface="Tahoma" pitchFamily="34" charset="0"/>
                <a:ea typeface="Tahoma" pitchFamily="34" charset="0"/>
                <a:cs typeface="Tahoma" pitchFamily="34" charset="0"/>
              </a:rPr>
              <a:t>treewidth</a:t>
            </a:r>
            <a:r>
              <a:rPr lang="zh-CN" altLang="en-US" sz="2400" dirty="0">
                <a:solidFill>
                  <a:srgbClr val="000000"/>
                </a:solidFill>
                <a:latin typeface="Tahoma" pitchFamily="34" charset="0"/>
                <a:ea typeface="+mj-ea"/>
                <a:cs typeface="Tahoma" pitchFamily="34" charset="0"/>
              </a:rPr>
              <a:t>等。</a:t>
            </a:r>
          </a:p>
        </p:txBody>
      </p:sp>
      <p:sp>
        <p:nvSpPr>
          <p:cNvPr id="3081" name="Text Box 6">
            <a:extLst>
              <a:ext uri="{FF2B5EF4-FFF2-40B4-BE49-F238E27FC236}">
                <a16:creationId xmlns:a16="http://schemas.microsoft.com/office/drawing/2014/main" id="{65C5C4D4-9AD8-4FDC-AB09-861C9CDAC726}"/>
              </a:ext>
            </a:extLst>
          </p:cNvPr>
          <p:cNvSpPr txBox="1">
            <a:spLocks noChangeArrowheads="1"/>
          </p:cNvSpPr>
          <p:nvPr/>
        </p:nvSpPr>
        <p:spPr bwMode="auto">
          <a:xfrm>
            <a:off x="684213" y="3070225"/>
            <a:ext cx="7704137" cy="112236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dirty="0">
                <a:solidFill>
                  <a:srgbClr val="000000"/>
                </a:solidFill>
                <a:latin typeface="Tahoma" pitchFamily="34" charset="0"/>
                <a:ea typeface="+mj-ea"/>
                <a:cs typeface="Tahoma" pitchFamily="34" charset="0"/>
              </a:rPr>
              <a:t>考虑同一个问题的两个算法（</a:t>
            </a:r>
            <a:r>
              <a:rPr lang="en-US" altLang="zh-CN" sz="2400" i="1" dirty="0">
                <a:solidFill>
                  <a:srgbClr val="FF0000"/>
                </a:solidFill>
                <a:latin typeface="Tahoma" pitchFamily="34" charset="0"/>
                <a:ea typeface="Tahoma" pitchFamily="34" charset="0"/>
                <a:cs typeface="Tahoma" pitchFamily="34" charset="0"/>
              </a:rPr>
              <a:t>n</a:t>
            </a:r>
            <a:r>
              <a:rPr lang="zh-CN" altLang="en-US" sz="2400" dirty="0">
                <a:solidFill>
                  <a:srgbClr val="000000"/>
                </a:solidFill>
                <a:latin typeface="Tahoma" pitchFamily="34" charset="0"/>
                <a:ea typeface="+mj-ea"/>
                <a:cs typeface="Tahoma" pitchFamily="34" charset="0"/>
              </a:rPr>
              <a:t>为图中的点的个数，</a:t>
            </a:r>
            <a:r>
              <a:rPr lang="en-US" altLang="zh-CN" sz="2400" i="1" dirty="0">
                <a:solidFill>
                  <a:srgbClr val="FF0000"/>
                </a:solidFill>
                <a:latin typeface="Tahoma" pitchFamily="34" charset="0"/>
                <a:ea typeface="Tahoma" pitchFamily="34" charset="0"/>
                <a:cs typeface="Tahoma" pitchFamily="34" charset="0"/>
              </a:rPr>
              <a:t>k</a:t>
            </a:r>
            <a:r>
              <a:rPr lang="zh-CN" altLang="en-US" sz="2400" dirty="0">
                <a:solidFill>
                  <a:srgbClr val="000000"/>
                </a:solidFill>
                <a:latin typeface="Tahoma" pitchFamily="34" charset="0"/>
                <a:ea typeface="+mj-ea"/>
                <a:cs typeface="Tahoma" pitchFamily="34" charset="0"/>
              </a:rPr>
              <a:t>为解集的大小）：</a:t>
            </a:r>
            <a:r>
              <a:rPr lang="en-US" altLang="zh-CN" sz="2400" dirty="0">
                <a:solidFill>
                  <a:srgbClr val="000000"/>
                </a:solidFill>
                <a:latin typeface="Tahoma" pitchFamily="34" charset="0"/>
                <a:ea typeface="Tahoma" pitchFamily="34" charset="0"/>
                <a:cs typeface="Tahoma" pitchFamily="34" charset="0"/>
              </a:rPr>
              <a:t>2</a:t>
            </a:r>
            <a:r>
              <a:rPr lang="en-US" altLang="zh-CN" sz="2400" baseline="30000" dirty="0">
                <a:solidFill>
                  <a:srgbClr val="000000"/>
                </a:solidFill>
                <a:latin typeface="Tahoma" pitchFamily="34" charset="0"/>
                <a:ea typeface="Tahoma" pitchFamily="34" charset="0"/>
                <a:cs typeface="Tahoma" pitchFamily="34" charset="0"/>
              </a:rPr>
              <a:t>n</a:t>
            </a:r>
            <a:r>
              <a:rPr lang="en-US" altLang="zh-CN" sz="2400" dirty="0">
                <a:solidFill>
                  <a:srgbClr val="000000"/>
                </a:solidFill>
                <a:latin typeface="Tahoma" pitchFamily="34" charset="0"/>
                <a:ea typeface="Tahoma" pitchFamily="34" charset="0"/>
                <a:cs typeface="Tahoma" pitchFamily="34" charset="0"/>
              </a:rPr>
              <a:t>         4</a:t>
            </a:r>
            <a:r>
              <a:rPr lang="en-US" altLang="zh-CN" sz="2400" baseline="30000" dirty="0">
                <a:solidFill>
                  <a:srgbClr val="000000"/>
                </a:solidFill>
                <a:latin typeface="Tahoma" pitchFamily="34" charset="0"/>
                <a:ea typeface="Tahoma" pitchFamily="34" charset="0"/>
                <a:cs typeface="Tahoma" pitchFamily="34" charset="0"/>
              </a:rPr>
              <a:t>k</a:t>
            </a:r>
            <a:r>
              <a:rPr lang="en-US" altLang="zh-CN" sz="2400" dirty="0">
                <a:solidFill>
                  <a:srgbClr val="000000"/>
                </a:solidFill>
                <a:latin typeface="Tahoma" pitchFamily="34" charset="0"/>
                <a:ea typeface="Tahoma" pitchFamily="34" charset="0"/>
                <a:cs typeface="Tahoma" pitchFamily="34" charset="0"/>
              </a:rPr>
              <a:t>n  </a:t>
            </a:r>
            <a:endParaRPr lang="zh-CN" altLang="en-US" sz="2400" dirty="0">
              <a:solidFill>
                <a:srgbClr val="000000"/>
              </a:solidFill>
              <a:latin typeface="Tahoma" pitchFamily="34" charset="0"/>
              <a:ea typeface="+mj-ea"/>
              <a:cs typeface="Tahoma" pitchFamily="34" charset="0"/>
            </a:endParaRPr>
          </a:p>
        </p:txBody>
      </p:sp>
      <p:sp>
        <p:nvSpPr>
          <p:cNvPr id="165897" name="Text Box 9">
            <a:extLst>
              <a:ext uri="{FF2B5EF4-FFF2-40B4-BE49-F238E27FC236}">
                <a16:creationId xmlns:a16="http://schemas.microsoft.com/office/drawing/2014/main" id="{27AAAC43-C021-44ED-BEE6-75B0BE3F5B4E}"/>
              </a:ext>
            </a:extLst>
          </p:cNvPr>
          <p:cNvSpPr txBox="1">
            <a:spLocks noChangeArrowheads="1"/>
          </p:cNvSpPr>
          <p:nvPr/>
        </p:nvSpPr>
        <p:spPr bwMode="auto">
          <a:xfrm>
            <a:off x="684213" y="4302125"/>
            <a:ext cx="7993062" cy="112236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None/>
              <a:defRPr/>
            </a:pPr>
            <a:r>
              <a:rPr lang="zh-CN" altLang="en-US" sz="2400" dirty="0">
                <a:solidFill>
                  <a:srgbClr val="000000"/>
                </a:solidFill>
                <a:latin typeface="Tahoma" pitchFamily="34" charset="0"/>
                <a:ea typeface="+mj-ea"/>
                <a:cs typeface="Tahoma" pitchFamily="34" charset="0"/>
              </a:rPr>
              <a:t>当</a:t>
            </a:r>
            <a:r>
              <a:rPr lang="en-US" altLang="zh-CN" sz="2400" dirty="0">
                <a:solidFill>
                  <a:srgbClr val="000000"/>
                </a:solidFill>
                <a:latin typeface="Tahoma" pitchFamily="34" charset="0"/>
                <a:ea typeface="Tahoma" pitchFamily="34" charset="0"/>
                <a:cs typeface="Tahoma" pitchFamily="34" charset="0"/>
              </a:rPr>
              <a:t>n</a:t>
            </a:r>
            <a:r>
              <a:rPr lang="zh-CN" altLang="en-US" sz="2400" dirty="0">
                <a:solidFill>
                  <a:srgbClr val="000000"/>
                </a:solidFill>
                <a:latin typeface="Tahoma" pitchFamily="34" charset="0"/>
                <a:ea typeface="+mj-ea"/>
                <a:cs typeface="Tahoma" pitchFamily="34" charset="0"/>
              </a:rPr>
              <a:t>为</a:t>
            </a:r>
            <a:r>
              <a:rPr lang="en-US" altLang="zh-CN" sz="2400" dirty="0">
                <a:solidFill>
                  <a:srgbClr val="000000"/>
                </a:solidFill>
                <a:latin typeface="Tahoma" pitchFamily="34" charset="0"/>
                <a:ea typeface="Tahoma" pitchFamily="34" charset="0"/>
                <a:cs typeface="Tahoma" pitchFamily="34" charset="0"/>
              </a:rPr>
              <a:t>100</a:t>
            </a:r>
            <a:r>
              <a:rPr lang="zh-CN" altLang="en-US" sz="2400" dirty="0">
                <a:solidFill>
                  <a:srgbClr val="000000"/>
                </a:solidFill>
                <a:latin typeface="Tahoma" pitchFamily="34" charset="0"/>
                <a:ea typeface="+mj-ea"/>
                <a:cs typeface="Tahoma" pitchFamily="34" charset="0"/>
              </a:rPr>
              <a:t>，</a:t>
            </a:r>
            <a:r>
              <a:rPr lang="en-US" altLang="zh-CN" sz="2400" dirty="0">
                <a:solidFill>
                  <a:srgbClr val="000000"/>
                </a:solidFill>
                <a:latin typeface="Tahoma" pitchFamily="34" charset="0"/>
                <a:ea typeface="Tahoma" pitchFamily="34" charset="0"/>
                <a:cs typeface="Tahoma" pitchFamily="34" charset="0"/>
              </a:rPr>
              <a:t>k</a:t>
            </a:r>
            <a:r>
              <a:rPr lang="zh-CN" altLang="en-US" sz="2400" dirty="0">
                <a:solidFill>
                  <a:srgbClr val="000000"/>
                </a:solidFill>
                <a:latin typeface="Tahoma" pitchFamily="34" charset="0"/>
                <a:ea typeface="+mj-ea"/>
                <a:cs typeface="Tahoma" pitchFamily="34" charset="0"/>
              </a:rPr>
              <a:t>为</a:t>
            </a:r>
            <a:r>
              <a:rPr lang="en-US" altLang="zh-CN" sz="2400" dirty="0">
                <a:solidFill>
                  <a:srgbClr val="000000"/>
                </a:solidFill>
                <a:latin typeface="Tahoma" pitchFamily="34" charset="0"/>
                <a:ea typeface="Tahoma" pitchFamily="34" charset="0"/>
                <a:cs typeface="Tahoma" pitchFamily="34" charset="0"/>
              </a:rPr>
              <a:t>15</a:t>
            </a:r>
            <a:r>
              <a:rPr lang="zh-CN" altLang="en-US" sz="2400" dirty="0">
                <a:solidFill>
                  <a:srgbClr val="000000"/>
                </a:solidFill>
                <a:latin typeface="Tahoma" pitchFamily="34" charset="0"/>
                <a:ea typeface="+mj-ea"/>
                <a:cs typeface="Tahoma" pitchFamily="34" charset="0"/>
              </a:rPr>
              <a:t>左右，第一个算法不能用，但是第二个可以用。</a:t>
            </a:r>
          </a:p>
        </p:txBody>
      </p:sp>
      <p:sp>
        <p:nvSpPr>
          <p:cNvPr id="10" name="Rectangle 2">
            <a:extLst>
              <a:ext uri="{FF2B5EF4-FFF2-40B4-BE49-F238E27FC236}">
                <a16:creationId xmlns:a16="http://schemas.microsoft.com/office/drawing/2014/main" id="{B303D3B6-29C1-4A16-9EDA-3574A93AE84E}"/>
              </a:ext>
            </a:extLst>
          </p:cNvPr>
          <p:cNvSpPr>
            <a:spLocks noGrp="1" noChangeArrowheads="1"/>
          </p:cNvSpPr>
          <p:nvPr>
            <p:ph type="title"/>
          </p:nvPr>
        </p:nvSpPr>
        <p:spPr/>
        <p:txBody>
          <a:bodyPr/>
          <a:lstStyle/>
          <a:p>
            <a:pPr>
              <a:defRPr/>
            </a:pPr>
            <a:r>
              <a:rPr lang="zh-CN" altLang="en-US" dirty="0"/>
              <a:t>参数算法</a:t>
            </a:r>
          </a:p>
        </p:txBody>
      </p:sp>
      <p:sp>
        <p:nvSpPr>
          <p:cNvPr id="46087" name="日期占位符 3">
            <a:extLst>
              <a:ext uri="{FF2B5EF4-FFF2-40B4-BE49-F238E27FC236}">
                <a16:creationId xmlns:a16="http://schemas.microsoft.com/office/drawing/2014/main" id="{B380D671-0A5B-4893-BE62-67CF690E000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5F4ADD7C-4845-45CD-9DA2-007714334D86}"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6088" name="灯片编号占位符 4">
            <a:extLst>
              <a:ext uri="{FF2B5EF4-FFF2-40B4-BE49-F238E27FC236}">
                <a16:creationId xmlns:a16="http://schemas.microsoft.com/office/drawing/2014/main" id="{B77FA93D-6507-4D6A-A5BD-F43442B9596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F4D70B47-0255-407B-8BCE-02F436F89656}"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43</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slide(fromBottom)">
                                      <p:cBhvr>
                                        <p:cTn id="7" dur="500"/>
                                        <p:tgtEl>
                                          <p:spTgt spid="165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5892"/>
                                        </p:tgtEl>
                                        <p:attrNameLst>
                                          <p:attrName>style.visibility</p:attrName>
                                        </p:attrNameLst>
                                      </p:cBhvr>
                                      <p:to>
                                        <p:strVal val="visible"/>
                                      </p:to>
                                    </p:set>
                                    <p:animEffect transition="in" filter="slide(fromBottom)">
                                      <p:cBhvr>
                                        <p:cTn id="12" dur="500"/>
                                        <p:tgtEl>
                                          <p:spTgt spid="165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081"/>
                                        </p:tgtEl>
                                        <p:attrNameLst>
                                          <p:attrName>style.visibility</p:attrName>
                                        </p:attrNameLst>
                                      </p:cBhvr>
                                      <p:to>
                                        <p:strVal val="visible"/>
                                      </p:to>
                                    </p:set>
                                    <p:animEffect transition="in" filter="wipe(down)">
                                      <p:cBhvr>
                                        <p:cTn id="17" dur="500"/>
                                        <p:tgtEl>
                                          <p:spTgt spid="30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5897"/>
                                        </p:tgtEl>
                                        <p:attrNameLst>
                                          <p:attrName>style.visibility</p:attrName>
                                        </p:attrNameLst>
                                      </p:cBhvr>
                                      <p:to>
                                        <p:strVal val="visible"/>
                                      </p:to>
                                    </p:set>
                                    <p:animEffect transition="in" filter="slide(fromBottom)">
                                      <p:cBhvr>
                                        <p:cTn id="22" dur="500"/>
                                        <p:tgtEl>
                                          <p:spTgt spid="165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p:bldP spid="165892" grpId="0"/>
      <p:bldP spid="3081" grpId="0"/>
      <p:bldP spid="16589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a:extLst>
              <a:ext uri="{FF2B5EF4-FFF2-40B4-BE49-F238E27FC236}">
                <a16:creationId xmlns:a16="http://schemas.microsoft.com/office/drawing/2014/main" id="{EE550481-67D3-47BB-9D15-9800A39CE677}"/>
              </a:ext>
            </a:extLst>
          </p:cNvPr>
          <p:cNvSpPr txBox="1">
            <a:spLocks noChangeArrowheads="1"/>
          </p:cNvSpPr>
          <p:nvPr/>
        </p:nvSpPr>
        <p:spPr bwMode="auto">
          <a:xfrm>
            <a:off x="684213" y="1268413"/>
            <a:ext cx="7993062" cy="23082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mj-ea"/>
                <a:ea typeface="+mj-ea"/>
              </a:rPr>
              <a:t>给出一个</a:t>
            </a:r>
            <a:r>
              <a:rPr lang="zh-CN" altLang="en-US" sz="2400" b="1" dirty="0">
                <a:latin typeface="+mj-ea"/>
                <a:ea typeface="+mj-ea"/>
              </a:rPr>
              <a:t>参数问题</a:t>
            </a:r>
            <a:r>
              <a:rPr lang="zh-CN" altLang="en-US" sz="2400" b="1" dirty="0">
                <a:solidFill>
                  <a:srgbClr val="000000"/>
                </a:solidFill>
                <a:latin typeface="+mj-ea"/>
                <a:ea typeface="+mj-ea"/>
              </a:rPr>
              <a:t>（一个问题和一个参数</a:t>
            </a:r>
            <a:r>
              <a:rPr lang="en-US" altLang="zh-CN" sz="2400" b="1" dirty="0">
                <a:solidFill>
                  <a:srgbClr val="FF0000"/>
                </a:solidFill>
                <a:latin typeface="+mj-ea"/>
                <a:ea typeface="+mj-ea"/>
              </a:rPr>
              <a:t>k</a:t>
            </a:r>
            <a:r>
              <a:rPr lang="zh-CN" altLang="en-US" sz="2400" b="1" dirty="0">
                <a:solidFill>
                  <a:srgbClr val="000000"/>
                </a:solidFill>
                <a:latin typeface="+mj-ea"/>
                <a:ea typeface="+mj-ea"/>
              </a:rPr>
              <a:t>），如果存在参数算法，即算法运行时间的指数部分只和参数</a:t>
            </a:r>
            <a:r>
              <a:rPr lang="en-US" altLang="zh-CN" sz="2400" b="1" dirty="0">
                <a:solidFill>
                  <a:srgbClr val="FF0000"/>
                </a:solidFill>
                <a:latin typeface="+mj-ea"/>
                <a:ea typeface="+mj-ea"/>
              </a:rPr>
              <a:t>k</a:t>
            </a:r>
            <a:r>
              <a:rPr lang="zh-CN" altLang="en-US" sz="2400" b="1" dirty="0">
                <a:solidFill>
                  <a:srgbClr val="000000"/>
                </a:solidFill>
                <a:latin typeface="+mj-ea"/>
                <a:ea typeface="+mj-ea"/>
              </a:rPr>
              <a:t>有关，而和这个问题的输入无关，则称这个参数问题是</a:t>
            </a:r>
            <a:r>
              <a:rPr lang="zh-CN" altLang="en-US" sz="2400" b="1" dirty="0">
                <a:solidFill>
                  <a:srgbClr val="FF0000"/>
                </a:solidFill>
                <a:latin typeface="+mj-ea"/>
                <a:ea typeface="+mj-ea"/>
              </a:rPr>
              <a:t>参数可算的</a:t>
            </a:r>
            <a:r>
              <a:rPr lang="zh-CN" altLang="en-US" sz="2400" b="1" dirty="0">
                <a:solidFill>
                  <a:srgbClr val="000000"/>
                </a:solidFill>
                <a:latin typeface="+mj-ea"/>
                <a:ea typeface="+mj-ea"/>
              </a:rPr>
              <a:t>（</a:t>
            </a:r>
            <a:r>
              <a:rPr lang="en-US" altLang="zh-CN" sz="2400" b="1" dirty="0">
                <a:solidFill>
                  <a:srgbClr val="FF0000"/>
                </a:solidFill>
                <a:latin typeface="+mj-ea"/>
                <a:ea typeface="+mj-ea"/>
              </a:rPr>
              <a:t>FPT</a:t>
            </a:r>
            <a:r>
              <a:rPr lang="zh-CN" altLang="en-US" sz="2400" b="1" dirty="0">
                <a:solidFill>
                  <a:srgbClr val="000000"/>
                </a:solidFill>
                <a:latin typeface="+mj-ea"/>
                <a:ea typeface="+mj-ea"/>
              </a:rPr>
              <a:t>）。</a:t>
            </a:r>
          </a:p>
        </p:txBody>
      </p:sp>
      <p:sp>
        <p:nvSpPr>
          <p:cNvPr id="4106" name="Text Box 6">
            <a:extLst>
              <a:ext uri="{FF2B5EF4-FFF2-40B4-BE49-F238E27FC236}">
                <a16:creationId xmlns:a16="http://schemas.microsoft.com/office/drawing/2014/main" id="{F65FD742-C7DC-4370-96C1-23C375998602}"/>
              </a:ext>
            </a:extLst>
          </p:cNvPr>
          <p:cNvSpPr txBox="1">
            <a:spLocks noChangeArrowheads="1"/>
          </p:cNvSpPr>
          <p:nvPr/>
        </p:nvSpPr>
        <p:spPr bwMode="auto">
          <a:xfrm>
            <a:off x="684213" y="3644900"/>
            <a:ext cx="7993062" cy="11144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dirty="0">
                <a:solidFill>
                  <a:srgbClr val="000000"/>
                </a:solidFill>
                <a:latin typeface="+mj-ea"/>
                <a:ea typeface="+mj-ea"/>
              </a:rPr>
              <a:t>以下运行时间那些符合要求？</a:t>
            </a:r>
            <a:endParaRPr lang="en-US" altLang="zh-CN" sz="2400" dirty="0">
              <a:solidFill>
                <a:srgbClr val="000000"/>
              </a:solidFill>
              <a:latin typeface="+mj-ea"/>
              <a:ea typeface="+mj-ea"/>
            </a:endParaRPr>
          </a:p>
          <a:p>
            <a:pPr>
              <a:lnSpc>
                <a:spcPct val="150000"/>
              </a:lnSpc>
              <a:defRPr/>
            </a:pPr>
            <a:r>
              <a:rPr lang="en-US" altLang="zh-CN" sz="2400" dirty="0">
                <a:solidFill>
                  <a:srgbClr val="000000"/>
                </a:solidFill>
                <a:latin typeface="+mj-ea"/>
                <a:ea typeface="+mj-ea"/>
              </a:rPr>
              <a:t>	2</a:t>
            </a:r>
            <a:r>
              <a:rPr lang="en-US" altLang="zh-CN" sz="2400" baseline="30000" dirty="0">
                <a:solidFill>
                  <a:srgbClr val="000000"/>
                </a:solidFill>
                <a:latin typeface="+mj-ea"/>
                <a:ea typeface="+mj-ea"/>
              </a:rPr>
              <a:t>n</a:t>
            </a:r>
            <a:r>
              <a:rPr lang="en-US" altLang="zh-CN" sz="2400" dirty="0">
                <a:solidFill>
                  <a:srgbClr val="000000"/>
                </a:solidFill>
                <a:latin typeface="+mj-ea"/>
                <a:ea typeface="+mj-ea"/>
              </a:rPr>
              <a:t>    4</a:t>
            </a:r>
            <a:r>
              <a:rPr lang="en-US" altLang="zh-CN" sz="2400" baseline="30000" dirty="0">
                <a:solidFill>
                  <a:srgbClr val="000000"/>
                </a:solidFill>
                <a:latin typeface="+mj-ea"/>
                <a:ea typeface="+mj-ea"/>
              </a:rPr>
              <a:t>k</a:t>
            </a:r>
            <a:r>
              <a:rPr lang="en-US" altLang="zh-CN" sz="2400" dirty="0">
                <a:solidFill>
                  <a:srgbClr val="000000"/>
                </a:solidFill>
                <a:latin typeface="+mj-ea"/>
                <a:ea typeface="+mj-ea"/>
              </a:rPr>
              <a:t>n    k</a:t>
            </a:r>
            <a:r>
              <a:rPr lang="en-US" altLang="zh-CN" sz="2400" baseline="30000" dirty="0">
                <a:solidFill>
                  <a:srgbClr val="000000"/>
                </a:solidFill>
                <a:latin typeface="+mj-ea"/>
                <a:ea typeface="+mj-ea"/>
              </a:rPr>
              <a:t>k</a:t>
            </a:r>
            <a:r>
              <a:rPr lang="en-US" altLang="zh-CN" sz="2400" dirty="0">
                <a:solidFill>
                  <a:srgbClr val="000000"/>
                </a:solidFill>
                <a:latin typeface="+mj-ea"/>
                <a:ea typeface="+mj-ea"/>
              </a:rPr>
              <a:t>+n</a:t>
            </a:r>
            <a:r>
              <a:rPr lang="en-US" altLang="zh-CN" sz="2400" baseline="30000" dirty="0">
                <a:solidFill>
                  <a:srgbClr val="000000"/>
                </a:solidFill>
                <a:latin typeface="+mj-ea"/>
                <a:ea typeface="+mj-ea"/>
              </a:rPr>
              <a:t>2</a:t>
            </a:r>
            <a:r>
              <a:rPr lang="en-US" altLang="zh-CN" sz="2400" dirty="0">
                <a:solidFill>
                  <a:srgbClr val="000000"/>
                </a:solidFill>
                <a:latin typeface="+mj-ea"/>
                <a:ea typeface="+mj-ea"/>
              </a:rPr>
              <a:t>k   n</a:t>
            </a:r>
            <a:r>
              <a:rPr lang="en-US" altLang="zh-CN" sz="2400" baseline="30000" dirty="0">
                <a:solidFill>
                  <a:srgbClr val="000000"/>
                </a:solidFill>
                <a:latin typeface="+mj-ea"/>
                <a:ea typeface="+mj-ea"/>
              </a:rPr>
              <a:t>k</a:t>
            </a:r>
            <a:r>
              <a:rPr lang="en-US" altLang="zh-CN" sz="2400" dirty="0">
                <a:solidFill>
                  <a:srgbClr val="000000"/>
                </a:solidFill>
                <a:latin typeface="+mj-ea"/>
                <a:ea typeface="+mj-ea"/>
              </a:rPr>
              <a:t> </a:t>
            </a:r>
            <a:endParaRPr lang="zh-CN" altLang="en-US" sz="2400" dirty="0">
              <a:solidFill>
                <a:srgbClr val="000000"/>
              </a:solidFill>
              <a:latin typeface="+mj-ea"/>
              <a:ea typeface="+mj-ea"/>
            </a:endParaRPr>
          </a:p>
        </p:txBody>
      </p:sp>
      <p:sp>
        <p:nvSpPr>
          <p:cNvPr id="166922" name="Text Box 10">
            <a:extLst>
              <a:ext uri="{FF2B5EF4-FFF2-40B4-BE49-F238E27FC236}">
                <a16:creationId xmlns:a16="http://schemas.microsoft.com/office/drawing/2014/main" id="{7B30ACF0-A77D-4AB1-BBE3-2F42594019F1}"/>
              </a:ext>
            </a:extLst>
          </p:cNvPr>
          <p:cNvSpPr txBox="1">
            <a:spLocks noChangeArrowheads="1"/>
          </p:cNvSpPr>
          <p:nvPr/>
        </p:nvSpPr>
        <p:spPr bwMode="auto">
          <a:xfrm>
            <a:off x="684213" y="4876800"/>
            <a:ext cx="7993062" cy="11144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dirty="0">
                <a:solidFill>
                  <a:srgbClr val="000000"/>
                </a:solidFill>
                <a:latin typeface="+mj-ea"/>
                <a:ea typeface="+mj-ea"/>
              </a:rPr>
              <a:t>不是每个参数问题都是参数可算的（</a:t>
            </a:r>
            <a:r>
              <a:rPr lang="en-US" altLang="zh-CN" sz="2400" dirty="0">
                <a:solidFill>
                  <a:srgbClr val="000000"/>
                </a:solidFill>
                <a:latin typeface="+mj-ea"/>
                <a:ea typeface="+mj-ea"/>
              </a:rPr>
              <a:t>FPT</a:t>
            </a:r>
            <a:r>
              <a:rPr lang="zh-CN" altLang="en-US" sz="2400" dirty="0">
                <a:solidFill>
                  <a:srgbClr val="000000"/>
                </a:solidFill>
                <a:latin typeface="+mj-ea"/>
                <a:ea typeface="+mj-ea"/>
              </a:rPr>
              <a:t>），不存在参数算法的参数问题是</a:t>
            </a:r>
            <a:r>
              <a:rPr lang="en-US" altLang="zh-CN" sz="2400" dirty="0">
                <a:solidFill>
                  <a:srgbClr val="FF0000"/>
                </a:solidFill>
                <a:latin typeface="+mj-ea"/>
                <a:ea typeface="+mj-ea"/>
              </a:rPr>
              <a:t>W[1]</a:t>
            </a:r>
            <a:r>
              <a:rPr lang="zh-CN" altLang="en-US" sz="2400" dirty="0">
                <a:solidFill>
                  <a:srgbClr val="FF0000"/>
                </a:solidFill>
                <a:latin typeface="+mj-ea"/>
                <a:ea typeface="+mj-ea"/>
              </a:rPr>
              <a:t>难</a:t>
            </a:r>
            <a:r>
              <a:rPr lang="zh-CN" altLang="en-US" sz="2400" dirty="0">
                <a:solidFill>
                  <a:srgbClr val="000000"/>
                </a:solidFill>
                <a:latin typeface="+mj-ea"/>
                <a:ea typeface="+mj-ea"/>
              </a:rPr>
              <a:t>的。</a:t>
            </a:r>
          </a:p>
        </p:txBody>
      </p:sp>
      <p:sp>
        <p:nvSpPr>
          <p:cNvPr id="11" name="Rectangle 2">
            <a:extLst>
              <a:ext uri="{FF2B5EF4-FFF2-40B4-BE49-F238E27FC236}">
                <a16:creationId xmlns:a16="http://schemas.microsoft.com/office/drawing/2014/main" id="{F398414A-7932-418A-A8D2-A6427BBF13DA}"/>
              </a:ext>
            </a:extLst>
          </p:cNvPr>
          <p:cNvSpPr>
            <a:spLocks noGrp="1" noChangeArrowheads="1"/>
          </p:cNvSpPr>
          <p:nvPr>
            <p:ph type="title"/>
          </p:nvPr>
        </p:nvSpPr>
        <p:spPr>
          <a:xfrm>
            <a:off x="598488" y="188913"/>
            <a:ext cx="8077200" cy="609600"/>
          </a:xfrm>
        </p:spPr>
        <p:txBody>
          <a:bodyPr/>
          <a:lstStyle/>
          <a:p>
            <a:pPr>
              <a:defRPr/>
            </a:pPr>
            <a:r>
              <a:rPr lang="zh-CN" altLang="en-US" dirty="0"/>
              <a:t>参数算法</a:t>
            </a:r>
          </a:p>
        </p:txBody>
      </p:sp>
      <p:sp>
        <p:nvSpPr>
          <p:cNvPr id="47110" name="日期占位符 3">
            <a:extLst>
              <a:ext uri="{FF2B5EF4-FFF2-40B4-BE49-F238E27FC236}">
                <a16:creationId xmlns:a16="http://schemas.microsoft.com/office/drawing/2014/main" id="{F6CE1BBB-4851-4102-AFA2-F600C4C68A19}"/>
              </a:ext>
            </a:extLst>
          </p:cNvPr>
          <p:cNvSpPr>
            <a:spLocks noGrp="1"/>
          </p:cNvSpPr>
          <p:nvPr>
            <p:ph type="dt" sz="quarter" idx="10"/>
          </p:nvPr>
        </p:nvSpPr>
        <p:spPr>
          <a:xfrm>
            <a:off x="4043363" y="6580188"/>
            <a:ext cx="1824037" cy="377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CBC6AC68-499D-4892-8E6F-3E815328AE95}"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7111" name="灯片编号占位符 4">
            <a:extLst>
              <a:ext uri="{FF2B5EF4-FFF2-40B4-BE49-F238E27FC236}">
                <a16:creationId xmlns:a16="http://schemas.microsoft.com/office/drawing/2014/main" id="{5913684D-9D1B-49EB-920C-3BAC095859DF}"/>
              </a:ext>
            </a:extLst>
          </p:cNvPr>
          <p:cNvSpPr>
            <a:spLocks noGrp="1"/>
          </p:cNvSpPr>
          <p:nvPr>
            <p:ph type="sldNum" sz="quarter" idx="11"/>
          </p:nvPr>
        </p:nvSpPr>
        <p:spPr>
          <a:xfrm>
            <a:off x="7956550" y="6573838"/>
            <a:ext cx="800100" cy="284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C9F2F01-784E-4373-B401-04C8C12C95F8}"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44</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slide(fromBottom)">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106"/>
                                        </p:tgtEl>
                                        <p:attrNameLst>
                                          <p:attrName>style.visibility</p:attrName>
                                        </p:attrNameLst>
                                      </p:cBhvr>
                                      <p:to>
                                        <p:strVal val="visible"/>
                                      </p:to>
                                    </p:set>
                                    <p:animEffect transition="in" filter="wipe(down)">
                                      <p:cBhvr>
                                        <p:cTn id="12" dur="500"/>
                                        <p:tgtEl>
                                          <p:spTgt spid="41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6922"/>
                                        </p:tgtEl>
                                        <p:attrNameLst>
                                          <p:attrName>style.visibility</p:attrName>
                                        </p:attrNameLst>
                                      </p:cBhvr>
                                      <p:to>
                                        <p:strVal val="visible"/>
                                      </p:to>
                                    </p:set>
                                    <p:animEffect transition="in" filter="slide(fromBottom)">
                                      <p:cBhvr>
                                        <p:cTn id="17" dur="500"/>
                                        <p:tgtEl>
                                          <p:spTgt spid="166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p:bldP spid="4106" grpId="0"/>
      <p:bldP spid="16692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a:extLst>
              <a:ext uri="{FF2B5EF4-FFF2-40B4-BE49-F238E27FC236}">
                <a16:creationId xmlns:a16="http://schemas.microsoft.com/office/drawing/2014/main" id="{9D2D5BE9-1595-4844-BBE7-C6543825E2F7}"/>
              </a:ext>
            </a:extLst>
          </p:cNvPr>
          <p:cNvSpPr txBox="1">
            <a:spLocks noChangeArrowheads="1"/>
          </p:cNvSpPr>
          <p:nvPr/>
        </p:nvSpPr>
        <p:spPr bwMode="auto">
          <a:xfrm>
            <a:off x="684213" y="1500188"/>
            <a:ext cx="7993062" cy="11144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3333FF"/>
                </a:solidFill>
                <a:latin typeface="Tahoma" pitchFamily="34" charset="0"/>
                <a:ea typeface="+mj-ea"/>
                <a:cs typeface="Tahoma" pitchFamily="34" charset="0"/>
              </a:rPr>
              <a:t>点覆盖问题：</a:t>
            </a:r>
            <a:r>
              <a:rPr lang="zh-CN" altLang="en-US" sz="2400" b="1" dirty="0">
                <a:solidFill>
                  <a:srgbClr val="000000"/>
                </a:solidFill>
                <a:latin typeface="Tahoma" pitchFamily="34" charset="0"/>
                <a:ea typeface="+mj-ea"/>
                <a:cs typeface="Tahoma" pitchFamily="34" charset="0"/>
              </a:rPr>
              <a:t>给定一个图，问是否存在</a:t>
            </a:r>
            <a:r>
              <a:rPr lang="en-US" altLang="zh-CN" sz="2400" b="1" dirty="0">
                <a:solidFill>
                  <a:srgbClr val="000000"/>
                </a:solidFill>
                <a:latin typeface="Tahoma" pitchFamily="34" charset="0"/>
                <a:ea typeface="Tahoma" pitchFamily="34" charset="0"/>
                <a:cs typeface="Tahoma" pitchFamily="34" charset="0"/>
              </a:rPr>
              <a:t>k</a:t>
            </a:r>
            <a:r>
              <a:rPr lang="zh-CN" altLang="en-US" sz="2400" b="1" dirty="0">
                <a:solidFill>
                  <a:srgbClr val="000000"/>
                </a:solidFill>
                <a:latin typeface="Tahoma" pitchFamily="34" charset="0"/>
                <a:ea typeface="+mj-ea"/>
                <a:cs typeface="Tahoma" pitchFamily="34" charset="0"/>
              </a:rPr>
              <a:t>个点使得图中任何一条边都有最少一个端点在这</a:t>
            </a:r>
            <a:r>
              <a:rPr lang="en-US" altLang="zh-CN" sz="2400" b="1" dirty="0">
                <a:solidFill>
                  <a:srgbClr val="000000"/>
                </a:solidFill>
                <a:latin typeface="Tahoma" pitchFamily="34" charset="0"/>
                <a:ea typeface="Tahoma" pitchFamily="34" charset="0"/>
                <a:cs typeface="Tahoma" pitchFamily="34" charset="0"/>
              </a:rPr>
              <a:t>k</a:t>
            </a:r>
            <a:r>
              <a:rPr lang="zh-CN" altLang="en-US" sz="2400" b="1" dirty="0">
                <a:solidFill>
                  <a:srgbClr val="000000"/>
                </a:solidFill>
                <a:latin typeface="Tahoma" pitchFamily="34" charset="0"/>
                <a:ea typeface="+mj-ea"/>
                <a:cs typeface="Tahoma" pitchFamily="34" charset="0"/>
              </a:rPr>
              <a:t>个点中。</a:t>
            </a:r>
          </a:p>
        </p:txBody>
      </p:sp>
      <p:grpSp>
        <p:nvGrpSpPr>
          <p:cNvPr id="2" name="Group 4">
            <a:extLst>
              <a:ext uri="{FF2B5EF4-FFF2-40B4-BE49-F238E27FC236}">
                <a16:creationId xmlns:a16="http://schemas.microsoft.com/office/drawing/2014/main" id="{B977AAB4-8F18-45B4-9D69-01188044A4CF}"/>
              </a:ext>
            </a:extLst>
          </p:cNvPr>
          <p:cNvGrpSpPr>
            <a:grpSpLocks/>
          </p:cNvGrpSpPr>
          <p:nvPr/>
        </p:nvGrpSpPr>
        <p:grpSpPr bwMode="auto">
          <a:xfrm>
            <a:off x="2898775" y="3300413"/>
            <a:ext cx="2963863" cy="1066800"/>
            <a:chOff x="660" y="2440"/>
            <a:chExt cx="1867" cy="672"/>
          </a:xfrm>
        </p:grpSpPr>
        <p:sp>
          <p:nvSpPr>
            <p:cNvPr id="48140" name="Oval 5">
              <a:extLst>
                <a:ext uri="{FF2B5EF4-FFF2-40B4-BE49-F238E27FC236}">
                  <a16:creationId xmlns:a16="http://schemas.microsoft.com/office/drawing/2014/main" id="{05CDB384-BCC9-40F9-BC5E-42D3949E0BC7}"/>
                </a:ext>
              </a:extLst>
            </p:cNvPr>
            <p:cNvSpPr>
              <a:spLocks noChangeArrowheads="1"/>
            </p:cNvSpPr>
            <p:nvPr/>
          </p:nvSpPr>
          <p:spPr bwMode="auto">
            <a:xfrm>
              <a:off x="1236" y="2584"/>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41" name="Oval 6">
              <a:extLst>
                <a:ext uri="{FF2B5EF4-FFF2-40B4-BE49-F238E27FC236}">
                  <a16:creationId xmlns:a16="http://schemas.microsoft.com/office/drawing/2014/main" id="{6A20BCB0-C6AD-4B07-9913-172FC81CD73E}"/>
                </a:ext>
              </a:extLst>
            </p:cNvPr>
            <p:cNvSpPr>
              <a:spLocks noChangeArrowheads="1"/>
            </p:cNvSpPr>
            <p:nvPr/>
          </p:nvSpPr>
          <p:spPr bwMode="auto">
            <a:xfrm>
              <a:off x="1812" y="2584"/>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42" name="Oval 7">
              <a:extLst>
                <a:ext uri="{FF2B5EF4-FFF2-40B4-BE49-F238E27FC236}">
                  <a16:creationId xmlns:a16="http://schemas.microsoft.com/office/drawing/2014/main" id="{521ED0AF-FBA4-412D-B010-AE1917B6DF51}"/>
                </a:ext>
              </a:extLst>
            </p:cNvPr>
            <p:cNvSpPr>
              <a:spLocks noChangeArrowheads="1"/>
            </p:cNvSpPr>
            <p:nvPr/>
          </p:nvSpPr>
          <p:spPr bwMode="auto">
            <a:xfrm>
              <a:off x="2436" y="2440"/>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43" name="Oval 8">
              <a:extLst>
                <a:ext uri="{FF2B5EF4-FFF2-40B4-BE49-F238E27FC236}">
                  <a16:creationId xmlns:a16="http://schemas.microsoft.com/office/drawing/2014/main" id="{BFDBB85F-EB3A-48CE-8539-47DA40BA0159}"/>
                </a:ext>
              </a:extLst>
            </p:cNvPr>
            <p:cNvSpPr>
              <a:spLocks noChangeArrowheads="1"/>
            </p:cNvSpPr>
            <p:nvPr/>
          </p:nvSpPr>
          <p:spPr bwMode="auto">
            <a:xfrm>
              <a:off x="2292" y="2968"/>
              <a:ext cx="91" cy="90"/>
            </a:xfrm>
            <a:prstGeom prst="ellipse">
              <a:avLst/>
            </a:prstGeom>
            <a:solidFill>
              <a:srgbClr val="00FF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44" name="Oval 9">
              <a:extLst>
                <a:ext uri="{FF2B5EF4-FFF2-40B4-BE49-F238E27FC236}">
                  <a16:creationId xmlns:a16="http://schemas.microsoft.com/office/drawing/2014/main" id="{BD7FC491-DBDD-49B7-88B6-6D7B331FF1D7}"/>
                </a:ext>
              </a:extLst>
            </p:cNvPr>
            <p:cNvSpPr>
              <a:spLocks noChangeArrowheads="1"/>
            </p:cNvSpPr>
            <p:nvPr/>
          </p:nvSpPr>
          <p:spPr bwMode="auto">
            <a:xfrm>
              <a:off x="660" y="2536"/>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45" name="Line 10">
              <a:extLst>
                <a:ext uri="{FF2B5EF4-FFF2-40B4-BE49-F238E27FC236}">
                  <a16:creationId xmlns:a16="http://schemas.microsoft.com/office/drawing/2014/main" id="{086304E8-87FE-4B7F-A706-EA6BF0B481F8}"/>
                </a:ext>
              </a:extLst>
            </p:cNvPr>
            <p:cNvSpPr>
              <a:spLocks noChangeShapeType="1"/>
            </p:cNvSpPr>
            <p:nvPr/>
          </p:nvSpPr>
          <p:spPr bwMode="auto">
            <a:xfrm>
              <a:off x="756" y="2584"/>
              <a:ext cx="48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1">
              <a:extLst>
                <a:ext uri="{FF2B5EF4-FFF2-40B4-BE49-F238E27FC236}">
                  <a16:creationId xmlns:a16="http://schemas.microsoft.com/office/drawing/2014/main" id="{66311531-C1E1-409C-B76C-E281353A8D6C}"/>
                </a:ext>
              </a:extLst>
            </p:cNvPr>
            <p:cNvSpPr>
              <a:spLocks noChangeShapeType="1"/>
            </p:cNvSpPr>
            <p:nvPr/>
          </p:nvSpPr>
          <p:spPr bwMode="auto">
            <a:xfrm>
              <a:off x="1332" y="2632"/>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Line 12">
              <a:extLst>
                <a:ext uri="{FF2B5EF4-FFF2-40B4-BE49-F238E27FC236}">
                  <a16:creationId xmlns:a16="http://schemas.microsoft.com/office/drawing/2014/main" id="{2B5B9E07-C142-405D-ABCE-395AF5B5BCB8}"/>
                </a:ext>
              </a:extLst>
            </p:cNvPr>
            <p:cNvSpPr>
              <a:spLocks noChangeShapeType="1"/>
            </p:cNvSpPr>
            <p:nvPr/>
          </p:nvSpPr>
          <p:spPr bwMode="auto">
            <a:xfrm flipV="1">
              <a:off x="1908" y="2488"/>
              <a:ext cx="52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Line 13">
              <a:extLst>
                <a:ext uri="{FF2B5EF4-FFF2-40B4-BE49-F238E27FC236}">
                  <a16:creationId xmlns:a16="http://schemas.microsoft.com/office/drawing/2014/main" id="{31B6F006-D9DB-45B7-AB5D-7796EDBB7BA0}"/>
                </a:ext>
              </a:extLst>
            </p:cNvPr>
            <p:cNvSpPr>
              <a:spLocks noChangeShapeType="1"/>
            </p:cNvSpPr>
            <p:nvPr/>
          </p:nvSpPr>
          <p:spPr bwMode="auto">
            <a:xfrm flipH="1">
              <a:off x="2340" y="2536"/>
              <a:ext cx="14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4">
              <a:extLst>
                <a:ext uri="{FF2B5EF4-FFF2-40B4-BE49-F238E27FC236}">
                  <a16:creationId xmlns:a16="http://schemas.microsoft.com/office/drawing/2014/main" id="{18BFAB26-7F59-4BAC-B810-B31FD5C3DF94}"/>
                </a:ext>
              </a:extLst>
            </p:cNvPr>
            <p:cNvSpPr>
              <a:spLocks noChangeShapeType="1"/>
            </p:cNvSpPr>
            <p:nvPr/>
          </p:nvSpPr>
          <p:spPr bwMode="auto">
            <a:xfrm>
              <a:off x="1908" y="2632"/>
              <a:ext cx="43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Oval 15">
              <a:extLst>
                <a:ext uri="{FF2B5EF4-FFF2-40B4-BE49-F238E27FC236}">
                  <a16:creationId xmlns:a16="http://schemas.microsoft.com/office/drawing/2014/main" id="{E25549E4-63E3-4575-B2F6-B89FCC1A6A60}"/>
                </a:ext>
              </a:extLst>
            </p:cNvPr>
            <p:cNvSpPr>
              <a:spLocks noChangeArrowheads="1"/>
            </p:cNvSpPr>
            <p:nvPr/>
          </p:nvSpPr>
          <p:spPr bwMode="auto">
            <a:xfrm>
              <a:off x="1066" y="2931"/>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51" name="Oval 16">
              <a:extLst>
                <a:ext uri="{FF2B5EF4-FFF2-40B4-BE49-F238E27FC236}">
                  <a16:creationId xmlns:a16="http://schemas.microsoft.com/office/drawing/2014/main" id="{96C0C5EE-3747-4A20-86D9-C1F6CC7EA9AC}"/>
                </a:ext>
              </a:extLst>
            </p:cNvPr>
            <p:cNvSpPr>
              <a:spLocks noChangeArrowheads="1"/>
            </p:cNvSpPr>
            <p:nvPr/>
          </p:nvSpPr>
          <p:spPr bwMode="auto">
            <a:xfrm>
              <a:off x="1681" y="3022"/>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48152" name="Line 17">
              <a:extLst>
                <a:ext uri="{FF2B5EF4-FFF2-40B4-BE49-F238E27FC236}">
                  <a16:creationId xmlns:a16="http://schemas.microsoft.com/office/drawing/2014/main" id="{26827AD0-8336-4CA2-84B9-6AF292BFBDE5}"/>
                </a:ext>
              </a:extLst>
            </p:cNvPr>
            <p:cNvSpPr>
              <a:spLocks noChangeShapeType="1"/>
            </p:cNvSpPr>
            <p:nvPr/>
          </p:nvSpPr>
          <p:spPr bwMode="auto">
            <a:xfrm flipH="1">
              <a:off x="1746" y="2614"/>
              <a:ext cx="91" cy="40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53" name="Line 18">
              <a:extLst>
                <a:ext uri="{FF2B5EF4-FFF2-40B4-BE49-F238E27FC236}">
                  <a16:creationId xmlns:a16="http://schemas.microsoft.com/office/drawing/2014/main" id="{FBFB0EC5-47AC-49F5-AB67-1DE3A31EEEA4}"/>
                </a:ext>
              </a:extLst>
            </p:cNvPr>
            <p:cNvSpPr>
              <a:spLocks noChangeShapeType="1"/>
            </p:cNvSpPr>
            <p:nvPr/>
          </p:nvSpPr>
          <p:spPr bwMode="auto">
            <a:xfrm>
              <a:off x="1156" y="2976"/>
              <a:ext cx="545" cy="4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54" name="Line 19">
              <a:extLst>
                <a:ext uri="{FF2B5EF4-FFF2-40B4-BE49-F238E27FC236}">
                  <a16:creationId xmlns:a16="http://schemas.microsoft.com/office/drawing/2014/main" id="{E172CCF6-003D-46B2-BAA0-CC6F667C5241}"/>
                </a:ext>
              </a:extLst>
            </p:cNvPr>
            <p:cNvSpPr>
              <a:spLocks noChangeShapeType="1"/>
            </p:cNvSpPr>
            <p:nvPr/>
          </p:nvSpPr>
          <p:spPr bwMode="auto">
            <a:xfrm flipH="1">
              <a:off x="1156" y="2659"/>
              <a:ext cx="91" cy="31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67956" name="Oval 20">
            <a:extLst>
              <a:ext uri="{FF2B5EF4-FFF2-40B4-BE49-F238E27FC236}">
                <a16:creationId xmlns:a16="http://schemas.microsoft.com/office/drawing/2014/main" id="{2AD264DC-FDC5-444D-B970-9654642A2A45}"/>
              </a:ext>
            </a:extLst>
          </p:cNvPr>
          <p:cNvSpPr>
            <a:spLocks noChangeArrowheads="1"/>
          </p:cNvSpPr>
          <p:nvPr/>
        </p:nvSpPr>
        <p:spPr bwMode="auto">
          <a:xfrm>
            <a:off x="3805238" y="3529013"/>
            <a:ext cx="144462" cy="142875"/>
          </a:xfrm>
          <a:prstGeom prst="ellipse">
            <a:avLst/>
          </a:prstGeom>
          <a:solidFill>
            <a:srgbClr val="FF0000"/>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67957" name="Oval 21">
            <a:extLst>
              <a:ext uri="{FF2B5EF4-FFF2-40B4-BE49-F238E27FC236}">
                <a16:creationId xmlns:a16="http://schemas.microsoft.com/office/drawing/2014/main" id="{414CC727-B558-48F3-9EDF-99831C11B910}"/>
              </a:ext>
            </a:extLst>
          </p:cNvPr>
          <p:cNvSpPr>
            <a:spLocks noChangeArrowheads="1"/>
          </p:cNvSpPr>
          <p:nvPr/>
        </p:nvSpPr>
        <p:spPr bwMode="auto">
          <a:xfrm>
            <a:off x="4724400" y="3525838"/>
            <a:ext cx="144463" cy="142875"/>
          </a:xfrm>
          <a:prstGeom prst="ellipse">
            <a:avLst/>
          </a:prstGeom>
          <a:solidFill>
            <a:srgbClr val="FF0000"/>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67958" name="Oval 22">
            <a:extLst>
              <a:ext uri="{FF2B5EF4-FFF2-40B4-BE49-F238E27FC236}">
                <a16:creationId xmlns:a16="http://schemas.microsoft.com/office/drawing/2014/main" id="{85165B01-5F33-4CE4-BEC2-31F21F515DF1}"/>
              </a:ext>
            </a:extLst>
          </p:cNvPr>
          <p:cNvSpPr>
            <a:spLocks noChangeArrowheads="1"/>
          </p:cNvSpPr>
          <p:nvPr/>
        </p:nvSpPr>
        <p:spPr bwMode="auto">
          <a:xfrm>
            <a:off x="5486400" y="4138613"/>
            <a:ext cx="144463" cy="142875"/>
          </a:xfrm>
          <a:prstGeom prst="ellipse">
            <a:avLst/>
          </a:prstGeom>
          <a:solidFill>
            <a:srgbClr val="FF0000"/>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67959" name="Oval 23">
            <a:extLst>
              <a:ext uri="{FF2B5EF4-FFF2-40B4-BE49-F238E27FC236}">
                <a16:creationId xmlns:a16="http://schemas.microsoft.com/office/drawing/2014/main" id="{663EC757-E959-448A-92FD-B963840FB63F}"/>
              </a:ext>
            </a:extLst>
          </p:cNvPr>
          <p:cNvSpPr>
            <a:spLocks noChangeArrowheads="1"/>
          </p:cNvSpPr>
          <p:nvPr/>
        </p:nvSpPr>
        <p:spPr bwMode="auto">
          <a:xfrm>
            <a:off x="3538538" y="4092575"/>
            <a:ext cx="144462" cy="142875"/>
          </a:xfrm>
          <a:prstGeom prst="ellipse">
            <a:avLst/>
          </a:prstGeom>
          <a:solidFill>
            <a:srgbClr val="FF0000"/>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167960" name="Text Box 24">
            <a:extLst>
              <a:ext uri="{FF2B5EF4-FFF2-40B4-BE49-F238E27FC236}">
                <a16:creationId xmlns:a16="http://schemas.microsoft.com/office/drawing/2014/main" id="{CF344989-EA95-43CD-98D0-3A6631282EED}"/>
              </a:ext>
            </a:extLst>
          </p:cNvPr>
          <p:cNvSpPr txBox="1">
            <a:spLocks noChangeArrowheads="1"/>
          </p:cNvSpPr>
          <p:nvPr/>
        </p:nvSpPr>
        <p:spPr bwMode="auto">
          <a:xfrm>
            <a:off x="755650" y="4560888"/>
            <a:ext cx="7993063" cy="569912"/>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None/>
              <a:defRPr/>
            </a:pPr>
            <a:r>
              <a:rPr lang="zh-CN" altLang="en-US" sz="2400" dirty="0">
                <a:solidFill>
                  <a:srgbClr val="000000"/>
                </a:solidFill>
                <a:latin typeface="Tahoma" pitchFamily="34" charset="0"/>
                <a:ea typeface="+mj-ea"/>
                <a:cs typeface="Tahoma" pitchFamily="34" charset="0"/>
              </a:rPr>
              <a:t>上图存在一个</a:t>
            </a:r>
            <a:r>
              <a:rPr lang="en-US" altLang="zh-CN" sz="2400" dirty="0">
                <a:solidFill>
                  <a:srgbClr val="FF0000"/>
                </a:solidFill>
                <a:latin typeface="Tahoma" pitchFamily="34" charset="0"/>
                <a:ea typeface="Tahoma" pitchFamily="34" charset="0"/>
                <a:cs typeface="Tahoma" pitchFamily="34" charset="0"/>
              </a:rPr>
              <a:t>4</a:t>
            </a:r>
            <a:r>
              <a:rPr lang="en-US" altLang="zh-CN" sz="2400" dirty="0">
                <a:solidFill>
                  <a:srgbClr val="000000"/>
                </a:solidFill>
                <a:latin typeface="Tahoma" pitchFamily="34" charset="0"/>
                <a:ea typeface="Tahoma" pitchFamily="34" charset="0"/>
                <a:cs typeface="Tahoma" pitchFamily="34" charset="0"/>
              </a:rPr>
              <a:t>-</a:t>
            </a:r>
            <a:r>
              <a:rPr lang="zh-CN" altLang="en-US" sz="2400" dirty="0">
                <a:solidFill>
                  <a:srgbClr val="000000"/>
                </a:solidFill>
                <a:latin typeface="Tahoma" pitchFamily="34" charset="0"/>
                <a:ea typeface="+mj-ea"/>
                <a:cs typeface="Tahoma" pitchFamily="34" charset="0"/>
              </a:rPr>
              <a:t>点覆盖，但是不存在一个</a:t>
            </a:r>
            <a:r>
              <a:rPr lang="en-US" altLang="zh-CN" sz="2400" dirty="0">
                <a:solidFill>
                  <a:srgbClr val="FF0000"/>
                </a:solidFill>
                <a:latin typeface="Tahoma" pitchFamily="34" charset="0"/>
                <a:ea typeface="Tahoma" pitchFamily="34" charset="0"/>
                <a:cs typeface="Tahoma" pitchFamily="34" charset="0"/>
              </a:rPr>
              <a:t>3</a:t>
            </a:r>
            <a:r>
              <a:rPr lang="en-US" altLang="zh-CN" sz="2400" dirty="0">
                <a:solidFill>
                  <a:srgbClr val="000000"/>
                </a:solidFill>
                <a:latin typeface="Tahoma" pitchFamily="34" charset="0"/>
                <a:ea typeface="Tahoma" pitchFamily="34" charset="0"/>
                <a:cs typeface="Tahoma" pitchFamily="34" charset="0"/>
              </a:rPr>
              <a:t>-</a:t>
            </a:r>
            <a:r>
              <a:rPr lang="zh-CN" altLang="en-US" sz="2400" dirty="0">
                <a:solidFill>
                  <a:srgbClr val="000000"/>
                </a:solidFill>
                <a:latin typeface="Tahoma" pitchFamily="34" charset="0"/>
                <a:ea typeface="+mj-ea"/>
                <a:cs typeface="Tahoma" pitchFamily="34" charset="0"/>
              </a:rPr>
              <a:t>点覆盖。</a:t>
            </a:r>
          </a:p>
        </p:txBody>
      </p:sp>
      <p:sp>
        <p:nvSpPr>
          <p:cNvPr id="25" name="Rectangle 2">
            <a:extLst>
              <a:ext uri="{FF2B5EF4-FFF2-40B4-BE49-F238E27FC236}">
                <a16:creationId xmlns:a16="http://schemas.microsoft.com/office/drawing/2014/main" id="{075AAE1A-4333-4B13-BF2F-B4D3432FC400}"/>
              </a:ext>
            </a:extLst>
          </p:cNvPr>
          <p:cNvSpPr>
            <a:spLocks noGrp="1" noChangeArrowheads="1"/>
          </p:cNvSpPr>
          <p:nvPr>
            <p:ph type="title"/>
          </p:nvPr>
        </p:nvSpPr>
        <p:spPr/>
        <p:txBody>
          <a:bodyPr/>
          <a:lstStyle/>
          <a:p>
            <a:pPr>
              <a:defRPr/>
            </a:pPr>
            <a:r>
              <a:rPr lang="zh-CN" altLang="en-US" dirty="0"/>
              <a:t>点覆盖问题</a:t>
            </a:r>
          </a:p>
        </p:txBody>
      </p:sp>
      <p:sp>
        <p:nvSpPr>
          <p:cNvPr id="48138" name="日期占位符 3">
            <a:extLst>
              <a:ext uri="{FF2B5EF4-FFF2-40B4-BE49-F238E27FC236}">
                <a16:creationId xmlns:a16="http://schemas.microsoft.com/office/drawing/2014/main" id="{F1E7DD5C-A89B-4B1B-8B7E-6F33BA91BE0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EF68172-A4D0-4A3D-9F05-65494CEA4CBB}"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8139" name="灯片编号占位符 4">
            <a:extLst>
              <a:ext uri="{FF2B5EF4-FFF2-40B4-BE49-F238E27FC236}">
                <a16:creationId xmlns:a16="http://schemas.microsoft.com/office/drawing/2014/main" id="{F72CB9CB-5BB5-45AE-9E08-1397B680E8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909AF49-08DE-4087-9252-34686D33FD0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45</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slide(fromBottom)">
                                      <p:cBhvr>
                                        <p:cTn id="7" dur="500"/>
                                        <p:tgtEl>
                                          <p:spTgt spid="167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7956"/>
                                        </p:tgtEl>
                                        <p:attrNameLst>
                                          <p:attrName>style.visibility</p:attrName>
                                        </p:attrNameLst>
                                      </p:cBhvr>
                                      <p:to>
                                        <p:strVal val="visible"/>
                                      </p:to>
                                    </p:set>
                                    <p:animEffect transition="in" filter="wipe(down)">
                                      <p:cBhvr>
                                        <p:cTn id="17" dur="500"/>
                                        <p:tgtEl>
                                          <p:spTgt spid="167956"/>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67957"/>
                                        </p:tgtEl>
                                        <p:attrNameLst>
                                          <p:attrName>style.visibility</p:attrName>
                                        </p:attrNameLst>
                                      </p:cBhvr>
                                      <p:to>
                                        <p:strVal val="visible"/>
                                      </p:to>
                                    </p:set>
                                    <p:animEffect transition="in" filter="wipe(down)">
                                      <p:cBhvr>
                                        <p:cTn id="20" dur="500"/>
                                        <p:tgtEl>
                                          <p:spTgt spid="167957"/>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67958"/>
                                        </p:tgtEl>
                                        <p:attrNameLst>
                                          <p:attrName>style.visibility</p:attrName>
                                        </p:attrNameLst>
                                      </p:cBhvr>
                                      <p:to>
                                        <p:strVal val="visible"/>
                                      </p:to>
                                    </p:set>
                                    <p:animEffect transition="in" filter="wipe(down)">
                                      <p:cBhvr>
                                        <p:cTn id="23" dur="500"/>
                                        <p:tgtEl>
                                          <p:spTgt spid="16795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67959"/>
                                        </p:tgtEl>
                                        <p:attrNameLst>
                                          <p:attrName>style.visibility</p:attrName>
                                        </p:attrNameLst>
                                      </p:cBhvr>
                                      <p:to>
                                        <p:strVal val="visible"/>
                                      </p:to>
                                    </p:set>
                                    <p:animEffect transition="in" filter="wipe(down)">
                                      <p:cBhvr>
                                        <p:cTn id="26" dur="500"/>
                                        <p:tgtEl>
                                          <p:spTgt spid="1679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67960"/>
                                        </p:tgtEl>
                                        <p:attrNameLst>
                                          <p:attrName>style.visibility</p:attrName>
                                        </p:attrNameLst>
                                      </p:cBhvr>
                                      <p:to>
                                        <p:strVal val="visible"/>
                                      </p:to>
                                    </p:set>
                                    <p:animEffect transition="in" filter="slide(fromBottom)">
                                      <p:cBhvr>
                                        <p:cTn id="31" dur="500"/>
                                        <p:tgtEl>
                                          <p:spTgt spid="167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P spid="167956" grpId="0" animBg="1"/>
      <p:bldP spid="167957" grpId="0" animBg="1"/>
      <p:bldP spid="167958" grpId="0" animBg="1"/>
      <p:bldP spid="167959" grpId="0" animBg="1"/>
      <p:bldP spid="16796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Text Box 3">
            <a:extLst>
              <a:ext uri="{FF2B5EF4-FFF2-40B4-BE49-F238E27FC236}">
                <a16:creationId xmlns:a16="http://schemas.microsoft.com/office/drawing/2014/main" id="{19455B80-3382-442F-A981-1BD99CCD03FC}"/>
              </a:ext>
            </a:extLst>
          </p:cNvPr>
          <p:cNvSpPr txBox="1">
            <a:spLocks noChangeArrowheads="1"/>
          </p:cNvSpPr>
          <p:nvPr/>
        </p:nvSpPr>
        <p:spPr bwMode="auto">
          <a:xfrm>
            <a:off x="573088" y="1357313"/>
            <a:ext cx="7993062" cy="1114425"/>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Tahoma" pitchFamily="34" charset="0"/>
                <a:ea typeface="+mj-ea"/>
                <a:cs typeface="Tahoma" pitchFamily="34" charset="0"/>
              </a:rPr>
              <a:t>点覆盖问题是六个最基本的</a:t>
            </a:r>
            <a:r>
              <a:rPr lang="en-US" altLang="zh-CN" sz="2400" b="1" dirty="0">
                <a:solidFill>
                  <a:srgbClr val="000000"/>
                </a:solidFill>
                <a:latin typeface="Tahoma" pitchFamily="34" charset="0"/>
                <a:ea typeface="Tahoma" pitchFamily="34" charset="0"/>
                <a:cs typeface="Tahoma" pitchFamily="34" charset="0"/>
              </a:rPr>
              <a:t>NP</a:t>
            </a:r>
            <a:r>
              <a:rPr lang="zh-CN" altLang="en-US" sz="2400" b="1" dirty="0">
                <a:solidFill>
                  <a:srgbClr val="000000"/>
                </a:solidFill>
                <a:latin typeface="Tahoma" pitchFamily="34" charset="0"/>
                <a:ea typeface="+mj-ea"/>
                <a:cs typeface="Tahoma" pitchFamily="34" charset="0"/>
              </a:rPr>
              <a:t>完全问题，也是图算法和参数算法中最为基础的一个问题。</a:t>
            </a:r>
          </a:p>
        </p:txBody>
      </p:sp>
      <p:sp>
        <p:nvSpPr>
          <p:cNvPr id="168964" name="Text Box 4">
            <a:extLst>
              <a:ext uri="{FF2B5EF4-FFF2-40B4-BE49-F238E27FC236}">
                <a16:creationId xmlns:a16="http://schemas.microsoft.com/office/drawing/2014/main" id="{A14B3503-04EB-4E88-8DE4-27E2E8E47865}"/>
              </a:ext>
            </a:extLst>
          </p:cNvPr>
          <p:cNvSpPr txBox="1">
            <a:spLocks noChangeArrowheads="1"/>
          </p:cNvSpPr>
          <p:nvPr/>
        </p:nvSpPr>
        <p:spPr bwMode="auto">
          <a:xfrm>
            <a:off x="571500" y="3770313"/>
            <a:ext cx="7993063" cy="1676400"/>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Tahoma" pitchFamily="34" charset="0"/>
                <a:ea typeface="+mj-ea"/>
                <a:cs typeface="Tahoma" pitchFamily="34" charset="0"/>
              </a:rPr>
              <a:t>点覆盖问题应用非常广泛，在生物计算中对应的实际问题的图模型</a:t>
            </a:r>
            <a:r>
              <a:rPr lang="zh-CN" altLang="en-US" sz="2400" b="1" dirty="0">
                <a:solidFill>
                  <a:srgbClr val="FF0000"/>
                </a:solidFill>
                <a:latin typeface="Tahoma" pitchFamily="34" charset="0"/>
                <a:ea typeface="+mj-ea"/>
                <a:cs typeface="Tahoma" pitchFamily="34" charset="0"/>
              </a:rPr>
              <a:t>中点的个数可以达到</a:t>
            </a:r>
            <a:r>
              <a:rPr lang="en-US" altLang="zh-CN" sz="2400" b="1" dirty="0">
                <a:solidFill>
                  <a:srgbClr val="FF0000"/>
                </a:solidFill>
                <a:latin typeface="Tahoma" pitchFamily="34" charset="0"/>
                <a:ea typeface="Tahoma" pitchFamily="34" charset="0"/>
                <a:cs typeface="Tahoma" pitchFamily="34" charset="0"/>
              </a:rPr>
              <a:t>5000</a:t>
            </a:r>
            <a:r>
              <a:rPr lang="zh-CN" altLang="en-US" sz="2400" b="1" dirty="0">
                <a:solidFill>
                  <a:srgbClr val="000000"/>
                </a:solidFill>
                <a:latin typeface="Tahoma" pitchFamily="34" charset="0"/>
                <a:ea typeface="+mj-ea"/>
                <a:cs typeface="Tahoma" pitchFamily="34" charset="0"/>
              </a:rPr>
              <a:t>，而要求的</a:t>
            </a:r>
            <a:r>
              <a:rPr lang="zh-CN" altLang="en-US" sz="2400" b="1" dirty="0">
                <a:solidFill>
                  <a:srgbClr val="FF0000"/>
                </a:solidFill>
                <a:latin typeface="Tahoma" pitchFamily="34" charset="0"/>
                <a:ea typeface="+mj-ea"/>
                <a:cs typeface="Tahoma" pitchFamily="34" charset="0"/>
              </a:rPr>
              <a:t>点覆盖大小一般不超过</a:t>
            </a:r>
            <a:r>
              <a:rPr lang="en-US" altLang="zh-CN" sz="2400" b="1" dirty="0">
                <a:solidFill>
                  <a:srgbClr val="FF0000"/>
                </a:solidFill>
                <a:latin typeface="Tahoma" pitchFamily="34" charset="0"/>
                <a:ea typeface="Tahoma" pitchFamily="34" charset="0"/>
                <a:cs typeface="Tahoma" pitchFamily="34" charset="0"/>
              </a:rPr>
              <a:t>60</a:t>
            </a:r>
            <a:r>
              <a:rPr lang="zh-CN" altLang="en-US" sz="2400" b="1" dirty="0">
                <a:solidFill>
                  <a:srgbClr val="000000"/>
                </a:solidFill>
                <a:latin typeface="Tahoma" pitchFamily="34" charset="0"/>
                <a:ea typeface="+mj-ea"/>
                <a:cs typeface="Tahoma" pitchFamily="34" charset="0"/>
              </a:rPr>
              <a:t>。（具有小参数性质）</a:t>
            </a:r>
          </a:p>
        </p:txBody>
      </p:sp>
      <p:sp>
        <p:nvSpPr>
          <p:cNvPr id="168965" name="Text Box 5">
            <a:extLst>
              <a:ext uri="{FF2B5EF4-FFF2-40B4-BE49-F238E27FC236}">
                <a16:creationId xmlns:a16="http://schemas.microsoft.com/office/drawing/2014/main" id="{68705A0C-A1C1-4EEF-B049-D25DEB6F7475}"/>
              </a:ext>
            </a:extLst>
          </p:cNvPr>
          <p:cNvSpPr txBox="1">
            <a:spLocks noChangeArrowheads="1"/>
          </p:cNvSpPr>
          <p:nvPr/>
        </p:nvSpPr>
        <p:spPr bwMode="auto">
          <a:xfrm>
            <a:off x="573088" y="2617788"/>
            <a:ext cx="79930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点覆盖问题不存在有效的精确算法，但存在快速的</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2</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倍近似算法。</a:t>
            </a:r>
          </a:p>
        </p:txBody>
      </p:sp>
      <p:sp>
        <p:nvSpPr>
          <p:cNvPr id="6" name="Rectangle 2">
            <a:extLst>
              <a:ext uri="{FF2B5EF4-FFF2-40B4-BE49-F238E27FC236}">
                <a16:creationId xmlns:a16="http://schemas.microsoft.com/office/drawing/2014/main" id="{8C2E90D5-BE43-4314-BBF1-030B7F48D310}"/>
              </a:ext>
            </a:extLst>
          </p:cNvPr>
          <p:cNvSpPr>
            <a:spLocks noGrp="1" noChangeArrowheads="1"/>
          </p:cNvSpPr>
          <p:nvPr>
            <p:ph type="title"/>
          </p:nvPr>
        </p:nvSpPr>
        <p:spPr/>
        <p:txBody>
          <a:bodyPr/>
          <a:lstStyle/>
          <a:p>
            <a:pPr>
              <a:defRPr/>
            </a:pPr>
            <a:r>
              <a:rPr lang="zh-CN" altLang="en-US" dirty="0"/>
              <a:t>点覆盖问题</a:t>
            </a:r>
          </a:p>
        </p:txBody>
      </p:sp>
      <p:sp>
        <p:nvSpPr>
          <p:cNvPr id="49158" name="日期占位符 3">
            <a:extLst>
              <a:ext uri="{FF2B5EF4-FFF2-40B4-BE49-F238E27FC236}">
                <a16:creationId xmlns:a16="http://schemas.microsoft.com/office/drawing/2014/main" id="{0DAF2798-6345-4794-AF88-6C3C802023B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64FE2DAE-2566-4038-B872-C5C39DEDAE3B}"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49159" name="灯片编号占位符 4">
            <a:extLst>
              <a:ext uri="{FF2B5EF4-FFF2-40B4-BE49-F238E27FC236}">
                <a16:creationId xmlns:a16="http://schemas.microsoft.com/office/drawing/2014/main" id="{7C5CEA96-EBFD-4AD9-BCC0-817EE7F1195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8552641-90CE-4465-AB3D-AEBBC0FF4B1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46</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slide(fromBottom)">
                                      <p:cBhvr>
                                        <p:cTn id="7" dur="500"/>
                                        <p:tgtEl>
                                          <p:spTgt spid="1689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8965"/>
                                        </p:tgtEl>
                                        <p:attrNameLst>
                                          <p:attrName>style.visibility</p:attrName>
                                        </p:attrNameLst>
                                      </p:cBhvr>
                                      <p:to>
                                        <p:strVal val="visible"/>
                                      </p:to>
                                    </p:set>
                                    <p:animEffect transition="in" filter="slide(fromBottom)">
                                      <p:cBhvr>
                                        <p:cTn id="12" dur="500"/>
                                        <p:tgtEl>
                                          <p:spTgt spid="168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8964"/>
                                        </p:tgtEl>
                                        <p:attrNameLst>
                                          <p:attrName>style.visibility</p:attrName>
                                        </p:attrNameLst>
                                      </p:cBhvr>
                                      <p:to>
                                        <p:strVal val="visible"/>
                                      </p:to>
                                    </p:set>
                                    <p:animEffect transition="in" filter="slide(fromBottom)">
                                      <p:cBhvr>
                                        <p:cTn id="17" dur="5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P spid="168964" grpId="0"/>
      <p:bldP spid="16896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a:extLst>
              <a:ext uri="{FF2B5EF4-FFF2-40B4-BE49-F238E27FC236}">
                <a16:creationId xmlns:a16="http://schemas.microsoft.com/office/drawing/2014/main" id="{E2289C94-2E9E-4359-B592-6BED0D4B802F}"/>
              </a:ext>
            </a:extLst>
          </p:cNvPr>
          <p:cNvSpPr txBox="1">
            <a:spLocks noChangeArrowheads="1"/>
          </p:cNvSpPr>
          <p:nvPr/>
        </p:nvSpPr>
        <p:spPr bwMode="auto">
          <a:xfrm>
            <a:off x="684213" y="1785938"/>
            <a:ext cx="7993062" cy="569912"/>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3333FF"/>
                </a:solidFill>
                <a:latin typeface="Tahoma" pitchFamily="34" charset="0"/>
                <a:ea typeface="+mj-ea"/>
                <a:cs typeface="Tahoma" pitchFamily="34" charset="0"/>
              </a:rPr>
              <a:t>穷举搜索</a:t>
            </a:r>
            <a:r>
              <a:rPr lang="zh-CN" altLang="en-US" sz="2400" b="1" dirty="0">
                <a:solidFill>
                  <a:srgbClr val="000000"/>
                </a:solidFill>
                <a:latin typeface="Tahoma" pitchFamily="34" charset="0"/>
                <a:ea typeface="+mj-ea"/>
                <a:cs typeface="Tahoma" pitchFamily="34" charset="0"/>
              </a:rPr>
              <a:t>：把所有点集的子集考虑一下，运行时间</a:t>
            </a:r>
            <a:r>
              <a:rPr lang="en-US" altLang="zh-CN" sz="2400" b="1" dirty="0">
                <a:solidFill>
                  <a:srgbClr val="000000"/>
                </a:solidFill>
                <a:latin typeface="Tahoma" pitchFamily="34" charset="0"/>
                <a:ea typeface="Tahoma" pitchFamily="34" charset="0"/>
                <a:cs typeface="Tahoma" pitchFamily="34" charset="0"/>
              </a:rPr>
              <a:t>: </a:t>
            </a:r>
            <a:r>
              <a:rPr lang="en-US" altLang="zh-CN" sz="2400" b="1" dirty="0">
                <a:solidFill>
                  <a:srgbClr val="FF0000"/>
                </a:solidFill>
                <a:latin typeface="Tahoma" pitchFamily="34" charset="0"/>
                <a:ea typeface="Tahoma" pitchFamily="34" charset="0"/>
                <a:cs typeface="Tahoma" pitchFamily="34" charset="0"/>
              </a:rPr>
              <a:t>2</a:t>
            </a:r>
            <a:r>
              <a:rPr lang="en-US" altLang="zh-CN" sz="2400" b="1" baseline="30000" dirty="0">
                <a:solidFill>
                  <a:srgbClr val="FF0000"/>
                </a:solidFill>
                <a:latin typeface="Tahoma" pitchFamily="34" charset="0"/>
                <a:ea typeface="Tahoma" pitchFamily="34" charset="0"/>
                <a:cs typeface="Tahoma" pitchFamily="34" charset="0"/>
              </a:rPr>
              <a:t>n</a:t>
            </a:r>
          </a:p>
        </p:txBody>
      </p:sp>
      <p:sp>
        <p:nvSpPr>
          <p:cNvPr id="169988" name="Text Box 4">
            <a:extLst>
              <a:ext uri="{FF2B5EF4-FFF2-40B4-BE49-F238E27FC236}">
                <a16:creationId xmlns:a16="http://schemas.microsoft.com/office/drawing/2014/main" id="{D5958A76-E2C8-4D1B-95F7-B19D9E110614}"/>
              </a:ext>
            </a:extLst>
          </p:cNvPr>
          <p:cNvSpPr txBox="1">
            <a:spLocks noChangeArrowheads="1"/>
          </p:cNvSpPr>
          <p:nvPr/>
        </p:nvSpPr>
        <p:spPr bwMode="auto">
          <a:xfrm>
            <a:off x="682625" y="3730625"/>
            <a:ext cx="7993063" cy="56991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Tahoma" pitchFamily="34" charset="0"/>
                <a:ea typeface="+mj-ea"/>
                <a:cs typeface="Tahoma" pitchFamily="34" charset="0"/>
              </a:rPr>
              <a:t>若存在这样的参数算法呢？  运行时间：</a:t>
            </a:r>
            <a:r>
              <a:rPr lang="en-US" altLang="zh-CN" sz="2400" b="1" dirty="0">
                <a:solidFill>
                  <a:srgbClr val="FF0000"/>
                </a:solidFill>
                <a:latin typeface="Tahoma" pitchFamily="34" charset="0"/>
                <a:ea typeface="Tahoma" pitchFamily="34" charset="0"/>
                <a:cs typeface="Tahoma" pitchFamily="34" charset="0"/>
              </a:rPr>
              <a:t>2</a:t>
            </a:r>
            <a:r>
              <a:rPr lang="en-US" altLang="zh-CN" sz="2400" b="1" baseline="30000" dirty="0">
                <a:solidFill>
                  <a:srgbClr val="FF0000"/>
                </a:solidFill>
                <a:latin typeface="Tahoma" pitchFamily="34" charset="0"/>
                <a:ea typeface="Tahoma" pitchFamily="34" charset="0"/>
                <a:cs typeface="Tahoma" pitchFamily="34" charset="0"/>
              </a:rPr>
              <a:t>k</a:t>
            </a:r>
            <a:r>
              <a:rPr lang="en-US" altLang="zh-CN" sz="2400" b="1" dirty="0">
                <a:solidFill>
                  <a:srgbClr val="FF0000"/>
                </a:solidFill>
                <a:latin typeface="Tahoma" pitchFamily="34" charset="0"/>
                <a:ea typeface="Tahoma" pitchFamily="34" charset="0"/>
                <a:cs typeface="Tahoma" pitchFamily="34" charset="0"/>
              </a:rPr>
              <a:t>n</a:t>
            </a:r>
          </a:p>
        </p:txBody>
      </p:sp>
      <p:sp>
        <p:nvSpPr>
          <p:cNvPr id="169989" name="Text Box 5">
            <a:extLst>
              <a:ext uri="{FF2B5EF4-FFF2-40B4-BE49-F238E27FC236}">
                <a16:creationId xmlns:a16="http://schemas.microsoft.com/office/drawing/2014/main" id="{409503B7-5C8E-40A7-A7F8-59ACFE5D9C73}"/>
              </a:ext>
            </a:extLst>
          </p:cNvPr>
          <p:cNvSpPr txBox="1">
            <a:spLocks noChangeArrowheads="1"/>
          </p:cNvSpPr>
          <p:nvPr/>
        </p:nvSpPr>
        <p:spPr bwMode="auto">
          <a:xfrm>
            <a:off x="684213" y="2730500"/>
            <a:ext cx="7993062" cy="569913"/>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Tahoma" pitchFamily="34" charset="0"/>
                <a:ea typeface="+mj-ea"/>
                <a:cs typeface="Tahoma" pitchFamily="34" charset="0"/>
              </a:rPr>
              <a:t>当前计算机速度运行 </a:t>
            </a:r>
            <a:r>
              <a:rPr lang="en-US" altLang="zh-CN" sz="2400" b="1" dirty="0">
                <a:solidFill>
                  <a:srgbClr val="FF0000"/>
                </a:solidFill>
                <a:latin typeface="Tahoma" pitchFamily="34" charset="0"/>
                <a:ea typeface="Tahoma" pitchFamily="34" charset="0"/>
                <a:cs typeface="Tahoma" pitchFamily="34" charset="0"/>
              </a:rPr>
              <a:t>2</a:t>
            </a:r>
            <a:r>
              <a:rPr lang="en-US" altLang="zh-CN" sz="2400" b="1" baseline="30000" dirty="0">
                <a:solidFill>
                  <a:srgbClr val="FF0000"/>
                </a:solidFill>
                <a:latin typeface="Tahoma" pitchFamily="34" charset="0"/>
                <a:ea typeface="Tahoma" pitchFamily="34" charset="0"/>
                <a:cs typeface="Tahoma" pitchFamily="34" charset="0"/>
              </a:rPr>
              <a:t>50</a:t>
            </a:r>
            <a:r>
              <a:rPr lang="en-US" altLang="zh-CN" sz="2400" b="1" baseline="30000" dirty="0">
                <a:solidFill>
                  <a:srgbClr val="FF9900"/>
                </a:solidFill>
                <a:latin typeface="Tahoma" pitchFamily="34" charset="0"/>
                <a:ea typeface="Tahoma" pitchFamily="34" charset="0"/>
                <a:cs typeface="Tahoma" pitchFamily="34" charset="0"/>
              </a:rPr>
              <a:t> </a:t>
            </a:r>
            <a:r>
              <a:rPr lang="zh-CN" altLang="en-US" sz="2400" b="1" dirty="0">
                <a:solidFill>
                  <a:srgbClr val="000000"/>
                </a:solidFill>
                <a:latin typeface="Tahoma" pitchFamily="34" charset="0"/>
                <a:ea typeface="+mj-ea"/>
                <a:cs typeface="Tahoma" pitchFamily="34" charset="0"/>
              </a:rPr>
              <a:t>次基本运算需要</a:t>
            </a:r>
            <a:r>
              <a:rPr lang="en-US" altLang="zh-CN" sz="2400" b="1" dirty="0">
                <a:solidFill>
                  <a:srgbClr val="FF0000"/>
                </a:solidFill>
                <a:latin typeface="Tahoma" pitchFamily="34" charset="0"/>
                <a:ea typeface="Tahoma" pitchFamily="34" charset="0"/>
                <a:cs typeface="Tahoma" pitchFamily="34" charset="0"/>
              </a:rPr>
              <a:t>16</a:t>
            </a:r>
            <a:r>
              <a:rPr lang="zh-CN" altLang="en-US" sz="2400" b="1" dirty="0">
                <a:solidFill>
                  <a:srgbClr val="FF0000"/>
                </a:solidFill>
                <a:latin typeface="Tahoma" pitchFamily="34" charset="0"/>
                <a:ea typeface="+mj-ea"/>
                <a:cs typeface="Tahoma" pitchFamily="34" charset="0"/>
              </a:rPr>
              <a:t>年</a:t>
            </a:r>
            <a:r>
              <a:rPr lang="zh-CN" altLang="en-US" sz="2400" b="1" dirty="0">
                <a:solidFill>
                  <a:srgbClr val="000000"/>
                </a:solidFill>
                <a:latin typeface="Tahoma" pitchFamily="34" charset="0"/>
                <a:ea typeface="+mj-ea"/>
                <a:cs typeface="Tahoma" pitchFamily="34" charset="0"/>
              </a:rPr>
              <a:t>。</a:t>
            </a:r>
          </a:p>
        </p:txBody>
      </p:sp>
      <p:sp>
        <p:nvSpPr>
          <p:cNvPr id="6" name="Rectangle 2">
            <a:extLst>
              <a:ext uri="{FF2B5EF4-FFF2-40B4-BE49-F238E27FC236}">
                <a16:creationId xmlns:a16="http://schemas.microsoft.com/office/drawing/2014/main" id="{3BD1BD5E-9BE2-471C-A112-2D3DB003B114}"/>
              </a:ext>
            </a:extLst>
          </p:cNvPr>
          <p:cNvSpPr>
            <a:spLocks noGrp="1" noChangeArrowheads="1"/>
          </p:cNvSpPr>
          <p:nvPr>
            <p:ph type="title"/>
          </p:nvPr>
        </p:nvSpPr>
        <p:spPr/>
        <p:txBody>
          <a:bodyPr/>
          <a:lstStyle/>
          <a:p>
            <a:pPr>
              <a:defRPr/>
            </a:pPr>
            <a:r>
              <a:rPr lang="zh-CN" altLang="en-US" dirty="0"/>
              <a:t>点覆盖问题</a:t>
            </a:r>
          </a:p>
        </p:txBody>
      </p:sp>
      <p:sp>
        <p:nvSpPr>
          <p:cNvPr id="50182" name="日期占位符 3">
            <a:extLst>
              <a:ext uri="{FF2B5EF4-FFF2-40B4-BE49-F238E27FC236}">
                <a16:creationId xmlns:a16="http://schemas.microsoft.com/office/drawing/2014/main" id="{B251286F-972F-47EC-9927-1F2B39CDBD2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C58630D-DEC6-4B4D-BC1A-CB23A774D48B}"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0183" name="灯片编号占位符 4">
            <a:extLst>
              <a:ext uri="{FF2B5EF4-FFF2-40B4-BE49-F238E27FC236}">
                <a16:creationId xmlns:a16="http://schemas.microsoft.com/office/drawing/2014/main" id="{0E4FA05C-FC32-4A16-9673-335C27485EC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545EF8E-5BAA-4D54-9DC1-DE0BCB1BA33C}"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47</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Effect transition="in" filter="slide(fromBottom)">
                                      <p:cBhvr>
                                        <p:cTn id="7" dur="500"/>
                                        <p:tgtEl>
                                          <p:spTgt spid="169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9989"/>
                                        </p:tgtEl>
                                        <p:attrNameLst>
                                          <p:attrName>style.visibility</p:attrName>
                                        </p:attrNameLst>
                                      </p:cBhvr>
                                      <p:to>
                                        <p:strVal val="visible"/>
                                      </p:to>
                                    </p:set>
                                    <p:animEffect transition="in" filter="slide(fromBottom)">
                                      <p:cBhvr>
                                        <p:cTn id="12" dur="500"/>
                                        <p:tgtEl>
                                          <p:spTgt spid="1699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9988"/>
                                        </p:tgtEl>
                                        <p:attrNameLst>
                                          <p:attrName>style.visibility</p:attrName>
                                        </p:attrNameLst>
                                      </p:cBhvr>
                                      <p:to>
                                        <p:strVal val="visible"/>
                                      </p:to>
                                    </p:set>
                                    <p:animEffect transition="in" filter="slide(fromBottom)">
                                      <p:cBhvr>
                                        <p:cTn id="17" dur="500"/>
                                        <p:tgtEl>
                                          <p:spTgt spid="169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8" grpId="0"/>
      <p:bldP spid="16998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a:extLst>
              <a:ext uri="{FF2B5EF4-FFF2-40B4-BE49-F238E27FC236}">
                <a16:creationId xmlns:a16="http://schemas.microsoft.com/office/drawing/2014/main" id="{9BFCE1B8-8ED7-4400-B8EF-AA673C215EB9}"/>
              </a:ext>
            </a:extLst>
          </p:cNvPr>
          <p:cNvSpPr txBox="1">
            <a:spLocks noChangeArrowheads="1"/>
          </p:cNvSpPr>
          <p:nvPr/>
        </p:nvSpPr>
        <p:spPr bwMode="auto">
          <a:xfrm>
            <a:off x="501650" y="1430338"/>
            <a:ext cx="4535488" cy="646112"/>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3333FF"/>
                </a:solidFill>
                <a:latin typeface="+mj-ea"/>
                <a:ea typeface="+mj-ea"/>
              </a:rPr>
              <a:t>简单的点覆盖参数算法：</a:t>
            </a:r>
          </a:p>
        </p:txBody>
      </p:sp>
      <p:sp>
        <p:nvSpPr>
          <p:cNvPr id="171012" name="Text Box 4">
            <a:extLst>
              <a:ext uri="{FF2B5EF4-FFF2-40B4-BE49-F238E27FC236}">
                <a16:creationId xmlns:a16="http://schemas.microsoft.com/office/drawing/2014/main" id="{22242702-2DDE-4450-AD76-0713AFFE9284}"/>
              </a:ext>
            </a:extLst>
          </p:cNvPr>
          <p:cNvSpPr txBox="1">
            <a:spLocks noChangeArrowheads="1"/>
          </p:cNvSpPr>
          <p:nvPr/>
        </p:nvSpPr>
        <p:spPr bwMode="auto">
          <a:xfrm>
            <a:off x="501650" y="2006600"/>
            <a:ext cx="482441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None/>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考虑图中任何一条边（</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a</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b</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），这条边的两个端点最少有一个在解集中，分两个分支：</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a</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在解集中，</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b</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在解集中。在每个分支中的问题的参数</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都减少</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1</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a:t>
            </a:r>
            <a:endPar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grpSp>
        <p:nvGrpSpPr>
          <p:cNvPr id="2" name="Group 5">
            <a:extLst>
              <a:ext uri="{FF2B5EF4-FFF2-40B4-BE49-F238E27FC236}">
                <a16:creationId xmlns:a16="http://schemas.microsoft.com/office/drawing/2014/main" id="{7ED68F68-6AED-4046-B05D-8F3901B407DD}"/>
              </a:ext>
            </a:extLst>
          </p:cNvPr>
          <p:cNvGrpSpPr>
            <a:grpSpLocks/>
          </p:cNvGrpSpPr>
          <p:nvPr/>
        </p:nvGrpSpPr>
        <p:grpSpPr bwMode="auto">
          <a:xfrm>
            <a:off x="5613400" y="1285875"/>
            <a:ext cx="3313113" cy="4430713"/>
            <a:chOff x="3651" y="1207"/>
            <a:chExt cx="2087" cy="2791"/>
          </a:xfrm>
        </p:grpSpPr>
        <p:grpSp>
          <p:nvGrpSpPr>
            <p:cNvPr id="51209" name="Group 6">
              <a:extLst>
                <a:ext uri="{FF2B5EF4-FFF2-40B4-BE49-F238E27FC236}">
                  <a16:creationId xmlns:a16="http://schemas.microsoft.com/office/drawing/2014/main" id="{DD4A1AF2-4E85-4338-AD47-5BAC94D97A58}"/>
                </a:ext>
              </a:extLst>
            </p:cNvPr>
            <p:cNvGrpSpPr>
              <a:grpSpLocks/>
            </p:cNvGrpSpPr>
            <p:nvPr/>
          </p:nvGrpSpPr>
          <p:grpSpPr bwMode="auto">
            <a:xfrm>
              <a:off x="3651" y="1207"/>
              <a:ext cx="2087" cy="2268"/>
              <a:chOff x="3651" y="1344"/>
              <a:chExt cx="2087" cy="2268"/>
            </a:xfrm>
          </p:grpSpPr>
          <p:sp>
            <p:nvSpPr>
              <p:cNvPr id="51211" name="Line 7">
                <a:extLst>
                  <a:ext uri="{FF2B5EF4-FFF2-40B4-BE49-F238E27FC236}">
                    <a16:creationId xmlns:a16="http://schemas.microsoft.com/office/drawing/2014/main" id="{59E76745-03E1-40D6-8C8E-1B6BDC2BA332}"/>
                  </a:ext>
                </a:extLst>
              </p:cNvPr>
              <p:cNvSpPr>
                <a:spLocks noChangeShapeType="1"/>
              </p:cNvSpPr>
              <p:nvPr/>
            </p:nvSpPr>
            <p:spPr bwMode="auto">
              <a:xfrm>
                <a:off x="5193" y="2115"/>
                <a:ext cx="182"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2" name="Oval 8">
                <a:extLst>
                  <a:ext uri="{FF2B5EF4-FFF2-40B4-BE49-F238E27FC236}">
                    <a16:creationId xmlns:a16="http://schemas.microsoft.com/office/drawing/2014/main" id="{5B4C9D59-A2B9-4779-BCF9-8FCCD373053F}"/>
                  </a:ext>
                </a:extLst>
              </p:cNvPr>
              <p:cNvSpPr>
                <a:spLocks noChangeArrowheads="1"/>
              </p:cNvSpPr>
              <p:nvPr/>
            </p:nvSpPr>
            <p:spPr bwMode="auto">
              <a:xfrm>
                <a:off x="4649" y="1344"/>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a:t>
                </a:r>
              </a:p>
            </p:txBody>
          </p:sp>
          <p:sp>
            <p:nvSpPr>
              <p:cNvPr id="51213" name="Oval 9">
                <a:extLst>
                  <a:ext uri="{FF2B5EF4-FFF2-40B4-BE49-F238E27FC236}">
                    <a16:creationId xmlns:a16="http://schemas.microsoft.com/office/drawing/2014/main" id="{DA8ED193-331D-4882-8FF9-717366C51519}"/>
                  </a:ext>
                </a:extLst>
              </p:cNvPr>
              <p:cNvSpPr>
                <a:spLocks noChangeArrowheads="1"/>
              </p:cNvSpPr>
              <p:nvPr/>
            </p:nvSpPr>
            <p:spPr bwMode="auto">
              <a:xfrm>
                <a:off x="4377" y="1842"/>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k-1</a:t>
                </a:r>
              </a:p>
            </p:txBody>
          </p:sp>
          <p:sp>
            <p:nvSpPr>
              <p:cNvPr id="51214" name="Oval 10">
                <a:extLst>
                  <a:ext uri="{FF2B5EF4-FFF2-40B4-BE49-F238E27FC236}">
                    <a16:creationId xmlns:a16="http://schemas.microsoft.com/office/drawing/2014/main" id="{87E97198-8B26-4686-8BF6-9084B31ACF6E}"/>
                  </a:ext>
                </a:extLst>
              </p:cNvPr>
              <p:cNvSpPr>
                <a:spLocks noChangeArrowheads="1"/>
              </p:cNvSpPr>
              <p:nvPr/>
            </p:nvSpPr>
            <p:spPr bwMode="auto">
              <a:xfrm>
                <a:off x="5012" y="1842"/>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k-1</a:t>
                </a:r>
              </a:p>
            </p:txBody>
          </p:sp>
          <p:sp>
            <p:nvSpPr>
              <p:cNvPr id="51215" name="Oval 11">
                <a:extLst>
                  <a:ext uri="{FF2B5EF4-FFF2-40B4-BE49-F238E27FC236}">
                    <a16:creationId xmlns:a16="http://schemas.microsoft.com/office/drawing/2014/main" id="{CD065F19-4A85-4F5D-9D8D-B556C40CB2F9}"/>
                  </a:ext>
                </a:extLst>
              </p:cNvPr>
              <p:cNvSpPr>
                <a:spLocks noChangeArrowheads="1"/>
              </p:cNvSpPr>
              <p:nvPr/>
            </p:nvSpPr>
            <p:spPr bwMode="auto">
              <a:xfrm>
                <a:off x="4060" y="2296"/>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k-2</a:t>
                </a:r>
              </a:p>
            </p:txBody>
          </p:sp>
          <p:sp>
            <p:nvSpPr>
              <p:cNvPr id="51216" name="Oval 12">
                <a:extLst>
                  <a:ext uri="{FF2B5EF4-FFF2-40B4-BE49-F238E27FC236}">
                    <a16:creationId xmlns:a16="http://schemas.microsoft.com/office/drawing/2014/main" id="{E71FC1CC-CA68-43D2-8AC8-CF8A16EE86C2}"/>
                  </a:ext>
                </a:extLst>
              </p:cNvPr>
              <p:cNvSpPr>
                <a:spLocks noChangeArrowheads="1"/>
              </p:cNvSpPr>
              <p:nvPr/>
            </p:nvSpPr>
            <p:spPr bwMode="auto">
              <a:xfrm>
                <a:off x="4468" y="2296"/>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k-2</a:t>
                </a:r>
              </a:p>
            </p:txBody>
          </p:sp>
          <p:sp>
            <p:nvSpPr>
              <p:cNvPr id="51217" name="Oval 13">
                <a:extLst>
                  <a:ext uri="{FF2B5EF4-FFF2-40B4-BE49-F238E27FC236}">
                    <a16:creationId xmlns:a16="http://schemas.microsoft.com/office/drawing/2014/main" id="{BA52B921-0C2C-4299-A674-3291371D9131}"/>
                  </a:ext>
                </a:extLst>
              </p:cNvPr>
              <p:cNvSpPr>
                <a:spLocks noChangeArrowheads="1"/>
              </p:cNvSpPr>
              <p:nvPr/>
            </p:nvSpPr>
            <p:spPr bwMode="auto">
              <a:xfrm>
                <a:off x="5284" y="2296"/>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k-2</a:t>
                </a:r>
              </a:p>
            </p:txBody>
          </p:sp>
          <p:sp>
            <p:nvSpPr>
              <p:cNvPr id="51218" name="Text Box 14">
                <a:extLst>
                  <a:ext uri="{FF2B5EF4-FFF2-40B4-BE49-F238E27FC236}">
                    <a16:creationId xmlns:a16="http://schemas.microsoft.com/office/drawing/2014/main" id="{F5CFAFD0-263F-4E65-B4A7-9D1D7AC84001}"/>
                  </a:ext>
                </a:extLst>
              </p:cNvPr>
              <p:cNvSpPr txBox="1">
                <a:spLocks noChangeArrowheads="1"/>
              </p:cNvSpPr>
              <p:nvPr/>
            </p:nvSpPr>
            <p:spPr bwMode="auto">
              <a:xfrm>
                <a:off x="3969" y="2931"/>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1600">
                    <a:latin typeface="Arial" panose="020B0604020202020204" pitchFamily="34" charset="0"/>
                    <a:ea typeface="宋体" panose="02010600030101010101" pitchFamily="2" charset="-122"/>
                  </a:rPr>
                  <a:t>……</a:t>
                </a:r>
                <a:r>
                  <a:rPr lang="en-US" altLang="zh-CN" sz="1600">
                    <a:latin typeface="Helvetica" panose="020B0604020202020204" pitchFamily="34" charset="0"/>
                    <a:ea typeface="宋体" panose="02010600030101010101" pitchFamily="2" charset="-122"/>
                  </a:rPr>
                  <a:t>.</a:t>
                </a:r>
              </a:p>
            </p:txBody>
          </p:sp>
          <p:sp>
            <p:nvSpPr>
              <p:cNvPr id="51219" name="Text Box 15">
                <a:extLst>
                  <a:ext uri="{FF2B5EF4-FFF2-40B4-BE49-F238E27FC236}">
                    <a16:creationId xmlns:a16="http://schemas.microsoft.com/office/drawing/2014/main" id="{F8C34EB2-2F35-40F7-9C9A-A56FAB94FC38}"/>
                  </a:ext>
                </a:extLst>
              </p:cNvPr>
              <p:cNvSpPr txBox="1">
                <a:spLocks noChangeArrowheads="1"/>
              </p:cNvSpPr>
              <p:nvPr/>
            </p:nvSpPr>
            <p:spPr bwMode="auto">
              <a:xfrm>
                <a:off x="5103" y="2972"/>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en-US" altLang="zh-CN" sz="1600">
                    <a:latin typeface="Arial" panose="020B0604020202020204" pitchFamily="34" charset="0"/>
                    <a:ea typeface="宋体" panose="02010600030101010101" pitchFamily="2" charset="-122"/>
                  </a:rPr>
                  <a:t>……</a:t>
                </a:r>
                <a:r>
                  <a:rPr lang="en-US" altLang="zh-CN" sz="1600">
                    <a:latin typeface="Helvetica" panose="020B0604020202020204" pitchFamily="34" charset="0"/>
                    <a:ea typeface="宋体" panose="02010600030101010101" pitchFamily="2" charset="-122"/>
                  </a:rPr>
                  <a:t>.</a:t>
                </a:r>
              </a:p>
            </p:txBody>
          </p:sp>
          <p:sp>
            <p:nvSpPr>
              <p:cNvPr id="51220" name="Oval 16">
                <a:extLst>
                  <a:ext uri="{FF2B5EF4-FFF2-40B4-BE49-F238E27FC236}">
                    <a16:creationId xmlns:a16="http://schemas.microsoft.com/office/drawing/2014/main" id="{28A3E211-A482-4361-BB3E-80D0CC7EDD5D}"/>
                  </a:ext>
                </a:extLst>
              </p:cNvPr>
              <p:cNvSpPr>
                <a:spLocks noChangeArrowheads="1"/>
              </p:cNvSpPr>
              <p:nvPr/>
            </p:nvSpPr>
            <p:spPr bwMode="auto">
              <a:xfrm>
                <a:off x="3651" y="3340"/>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1" name="Oval 17">
                <a:extLst>
                  <a:ext uri="{FF2B5EF4-FFF2-40B4-BE49-F238E27FC236}">
                    <a16:creationId xmlns:a16="http://schemas.microsoft.com/office/drawing/2014/main" id="{A0725F62-E02C-4A89-B769-E0E5ED31E715}"/>
                  </a:ext>
                </a:extLst>
              </p:cNvPr>
              <p:cNvSpPr>
                <a:spLocks noChangeArrowheads="1"/>
              </p:cNvSpPr>
              <p:nvPr/>
            </p:nvSpPr>
            <p:spPr bwMode="auto">
              <a:xfrm>
                <a:off x="4014" y="3339"/>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2" name="Oval 18">
                <a:extLst>
                  <a:ext uri="{FF2B5EF4-FFF2-40B4-BE49-F238E27FC236}">
                    <a16:creationId xmlns:a16="http://schemas.microsoft.com/office/drawing/2014/main" id="{AA0E2A19-C46F-4750-894B-AB0C98010D59}"/>
                  </a:ext>
                </a:extLst>
              </p:cNvPr>
              <p:cNvSpPr>
                <a:spLocks noChangeArrowheads="1"/>
              </p:cNvSpPr>
              <p:nvPr/>
            </p:nvSpPr>
            <p:spPr bwMode="auto">
              <a:xfrm>
                <a:off x="4377" y="3339"/>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3" name="Oval 19">
                <a:extLst>
                  <a:ext uri="{FF2B5EF4-FFF2-40B4-BE49-F238E27FC236}">
                    <a16:creationId xmlns:a16="http://schemas.microsoft.com/office/drawing/2014/main" id="{A4160B3E-4968-4AE9-BEF3-4A425D0E739F}"/>
                  </a:ext>
                </a:extLst>
              </p:cNvPr>
              <p:cNvSpPr>
                <a:spLocks noChangeArrowheads="1"/>
              </p:cNvSpPr>
              <p:nvPr/>
            </p:nvSpPr>
            <p:spPr bwMode="auto">
              <a:xfrm>
                <a:off x="4740" y="3340"/>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4" name="Oval 20">
                <a:extLst>
                  <a:ext uri="{FF2B5EF4-FFF2-40B4-BE49-F238E27FC236}">
                    <a16:creationId xmlns:a16="http://schemas.microsoft.com/office/drawing/2014/main" id="{9FCCE657-D1E8-41E0-BCC4-90A032B1328D}"/>
                  </a:ext>
                </a:extLst>
              </p:cNvPr>
              <p:cNvSpPr>
                <a:spLocks noChangeArrowheads="1"/>
              </p:cNvSpPr>
              <p:nvPr/>
            </p:nvSpPr>
            <p:spPr bwMode="auto">
              <a:xfrm>
                <a:off x="5103" y="3339"/>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5" name="Oval 21">
                <a:extLst>
                  <a:ext uri="{FF2B5EF4-FFF2-40B4-BE49-F238E27FC236}">
                    <a16:creationId xmlns:a16="http://schemas.microsoft.com/office/drawing/2014/main" id="{04568A55-D431-48D7-94DF-BD049AA0DF20}"/>
                  </a:ext>
                </a:extLst>
              </p:cNvPr>
              <p:cNvSpPr>
                <a:spLocks noChangeArrowheads="1"/>
              </p:cNvSpPr>
              <p:nvPr/>
            </p:nvSpPr>
            <p:spPr bwMode="auto">
              <a:xfrm>
                <a:off x="5466" y="3339"/>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1</a:t>
                </a:r>
              </a:p>
            </p:txBody>
          </p:sp>
          <p:sp>
            <p:nvSpPr>
              <p:cNvPr id="51226" name="Line 22">
                <a:extLst>
                  <a:ext uri="{FF2B5EF4-FFF2-40B4-BE49-F238E27FC236}">
                    <a16:creationId xmlns:a16="http://schemas.microsoft.com/office/drawing/2014/main" id="{3E3A7C59-A894-44B4-9E6F-7DD015F5C5E4}"/>
                  </a:ext>
                </a:extLst>
              </p:cNvPr>
              <p:cNvSpPr>
                <a:spLocks noChangeShapeType="1"/>
              </p:cNvSpPr>
              <p:nvPr/>
            </p:nvSpPr>
            <p:spPr bwMode="auto">
              <a:xfrm flipH="1">
                <a:off x="4604" y="1616"/>
                <a:ext cx="13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7" name="Line 23">
                <a:extLst>
                  <a:ext uri="{FF2B5EF4-FFF2-40B4-BE49-F238E27FC236}">
                    <a16:creationId xmlns:a16="http://schemas.microsoft.com/office/drawing/2014/main" id="{5D7457AA-DF33-4943-92EB-0E710B6E6214}"/>
                  </a:ext>
                </a:extLst>
              </p:cNvPr>
              <p:cNvSpPr>
                <a:spLocks noChangeShapeType="1"/>
              </p:cNvSpPr>
              <p:nvPr/>
            </p:nvSpPr>
            <p:spPr bwMode="auto">
              <a:xfrm>
                <a:off x="4876" y="1616"/>
                <a:ext cx="181"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8" name="Line 24">
                <a:extLst>
                  <a:ext uri="{FF2B5EF4-FFF2-40B4-BE49-F238E27FC236}">
                    <a16:creationId xmlns:a16="http://schemas.microsoft.com/office/drawing/2014/main" id="{321282BF-5E23-4D9F-A87A-2C4C7F1FB3FE}"/>
                  </a:ext>
                </a:extLst>
              </p:cNvPr>
              <p:cNvSpPr>
                <a:spLocks noChangeShapeType="1"/>
              </p:cNvSpPr>
              <p:nvPr/>
            </p:nvSpPr>
            <p:spPr bwMode="auto">
              <a:xfrm flipH="1">
                <a:off x="4241" y="2069"/>
                <a:ext cx="181"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9" name="Line 25">
                <a:extLst>
                  <a:ext uri="{FF2B5EF4-FFF2-40B4-BE49-F238E27FC236}">
                    <a16:creationId xmlns:a16="http://schemas.microsoft.com/office/drawing/2014/main" id="{4C2A849F-A38C-4803-A79B-6C54F676A74F}"/>
                  </a:ext>
                </a:extLst>
              </p:cNvPr>
              <p:cNvSpPr>
                <a:spLocks noChangeShapeType="1"/>
              </p:cNvSpPr>
              <p:nvPr/>
            </p:nvSpPr>
            <p:spPr bwMode="auto">
              <a:xfrm>
                <a:off x="4513" y="2115"/>
                <a:ext cx="45"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0" name="Line 26">
                <a:extLst>
                  <a:ext uri="{FF2B5EF4-FFF2-40B4-BE49-F238E27FC236}">
                    <a16:creationId xmlns:a16="http://schemas.microsoft.com/office/drawing/2014/main" id="{B75FEAF3-1E42-443A-A113-F28144DEAAB1}"/>
                  </a:ext>
                </a:extLst>
              </p:cNvPr>
              <p:cNvSpPr>
                <a:spLocks noChangeShapeType="1"/>
              </p:cNvSpPr>
              <p:nvPr/>
            </p:nvSpPr>
            <p:spPr bwMode="auto">
              <a:xfrm flipH="1">
                <a:off x="5012" y="2115"/>
                <a:ext cx="136"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1" name="Oval 27">
                <a:extLst>
                  <a:ext uri="{FF2B5EF4-FFF2-40B4-BE49-F238E27FC236}">
                    <a16:creationId xmlns:a16="http://schemas.microsoft.com/office/drawing/2014/main" id="{EFD3CBBD-7837-4A02-A776-256EEB57C31E}"/>
                  </a:ext>
                </a:extLst>
              </p:cNvPr>
              <p:cNvSpPr>
                <a:spLocks noChangeArrowheads="1"/>
              </p:cNvSpPr>
              <p:nvPr/>
            </p:nvSpPr>
            <p:spPr bwMode="auto">
              <a:xfrm>
                <a:off x="4876" y="2296"/>
                <a:ext cx="272" cy="27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gn="ctr">
                  <a:spcBef>
                    <a:spcPct val="0"/>
                  </a:spcBef>
                  <a:buClrTx/>
                  <a:buSzTx/>
                  <a:buFontTx/>
                  <a:buNone/>
                </a:pPr>
                <a:r>
                  <a:rPr lang="en-US" altLang="zh-CN" sz="1600">
                    <a:latin typeface="Helvetica" panose="020B0604020202020204" pitchFamily="34" charset="0"/>
                    <a:ea typeface="宋体" panose="02010600030101010101" pitchFamily="2" charset="-122"/>
                  </a:rPr>
                  <a:t>k-2</a:t>
                </a:r>
              </a:p>
            </p:txBody>
          </p:sp>
          <p:sp>
            <p:nvSpPr>
              <p:cNvPr id="51232" name="Line 28">
                <a:extLst>
                  <a:ext uri="{FF2B5EF4-FFF2-40B4-BE49-F238E27FC236}">
                    <a16:creationId xmlns:a16="http://schemas.microsoft.com/office/drawing/2014/main" id="{B191C678-8C2D-4774-B452-168324850119}"/>
                  </a:ext>
                </a:extLst>
              </p:cNvPr>
              <p:cNvSpPr>
                <a:spLocks noChangeShapeType="1"/>
              </p:cNvSpPr>
              <p:nvPr/>
            </p:nvSpPr>
            <p:spPr bwMode="auto">
              <a:xfrm flipV="1">
                <a:off x="3787" y="3113"/>
                <a:ext cx="91"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3" name="Line 29">
                <a:extLst>
                  <a:ext uri="{FF2B5EF4-FFF2-40B4-BE49-F238E27FC236}">
                    <a16:creationId xmlns:a16="http://schemas.microsoft.com/office/drawing/2014/main" id="{9F903F29-1961-4ABA-ADC9-F3AAA6176CC2}"/>
                  </a:ext>
                </a:extLst>
              </p:cNvPr>
              <p:cNvSpPr>
                <a:spLocks noChangeShapeType="1"/>
              </p:cNvSpPr>
              <p:nvPr/>
            </p:nvSpPr>
            <p:spPr bwMode="auto">
              <a:xfrm flipV="1">
                <a:off x="4150" y="3158"/>
                <a:ext cx="45"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4" name="Line 30">
                <a:extLst>
                  <a:ext uri="{FF2B5EF4-FFF2-40B4-BE49-F238E27FC236}">
                    <a16:creationId xmlns:a16="http://schemas.microsoft.com/office/drawing/2014/main" id="{FD5FD9C2-83FD-48E5-853D-536C7CE0CB73}"/>
                  </a:ext>
                </a:extLst>
              </p:cNvPr>
              <p:cNvSpPr>
                <a:spLocks noChangeShapeType="1"/>
              </p:cNvSpPr>
              <p:nvPr/>
            </p:nvSpPr>
            <p:spPr bwMode="auto">
              <a:xfrm flipV="1">
                <a:off x="4513" y="3158"/>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5" name="Line 31">
                <a:extLst>
                  <a:ext uri="{FF2B5EF4-FFF2-40B4-BE49-F238E27FC236}">
                    <a16:creationId xmlns:a16="http://schemas.microsoft.com/office/drawing/2014/main" id="{13DCDEC0-8FD3-4962-9119-6B0FBB8C4D94}"/>
                  </a:ext>
                </a:extLst>
              </p:cNvPr>
              <p:cNvSpPr>
                <a:spLocks noChangeShapeType="1"/>
              </p:cNvSpPr>
              <p:nvPr/>
            </p:nvSpPr>
            <p:spPr bwMode="auto">
              <a:xfrm flipV="1">
                <a:off x="4921" y="3158"/>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6" name="Line 32">
                <a:extLst>
                  <a:ext uri="{FF2B5EF4-FFF2-40B4-BE49-F238E27FC236}">
                    <a16:creationId xmlns:a16="http://schemas.microsoft.com/office/drawing/2014/main" id="{23ED94AA-C427-464F-8525-786C50C76D71}"/>
                  </a:ext>
                </a:extLst>
              </p:cNvPr>
              <p:cNvSpPr>
                <a:spLocks noChangeShapeType="1"/>
              </p:cNvSpPr>
              <p:nvPr/>
            </p:nvSpPr>
            <p:spPr bwMode="auto">
              <a:xfrm flipV="1">
                <a:off x="5239" y="3158"/>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7" name="Line 33">
                <a:extLst>
                  <a:ext uri="{FF2B5EF4-FFF2-40B4-BE49-F238E27FC236}">
                    <a16:creationId xmlns:a16="http://schemas.microsoft.com/office/drawing/2014/main" id="{9A092130-647C-4842-B5EE-338E8E76179F}"/>
                  </a:ext>
                </a:extLst>
              </p:cNvPr>
              <p:cNvSpPr>
                <a:spLocks noChangeShapeType="1"/>
              </p:cNvSpPr>
              <p:nvPr/>
            </p:nvSpPr>
            <p:spPr bwMode="auto">
              <a:xfrm flipH="1" flipV="1">
                <a:off x="5556" y="3158"/>
                <a:ext cx="91"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10" name="Text Box 34">
              <a:extLst>
                <a:ext uri="{FF2B5EF4-FFF2-40B4-BE49-F238E27FC236}">
                  <a16:creationId xmlns:a16="http://schemas.microsoft.com/office/drawing/2014/main" id="{F30B59D7-F19A-46BA-AE11-4FA092D69CBC}"/>
                </a:ext>
              </a:extLst>
            </p:cNvPr>
            <p:cNvSpPr txBox="1">
              <a:spLocks noChangeArrowheads="1"/>
            </p:cNvSpPr>
            <p:nvPr/>
          </p:nvSpPr>
          <p:spPr bwMode="auto">
            <a:xfrm>
              <a:off x="3924" y="3748"/>
              <a:ext cx="16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2000" b="1">
                  <a:solidFill>
                    <a:srgbClr val="FF0000"/>
                  </a:solidFill>
                  <a:latin typeface="隶书" panose="02010509060101010101" pitchFamily="49" charset="-122"/>
                  <a:ea typeface="隶书" panose="02010509060101010101" pitchFamily="49" charset="-122"/>
                </a:rPr>
                <a:t>搜索树的大小为：</a:t>
              </a:r>
              <a:r>
                <a:rPr lang="en-US" altLang="zh-CN" sz="2000" b="1">
                  <a:solidFill>
                    <a:srgbClr val="FF0000"/>
                  </a:solidFill>
                  <a:latin typeface="隶书" panose="02010509060101010101" pitchFamily="49" charset="-122"/>
                  <a:ea typeface="隶书" panose="02010509060101010101" pitchFamily="49" charset="-122"/>
                </a:rPr>
                <a:t>2</a:t>
              </a:r>
              <a:r>
                <a:rPr lang="en-US" altLang="zh-CN" sz="2000" b="1" baseline="30000">
                  <a:solidFill>
                    <a:srgbClr val="FF0000"/>
                  </a:solidFill>
                  <a:latin typeface="隶书" panose="02010509060101010101" pitchFamily="49" charset="-122"/>
                  <a:ea typeface="隶书" panose="02010509060101010101" pitchFamily="49" charset="-122"/>
                </a:rPr>
                <a:t>k</a:t>
              </a:r>
            </a:p>
          </p:txBody>
        </p:sp>
      </p:grpSp>
      <p:sp>
        <p:nvSpPr>
          <p:cNvPr id="171043" name="Text Box 35">
            <a:extLst>
              <a:ext uri="{FF2B5EF4-FFF2-40B4-BE49-F238E27FC236}">
                <a16:creationId xmlns:a16="http://schemas.microsoft.com/office/drawing/2014/main" id="{28873FD1-3F3A-41C0-8F0F-A2CD1E72DDF8}"/>
              </a:ext>
            </a:extLst>
          </p:cNvPr>
          <p:cNvSpPr txBox="1">
            <a:spLocks noChangeArrowheads="1"/>
          </p:cNvSpPr>
          <p:nvPr/>
        </p:nvSpPr>
        <p:spPr bwMode="auto">
          <a:xfrm>
            <a:off x="428625" y="5103813"/>
            <a:ext cx="5286375" cy="646112"/>
          </a:xfrm>
          <a:prstGeom prst="rect">
            <a:avLst/>
          </a:prstGeom>
          <a:noFill/>
          <a:ln>
            <a:noFill/>
          </a:ln>
        </p:spPr>
        <p:txBody>
          <a:bodyPr>
            <a:spAutoFit/>
          </a:bodyPr>
          <a:lstStyle>
            <a:lvl1pPr>
              <a:defRPr sz="1600">
                <a:solidFill>
                  <a:srgbClr val="0000FF"/>
                </a:solidFill>
                <a:latin typeface="Helvetica" panose="020B0604020202020204" pitchFamily="34" charset="0"/>
                <a:ea typeface="宋体" panose="02010600030101010101" pitchFamily="2" charset="-122"/>
              </a:defRPr>
            </a:lvl1pPr>
            <a:lvl2pPr marL="742950" indent="-285750">
              <a:defRPr sz="1600">
                <a:solidFill>
                  <a:srgbClr val="0000FF"/>
                </a:solidFill>
                <a:latin typeface="Helvetica" panose="020B0604020202020204" pitchFamily="34" charset="0"/>
                <a:ea typeface="宋体" panose="02010600030101010101" pitchFamily="2" charset="-122"/>
              </a:defRPr>
            </a:lvl2pPr>
            <a:lvl3pPr marL="1143000" indent="-228600">
              <a:defRPr sz="1600">
                <a:solidFill>
                  <a:srgbClr val="0000FF"/>
                </a:solidFill>
                <a:latin typeface="Helvetica" panose="020B0604020202020204" pitchFamily="34" charset="0"/>
                <a:ea typeface="宋体" panose="02010600030101010101" pitchFamily="2" charset="-122"/>
              </a:defRPr>
            </a:lvl3pPr>
            <a:lvl4pPr marL="1600200" indent="-228600">
              <a:defRPr sz="1600">
                <a:solidFill>
                  <a:srgbClr val="0000FF"/>
                </a:solidFill>
                <a:latin typeface="Helvetica" panose="020B0604020202020204" pitchFamily="34" charset="0"/>
                <a:ea typeface="宋体" panose="02010600030101010101" pitchFamily="2" charset="-122"/>
              </a:defRPr>
            </a:lvl4pPr>
            <a:lvl5pPr marL="2057400" indent="-228600">
              <a:defRPr sz="1600">
                <a:solidFill>
                  <a:srgbClr val="0000FF"/>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rgbClr val="0000FF"/>
                </a:solidFill>
                <a:latin typeface="Helvetica" panose="020B0604020202020204" pitchFamily="34" charset="0"/>
                <a:ea typeface="宋体" panose="02010600030101010101" pitchFamily="2" charset="-122"/>
              </a:defRPr>
            </a:lvl9pPr>
          </a:lstStyle>
          <a:p>
            <a:pPr>
              <a:lnSpc>
                <a:spcPct val="150000"/>
              </a:lnSpc>
              <a:buFont typeface="Wingdings" panose="05000000000000000000" pitchFamily="2" charset="2"/>
              <a:buChar char="l"/>
              <a:defRPr/>
            </a:pPr>
            <a:r>
              <a:rPr lang="zh-CN" altLang="en-US" sz="2400" b="1" dirty="0">
                <a:solidFill>
                  <a:srgbClr val="000000"/>
                </a:solidFill>
                <a:latin typeface="Tahoma" pitchFamily="34" charset="0"/>
                <a:ea typeface="+mj-ea"/>
                <a:cs typeface="Tahoma" pitchFamily="34" charset="0"/>
              </a:rPr>
              <a:t>运行时间为</a:t>
            </a:r>
            <a:r>
              <a:rPr lang="en-US" altLang="zh-CN" sz="2400" b="1" dirty="0">
                <a:solidFill>
                  <a:srgbClr val="FF0000"/>
                </a:solidFill>
                <a:latin typeface="Tahoma" pitchFamily="34" charset="0"/>
                <a:ea typeface="Tahoma" pitchFamily="34" charset="0"/>
                <a:cs typeface="Tahoma" pitchFamily="34" charset="0"/>
              </a:rPr>
              <a:t>O</a:t>
            </a:r>
            <a:r>
              <a:rPr lang="zh-CN" altLang="en-US" sz="2400" b="1" dirty="0">
                <a:solidFill>
                  <a:srgbClr val="FF0000"/>
                </a:solidFill>
                <a:latin typeface="Tahoma" pitchFamily="34" charset="0"/>
                <a:ea typeface="+mj-ea"/>
                <a:cs typeface="Tahoma" pitchFamily="34" charset="0"/>
              </a:rPr>
              <a:t>（</a:t>
            </a:r>
            <a:r>
              <a:rPr lang="en-US" altLang="zh-CN" sz="2400" b="1" dirty="0">
                <a:solidFill>
                  <a:srgbClr val="FF0000"/>
                </a:solidFill>
                <a:latin typeface="Tahoma" pitchFamily="34" charset="0"/>
                <a:ea typeface="Tahoma" pitchFamily="34" charset="0"/>
                <a:cs typeface="Tahoma" pitchFamily="34" charset="0"/>
              </a:rPr>
              <a:t>2</a:t>
            </a:r>
            <a:r>
              <a:rPr lang="en-US" altLang="zh-CN" sz="2400" b="1" baseline="30000" dirty="0">
                <a:solidFill>
                  <a:srgbClr val="FF0000"/>
                </a:solidFill>
                <a:latin typeface="Tahoma" pitchFamily="34" charset="0"/>
                <a:ea typeface="Tahoma" pitchFamily="34" charset="0"/>
                <a:cs typeface="Tahoma" pitchFamily="34" charset="0"/>
              </a:rPr>
              <a:t>k</a:t>
            </a:r>
            <a:r>
              <a:rPr lang="en-US" altLang="zh-CN" sz="2400" b="1" dirty="0">
                <a:solidFill>
                  <a:srgbClr val="FF0000"/>
                </a:solidFill>
                <a:latin typeface="Tahoma" pitchFamily="34" charset="0"/>
                <a:ea typeface="Tahoma" pitchFamily="34" charset="0"/>
                <a:cs typeface="Tahoma" pitchFamily="34" charset="0"/>
              </a:rPr>
              <a:t>n</a:t>
            </a:r>
            <a:r>
              <a:rPr lang="en-US" altLang="zh-CN" sz="2400" b="1" baseline="30000" dirty="0">
                <a:solidFill>
                  <a:srgbClr val="FF0000"/>
                </a:solidFill>
                <a:latin typeface="Tahoma" pitchFamily="34" charset="0"/>
                <a:ea typeface="Tahoma" pitchFamily="34" charset="0"/>
                <a:cs typeface="Tahoma" pitchFamily="34" charset="0"/>
              </a:rPr>
              <a:t>2</a:t>
            </a:r>
            <a:r>
              <a:rPr lang="zh-CN" altLang="en-US" sz="2400" b="1" dirty="0">
                <a:solidFill>
                  <a:srgbClr val="FF0000"/>
                </a:solidFill>
                <a:latin typeface="Tahoma" pitchFamily="34" charset="0"/>
                <a:ea typeface="+mj-ea"/>
                <a:cs typeface="Tahoma" pitchFamily="34" charset="0"/>
              </a:rPr>
              <a:t>）</a:t>
            </a:r>
            <a:r>
              <a:rPr lang="zh-CN" altLang="en-US" sz="2400" b="1" dirty="0">
                <a:solidFill>
                  <a:srgbClr val="000000"/>
                </a:solidFill>
                <a:latin typeface="Tahoma" pitchFamily="34" charset="0"/>
                <a:ea typeface="+mj-ea"/>
                <a:cs typeface="Tahoma" pitchFamily="34" charset="0"/>
              </a:rPr>
              <a:t>的参数算法。</a:t>
            </a:r>
          </a:p>
        </p:txBody>
      </p:sp>
      <p:sp>
        <p:nvSpPr>
          <p:cNvPr id="36" name="Rectangle 2">
            <a:extLst>
              <a:ext uri="{FF2B5EF4-FFF2-40B4-BE49-F238E27FC236}">
                <a16:creationId xmlns:a16="http://schemas.microsoft.com/office/drawing/2014/main" id="{2745B0A7-7B29-430D-9AD5-C3A93A1969BD}"/>
              </a:ext>
            </a:extLst>
          </p:cNvPr>
          <p:cNvSpPr>
            <a:spLocks noGrp="1" noChangeArrowheads="1"/>
          </p:cNvSpPr>
          <p:nvPr>
            <p:ph type="title"/>
          </p:nvPr>
        </p:nvSpPr>
        <p:spPr/>
        <p:txBody>
          <a:bodyPr/>
          <a:lstStyle/>
          <a:p>
            <a:pPr>
              <a:defRPr/>
            </a:pPr>
            <a:r>
              <a:rPr lang="zh-CN" altLang="en-US" dirty="0"/>
              <a:t>点覆盖问题</a:t>
            </a:r>
          </a:p>
        </p:txBody>
      </p:sp>
      <p:sp>
        <p:nvSpPr>
          <p:cNvPr id="51207" name="日期占位符 3">
            <a:extLst>
              <a:ext uri="{FF2B5EF4-FFF2-40B4-BE49-F238E27FC236}">
                <a16:creationId xmlns:a16="http://schemas.microsoft.com/office/drawing/2014/main" id="{2305D4B3-9104-4726-9350-E2D219BB742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A6641E6B-7AA0-459C-9C58-68476B793A84}"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1208" name="灯片编号占位符 4">
            <a:extLst>
              <a:ext uri="{FF2B5EF4-FFF2-40B4-BE49-F238E27FC236}">
                <a16:creationId xmlns:a16="http://schemas.microsoft.com/office/drawing/2014/main" id="{2DAD4E53-8F5B-4A83-AD5A-C252ACCC12F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61F54BAD-3A37-463D-8C80-BBFB217BD542}"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48</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slide(fromBottom)">
                                      <p:cBhvr>
                                        <p:cTn id="7" dur="500"/>
                                        <p:tgtEl>
                                          <p:spTgt spid="171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1012"/>
                                        </p:tgtEl>
                                        <p:attrNameLst>
                                          <p:attrName>style.visibility</p:attrName>
                                        </p:attrNameLst>
                                      </p:cBhvr>
                                      <p:to>
                                        <p:strVal val="visible"/>
                                      </p:to>
                                    </p:set>
                                    <p:animEffect transition="in" filter="slide(fromBottom)">
                                      <p:cBhvr>
                                        <p:cTn id="12" dur="500"/>
                                        <p:tgtEl>
                                          <p:spTgt spid="1710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Bottom)">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71043"/>
                                        </p:tgtEl>
                                        <p:attrNameLst>
                                          <p:attrName>style.visibility</p:attrName>
                                        </p:attrNameLst>
                                      </p:cBhvr>
                                      <p:to>
                                        <p:strVal val="visible"/>
                                      </p:to>
                                    </p:set>
                                    <p:animEffect transition="in" filter="slide(fromBottom)">
                                      <p:cBhvr>
                                        <p:cTn id="22" dur="500"/>
                                        <p:tgtEl>
                                          <p:spTgt spid="171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P spid="171012" grpId="0"/>
      <p:bldP spid="17104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9739C6CC-D908-450C-AC31-F53698376E96}"/>
              </a:ext>
            </a:extLst>
          </p:cNvPr>
          <p:cNvSpPr txBox="1">
            <a:spLocks noChangeArrowheads="1"/>
          </p:cNvSpPr>
          <p:nvPr/>
        </p:nvSpPr>
        <p:spPr bwMode="auto">
          <a:xfrm>
            <a:off x="684213" y="957263"/>
            <a:ext cx="4535487"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隶书" panose="02010509060101010101" pitchFamily="49" charset="-122"/>
                <a:ea typeface="隶书" panose="02010509060101010101" pitchFamily="49" charset="-122"/>
              </a:rPr>
              <a:t>参数算法结果：</a:t>
            </a:r>
          </a:p>
        </p:txBody>
      </p:sp>
      <p:sp>
        <p:nvSpPr>
          <p:cNvPr id="61" name="Rectangle 2">
            <a:extLst>
              <a:ext uri="{FF2B5EF4-FFF2-40B4-BE49-F238E27FC236}">
                <a16:creationId xmlns:a16="http://schemas.microsoft.com/office/drawing/2014/main" id="{CBF70261-8933-4C30-BAA6-B5B7B2E69246}"/>
              </a:ext>
            </a:extLst>
          </p:cNvPr>
          <p:cNvSpPr>
            <a:spLocks noGrp="1" noChangeArrowheads="1"/>
          </p:cNvSpPr>
          <p:nvPr>
            <p:ph type="title"/>
          </p:nvPr>
        </p:nvSpPr>
        <p:spPr>
          <a:xfrm>
            <a:off x="598488" y="188913"/>
            <a:ext cx="8077200" cy="609600"/>
          </a:xfrm>
        </p:spPr>
        <p:txBody>
          <a:bodyPr/>
          <a:lstStyle/>
          <a:p>
            <a:pPr>
              <a:defRPr/>
            </a:pPr>
            <a:r>
              <a:rPr lang="zh-CN" altLang="en-US" dirty="0"/>
              <a:t>点覆盖问题</a:t>
            </a:r>
          </a:p>
        </p:txBody>
      </p:sp>
      <p:sp>
        <p:nvSpPr>
          <p:cNvPr id="53252" name="日期占位符 3">
            <a:extLst>
              <a:ext uri="{FF2B5EF4-FFF2-40B4-BE49-F238E27FC236}">
                <a16:creationId xmlns:a16="http://schemas.microsoft.com/office/drawing/2014/main" id="{6223E347-7283-48F5-BACA-9AC6CB2F8EE7}"/>
              </a:ext>
            </a:extLst>
          </p:cNvPr>
          <p:cNvSpPr>
            <a:spLocks noGrp="1"/>
          </p:cNvSpPr>
          <p:nvPr>
            <p:ph type="dt" sz="quarter" idx="10"/>
          </p:nvPr>
        </p:nvSpPr>
        <p:spPr>
          <a:xfrm>
            <a:off x="4043363" y="6580188"/>
            <a:ext cx="1824037" cy="377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908DA06C-FAFF-4EFD-9DD0-305B0A933985}"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3253" name="灯片编号占位符 4">
            <a:extLst>
              <a:ext uri="{FF2B5EF4-FFF2-40B4-BE49-F238E27FC236}">
                <a16:creationId xmlns:a16="http://schemas.microsoft.com/office/drawing/2014/main" id="{83DB3878-BB75-4EFD-B763-31900DE3AC45}"/>
              </a:ext>
            </a:extLst>
          </p:cNvPr>
          <p:cNvSpPr>
            <a:spLocks noGrp="1"/>
          </p:cNvSpPr>
          <p:nvPr>
            <p:ph type="sldNum" sz="quarter" idx="11"/>
          </p:nvPr>
        </p:nvSpPr>
        <p:spPr>
          <a:xfrm>
            <a:off x="7956550" y="6573838"/>
            <a:ext cx="800100" cy="2841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7E56390C-62E9-4F29-9D99-904B990E5DF7}"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49</a:t>
            </a:fld>
            <a:r>
              <a:rPr lang="zh-CN" altLang="en-US" sz="1200">
                <a:solidFill>
                  <a:schemeClr val="bg2"/>
                </a:solidFill>
                <a:latin typeface="Times New Roman" panose="02020603050405020304" pitchFamily="18" charset="0"/>
                <a:ea typeface="宋体" panose="02010600030101010101" pitchFamily="2" charset="-122"/>
              </a:rPr>
              <a:t>页</a:t>
            </a:r>
          </a:p>
        </p:txBody>
      </p:sp>
      <p:grpSp>
        <p:nvGrpSpPr>
          <p:cNvPr id="53254" name="组合 72">
            <a:extLst>
              <a:ext uri="{FF2B5EF4-FFF2-40B4-BE49-F238E27FC236}">
                <a16:creationId xmlns:a16="http://schemas.microsoft.com/office/drawing/2014/main" id="{F4407DE0-E974-42D5-B224-F39D64F250DF}"/>
              </a:ext>
            </a:extLst>
          </p:cNvPr>
          <p:cNvGrpSpPr>
            <a:grpSpLocks/>
          </p:cNvGrpSpPr>
          <p:nvPr/>
        </p:nvGrpSpPr>
        <p:grpSpPr bwMode="auto">
          <a:xfrm>
            <a:off x="642938" y="1643063"/>
            <a:ext cx="7929562" cy="4572000"/>
            <a:chOff x="214313" y="1643063"/>
            <a:chExt cx="6858000" cy="4572000"/>
          </a:xfrm>
        </p:grpSpPr>
        <p:sp>
          <p:nvSpPr>
            <p:cNvPr id="53255" name="Line 36">
              <a:extLst>
                <a:ext uri="{FF2B5EF4-FFF2-40B4-BE49-F238E27FC236}">
                  <a16:creationId xmlns:a16="http://schemas.microsoft.com/office/drawing/2014/main" id="{DBD01AE6-D174-4E0D-9B0F-BE6B6F401B27}"/>
                </a:ext>
              </a:extLst>
            </p:cNvPr>
            <p:cNvSpPr>
              <a:spLocks noChangeShapeType="1"/>
            </p:cNvSpPr>
            <p:nvPr/>
          </p:nvSpPr>
          <p:spPr bwMode="auto">
            <a:xfrm>
              <a:off x="214313" y="6215063"/>
              <a:ext cx="68580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3256" name="组合 71">
              <a:extLst>
                <a:ext uri="{FF2B5EF4-FFF2-40B4-BE49-F238E27FC236}">
                  <a16:creationId xmlns:a16="http://schemas.microsoft.com/office/drawing/2014/main" id="{C40C2CEE-C3C1-4DD0-8FE1-D2A4ABABB7B5}"/>
                </a:ext>
              </a:extLst>
            </p:cNvPr>
            <p:cNvGrpSpPr>
              <a:grpSpLocks/>
            </p:cNvGrpSpPr>
            <p:nvPr/>
          </p:nvGrpSpPr>
          <p:grpSpPr bwMode="auto">
            <a:xfrm>
              <a:off x="214313" y="1643063"/>
              <a:ext cx="6858000" cy="4519612"/>
              <a:chOff x="214313" y="1643063"/>
              <a:chExt cx="6858000" cy="4519612"/>
            </a:xfrm>
          </p:grpSpPr>
          <p:grpSp>
            <p:nvGrpSpPr>
              <p:cNvPr id="53257" name="Group 5">
                <a:extLst>
                  <a:ext uri="{FF2B5EF4-FFF2-40B4-BE49-F238E27FC236}">
                    <a16:creationId xmlns:a16="http://schemas.microsoft.com/office/drawing/2014/main" id="{D037EB3D-9226-4A3A-A389-E8400E853B5C}"/>
                  </a:ext>
                </a:extLst>
              </p:cNvPr>
              <p:cNvGrpSpPr>
                <a:grpSpLocks/>
              </p:cNvGrpSpPr>
              <p:nvPr/>
            </p:nvGrpSpPr>
            <p:grpSpPr bwMode="auto">
              <a:xfrm>
                <a:off x="214313" y="1643063"/>
                <a:ext cx="6858000" cy="4519612"/>
                <a:chOff x="536" y="1344"/>
                <a:chExt cx="4016" cy="2870"/>
              </a:xfrm>
            </p:grpSpPr>
            <p:sp>
              <p:nvSpPr>
                <p:cNvPr id="53266" name="Rectangle 6">
                  <a:extLst>
                    <a:ext uri="{FF2B5EF4-FFF2-40B4-BE49-F238E27FC236}">
                      <a16:creationId xmlns:a16="http://schemas.microsoft.com/office/drawing/2014/main" id="{A6CEF029-25B2-47F8-B9D7-B8329F05A32A}"/>
                    </a:ext>
                  </a:extLst>
                </p:cNvPr>
                <p:cNvSpPr>
                  <a:spLocks noChangeArrowheads="1"/>
                </p:cNvSpPr>
                <p:nvPr/>
              </p:nvSpPr>
              <p:spPr bwMode="auto">
                <a:xfrm>
                  <a:off x="3972" y="2492"/>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1999</a:t>
                  </a:r>
                </a:p>
              </p:txBody>
            </p:sp>
            <p:sp>
              <p:nvSpPr>
                <p:cNvPr id="53267" name="Rectangle 7">
                  <a:extLst>
                    <a:ext uri="{FF2B5EF4-FFF2-40B4-BE49-F238E27FC236}">
                      <a16:creationId xmlns:a16="http://schemas.microsoft.com/office/drawing/2014/main" id="{62E47F92-51ED-468E-B519-E7C80D82D234}"/>
                    </a:ext>
                  </a:extLst>
                </p:cNvPr>
                <p:cNvSpPr>
                  <a:spLocks noChangeArrowheads="1"/>
                </p:cNvSpPr>
                <p:nvPr/>
              </p:nvSpPr>
              <p:spPr bwMode="auto">
                <a:xfrm>
                  <a:off x="2251" y="2492"/>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O(1.3196</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a:t>
                  </a:r>
                  <a:r>
                    <a:rPr lang="en-US" altLang="zh-CN" i="1" baseline="30000">
                      <a:latin typeface="Tahoma" panose="020B0604030504040204" pitchFamily="34" charset="0"/>
                      <a:ea typeface="宋体" panose="02010600030101010101" pitchFamily="2" charset="-122"/>
                      <a:cs typeface="Tahoma" panose="020B0604030504040204" pitchFamily="34" charset="0"/>
                    </a:rPr>
                    <a:t>2</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68" name="Rectangle 8">
                  <a:extLst>
                    <a:ext uri="{FF2B5EF4-FFF2-40B4-BE49-F238E27FC236}">
                      <a16:creationId xmlns:a16="http://schemas.microsoft.com/office/drawing/2014/main" id="{7D134DA6-2773-445C-81D3-9C1825A5F573}"/>
                    </a:ext>
                  </a:extLst>
                </p:cNvPr>
                <p:cNvSpPr>
                  <a:spLocks noChangeArrowheads="1"/>
                </p:cNvSpPr>
                <p:nvPr/>
              </p:nvSpPr>
              <p:spPr bwMode="auto">
                <a:xfrm>
                  <a:off x="567" y="2492"/>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Downey</a:t>
                  </a:r>
                  <a:r>
                    <a:rPr lang="zh-CN" altLang="en-US">
                      <a:latin typeface="Tahoma" panose="020B0604030504040204" pitchFamily="34" charset="0"/>
                      <a:ea typeface="隶书" panose="02010509060101010101" pitchFamily="49" charset="-122"/>
                      <a:cs typeface="Tahoma" panose="020B0604030504040204" pitchFamily="34" charset="0"/>
                    </a:rPr>
                    <a:t>等</a:t>
                  </a:r>
                </a:p>
              </p:txBody>
            </p:sp>
            <p:sp>
              <p:nvSpPr>
                <p:cNvPr id="53269" name="Rectangle 9">
                  <a:extLst>
                    <a:ext uri="{FF2B5EF4-FFF2-40B4-BE49-F238E27FC236}">
                      <a16:creationId xmlns:a16="http://schemas.microsoft.com/office/drawing/2014/main" id="{9AC4EF40-2B74-4E04-A12A-943320CC69F9}"/>
                    </a:ext>
                  </a:extLst>
                </p:cNvPr>
                <p:cNvSpPr>
                  <a:spLocks noChangeArrowheads="1"/>
                </p:cNvSpPr>
                <p:nvPr/>
              </p:nvSpPr>
              <p:spPr bwMode="auto">
                <a:xfrm>
                  <a:off x="3972" y="2205"/>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1998</a:t>
                  </a:r>
                </a:p>
              </p:txBody>
            </p:sp>
            <p:sp>
              <p:nvSpPr>
                <p:cNvPr id="53270" name="Rectangle 10">
                  <a:extLst>
                    <a:ext uri="{FF2B5EF4-FFF2-40B4-BE49-F238E27FC236}">
                      <a16:creationId xmlns:a16="http://schemas.microsoft.com/office/drawing/2014/main" id="{45B6BC2B-F8E8-432B-916C-95C851C917FF}"/>
                    </a:ext>
                  </a:extLst>
                </p:cNvPr>
                <p:cNvSpPr>
                  <a:spLocks noChangeArrowheads="1"/>
                </p:cNvSpPr>
                <p:nvPr/>
              </p:nvSpPr>
              <p:spPr bwMode="auto">
                <a:xfrm>
                  <a:off x="2251" y="2205"/>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O(1.3248</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a:t>
                  </a:r>
                  <a:r>
                    <a:rPr lang="en-US" altLang="zh-CN" i="1" baseline="30000">
                      <a:latin typeface="Tahoma" panose="020B0604030504040204" pitchFamily="34" charset="0"/>
                      <a:ea typeface="宋体" panose="02010600030101010101" pitchFamily="2" charset="-122"/>
                      <a:cs typeface="Tahoma" panose="020B0604030504040204" pitchFamily="34" charset="0"/>
                    </a:rPr>
                    <a:t>2</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p:txBody>
            </p:sp>
            <p:sp>
              <p:nvSpPr>
                <p:cNvPr id="53271" name="Rectangle 11">
                  <a:extLst>
                    <a:ext uri="{FF2B5EF4-FFF2-40B4-BE49-F238E27FC236}">
                      <a16:creationId xmlns:a16="http://schemas.microsoft.com/office/drawing/2014/main" id="{77F9DD6A-DCB6-4D39-BFCB-2F4EDBE06E88}"/>
                    </a:ext>
                  </a:extLst>
                </p:cNvPr>
                <p:cNvSpPr>
                  <a:spLocks noChangeArrowheads="1"/>
                </p:cNvSpPr>
                <p:nvPr/>
              </p:nvSpPr>
              <p:spPr bwMode="auto">
                <a:xfrm>
                  <a:off x="567" y="2205"/>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Balasubramanian</a:t>
                  </a:r>
                </a:p>
              </p:txBody>
            </p:sp>
            <p:sp>
              <p:nvSpPr>
                <p:cNvPr id="53272" name="Rectangle 12">
                  <a:extLst>
                    <a:ext uri="{FF2B5EF4-FFF2-40B4-BE49-F238E27FC236}">
                      <a16:creationId xmlns:a16="http://schemas.microsoft.com/office/drawing/2014/main" id="{1FC666B1-B540-4865-B896-23087E2864F6}"/>
                    </a:ext>
                  </a:extLst>
                </p:cNvPr>
                <p:cNvSpPr>
                  <a:spLocks noChangeArrowheads="1"/>
                </p:cNvSpPr>
                <p:nvPr/>
              </p:nvSpPr>
              <p:spPr bwMode="auto">
                <a:xfrm>
                  <a:off x="3972" y="2779"/>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1999</a:t>
                  </a:r>
                </a:p>
              </p:txBody>
            </p:sp>
            <p:sp>
              <p:nvSpPr>
                <p:cNvPr id="53273" name="Rectangle 13">
                  <a:extLst>
                    <a:ext uri="{FF2B5EF4-FFF2-40B4-BE49-F238E27FC236}">
                      <a16:creationId xmlns:a16="http://schemas.microsoft.com/office/drawing/2014/main" id="{33129C63-EBB4-4F88-BD84-D07FF3A6A76F}"/>
                    </a:ext>
                  </a:extLst>
                </p:cNvPr>
                <p:cNvSpPr>
                  <a:spLocks noChangeArrowheads="1"/>
                </p:cNvSpPr>
                <p:nvPr/>
              </p:nvSpPr>
              <p:spPr bwMode="auto">
                <a:xfrm>
                  <a:off x="2251" y="2779"/>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sz="2000" i="1">
                      <a:latin typeface="Tahoma" panose="020B0604030504040204" pitchFamily="34" charset="0"/>
                      <a:ea typeface="宋体" panose="02010600030101010101" pitchFamily="2" charset="-122"/>
                      <a:cs typeface="Tahoma" panose="020B0604030504040204" pitchFamily="34" charset="0"/>
                    </a:rPr>
                    <a:t>O(1.2918</a:t>
                  </a:r>
                  <a:r>
                    <a:rPr lang="en-US" altLang="zh-CN" sz="2000" i="1" baseline="30000">
                      <a:latin typeface="Tahoma" panose="020B0604030504040204" pitchFamily="34" charset="0"/>
                      <a:ea typeface="宋体" panose="02010600030101010101" pitchFamily="2" charset="-122"/>
                      <a:cs typeface="Tahoma" panose="020B0604030504040204" pitchFamily="34" charset="0"/>
                    </a:rPr>
                    <a:t>k</a:t>
                  </a:r>
                  <a:r>
                    <a:rPr lang="en-US" altLang="zh-CN" sz="2000" i="1">
                      <a:latin typeface="Tahoma" panose="020B0604030504040204" pitchFamily="34" charset="0"/>
                      <a:ea typeface="宋体" panose="02010600030101010101" pitchFamily="2" charset="-122"/>
                      <a:cs typeface="Tahoma" panose="020B0604030504040204" pitchFamily="34" charset="0"/>
                    </a:rPr>
                    <a:t>k</a:t>
                  </a:r>
                  <a:r>
                    <a:rPr lang="en-US" altLang="zh-CN" sz="2000" i="1" baseline="30000">
                      <a:latin typeface="Tahoma" panose="020B0604030504040204" pitchFamily="34" charset="0"/>
                      <a:ea typeface="宋体" panose="02010600030101010101" pitchFamily="2" charset="-122"/>
                      <a:cs typeface="Tahoma" panose="020B0604030504040204" pitchFamily="34" charset="0"/>
                    </a:rPr>
                    <a:t>2</a:t>
                  </a:r>
                  <a:r>
                    <a:rPr lang="en-US" altLang="zh-CN" sz="2000" i="1">
                      <a:latin typeface="Tahoma" panose="020B0604030504040204" pitchFamily="34" charset="0"/>
                      <a:ea typeface="宋体" panose="02010600030101010101" pitchFamily="2" charset="-122"/>
                      <a:cs typeface="Tahoma" panose="020B0604030504040204" pitchFamily="34" charset="0"/>
                    </a:rPr>
                    <a:t>+kn</a:t>
                  </a:r>
                  <a:r>
                    <a:rPr lang="en-US" altLang="zh-CN" i="1">
                      <a:latin typeface="Tahoma" panose="020B0604030504040204" pitchFamily="34" charset="0"/>
                      <a:ea typeface="宋体" panose="02010600030101010101" pitchFamily="2" charset="-122"/>
                      <a:cs typeface="Tahoma" panose="020B0604030504040204" pitchFamily="34" charset="0"/>
                    </a:rPr>
                    <a:t>)</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74" name="Rectangle 14">
                  <a:extLst>
                    <a:ext uri="{FF2B5EF4-FFF2-40B4-BE49-F238E27FC236}">
                      <a16:creationId xmlns:a16="http://schemas.microsoft.com/office/drawing/2014/main" id="{7609CEEF-FC89-49AF-99B0-FFAFA6C8E2E7}"/>
                    </a:ext>
                  </a:extLst>
                </p:cNvPr>
                <p:cNvSpPr>
                  <a:spLocks noChangeArrowheads="1"/>
                </p:cNvSpPr>
                <p:nvPr/>
              </p:nvSpPr>
              <p:spPr bwMode="auto">
                <a:xfrm>
                  <a:off x="567" y="2779"/>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Niedermeier</a:t>
                  </a:r>
                  <a:r>
                    <a:rPr lang="zh-CN" altLang="en-US">
                      <a:latin typeface="Tahoma" panose="020B0604030504040204" pitchFamily="34" charset="0"/>
                      <a:ea typeface="隶书" panose="02010509060101010101" pitchFamily="49" charset="-122"/>
                      <a:cs typeface="Tahoma" panose="020B0604030504040204" pitchFamily="34" charset="0"/>
                    </a:rPr>
                    <a:t>等</a:t>
                  </a:r>
                </a:p>
              </p:txBody>
            </p:sp>
            <p:sp>
              <p:nvSpPr>
                <p:cNvPr id="53275" name="Rectangle 15">
                  <a:extLst>
                    <a:ext uri="{FF2B5EF4-FFF2-40B4-BE49-F238E27FC236}">
                      <a16:creationId xmlns:a16="http://schemas.microsoft.com/office/drawing/2014/main" id="{C0008128-5C85-4D23-926A-78A9A13D05C2}"/>
                    </a:ext>
                  </a:extLst>
                </p:cNvPr>
                <p:cNvSpPr>
                  <a:spLocks noChangeArrowheads="1"/>
                </p:cNvSpPr>
                <p:nvPr/>
              </p:nvSpPr>
              <p:spPr bwMode="auto">
                <a:xfrm>
                  <a:off x="3972" y="3066"/>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1999</a:t>
                  </a:r>
                </a:p>
              </p:txBody>
            </p:sp>
            <p:sp>
              <p:nvSpPr>
                <p:cNvPr id="53276" name="Rectangle 16">
                  <a:extLst>
                    <a:ext uri="{FF2B5EF4-FFF2-40B4-BE49-F238E27FC236}">
                      <a16:creationId xmlns:a16="http://schemas.microsoft.com/office/drawing/2014/main" id="{07B47DAC-9F5C-4C93-8EB1-ADE5F3322E58}"/>
                    </a:ext>
                  </a:extLst>
                </p:cNvPr>
                <p:cNvSpPr>
                  <a:spLocks noChangeArrowheads="1"/>
                </p:cNvSpPr>
                <p:nvPr/>
              </p:nvSpPr>
              <p:spPr bwMode="auto">
                <a:xfrm>
                  <a:off x="2251" y="3066"/>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O(1.2906</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a:t>
                  </a:r>
                  <a:r>
                    <a:rPr lang="en-US" altLang="zh-CN" i="1" baseline="30000">
                      <a:latin typeface="Tahoma" panose="020B0604030504040204" pitchFamily="34" charset="0"/>
                      <a:ea typeface="宋体" panose="02010600030101010101" pitchFamily="2" charset="-122"/>
                      <a:cs typeface="Tahoma" panose="020B0604030504040204" pitchFamily="34" charset="0"/>
                    </a:rPr>
                    <a:t>2</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77" name="Rectangle 17">
                  <a:extLst>
                    <a:ext uri="{FF2B5EF4-FFF2-40B4-BE49-F238E27FC236}">
                      <a16:creationId xmlns:a16="http://schemas.microsoft.com/office/drawing/2014/main" id="{7CD78A87-BDD6-4EF9-816D-B931C4C29FA7}"/>
                    </a:ext>
                  </a:extLst>
                </p:cNvPr>
                <p:cNvSpPr>
                  <a:spLocks noChangeArrowheads="1"/>
                </p:cNvSpPr>
                <p:nvPr/>
              </p:nvSpPr>
              <p:spPr bwMode="auto">
                <a:xfrm>
                  <a:off x="567" y="3066"/>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Stege &amp; Fellows</a:t>
                  </a:r>
                </a:p>
              </p:txBody>
            </p:sp>
            <p:sp>
              <p:nvSpPr>
                <p:cNvPr id="53278" name="Rectangle 18">
                  <a:extLst>
                    <a:ext uri="{FF2B5EF4-FFF2-40B4-BE49-F238E27FC236}">
                      <a16:creationId xmlns:a16="http://schemas.microsoft.com/office/drawing/2014/main" id="{B2DC8ED8-A436-40FF-8C32-EDDE8BB974D6}"/>
                    </a:ext>
                  </a:extLst>
                </p:cNvPr>
                <p:cNvSpPr>
                  <a:spLocks noChangeArrowheads="1"/>
                </p:cNvSpPr>
                <p:nvPr/>
              </p:nvSpPr>
              <p:spPr bwMode="auto">
                <a:xfrm>
                  <a:off x="3972" y="3353"/>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2001</a:t>
                  </a:r>
                </a:p>
              </p:txBody>
            </p:sp>
            <p:sp>
              <p:nvSpPr>
                <p:cNvPr id="53279" name="Rectangle 19">
                  <a:extLst>
                    <a:ext uri="{FF2B5EF4-FFF2-40B4-BE49-F238E27FC236}">
                      <a16:creationId xmlns:a16="http://schemas.microsoft.com/office/drawing/2014/main" id="{2E679E7F-7A4D-46E0-A338-BB79B3F41A34}"/>
                    </a:ext>
                  </a:extLst>
                </p:cNvPr>
                <p:cNvSpPr>
                  <a:spLocks noChangeArrowheads="1"/>
                </p:cNvSpPr>
                <p:nvPr/>
              </p:nvSpPr>
              <p:spPr bwMode="auto">
                <a:xfrm>
                  <a:off x="2251" y="3353"/>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O(1.2852</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80" name="Rectangle 20">
                  <a:extLst>
                    <a:ext uri="{FF2B5EF4-FFF2-40B4-BE49-F238E27FC236}">
                      <a16:creationId xmlns:a16="http://schemas.microsoft.com/office/drawing/2014/main" id="{6E788EC0-253F-4F20-8C72-08CA54074E49}"/>
                    </a:ext>
                  </a:extLst>
                </p:cNvPr>
                <p:cNvSpPr>
                  <a:spLocks noChangeArrowheads="1"/>
                </p:cNvSpPr>
                <p:nvPr/>
              </p:nvSpPr>
              <p:spPr bwMode="auto">
                <a:xfrm>
                  <a:off x="567" y="3353"/>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Chen</a:t>
                  </a:r>
                  <a:r>
                    <a:rPr lang="zh-CN" altLang="en-US">
                      <a:latin typeface="Tahoma" panose="020B0604030504040204" pitchFamily="34" charset="0"/>
                      <a:ea typeface="隶书" panose="02010509060101010101" pitchFamily="49" charset="-122"/>
                      <a:cs typeface="Tahoma" panose="020B0604030504040204" pitchFamily="34" charset="0"/>
                    </a:rPr>
                    <a:t>等</a:t>
                  </a:r>
                </a:p>
              </p:txBody>
            </p:sp>
            <p:sp>
              <p:nvSpPr>
                <p:cNvPr id="53281" name="Rectangle 21">
                  <a:extLst>
                    <a:ext uri="{FF2B5EF4-FFF2-40B4-BE49-F238E27FC236}">
                      <a16:creationId xmlns:a16="http://schemas.microsoft.com/office/drawing/2014/main" id="{1714FB49-AF3D-4E05-BDA6-7C7A0E7F6C1F}"/>
                    </a:ext>
                  </a:extLst>
                </p:cNvPr>
                <p:cNvSpPr>
                  <a:spLocks noChangeArrowheads="1"/>
                </p:cNvSpPr>
                <p:nvPr/>
              </p:nvSpPr>
              <p:spPr bwMode="auto">
                <a:xfrm>
                  <a:off x="3972" y="3640"/>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2005</a:t>
                  </a:r>
                </a:p>
              </p:txBody>
            </p:sp>
            <p:sp>
              <p:nvSpPr>
                <p:cNvPr id="53282" name="Rectangle 22">
                  <a:extLst>
                    <a:ext uri="{FF2B5EF4-FFF2-40B4-BE49-F238E27FC236}">
                      <a16:creationId xmlns:a16="http://schemas.microsoft.com/office/drawing/2014/main" id="{E35D0780-75F0-43DB-95F2-10F7F6CA9C0B}"/>
                    </a:ext>
                  </a:extLst>
                </p:cNvPr>
                <p:cNvSpPr>
                  <a:spLocks noChangeArrowheads="1"/>
                </p:cNvSpPr>
                <p:nvPr/>
              </p:nvSpPr>
              <p:spPr bwMode="auto">
                <a:xfrm>
                  <a:off x="2251" y="3640"/>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O(1.2745</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a:t>
                  </a:r>
                  <a:r>
                    <a:rPr lang="en-US" altLang="zh-CN" i="1" baseline="30000">
                      <a:latin typeface="Tahoma" panose="020B0604030504040204" pitchFamily="34" charset="0"/>
                      <a:ea typeface="宋体" panose="02010600030101010101" pitchFamily="2" charset="-122"/>
                      <a:cs typeface="Tahoma" panose="020B0604030504040204" pitchFamily="34" charset="0"/>
                    </a:rPr>
                    <a:t>4</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83" name="Rectangle 23">
                  <a:extLst>
                    <a:ext uri="{FF2B5EF4-FFF2-40B4-BE49-F238E27FC236}">
                      <a16:creationId xmlns:a16="http://schemas.microsoft.com/office/drawing/2014/main" id="{C2E0B98A-A347-4E84-B113-E5321AD42ABA}"/>
                    </a:ext>
                  </a:extLst>
                </p:cNvPr>
                <p:cNvSpPr>
                  <a:spLocks noChangeArrowheads="1"/>
                </p:cNvSpPr>
                <p:nvPr/>
              </p:nvSpPr>
              <p:spPr bwMode="auto">
                <a:xfrm>
                  <a:off x="567" y="3640"/>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sz="1800">
                      <a:latin typeface="Tahoma" panose="020B0604030504040204" pitchFamily="34" charset="0"/>
                      <a:ea typeface="宋体" panose="02010600030101010101" pitchFamily="2" charset="-122"/>
                      <a:cs typeface="Tahoma" panose="020B0604030504040204" pitchFamily="34" charset="0"/>
                    </a:rPr>
                    <a:t>Chandran &amp; Grandoni</a:t>
                  </a:r>
                </a:p>
              </p:txBody>
            </p:sp>
            <p:sp>
              <p:nvSpPr>
                <p:cNvPr id="53284" name="Rectangle 24">
                  <a:extLst>
                    <a:ext uri="{FF2B5EF4-FFF2-40B4-BE49-F238E27FC236}">
                      <a16:creationId xmlns:a16="http://schemas.microsoft.com/office/drawing/2014/main" id="{69887C94-8C89-4C35-94D8-C7F9FC86BCA5}"/>
                    </a:ext>
                  </a:extLst>
                </p:cNvPr>
                <p:cNvSpPr>
                  <a:spLocks noChangeArrowheads="1"/>
                </p:cNvSpPr>
                <p:nvPr/>
              </p:nvSpPr>
              <p:spPr bwMode="auto">
                <a:xfrm>
                  <a:off x="3972" y="1918"/>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1995</a:t>
                  </a:r>
                </a:p>
              </p:txBody>
            </p:sp>
            <p:sp>
              <p:nvSpPr>
                <p:cNvPr id="53285" name="Rectangle 25">
                  <a:extLst>
                    <a:ext uri="{FF2B5EF4-FFF2-40B4-BE49-F238E27FC236}">
                      <a16:creationId xmlns:a16="http://schemas.microsoft.com/office/drawing/2014/main" id="{0750216B-88DB-4E82-972C-DC654C8ABEE1}"/>
                    </a:ext>
                  </a:extLst>
                </p:cNvPr>
                <p:cNvSpPr>
                  <a:spLocks noChangeArrowheads="1"/>
                </p:cNvSpPr>
                <p:nvPr/>
              </p:nvSpPr>
              <p:spPr bwMode="auto">
                <a:xfrm>
                  <a:off x="2251" y="1918"/>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O(2</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a:t>
                  </a:r>
                  <a:r>
                    <a:rPr lang="en-US" altLang="zh-CN" i="1" baseline="30000">
                      <a:latin typeface="Tahoma" panose="020B0604030504040204" pitchFamily="34" charset="0"/>
                      <a:ea typeface="宋体" panose="02010600030101010101" pitchFamily="2" charset="-122"/>
                      <a:cs typeface="Tahoma" panose="020B0604030504040204" pitchFamily="34" charset="0"/>
                    </a:rPr>
                    <a:t>2</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p:txBody>
            </p:sp>
            <p:sp>
              <p:nvSpPr>
                <p:cNvPr id="53286" name="Rectangle 26">
                  <a:extLst>
                    <a:ext uri="{FF2B5EF4-FFF2-40B4-BE49-F238E27FC236}">
                      <a16:creationId xmlns:a16="http://schemas.microsoft.com/office/drawing/2014/main" id="{651B6840-72C6-4C89-A385-2A37B8267F85}"/>
                    </a:ext>
                  </a:extLst>
                </p:cNvPr>
                <p:cNvSpPr>
                  <a:spLocks noChangeArrowheads="1"/>
                </p:cNvSpPr>
                <p:nvPr/>
              </p:nvSpPr>
              <p:spPr bwMode="auto">
                <a:xfrm>
                  <a:off x="567" y="1918"/>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Downey &amp; Fellows</a:t>
                  </a:r>
                </a:p>
              </p:txBody>
            </p:sp>
            <p:sp>
              <p:nvSpPr>
                <p:cNvPr id="53287" name="Rectangle 27">
                  <a:extLst>
                    <a:ext uri="{FF2B5EF4-FFF2-40B4-BE49-F238E27FC236}">
                      <a16:creationId xmlns:a16="http://schemas.microsoft.com/office/drawing/2014/main" id="{2E04FB3D-FD64-4A48-A637-E76EC771EB8F}"/>
                    </a:ext>
                  </a:extLst>
                </p:cNvPr>
                <p:cNvSpPr>
                  <a:spLocks noChangeArrowheads="1"/>
                </p:cNvSpPr>
                <p:nvPr/>
              </p:nvSpPr>
              <p:spPr bwMode="auto">
                <a:xfrm>
                  <a:off x="3972" y="3927"/>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2010</a:t>
                  </a:r>
                </a:p>
              </p:txBody>
            </p:sp>
            <p:sp>
              <p:nvSpPr>
                <p:cNvPr id="53288" name="Rectangle 28">
                  <a:extLst>
                    <a:ext uri="{FF2B5EF4-FFF2-40B4-BE49-F238E27FC236}">
                      <a16:creationId xmlns:a16="http://schemas.microsoft.com/office/drawing/2014/main" id="{732A028A-B26A-487C-8D57-64375DB8B84E}"/>
                    </a:ext>
                  </a:extLst>
                </p:cNvPr>
                <p:cNvSpPr>
                  <a:spLocks noChangeArrowheads="1"/>
                </p:cNvSpPr>
                <p:nvPr/>
              </p:nvSpPr>
              <p:spPr bwMode="auto">
                <a:xfrm>
                  <a:off x="2251" y="3927"/>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i="1">
                      <a:latin typeface="Tahoma" panose="020B0604030504040204" pitchFamily="34" charset="0"/>
                      <a:ea typeface="宋体" panose="02010600030101010101" pitchFamily="2" charset="-122"/>
                      <a:cs typeface="Tahoma" panose="020B0604030504040204" pitchFamily="34" charset="0"/>
                    </a:rPr>
                    <a:t>O(1.2738</a:t>
                  </a:r>
                  <a:r>
                    <a:rPr lang="en-US" altLang="zh-CN" i="1" baseline="30000">
                      <a:latin typeface="Tahoma" panose="020B0604030504040204" pitchFamily="34" charset="0"/>
                      <a:ea typeface="宋体" panose="02010600030101010101" pitchFamily="2" charset="-122"/>
                      <a:cs typeface="Tahoma" panose="020B0604030504040204" pitchFamily="34" charset="0"/>
                    </a:rPr>
                    <a:t>k</a:t>
                  </a:r>
                  <a:r>
                    <a:rPr lang="en-US" altLang="zh-CN" i="1">
                      <a:latin typeface="Tahoma" panose="020B0604030504040204" pitchFamily="34" charset="0"/>
                      <a:ea typeface="宋体" panose="02010600030101010101" pitchFamily="2" charset="-122"/>
                      <a:cs typeface="Tahoma" panose="020B0604030504040204" pitchFamily="34" charset="0"/>
                    </a:rPr>
                    <a:t>+kn)</a:t>
                  </a:r>
                  <a:endParaRPr lang="zh-CN" altLang="zh-CN" i="1">
                    <a:latin typeface="Tahoma" panose="020B0604030504040204" pitchFamily="34" charset="0"/>
                    <a:ea typeface="宋体" panose="02010600030101010101" pitchFamily="2" charset="-122"/>
                    <a:cs typeface="Tahoma" panose="020B0604030504040204" pitchFamily="34" charset="0"/>
                  </a:endParaRPr>
                </a:p>
                <a:p>
                  <a:pPr>
                    <a:spcBef>
                      <a:spcPct val="20000"/>
                    </a:spcBef>
                    <a:buClr>
                      <a:schemeClr val="accent1"/>
                    </a:buClr>
                    <a:buSzTx/>
                    <a:buFontTx/>
                    <a:buNone/>
                  </a:pPr>
                  <a:endParaRPr lang="zh-CN" altLang="zh-CN">
                    <a:latin typeface="Tahoma" panose="020B0604030504040204" pitchFamily="34" charset="0"/>
                    <a:ea typeface="宋体" panose="02010600030101010101" pitchFamily="2" charset="-122"/>
                    <a:cs typeface="Tahoma" panose="020B0604030504040204" pitchFamily="34" charset="0"/>
                  </a:endParaRPr>
                </a:p>
              </p:txBody>
            </p:sp>
            <p:sp>
              <p:nvSpPr>
                <p:cNvPr id="53289" name="Rectangle 29">
                  <a:extLst>
                    <a:ext uri="{FF2B5EF4-FFF2-40B4-BE49-F238E27FC236}">
                      <a16:creationId xmlns:a16="http://schemas.microsoft.com/office/drawing/2014/main" id="{6B383585-A0B7-4783-93BB-EA8FB6A33A9D}"/>
                    </a:ext>
                  </a:extLst>
                </p:cNvPr>
                <p:cNvSpPr>
                  <a:spLocks noChangeArrowheads="1"/>
                </p:cNvSpPr>
                <p:nvPr/>
              </p:nvSpPr>
              <p:spPr bwMode="auto">
                <a:xfrm>
                  <a:off x="567" y="3927"/>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Chen</a:t>
                  </a:r>
                  <a:r>
                    <a:rPr lang="zh-CN" altLang="en-US">
                      <a:latin typeface="Tahoma" panose="020B0604030504040204" pitchFamily="34" charset="0"/>
                      <a:ea typeface="隶书" panose="02010509060101010101" pitchFamily="49" charset="-122"/>
                      <a:cs typeface="Tahoma" panose="020B0604030504040204" pitchFamily="34" charset="0"/>
                    </a:rPr>
                    <a:t>等</a:t>
                  </a:r>
                </a:p>
              </p:txBody>
            </p:sp>
            <p:sp>
              <p:nvSpPr>
                <p:cNvPr id="53290" name="Rectangle 30">
                  <a:extLst>
                    <a:ext uri="{FF2B5EF4-FFF2-40B4-BE49-F238E27FC236}">
                      <a16:creationId xmlns:a16="http://schemas.microsoft.com/office/drawing/2014/main" id="{B8BD7AAA-9601-47C6-B3BA-040CF105CB99}"/>
                    </a:ext>
                  </a:extLst>
                </p:cNvPr>
                <p:cNvSpPr>
                  <a:spLocks noChangeArrowheads="1"/>
                </p:cNvSpPr>
                <p:nvPr/>
              </p:nvSpPr>
              <p:spPr bwMode="auto">
                <a:xfrm>
                  <a:off x="3972" y="1631"/>
                  <a:ext cx="58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a:latin typeface="Tahoma" panose="020B0604030504040204" pitchFamily="34" charset="0"/>
                      <a:ea typeface="宋体" panose="02010600030101010101" pitchFamily="2" charset="-122"/>
                      <a:cs typeface="Tahoma" panose="020B0604030504040204" pitchFamily="34" charset="0"/>
                    </a:rPr>
                    <a:t>1993</a:t>
                  </a:r>
                </a:p>
              </p:txBody>
            </p:sp>
            <p:sp>
              <p:nvSpPr>
                <p:cNvPr id="53291" name="Rectangle 31">
                  <a:extLst>
                    <a:ext uri="{FF2B5EF4-FFF2-40B4-BE49-F238E27FC236}">
                      <a16:creationId xmlns:a16="http://schemas.microsoft.com/office/drawing/2014/main" id="{7159E16F-8E50-43E7-9DF5-E1E7EFCB1DA4}"/>
                    </a:ext>
                  </a:extLst>
                </p:cNvPr>
                <p:cNvSpPr>
                  <a:spLocks noChangeArrowheads="1"/>
                </p:cNvSpPr>
                <p:nvPr/>
              </p:nvSpPr>
              <p:spPr bwMode="auto">
                <a:xfrm>
                  <a:off x="2251" y="1631"/>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sz="2000" i="1">
                      <a:latin typeface="Tahoma" panose="020B0604030504040204" pitchFamily="34" charset="0"/>
                      <a:ea typeface="宋体" panose="02010600030101010101" pitchFamily="2" charset="-122"/>
                      <a:cs typeface="Tahoma" panose="020B0604030504040204" pitchFamily="34" charset="0"/>
                    </a:rPr>
                    <a:t>O(2</a:t>
                  </a:r>
                  <a:r>
                    <a:rPr lang="en-US" altLang="zh-CN" sz="2000" i="1" baseline="30000">
                      <a:latin typeface="Tahoma" panose="020B0604030504040204" pitchFamily="34" charset="0"/>
                      <a:ea typeface="宋体" panose="02010600030101010101" pitchFamily="2" charset="-122"/>
                      <a:cs typeface="Tahoma" panose="020B0604030504040204" pitchFamily="34" charset="0"/>
                    </a:rPr>
                    <a:t>k</a:t>
                  </a:r>
                  <a:r>
                    <a:rPr lang="en-US" altLang="zh-CN" sz="2000" i="1">
                      <a:latin typeface="Tahoma" panose="020B0604030504040204" pitchFamily="34" charset="0"/>
                      <a:ea typeface="宋体" panose="02010600030101010101" pitchFamily="2" charset="-122"/>
                      <a:cs typeface="Tahoma" panose="020B0604030504040204" pitchFamily="34" charset="0"/>
                    </a:rPr>
                    <a:t>k</a:t>
                  </a:r>
                  <a:r>
                    <a:rPr lang="en-US" altLang="zh-CN" sz="2000" i="1" baseline="30000">
                      <a:latin typeface="Tahoma" panose="020B0604030504040204" pitchFamily="34" charset="0"/>
                      <a:ea typeface="宋体" panose="02010600030101010101" pitchFamily="2" charset="-122"/>
                      <a:cs typeface="Tahoma" panose="020B0604030504040204" pitchFamily="34" charset="0"/>
                    </a:rPr>
                    <a:t>2k+2</a:t>
                  </a:r>
                  <a:r>
                    <a:rPr lang="en-US" altLang="zh-CN" sz="2000" i="1">
                      <a:latin typeface="Tahoma" panose="020B0604030504040204" pitchFamily="34" charset="0"/>
                      <a:ea typeface="宋体" panose="02010600030101010101" pitchFamily="2" charset="-122"/>
                      <a:cs typeface="Tahoma" panose="020B0604030504040204" pitchFamily="34" charset="0"/>
                    </a:rPr>
                    <a:t>+kn</a:t>
                  </a:r>
                  <a:r>
                    <a:rPr lang="en-US" altLang="zh-CN" i="1">
                      <a:latin typeface="Tahoma" panose="020B0604030504040204" pitchFamily="34" charset="0"/>
                      <a:ea typeface="宋体" panose="02010600030101010101" pitchFamily="2" charset="-122"/>
                      <a:cs typeface="Tahoma" panose="020B0604030504040204" pitchFamily="34" charset="0"/>
                    </a:rPr>
                    <a:t>)</a:t>
                  </a:r>
                  <a:endParaRPr lang="zh-CN" altLang="zh-CN" i="1">
                    <a:latin typeface="Tahoma" panose="020B0604030504040204" pitchFamily="34" charset="0"/>
                    <a:ea typeface="宋体" panose="02010600030101010101" pitchFamily="2" charset="-122"/>
                    <a:cs typeface="Tahoma" panose="020B0604030504040204" pitchFamily="34" charset="0"/>
                  </a:endParaRPr>
                </a:p>
              </p:txBody>
            </p:sp>
            <p:sp>
              <p:nvSpPr>
                <p:cNvPr id="53292" name="Rectangle 32">
                  <a:extLst>
                    <a:ext uri="{FF2B5EF4-FFF2-40B4-BE49-F238E27FC236}">
                      <a16:creationId xmlns:a16="http://schemas.microsoft.com/office/drawing/2014/main" id="{F5FCFA40-F7EC-4ED2-B81E-F96E9C417060}"/>
                    </a:ext>
                  </a:extLst>
                </p:cNvPr>
                <p:cNvSpPr>
                  <a:spLocks noChangeArrowheads="1"/>
                </p:cNvSpPr>
                <p:nvPr/>
              </p:nvSpPr>
              <p:spPr bwMode="auto">
                <a:xfrm>
                  <a:off x="567" y="1631"/>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en-US" altLang="zh-CN" sz="2000">
                      <a:latin typeface="Tahoma" panose="020B0604030504040204" pitchFamily="34" charset="0"/>
                      <a:ea typeface="宋体" panose="02010600030101010101" pitchFamily="2" charset="-122"/>
                      <a:cs typeface="Tahoma" panose="020B0604030504040204" pitchFamily="34" charset="0"/>
                    </a:rPr>
                    <a:t>Buss &amp; Goldsmith</a:t>
                  </a:r>
                </a:p>
              </p:txBody>
            </p:sp>
            <p:sp>
              <p:nvSpPr>
                <p:cNvPr id="53293" name="Rectangle 33">
                  <a:extLst>
                    <a:ext uri="{FF2B5EF4-FFF2-40B4-BE49-F238E27FC236}">
                      <a16:creationId xmlns:a16="http://schemas.microsoft.com/office/drawing/2014/main" id="{4A2C6FFF-FFCF-4010-A361-04B7F19F9344}"/>
                    </a:ext>
                  </a:extLst>
                </p:cNvPr>
                <p:cNvSpPr>
                  <a:spLocks noChangeArrowheads="1"/>
                </p:cNvSpPr>
                <p:nvPr/>
              </p:nvSpPr>
              <p:spPr bwMode="auto">
                <a:xfrm>
                  <a:off x="3966" y="1344"/>
                  <a:ext cx="53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zh-CN" altLang="en-US">
                      <a:latin typeface="Tahoma" panose="020B0604030504040204" pitchFamily="34" charset="0"/>
                      <a:ea typeface="隶书" panose="02010509060101010101" pitchFamily="49" charset="-122"/>
                      <a:cs typeface="Tahoma" panose="020B0604030504040204" pitchFamily="34" charset="0"/>
                    </a:rPr>
                    <a:t>年份</a:t>
                  </a:r>
                </a:p>
              </p:txBody>
            </p:sp>
            <p:sp>
              <p:nvSpPr>
                <p:cNvPr id="53294" name="Rectangle 34">
                  <a:extLst>
                    <a:ext uri="{FF2B5EF4-FFF2-40B4-BE49-F238E27FC236}">
                      <a16:creationId xmlns:a16="http://schemas.microsoft.com/office/drawing/2014/main" id="{72A2D751-7AA3-488F-B44C-7C5C99F422E3}"/>
                    </a:ext>
                  </a:extLst>
                </p:cNvPr>
                <p:cNvSpPr>
                  <a:spLocks noChangeArrowheads="1"/>
                </p:cNvSpPr>
                <p:nvPr/>
              </p:nvSpPr>
              <p:spPr bwMode="auto">
                <a:xfrm>
                  <a:off x="2521" y="1344"/>
                  <a:ext cx="157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zh-CN" altLang="en-US">
                      <a:latin typeface="Tahoma" panose="020B0604030504040204" pitchFamily="34" charset="0"/>
                      <a:ea typeface="隶书" panose="02010509060101010101" pitchFamily="49" charset="-122"/>
                      <a:cs typeface="Tahoma" panose="020B0604030504040204" pitchFamily="34" charset="0"/>
                    </a:rPr>
                    <a:t>结果</a:t>
                  </a:r>
                </a:p>
              </p:txBody>
            </p:sp>
            <p:sp>
              <p:nvSpPr>
                <p:cNvPr id="53295" name="Rectangle 35">
                  <a:extLst>
                    <a:ext uri="{FF2B5EF4-FFF2-40B4-BE49-F238E27FC236}">
                      <a16:creationId xmlns:a16="http://schemas.microsoft.com/office/drawing/2014/main" id="{C74F3616-04CC-4BD5-8008-6602E48D33F6}"/>
                    </a:ext>
                  </a:extLst>
                </p:cNvPr>
                <p:cNvSpPr>
                  <a:spLocks noChangeArrowheads="1"/>
                </p:cNvSpPr>
                <p:nvPr/>
              </p:nvSpPr>
              <p:spPr bwMode="auto">
                <a:xfrm>
                  <a:off x="567" y="1344"/>
                  <a:ext cx="195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
                      <a:schemeClr val="accent1"/>
                    </a:buClr>
                    <a:buSzTx/>
                    <a:buFontTx/>
                    <a:buNone/>
                  </a:pPr>
                  <a:r>
                    <a:rPr lang="zh-CN" altLang="en-US">
                      <a:latin typeface="Tahoma" panose="020B0604030504040204" pitchFamily="34" charset="0"/>
                      <a:ea typeface="隶书" panose="02010509060101010101" pitchFamily="49" charset="-122"/>
                      <a:cs typeface="Tahoma" panose="020B0604030504040204" pitchFamily="34" charset="0"/>
                    </a:rPr>
                    <a:t>作者</a:t>
                  </a:r>
                </a:p>
              </p:txBody>
            </p:sp>
            <p:sp>
              <p:nvSpPr>
                <p:cNvPr id="53296" name="Line 36">
                  <a:extLst>
                    <a:ext uri="{FF2B5EF4-FFF2-40B4-BE49-F238E27FC236}">
                      <a16:creationId xmlns:a16="http://schemas.microsoft.com/office/drawing/2014/main" id="{193FB5A5-422A-42BE-97EA-0705D3BCB4EB}"/>
                    </a:ext>
                  </a:extLst>
                </p:cNvPr>
                <p:cNvSpPr>
                  <a:spLocks noChangeShapeType="1"/>
                </p:cNvSpPr>
                <p:nvPr/>
              </p:nvSpPr>
              <p:spPr bwMode="auto">
                <a:xfrm>
                  <a:off x="536" y="1344"/>
                  <a:ext cx="401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7" name="Line 40">
                  <a:extLst>
                    <a:ext uri="{FF2B5EF4-FFF2-40B4-BE49-F238E27FC236}">
                      <a16:creationId xmlns:a16="http://schemas.microsoft.com/office/drawing/2014/main" id="{3BC0CE88-040C-4522-BBB5-23DDD29AB9DF}"/>
                    </a:ext>
                  </a:extLst>
                </p:cNvPr>
                <p:cNvSpPr>
                  <a:spLocks noChangeShapeType="1"/>
                </p:cNvSpPr>
                <p:nvPr/>
              </p:nvSpPr>
              <p:spPr bwMode="auto">
                <a:xfrm>
                  <a:off x="536" y="1344"/>
                  <a:ext cx="0" cy="287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8" name="Line 41">
                  <a:extLst>
                    <a:ext uri="{FF2B5EF4-FFF2-40B4-BE49-F238E27FC236}">
                      <a16:creationId xmlns:a16="http://schemas.microsoft.com/office/drawing/2014/main" id="{39E5474F-0C8C-42A2-9968-B9AB326A30FE}"/>
                    </a:ext>
                  </a:extLst>
                </p:cNvPr>
                <p:cNvSpPr>
                  <a:spLocks noChangeShapeType="1"/>
                </p:cNvSpPr>
                <p:nvPr/>
              </p:nvSpPr>
              <p:spPr bwMode="auto">
                <a:xfrm>
                  <a:off x="2167" y="1344"/>
                  <a:ext cx="0" cy="28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9" name="Line 42">
                  <a:extLst>
                    <a:ext uri="{FF2B5EF4-FFF2-40B4-BE49-F238E27FC236}">
                      <a16:creationId xmlns:a16="http://schemas.microsoft.com/office/drawing/2014/main" id="{834F85BD-D3A7-435D-B20F-77B19E3C103B}"/>
                    </a:ext>
                  </a:extLst>
                </p:cNvPr>
                <p:cNvSpPr>
                  <a:spLocks noChangeShapeType="1"/>
                </p:cNvSpPr>
                <p:nvPr/>
              </p:nvSpPr>
              <p:spPr bwMode="auto">
                <a:xfrm>
                  <a:off x="3757" y="1344"/>
                  <a:ext cx="0" cy="28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0" name="Line 43">
                  <a:extLst>
                    <a:ext uri="{FF2B5EF4-FFF2-40B4-BE49-F238E27FC236}">
                      <a16:creationId xmlns:a16="http://schemas.microsoft.com/office/drawing/2014/main" id="{FBF0F31C-EE2E-44C5-8FEB-DF68C1694759}"/>
                    </a:ext>
                  </a:extLst>
                </p:cNvPr>
                <p:cNvSpPr>
                  <a:spLocks noChangeShapeType="1"/>
                </p:cNvSpPr>
                <p:nvPr/>
              </p:nvSpPr>
              <p:spPr bwMode="auto">
                <a:xfrm>
                  <a:off x="4552" y="1344"/>
                  <a:ext cx="0" cy="287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1" name="Line 48">
                  <a:extLst>
                    <a:ext uri="{FF2B5EF4-FFF2-40B4-BE49-F238E27FC236}">
                      <a16:creationId xmlns:a16="http://schemas.microsoft.com/office/drawing/2014/main" id="{8E5F656A-E6FD-4B44-B9C3-1A6A6AAE763C}"/>
                    </a:ext>
                  </a:extLst>
                </p:cNvPr>
                <p:cNvSpPr>
                  <a:spLocks noChangeShapeType="1"/>
                </p:cNvSpPr>
                <p:nvPr/>
              </p:nvSpPr>
              <p:spPr bwMode="auto">
                <a:xfrm>
                  <a:off x="567" y="3066"/>
                  <a:ext cx="3985"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258" name="Line 48">
                <a:extLst>
                  <a:ext uri="{FF2B5EF4-FFF2-40B4-BE49-F238E27FC236}">
                    <a16:creationId xmlns:a16="http://schemas.microsoft.com/office/drawing/2014/main" id="{EB890229-0F76-485B-90F6-7C60C63393C3}"/>
                  </a:ext>
                </a:extLst>
              </p:cNvPr>
              <p:cNvSpPr>
                <a:spLocks noChangeShapeType="1"/>
              </p:cNvSpPr>
              <p:nvPr/>
            </p:nvSpPr>
            <p:spPr bwMode="auto">
              <a:xfrm>
                <a:off x="214313" y="3929063"/>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48">
                <a:extLst>
                  <a:ext uri="{FF2B5EF4-FFF2-40B4-BE49-F238E27FC236}">
                    <a16:creationId xmlns:a16="http://schemas.microsoft.com/office/drawing/2014/main" id="{49CC3C45-EB2E-479C-A035-401D2081D01F}"/>
                  </a:ext>
                </a:extLst>
              </p:cNvPr>
              <p:cNvSpPr>
                <a:spLocks noChangeShapeType="1"/>
              </p:cNvSpPr>
              <p:nvPr/>
            </p:nvSpPr>
            <p:spPr bwMode="auto">
              <a:xfrm>
                <a:off x="214313" y="2071688"/>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48">
                <a:extLst>
                  <a:ext uri="{FF2B5EF4-FFF2-40B4-BE49-F238E27FC236}">
                    <a16:creationId xmlns:a16="http://schemas.microsoft.com/office/drawing/2014/main" id="{F7C31542-E987-48D5-A878-61214A31964D}"/>
                  </a:ext>
                </a:extLst>
              </p:cNvPr>
              <p:cNvSpPr>
                <a:spLocks noChangeShapeType="1"/>
              </p:cNvSpPr>
              <p:nvPr/>
            </p:nvSpPr>
            <p:spPr bwMode="auto">
              <a:xfrm>
                <a:off x="214313" y="2571750"/>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48">
                <a:extLst>
                  <a:ext uri="{FF2B5EF4-FFF2-40B4-BE49-F238E27FC236}">
                    <a16:creationId xmlns:a16="http://schemas.microsoft.com/office/drawing/2014/main" id="{496E1904-19DA-46AD-A24C-34477B6D79E1}"/>
                  </a:ext>
                </a:extLst>
              </p:cNvPr>
              <p:cNvSpPr>
                <a:spLocks noChangeShapeType="1"/>
              </p:cNvSpPr>
              <p:nvPr/>
            </p:nvSpPr>
            <p:spPr bwMode="auto">
              <a:xfrm>
                <a:off x="214313" y="4786313"/>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48">
                <a:extLst>
                  <a:ext uri="{FF2B5EF4-FFF2-40B4-BE49-F238E27FC236}">
                    <a16:creationId xmlns:a16="http://schemas.microsoft.com/office/drawing/2014/main" id="{C946535D-70CF-4A7E-8912-FCBAD9ED134D}"/>
                  </a:ext>
                </a:extLst>
              </p:cNvPr>
              <p:cNvSpPr>
                <a:spLocks noChangeShapeType="1"/>
              </p:cNvSpPr>
              <p:nvPr/>
            </p:nvSpPr>
            <p:spPr bwMode="auto">
              <a:xfrm>
                <a:off x="214313" y="5283200"/>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Line 48">
                <a:extLst>
                  <a:ext uri="{FF2B5EF4-FFF2-40B4-BE49-F238E27FC236}">
                    <a16:creationId xmlns:a16="http://schemas.microsoft.com/office/drawing/2014/main" id="{CD452EA7-C0BF-4B23-88D6-5C4178AA60BE}"/>
                  </a:ext>
                </a:extLst>
              </p:cNvPr>
              <p:cNvSpPr>
                <a:spLocks noChangeShapeType="1"/>
              </p:cNvSpPr>
              <p:nvPr/>
            </p:nvSpPr>
            <p:spPr bwMode="auto">
              <a:xfrm>
                <a:off x="214313" y="5711825"/>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4" name="Line 48">
                <a:extLst>
                  <a:ext uri="{FF2B5EF4-FFF2-40B4-BE49-F238E27FC236}">
                    <a16:creationId xmlns:a16="http://schemas.microsoft.com/office/drawing/2014/main" id="{C6016C99-8856-44AB-AA46-D7A31BDD7DA0}"/>
                  </a:ext>
                </a:extLst>
              </p:cNvPr>
              <p:cNvSpPr>
                <a:spLocks noChangeShapeType="1"/>
              </p:cNvSpPr>
              <p:nvPr/>
            </p:nvSpPr>
            <p:spPr bwMode="auto">
              <a:xfrm>
                <a:off x="214313" y="3500438"/>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5" name="Line 48">
                <a:extLst>
                  <a:ext uri="{FF2B5EF4-FFF2-40B4-BE49-F238E27FC236}">
                    <a16:creationId xmlns:a16="http://schemas.microsoft.com/office/drawing/2014/main" id="{ADAD34E8-B48C-4B08-A21E-D3A7D4C4DD0F}"/>
                  </a:ext>
                </a:extLst>
              </p:cNvPr>
              <p:cNvSpPr>
                <a:spLocks noChangeShapeType="1"/>
              </p:cNvSpPr>
              <p:nvPr/>
            </p:nvSpPr>
            <p:spPr bwMode="auto">
              <a:xfrm>
                <a:off x="214313" y="3000375"/>
                <a:ext cx="6805612"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ransition>
    <p:strips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a:extLst>
              <a:ext uri="{FF2B5EF4-FFF2-40B4-BE49-F238E27FC236}">
                <a16:creationId xmlns:a16="http://schemas.microsoft.com/office/drawing/2014/main" id="{37210AD0-0C4F-4B39-82F7-2B340314133F}"/>
              </a:ext>
            </a:extLst>
          </p:cNvPr>
          <p:cNvSpPr txBox="1">
            <a:spLocks noChangeArrowheads="1"/>
          </p:cNvSpPr>
          <p:nvPr/>
        </p:nvSpPr>
        <p:spPr bwMode="auto">
          <a:xfrm>
            <a:off x="684213" y="1643063"/>
            <a:ext cx="7993062"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隶书" panose="02010509060101010101" pitchFamily="49" charset="-122"/>
                <a:ea typeface="隶书" panose="02010509060101010101" pitchFamily="49" charset="-122"/>
              </a:rPr>
              <a:t>点覆盖问题是参数算法中最为基础和重要的问题之一。</a:t>
            </a:r>
          </a:p>
        </p:txBody>
      </p:sp>
      <p:sp>
        <p:nvSpPr>
          <p:cNvPr id="173060" name="Text Box 4">
            <a:extLst>
              <a:ext uri="{FF2B5EF4-FFF2-40B4-BE49-F238E27FC236}">
                <a16:creationId xmlns:a16="http://schemas.microsoft.com/office/drawing/2014/main" id="{85F35CF0-1E47-4103-941E-8CE6172F66E8}"/>
              </a:ext>
            </a:extLst>
          </p:cNvPr>
          <p:cNvSpPr txBox="1">
            <a:spLocks noChangeArrowheads="1"/>
          </p:cNvSpPr>
          <p:nvPr/>
        </p:nvSpPr>
        <p:spPr bwMode="auto">
          <a:xfrm>
            <a:off x="684213" y="2363788"/>
            <a:ext cx="7993062"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FF0000"/>
                </a:solidFill>
                <a:latin typeface="隶书" panose="02010509060101010101" pitchFamily="49" charset="-122"/>
                <a:ea typeface="隶书" panose="02010509060101010101" pitchFamily="49" charset="-122"/>
              </a:rPr>
              <a:t>目前最佳结果</a:t>
            </a:r>
          </a:p>
        </p:txBody>
      </p:sp>
      <p:sp>
        <p:nvSpPr>
          <p:cNvPr id="173061" name="Text Box 5">
            <a:extLst>
              <a:ext uri="{FF2B5EF4-FFF2-40B4-BE49-F238E27FC236}">
                <a16:creationId xmlns:a16="http://schemas.microsoft.com/office/drawing/2014/main" id="{2B1B7D75-954B-4C8B-ADCF-C52095C28DD4}"/>
              </a:ext>
            </a:extLst>
          </p:cNvPr>
          <p:cNvSpPr txBox="1">
            <a:spLocks noChangeArrowheads="1"/>
          </p:cNvSpPr>
          <p:nvPr/>
        </p:nvSpPr>
        <p:spPr bwMode="auto">
          <a:xfrm>
            <a:off x="682625" y="3011488"/>
            <a:ext cx="799306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一般图上：</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O(1.2738</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Chen,Kanj and Xia 2010</a:t>
            </a:r>
          </a:p>
          <a:p>
            <a:pPr>
              <a:lnSpc>
                <a:spcPct val="150000"/>
              </a:lnSpc>
              <a:spcBef>
                <a:spcPct val="0"/>
              </a:spcBef>
              <a:buClrTx/>
              <a:buSzTx/>
              <a:buFont typeface="Wingdings" panose="05000000000000000000" pitchFamily="2" charset="2"/>
              <a:buNone/>
            </a:pP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3</a:t>
            </a: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度图上：</a:t>
            </a:r>
            <a:r>
              <a:rPr lang="zh-CN" altLang="en-US">
                <a:solidFill>
                  <a:srgbClr val="FF9900"/>
                </a:solidFill>
                <a:latin typeface="Tahoma" panose="020B0604030504040204" pitchFamily="34" charset="0"/>
                <a:ea typeface="隶书" panose="02010509060101010101" pitchFamily="49" charset="-122"/>
                <a:cs typeface="Tahoma" panose="020B0604030504040204" pitchFamily="34" charset="0"/>
              </a:rPr>
              <a:t>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O(1.1616</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Xiao 2010</a:t>
            </a:r>
          </a:p>
        </p:txBody>
      </p:sp>
      <p:sp>
        <p:nvSpPr>
          <p:cNvPr id="6" name="Rectangle 2">
            <a:extLst>
              <a:ext uri="{FF2B5EF4-FFF2-40B4-BE49-F238E27FC236}">
                <a16:creationId xmlns:a16="http://schemas.microsoft.com/office/drawing/2014/main" id="{626422F0-678B-4837-BCFA-90AD50452371}"/>
              </a:ext>
            </a:extLst>
          </p:cNvPr>
          <p:cNvSpPr>
            <a:spLocks noGrp="1" noChangeArrowheads="1"/>
          </p:cNvSpPr>
          <p:nvPr>
            <p:ph type="title"/>
          </p:nvPr>
        </p:nvSpPr>
        <p:spPr/>
        <p:txBody>
          <a:bodyPr/>
          <a:lstStyle/>
          <a:p>
            <a:pPr>
              <a:defRPr/>
            </a:pPr>
            <a:r>
              <a:rPr lang="zh-CN" altLang="en-US" dirty="0"/>
              <a:t>点覆盖问题</a:t>
            </a:r>
          </a:p>
        </p:txBody>
      </p:sp>
      <p:sp>
        <p:nvSpPr>
          <p:cNvPr id="54278" name="日期占位符 3">
            <a:extLst>
              <a:ext uri="{FF2B5EF4-FFF2-40B4-BE49-F238E27FC236}">
                <a16:creationId xmlns:a16="http://schemas.microsoft.com/office/drawing/2014/main" id="{301BD65D-4C76-41EB-B2D5-E3348EFCFCF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BA0D4360-FAFB-46E8-9C6C-BA66381C071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4279" name="灯片编号占位符 4">
            <a:extLst>
              <a:ext uri="{FF2B5EF4-FFF2-40B4-BE49-F238E27FC236}">
                <a16:creationId xmlns:a16="http://schemas.microsoft.com/office/drawing/2014/main" id="{1AC8172B-2D63-4353-9977-19CA3FE922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45F8686-AB47-4FCF-863B-6A09B4470295}"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50</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3058"/>
                                        </p:tgtEl>
                                        <p:attrNameLst>
                                          <p:attrName>style.visibility</p:attrName>
                                        </p:attrNameLst>
                                      </p:cBhvr>
                                      <p:to>
                                        <p:strVal val="visible"/>
                                      </p:to>
                                    </p:set>
                                    <p:anim calcmode="lin" valueType="num">
                                      <p:cBhvr additive="base">
                                        <p:cTn id="7" dur="500" fill="hold"/>
                                        <p:tgtEl>
                                          <p:spTgt spid="173058"/>
                                        </p:tgtEl>
                                        <p:attrNameLst>
                                          <p:attrName>ppt_x</p:attrName>
                                        </p:attrNameLst>
                                      </p:cBhvr>
                                      <p:tavLst>
                                        <p:tav tm="0">
                                          <p:val>
                                            <p:strVal val="#ppt_x"/>
                                          </p:val>
                                        </p:tav>
                                        <p:tav tm="100000">
                                          <p:val>
                                            <p:strVal val="#ppt_x"/>
                                          </p:val>
                                        </p:tav>
                                      </p:tavLst>
                                    </p:anim>
                                    <p:anim calcmode="lin" valueType="num">
                                      <p:cBhvr additive="base">
                                        <p:cTn id="8" dur="500" fill="hold"/>
                                        <p:tgtEl>
                                          <p:spTgt spid="173058"/>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73060"/>
                                        </p:tgtEl>
                                        <p:attrNameLst>
                                          <p:attrName>style.visibility</p:attrName>
                                        </p:attrNameLst>
                                      </p:cBhvr>
                                      <p:to>
                                        <p:strVal val="visible"/>
                                      </p:to>
                                    </p:set>
                                    <p:anim calcmode="lin" valueType="num">
                                      <p:cBhvr additive="base">
                                        <p:cTn id="12" dur="500" fill="hold"/>
                                        <p:tgtEl>
                                          <p:spTgt spid="173060"/>
                                        </p:tgtEl>
                                        <p:attrNameLst>
                                          <p:attrName>ppt_x</p:attrName>
                                        </p:attrNameLst>
                                      </p:cBhvr>
                                      <p:tavLst>
                                        <p:tav tm="0">
                                          <p:val>
                                            <p:strVal val="#ppt_x"/>
                                          </p:val>
                                        </p:tav>
                                        <p:tav tm="100000">
                                          <p:val>
                                            <p:strVal val="#ppt_x"/>
                                          </p:val>
                                        </p:tav>
                                      </p:tavLst>
                                    </p:anim>
                                    <p:anim calcmode="lin" valueType="num">
                                      <p:cBhvr additive="base">
                                        <p:cTn id="13" dur="500" fill="hold"/>
                                        <p:tgtEl>
                                          <p:spTgt spid="173060"/>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73061"/>
                                        </p:tgtEl>
                                        <p:attrNameLst>
                                          <p:attrName>style.visibility</p:attrName>
                                        </p:attrNameLst>
                                      </p:cBhvr>
                                      <p:to>
                                        <p:strVal val="visible"/>
                                      </p:to>
                                    </p:set>
                                    <p:anim calcmode="lin" valueType="num">
                                      <p:cBhvr additive="base">
                                        <p:cTn id="17" dur="500" fill="hold"/>
                                        <p:tgtEl>
                                          <p:spTgt spid="173061"/>
                                        </p:tgtEl>
                                        <p:attrNameLst>
                                          <p:attrName>ppt_x</p:attrName>
                                        </p:attrNameLst>
                                      </p:cBhvr>
                                      <p:tavLst>
                                        <p:tav tm="0">
                                          <p:val>
                                            <p:strVal val="#ppt_x"/>
                                          </p:val>
                                        </p:tav>
                                        <p:tav tm="100000">
                                          <p:val>
                                            <p:strVal val="#ppt_x"/>
                                          </p:val>
                                        </p:tav>
                                      </p:tavLst>
                                    </p:anim>
                                    <p:anim calcmode="lin" valueType="num">
                                      <p:cBhvr additive="base">
                                        <p:cTn id="18" dur="500" fill="hold"/>
                                        <p:tgtEl>
                                          <p:spTgt spid="1730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p:bldP spid="173060" grpId="0"/>
      <p:bldP spid="17306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a:extLst>
              <a:ext uri="{FF2B5EF4-FFF2-40B4-BE49-F238E27FC236}">
                <a16:creationId xmlns:a16="http://schemas.microsoft.com/office/drawing/2014/main" id="{DA73961F-55E0-4D4D-9087-9806210AC969}"/>
              </a:ext>
            </a:extLst>
          </p:cNvPr>
          <p:cNvSpPr txBox="1">
            <a:spLocks noChangeArrowheads="1"/>
          </p:cNvSpPr>
          <p:nvPr/>
        </p:nvSpPr>
        <p:spPr bwMode="auto">
          <a:xfrm>
            <a:off x="644525" y="1036638"/>
            <a:ext cx="7993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3333FF"/>
                </a:solidFill>
                <a:latin typeface="隶书" panose="02010509060101010101" pitchFamily="49" charset="-122"/>
                <a:ea typeface="隶书" panose="02010509060101010101" pitchFamily="49" charset="-122"/>
              </a:rPr>
              <a:t>边支配集：</a:t>
            </a:r>
            <a:r>
              <a:rPr lang="zh-CN" altLang="en-US" b="1">
                <a:solidFill>
                  <a:srgbClr val="000000"/>
                </a:solidFill>
                <a:latin typeface="隶书" panose="02010509060101010101" pitchFamily="49" charset="-122"/>
                <a:ea typeface="隶书" panose="02010509060101010101" pitchFamily="49" charset="-122"/>
              </a:rPr>
              <a:t>给定一个图，问是否存在</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条边使得其它任何一条边都最少和这</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条边中的一条边有公共顶点。</a:t>
            </a:r>
          </a:p>
        </p:txBody>
      </p:sp>
      <p:sp>
        <p:nvSpPr>
          <p:cNvPr id="174084" name="Text Box 4">
            <a:extLst>
              <a:ext uri="{FF2B5EF4-FFF2-40B4-BE49-F238E27FC236}">
                <a16:creationId xmlns:a16="http://schemas.microsoft.com/office/drawing/2014/main" id="{948CF265-BCF6-43BF-AE65-08F89CA87927}"/>
              </a:ext>
            </a:extLst>
          </p:cNvPr>
          <p:cNvSpPr txBox="1">
            <a:spLocks noChangeArrowheads="1"/>
          </p:cNvSpPr>
          <p:nvPr/>
        </p:nvSpPr>
        <p:spPr bwMode="auto">
          <a:xfrm>
            <a:off x="357188" y="4241800"/>
            <a:ext cx="85725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Monotype Sorts"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一般图上：</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O(2.3147</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Xiao</a:t>
            </a: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Kloks and Poon(2013)</a:t>
            </a:r>
            <a:b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b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O(2.2351</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Iwaide and Nagamochi(2016)</a:t>
            </a:r>
          </a:p>
          <a:p>
            <a:pPr>
              <a:lnSpc>
                <a:spcPct val="150000"/>
              </a:lnSpc>
              <a:spcBef>
                <a:spcPct val="0"/>
              </a:spcBef>
              <a:buClrTx/>
              <a:buSzTx/>
              <a:buFont typeface="Wingdings" panose="05000000000000000000" pitchFamily="2" charset="2"/>
              <a:buNone/>
            </a:pP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3</a:t>
            </a: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度图上：</a:t>
            </a:r>
            <a:r>
              <a:rPr lang="zh-CN" altLang="en-US">
                <a:solidFill>
                  <a:srgbClr val="FF9900"/>
                </a:solidFill>
                <a:latin typeface="Tahoma" panose="020B0604030504040204" pitchFamily="34" charset="0"/>
                <a:ea typeface="隶书" panose="02010509060101010101" pitchFamily="49" charset="-122"/>
                <a:cs typeface="Tahoma" panose="020B0604030504040204" pitchFamily="34" charset="0"/>
              </a:rPr>
              <a:t>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O(2.1479</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+kn)</a:t>
            </a:r>
            <a:r>
              <a:rPr lang="en-US" altLang="zh-CN">
                <a:solidFill>
                  <a:srgbClr val="FF9900"/>
                </a:solidFill>
                <a:latin typeface="Tahoma" panose="020B0604030504040204" pitchFamily="34" charset="0"/>
                <a:ea typeface="隶书" panose="02010509060101010101" pitchFamily="49" charset="-122"/>
                <a:cs typeface="Tahoma" panose="020B0604030504040204" pitchFamily="34" charset="0"/>
              </a:rPr>
              <a:t>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Xiao and Nagamochi(2013)</a:t>
            </a:r>
          </a:p>
        </p:txBody>
      </p:sp>
      <p:grpSp>
        <p:nvGrpSpPr>
          <p:cNvPr id="2" name="Group 5">
            <a:extLst>
              <a:ext uri="{FF2B5EF4-FFF2-40B4-BE49-F238E27FC236}">
                <a16:creationId xmlns:a16="http://schemas.microsoft.com/office/drawing/2014/main" id="{3FAD8519-ECC5-411D-8DFA-CBE0D7E9747A}"/>
              </a:ext>
            </a:extLst>
          </p:cNvPr>
          <p:cNvGrpSpPr>
            <a:grpSpLocks/>
          </p:cNvGrpSpPr>
          <p:nvPr/>
        </p:nvGrpSpPr>
        <p:grpSpPr bwMode="auto">
          <a:xfrm>
            <a:off x="2803525" y="2765425"/>
            <a:ext cx="2963863" cy="1066800"/>
            <a:chOff x="1791" y="2387"/>
            <a:chExt cx="1867" cy="672"/>
          </a:xfrm>
        </p:grpSpPr>
        <p:sp>
          <p:nvSpPr>
            <p:cNvPr id="55309" name="Oval 6">
              <a:extLst>
                <a:ext uri="{FF2B5EF4-FFF2-40B4-BE49-F238E27FC236}">
                  <a16:creationId xmlns:a16="http://schemas.microsoft.com/office/drawing/2014/main" id="{1B722144-182D-4635-B762-151ADC173FD3}"/>
                </a:ext>
              </a:extLst>
            </p:cNvPr>
            <p:cNvSpPr>
              <a:spLocks noChangeArrowheads="1"/>
            </p:cNvSpPr>
            <p:nvPr/>
          </p:nvSpPr>
          <p:spPr bwMode="auto">
            <a:xfrm>
              <a:off x="2367" y="2531"/>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10" name="Oval 7">
              <a:extLst>
                <a:ext uri="{FF2B5EF4-FFF2-40B4-BE49-F238E27FC236}">
                  <a16:creationId xmlns:a16="http://schemas.microsoft.com/office/drawing/2014/main" id="{D54EF66D-6F45-469A-B303-A40BFBD7905E}"/>
                </a:ext>
              </a:extLst>
            </p:cNvPr>
            <p:cNvSpPr>
              <a:spLocks noChangeArrowheads="1"/>
            </p:cNvSpPr>
            <p:nvPr/>
          </p:nvSpPr>
          <p:spPr bwMode="auto">
            <a:xfrm>
              <a:off x="2943" y="2531"/>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11" name="Oval 8">
              <a:extLst>
                <a:ext uri="{FF2B5EF4-FFF2-40B4-BE49-F238E27FC236}">
                  <a16:creationId xmlns:a16="http://schemas.microsoft.com/office/drawing/2014/main" id="{1CFAA6C1-6A18-46A4-86DF-94CB96C9C709}"/>
                </a:ext>
              </a:extLst>
            </p:cNvPr>
            <p:cNvSpPr>
              <a:spLocks noChangeArrowheads="1"/>
            </p:cNvSpPr>
            <p:nvPr/>
          </p:nvSpPr>
          <p:spPr bwMode="auto">
            <a:xfrm>
              <a:off x="3567" y="2387"/>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12" name="Oval 9">
              <a:extLst>
                <a:ext uri="{FF2B5EF4-FFF2-40B4-BE49-F238E27FC236}">
                  <a16:creationId xmlns:a16="http://schemas.microsoft.com/office/drawing/2014/main" id="{B75F75D0-05CE-4AFD-8E86-50F9F85ADD18}"/>
                </a:ext>
              </a:extLst>
            </p:cNvPr>
            <p:cNvSpPr>
              <a:spLocks noChangeArrowheads="1"/>
            </p:cNvSpPr>
            <p:nvPr/>
          </p:nvSpPr>
          <p:spPr bwMode="auto">
            <a:xfrm>
              <a:off x="3423" y="2915"/>
              <a:ext cx="91" cy="90"/>
            </a:xfrm>
            <a:prstGeom prst="ellipse">
              <a:avLst/>
            </a:prstGeom>
            <a:solidFill>
              <a:srgbClr val="00FF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13" name="Oval 10">
              <a:extLst>
                <a:ext uri="{FF2B5EF4-FFF2-40B4-BE49-F238E27FC236}">
                  <a16:creationId xmlns:a16="http://schemas.microsoft.com/office/drawing/2014/main" id="{6F7CD676-C6B0-48F8-8927-BE7AF71F9BDC}"/>
                </a:ext>
              </a:extLst>
            </p:cNvPr>
            <p:cNvSpPr>
              <a:spLocks noChangeArrowheads="1"/>
            </p:cNvSpPr>
            <p:nvPr/>
          </p:nvSpPr>
          <p:spPr bwMode="auto">
            <a:xfrm>
              <a:off x="1791" y="2483"/>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14" name="Line 11">
              <a:extLst>
                <a:ext uri="{FF2B5EF4-FFF2-40B4-BE49-F238E27FC236}">
                  <a16:creationId xmlns:a16="http://schemas.microsoft.com/office/drawing/2014/main" id="{01B764DC-00B1-445B-BF5D-8454D1BF29F6}"/>
                </a:ext>
              </a:extLst>
            </p:cNvPr>
            <p:cNvSpPr>
              <a:spLocks noChangeShapeType="1"/>
            </p:cNvSpPr>
            <p:nvPr/>
          </p:nvSpPr>
          <p:spPr bwMode="auto">
            <a:xfrm>
              <a:off x="1887" y="2531"/>
              <a:ext cx="48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5" name="Line 12">
              <a:extLst>
                <a:ext uri="{FF2B5EF4-FFF2-40B4-BE49-F238E27FC236}">
                  <a16:creationId xmlns:a16="http://schemas.microsoft.com/office/drawing/2014/main" id="{EC5D7E34-2699-47CD-A599-BC1A77B54D86}"/>
                </a:ext>
              </a:extLst>
            </p:cNvPr>
            <p:cNvSpPr>
              <a:spLocks noChangeShapeType="1"/>
            </p:cNvSpPr>
            <p:nvPr/>
          </p:nvSpPr>
          <p:spPr bwMode="auto">
            <a:xfrm>
              <a:off x="2463" y="2579"/>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6" name="Line 13">
              <a:extLst>
                <a:ext uri="{FF2B5EF4-FFF2-40B4-BE49-F238E27FC236}">
                  <a16:creationId xmlns:a16="http://schemas.microsoft.com/office/drawing/2014/main" id="{02855642-515D-4689-9E56-FBF141B34D44}"/>
                </a:ext>
              </a:extLst>
            </p:cNvPr>
            <p:cNvSpPr>
              <a:spLocks noChangeShapeType="1"/>
            </p:cNvSpPr>
            <p:nvPr/>
          </p:nvSpPr>
          <p:spPr bwMode="auto">
            <a:xfrm flipV="1">
              <a:off x="3039" y="2435"/>
              <a:ext cx="52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7" name="Line 14">
              <a:extLst>
                <a:ext uri="{FF2B5EF4-FFF2-40B4-BE49-F238E27FC236}">
                  <a16:creationId xmlns:a16="http://schemas.microsoft.com/office/drawing/2014/main" id="{6BCCA370-732F-4A0F-A356-E78641F36D0C}"/>
                </a:ext>
              </a:extLst>
            </p:cNvPr>
            <p:cNvSpPr>
              <a:spLocks noChangeShapeType="1"/>
            </p:cNvSpPr>
            <p:nvPr/>
          </p:nvSpPr>
          <p:spPr bwMode="auto">
            <a:xfrm flipH="1">
              <a:off x="3471" y="2483"/>
              <a:ext cx="14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8" name="Line 15">
              <a:extLst>
                <a:ext uri="{FF2B5EF4-FFF2-40B4-BE49-F238E27FC236}">
                  <a16:creationId xmlns:a16="http://schemas.microsoft.com/office/drawing/2014/main" id="{9635F272-66CF-4943-B8E2-B586159E69FC}"/>
                </a:ext>
              </a:extLst>
            </p:cNvPr>
            <p:cNvSpPr>
              <a:spLocks noChangeShapeType="1"/>
            </p:cNvSpPr>
            <p:nvPr/>
          </p:nvSpPr>
          <p:spPr bwMode="auto">
            <a:xfrm>
              <a:off x="3039" y="2579"/>
              <a:ext cx="43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9" name="Oval 16">
              <a:extLst>
                <a:ext uri="{FF2B5EF4-FFF2-40B4-BE49-F238E27FC236}">
                  <a16:creationId xmlns:a16="http://schemas.microsoft.com/office/drawing/2014/main" id="{8238D155-5D87-441F-A91B-AE37173A2454}"/>
                </a:ext>
              </a:extLst>
            </p:cNvPr>
            <p:cNvSpPr>
              <a:spLocks noChangeArrowheads="1"/>
            </p:cNvSpPr>
            <p:nvPr/>
          </p:nvSpPr>
          <p:spPr bwMode="auto">
            <a:xfrm>
              <a:off x="2197" y="2878"/>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20" name="Oval 17">
              <a:extLst>
                <a:ext uri="{FF2B5EF4-FFF2-40B4-BE49-F238E27FC236}">
                  <a16:creationId xmlns:a16="http://schemas.microsoft.com/office/drawing/2014/main" id="{A8A1342B-4F00-4154-A3A5-226B8013D5A7}"/>
                </a:ext>
              </a:extLst>
            </p:cNvPr>
            <p:cNvSpPr>
              <a:spLocks noChangeArrowheads="1"/>
            </p:cNvSpPr>
            <p:nvPr/>
          </p:nvSpPr>
          <p:spPr bwMode="auto">
            <a:xfrm>
              <a:off x="2812" y="2969"/>
              <a:ext cx="91" cy="90"/>
            </a:xfrm>
            <a:prstGeom prst="ellipse">
              <a:avLst/>
            </a:prstGeom>
            <a:solidFill>
              <a:srgbClr val="00CCFF"/>
            </a:solidFill>
            <a:ln w="9525">
              <a:solidFill>
                <a:schemeClr val="tx1"/>
              </a:solidFill>
              <a:round/>
              <a:headEnd/>
              <a:tailEnd/>
            </a:ln>
          </p:spPr>
          <p:txBody>
            <a:bodyPr wrap="none" anchor="ct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endParaRPr lang="zh-CN" altLang="en-US" sz="1600">
                <a:latin typeface="Helvetica" panose="020B0604020202020204" pitchFamily="34" charset="0"/>
                <a:ea typeface="宋体" panose="02010600030101010101" pitchFamily="2" charset="-122"/>
              </a:endParaRPr>
            </a:p>
          </p:txBody>
        </p:sp>
        <p:sp>
          <p:nvSpPr>
            <p:cNvPr id="55321" name="Line 18">
              <a:extLst>
                <a:ext uri="{FF2B5EF4-FFF2-40B4-BE49-F238E27FC236}">
                  <a16:creationId xmlns:a16="http://schemas.microsoft.com/office/drawing/2014/main" id="{6751B946-A98E-4208-94B1-CB05A578E16A}"/>
                </a:ext>
              </a:extLst>
            </p:cNvPr>
            <p:cNvSpPr>
              <a:spLocks noChangeShapeType="1"/>
            </p:cNvSpPr>
            <p:nvPr/>
          </p:nvSpPr>
          <p:spPr bwMode="auto">
            <a:xfrm flipH="1">
              <a:off x="2877" y="2561"/>
              <a:ext cx="91" cy="40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2" name="Line 19">
              <a:extLst>
                <a:ext uri="{FF2B5EF4-FFF2-40B4-BE49-F238E27FC236}">
                  <a16:creationId xmlns:a16="http://schemas.microsoft.com/office/drawing/2014/main" id="{3DAEC78C-99DC-4288-917B-BDA5DF0A8C3F}"/>
                </a:ext>
              </a:extLst>
            </p:cNvPr>
            <p:cNvSpPr>
              <a:spLocks noChangeShapeType="1"/>
            </p:cNvSpPr>
            <p:nvPr/>
          </p:nvSpPr>
          <p:spPr bwMode="auto">
            <a:xfrm>
              <a:off x="2287" y="2923"/>
              <a:ext cx="545" cy="4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3" name="Line 20">
              <a:extLst>
                <a:ext uri="{FF2B5EF4-FFF2-40B4-BE49-F238E27FC236}">
                  <a16:creationId xmlns:a16="http://schemas.microsoft.com/office/drawing/2014/main" id="{7D46D653-E026-4D60-8F89-E57D76BFD8A7}"/>
                </a:ext>
              </a:extLst>
            </p:cNvPr>
            <p:cNvSpPr>
              <a:spLocks noChangeShapeType="1"/>
            </p:cNvSpPr>
            <p:nvPr/>
          </p:nvSpPr>
          <p:spPr bwMode="auto">
            <a:xfrm flipH="1">
              <a:off x="2287" y="2606"/>
              <a:ext cx="91" cy="31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21">
            <a:extLst>
              <a:ext uri="{FF2B5EF4-FFF2-40B4-BE49-F238E27FC236}">
                <a16:creationId xmlns:a16="http://schemas.microsoft.com/office/drawing/2014/main" id="{42F3E7E6-B782-4D70-9A03-D83C91CD3CB4}"/>
              </a:ext>
            </a:extLst>
          </p:cNvPr>
          <p:cNvGrpSpPr>
            <a:grpSpLocks/>
          </p:cNvGrpSpPr>
          <p:nvPr/>
        </p:nvGrpSpPr>
        <p:grpSpPr bwMode="auto">
          <a:xfrm>
            <a:off x="3595688" y="3052763"/>
            <a:ext cx="1863725" cy="647700"/>
            <a:chOff x="2290" y="2568"/>
            <a:chExt cx="1174" cy="408"/>
          </a:xfrm>
        </p:grpSpPr>
        <p:sp>
          <p:nvSpPr>
            <p:cNvPr id="55306" name="Line 22">
              <a:extLst>
                <a:ext uri="{FF2B5EF4-FFF2-40B4-BE49-F238E27FC236}">
                  <a16:creationId xmlns:a16="http://schemas.microsoft.com/office/drawing/2014/main" id="{B56F6487-85AC-49F7-8526-2DEAFE3643D1}"/>
                </a:ext>
              </a:extLst>
            </p:cNvPr>
            <p:cNvSpPr>
              <a:spLocks noChangeShapeType="1"/>
            </p:cNvSpPr>
            <p:nvPr/>
          </p:nvSpPr>
          <p:spPr bwMode="auto">
            <a:xfrm>
              <a:off x="2445" y="2568"/>
              <a:ext cx="48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Line 23">
              <a:extLst>
                <a:ext uri="{FF2B5EF4-FFF2-40B4-BE49-F238E27FC236}">
                  <a16:creationId xmlns:a16="http://schemas.microsoft.com/office/drawing/2014/main" id="{85DF9391-9C01-4EC1-9273-0A9E4C9C4007}"/>
                </a:ext>
              </a:extLst>
            </p:cNvPr>
            <p:cNvSpPr>
              <a:spLocks noChangeShapeType="1"/>
            </p:cNvSpPr>
            <p:nvPr/>
          </p:nvSpPr>
          <p:spPr bwMode="auto">
            <a:xfrm>
              <a:off x="2290" y="2930"/>
              <a:ext cx="545" cy="46"/>
            </a:xfrm>
            <a:prstGeom prst="line">
              <a:avLst/>
            </a:prstGeom>
            <a:noFill/>
            <a:ln w="2540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08" name="Line 24">
              <a:extLst>
                <a:ext uri="{FF2B5EF4-FFF2-40B4-BE49-F238E27FC236}">
                  <a16:creationId xmlns:a16="http://schemas.microsoft.com/office/drawing/2014/main" id="{1EB2EEBF-63D5-464B-A277-DAAAFAC0CA70}"/>
                </a:ext>
              </a:extLst>
            </p:cNvPr>
            <p:cNvSpPr>
              <a:spLocks noChangeShapeType="1"/>
            </p:cNvSpPr>
            <p:nvPr/>
          </p:nvSpPr>
          <p:spPr bwMode="auto">
            <a:xfrm>
              <a:off x="3032" y="2568"/>
              <a:ext cx="432" cy="336"/>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4105" name="Text Box 25">
            <a:extLst>
              <a:ext uri="{FF2B5EF4-FFF2-40B4-BE49-F238E27FC236}">
                <a16:creationId xmlns:a16="http://schemas.microsoft.com/office/drawing/2014/main" id="{AD214353-A175-4E33-965F-E1E9163B7D1C}"/>
              </a:ext>
            </a:extLst>
          </p:cNvPr>
          <p:cNvSpPr txBox="1">
            <a:spLocks noChangeArrowheads="1"/>
          </p:cNvSpPr>
          <p:nvPr/>
        </p:nvSpPr>
        <p:spPr bwMode="auto">
          <a:xfrm>
            <a:off x="5972175" y="3773488"/>
            <a:ext cx="2736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b="1">
                <a:solidFill>
                  <a:srgbClr val="000000"/>
                </a:solidFill>
                <a:latin typeface="隶书" panose="02010509060101010101" pitchFamily="49" charset="-122"/>
                <a:ea typeface="隶书" panose="02010509060101010101" pitchFamily="49" charset="-122"/>
              </a:rPr>
              <a:t>两条边是否够了？</a:t>
            </a:r>
          </a:p>
        </p:txBody>
      </p:sp>
      <p:sp>
        <p:nvSpPr>
          <p:cNvPr id="26" name="Rectangle 2">
            <a:extLst>
              <a:ext uri="{FF2B5EF4-FFF2-40B4-BE49-F238E27FC236}">
                <a16:creationId xmlns:a16="http://schemas.microsoft.com/office/drawing/2014/main" id="{53FE33CE-2388-4C3D-9682-C21C19C95DE7}"/>
              </a:ext>
            </a:extLst>
          </p:cNvPr>
          <p:cNvSpPr>
            <a:spLocks noGrp="1" noChangeArrowheads="1"/>
          </p:cNvSpPr>
          <p:nvPr>
            <p:ph type="title"/>
          </p:nvPr>
        </p:nvSpPr>
        <p:spPr/>
        <p:txBody>
          <a:bodyPr/>
          <a:lstStyle/>
          <a:p>
            <a:pPr>
              <a:defRPr/>
            </a:pPr>
            <a:r>
              <a:rPr lang="zh-CN" altLang="en-US" dirty="0"/>
              <a:t>边支配集问题</a:t>
            </a:r>
          </a:p>
        </p:txBody>
      </p:sp>
      <p:sp>
        <p:nvSpPr>
          <p:cNvPr id="55304" name="日期占位符 3">
            <a:extLst>
              <a:ext uri="{FF2B5EF4-FFF2-40B4-BE49-F238E27FC236}">
                <a16:creationId xmlns:a16="http://schemas.microsoft.com/office/drawing/2014/main" id="{224144F9-2160-4759-8496-E4D26ABD310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975CD4D9-FDFC-46B7-B81D-1A34294EC200}"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5305" name="灯片编号占位符 4">
            <a:extLst>
              <a:ext uri="{FF2B5EF4-FFF2-40B4-BE49-F238E27FC236}">
                <a16:creationId xmlns:a16="http://schemas.microsoft.com/office/drawing/2014/main" id="{3AAE6FF2-5CA8-4165-AC86-137BC0FB269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4E1C81D5-FE1E-4A73-82A0-1410C41412C3}"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51</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slide(fromBottom)">
                                      <p:cBhvr>
                                        <p:cTn id="7" dur="500"/>
                                        <p:tgtEl>
                                          <p:spTgt spid="1740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Bottom)">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74105"/>
                                        </p:tgtEl>
                                        <p:attrNameLst>
                                          <p:attrName>style.visibility</p:attrName>
                                        </p:attrNameLst>
                                      </p:cBhvr>
                                      <p:to>
                                        <p:strVal val="visible"/>
                                      </p:to>
                                    </p:set>
                                    <p:animEffect transition="in" filter="slide(fromBottom)">
                                      <p:cBhvr>
                                        <p:cTn id="22" dur="500"/>
                                        <p:tgtEl>
                                          <p:spTgt spid="1741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74084"/>
                                        </p:tgtEl>
                                        <p:attrNameLst>
                                          <p:attrName>style.visibility</p:attrName>
                                        </p:attrNameLst>
                                      </p:cBhvr>
                                      <p:to>
                                        <p:strVal val="visible"/>
                                      </p:to>
                                    </p:set>
                                    <p:animEffect transition="in" filter="slide(fromBottom)">
                                      <p:cBhvr>
                                        <p:cTn id="27" dur="500"/>
                                        <p:tgtEl>
                                          <p:spTgt spid="174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P spid="174084" grpId="0"/>
      <p:bldP spid="17410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a:extLst>
              <a:ext uri="{FF2B5EF4-FFF2-40B4-BE49-F238E27FC236}">
                <a16:creationId xmlns:a16="http://schemas.microsoft.com/office/drawing/2014/main" id="{C5005C7A-A590-43D8-90CD-583E75F7379F}"/>
              </a:ext>
            </a:extLst>
          </p:cNvPr>
          <p:cNvSpPr txBox="1">
            <a:spLocks noChangeArrowheads="1"/>
          </p:cNvSpPr>
          <p:nvPr/>
        </p:nvSpPr>
        <p:spPr bwMode="auto">
          <a:xfrm>
            <a:off x="684213" y="1285875"/>
            <a:ext cx="79930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3333FF"/>
                </a:solidFill>
                <a:latin typeface="隶书" panose="02010509060101010101" pitchFamily="49" charset="-122"/>
                <a:ea typeface="隶书" panose="02010509060101010101" pitchFamily="49" charset="-122"/>
              </a:rPr>
              <a:t>无向图反馈集问题：</a:t>
            </a:r>
            <a:r>
              <a:rPr lang="zh-CN" altLang="en-US" b="1">
                <a:solidFill>
                  <a:srgbClr val="000000"/>
                </a:solidFill>
                <a:latin typeface="隶书" panose="02010509060101010101" pitchFamily="49" charset="-122"/>
                <a:ea typeface="隶书" panose="02010509060101010101" pitchFamily="49" charset="-122"/>
              </a:rPr>
              <a:t>给定一个无向图，问是否存在</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个点，删除这</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个点以后剩余的图没有任何圈。</a:t>
            </a:r>
          </a:p>
        </p:txBody>
      </p:sp>
      <p:sp>
        <p:nvSpPr>
          <p:cNvPr id="175108" name="Text Box 4">
            <a:extLst>
              <a:ext uri="{FF2B5EF4-FFF2-40B4-BE49-F238E27FC236}">
                <a16:creationId xmlns:a16="http://schemas.microsoft.com/office/drawing/2014/main" id="{8ABE49CC-0229-4E4B-9880-EFA8908E923C}"/>
              </a:ext>
            </a:extLst>
          </p:cNvPr>
          <p:cNvSpPr txBox="1">
            <a:spLocks noChangeArrowheads="1"/>
          </p:cNvSpPr>
          <p:nvPr/>
        </p:nvSpPr>
        <p:spPr bwMode="auto">
          <a:xfrm>
            <a:off x="682625" y="4000500"/>
            <a:ext cx="7993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无向图：</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O(3.460</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Iwata and Kobayashi (2019)</a:t>
            </a:r>
          </a:p>
          <a:p>
            <a:pPr>
              <a:lnSpc>
                <a:spcPct val="150000"/>
              </a:lnSpc>
              <a:spcBef>
                <a:spcPct val="0"/>
              </a:spcBef>
              <a:buClrTx/>
              <a:buSzTx/>
              <a:buFont typeface="Wingdings" panose="05000000000000000000"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有向图：</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O(4</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k!p(n))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Chen, Barry</a:t>
            </a: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等</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(2009)</a:t>
            </a:r>
          </a:p>
        </p:txBody>
      </p:sp>
      <p:sp>
        <p:nvSpPr>
          <p:cNvPr id="175109" name="Text Box 5">
            <a:extLst>
              <a:ext uri="{FF2B5EF4-FFF2-40B4-BE49-F238E27FC236}">
                <a16:creationId xmlns:a16="http://schemas.microsoft.com/office/drawing/2014/main" id="{3582ED92-7323-4381-B137-D513186DE929}"/>
              </a:ext>
            </a:extLst>
          </p:cNvPr>
          <p:cNvSpPr txBox="1">
            <a:spLocks noChangeArrowheads="1"/>
          </p:cNvSpPr>
          <p:nvPr/>
        </p:nvSpPr>
        <p:spPr bwMode="auto">
          <a:xfrm>
            <a:off x="684213" y="2565400"/>
            <a:ext cx="79930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3333FF"/>
                </a:solidFill>
                <a:latin typeface="隶书" panose="02010509060101010101" pitchFamily="49" charset="-122"/>
                <a:ea typeface="隶书" panose="02010509060101010101" pitchFamily="49" charset="-122"/>
              </a:rPr>
              <a:t>有向图反馈集问题：</a:t>
            </a:r>
            <a:r>
              <a:rPr lang="zh-CN" altLang="en-US" b="1">
                <a:solidFill>
                  <a:srgbClr val="000000"/>
                </a:solidFill>
                <a:latin typeface="隶书" panose="02010509060101010101" pitchFamily="49" charset="-122"/>
                <a:ea typeface="隶书" panose="02010509060101010101" pitchFamily="49" charset="-122"/>
              </a:rPr>
              <a:t>给定一个有向图，问是否存在</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个点，删除这</a:t>
            </a:r>
            <a:r>
              <a:rPr lang="en-US" altLang="zh-CN" b="1">
                <a:solidFill>
                  <a:srgbClr val="000000"/>
                </a:solidFill>
                <a:latin typeface="隶书" panose="02010509060101010101" pitchFamily="49" charset="-122"/>
                <a:ea typeface="隶书" panose="02010509060101010101" pitchFamily="49" charset="-122"/>
              </a:rPr>
              <a:t>k</a:t>
            </a:r>
            <a:r>
              <a:rPr lang="zh-CN" altLang="en-US" b="1">
                <a:solidFill>
                  <a:srgbClr val="000000"/>
                </a:solidFill>
                <a:latin typeface="隶书" panose="02010509060101010101" pitchFamily="49" charset="-122"/>
                <a:ea typeface="隶书" panose="02010509060101010101" pitchFamily="49" charset="-122"/>
              </a:rPr>
              <a:t>个点以后剩余的图没有任何有向圈。</a:t>
            </a:r>
          </a:p>
        </p:txBody>
      </p:sp>
      <p:sp>
        <p:nvSpPr>
          <p:cNvPr id="6" name="Rectangle 2">
            <a:extLst>
              <a:ext uri="{FF2B5EF4-FFF2-40B4-BE49-F238E27FC236}">
                <a16:creationId xmlns:a16="http://schemas.microsoft.com/office/drawing/2014/main" id="{C177EED1-67EB-4E3E-AFE7-0100E40257D8}"/>
              </a:ext>
            </a:extLst>
          </p:cNvPr>
          <p:cNvSpPr>
            <a:spLocks noGrp="1" noChangeArrowheads="1"/>
          </p:cNvSpPr>
          <p:nvPr>
            <p:ph type="title"/>
          </p:nvPr>
        </p:nvSpPr>
        <p:spPr/>
        <p:txBody>
          <a:bodyPr/>
          <a:lstStyle/>
          <a:p>
            <a:pPr>
              <a:defRPr/>
            </a:pPr>
            <a:r>
              <a:rPr lang="zh-CN" altLang="en-US" dirty="0"/>
              <a:t>反馈集问题</a:t>
            </a:r>
          </a:p>
        </p:txBody>
      </p:sp>
      <p:sp>
        <p:nvSpPr>
          <p:cNvPr id="56326" name="日期占位符 3">
            <a:extLst>
              <a:ext uri="{FF2B5EF4-FFF2-40B4-BE49-F238E27FC236}">
                <a16:creationId xmlns:a16="http://schemas.microsoft.com/office/drawing/2014/main" id="{7E99CC58-CEC4-4C4A-B7B7-66BBC9A407C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2A7761A2-1D98-4661-834B-E4780A7FCE31}"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6327" name="灯片编号占位符 4">
            <a:extLst>
              <a:ext uri="{FF2B5EF4-FFF2-40B4-BE49-F238E27FC236}">
                <a16:creationId xmlns:a16="http://schemas.microsoft.com/office/drawing/2014/main" id="{87C06DE5-5FE9-44A5-9193-D47BCCE9DA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9206C144-9F9A-4EDD-B613-017DCDB9A200}"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52</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5106"/>
                                        </p:tgtEl>
                                        <p:attrNameLst>
                                          <p:attrName>style.visibility</p:attrName>
                                        </p:attrNameLst>
                                      </p:cBhvr>
                                      <p:to>
                                        <p:strVal val="visible"/>
                                      </p:to>
                                    </p:set>
                                    <p:animEffect transition="in" filter="slide(fromBottom)">
                                      <p:cBhvr>
                                        <p:cTn id="7" dur="500"/>
                                        <p:tgtEl>
                                          <p:spTgt spid="175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5109"/>
                                        </p:tgtEl>
                                        <p:attrNameLst>
                                          <p:attrName>style.visibility</p:attrName>
                                        </p:attrNameLst>
                                      </p:cBhvr>
                                      <p:to>
                                        <p:strVal val="visible"/>
                                      </p:to>
                                    </p:set>
                                    <p:animEffect transition="in" filter="slide(fromBottom)">
                                      <p:cBhvr>
                                        <p:cTn id="12" dur="500"/>
                                        <p:tgtEl>
                                          <p:spTgt spid="1751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5108"/>
                                        </p:tgtEl>
                                        <p:attrNameLst>
                                          <p:attrName>style.visibility</p:attrName>
                                        </p:attrNameLst>
                                      </p:cBhvr>
                                      <p:to>
                                        <p:strVal val="visible"/>
                                      </p:to>
                                    </p:set>
                                    <p:animEffect transition="in" filter="slide(fromBottom)">
                                      <p:cBhvr>
                                        <p:cTn id="17" dur="500"/>
                                        <p:tgtEl>
                                          <p:spTgt spid="17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p:bldP spid="175108" grpId="0"/>
      <p:bldP spid="17510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a:extLst>
              <a:ext uri="{FF2B5EF4-FFF2-40B4-BE49-F238E27FC236}">
                <a16:creationId xmlns:a16="http://schemas.microsoft.com/office/drawing/2014/main" id="{0600879C-52E4-4FBA-8800-18BCA2ED0AFC}"/>
              </a:ext>
            </a:extLst>
          </p:cNvPr>
          <p:cNvSpPr txBox="1">
            <a:spLocks noChangeArrowheads="1"/>
          </p:cNvSpPr>
          <p:nvPr/>
        </p:nvSpPr>
        <p:spPr bwMode="auto">
          <a:xfrm>
            <a:off x="684213" y="1143000"/>
            <a:ext cx="79930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3333FF"/>
                </a:solidFill>
                <a:latin typeface="Tahoma" panose="020B0604030504040204" pitchFamily="34" charset="0"/>
                <a:ea typeface="隶书" panose="02010509060101010101" pitchFamily="49" charset="-122"/>
                <a:cs typeface="Tahoma" panose="020B0604030504040204" pitchFamily="34" charset="0"/>
              </a:rPr>
              <a:t>边多终端割问题：</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给定一个图和图中若干个点（叫做终端），问是否存在</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条边，使得删除这</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条边以后任何两个终端都不连通。</a:t>
            </a:r>
          </a:p>
        </p:txBody>
      </p:sp>
      <p:sp>
        <p:nvSpPr>
          <p:cNvPr id="176132" name="Text Box 4">
            <a:extLst>
              <a:ext uri="{FF2B5EF4-FFF2-40B4-BE49-F238E27FC236}">
                <a16:creationId xmlns:a16="http://schemas.microsoft.com/office/drawing/2014/main" id="{7DE2E865-D55A-4333-8ECE-F5D54A3D19CA}"/>
              </a:ext>
            </a:extLst>
          </p:cNvPr>
          <p:cNvSpPr txBox="1">
            <a:spLocks noChangeArrowheads="1"/>
          </p:cNvSpPr>
          <p:nvPr/>
        </p:nvSpPr>
        <p:spPr bwMode="auto">
          <a:xfrm>
            <a:off x="682625" y="4714875"/>
            <a:ext cx="799306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边多终端割：</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nm)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Xiao(2010)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sym typeface="Wingdings" panose="05000000000000000000" pitchFamily="2" charset="2"/>
              </a:rPr>
              <a:t>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O(1.84</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nm) </a:t>
            </a:r>
            <a:endPar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endParaRPr>
          </a:p>
          <a:p>
            <a:pPr>
              <a:lnSpc>
                <a:spcPct val="150000"/>
              </a:lnSpc>
              <a:spcBef>
                <a:spcPct val="0"/>
              </a:spcBef>
              <a:buClrTx/>
              <a:buSzTx/>
              <a:buFont typeface="Wingdings" panose="05000000000000000000" pitchFamily="2" charset="2"/>
              <a:buNone/>
            </a:pP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点多终端割：</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2</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poly(n)</a:t>
            </a:r>
            <a:r>
              <a:rPr lang="en-US" altLang="zh-CN">
                <a:solidFill>
                  <a:srgbClr val="FF9900"/>
                </a:solidFill>
                <a:latin typeface="Tahoma" panose="020B0604030504040204" pitchFamily="34" charset="0"/>
                <a:ea typeface="隶书" panose="02010509060101010101" pitchFamily="49" charset="-122"/>
                <a:cs typeface="Tahoma" panose="020B0604030504040204" pitchFamily="34" charset="0"/>
              </a:rPr>
              <a:t>   </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Cygan</a:t>
            </a:r>
            <a:r>
              <a:rPr lang="zh-CN" altLang="en-US">
                <a:solidFill>
                  <a:srgbClr val="000000"/>
                </a:solidFill>
                <a:latin typeface="Tahoma" panose="020B0604030504040204" pitchFamily="34" charset="0"/>
                <a:ea typeface="隶书" panose="02010509060101010101" pitchFamily="49" charset="-122"/>
                <a:cs typeface="Tahoma" panose="020B0604030504040204" pitchFamily="34" charset="0"/>
              </a:rPr>
              <a:t>等</a:t>
            </a:r>
            <a:r>
              <a:rPr lang="en-US" altLang="zh-CN">
                <a:solidFill>
                  <a:srgbClr val="000000"/>
                </a:solidFill>
                <a:latin typeface="Tahoma" panose="020B0604030504040204" pitchFamily="34" charset="0"/>
                <a:ea typeface="隶书" panose="02010509060101010101" pitchFamily="49" charset="-122"/>
                <a:cs typeface="Tahoma" panose="020B0604030504040204" pitchFamily="34" charset="0"/>
              </a:rPr>
              <a:t>(2013)</a:t>
            </a:r>
          </a:p>
        </p:txBody>
      </p:sp>
      <p:sp>
        <p:nvSpPr>
          <p:cNvPr id="176133" name="Text Box 5">
            <a:extLst>
              <a:ext uri="{FF2B5EF4-FFF2-40B4-BE49-F238E27FC236}">
                <a16:creationId xmlns:a16="http://schemas.microsoft.com/office/drawing/2014/main" id="{56C1F3A3-DDD0-4A62-9B36-CF35FB99D593}"/>
              </a:ext>
            </a:extLst>
          </p:cNvPr>
          <p:cNvSpPr txBox="1">
            <a:spLocks noChangeArrowheads="1"/>
          </p:cNvSpPr>
          <p:nvPr/>
        </p:nvSpPr>
        <p:spPr bwMode="auto">
          <a:xfrm>
            <a:off x="684213" y="2857500"/>
            <a:ext cx="79930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3333FF"/>
                </a:solidFill>
                <a:latin typeface="Tahoma" panose="020B0604030504040204" pitchFamily="34" charset="0"/>
                <a:ea typeface="隶书" panose="02010509060101010101" pitchFamily="49" charset="-122"/>
                <a:cs typeface="Tahoma" panose="020B0604030504040204" pitchFamily="34" charset="0"/>
              </a:rPr>
              <a:t>点多终端割问题：</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给定一个图和图中若干个点（叫做终端），问是否存在</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个非终端的点，使得删除这</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个点以后任何两个终端都不连通。</a:t>
            </a:r>
          </a:p>
        </p:txBody>
      </p:sp>
      <p:sp>
        <p:nvSpPr>
          <p:cNvPr id="6" name="Rectangle 2">
            <a:extLst>
              <a:ext uri="{FF2B5EF4-FFF2-40B4-BE49-F238E27FC236}">
                <a16:creationId xmlns:a16="http://schemas.microsoft.com/office/drawing/2014/main" id="{2498991B-5083-416C-8B0E-EDBEF691C75D}"/>
              </a:ext>
            </a:extLst>
          </p:cNvPr>
          <p:cNvSpPr>
            <a:spLocks noGrp="1" noChangeArrowheads="1"/>
          </p:cNvSpPr>
          <p:nvPr>
            <p:ph type="title"/>
          </p:nvPr>
        </p:nvSpPr>
        <p:spPr/>
        <p:txBody>
          <a:bodyPr/>
          <a:lstStyle/>
          <a:p>
            <a:pPr>
              <a:defRPr/>
            </a:pPr>
            <a:r>
              <a:rPr lang="zh-CN" altLang="en-US" dirty="0"/>
              <a:t>多终端割问题</a:t>
            </a:r>
          </a:p>
        </p:txBody>
      </p:sp>
      <p:sp>
        <p:nvSpPr>
          <p:cNvPr id="57350" name="日期占位符 3">
            <a:extLst>
              <a:ext uri="{FF2B5EF4-FFF2-40B4-BE49-F238E27FC236}">
                <a16:creationId xmlns:a16="http://schemas.microsoft.com/office/drawing/2014/main" id="{8119C749-7032-43D1-9D7C-A32918988A4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A8B2B1C1-18B7-4932-8740-37444EB391AF}"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7351" name="灯片编号占位符 4">
            <a:extLst>
              <a:ext uri="{FF2B5EF4-FFF2-40B4-BE49-F238E27FC236}">
                <a16:creationId xmlns:a16="http://schemas.microsoft.com/office/drawing/2014/main" id="{36D5839D-A83E-4204-84C4-EAFBE5C3002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452E41D2-4D65-411E-9DC6-01D97D264FB0}"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53</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6130"/>
                                        </p:tgtEl>
                                        <p:attrNameLst>
                                          <p:attrName>style.visibility</p:attrName>
                                        </p:attrNameLst>
                                      </p:cBhvr>
                                      <p:to>
                                        <p:strVal val="visible"/>
                                      </p:to>
                                    </p:set>
                                    <p:animEffect transition="in" filter="slide(fromBottom)">
                                      <p:cBhvr>
                                        <p:cTn id="7" dur="500"/>
                                        <p:tgtEl>
                                          <p:spTgt spid="176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6133"/>
                                        </p:tgtEl>
                                        <p:attrNameLst>
                                          <p:attrName>style.visibility</p:attrName>
                                        </p:attrNameLst>
                                      </p:cBhvr>
                                      <p:to>
                                        <p:strVal val="visible"/>
                                      </p:to>
                                    </p:set>
                                    <p:animEffect transition="in" filter="slide(fromBottom)">
                                      <p:cBhvr>
                                        <p:cTn id="12" dur="500"/>
                                        <p:tgtEl>
                                          <p:spTgt spid="1761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Effect transition="in" filter="slide(fromBottom)">
                                      <p:cBhvr>
                                        <p:cTn id="17" dur="500"/>
                                        <p:tgtEl>
                                          <p:spTgt spid="176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p:bldP spid="176132" grpId="0"/>
      <p:bldP spid="17613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A7B8FE1C-73B7-48C1-AD15-974AB4362AAF}"/>
              </a:ext>
            </a:extLst>
          </p:cNvPr>
          <p:cNvSpPr txBox="1">
            <a:spLocks noChangeArrowheads="1"/>
          </p:cNvSpPr>
          <p:nvPr/>
        </p:nvSpPr>
        <p:spPr bwMode="auto">
          <a:xfrm>
            <a:off x="765175" y="1247775"/>
            <a:ext cx="799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Connected Vertex Cover: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
        <p:nvSpPr>
          <p:cNvPr id="6" name="Rectangle 2">
            <a:extLst>
              <a:ext uri="{FF2B5EF4-FFF2-40B4-BE49-F238E27FC236}">
                <a16:creationId xmlns:a16="http://schemas.microsoft.com/office/drawing/2014/main" id="{9CDAEA66-73AC-4AAA-934E-D7C8C0945C94}"/>
              </a:ext>
            </a:extLst>
          </p:cNvPr>
          <p:cNvSpPr>
            <a:spLocks noGrp="1" noChangeArrowheads="1"/>
          </p:cNvSpPr>
          <p:nvPr>
            <p:ph type="title"/>
          </p:nvPr>
        </p:nvSpPr>
        <p:spPr/>
        <p:txBody>
          <a:bodyPr/>
          <a:lstStyle/>
          <a:p>
            <a:pPr>
              <a:defRPr/>
            </a:pPr>
            <a:r>
              <a:rPr lang="zh-CN" altLang="en-US" dirty="0"/>
              <a:t>更多参数算法问题</a:t>
            </a:r>
          </a:p>
        </p:txBody>
      </p:sp>
      <p:sp>
        <p:nvSpPr>
          <p:cNvPr id="58372" name="日期占位符 3">
            <a:extLst>
              <a:ext uri="{FF2B5EF4-FFF2-40B4-BE49-F238E27FC236}">
                <a16:creationId xmlns:a16="http://schemas.microsoft.com/office/drawing/2014/main" id="{3762ADF2-049B-46AB-9F6D-FFD8F8DE2CB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DD0BB1AD-4B11-4381-A7DE-DB6D8C003F7C}"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8373" name="灯片编号占位符 4">
            <a:extLst>
              <a:ext uri="{FF2B5EF4-FFF2-40B4-BE49-F238E27FC236}">
                <a16:creationId xmlns:a16="http://schemas.microsoft.com/office/drawing/2014/main" id="{482D39E3-C236-46B6-B22F-72057A57928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E929767A-F6B0-46FB-9DB9-9336263A0695}"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54</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58374" name="Text Box 2">
            <a:extLst>
              <a:ext uri="{FF2B5EF4-FFF2-40B4-BE49-F238E27FC236}">
                <a16:creationId xmlns:a16="http://schemas.microsoft.com/office/drawing/2014/main" id="{AD1A038A-8A3B-4585-B5A1-5C381845147C}"/>
              </a:ext>
            </a:extLst>
          </p:cNvPr>
          <p:cNvSpPr txBox="1">
            <a:spLocks noChangeArrowheads="1"/>
          </p:cNvSpPr>
          <p:nvPr/>
        </p:nvSpPr>
        <p:spPr bwMode="auto">
          <a:xfrm>
            <a:off x="755650" y="2060575"/>
            <a:ext cx="799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Subset Feedback Vertex Set: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O*(4</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
        <p:nvSpPr>
          <p:cNvPr id="58375" name="Text Box 2">
            <a:extLst>
              <a:ext uri="{FF2B5EF4-FFF2-40B4-BE49-F238E27FC236}">
                <a16:creationId xmlns:a16="http://schemas.microsoft.com/office/drawing/2014/main" id="{A350000E-316D-4B92-9337-BDE713C99C49}"/>
              </a:ext>
            </a:extLst>
          </p:cNvPr>
          <p:cNvSpPr txBox="1">
            <a:spLocks noChangeArrowheads="1"/>
          </p:cNvSpPr>
          <p:nvPr/>
        </p:nvSpPr>
        <p:spPr bwMode="auto">
          <a:xfrm>
            <a:off x="755650" y="2854325"/>
            <a:ext cx="799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k-path: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O*(2.851</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
        <p:nvSpPr>
          <p:cNvPr id="58376" name="Text Box 2">
            <a:extLst>
              <a:ext uri="{FF2B5EF4-FFF2-40B4-BE49-F238E27FC236}">
                <a16:creationId xmlns:a16="http://schemas.microsoft.com/office/drawing/2014/main" id="{9B547133-2E1E-419F-A045-A7EAA45F08AF}"/>
              </a:ext>
            </a:extLst>
          </p:cNvPr>
          <p:cNvSpPr txBox="1">
            <a:spLocks noChangeArrowheads="1"/>
          </p:cNvSpPr>
          <p:nvPr/>
        </p:nvSpPr>
        <p:spPr bwMode="auto">
          <a:xfrm>
            <a:off x="755650" y="3575050"/>
            <a:ext cx="799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(Directed) Max Leaf: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O*(3.72</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
        <p:nvSpPr>
          <p:cNvPr id="58377" name="Text Box 2">
            <a:extLst>
              <a:ext uri="{FF2B5EF4-FFF2-40B4-BE49-F238E27FC236}">
                <a16:creationId xmlns:a16="http://schemas.microsoft.com/office/drawing/2014/main" id="{B01D8F85-B86C-4647-850A-E8A7CF44C225}"/>
              </a:ext>
            </a:extLst>
          </p:cNvPr>
          <p:cNvSpPr txBox="1">
            <a:spLocks noChangeArrowheads="1"/>
          </p:cNvSpPr>
          <p:nvPr/>
        </p:nvSpPr>
        <p:spPr bwMode="auto">
          <a:xfrm>
            <a:off x="755650" y="4294188"/>
            <a:ext cx="79930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Cluster Editing: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O*(1.62</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
        <p:nvSpPr>
          <p:cNvPr id="58378" name="Text Box 2">
            <a:extLst>
              <a:ext uri="{FF2B5EF4-FFF2-40B4-BE49-F238E27FC236}">
                <a16:creationId xmlns:a16="http://schemas.microsoft.com/office/drawing/2014/main" id="{E675A1D2-169B-483F-8BC9-E2BBAA4C9618}"/>
              </a:ext>
            </a:extLst>
          </p:cNvPr>
          <p:cNvSpPr txBox="1">
            <a:spLocks noChangeArrowheads="1"/>
          </p:cNvSpPr>
          <p:nvPr/>
        </p:nvSpPr>
        <p:spPr bwMode="auto">
          <a:xfrm>
            <a:off x="755650" y="5086350"/>
            <a:ext cx="799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en-US" altLang="zh-CN" b="1">
                <a:solidFill>
                  <a:srgbClr val="000000"/>
                </a:solidFill>
                <a:latin typeface="宋体" panose="02010600030101010101" pitchFamily="2" charset="-122"/>
                <a:ea typeface="宋体" panose="02010600030101010101" pitchFamily="2" charset="-122"/>
                <a:cs typeface="Tahoma" panose="020B0604030504040204" pitchFamily="34" charset="0"/>
              </a:rPr>
              <a:t>Max Internal Spanning Tree: </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O*(8</a:t>
            </a:r>
            <a:r>
              <a:rPr lang="en-US" altLang="zh-CN" baseline="30000">
                <a:solidFill>
                  <a:srgbClr val="FF0000"/>
                </a:solidFill>
                <a:latin typeface="Tahoma" panose="020B0604030504040204" pitchFamily="34" charset="0"/>
                <a:ea typeface="隶书" panose="02010509060101010101" pitchFamily="49" charset="-122"/>
                <a:cs typeface="Tahoma" panose="020B0604030504040204" pitchFamily="34" charset="0"/>
              </a:rPr>
              <a:t>k</a:t>
            </a:r>
            <a:r>
              <a:rPr lang="en-US" altLang="zh-CN">
                <a:solidFill>
                  <a:srgbClr val="FF0000"/>
                </a:solidFill>
                <a:latin typeface="Tahoma" panose="020B0604030504040204" pitchFamily="34" charset="0"/>
                <a:ea typeface="隶书" panose="02010509060101010101" pitchFamily="49" charset="-122"/>
                <a:cs typeface="Tahoma" panose="020B0604030504040204" pitchFamily="34" charset="0"/>
              </a:rPr>
              <a:t>) </a:t>
            </a:r>
            <a:endPar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endParaRPr>
          </a:p>
        </p:txBody>
      </p:sp>
    </p:spTree>
  </p:cSld>
  <p:clrMapOvr>
    <a:masterClrMapping/>
  </p:clrMapOvr>
  <p:transition>
    <p:strips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a:extLst>
              <a:ext uri="{FF2B5EF4-FFF2-40B4-BE49-F238E27FC236}">
                <a16:creationId xmlns:a16="http://schemas.microsoft.com/office/drawing/2014/main" id="{4056BAA8-E203-4F41-B1D0-42780415A8AE}"/>
              </a:ext>
            </a:extLst>
          </p:cNvPr>
          <p:cNvSpPr txBox="1">
            <a:spLocks noChangeArrowheads="1"/>
          </p:cNvSpPr>
          <p:nvPr/>
        </p:nvSpPr>
        <p:spPr bwMode="auto">
          <a:xfrm>
            <a:off x="684213" y="1357313"/>
            <a:ext cx="79930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从生物计算中得到的问题，从网络中得到问题，从大规模集成电路中得到的问题等。</a:t>
            </a:r>
          </a:p>
        </p:txBody>
      </p:sp>
      <p:sp>
        <p:nvSpPr>
          <p:cNvPr id="177156" name="Text Box 4">
            <a:extLst>
              <a:ext uri="{FF2B5EF4-FFF2-40B4-BE49-F238E27FC236}">
                <a16:creationId xmlns:a16="http://schemas.microsoft.com/office/drawing/2014/main" id="{EA0F92C3-D1DC-488C-92C5-A70DD557EC90}"/>
              </a:ext>
            </a:extLst>
          </p:cNvPr>
          <p:cNvSpPr txBox="1">
            <a:spLocks noChangeArrowheads="1"/>
          </p:cNvSpPr>
          <p:nvPr/>
        </p:nvSpPr>
        <p:spPr bwMode="auto">
          <a:xfrm>
            <a:off x="684213" y="2652713"/>
            <a:ext cx="79930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很多问题是不存在参数算法的（即</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W[1]</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难的），这类问题包括：最大团问题、独立集问题、点支配集问题等等。</a:t>
            </a:r>
          </a:p>
        </p:txBody>
      </p:sp>
      <p:sp>
        <p:nvSpPr>
          <p:cNvPr id="177157" name="Text Box 5">
            <a:extLst>
              <a:ext uri="{FF2B5EF4-FFF2-40B4-BE49-F238E27FC236}">
                <a16:creationId xmlns:a16="http://schemas.microsoft.com/office/drawing/2014/main" id="{9ECD2E18-0FFF-4EF9-B16C-F2354553F71C}"/>
              </a:ext>
            </a:extLst>
          </p:cNvPr>
          <p:cNvSpPr txBox="1">
            <a:spLocks noChangeArrowheads="1"/>
          </p:cNvSpPr>
          <p:nvPr/>
        </p:nvSpPr>
        <p:spPr bwMode="auto">
          <a:xfrm>
            <a:off x="684213" y="3949700"/>
            <a:ext cx="79930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给出一个问题，先证明是</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W[1]</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的还是参数可算的，对于参数可算的问题给出更快的参数算法。</a:t>
            </a:r>
          </a:p>
        </p:txBody>
      </p:sp>
      <p:sp>
        <p:nvSpPr>
          <p:cNvPr id="6" name="Rectangle 2">
            <a:extLst>
              <a:ext uri="{FF2B5EF4-FFF2-40B4-BE49-F238E27FC236}">
                <a16:creationId xmlns:a16="http://schemas.microsoft.com/office/drawing/2014/main" id="{73EBDA55-F2AB-4AEF-B8AB-A5BB40E11AA1}"/>
              </a:ext>
            </a:extLst>
          </p:cNvPr>
          <p:cNvSpPr>
            <a:spLocks noGrp="1" noChangeArrowheads="1"/>
          </p:cNvSpPr>
          <p:nvPr>
            <p:ph type="title"/>
          </p:nvPr>
        </p:nvSpPr>
        <p:spPr/>
        <p:txBody>
          <a:bodyPr/>
          <a:lstStyle/>
          <a:p>
            <a:pPr>
              <a:defRPr/>
            </a:pPr>
            <a:r>
              <a:rPr lang="zh-CN" altLang="en-US" dirty="0"/>
              <a:t>更多参数算法问题</a:t>
            </a:r>
          </a:p>
        </p:txBody>
      </p:sp>
      <p:sp>
        <p:nvSpPr>
          <p:cNvPr id="59398" name="日期占位符 3">
            <a:extLst>
              <a:ext uri="{FF2B5EF4-FFF2-40B4-BE49-F238E27FC236}">
                <a16:creationId xmlns:a16="http://schemas.microsoft.com/office/drawing/2014/main" id="{0AF9BB6B-C977-4E11-9965-2B9060EDF93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0D15801B-BE54-4AE9-B902-7044A98CB47A}"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59399" name="灯片编号占位符 4">
            <a:extLst>
              <a:ext uri="{FF2B5EF4-FFF2-40B4-BE49-F238E27FC236}">
                <a16:creationId xmlns:a16="http://schemas.microsoft.com/office/drawing/2014/main" id="{397E53B9-AD48-47C7-B8EF-B215908A1C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45019480-A255-46AA-94E7-2F966B4FC24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55</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slide(fromBottom)">
                                      <p:cBhvr>
                                        <p:cTn id="7" dur="500"/>
                                        <p:tgtEl>
                                          <p:spTgt spid="177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7156"/>
                                        </p:tgtEl>
                                        <p:attrNameLst>
                                          <p:attrName>style.visibility</p:attrName>
                                        </p:attrNameLst>
                                      </p:cBhvr>
                                      <p:to>
                                        <p:strVal val="visible"/>
                                      </p:to>
                                    </p:set>
                                    <p:animEffect transition="in" filter="slide(fromBottom)">
                                      <p:cBhvr>
                                        <p:cTn id="12" dur="500"/>
                                        <p:tgtEl>
                                          <p:spTgt spid="177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7157"/>
                                        </p:tgtEl>
                                        <p:attrNameLst>
                                          <p:attrName>style.visibility</p:attrName>
                                        </p:attrNameLst>
                                      </p:cBhvr>
                                      <p:to>
                                        <p:strVal val="visible"/>
                                      </p:to>
                                    </p:set>
                                    <p:animEffect transition="in" filter="slide(fromBottom)">
                                      <p:cBhvr>
                                        <p:cTn id="17" dur="500"/>
                                        <p:tgtEl>
                                          <p:spTgt spid="177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p:bldP spid="177156" grpId="0"/>
      <p:bldP spid="17715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B76BF3-74DC-4BE2-B175-32527D6038E0}"/>
              </a:ext>
            </a:extLst>
          </p:cNvPr>
          <p:cNvSpPr>
            <a:spLocks noGrp="1"/>
          </p:cNvSpPr>
          <p:nvPr>
            <p:ph type="title"/>
          </p:nvPr>
        </p:nvSpPr>
        <p:spPr/>
        <p:txBody>
          <a:bodyPr/>
          <a:lstStyle/>
          <a:p>
            <a:pPr>
              <a:defRPr/>
            </a:pPr>
            <a:r>
              <a:rPr lang="zh-CN" altLang="en-US" dirty="0"/>
              <a:t>参考书籍</a:t>
            </a:r>
          </a:p>
        </p:txBody>
      </p:sp>
      <p:sp>
        <p:nvSpPr>
          <p:cNvPr id="60419" name="日期占位符 4">
            <a:extLst>
              <a:ext uri="{FF2B5EF4-FFF2-40B4-BE49-F238E27FC236}">
                <a16:creationId xmlns:a16="http://schemas.microsoft.com/office/drawing/2014/main" id="{1974A0A5-45AE-4C09-8B83-D31ED25390F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E79BB1A3-0B0F-48A9-B576-ACF01FC469D2}"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0420" name="灯片编号占位符 5">
            <a:extLst>
              <a:ext uri="{FF2B5EF4-FFF2-40B4-BE49-F238E27FC236}">
                <a16:creationId xmlns:a16="http://schemas.microsoft.com/office/drawing/2014/main" id="{663A40BA-F240-4D6B-8BCD-FBFC9B06FAF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FC1B0615-DED9-416C-A9FB-64F334AF3DB5}"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56</a:t>
            </a:fld>
            <a:r>
              <a:rPr lang="zh-CN" altLang="en-US" sz="1200">
                <a:solidFill>
                  <a:schemeClr val="bg2"/>
                </a:solidFill>
                <a:latin typeface="Times New Roman" panose="02020603050405020304" pitchFamily="18" charset="0"/>
                <a:ea typeface="宋体" panose="02010600030101010101" pitchFamily="2" charset="-122"/>
              </a:rPr>
              <a:t>页</a:t>
            </a:r>
          </a:p>
        </p:txBody>
      </p:sp>
      <p:sp>
        <p:nvSpPr>
          <p:cNvPr id="7" name="内容占位符 2">
            <a:extLst>
              <a:ext uri="{FF2B5EF4-FFF2-40B4-BE49-F238E27FC236}">
                <a16:creationId xmlns:a16="http://schemas.microsoft.com/office/drawing/2014/main" id="{815FB746-D973-4AE9-BEEA-993F516A0EC9}"/>
              </a:ext>
            </a:extLst>
          </p:cNvPr>
          <p:cNvSpPr txBox="1">
            <a:spLocks/>
          </p:cNvSpPr>
          <p:nvPr/>
        </p:nvSpPr>
        <p:spPr bwMode="auto">
          <a:xfrm>
            <a:off x="573088" y="1125538"/>
            <a:ext cx="8320087" cy="4425950"/>
          </a:xfrm>
          <a:prstGeom prst="rect">
            <a:avLst/>
          </a:prstGeom>
          <a:noFill/>
          <a:ln>
            <a:noFill/>
          </a:ln>
        </p:spPr>
        <p:txBody>
          <a:bodyPr/>
          <a:lstStyle>
            <a:lvl1pPr marL="342900" indent="-342900" algn="l" rtl="0" eaLnBrk="0" fontAlgn="base" hangingPunct="0">
              <a:spcBef>
                <a:spcPct val="35000"/>
              </a:spcBef>
              <a:spcAft>
                <a:spcPct val="0"/>
              </a:spcAft>
              <a:buClr>
                <a:schemeClr val="tx2"/>
              </a:buClr>
              <a:buSzPct val="90000"/>
              <a:buFont typeface="Monotype Sorts" pitchFamily="2" charset="2"/>
              <a:buChar char="n"/>
              <a:defRPr sz="2800">
                <a:solidFill>
                  <a:srgbClr val="0000FF"/>
                </a:solidFill>
                <a:latin typeface="+mn-lt"/>
                <a:ea typeface="+mn-ea"/>
                <a:cs typeface="+mn-cs"/>
              </a:defRPr>
            </a:lvl1pPr>
            <a:lvl2pPr marL="742950" indent="-285750" algn="l" rtl="0" eaLnBrk="0" fontAlgn="base" hangingPunct="0">
              <a:spcBef>
                <a:spcPct val="35000"/>
              </a:spcBef>
              <a:spcAft>
                <a:spcPct val="0"/>
              </a:spcAft>
              <a:buClr>
                <a:srgbClr val="CC6600"/>
              </a:buClr>
              <a:buSzPct val="105000"/>
              <a:buFont typeface="Monotype Sorts" pitchFamily="2" charset="2"/>
              <a:buChar char="H"/>
              <a:defRPr sz="2400">
                <a:solidFill>
                  <a:srgbClr val="0000FF"/>
                </a:solidFill>
                <a:latin typeface="+mn-lt"/>
                <a:ea typeface="+mn-ea"/>
              </a:defRPr>
            </a:lvl2pPr>
            <a:lvl3pPr marL="1085850" indent="-228600" algn="l" rtl="0" eaLnBrk="0" fontAlgn="base" hangingPunct="0">
              <a:spcBef>
                <a:spcPct val="35000"/>
              </a:spcBef>
              <a:spcAft>
                <a:spcPct val="0"/>
              </a:spcAft>
              <a:buClr>
                <a:srgbClr val="000099"/>
              </a:buClr>
              <a:buSzPct val="85000"/>
              <a:buFont typeface="Monotype Sorts" pitchFamily="2" charset="2"/>
              <a:buChar char="4"/>
              <a:defRPr sz="2000">
                <a:solidFill>
                  <a:srgbClr val="0000FF"/>
                </a:solidFill>
                <a:latin typeface="+mn-lt"/>
                <a:ea typeface="+mn-ea"/>
              </a:defRPr>
            </a:lvl3pPr>
            <a:lvl4pPr marL="1428750" indent="-228600" algn="l" rtl="0" eaLnBrk="0" fontAlgn="base" hangingPunct="0">
              <a:spcBef>
                <a:spcPct val="35000"/>
              </a:spcBef>
              <a:spcAft>
                <a:spcPct val="0"/>
              </a:spcAft>
              <a:buClr>
                <a:schemeClr val="hlink"/>
              </a:buClr>
              <a:buChar char="–"/>
              <a:defRPr sz="1800">
                <a:solidFill>
                  <a:srgbClr val="0000FF"/>
                </a:solidFill>
                <a:latin typeface="+mn-lt"/>
                <a:ea typeface="+mn-ea"/>
              </a:defRPr>
            </a:lvl4pPr>
            <a:lvl5pPr marL="1771650" indent="-228600" algn="l" rtl="0" eaLnBrk="0" fontAlgn="base" hangingPunct="0">
              <a:spcBef>
                <a:spcPct val="35000"/>
              </a:spcBef>
              <a:spcAft>
                <a:spcPct val="0"/>
              </a:spcAft>
              <a:buClr>
                <a:schemeClr val="tx2"/>
              </a:buClr>
              <a:buChar char="»"/>
              <a:defRPr sz="1800">
                <a:solidFill>
                  <a:srgbClr val="0000FF"/>
                </a:solidFill>
                <a:latin typeface="+mn-lt"/>
                <a:ea typeface="+mn-ea"/>
              </a:defRPr>
            </a:lvl5pPr>
            <a:lvl6pPr marL="2228850" indent="-228600" algn="l" rtl="0" eaLnBrk="0" fontAlgn="base" hangingPunct="0">
              <a:spcBef>
                <a:spcPct val="35000"/>
              </a:spcBef>
              <a:spcAft>
                <a:spcPct val="0"/>
              </a:spcAft>
              <a:buClr>
                <a:schemeClr val="tx2"/>
              </a:buClr>
              <a:buChar char="»"/>
              <a:defRPr sz="1800">
                <a:solidFill>
                  <a:srgbClr val="0000FF"/>
                </a:solidFill>
                <a:latin typeface="+mn-lt"/>
                <a:ea typeface="+mn-ea"/>
              </a:defRPr>
            </a:lvl6pPr>
            <a:lvl7pPr marL="2686050" indent="-228600" algn="l" rtl="0" eaLnBrk="0" fontAlgn="base" hangingPunct="0">
              <a:spcBef>
                <a:spcPct val="35000"/>
              </a:spcBef>
              <a:spcAft>
                <a:spcPct val="0"/>
              </a:spcAft>
              <a:buClr>
                <a:schemeClr val="tx2"/>
              </a:buClr>
              <a:buChar char="»"/>
              <a:defRPr sz="1800">
                <a:solidFill>
                  <a:srgbClr val="0000FF"/>
                </a:solidFill>
                <a:latin typeface="+mn-lt"/>
                <a:ea typeface="+mn-ea"/>
              </a:defRPr>
            </a:lvl7pPr>
            <a:lvl8pPr marL="3143250" indent="-228600" algn="l" rtl="0" eaLnBrk="0" fontAlgn="base" hangingPunct="0">
              <a:spcBef>
                <a:spcPct val="35000"/>
              </a:spcBef>
              <a:spcAft>
                <a:spcPct val="0"/>
              </a:spcAft>
              <a:buClr>
                <a:schemeClr val="tx2"/>
              </a:buClr>
              <a:buChar char="»"/>
              <a:defRPr sz="1800">
                <a:solidFill>
                  <a:srgbClr val="0000FF"/>
                </a:solidFill>
                <a:latin typeface="+mn-lt"/>
                <a:ea typeface="+mn-ea"/>
              </a:defRPr>
            </a:lvl8pPr>
            <a:lvl9pPr marL="3600450" indent="-228600" algn="l" rtl="0" eaLnBrk="0" fontAlgn="base" hangingPunct="0">
              <a:spcBef>
                <a:spcPct val="35000"/>
              </a:spcBef>
              <a:spcAft>
                <a:spcPct val="0"/>
              </a:spcAft>
              <a:buClr>
                <a:schemeClr val="tx2"/>
              </a:buClr>
              <a:buChar char="»"/>
              <a:defRPr sz="1800">
                <a:solidFill>
                  <a:srgbClr val="0000FF"/>
                </a:solidFill>
                <a:latin typeface="+mn-lt"/>
                <a:ea typeface="+mn-ea"/>
              </a:defRPr>
            </a:lvl9pPr>
          </a:lstStyle>
          <a:p>
            <a:pPr eaLnBrk="1" hangingPunct="1">
              <a:defRPr/>
            </a:pPr>
            <a:r>
              <a:rPr lang="en-US" altLang="zh-CN" kern="0" dirty="0" err="1"/>
              <a:t>Kernelization</a:t>
            </a:r>
            <a:r>
              <a:rPr lang="en-US" altLang="zh-CN" kern="0" dirty="0"/>
              <a:t> 2018</a:t>
            </a:r>
          </a:p>
          <a:p>
            <a:pPr marL="0" indent="0" eaLnBrk="1" hangingPunct="1">
              <a:buFontTx/>
              <a:buNone/>
              <a:defRPr/>
            </a:pPr>
            <a:r>
              <a:rPr lang="en-US" altLang="zh-CN" sz="1800" kern="0" dirty="0"/>
              <a:t>By </a:t>
            </a:r>
            <a:r>
              <a:rPr lang="en-US" altLang="zh-CN" sz="1800" kern="0" dirty="0" err="1"/>
              <a:t>Fedor</a:t>
            </a:r>
            <a:r>
              <a:rPr lang="en-US" altLang="zh-CN" sz="1800" kern="0" dirty="0"/>
              <a:t> V. </a:t>
            </a:r>
            <a:r>
              <a:rPr lang="en-US" altLang="zh-CN" sz="1800" kern="0" dirty="0" err="1"/>
              <a:t>Fomin</a:t>
            </a:r>
            <a:r>
              <a:rPr lang="en-US" altLang="zh-CN" sz="1800" kern="0" dirty="0"/>
              <a:t>, Daniel </a:t>
            </a:r>
            <a:r>
              <a:rPr lang="en-US" altLang="zh-CN" sz="1800" kern="0" dirty="0" err="1"/>
              <a:t>Lokshtanov</a:t>
            </a:r>
            <a:r>
              <a:rPr lang="en-US" altLang="zh-CN" sz="1800" kern="0" dirty="0"/>
              <a:t>, </a:t>
            </a:r>
            <a:r>
              <a:rPr lang="en-US" altLang="zh-CN" sz="1800" kern="0" dirty="0" err="1"/>
              <a:t>Saket</a:t>
            </a:r>
            <a:r>
              <a:rPr lang="en-US" altLang="zh-CN" sz="1800" kern="0" dirty="0"/>
              <a:t> </a:t>
            </a:r>
            <a:r>
              <a:rPr lang="en-US" altLang="zh-CN" sz="1800" kern="0" dirty="0" err="1"/>
              <a:t>Saurabh</a:t>
            </a:r>
            <a:r>
              <a:rPr lang="en-US" altLang="zh-CN" sz="1800" kern="0" dirty="0"/>
              <a:t> and </a:t>
            </a:r>
            <a:r>
              <a:rPr lang="en-US" altLang="zh-CN" sz="1800" kern="0" dirty="0" err="1"/>
              <a:t>Meirav</a:t>
            </a:r>
            <a:r>
              <a:rPr lang="en-US" altLang="zh-CN" sz="1800" kern="0" dirty="0"/>
              <a:t> </a:t>
            </a:r>
            <a:r>
              <a:rPr lang="en-US" altLang="zh-CN" sz="1800" kern="0" dirty="0" err="1"/>
              <a:t>Zehavi</a:t>
            </a:r>
            <a:endParaRPr lang="en-US" altLang="zh-CN" sz="1800" kern="0" dirty="0"/>
          </a:p>
          <a:p>
            <a:pPr marL="0" indent="0" eaLnBrk="1" hangingPunct="1">
              <a:buFontTx/>
              <a:buNone/>
              <a:defRPr/>
            </a:pPr>
            <a:endParaRPr lang="en-US" altLang="zh-CN" kern="0" dirty="0"/>
          </a:p>
          <a:p>
            <a:pPr eaLnBrk="1" hangingPunct="1">
              <a:defRPr/>
            </a:pPr>
            <a:r>
              <a:rPr lang="en-US" altLang="zh-CN" kern="0" dirty="0"/>
              <a:t>Parameterized Algorithms 2016</a:t>
            </a:r>
          </a:p>
          <a:p>
            <a:pPr marL="0" indent="0" eaLnBrk="1" hangingPunct="1">
              <a:buFontTx/>
              <a:buNone/>
              <a:defRPr/>
            </a:pPr>
            <a:r>
              <a:rPr lang="en-US" altLang="zh-CN" sz="1800" kern="0" dirty="0"/>
              <a:t>By Marek </a:t>
            </a:r>
            <a:r>
              <a:rPr lang="en-US" altLang="zh-CN" sz="1800" kern="0" dirty="0" err="1"/>
              <a:t>Cygan</a:t>
            </a:r>
            <a:r>
              <a:rPr lang="en-US" altLang="zh-CN" sz="1800" kern="0" dirty="0"/>
              <a:t>, </a:t>
            </a:r>
            <a:r>
              <a:rPr lang="en-US" altLang="zh-CN" sz="1800" kern="0" dirty="0" err="1"/>
              <a:t>Fedor</a:t>
            </a:r>
            <a:r>
              <a:rPr lang="en-US" altLang="zh-CN" sz="1800" kern="0" dirty="0"/>
              <a:t> V. </a:t>
            </a:r>
            <a:r>
              <a:rPr lang="en-US" altLang="zh-CN" sz="1800" kern="0" dirty="0" err="1"/>
              <a:t>Fomin</a:t>
            </a:r>
            <a:r>
              <a:rPr lang="en-US" altLang="zh-CN" sz="1800" kern="0" dirty="0"/>
              <a:t>, </a:t>
            </a:r>
            <a:r>
              <a:rPr lang="en-US" altLang="zh-CN" sz="1800" kern="0" dirty="0" err="1"/>
              <a:t>Łukasz</a:t>
            </a:r>
            <a:r>
              <a:rPr lang="en-US" altLang="zh-CN" sz="1800" kern="0" dirty="0"/>
              <a:t> </a:t>
            </a:r>
            <a:r>
              <a:rPr lang="en-US" altLang="zh-CN" sz="1800" kern="0" dirty="0" err="1"/>
              <a:t>Kowalik</a:t>
            </a:r>
            <a:r>
              <a:rPr lang="en-US" altLang="zh-CN" sz="1800" kern="0" dirty="0"/>
              <a:t>, Daniel </a:t>
            </a:r>
            <a:r>
              <a:rPr lang="en-US" altLang="zh-CN" sz="1800" kern="0" dirty="0" err="1"/>
              <a:t>Lokshtanov</a:t>
            </a:r>
            <a:r>
              <a:rPr lang="en-US" altLang="zh-CN" sz="1800" kern="0" dirty="0"/>
              <a:t>, </a:t>
            </a:r>
            <a:r>
              <a:rPr lang="en-US" altLang="zh-CN" sz="1800" kern="0" dirty="0" err="1"/>
              <a:t>Dániel</a:t>
            </a:r>
            <a:r>
              <a:rPr lang="en-US" altLang="zh-CN" sz="1800" kern="0" dirty="0"/>
              <a:t> Marx, Marcin </a:t>
            </a:r>
            <a:r>
              <a:rPr lang="en-US" altLang="zh-CN" sz="1800" kern="0" dirty="0" err="1"/>
              <a:t>Pilipczuk</a:t>
            </a:r>
            <a:r>
              <a:rPr lang="en-US" altLang="zh-CN" sz="1800" kern="0" dirty="0"/>
              <a:t>, </a:t>
            </a:r>
            <a:r>
              <a:rPr lang="en-US" altLang="zh-CN" sz="1800" kern="0" dirty="0" err="1"/>
              <a:t>Michał</a:t>
            </a:r>
            <a:r>
              <a:rPr lang="en-US" altLang="zh-CN" sz="1800" kern="0" dirty="0"/>
              <a:t> </a:t>
            </a:r>
            <a:r>
              <a:rPr lang="en-US" altLang="zh-CN" sz="1800" kern="0" dirty="0" err="1"/>
              <a:t>Pilipczuk</a:t>
            </a:r>
            <a:r>
              <a:rPr lang="en-US" altLang="zh-CN" sz="1800" kern="0" dirty="0"/>
              <a:t> and </a:t>
            </a:r>
            <a:r>
              <a:rPr lang="en-US" altLang="zh-CN" sz="1800" kern="0" dirty="0" err="1"/>
              <a:t>Saket</a:t>
            </a:r>
            <a:r>
              <a:rPr lang="en-US" altLang="zh-CN" sz="1800" kern="0" dirty="0"/>
              <a:t> </a:t>
            </a:r>
            <a:r>
              <a:rPr lang="en-US" altLang="zh-CN" sz="1800" kern="0" dirty="0" err="1"/>
              <a:t>Saurabh</a:t>
            </a:r>
            <a:endParaRPr lang="en-US" altLang="zh-CN" sz="1800" kern="0" dirty="0"/>
          </a:p>
          <a:p>
            <a:pPr eaLnBrk="1" hangingPunct="1">
              <a:defRPr/>
            </a:pPr>
            <a:endParaRPr lang="en-US" altLang="zh-CN" sz="1800" kern="0" dirty="0"/>
          </a:p>
          <a:p>
            <a:pPr eaLnBrk="1" hangingPunct="1">
              <a:defRPr/>
            </a:pPr>
            <a:r>
              <a:rPr lang="en-US" altLang="zh-CN" kern="0" dirty="0"/>
              <a:t>Fundamentals of Parameterized Complexity 2013</a:t>
            </a:r>
          </a:p>
          <a:p>
            <a:pPr marL="0" indent="0" eaLnBrk="1" hangingPunct="1">
              <a:buFontTx/>
              <a:buNone/>
              <a:defRPr/>
            </a:pPr>
            <a:r>
              <a:rPr lang="en-US" altLang="zh-CN" sz="1800" kern="0" dirty="0"/>
              <a:t>By Rodney G. Downey and Michael R. Fellows</a:t>
            </a:r>
            <a:endParaRPr lang="zh-CN" altLang="en-US" sz="1800" kern="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a:extLst>
              <a:ext uri="{FF2B5EF4-FFF2-40B4-BE49-F238E27FC236}">
                <a16:creationId xmlns:a16="http://schemas.microsoft.com/office/drawing/2014/main" id="{25147922-33C6-473B-85F0-A90BB39E1FA8}"/>
              </a:ext>
            </a:extLst>
          </p:cNvPr>
          <p:cNvSpPr txBox="1">
            <a:spLocks noChangeArrowheads="1"/>
          </p:cNvSpPr>
          <p:nvPr/>
        </p:nvSpPr>
        <p:spPr bwMode="auto">
          <a:xfrm>
            <a:off x="684213" y="1357313"/>
            <a:ext cx="79930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lnSpc>
                <a:spcPct val="150000"/>
              </a:lnSpc>
              <a:spcBef>
                <a:spcPct val="0"/>
              </a:spcBef>
              <a:buClrTx/>
              <a:buSzTx/>
              <a:buFont typeface="Wingdings" panose="05000000000000000000" pitchFamily="2" charset="2"/>
              <a:buChar char="l"/>
            </a:pP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给出一个图，图中有一些长度不超过</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d</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的给定路径，问是否可以通过删除最多</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个顶点（或者</a:t>
            </a:r>
            <a:r>
              <a:rPr lang="en-US" altLang="zh-CN" b="1">
                <a:solidFill>
                  <a:srgbClr val="000000"/>
                </a:solidFill>
                <a:latin typeface="Tahoma" panose="020B0604030504040204" pitchFamily="34" charset="0"/>
                <a:ea typeface="隶书" panose="02010509060101010101" pitchFamily="49" charset="-122"/>
                <a:cs typeface="Tahoma" panose="020B0604030504040204" pitchFamily="34" charset="0"/>
              </a:rPr>
              <a:t>k</a:t>
            </a:r>
            <a:r>
              <a:rPr lang="zh-CN" altLang="en-US" b="1">
                <a:solidFill>
                  <a:srgbClr val="000000"/>
                </a:solidFill>
                <a:latin typeface="Tahoma" panose="020B0604030504040204" pitchFamily="34" charset="0"/>
                <a:ea typeface="隶书" panose="02010509060101010101" pitchFamily="49" charset="-122"/>
                <a:cs typeface="Tahoma" panose="020B0604030504040204" pitchFamily="34" charset="0"/>
              </a:rPr>
              <a:t>条边）使得图中不再存在任意给定的路径？</a:t>
            </a:r>
          </a:p>
        </p:txBody>
      </p:sp>
      <p:sp>
        <p:nvSpPr>
          <p:cNvPr id="6" name="Rectangle 2">
            <a:extLst>
              <a:ext uri="{FF2B5EF4-FFF2-40B4-BE49-F238E27FC236}">
                <a16:creationId xmlns:a16="http://schemas.microsoft.com/office/drawing/2014/main" id="{230D5B22-D25D-42C6-AFDF-DC656AEF3D61}"/>
              </a:ext>
            </a:extLst>
          </p:cNvPr>
          <p:cNvSpPr>
            <a:spLocks noGrp="1" noChangeArrowheads="1"/>
          </p:cNvSpPr>
          <p:nvPr>
            <p:ph type="title"/>
          </p:nvPr>
        </p:nvSpPr>
        <p:spPr/>
        <p:txBody>
          <a:bodyPr/>
          <a:lstStyle/>
          <a:p>
            <a:pPr>
              <a:defRPr/>
            </a:pPr>
            <a:r>
              <a:rPr lang="zh-CN" altLang="en-US" dirty="0"/>
              <a:t>课堂思考题</a:t>
            </a:r>
          </a:p>
        </p:txBody>
      </p:sp>
      <p:sp>
        <p:nvSpPr>
          <p:cNvPr id="61444" name="日期占位符 3">
            <a:extLst>
              <a:ext uri="{FF2B5EF4-FFF2-40B4-BE49-F238E27FC236}">
                <a16:creationId xmlns:a16="http://schemas.microsoft.com/office/drawing/2014/main" id="{7B8E09D6-DCF4-4A08-84FB-F71D1EC05AD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FB3E3EAF-5936-42E2-B9CD-734E8782CE3D}"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1445" name="灯片编号占位符 4">
            <a:extLst>
              <a:ext uri="{FF2B5EF4-FFF2-40B4-BE49-F238E27FC236}">
                <a16:creationId xmlns:a16="http://schemas.microsoft.com/office/drawing/2014/main" id="{96855AC6-91C0-4837-B6D0-4D09FB0213B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BD1343C7-554C-429E-9159-05E8CE3D053C}"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57</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slide(fromBottom)">
                                      <p:cBhvr>
                                        <p:cTn id="7" dur="500"/>
                                        <p:tgtEl>
                                          <p:spTgt spid="17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213426F-6513-4F05-AE5C-DFEA1BCD9035}"/>
              </a:ext>
            </a:extLst>
          </p:cNvPr>
          <p:cNvSpPr>
            <a:spLocks noGrp="1" noChangeArrowheads="1"/>
          </p:cNvSpPr>
          <p:nvPr>
            <p:ph type="body" idx="4294967295"/>
          </p:nvPr>
        </p:nvSpPr>
        <p:spPr>
          <a:xfrm>
            <a:off x="1692275" y="1308100"/>
            <a:ext cx="4608513" cy="1511300"/>
          </a:xfrm>
        </p:spPr>
        <p:txBody>
          <a:bodyPr/>
          <a:lstStyle/>
          <a:p>
            <a:pPr>
              <a:buFontTx/>
              <a:buNone/>
            </a:pPr>
            <a:r>
              <a:rPr lang="hu-HU" altLang="ko-KR"/>
              <a:t>Downey-Fellows: Parameterized Complexity, Springer, 1999</a:t>
            </a:r>
          </a:p>
        </p:txBody>
      </p:sp>
      <p:pic>
        <p:nvPicPr>
          <p:cNvPr id="62467" name="Picture 3" descr="The image “http://ecx.images-amazon.com/images/I/418JE04QNFL._BO2,204,203,200_PIsitb-dp-500-arrow,TopRight,45,-64_OU03_AA240_SH20_.jpg” cannot be displayed, because it contains errors.">
            <a:extLst>
              <a:ext uri="{FF2B5EF4-FFF2-40B4-BE49-F238E27FC236}">
                <a16:creationId xmlns:a16="http://schemas.microsoft.com/office/drawing/2014/main" id="{3A2EB5A7-1B27-4FB2-AEA4-2C4C924578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694" t="12570" r="24445"/>
          <a:stretch>
            <a:fillRect/>
          </a:stretch>
        </p:blipFill>
        <p:spPr bwMode="auto">
          <a:xfrm>
            <a:off x="565150" y="925513"/>
            <a:ext cx="1035050"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4" descr="The image “http://ecx.images-amazon.com/images/I/416J502KTML._BO2,204,203,200_PIsitb-dp-500-arrow,TopRight,45,-64_OU02_AA240_SH20_.jpg” cannot be displayed, because it contains errors.">
            <a:extLst>
              <a:ext uri="{FF2B5EF4-FFF2-40B4-BE49-F238E27FC236}">
                <a16:creationId xmlns:a16="http://schemas.microsoft.com/office/drawing/2014/main" id="{BA7F11A6-B173-4795-A117-33463C059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764" t="13129" r="21666"/>
          <a:stretch>
            <a:fillRect/>
          </a:stretch>
        </p:blipFill>
        <p:spPr bwMode="auto">
          <a:xfrm>
            <a:off x="511175" y="2708275"/>
            <a:ext cx="1089025"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5" descr="The image “http://ecx.images-amazon.com/images/I/41151A2KC8L._BO2,204,203,200_PIsitb-dp-500-arrow,TopRight,45,-64_OU02_AA240_SH20_.jpg” cannot be displayed, because it contains errors.">
            <a:extLst>
              <a:ext uri="{FF2B5EF4-FFF2-40B4-BE49-F238E27FC236}">
                <a16:creationId xmlns:a16="http://schemas.microsoft.com/office/drawing/2014/main" id="{611EF507-5AE4-45AD-B111-05CE0F546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8959" t="12570" r="24374"/>
          <a:stretch>
            <a:fillRect/>
          </a:stretch>
        </p:blipFill>
        <p:spPr bwMode="auto">
          <a:xfrm>
            <a:off x="665163" y="4648200"/>
            <a:ext cx="108743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0" name="Rectangle 6">
            <a:extLst>
              <a:ext uri="{FF2B5EF4-FFF2-40B4-BE49-F238E27FC236}">
                <a16:creationId xmlns:a16="http://schemas.microsoft.com/office/drawing/2014/main" id="{F3526253-F45A-4F51-91C9-7507A3EEA2DB}"/>
              </a:ext>
            </a:extLst>
          </p:cNvPr>
          <p:cNvSpPr>
            <a:spLocks noChangeArrowheads="1"/>
          </p:cNvSpPr>
          <p:nvPr/>
        </p:nvSpPr>
        <p:spPr bwMode="auto">
          <a:xfrm>
            <a:off x="1692275" y="2895600"/>
            <a:ext cx="4608513"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lang="hu-HU" altLang="ko-KR">
                <a:latin typeface="Arial" panose="020B0604020202020204" pitchFamily="34" charset="0"/>
                <a:ea typeface="PMingLiU" panose="02020500000000000000" pitchFamily="18" charset="-120"/>
              </a:rPr>
              <a:t>Flum-Grohe: Parameterized Complexity Theory, </a:t>
            </a:r>
            <a:r>
              <a:rPr lang="en-US" altLang="ko-KR">
                <a:latin typeface="Arial" panose="020B0604020202020204" pitchFamily="34" charset="0"/>
                <a:ea typeface="Gulim" panose="020B0600000101010101" pitchFamily="34" charset="-127"/>
              </a:rPr>
              <a:t>Springer, 2006.</a:t>
            </a:r>
            <a:endParaRPr lang="hu-HU" altLang="ko-KR">
              <a:latin typeface="Arial" panose="020B0604020202020204" pitchFamily="34" charset="0"/>
              <a:ea typeface="PMingLiU" panose="02020500000000000000" pitchFamily="18" charset="-120"/>
            </a:endParaRPr>
          </a:p>
        </p:txBody>
      </p:sp>
      <p:sp>
        <p:nvSpPr>
          <p:cNvPr id="62471" name="Rectangle 7">
            <a:extLst>
              <a:ext uri="{FF2B5EF4-FFF2-40B4-BE49-F238E27FC236}">
                <a16:creationId xmlns:a16="http://schemas.microsoft.com/office/drawing/2014/main" id="{8BEAD021-AE70-4BAE-B4EE-DC95DAF5E1F7}"/>
              </a:ext>
            </a:extLst>
          </p:cNvPr>
          <p:cNvSpPr>
            <a:spLocks noChangeArrowheads="1"/>
          </p:cNvSpPr>
          <p:nvPr/>
        </p:nvSpPr>
        <p:spPr bwMode="auto">
          <a:xfrm>
            <a:off x="1692275" y="4868863"/>
            <a:ext cx="4608513"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20000"/>
              </a:spcBef>
              <a:buClrTx/>
              <a:buSzTx/>
              <a:buFontTx/>
              <a:buNone/>
            </a:pPr>
            <a:r>
              <a:rPr lang="hu-HU" altLang="ko-KR">
                <a:latin typeface="Arial" panose="020B0604020202020204" pitchFamily="34" charset="0"/>
                <a:ea typeface="PMingLiU" panose="02020500000000000000" pitchFamily="18" charset="-120"/>
              </a:rPr>
              <a:t>Niedermeier: Invitation to Fixed-Parameter Algorithms</a:t>
            </a:r>
            <a:r>
              <a:rPr lang="en-US" altLang="ko-KR">
                <a:latin typeface="Arial" panose="020B0604020202020204" pitchFamily="34" charset="0"/>
                <a:ea typeface="Gulim" panose="020B0600000101010101" pitchFamily="34" charset="-127"/>
              </a:rPr>
              <a:t>, Oxford University Press, 2006.</a:t>
            </a:r>
            <a:r>
              <a:rPr lang="hu-HU" altLang="ko-KR">
                <a:latin typeface="Arial" panose="020B0604020202020204" pitchFamily="34" charset="0"/>
                <a:ea typeface="PMingLiU" panose="02020500000000000000" pitchFamily="18" charset="-120"/>
              </a:rPr>
              <a:t> </a:t>
            </a:r>
          </a:p>
        </p:txBody>
      </p:sp>
      <p:pic>
        <p:nvPicPr>
          <p:cNvPr id="62472" name="Picture 8" descr="RodDowney">
            <a:extLst>
              <a:ext uri="{FF2B5EF4-FFF2-40B4-BE49-F238E27FC236}">
                <a16:creationId xmlns:a16="http://schemas.microsoft.com/office/drawing/2014/main" id="{38ED38D3-05A0-4560-BE8E-A9751CED3B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762000"/>
            <a:ext cx="105251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3" name="Picture 9" descr="Photo">
            <a:extLst>
              <a:ext uri="{FF2B5EF4-FFF2-40B4-BE49-F238E27FC236}">
                <a16:creationId xmlns:a16="http://schemas.microsoft.com/office/drawing/2014/main" id="{F46BEDE0-4B68-4746-86C5-1043329F74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6276" r="955"/>
          <a:stretch>
            <a:fillRect/>
          </a:stretch>
        </p:blipFill>
        <p:spPr bwMode="auto">
          <a:xfrm>
            <a:off x="7885113" y="2708275"/>
            <a:ext cx="10287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4" name="Picture 10" descr="http://www.uni-jena.de/img/unijena_/presse/journal/07jour07/niedermeier04.jpg">
            <a:extLst>
              <a:ext uri="{FF2B5EF4-FFF2-40B4-BE49-F238E27FC236}">
                <a16:creationId xmlns:a16="http://schemas.microsoft.com/office/drawing/2014/main" id="{7DBEF1BB-BDF4-4E04-8928-22D6AE5C59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4572000"/>
            <a:ext cx="129063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5" name="Picture 11" descr="The image “http://www.stochastik.uni-freiburg.de/Ausstellung2007/Dekan.jpg” cannot be displayed, because it contains errors.">
            <a:extLst>
              <a:ext uri="{FF2B5EF4-FFF2-40B4-BE49-F238E27FC236}">
                <a16:creationId xmlns:a16="http://schemas.microsoft.com/office/drawing/2014/main" id="{BC08FD7A-BBD6-4D62-90D8-57BEC9411DE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32957" r="27318" b="19833"/>
          <a:stretch>
            <a:fillRect/>
          </a:stretch>
        </p:blipFill>
        <p:spPr bwMode="auto">
          <a:xfrm>
            <a:off x="6654800" y="2708275"/>
            <a:ext cx="1027113"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2476" name="Object 2">
            <a:extLst>
              <a:ext uri="{FF2B5EF4-FFF2-40B4-BE49-F238E27FC236}">
                <a16:creationId xmlns:a16="http://schemas.microsoft.com/office/drawing/2014/main" id="{8DB9D772-E251-4F7F-9FAB-3531F9FF52C4}"/>
              </a:ext>
            </a:extLst>
          </p:cNvPr>
          <p:cNvGraphicFramePr>
            <a:graphicFrameLocks noChangeAspect="1"/>
          </p:cNvGraphicFramePr>
          <p:nvPr/>
        </p:nvGraphicFramePr>
        <p:xfrm>
          <a:off x="7569200" y="457200"/>
          <a:ext cx="1457325" cy="1879600"/>
        </p:xfrm>
        <a:graphic>
          <a:graphicData uri="http://schemas.openxmlformats.org/presentationml/2006/ole">
            <mc:AlternateContent xmlns:mc="http://schemas.openxmlformats.org/markup-compatibility/2006">
              <mc:Choice xmlns:v="urn:schemas-microsoft-com:vml" Requires="v">
                <p:oleObj name="Photo Editor Photo" r:id="rId9" imgW="5877745" imgH="7590476" progId="MSPhotoEd.3">
                  <p:embed/>
                </p:oleObj>
              </mc:Choice>
              <mc:Fallback>
                <p:oleObj name="Photo Editor Photo" r:id="rId9" imgW="5877745" imgH="7590476" progId="MSPhotoEd.3">
                  <p:embed/>
                  <p:pic>
                    <p:nvPicPr>
                      <p:cNvPr id="62476" name="Object 2">
                        <a:extLst>
                          <a:ext uri="{FF2B5EF4-FFF2-40B4-BE49-F238E27FC236}">
                            <a16:creationId xmlns:a16="http://schemas.microsoft.com/office/drawing/2014/main" id="{8DB9D772-E251-4F7F-9FAB-3531F9FF52C4}"/>
                          </a:ext>
                        </a:extLst>
                      </p:cNvPr>
                      <p:cNvPicPr>
                        <a:picLocks noChangeAspect="1" noChangeArrowheads="1"/>
                      </p:cNvPicPr>
                      <p:nvPr/>
                    </p:nvPicPr>
                    <p:blipFill>
                      <a:blip r:embed="rId10">
                        <a:lum bright="16000" contrast="8000"/>
                        <a:extLst>
                          <a:ext uri="{28A0092B-C50C-407E-A947-70E740481C1C}">
                            <a14:useLocalDpi xmlns:a14="http://schemas.microsoft.com/office/drawing/2010/main" val="0"/>
                          </a:ext>
                        </a:extLst>
                      </a:blip>
                      <a:srcRect/>
                      <a:stretch>
                        <a:fillRect/>
                      </a:stretch>
                    </p:blipFill>
                    <p:spPr bwMode="auto">
                      <a:xfrm>
                        <a:off x="7569200" y="457200"/>
                        <a:ext cx="1457325"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77" name="TextBox 12">
            <a:extLst>
              <a:ext uri="{FF2B5EF4-FFF2-40B4-BE49-F238E27FC236}">
                <a16:creationId xmlns:a16="http://schemas.microsoft.com/office/drawing/2014/main" id="{1126244E-7402-4E1A-BFDE-9E15F7AE75BF}"/>
              </a:ext>
            </a:extLst>
          </p:cNvPr>
          <p:cNvSpPr txBox="1">
            <a:spLocks noChangeArrowheads="1"/>
          </p:cNvSpPr>
          <p:nvPr/>
        </p:nvSpPr>
        <p:spPr bwMode="auto">
          <a:xfrm>
            <a:off x="3733800" y="228600"/>
            <a:ext cx="1466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0"/>
              </a:spcBef>
              <a:buClrTx/>
              <a:buSzTx/>
              <a:buFontTx/>
              <a:buNone/>
            </a:pPr>
            <a:r>
              <a:rPr lang="en-US" altLang="ko-KR" sz="3600">
                <a:latin typeface="Arial" panose="020B0604020202020204" pitchFamily="34" charset="0"/>
                <a:ea typeface="PMingLiU" panose="02020500000000000000" pitchFamily="18" charset="-120"/>
              </a:rPr>
              <a:t>Books</a:t>
            </a:r>
            <a:endParaRPr lang="ko-KR" altLang="en-US" sz="3600">
              <a:latin typeface="Arial" panose="020B0604020202020204" pitchFamily="34" charset="0"/>
              <a:ea typeface="PMingLiU" panose="02020500000000000000" pitchFamily="18" charset="-120"/>
            </a:endParaRPr>
          </a:p>
        </p:txBody>
      </p:sp>
      <p:sp>
        <p:nvSpPr>
          <p:cNvPr id="62478" name="日期占位符 3">
            <a:extLst>
              <a:ext uri="{FF2B5EF4-FFF2-40B4-BE49-F238E27FC236}">
                <a16:creationId xmlns:a16="http://schemas.microsoft.com/office/drawing/2014/main" id="{4BBFE598-BA62-4551-81F3-B1100DDC52E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470B4BED-E9B0-4464-BD93-2D40D40A3E1D}"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2479" name="灯片编号占位符 4">
            <a:extLst>
              <a:ext uri="{FF2B5EF4-FFF2-40B4-BE49-F238E27FC236}">
                <a16:creationId xmlns:a16="http://schemas.microsoft.com/office/drawing/2014/main" id="{68DDC07A-7A92-4D66-9C43-286286D403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5451DAD8-5791-4DD8-85E0-DC143F8892D9}"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58</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2FF2F99F-5000-4EC1-BE01-B64318820CAE}"/>
              </a:ext>
            </a:extLst>
          </p:cNvPr>
          <p:cNvSpPr>
            <a:spLocks noGrp="1" noChangeArrowheads="1"/>
          </p:cNvSpPr>
          <p:nvPr>
            <p:ph type="ctrTitle"/>
          </p:nvPr>
        </p:nvSpPr>
        <p:spPr>
          <a:xfrm>
            <a:off x="615950" y="950913"/>
            <a:ext cx="7772400" cy="1470025"/>
          </a:xfrm>
        </p:spPr>
        <p:txBody>
          <a:bodyPr/>
          <a:lstStyle/>
          <a:p>
            <a:pPr>
              <a:defRPr/>
            </a:pPr>
            <a:r>
              <a:rPr lang="zh-CN" altLang="en-US" sz="4000" b="1" dirty="0">
                <a:solidFill>
                  <a:schemeClr val="tx1"/>
                </a:solidFill>
              </a:rPr>
              <a:t>学习是快乐的～</a:t>
            </a:r>
            <a:br>
              <a:rPr lang="zh-CN" altLang="en-US" sz="4000" b="1" dirty="0">
                <a:solidFill>
                  <a:schemeClr val="tx1"/>
                </a:solidFill>
              </a:rPr>
            </a:br>
            <a:r>
              <a:rPr lang="zh-CN" altLang="en-US" sz="4000" b="1" dirty="0">
                <a:solidFill>
                  <a:schemeClr val="tx1"/>
                </a:solidFill>
              </a:rPr>
              <a:t>每天坚持思考</a:t>
            </a:r>
            <a:r>
              <a:rPr lang="en-US" altLang="zh-CN" sz="4000" b="1" dirty="0">
                <a:solidFill>
                  <a:schemeClr val="tx1"/>
                </a:solidFill>
              </a:rPr>
              <a:t>~~</a:t>
            </a:r>
          </a:p>
        </p:txBody>
      </p:sp>
      <p:pic>
        <p:nvPicPr>
          <p:cNvPr id="63491" name="Picture 3" descr="monkey-thinking">
            <a:extLst>
              <a:ext uri="{FF2B5EF4-FFF2-40B4-BE49-F238E27FC236}">
                <a16:creationId xmlns:a16="http://schemas.microsoft.com/office/drawing/2014/main" id="{279736C4-8FF2-47B4-B067-FCDEE2F55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2852738"/>
            <a:ext cx="4248150" cy="318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日期占位符 3">
            <a:extLst>
              <a:ext uri="{FF2B5EF4-FFF2-40B4-BE49-F238E27FC236}">
                <a16:creationId xmlns:a16="http://schemas.microsoft.com/office/drawing/2014/main" id="{60463CE9-A30F-4236-A4EA-F43AF776D42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fld id="{D4A4A1E3-DE69-4D3C-8992-5820BA41FDA4}" type="datetime1">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2025/12/18</a:t>
            </a:fld>
            <a:endParaRPr lang="en-US" altLang="zh-CN" sz="1200">
              <a:solidFill>
                <a:schemeClr val="bg2"/>
              </a:solidFill>
              <a:latin typeface="Times New Roman" panose="02020603050405020304" pitchFamily="18" charset="0"/>
              <a:ea typeface="宋体" panose="02010600030101010101" pitchFamily="2" charset="-122"/>
            </a:endParaRPr>
          </a:p>
        </p:txBody>
      </p:sp>
      <p:sp>
        <p:nvSpPr>
          <p:cNvPr id="63493" name="灯片编号占位符 4">
            <a:extLst>
              <a:ext uri="{FF2B5EF4-FFF2-40B4-BE49-F238E27FC236}">
                <a16:creationId xmlns:a16="http://schemas.microsoft.com/office/drawing/2014/main" id="{488DB476-4FDB-47B5-AE07-A502608B7DE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tx2"/>
              </a:buClr>
              <a:buSzPct val="90000"/>
              <a:buFont typeface="Monotype Sorts" pitchFamily="2" charset="2"/>
              <a:buChar char="n"/>
              <a:defRPr sz="2400">
                <a:solidFill>
                  <a:srgbClr val="0000FF"/>
                </a:solidFill>
                <a:latin typeface="楷体_GB2312" pitchFamily="49" charset="-122"/>
                <a:ea typeface="楷体_GB2312" pitchFamily="49" charset="-122"/>
              </a:defRPr>
            </a:lvl1pPr>
            <a:lvl2pPr marL="742950" indent="-285750">
              <a:spcBef>
                <a:spcPct val="35000"/>
              </a:spcBef>
              <a:buClr>
                <a:srgbClr val="CC6600"/>
              </a:buClr>
              <a:buSzPct val="105000"/>
              <a:buFont typeface="Monotype Sorts" pitchFamily="2" charset="2"/>
              <a:buChar char="H"/>
              <a:defRPr sz="2400">
                <a:solidFill>
                  <a:srgbClr val="0000FF"/>
                </a:solidFill>
                <a:latin typeface="楷体_GB2312" pitchFamily="49" charset="-122"/>
                <a:ea typeface="楷体_GB2312" pitchFamily="49" charset="-122"/>
              </a:defRPr>
            </a:lvl2pPr>
            <a:lvl3pPr marL="1143000" indent="-228600">
              <a:spcBef>
                <a:spcPct val="35000"/>
              </a:spcBef>
              <a:buClr>
                <a:srgbClr val="000099"/>
              </a:buClr>
              <a:buSzPct val="85000"/>
              <a:buFont typeface="Monotype Sorts" pitchFamily="2" charset="2"/>
              <a:buChar char="4"/>
              <a:defRPr sz="2000">
                <a:solidFill>
                  <a:srgbClr val="0000FF"/>
                </a:solidFill>
                <a:latin typeface="楷体_GB2312" pitchFamily="49" charset="-122"/>
                <a:ea typeface="楷体_GB2312" pitchFamily="49" charset="-122"/>
              </a:defRPr>
            </a:lvl3pPr>
            <a:lvl4pPr marL="1600200" indent="-228600">
              <a:spcBef>
                <a:spcPct val="35000"/>
              </a:spcBef>
              <a:buClr>
                <a:schemeClr val="hlink"/>
              </a:buClr>
              <a:buChar char="–"/>
              <a:defRPr sz="2000">
                <a:solidFill>
                  <a:srgbClr val="0000FF"/>
                </a:solidFill>
                <a:latin typeface="楷体_GB2312" pitchFamily="49" charset="-122"/>
                <a:ea typeface="楷体_GB2312" pitchFamily="49" charset="-122"/>
              </a:defRPr>
            </a:lvl4pPr>
            <a:lvl5pPr marL="2057400" indent="-228600">
              <a:spcBef>
                <a:spcPct val="35000"/>
              </a:spcBef>
              <a:buClr>
                <a:schemeClr val="tx2"/>
              </a:buClr>
              <a:buChar char="»"/>
              <a:defRPr sz="2000">
                <a:solidFill>
                  <a:srgbClr val="0000FF"/>
                </a:solidFill>
                <a:latin typeface="楷体_GB2312" pitchFamily="49" charset="-122"/>
                <a:ea typeface="楷体_GB2312" pitchFamily="49" charset="-122"/>
              </a:defRPr>
            </a:lvl5pPr>
            <a:lvl6pPr marL="25146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6pPr>
            <a:lvl7pPr marL="29718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7pPr>
            <a:lvl8pPr marL="34290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8pPr>
            <a:lvl9pPr marL="3886200" indent="-228600" eaLnBrk="0" fontAlgn="base" hangingPunct="0">
              <a:spcBef>
                <a:spcPct val="35000"/>
              </a:spcBef>
              <a:spcAft>
                <a:spcPct val="0"/>
              </a:spcAft>
              <a:buClr>
                <a:schemeClr val="tx2"/>
              </a:buClr>
              <a:buChar char="»"/>
              <a:defRPr sz="2000">
                <a:solidFill>
                  <a:srgbClr val="0000FF"/>
                </a:solidFill>
                <a:latin typeface="楷体_GB2312" pitchFamily="49" charset="-122"/>
                <a:ea typeface="楷体_GB2312" pitchFamily="49" charset="-122"/>
              </a:defRPr>
            </a:lvl9pPr>
          </a:lstStyle>
          <a:p>
            <a:pPr>
              <a:spcBef>
                <a:spcPct val="50000"/>
              </a:spcBef>
              <a:buClrTx/>
              <a:buSzTx/>
              <a:buFontTx/>
              <a:buNone/>
            </a:pPr>
            <a:r>
              <a:rPr lang="zh-CN" altLang="en-US" sz="1200">
                <a:solidFill>
                  <a:schemeClr val="bg2"/>
                </a:solidFill>
                <a:latin typeface="Times New Roman" panose="02020603050405020304" pitchFamily="18" charset="0"/>
                <a:ea typeface="宋体" panose="02010600030101010101" pitchFamily="2" charset="-122"/>
              </a:rPr>
              <a:t>第</a:t>
            </a:r>
            <a:fld id="{87939FFE-6DDB-43EA-B9C0-35E879B4EFA8}" type="slidenum">
              <a:rPr lang="zh-CN" altLang="en-US" sz="1200" smtClean="0">
                <a:solidFill>
                  <a:schemeClr val="bg2"/>
                </a:solidFill>
                <a:latin typeface="Times New Roman" panose="02020603050405020304" pitchFamily="18" charset="0"/>
                <a:ea typeface="宋体" panose="02010600030101010101" pitchFamily="2" charset="-122"/>
              </a:rPr>
              <a:pPr>
                <a:spcBef>
                  <a:spcPct val="50000"/>
                </a:spcBef>
                <a:buClrTx/>
                <a:buSzTx/>
                <a:buFontTx/>
                <a:buNone/>
              </a:pPr>
              <a:t>59</a:t>
            </a:fld>
            <a:r>
              <a:rPr lang="zh-CN" altLang="en-US" sz="1200">
                <a:solidFill>
                  <a:schemeClr val="bg2"/>
                </a:solidFill>
                <a:latin typeface="Times New Roman" panose="02020603050405020304" pitchFamily="18" charset="0"/>
                <a:ea typeface="宋体" panose="02010600030101010101" pitchFamily="2" charset="-122"/>
              </a:rPr>
              <a:t>页</a:t>
            </a:r>
          </a:p>
        </p:txBody>
      </p:sp>
    </p:spTree>
  </p:cSld>
  <p:clrMapOvr>
    <a:masterClrMapping/>
  </p:clrMapOvr>
  <p:transition>
    <p:newsflash/>
  </p:transition>
</p:sld>
</file>

<file path=ppt/theme/theme1.xml><?xml version="1.0" encoding="utf-8"?>
<a:theme xmlns:a="http://schemas.openxmlformats.org/drawingml/2006/main" name="1_竹鸟">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1_竹鸟">
      <a:majorFont>
        <a:latin typeface="隶书"/>
        <a:ea typeface="隶书"/>
        <a:cs typeface=""/>
      </a:majorFont>
      <a:minorFont>
        <a:latin typeface="楷体_GB2312"/>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rgbClr val="0000FF"/>
            </a:solidFill>
            <a:effectLst/>
            <a:latin typeface="Helvetica" pitchFamily="2" charset="0"/>
            <a:ea typeface="宋体" pitchFamily="2"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rgbClr val="0000FF"/>
            </a:solidFill>
            <a:effectLst/>
            <a:latin typeface="Helvetica" pitchFamily="2" charset="0"/>
            <a:ea typeface="宋体" pitchFamily="2" charset="-122"/>
          </a:defRPr>
        </a:defPPr>
      </a:lstStyle>
    </a:lnDef>
  </a:objectDefaults>
  <a:extraClrSchemeLst>
    <a:extraClrScheme>
      <a:clrScheme name="1_竹鸟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竹鸟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竹鸟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鸟竹</Template>
  <TotalTime>1062</TotalTime>
  <Pages>0</Pages>
  <Words>6833</Words>
  <Characters>0</Characters>
  <Application>Microsoft Office PowerPoint</Application>
  <DocSecurity>0</DocSecurity>
  <PresentationFormat>信纸(8.5x11 英寸)</PresentationFormat>
  <Lines>0</Lines>
  <Paragraphs>558</Paragraphs>
  <Slides>59</Slides>
  <Notes>1</Notes>
  <HiddenSlides>1</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59</vt:i4>
      </vt:variant>
    </vt:vector>
  </HeadingPairs>
  <TitlesOfParts>
    <vt:vector size="73" baseType="lpstr">
      <vt:lpstr>Monotype Sorts</vt:lpstr>
      <vt:lpstr>楷体_GB2312</vt:lpstr>
      <vt:lpstr>隶书</vt:lpstr>
      <vt:lpstr>宋体</vt:lpstr>
      <vt:lpstr>Arial</vt:lpstr>
      <vt:lpstr>Cambria Math</vt:lpstr>
      <vt:lpstr>Helvetica</vt:lpstr>
      <vt:lpstr>Tahoma</vt:lpstr>
      <vt:lpstr>Times New Roman</vt:lpstr>
      <vt:lpstr>Wingdings</vt:lpstr>
      <vt:lpstr>1_竹鸟</vt:lpstr>
      <vt:lpstr>Equation</vt:lpstr>
      <vt:lpstr>公式</vt:lpstr>
      <vt:lpstr>Photo Editor Photo</vt:lpstr>
      <vt:lpstr>算法与计算理论  Algorithms and Computational Theory</vt:lpstr>
      <vt:lpstr>主要内容</vt:lpstr>
      <vt:lpstr>近似算法</vt:lpstr>
      <vt:lpstr>顶点覆盖问题</vt:lpstr>
      <vt:lpstr>最小顶点覆盖的一个近似算法</vt:lpstr>
      <vt:lpstr>最小顶点覆盖的一个近似算法</vt:lpstr>
      <vt:lpstr>k-优算法</vt:lpstr>
      <vt:lpstr>最大割集</vt:lpstr>
      <vt:lpstr>最大割集的近似算法</vt:lpstr>
      <vt:lpstr>最大割集的近似算法</vt:lpstr>
      <vt:lpstr>TSP问题</vt:lpstr>
      <vt:lpstr>TSP问题</vt:lpstr>
      <vt:lpstr>TSP问题-例子</vt:lpstr>
      <vt:lpstr>一般图上的TSP问题</vt:lpstr>
      <vt:lpstr>集合覆盖问题</vt:lpstr>
      <vt:lpstr>PowerPoint 演示文稿</vt:lpstr>
      <vt:lpstr>PowerPoint 演示文稿</vt:lpstr>
      <vt:lpstr>PowerPoint 演示文稿</vt:lpstr>
      <vt:lpstr>主要内容</vt:lpstr>
      <vt:lpstr>米凯尔·拉宾 (Michael O．Rabin) </vt:lpstr>
      <vt:lpstr>概率算法</vt:lpstr>
      <vt:lpstr>概率算法</vt:lpstr>
      <vt:lpstr>概率图灵机</vt:lpstr>
      <vt:lpstr>BPP 类</vt:lpstr>
      <vt:lpstr>BPP 类</vt:lpstr>
      <vt:lpstr>证明</vt:lpstr>
      <vt:lpstr>证明</vt:lpstr>
      <vt:lpstr>素数性</vt:lpstr>
      <vt:lpstr>费马小定理</vt:lpstr>
      <vt:lpstr>测试伪素数的多项式概率算法</vt:lpstr>
      <vt:lpstr>避免卡米切尔数的算法 PRIME</vt:lpstr>
      <vt:lpstr>避免卡米切尔数的算法 PRIME</vt:lpstr>
      <vt:lpstr>素数性概率算法的正确性说明</vt:lpstr>
      <vt:lpstr>素数性</vt:lpstr>
      <vt:lpstr>素数性</vt:lpstr>
      <vt:lpstr>素数性</vt:lpstr>
      <vt:lpstr>素数性</vt:lpstr>
      <vt:lpstr>素数性概率算法</vt:lpstr>
      <vt:lpstr>一些扩展的随机问题</vt:lpstr>
      <vt:lpstr>一些扩展的随机问题</vt:lpstr>
      <vt:lpstr>一些扩展的随机问题</vt:lpstr>
      <vt:lpstr>主要内容</vt:lpstr>
      <vt:lpstr>参数算法</vt:lpstr>
      <vt:lpstr>参数算法</vt:lpstr>
      <vt:lpstr>点覆盖问题</vt:lpstr>
      <vt:lpstr>点覆盖问题</vt:lpstr>
      <vt:lpstr>点覆盖问题</vt:lpstr>
      <vt:lpstr>点覆盖问题</vt:lpstr>
      <vt:lpstr>点覆盖问题</vt:lpstr>
      <vt:lpstr>点覆盖问题</vt:lpstr>
      <vt:lpstr>边支配集问题</vt:lpstr>
      <vt:lpstr>反馈集问题</vt:lpstr>
      <vt:lpstr>多终端割问题</vt:lpstr>
      <vt:lpstr>更多参数算法问题</vt:lpstr>
      <vt:lpstr>更多参数算法问题</vt:lpstr>
      <vt:lpstr>参考书籍</vt:lpstr>
      <vt:lpstr>课堂思考题</vt:lpstr>
      <vt:lpstr>PowerPoint 演示文稿</vt:lpstr>
      <vt:lpstr>学习是快乐的～ 每天坚持思考~~</vt:lpstr>
    </vt:vector>
  </TitlesOfParts>
  <Manager/>
  <Company>四川大学计算机学院</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可计算理论课件</dc:title>
  <dc:subject/>
  <dc:creator>肖鸣宇</dc:creator>
  <cp:keywords/>
  <dc:description/>
  <cp:lastModifiedBy>MingyuXiao</cp:lastModifiedBy>
  <cp:revision>250</cp:revision>
  <dcterms:created xsi:type="dcterms:W3CDTF">2001-08-27T07:35:01Z</dcterms:created>
  <dcterms:modified xsi:type="dcterms:W3CDTF">2025-12-18T02:06:12Z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2052-8.1.0.3526</vt:lpwstr>
  </property>
</Properties>
</file>