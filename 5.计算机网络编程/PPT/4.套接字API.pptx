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5" r:id="rId5"/>
    <p:sldId id="270" r:id="rId6"/>
    <p:sldId id="257" r:id="rId7"/>
    <p:sldId id="298" r:id="rId8"/>
    <p:sldId id="261" r:id="rId9"/>
    <p:sldId id="272" r:id="rId10"/>
    <p:sldId id="274" r:id="rId11"/>
    <p:sldId id="275" r:id="rId12"/>
    <p:sldId id="276" r:id="rId13"/>
    <p:sldId id="277" r:id="rId14"/>
    <p:sldId id="278" r:id="rId15"/>
    <p:sldId id="284" r:id="rId16"/>
    <p:sldId id="285" r:id="rId17"/>
    <p:sldId id="296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9" r:id="rId28"/>
    <p:sldId id="300" r:id="rId29"/>
    <p:sldId id="301" r:id="rId30"/>
    <p:sldId id="279" r:id="rId31"/>
    <p:sldId id="280" r:id="rId32"/>
    <p:sldId id="281" r:id="rId33"/>
    <p:sldId id="282" r:id="rId3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600CC"/>
    <a:srgbClr val="CC3300"/>
    <a:srgbClr val="009900"/>
    <a:srgbClr val="FF3300"/>
    <a:srgbClr val="990099"/>
    <a:srgbClr val="80008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0" autoAdjust="0"/>
    <p:restoredTop sz="94104" autoAdjust="0"/>
  </p:normalViewPr>
  <p:slideViewPr>
    <p:cSldViewPr showGuides="1">
      <p:cViewPr varScale="1">
        <p:scale>
          <a:sx n="142" d="100"/>
          <a:sy n="142" d="100"/>
        </p:scale>
        <p:origin x="54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30.xml"/><Relationship Id="rId8" Type="http://schemas.openxmlformats.org/officeDocument/2006/relationships/slide" Target="slides/slide29.xml"/><Relationship Id="rId7" Type="http://schemas.openxmlformats.org/officeDocument/2006/relationships/slide" Target="slides/slide28.xml"/><Relationship Id="rId6" Type="http://schemas.openxmlformats.org/officeDocument/2006/relationships/slide" Target="slides/slide24.xml"/><Relationship Id="rId5" Type="http://schemas.openxmlformats.org/officeDocument/2006/relationships/slide" Target="slides/slide11.xml"/><Relationship Id="rId4" Type="http://schemas.openxmlformats.org/officeDocument/2006/relationships/slide" Target="slides/slide10.xml"/><Relationship Id="rId3" Type="http://schemas.openxmlformats.org/officeDocument/2006/relationships/slide" Target="slides/slide9.xml"/><Relationship Id="rId2" Type="http://schemas.openxmlformats.org/officeDocument/2006/relationships/slide" Target="slides/slide8.xml"/><Relationship Id="rId10" Type="http://schemas.openxmlformats.org/officeDocument/2006/relationships/slide" Target="slides/slide31.xml"/><Relationship Id="rId1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829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829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9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3773F99C-F5D8-42E2-A01A-946B6A9F4762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D610D-3F73-409A-AFD5-D0F8EF9F0F43}" type="slidenum">
              <a:rPr lang="en-US" altLang="zh-CN"/>
            </a:fld>
            <a:endParaRPr lang="en-US" altLang="zh-CN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857ACA-D293-4560-BC84-83D345ED1EB4}" type="slidenum">
              <a:rPr lang="en-US" altLang="zh-CN"/>
            </a:fld>
            <a:endParaRPr lang="en-US" altLang="zh-CN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4FD419-DD54-4900-B087-A3FE5D2D420A}" type="slidenum">
              <a:rPr lang="en-US" altLang="zh-CN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93132-2C9E-46F4-96D5-305D0F395373}" type="slidenum">
              <a:rPr lang="en-US" altLang="zh-CN"/>
            </a:fld>
            <a:endParaRPr lang="en-US" altLang="zh-CN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C0B515-45A4-49DC-9248-CC2E83C0B0C6}" type="slidenum">
              <a:rPr lang="en-US" altLang="zh-CN"/>
            </a:fld>
            <a:endParaRPr lang="en-US" altLang="zh-CN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C5D1BB-8DE8-4C71-BAEC-1DBE8498651B}" type="slidenum">
              <a:rPr lang="en-US" altLang="zh-CN"/>
            </a:fld>
            <a:endParaRPr lang="en-US" altLang="zh-CN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85E070-5535-4A73-9F98-25E140E120C0}" type="slidenum">
              <a:rPr lang="en-US" altLang="zh-CN"/>
            </a:fld>
            <a:endParaRPr lang="en-US" altLang="zh-CN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FF27E8-7A7F-4DE8-896D-FDF32719B5FC}" type="slidenum">
              <a:rPr lang="en-US" altLang="zh-CN"/>
            </a:fld>
            <a:endParaRPr lang="en-US" altLang="zh-CN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71F7A2-95A8-4AA4-B4D6-78C8984E36BC}" type="slidenum">
              <a:rPr lang="en-US" altLang="zh-CN"/>
            </a:fld>
            <a:endParaRPr lang="en-US" altLang="zh-CN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B49D3C-DB79-4959-BB1B-2DCA222CA292}" type="slidenum">
              <a:rPr lang="en-US" altLang="zh-CN"/>
            </a:fld>
            <a:endParaRPr lang="en-US" altLang="zh-CN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C76D79-361D-4149-AE8A-2A9246761437}" type="slidenum">
              <a:rPr lang="en-US" altLang="zh-CN"/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9FA03F-7083-4D09-BFBE-E0F6F596DA44}" type="slidenum">
              <a:rPr lang="en-US" altLang="zh-CN"/>
            </a:fld>
            <a:endParaRPr lang="en-US" altLang="zh-CN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2B17F8-6820-468D-92C4-039002DB15D5}" type="slidenum">
              <a:rPr lang="en-US" altLang="zh-CN"/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CC4B68-FCA2-4BB3-9073-D6C116C763EB}" type="slidenum">
              <a:rPr lang="en-US" altLang="zh-CN"/>
            </a:fld>
            <a:endParaRPr lang="en-US" altLang="zh-CN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1" hangingPunct="1"/>
            <a:fld id="{1EF53A13-2417-4DB4-8B72-1B35CAB84623}" type="slidenum">
              <a:rPr lang="en-US" altLang="zh-CN" sz="1200"/>
            </a:fld>
            <a:endParaRPr lang="en-US" altLang="zh-CN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B10A6-729E-44F6-95AF-0A5B3E24442E}" type="slidenum">
              <a:rPr lang="en-US" altLang="zh-CN"/>
            </a:fld>
            <a:endParaRPr lang="en-US" altLang="zh-CN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9A3219-5376-4B98-8820-C4D5AB9DD24A}" type="slidenum">
              <a:rPr lang="en-US" altLang="zh-CN"/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F9C664-09A1-4CBA-A970-90729CB8C04C}" type="slidenum">
              <a:rPr lang="en-US" altLang="zh-CN"/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9451A3-B07A-40EE-9497-4940A0BB4157}" type="slidenum">
              <a:rPr lang="en-US" altLang="zh-CN"/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E4D95A-22E7-4D59-9993-001C38FC2342}" type="slidenum">
              <a:rPr lang="en-US" altLang="zh-CN"/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490965-66CE-468F-B35E-6EEC34990B69}" type="slidenum">
              <a:rPr lang="en-US" altLang="zh-CN"/>
            </a:fld>
            <a:endParaRPr lang="en-US" altLang="zh-CN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D849C8-8B4C-4D7B-8EB3-4C69A6D22946}" type="slidenum">
              <a:rPr lang="en-US" altLang="zh-CN"/>
            </a:fld>
            <a:endParaRPr lang="en-US" altLang="zh-CN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C4CB5C-8F29-4208-9AB8-C6666B574152}" type="slidenum">
              <a:rPr lang="en-US" altLang="zh-CN"/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96E394-9D9D-4220-9C6A-0BA7577DA60A}" type="slidenum">
              <a:rPr lang="en-US" altLang="zh-CN"/>
            </a:fld>
            <a:endParaRPr lang="en-US" altLang="zh-CN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0042ED8-38BE-435A-82DC-6B3D3A9EE95F}" type="slidenum">
              <a:rPr lang="en-US" altLang="zh-CN" smtClean="0"/>
            </a:fld>
            <a:endParaRPr lang="en-US" altLang="zh-CN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2150"/>
            <a:ext cx="4554537" cy="3416300"/>
          </a:xfrm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4113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F548419-C2E0-4B71-BE3F-8DA40BCE470A}" type="slidenum">
              <a:rPr lang="en-US" altLang="zh-CN" smtClean="0"/>
            </a:fld>
            <a:endParaRPr lang="en-US" altLang="zh-CN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2150"/>
            <a:ext cx="4554537" cy="3416300"/>
          </a:xfrm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4113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F2368E-AD00-4048-9DEB-8E0B17B294B5}" type="slidenum">
              <a:rPr lang="en-US" altLang="zh-CN" smtClean="0"/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2150"/>
            <a:ext cx="4554537" cy="3416300"/>
          </a:xfrm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4113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5E5E9F-1408-4AB4-BA73-4863DA5BB601}" type="slidenum">
              <a:rPr lang="en-US" altLang="zh-CN"/>
            </a:fld>
            <a:endParaRPr lang="en-US" altLang="zh-CN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5EE33F-5CE4-4AFD-85D2-5E59F920ECA1}" type="slidenum">
              <a:rPr lang="en-US" altLang="zh-CN"/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97F596-1BE3-44AA-9FBB-8A36892D0E22}" type="slidenum">
              <a:rPr lang="en-US" altLang="zh-CN"/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E3D90-2951-42EB-818A-ED2654A1F2C2}" type="slidenum">
              <a:rPr lang="en-US" altLang="zh-CN"/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15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918450" cy="1470025"/>
          </a:xfrm>
        </p:spPr>
        <p:txBody>
          <a:bodyPr/>
          <a:lstStyle>
            <a:lvl1pPr algn="ctr">
              <a:defRPr>
                <a:solidFill>
                  <a:srgbClr val="FF33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76700"/>
            <a:ext cx="6400800" cy="15621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408BEB-56C8-4E22-8563-C5050B2A67D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E23981-E91B-4DAF-AD17-4F51B9AA6A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039FDD-A995-4386-ACC2-0CDEE6B9E6B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1A4041-9F17-42AB-B104-948367E8CA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3C851F-A6DA-45E3-80D0-8E83E44919C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E3CD82-B3B5-4C3F-9317-6B09F77106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A98E2E-F5E0-4A8A-B9A7-4340CCAF773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C58615-3984-49EF-8238-88A8B12899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DC691B-76A7-4491-B48F-517BD9A9CE0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2DE67-C60E-4EB9-BB54-E988F37D1D3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0"/>
            <a:ext cx="2239963" cy="61261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572250" cy="61261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48517-5A9B-4792-8E69-E58B6D7685E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pt_b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053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964613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05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fld id="{E8140926-6B1C-41A3-AC68-F6414676128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0000"/>
        </a:spcBef>
        <a:spcAft>
          <a:spcPct val="0"/>
        </a:spcAft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611188" y="1484313"/>
            <a:ext cx="8242300" cy="1308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altLang="zh-CN" sz="51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《</a:t>
            </a:r>
            <a:r>
              <a:rPr lang="zh-CN" altLang="en-US" sz="51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计算机通信与网络编程</a:t>
            </a:r>
            <a:r>
              <a:rPr lang="en-US" altLang="zh-CN" sz="5100" b="1" dirty="0">
                <a:solidFill>
                  <a:srgbClr val="FFC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》</a:t>
            </a:r>
            <a:endParaRPr lang="en-US" altLang="zh-CN" sz="5100" b="1" dirty="0">
              <a:solidFill>
                <a:srgbClr val="FFC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500438"/>
            <a:ext cx="8062912" cy="20113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>
                <a:solidFill>
                  <a:srgbClr val="FFC000"/>
                </a:solidFill>
              </a:rPr>
              <a:t>第四讲 套接字</a:t>
            </a:r>
            <a:r>
              <a:rPr lang="en-US" altLang="zh-CN" sz="3600" dirty="0">
                <a:solidFill>
                  <a:srgbClr val="FFC000"/>
                </a:solidFill>
              </a:rPr>
              <a:t>API</a:t>
            </a:r>
            <a:endParaRPr lang="en-US" altLang="zh-CN" sz="3600" dirty="0">
              <a:solidFill>
                <a:srgbClr val="FFC000"/>
              </a:solidFill>
            </a:endParaRPr>
          </a:p>
          <a:p>
            <a:pPr eaLnBrk="1" hangingPunct="1">
              <a:defRPr/>
            </a:pPr>
            <a:endParaRPr lang="en-US" altLang="zh-CN" sz="3600" dirty="0">
              <a:solidFill>
                <a:srgbClr val="FFC000"/>
              </a:solidFill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         电子科技大学计算机学院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3200"/>
              <a:t>套接字</a:t>
            </a:r>
            <a:r>
              <a:rPr lang="en-US" altLang="zh-CN" sz="3200"/>
              <a:t>API</a:t>
            </a:r>
            <a:r>
              <a:rPr lang="zh-CN" altLang="en-US" sz="3200"/>
              <a:t>介绍</a:t>
            </a:r>
            <a:endParaRPr lang="zh-CN" altLang="en-US" sz="320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3200"/>
              <a:t>套接字</a:t>
            </a:r>
            <a:r>
              <a:rPr lang="en-US" altLang="zh-CN" sz="3200"/>
              <a:t>API</a:t>
            </a:r>
            <a:r>
              <a:rPr lang="zh-CN" altLang="en-US" sz="3200"/>
              <a:t>中的主要系统调用</a:t>
            </a:r>
            <a:endParaRPr lang="zh-CN" altLang="en-US" sz="320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3200"/>
              <a:t>在程序中使用套接字调用</a:t>
            </a:r>
            <a:endParaRPr lang="zh-CN" altLang="en-US" sz="320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867400" y="1916113"/>
            <a:ext cx="3019425" cy="30241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什么是套接字</a:t>
            </a:r>
            <a:endParaRPr lang="en-US" altLang="zh-CN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600200"/>
            <a:ext cx="8569325" cy="4530725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3200" b="0"/>
              <a:t>来自</a:t>
            </a:r>
            <a:r>
              <a:rPr lang="en-US" altLang="zh-CN" sz="3200" b="0"/>
              <a:t>UNIX</a:t>
            </a:r>
            <a:r>
              <a:rPr lang="zh-CN" altLang="en-US" sz="3200" b="0"/>
              <a:t>系统</a:t>
            </a:r>
            <a:endParaRPr lang="zh-CN" altLang="en-US" sz="3200" b="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3200" b="0">
                <a:solidFill>
                  <a:srgbClr val="FF0000"/>
                </a:solidFill>
              </a:rPr>
              <a:t>Berkeley</a:t>
            </a:r>
            <a:r>
              <a:rPr lang="zh-CN" altLang="en-US" sz="3200" b="0">
                <a:solidFill>
                  <a:srgbClr val="FF0000"/>
                </a:solidFill>
              </a:rPr>
              <a:t>套接字</a:t>
            </a:r>
            <a:endParaRPr lang="zh-CN" altLang="en-US" sz="3200" b="0"/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800">
                <a:solidFill>
                  <a:srgbClr val="6600CC"/>
                </a:solidFill>
                <a:ea typeface="宋体" panose="02010600030101010101" pitchFamily="2" charset="-122"/>
              </a:rPr>
              <a:t>ARPA</a:t>
            </a: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要求伯克利分校将</a:t>
            </a:r>
            <a:r>
              <a:rPr lang="en-US" altLang="zh-CN" sz="2800">
                <a:solidFill>
                  <a:srgbClr val="6600CC"/>
                </a:solidFill>
                <a:ea typeface="宋体" panose="02010600030101010101" pitchFamily="2" charset="-122"/>
              </a:rPr>
              <a:t>TCP/IP</a:t>
            </a: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移植到</a:t>
            </a:r>
            <a:r>
              <a:rPr lang="en-US" altLang="zh-CN" sz="2800">
                <a:solidFill>
                  <a:srgbClr val="6600CC"/>
                </a:solidFill>
                <a:ea typeface="宋体" panose="02010600030101010101" pitchFamily="2" charset="-122"/>
              </a:rPr>
              <a:t>UNIX</a:t>
            </a: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中</a:t>
            </a:r>
            <a:endParaRPr lang="zh-CN" altLang="en-US" sz="28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需要创建一个接口，便于应用程序使用这个接口进行网络通信</a:t>
            </a:r>
            <a:endParaRPr lang="zh-CN" altLang="en-US" sz="28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尽可能使用现有的系统调用，称为</a:t>
            </a:r>
            <a:r>
              <a:rPr lang="en-US" altLang="zh-CN" sz="2800">
                <a:solidFill>
                  <a:srgbClr val="6600CC"/>
                </a:solidFill>
                <a:ea typeface="宋体" panose="02010600030101010101" pitchFamily="2" charset="-122"/>
              </a:rPr>
              <a:t>BSD UNIX </a:t>
            </a: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套接字</a:t>
            </a:r>
            <a:endParaRPr lang="zh-CN" altLang="en-US" sz="28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成为事实上的标准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什么是套接字</a:t>
            </a:r>
            <a:endParaRPr lang="zh-CN" altLang="en-US"/>
          </a:p>
        </p:txBody>
      </p:sp>
      <p:pic>
        <p:nvPicPr>
          <p:cNvPr id="10243" name="图片 1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71550" y="1358900"/>
            <a:ext cx="7481888" cy="531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什么是套接字</a:t>
            </a:r>
            <a:endParaRPr lang="zh-CN" altLang="en-US"/>
          </a:p>
        </p:txBody>
      </p:sp>
      <p:pic>
        <p:nvPicPr>
          <p:cNvPr id="12291" name="图片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-107950" y="1400175"/>
            <a:ext cx="489585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图片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7900" y="1143000"/>
            <a:ext cx="4356100" cy="558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什么是套接字</a:t>
            </a:r>
            <a:endParaRPr lang="zh-CN" altLang="en-US"/>
          </a:p>
        </p:txBody>
      </p:sp>
      <p:sp>
        <p:nvSpPr>
          <p:cNvPr id="14339" name="Text Box 5"/>
          <p:cNvSpPr txBox="1">
            <a:spLocks noChangeArrowheads="1"/>
          </p:cNvSpPr>
          <p:nvPr/>
        </p:nvSpPr>
        <p:spPr bwMode="auto">
          <a:xfrm>
            <a:off x="622300" y="1506538"/>
            <a:ext cx="7921625" cy="191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r>
              <a:rPr lang="en-US" altLang="zh-CN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1. </a:t>
            </a:r>
            <a:r>
              <a:rPr lang="zh-CN" altLang="en-US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套接字是一个主机本地应用程序所创建的</a:t>
            </a:r>
            <a:r>
              <a:rPr lang="en-US" altLang="zh-CN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, </a:t>
            </a:r>
            <a:r>
              <a:rPr lang="zh-CN" altLang="en-US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为操作系统所控制的接口 </a:t>
            </a:r>
            <a:r>
              <a:rPr lang="en-US" altLang="zh-CN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(“</a:t>
            </a:r>
            <a:r>
              <a:rPr lang="zh-CN" altLang="en-US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门”</a:t>
            </a:r>
            <a:r>
              <a:rPr lang="en-US" altLang="zh-CN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) .</a:t>
            </a:r>
            <a:endParaRPr lang="en-US" altLang="zh-CN" sz="2400" b="1" i="1">
              <a:solidFill>
                <a:srgbClr val="FF3300"/>
              </a:solidFill>
              <a:latin typeface="Comic Sans MS" panose="030F0702030302020204" pitchFamily="66" charset="0"/>
            </a:endParaRPr>
          </a:p>
          <a:p>
            <a:r>
              <a:rPr lang="en-US" altLang="zh-CN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2. </a:t>
            </a:r>
            <a:r>
              <a:rPr lang="zh-CN" altLang="en-US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应用进程通过这个接口</a:t>
            </a:r>
            <a:r>
              <a:rPr lang="en-US" altLang="zh-CN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,</a:t>
            </a:r>
            <a:r>
              <a:rPr lang="zh-CN" altLang="en-US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使用传输层提供的服务</a:t>
            </a:r>
            <a:r>
              <a:rPr lang="en-US" altLang="zh-CN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, </a:t>
            </a:r>
            <a:r>
              <a:rPr lang="zh-CN" altLang="en-US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跨网络发送</a:t>
            </a:r>
            <a:r>
              <a:rPr lang="en-US" altLang="zh-CN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(/</a:t>
            </a:r>
            <a:r>
              <a:rPr lang="zh-CN" altLang="en-US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接收</a:t>
            </a:r>
            <a:r>
              <a:rPr lang="en-US" altLang="zh-CN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)</a:t>
            </a:r>
            <a:r>
              <a:rPr lang="zh-CN" altLang="en-US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消息到</a:t>
            </a:r>
            <a:r>
              <a:rPr lang="en-US" altLang="zh-CN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(/</a:t>
            </a:r>
            <a:r>
              <a:rPr lang="zh-CN" altLang="en-US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从</a:t>
            </a:r>
            <a:r>
              <a:rPr lang="en-US" altLang="zh-CN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)</a:t>
            </a:r>
            <a:r>
              <a:rPr lang="zh-CN" altLang="en-US" sz="2400" b="1" i="1">
                <a:solidFill>
                  <a:srgbClr val="FF3300"/>
                </a:solidFill>
                <a:latin typeface="Comic Sans MS" panose="030F0702030302020204" pitchFamily="66" charset="0"/>
              </a:rPr>
              <a:t>其他应用进程。</a:t>
            </a:r>
            <a:endParaRPr lang="zh-CN" altLang="en-US" sz="2400" b="1" i="1">
              <a:solidFill>
                <a:srgbClr val="FF3300"/>
              </a:solidFill>
              <a:latin typeface="Comic Sans MS" panose="030F0702030302020204" pitchFamily="66" charset="0"/>
            </a:endParaRPr>
          </a:p>
          <a:p>
            <a:r>
              <a:rPr lang="en-US" altLang="zh-CN" sz="2400" b="1" i="1">
                <a:solidFill>
                  <a:srgbClr val="FF3300"/>
                </a:solidFill>
              </a:rPr>
              <a:t>3.Client/server</a:t>
            </a:r>
            <a:r>
              <a:rPr lang="zh-CN" altLang="en-US" sz="2400" b="1" i="1">
                <a:solidFill>
                  <a:srgbClr val="FF3300"/>
                </a:solidFill>
              </a:rPr>
              <a:t>模式的通信接口</a:t>
            </a:r>
            <a:r>
              <a:rPr lang="en-US" altLang="zh-CN" sz="2400" b="1" i="1">
                <a:solidFill>
                  <a:srgbClr val="FF3300"/>
                </a:solidFill>
              </a:rPr>
              <a:t>——</a:t>
            </a:r>
            <a:r>
              <a:rPr lang="zh-CN" altLang="en-US" sz="2400" b="1" i="1">
                <a:solidFill>
                  <a:srgbClr val="FF3300"/>
                </a:solidFill>
              </a:rPr>
              <a:t>套接字接口</a:t>
            </a:r>
            <a:r>
              <a:rPr lang="en-US" altLang="zh-CN" sz="2400" b="1" i="1">
                <a:solidFill>
                  <a:srgbClr val="FF3300"/>
                </a:solidFill>
              </a:rPr>
              <a:t>.</a:t>
            </a:r>
            <a:endParaRPr lang="en-US" altLang="zh-CN" sz="2400" b="1" i="1">
              <a:solidFill>
                <a:srgbClr val="FF3300"/>
              </a:solidFill>
            </a:endParaRPr>
          </a:p>
        </p:txBody>
      </p:sp>
      <p:grpSp>
        <p:nvGrpSpPr>
          <p:cNvPr id="14340" name="Group 10"/>
          <p:cNvGrpSpPr/>
          <p:nvPr/>
        </p:nvGrpSpPr>
        <p:grpSpPr bwMode="auto">
          <a:xfrm>
            <a:off x="96838" y="3644900"/>
            <a:ext cx="8251825" cy="2894013"/>
            <a:chOff x="190" y="1787"/>
            <a:chExt cx="5198" cy="1823"/>
          </a:xfrm>
        </p:grpSpPr>
        <p:graphicFrame>
          <p:nvGraphicFramePr>
            <p:cNvPr id="14341" name="Object 11"/>
            <p:cNvGraphicFramePr>
              <a:graphicFrameLocks noChangeAspect="1"/>
            </p:cNvGraphicFramePr>
            <p:nvPr/>
          </p:nvGraphicFramePr>
          <p:xfrm>
            <a:off x="1306" y="1853"/>
            <a:ext cx="708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3" name="Clip" r:id="rId1" imgW="1307465" imgH="1083945" progId="MS_ClipArt_Gallery.2">
                    <p:embed/>
                  </p:oleObj>
                </mc:Choice>
                <mc:Fallback>
                  <p:oleObj name="Clip" r:id="rId1" imgW="1307465" imgH="1083945" progId="MS_ClipArt_Gallery.2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6" y="1853"/>
                          <a:ext cx="708" cy="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42" name="Group 12"/>
            <p:cNvGrpSpPr/>
            <p:nvPr/>
          </p:nvGrpSpPr>
          <p:grpSpPr bwMode="auto">
            <a:xfrm>
              <a:off x="1333" y="2068"/>
              <a:ext cx="716" cy="998"/>
              <a:chOff x="649" y="2260"/>
              <a:chExt cx="716" cy="998"/>
            </a:xfrm>
          </p:grpSpPr>
          <p:sp>
            <p:nvSpPr>
              <p:cNvPr id="14366" name="Rectangle 13"/>
              <p:cNvSpPr>
                <a:spLocks noChangeArrowheads="1"/>
              </p:cNvSpPr>
              <p:nvPr/>
            </p:nvSpPr>
            <p:spPr bwMode="auto">
              <a:xfrm>
                <a:off x="678" y="2280"/>
                <a:ext cx="642" cy="28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/>
                <a:endParaRPr lang="zh-CN" altLang="zh-CN" sz="24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67" name="Text Box 14"/>
              <p:cNvSpPr txBox="1">
                <a:spLocks noChangeArrowheads="1"/>
              </p:cNvSpPr>
              <p:nvPr/>
            </p:nvSpPr>
            <p:spPr bwMode="auto">
              <a:xfrm>
                <a:off x="694" y="2260"/>
                <a:ext cx="631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702030302020204" pitchFamily="66" charset="0"/>
                  </a:rPr>
                  <a:t>process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368" name="Group 15"/>
              <p:cNvGrpSpPr/>
              <p:nvPr/>
            </p:nvGrpSpPr>
            <p:grpSpPr bwMode="auto">
              <a:xfrm>
                <a:off x="649" y="2628"/>
                <a:ext cx="716" cy="630"/>
                <a:chOff x="637" y="2610"/>
                <a:chExt cx="716" cy="630"/>
              </a:xfrm>
            </p:grpSpPr>
            <p:sp>
              <p:nvSpPr>
                <p:cNvPr id="14372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637" y="2658"/>
                  <a:ext cx="716" cy="5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>
                      <a:latin typeface="Comic Sans MS" panose="030F0702030302020204" pitchFamily="66" charset="0"/>
                    </a:rPr>
                    <a:t>TCP with</a:t>
                  </a:r>
                  <a:endParaRPr lang="en-US" altLang="zh-CN">
                    <a:latin typeface="Comic Sans MS" panose="030F0702030302020204" pitchFamily="66" charset="0"/>
                  </a:endParaRPr>
                </a:p>
                <a:p>
                  <a:pPr algn="ctr"/>
                  <a:r>
                    <a:rPr lang="en-US" altLang="zh-CN">
                      <a:latin typeface="Comic Sans MS" panose="030F0702030302020204" pitchFamily="66" charset="0"/>
                    </a:rPr>
                    <a:t>buffers,</a:t>
                  </a:r>
                  <a:endParaRPr lang="en-US" altLang="zh-CN">
                    <a:latin typeface="Comic Sans MS" panose="030F0702030302020204" pitchFamily="66" charset="0"/>
                  </a:endParaRPr>
                </a:p>
                <a:p>
                  <a:pPr algn="ctr"/>
                  <a:r>
                    <a:rPr lang="en-US" altLang="zh-CN">
                      <a:latin typeface="Comic Sans MS" panose="030F0702030302020204" pitchFamily="66" charset="0"/>
                    </a:rPr>
                    <a:t>variables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73" name="Rectangle 17"/>
                <p:cNvSpPr>
                  <a:spLocks noChangeArrowheads="1"/>
                </p:cNvSpPr>
                <p:nvPr/>
              </p:nvSpPr>
              <p:spPr bwMode="auto">
                <a:xfrm>
                  <a:off x="672" y="2610"/>
                  <a:ext cx="642" cy="63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4369" name="Group 18"/>
              <p:cNvGrpSpPr/>
              <p:nvPr/>
            </p:nvGrpSpPr>
            <p:grpSpPr bwMode="auto">
              <a:xfrm>
                <a:off x="741" y="2500"/>
                <a:ext cx="561" cy="231"/>
                <a:chOff x="897" y="3736"/>
                <a:chExt cx="561" cy="231"/>
              </a:xfrm>
            </p:grpSpPr>
            <p:sp>
              <p:nvSpPr>
                <p:cNvPr id="14370" name="Rectangle 19"/>
                <p:cNvSpPr>
                  <a:spLocks noChangeArrowheads="1"/>
                </p:cNvSpPr>
                <p:nvPr/>
              </p:nvSpPr>
              <p:spPr bwMode="auto">
                <a:xfrm>
                  <a:off x="924" y="3774"/>
                  <a:ext cx="492" cy="15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371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897" y="3736"/>
                  <a:ext cx="561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socket</a:t>
                  </a: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4343" name="Text Box 21"/>
            <p:cNvSpPr txBox="1">
              <a:spLocks noChangeArrowheads="1"/>
            </p:cNvSpPr>
            <p:nvPr/>
          </p:nvSpPr>
          <p:spPr bwMode="auto">
            <a:xfrm>
              <a:off x="466" y="2036"/>
              <a:ext cx="761" cy="3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r"/>
              <a:r>
                <a:rPr lang="zh-CN" altLang="en-US" sz="1600" b="1">
                  <a:latin typeface="Comic Sans MS" panose="030F0702030302020204" pitchFamily="66" charset="0"/>
                </a:rPr>
                <a:t>由应用程序</a:t>
              </a:r>
              <a:endParaRPr lang="zh-CN" altLang="en-US" sz="1600" b="1">
                <a:latin typeface="Comic Sans MS" panose="030F0702030302020204" pitchFamily="66" charset="0"/>
              </a:endParaRPr>
            </a:p>
            <a:p>
              <a:pPr algn="r"/>
              <a:r>
                <a:rPr lang="zh-CN" altLang="en-US" sz="1600" b="1">
                  <a:latin typeface="Comic Sans MS" panose="030F0702030302020204" pitchFamily="66" charset="0"/>
                </a:rPr>
                <a:t>开发者控制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344" name="Text Box 22"/>
            <p:cNvSpPr txBox="1">
              <a:spLocks noChangeArrowheads="1"/>
            </p:cNvSpPr>
            <p:nvPr/>
          </p:nvSpPr>
          <p:spPr bwMode="auto">
            <a:xfrm>
              <a:off x="190" y="2659"/>
              <a:ext cx="1019" cy="2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r"/>
              <a:r>
                <a:rPr lang="zh-CN" altLang="en-US" sz="1600" b="1">
                  <a:latin typeface="Comic Sans MS" panose="030F0702030302020204" pitchFamily="66" charset="0"/>
                </a:rPr>
                <a:t>由操作系统控制</a:t>
              </a:r>
              <a:endParaRPr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4345" name="Line 23"/>
            <p:cNvSpPr>
              <a:spLocks noChangeShapeType="1"/>
            </p:cNvSpPr>
            <p:nvPr/>
          </p:nvSpPr>
          <p:spPr bwMode="auto">
            <a:xfrm flipV="1">
              <a:off x="1224" y="2094"/>
              <a:ext cx="0" cy="3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6" name="Line 24"/>
            <p:cNvSpPr>
              <a:spLocks noChangeShapeType="1"/>
            </p:cNvSpPr>
            <p:nvPr/>
          </p:nvSpPr>
          <p:spPr bwMode="auto">
            <a:xfrm flipH="1" flipV="1">
              <a:off x="1218" y="2460"/>
              <a:ext cx="0" cy="6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7" name="Text Box 25"/>
            <p:cNvSpPr txBox="1">
              <a:spLocks noChangeArrowheads="1"/>
            </p:cNvSpPr>
            <p:nvPr/>
          </p:nvSpPr>
          <p:spPr bwMode="auto">
            <a:xfrm>
              <a:off x="1359" y="3168"/>
              <a:ext cx="654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>
                  <a:latin typeface="Comic Sans MS" panose="030F0702030302020204" pitchFamily="66" charset="0"/>
                </a:rPr>
                <a:t>host or</a:t>
              </a:r>
              <a:endParaRPr lang="en-US" altLang="zh-CN" sz="2000">
                <a:latin typeface="Comic Sans MS" panose="030F0702030302020204" pitchFamily="66" charset="0"/>
              </a:endParaRPr>
            </a:p>
            <a:p>
              <a:pPr algn="ctr"/>
              <a:r>
                <a:rPr lang="en-US" altLang="zh-CN" sz="2000">
                  <a:latin typeface="Comic Sans MS" panose="030F0702030302020204" pitchFamily="66" charset="0"/>
                </a:rPr>
                <a:t>server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48" name="Object 26"/>
            <p:cNvGraphicFramePr>
              <a:graphicFrameLocks noChangeAspect="1"/>
            </p:cNvGraphicFramePr>
            <p:nvPr/>
          </p:nvGraphicFramePr>
          <p:xfrm>
            <a:off x="3610" y="1787"/>
            <a:ext cx="708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4" name="Clip" r:id="rId3" imgW="1307465" imgH="1083945" progId="MS_ClipArt_Gallery.2">
                    <p:embed/>
                  </p:oleObj>
                </mc:Choice>
                <mc:Fallback>
                  <p:oleObj name="Clip" r:id="rId3" imgW="1307465" imgH="1083945" progId="MS_ClipArt_Gallery.2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0" y="1787"/>
                          <a:ext cx="708" cy="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49" name="Group 27"/>
            <p:cNvGrpSpPr/>
            <p:nvPr/>
          </p:nvGrpSpPr>
          <p:grpSpPr bwMode="auto">
            <a:xfrm>
              <a:off x="3637" y="2002"/>
              <a:ext cx="716" cy="998"/>
              <a:chOff x="649" y="2260"/>
              <a:chExt cx="716" cy="998"/>
            </a:xfrm>
          </p:grpSpPr>
          <p:sp>
            <p:nvSpPr>
              <p:cNvPr id="14358" name="Rectangle 28"/>
              <p:cNvSpPr>
                <a:spLocks noChangeArrowheads="1"/>
              </p:cNvSpPr>
              <p:nvPr/>
            </p:nvSpPr>
            <p:spPr bwMode="auto">
              <a:xfrm>
                <a:off x="678" y="2280"/>
                <a:ext cx="642" cy="28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algn="ctr"/>
                <a:endParaRPr lang="zh-CN" altLang="zh-CN" sz="240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59" name="Text Box 29"/>
              <p:cNvSpPr txBox="1">
                <a:spLocks noChangeArrowheads="1"/>
              </p:cNvSpPr>
              <p:nvPr/>
            </p:nvSpPr>
            <p:spPr bwMode="auto">
              <a:xfrm>
                <a:off x="694" y="2260"/>
                <a:ext cx="631" cy="2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>
                    <a:latin typeface="Comic Sans MS" panose="030F0702030302020204" pitchFamily="66" charset="0"/>
                  </a:rPr>
                  <a:t>process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360" name="Group 30"/>
              <p:cNvGrpSpPr/>
              <p:nvPr/>
            </p:nvGrpSpPr>
            <p:grpSpPr bwMode="auto">
              <a:xfrm>
                <a:off x="649" y="2628"/>
                <a:ext cx="716" cy="630"/>
                <a:chOff x="637" y="2610"/>
                <a:chExt cx="716" cy="630"/>
              </a:xfrm>
            </p:grpSpPr>
            <p:sp>
              <p:nvSpPr>
                <p:cNvPr id="14364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637" y="2658"/>
                  <a:ext cx="716" cy="5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>
                      <a:latin typeface="Comic Sans MS" panose="030F0702030302020204" pitchFamily="66" charset="0"/>
                    </a:rPr>
                    <a:t>TCP with</a:t>
                  </a:r>
                  <a:endParaRPr lang="en-US" altLang="zh-CN">
                    <a:latin typeface="Comic Sans MS" panose="030F0702030302020204" pitchFamily="66" charset="0"/>
                  </a:endParaRPr>
                </a:p>
                <a:p>
                  <a:pPr algn="ctr"/>
                  <a:r>
                    <a:rPr lang="en-US" altLang="zh-CN">
                      <a:latin typeface="Comic Sans MS" panose="030F0702030302020204" pitchFamily="66" charset="0"/>
                    </a:rPr>
                    <a:t>buffers,</a:t>
                  </a:r>
                  <a:endParaRPr lang="en-US" altLang="zh-CN">
                    <a:latin typeface="Comic Sans MS" panose="030F0702030302020204" pitchFamily="66" charset="0"/>
                  </a:endParaRPr>
                </a:p>
                <a:p>
                  <a:pPr algn="ctr"/>
                  <a:r>
                    <a:rPr lang="en-US" altLang="zh-CN">
                      <a:latin typeface="Comic Sans MS" panose="030F0702030302020204" pitchFamily="66" charset="0"/>
                    </a:rPr>
                    <a:t>variables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4365" name="Rectangle 32"/>
                <p:cNvSpPr>
                  <a:spLocks noChangeArrowheads="1"/>
                </p:cNvSpPr>
                <p:nvPr/>
              </p:nvSpPr>
              <p:spPr bwMode="auto">
                <a:xfrm>
                  <a:off x="672" y="2610"/>
                  <a:ext cx="642" cy="63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4361" name="Group 33"/>
              <p:cNvGrpSpPr/>
              <p:nvPr/>
            </p:nvGrpSpPr>
            <p:grpSpPr bwMode="auto">
              <a:xfrm>
                <a:off x="741" y="2500"/>
                <a:ext cx="561" cy="231"/>
                <a:chOff x="897" y="3736"/>
                <a:chExt cx="561" cy="231"/>
              </a:xfrm>
            </p:grpSpPr>
            <p:sp>
              <p:nvSpPr>
                <p:cNvPr id="14362" name="Rectangle 34"/>
                <p:cNvSpPr>
                  <a:spLocks noChangeArrowheads="1"/>
                </p:cNvSpPr>
                <p:nvPr/>
              </p:nvSpPr>
              <p:spPr bwMode="auto">
                <a:xfrm>
                  <a:off x="924" y="3774"/>
                  <a:ext cx="492" cy="15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4363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897" y="3736"/>
                  <a:ext cx="561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>
                      <a:solidFill>
                        <a:schemeClr val="bg1"/>
                      </a:solidFill>
                      <a:latin typeface="Comic Sans MS" panose="030F0702030302020204" pitchFamily="66" charset="0"/>
                    </a:rPr>
                    <a:t>socket</a:t>
                  </a: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4350" name="Text Box 36"/>
            <p:cNvSpPr txBox="1">
              <a:spLocks noChangeArrowheads="1"/>
            </p:cNvSpPr>
            <p:nvPr/>
          </p:nvSpPr>
          <p:spPr bwMode="auto">
            <a:xfrm>
              <a:off x="4484" y="1857"/>
              <a:ext cx="901" cy="5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>
                  <a:latin typeface="Comic Sans MS" panose="030F0702030302020204" pitchFamily="66" charset="0"/>
                </a:rPr>
                <a:t>controlled by</a:t>
              </a:r>
              <a:endParaRPr lang="en-US" altLang="zh-CN" sz="1600">
                <a:latin typeface="Comic Sans MS" panose="030F0702030302020204" pitchFamily="66" charset="0"/>
              </a:endParaRPr>
            </a:p>
            <a:p>
              <a:r>
                <a:rPr lang="en-US" altLang="zh-CN" sz="1600">
                  <a:latin typeface="Comic Sans MS" panose="030F0702030302020204" pitchFamily="66" charset="0"/>
                </a:rPr>
                <a:t>application</a:t>
              </a:r>
              <a:endParaRPr lang="en-US" altLang="zh-CN" sz="1600">
                <a:latin typeface="Comic Sans MS" panose="030F0702030302020204" pitchFamily="66" charset="0"/>
              </a:endParaRPr>
            </a:p>
            <a:p>
              <a:r>
                <a:rPr lang="en-US" altLang="zh-CN" sz="1600">
                  <a:latin typeface="Comic Sans MS" panose="030F0702030302020204" pitchFamily="66" charset="0"/>
                </a:rPr>
                <a:t>developer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51" name="Text Box 37"/>
            <p:cNvSpPr txBox="1">
              <a:spLocks noChangeArrowheads="1"/>
            </p:cNvSpPr>
            <p:nvPr/>
          </p:nvSpPr>
          <p:spPr bwMode="auto">
            <a:xfrm>
              <a:off x="4487" y="2433"/>
              <a:ext cx="901" cy="5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1600">
                  <a:latin typeface="Comic Sans MS" panose="030F0702030302020204" pitchFamily="66" charset="0"/>
                </a:rPr>
                <a:t>controlled by</a:t>
              </a:r>
              <a:endParaRPr lang="en-US" altLang="zh-CN" sz="1600">
                <a:latin typeface="Comic Sans MS" panose="030F0702030302020204" pitchFamily="66" charset="0"/>
              </a:endParaRPr>
            </a:p>
            <a:p>
              <a:r>
                <a:rPr lang="en-US" altLang="zh-CN" sz="1600">
                  <a:latin typeface="Comic Sans MS" panose="030F0702030302020204" pitchFamily="66" charset="0"/>
                </a:rPr>
                <a:t>operating</a:t>
              </a:r>
              <a:endParaRPr lang="en-US" altLang="zh-CN" sz="1600">
                <a:latin typeface="Comic Sans MS" panose="030F0702030302020204" pitchFamily="66" charset="0"/>
              </a:endParaRPr>
            </a:p>
            <a:p>
              <a:r>
                <a:rPr lang="en-US" altLang="zh-CN" sz="1600">
                  <a:latin typeface="Comic Sans MS" panose="030F0702030302020204" pitchFamily="66" charset="0"/>
                </a:rPr>
                <a:t>system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52" name="Line 38"/>
            <p:cNvSpPr>
              <a:spLocks noChangeShapeType="1"/>
            </p:cNvSpPr>
            <p:nvPr/>
          </p:nvSpPr>
          <p:spPr bwMode="auto">
            <a:xfrm flipV="1">
              <a:off x="4428" y="2010"/>
              <a:ext cx="0" cy="3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" name="Line 39"/>
            <p:cNvSpPr>
              <a:spLocks noChangeShapeType="1"/>
            </p:cNvSpPr>
            <p:nvPr/>
          </p:nvSpPr>
          <p:spPr bwMode="auto">
            <a:xfrm flipH="1" flipV="1">
              <a:off x="4422" y="2376"/>
              <a:ext cx="0" cy="6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Text Box 40"/>
            <p:cNvSpPr txBox="1">
              <a:spLocks noChangeArrowheads="1"/>
            </p:cNvSpPr>
            <p:nvPr/>
          </p:nvSpPr>
          <p:spPr bwMode="auto">
            <a:xfrm>
              <a:off x="3663" y="3102"/>
              <a:ext cx="654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>
                  <a:latin typeface="Comic Sans MS" panose="030F0702030302020204" pitchFamily="66" charset="0"/>
                </a:rPr>
                <a:t>host or</a:t>
              </a:r>
              <a:endParaRPr lang="en-US" altLang="zh-CN" sz="2000">
                <a:latin typeface="Comic Sans MS" panose="030F0702030302020204" pitchFamily="66" charset="0"/>
              </a:endParaRPr>
            </a:p>
            <a:p>
              <a:pPr algn="ctr"/>
              <a:r>
                <a:rPr lang="en-US" altLang="zh-CN" sz="2000">
                  <a:latin typeface="Comic Sans MS" panose="030F0702030302020204" pitchFamily="66" charset="0"/>
                </a:rPr>
                <a:t>server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55" name="Freeform 41"/>
            <p:cNvSpPr/>
            <p:nvPr/>
          </p:nvSpPr>
          <p:spPr bwMode="auto">
            <a:xfrm>
              <a:off x="2266" y="2304"/>
              <a:ext cx="1133" cy="1055"/>
            </a:xfrm>
            <a:custGeom>
              <a:avLst/>
              <a:gdLst>
                <a:gd name="T0" fmla="*/ 74 w 1292"/>
                <a:gd name="T1" fmla="*/ 3 h 1255"/>
                <a:gd name="T2" fmla="*/ 11 w 1292"/>
                <a:gd name="T3" fmla="*/ 33 h 1255"/>
                <a:gd name="T4" fmla="*/ 9 w 1292"/>
                <a:gd name="T5" fmla="*/ 109 h 1255"/>
                <a:gd name="T6" fmla="*/ 16 w 1292"/>
                <a:gd name="T7" fmla="*/ 174 h 1255"/>
                <a:gd name="T8" fmla="*/ 75 w 1292"/>
                <a:gd name="T9" fmla="*/ 183 h 1255"/>
                <a:gd name="T10" fmla="*/ 198 w 1292"/>
                <a:gd name="T11" fmla="*/ 237 h 1255"/>
                <a:gd name="T12" fmla="*/ 305 w 1292"/>
                <a:gd name="T13" fmla="*/ 260 h 1255"/>
                <a:gd name="T14" fmla="*/ 367 w 1292"/>
                <a:gd name="T15" fmla="*/ 214 h 1255"/>
                <a:gd name="T16" fmla="*/ 390 w 1292"/>
                <a:gd name="T17" fmla="*/ 93 h 1255"/>
                <a:gd name="T18" fmla="*/ 370 w 1292"/>
                <a:gd name="T19" fmla="*/ 44 h 1255"/>
                <a:gd name="T20" fmla="*/ 229 w 1292"/>
                <a:gd name="T21" fmla="*/ 24 h 1255"/>
                <a:gd name="T22" fmla="*/ 74 w 1292"/>
                <a:gd name="T23" fmla="*/ 3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CCFF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6" name="Text Box 42"/>
            <p:cNvSpPr txBox="1">
              <a:spLocks noChangeArrowheads="1"/>
            </p:cNvSpPr>
            <p:nvPr/>
          </p:nvSpPr>
          <p:spPr bwMode="auto">
            <a:xfrm>
              <a:off x="2479" y="2688"/>
              <a:ext cx="732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>
                  <a:latin typeface="Comic Sans MS" panose="030F0702030302020204" pitchFamily="66" charset="0"/>
                </a:rPr>
                <a:t>internet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4357" name="Line 43"/>
            <p:cNvSpPr>
              <a:spLocks noChangeShapeType="1"/>
            </p:cNvSpPr>
            <p:nvPr/>
          </p:nvSpPr>
          <p:spPr bwMode="auto">
            <a:xfrm flipH="1">
              <a:off x="2034" y="2622"/>
              <a:ext cx="1596" cy="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>
                <a:effectLst/>
              </a:rPr>
              <a:t>指明一个协议接口</a:t>
            </a:r>
            <a:endParaRPr lang="zh-CN" altLang="en-US" b="0">
              <a:effectLst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08962" cy="532765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zh-CN" altLang="en-US" sz="3200" b="0" dirty="0"/>
              <a:t>考虑：接口是专门针对</a:t>
            </a:r>
            <a:r>
              <a:rPr lang="en-US" altLang="zh-CN" sz="3200" b="0" dirty="0"/>
              <a:t>TCP/IP, </a:t>
            </a:r>
            <a:r>
              <a:rPr lang="zh-CN" altLang="en-US" sz="3200" b="0" dirty="0"/>
              <a:t>还是可以为其它通信协议所用呢</a:t>
            </a:r>
            <a:r>
              <a:rPr lang="en-US" altLang="zh-CN" sz="3200" b="0" dirty="0"/>
              <a:t>?</a:t>
            </a:r>
            <a:endParaRPr lang="en-US" altLang="zh-CN" sz="3200" b="0" dirty="0"/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方法一</a:t>
            </a:r>
            <a:r>
              <a:rPr lang="en-US" altLang="zh-CN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:</a:t>
            </a: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定义专门支持</a:t>
            </a:r>
            <a:r>
              <a:rPr lang="en-US" altLang="zh-CN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TCP/IP</a:t>
            </a: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通信的一些函数</a:t>
            </a:r>
            <a:endParaRPr lang="zh-CN" altLang="en-US" dirty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方法二</a:t>
            </a:r>
            <a:r>
              <a:rPr lang="en-US" altLang="zh-CN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:</a:t>
            </a: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定义支持一般网络通信的函数，用参数是</a:t>
            </a:r>
            <a:r>
              <a:rPr lang="en-US" altLang="zh-CN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TCP/IP</a:t>
            </a: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通信作为一种特例</a:t>
            </a:r>
            <a:endParaRPr lang="zh-CN" altLang="en-US" dirty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lang="en-US" altLang="zh-CN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Berkeley</a:t>
            </a: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套接字使用第二种办法，具有通用性，</a:t>
            </a:r>
            <a:r>
              <a:rPr lang="en-US" altLang="zh-CN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TCP/IP</a:t>
            </a: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是一个族</a:t>
            </a:r>
            <a:r>
              <a:rPr lang="en-US" altLang="zh-CN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PF_INET</a:t>
            </a:r>
            <a:endParaRPr lang="en-US" altLang="zh-CN" dirty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lang="zh-CN" altLang="en-US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使用服务的类型，而不是指定协议名</a:t>
            </a:r>
            <a:endParaRPr lang="zh-CN" altLang="en-US" dirty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  <a:defRPr/>
            </a:pPr>
            <a:r>
              <a:rPr lang="zh-CN" altLang="en-US" sz="3200" b="0" dirty="0"/>
              <a:t>争论：</a:t>
            </a:r>
            <a:endParaRPr lang="zh-CN" altLang="en-US" sz="3200" b="0" dirty="0"/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lang="zh-CN" altLang="en-US" b="0" dirty="0"/>
              <a:t> </a:t>
            </a:r>
            <a:r>
              <a:rPr lang="zh-CN" altLang="en-US" dirty="0">
                <a:solidFill>
                  <a:srgbClr val="6600CC"/>
                </a:solidFill>
              </a:rPr>
              <a:t>通用性没有必要，使应用程序难以阅读</a:t>
            </a:r>
            <a:endParaRPr lang="zh-CN" altLang="en-US" dirty="0">
              <a:solidFill>
                <a:srgbClr val="6600CC"/>
              </a:solidFill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lang="zh-CN" altLang="en-US" dirty="0">
                <a:solidFill>
                  <a:srgbClr val="6600CC"/>
                </a:solidFill>
              </a:rPr>
              <a:t> 通用性可以使程序员免于了解协议族的细节</a:t>
            </a:r>
            <a:endParaRPr lang="zh-CN" altLang="en-US" dirty="0">
              <a:solidFill>
                <a:srgbClr val="66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0"/>
              <a:t>套接字：描述符</a:t>
            </a:r>
            <a:endParaRPr lang="zh-CN" altLang="en-US" b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12776"/>
            <a:ext cx="8424862" cy="2071688"/>
          </a:xfrm>
          <a:noFill/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CN" sz="2400" b="0" dirty="0"/>
              <a:t>OS</a:t>
            </a:r>
            <a:r>
              <a:rPr lang="zh-CN" altLang="en-US" sz="2400" b="0" dirty="0"/>
              <a:t>将文件描述符表实现为一个</a:t>
            </a:r>
            <a:r>
              <a:rPr lang="zh-CN" altLang="en-US" sz="2400" b="0" dirty="0">
                <a:solidFill>
                  <a:srgbClr val="FF0000"/>
                </a:solidFill>
              </a:rPr>
              <a:t>指针数组</a:t>
            </a:r>
            <a:r>
              <a:rPr lang="zh-CN" altLang="en-US" sz="2400" b="0" dirty="0"/>
              <a:t>，指向一个内部的数据结构。</a:t>
            </a:r>
            <a:r>
              <a:rPr lang="zh-CN" altLang="en-US" sz="2400" b="0" dirty="0">
                <a:solidFill>
                  <a:srgbClr val="FF0000"/>
                </a:solidFill>
              </a:rPr>
              <a:t>套接字</a:t>
            </a:r>
            <a:r>
              <a:rPr lang="zh-CN" altLang="en-US" sz="2400" b="0" dirty="0"/>
              <a:t>和文件类似，每个活动（</a:t>
            </a:r>
            <a:r>
              <a:rPr lang="en-US" altLang="zh-CN" sz="2400" b="0" dirty="0"/>
              <a:t>active</a:t>
            </a:r>
            <a:r>
              <a:rPr lang="zh-CN" altLang="en-US" sz="2400" b="0" dirty="0"/>
              <a:t>）套接字使用一个小整数标识：</a:t>
            </a:r>
            <a:r>
              <a:rPr lang="zh-CN" altLang="en-US" sz="2400" b="0" dirty="0">
                <a:solidFill>
                  <a:srgbClr val="FF0000"/>
                </a:solidFill>
              </a:rPr>
              <a:t>返回值</a:t>
            </a:r>
            <a:r>
              <a:rPr lang="zh-CN" altLang="en-US" sz="2400" b="0" dirty="0"/>
              <a:t>。</a:t>
            </a:r>
            <a:endParaRPr lang="en-US" altLang="zh-CN" sz="2400" b="0" dirty="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400" b="0" dirty="0"/>
              <a:t>套接字描述符就在文件描述符表中</a:t>
            </a:r>
            <a:endParaRPr lang="zh-CN" altLang="en-US" sz="2400" b="0" dirty="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400" b="0" dirty="0">
                <a:solidFill>
                  <a:srgbClr val="FF0000"/>
                </a:solidFill>
              </a:rPr>
              <a:t>同一进程</a:t>
            </a:r>
            <a:r>
              <a:rPr lang="zh-CN" altLang="en-US" sz="2400" b="0" dirty="0"/>
              <a:t>的文件描述符和套接字描述符值不能相同</a:t>
            </a:r>
            <a:endParaRPr lang="zh-CN" altLang="en-US" sz="2400" b="0" dirty="0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2209800" y="4443412"/>
            <a:ext cx="2133600" cy="2209800"/>
          </a:xfrm>
          <a:prstGeom prst="rect">
            <a:avLst/>
          </a:prstGeom>
          <a:noFill/>
          <a:ln w="38100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2209800" y="4824412"/>
            <a:ext cx="2133600" cy="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38" name="Line 7"/>
          <p:cNvSpPr>
            <a:spLocks noChangeShapeType="1"/>
          </p:cNvSpPr>
          <p:nvPr/>
        </p:nvSpPr>
        <p:spPr bwMode="auto">
          <a:xfrm>
            <a:off x="2209800" y="5205412"/>
            <a:ext cx="2133600" cy="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39" name="Line 8"/>
          <p:cNvSpPr>
            <a:spLocks noChangeShapeType="1"/>
          </p:cNvSpPr>
          <p:nvPr/>
        </p:nvSpPr>
        <p:spPr bwMode="auto">
          <a:xfrm>
            <a:off x="2209800" y="5586412"/>
            <a:ext cx="2133600" cy="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0" name="Line 9"/>
          <p:cNvSpPr>
            <a:spLocks noChangeShapeType="1"/>
          </p:cNvSpPr>
          <p:nvPr/>
        </p:nvSpPr>
        <p:spPr bwMode="auto">
          <a:xfrm>
            <a:off x="2209800" y="5967412"/>
            <a:ext cx="2133600" cy="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1" name="Line 10"/>
          <p:cNvSpPr>
            <a:spLocks noChangeShapeType="1"/>
          </p:cNvSpPr>
          <p:nvPr/>
        </p:nvSpPr>
        <p:spPr bwMode="auto">
          <a:xfrm>
            <a:off x="3200400" y="6119812"/>
            <a:ext cx="0" cy="381000"/>
          </a:xfrm>
          <a:prstGeom prst="line">
            <a:avLst/>
          </a:prstGeom>
          <a:noFill/>
          <a:ln w="38100">
            <a:solidFill>
              <a:srgbClr val="0099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2" name="Text Box 11"/>
          <p:cNvSpPr txBox="1">
            <a:spLocks noChangeArrowheads="1"/>
          </p:cNvSpPr>
          <p:nvPr/>
        </p:nvSpPr>
        <p:spPr bwMode="auto">
          <a:xfrm>
            <a:off x="1676400" y="4443412"/>
            <a:ext cx="457200" cy="24145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1600" b="1">
                <a:latin typeface="Times New Roman" panose="02020603050405020304" pitchFamily="18" charset="0"/>
              </a:rPr>
              <a:t>0</a:t>
            </a:r>
            <a:r>
              <a:rPr kumimoji="1" lang="zh-CN" altLang="en-US" sz="1600" b="1">
                <a:latin typeface="Times New Roman" panose="02020603050405020304" pitchFamily="18" charset="0"/>
              </a:rPr>
              <a:t>：</a:t>
            </a:r>
            <a:endParaRPr kumimoji="1" lang="zh-CN" altLang="en-US" sz="16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600" b="1">
                <a:latin typeface="Times New Roman" panose="02020603050405020304" pitchFamily="18" charset="0"/>
              </a:rPr>
              <a:t>1</a:t>
            </a:r>
            <a:r>
              <a:rPr kumimoji="1" lang="zh-CN" altLang="en-US" sz="1600" b="1">
                <a:latin typeface="Times New Roman" panose="02020603050405020304" pitchFamily="18" charset="0"/>
              </a:rPr>
              <a:t>：</a:t>
            </a:r>
            <a:endParaRPr kumimoji="1" lang="zh-CN" altLang="en-US" sz="16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600" b="1">
                <a:latin typeface="Times New Roman" panose="02020603050405020304" pitchFamily="18" charset="0"/>
              </a:rPr>
              <a:t>2</a:t>
            </a:r>
            <a:r>
              <a:rPr kumimoji="1" lang="zh-CN" altLang="en-US" sz="1600" b="1">
                <a:latin typeface="Times New Roman" panose="02020603050405020304" pitchFamily="18" charset="0"/>
              </a:rPr>
              <a:t>：</a:t>
            </a:r>
            <a:endParaRPr kumimoji="1" lang="zh-CN" altLang="en-US" sz="16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600" b="1">
                <a:latin typeface="Times New Roman" panose="02020603050405020304" pitchFamily="18" charset="0"/>
              </a:rPr>
              <a:t>3</a:t>
            </a:r>
            <a:r>
              <a:rPr kumimoji="1" lang="zh-CN" altLang="en-US" sz="1600" b="1">
                <a:latin typeface="Times New Roman" panose="02020603050405020304" pitchFamily="18" charset="0"/>
              </a:rPr>
              <a:t>：</a:t>
            </a:r>
            <a:endParaRPr kumimoji="1" lang="zh-CN" altLang="en-US" sz="1600" b="1">
              <a:latin typeface="Times New Roman" panose="02020603050405020304" pitchFamily="18" charset="0"/>
            </a:endParaRPr>
          </a:p>
        </p:txBody>
      </p:sp>
      <p:sp>
        <p:nvSpPr>
          <p:cNvPr id="18443" name="Text Box 12"/>
          <p:cNvSpPr txBox="1">
            <a:spLocks noChangeArrowheads="1"/>
          </p:cNvSpPr>
          <p:nvPr/>
        </p:nvSpPr>
        <p:spPr bwMode="auto">
          <a:xfrm>
            <a:off x="2236788" y="3444875"/>
            <a:ext cx="2286000" cy="8540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latin typeface="Times New Roman" panose="02020603050405020304" pitchFamily="18" charset="0"/>
              </a:rPr>
              <a:t>   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文件描述符表</a:t>
            </a:r>
            <a:endParaRPr kumimoji="1" lang="zh-CN" altLang="en-US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（一个进程一张）</a:t>
            </a:r>
            <a:endParaRPr kumimoji="1" lang="zh-CN" altLang="en-US" sz="20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4" name="Line 13"/>
          <p:cNvSpPr>
            <a:spLocks noChangeShapeType="1"/>
          </p:cNvSpPr>
          <p:nvPr/>
        </p:nvSpPr>
        <p:spPr bwMode="auto">
          <a:xfrm>
            <a:off x="2971800" y="4672012"/>
            <a:ext cx="1600200" cy="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oval" w="lg" len="med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5" name="Line 14"/>
          <p:cNvSpPr>
            <a:spLocks noChangeShapeType="1"/>
          </p:cNvSpPr>
          <p:nvPr/>
        </p:nvSpPr>
        <p:spPr bwMode="auto">
          <a:xfrm>
            <a:off x="2971800" y="5053012"/>
            <a:ext cx="1600200" cy="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oval" w="lg" len="med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6" name="Line 15"/>
          <p:cNvSpPr>
            <a:spLocks noChangeShapeType="1"/>
          </p:cNvSpPr>
          <p:nvPr/>
        </p:nvSpPr>
        <p:spPr bwMode="auto">
          <a:xfrm>
            <a:off x="2971800" y="5434012"/>
            <a:ext cx="1600200" cy="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oval" w="lg" len="med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7" name="Line 16"/>
          <p:cNvSpPr>
            <a:spLocks noChangeShapeType="1"/>
          </p:cNvSpPr>
          <p:nvPr/>
        </p:nvSpPr>
        <p:spPr bwMode="auto">
          <a:xfrm>
            <a:off x="2971800" y="5815012"/>
            <a:ext cx="1600200" cy="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oval" w="lg" len="med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8" name="Line 17"/>
          <p:cNvSpPr>
            <a:spLocks noChangeShapeType="1"/>
          </p:cNvSpPr>
          <p:nvPr/>
        </p:nvSpPr>
        <p:spPr bwMode="auto">
          <a:xfrm>
            <a:off x="4572000" y="5815012"/>
            <a:ext cx="838200" cy="7620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none" w="sm" len="sm"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49" name="Line 18"/>
          <p:cNvSpPr>
            <a:spLocks noChangeShapeType="1"/>
          </p:cNvSpPr>
          <p:nvPr/>
        </p:nvSpPr>
        <p:spPr bwMode="auto">
          <a:xfrm>
            <a:off x="4572000" y="5434012"/>
            <a:ext cx="914400" cy="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none" w="sm" len="sm"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50" name="Line 19"/>
          <p:cNvSpPr>
            <a:spLocks noChangeShapeType="1"/>
          </p:cNvSpPr>
          <p:nvPr/>
        </p:nvSpPr>
        <p:spPr bwMode="auto">
          <a:xfrm>
            <a:off x="4572000" y="5053012"/>
            <a:ext cx="838200" cy="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none" w="sm" len="sm"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51" name="Line 20"/>
          <p:cNvSpPr>
            <a:spLocks noChangeShapeType="1"/>
          </p:cNvSpPr>
          <p:nvPr/>
        </p:nvSpPr>
        <p:spPr bwMode="auto">
          <a:xfrm flipV="1">
            <a:off x="4572000" y="4595812"/>
            <a:ext cx="838200" cy="76200"/>
          </a:xfrm>
          <a:prstGeom prst="line">
            <a:avLst/>
          </a:prstGeom>
          <a:noFill/>
          <a:ln w="38100" cap="sq">
            <a:solidFill>
              <a:srgbClr val="009900"/>
            </a:solidFill>
            <a:miter lim="800000"/>
            <a:headEnd type="none" w="sm" len="sm"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8452" name="Text Box 21"/>
          <p:cNvSpPr txBox="1">
            <a:spLocks noChangeArrowheads="1"/>
          </p:cNvSpPr>
          <p:nvPr/>
        </p:nvSpPr>
        <p:spPr bwMode="auto">
          <a:xfrm>
            <a:off x="5410200" y="4367212"/>
            <a:ext cx="373380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</a:rPr>
              <a:t>用于文件</a:t>
            </a:r>
            <a:r>
              <a:rPr kumimoji="1" lang="en-US" altLang="zh-CN" sz="2000" b="1">
                <a:latin typeface="Times New Roman" panose="02020603050405020304" pitchFamily="18" charset="0"/>
              </a:rPr>
              <a:t>0</a:t>
            </a:r>
            <a:r>
              <a:rPr kumimoji="1" lang="zh-CN" altLang="en-US" sz="2000" b="1">
                <a:latin typeface="Times New Roman" panose="02020603050405020304" pitchFamily="18" charset="0"/>
              </a:rPr>
              <a:t>的内部数据结构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8453" name="Text Box 22"/>
          <p:cNvSpPr txBox="1">
            <a:spLocks noChangeArrowheads="1"/>
          </p:cNvSpPr>
          <p:nvPr/>
        </p:nvSpPr>
        <p:spPr bwMode="auto">
          <a:xfrm>
            <a:off x="5410200" y="4824412"/>
            <a:ext cx="373380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</a:rPr>
              <a:t>用于文件</a:t>
            </a:r>
            <a:r>
              <a:rPr kumimoji="1" lang="en-US" altLang="zh-CN" sz="2000" b="1">
                <a:latin typeface="Times New Roman" panose="02020603050405020304" pitchFamily="18" charset="0"/>
              </a:rPr>
              <a:t>1</a:t>
            </a:r>
            <a:r>
              <a:rPr kumimoji="1" lang="zh-CN" altLang="en-US" sz="2000" b="1">
                <a:latin typeface="Times New Roman" panose="02020603050405020304" pitchFamily="18" charset="0"/>
              </a:rPr>
              <a:t>的内部数据结构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8454" name="Text Box 23"/>
          <p:cNvSpPr txBox="1">
            <a:spLocks noChangeArrowheads="1"/>
          </p:cNvSpPr>
          <p:nvPr/>
        </p:nvSpPr>
        <p:spPr bwMode="auto">
          <a:xfrm>
            <a:off x="5410200" y="5205412"/>
            <a:ext cx="373380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</a:rPr>
              <a:t>用于文件</a:t>
            </a:r>
            <a:r>
              <a:rPr kumimoji="1" lang="en-US" altLang="zh-CN" sz="2000" b="1">
                <a:latin typeface="Times New Roman" panose="02020603050405020304" pitchFamily="18" charset="0"/>
              </a:rPr>
              <a:t>2</a:t>
            </a:r>
            <a:r>
              <a:rPr kumimoji="1" lang="zh-CN" altLang="en-US" sz="2000" b="1">
                <a:latin typeface="Times New Roman" panose="02020603050405020304" pitchFamily="18" charset="0"/>
              </a:rPr>
              <a:t>的内部数据结构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8455" name="Text Box 24"/>
          <p:cNvSpPr txBox="1">
            <a:spLocks noChangeArrowheads="1"/>
          </p:cNvSpPr>
          <p:nvPr/>
        </p:nvSpPr>
        <p:spPr bwMode="auto">
          <a:xfrm>
            <a:off x="5410200" y="5738812"/>
            <a:ext cx="3733800" cy="3968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</a:rPr>
              <a:t>用于文件</a:t>
            </a:r>
            <a:r>
              <a:rPr kumimoji="1" lang="en-US" altLang="zh-CN" sz="2000" b="1">
                <a:latin typeface="Times New Roman" panose="02020603050405020304" pitchFamily="18" charset="0"/>
              </a:rPr>
              <a:t>3</a:t>
            </a:r>
            <a:r>
              <a:rPr kumimoji="1" lang="zh-CN" altLang="en-US" sz="2000" b="1">
                <a:latin typeface="Times New Roman" panose="02020603050405020304" pitchFamily="18" charset="0"/>
              </a:rPr>
              <a:t>的内部数据结构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0"/>
              <a:t>针对套接字的系统数据结构</a:t>
            </a:r>
            <a:endParaRPr lang="zh-CN" altLang="en-US" b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8001000" cy="121920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3200" b="0"/>
              <a:t>调用</a:t>
            </a:r>
            <a:r>
              <a:rPr lang="en-US" altLang="zh-CN" sz="3200" b="0"/>
              <a:t>socket</a:t>
            </a:r>
            <a:r>
              <a:rPr lang="zh-CN" altLang="en-US" sz="3200" b="0"/>
              <a:t>（不是</a:t>
            </a:r>
            <a:r>
              <a:rPr lang="en-US" altLang="zh-CN" sz="3200" b="0"/>
              <a:t>open</a:t>
            </a:r>
            <a:r>
              <a:rPr lang="zh-CN" altLang="en-US" sz="3200" b="0"/>
              <a:t>函数）创建</a:t>
            </a:r>
            <a:r>
              <a:rPr lang="zh-CN" altLang="en-US" sz="3200" b="0">
                <a:solidFill>
                  <a:srgbClr val="FF0000"/>
                </a:solidFill>
              </a:rPr>
              <a:t>新的</a:t>
            </a:r>
            <a:r>
              <a:rPr lang="zh-CN" altLang="en-US" sz="3200" b="0"/>
              <a:t>描述符条目和</a:t>
            </a:r>
            <a:r>
              <a:rPr lang="zh-CN" altLang="en-US" sz="3200" b="0">
                <a:solidFill>
                  <a:srgbClr val="FF0000"/>
                </a:solidFill>
              </a:rPr>
              <a:t>新的</a:t>
            </a:r>
            <a:r>
              <a:rPr lang="zh-CN" altLang="en-US" sz="3200" b="0"/>
              <a:t>数据结构</a:t>
            </a:r>
            <a:endParaRPr lang="zh-CN" altLang="en-US" sz="3200" b="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3200" b="0"/>
              <a:t>结构的许多字段是其他的系统调用来填</a:t>
            </a:r>
            <a:endParaRPr lang="zh-CN" altLang="en-US" sz="3200" b="0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843088" y="3903663"/>
            <a:ext cx="2133600" cy="2819400"/>
          </a:xfrm>
          <a:prstGeom prst="rect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1843088" y="4284663"/>
            <a:ext cx="2133600" cy="0"/>
          </a:xfrm>
          <a:prstGeom prst="line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1843088" y="4665663"/>
            <a:ext cx="2133600" cy="0"/>
          </a:xfrm>
          <a:prstGeom prst="line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>
            <a:off x="1843088" y="5046663"/>
            <a:ext cx="2133600" cy="0"/>
          </a:xfrm>
          <a:prstGeom prst="line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1843088" y="5427663"/>
            <a:ext cx="2133600" cy="0"/>
          </a:xfrm>
          <a:prstGeom prst="line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2833688" y="6037263"/>
            <a:ext cx="0" cy="381000"/>
          </a:xfrm>
          <a:prstGeom prst="line">
            <a:avLst/>
          </a:prstGeom>
          <a:noFill/>
          <a:ln w="28575">
            <a:solidFill>
              <a:srgbClr val="0099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1341438" y="3940175"/>
            <a:ext cx="457200" cy="30257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1600" b="1">
                <a:latin typeface="Times New Roman" panose="02020603050405020304" pitchFamily="18" charset="0"/>
              </a:rPr>
              <a:t>0</a:t>
            </a:r>
            <a:r>
              <a:rPr kumimoji="1" lang="zh-CN" altLang="en-US" sz="1600" b="1">
                <a:latin typeface="Times New Roman" panose="02020603050405020304" pitchFamily="18" charset="0"/>
              </a:rPr>
              <a:t>：</a:t>
            </a:r>
            <a:endParaRPr kumimoji="1" lang="zh-CN" altLang="en-US" sz="16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600" b="1">
                <a:latin typeface="Times New Roman" panose="02020603050405020304" pitchFamily="18" charset="0"/>
              </a:rPr>
              <a:t>1</a:t>
            </a:r>
            <a:r>
              <a:rPr kumimoji="1" lang="zh-CN" altLang="en-US" sz="1600" b="1">
                <a:latin typeface="Times New Roman" panose="02020603050405020304" pitchFamily="18" charset="0"/>
              </a:rPr>
              <a:t>：</a:t>
            </a:r>
            <a:endParaRPr kumimoji="1" lang="zh-CN" altLang="en-US" sz="16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600" b="1">
                <a:latin typeface="Times New Roman" panose="02020603050405020304" pitchFamily="18" charset="0"/>
              </a:rPr>
              <a:t>2</a:t>
            </a:r>
            <a:r>
              <a:rPr kumimoji="1" lang="zh-CN" altLang="en-US" sz="1600" b="1">
                <a:latin typeface="Times New Roman" panose="02020603050405020304" pitchFamily="18" charset="0"/>
              </a:rPr>
              <a:t>：</a:t>
            </a:r>
            <a:endParaRPr kumimoji="1" lang="zh-CN" altLang="en-US" sz="16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600" b="1">
                <a:latin typeface="Times New Roman" panose="02020603050405020304" pitchFamily="18" charset="0"/>
              </a:rPr>
              <a:t>3</a:t>
            </a:r>
            <a:r>
              <a:rPr kumimoji="1" lang="zh-CN" altLang="en-US" sz="1600" b="1">
                <a:latin typeface="Times New Roman" panose="02020603050405020304" pitchFamily="18" charset="0"/>
              </a:rPr>
              <a:t>：</a:t>
            </a:r>
            <a:endParaRPr kumimoji="1" lang="zh-CN" altLang="en-US" sz="16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600" b="1">
                <a:latin typeface="Times New Roman" panose="02020603050405020304" pitchFamily="18" charset="0"/>
              </a:rPr>
              <a:t>4</a:t>
            </a:r>
            <a:r>
              <a:rPr kumimoji="1" lang="zh-CN" altLang="en-US" sz="1600" b="1">
                <a:latin typeface="Times New Roman" panose="02020603050405020304" pitchFamily="18" charset="0"/>
              </a:rPr>
              <a:t>：</a:t>
            </a:r>
            <a:endParaRPr kumimoji="1" lang="zh-CN" altLang="en-US" sz="1600" b="1">
              <a:latin typeface="Times New Roman" panose="02020603050405020304" pitchFamily="18" charset="0"/>
            </a:endParaRP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1690688" y="3065463"/>
            <a:ext cx="2286000" cy="8540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latin typeface="Times New Roman" panose="02020603050405020304" pitchFamily="18" charset="0"/>
              </a:rPr>
              <a:t>    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</a:rPr>
              <a:t>文件描述符表</a:t>
            </a:r>
            <a:endParaRPr kumimoji="1" lang="zh-CN" altLang="en-US" sz="20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（一个进程一张）</a:t>
            </a:r>
            <a:endParaRPr kumimoji="1" lang="zh-CN" altLang="en-US" sz="20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2605088" y="4132263"/>
            <a:ext cx="1600200" cy="0"/>
          </a:xfrm>
          <a:prstGeom prst="line">
            <a:avLst/>
          </a:prstGeom>
          <a:noFill/>
          <a:ln w="28575" cap="sq">
            <a:solidFill>
              <a:srgbClr val="009900"/>
            </a:solidFill>
            <a:miter lim="800000"/>
            <a:headEnd type="oval" w="lg" len="med"/>
            <a:tailEnd type="triangle" w="lg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2605088" y="4513263"/>
            <a:ext cx="1600200" cy="0"/>
          </a:xfrm>
          <a:prstGeom prst="line">
            <a:avLst/>
          </a:prstGeom>
          <a:noFill/>
          <a:ln w="28575" cap="sq">
            <a:solidFill>
              <a:srgbClr val="009900"/>
            </a:solidFill>
            <a:miter lim="800000"/>
            <a:headEnd type="oval" w="lg" len="med"/>
            <a:tailEnd type="triangle" w="lg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>
            <a:off x="2605088" y="4894263"/>
            <a:ext cx="1600200" cy="0"/>
          </a:xfrm>
          <a:prstGeom prst="line">
            <a:avLst/>
          </a:prstGeom>
          <a:noFill/>
          <a:ln w="28575" cap="sq">
            <a:solidFill>
              <a:srgbClr val="009900"/>
            </a:solidFill>
            <a:miter lim="800000"/>
            <a:headEnd type="oval" w="lg" len="med"/>
            <a:tailEnd type="triangle" w="lg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2605088" y="5275263"/>
            <a:ext cx="1600200" cy="0"/>
          </a:xfrm>
          <a:prstGeom prst="line">
            <a:avLst/>
          </a:prstGeom>
          <a:noFill/>
          <a:ln w="28575" cap="sq">
            <a:solidFill>
              <a:srgbClr val="009900"/>
            </a:solidFill>
            <a:miter lim="800000"/>
            <a:headEnd type="oval" w="lg" len="med"/>
            <a:tailEnd type="triangle" w="lg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>
            <a:off x="1843088" y="5808663"/>
            <a:ext cx="2133600" cy="0"/>
          </a:xfrm>
          <a:prstGeom prst="line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497" name="Freeform 17"/>
          <p:cNvSpPr/>
          <p:nvPr/>
        </p:nvSpPr>
        <p:spPr bwMode="auto">
          <a:xfrm>
            <a:off x="2605088" y="3573463"/>
            <a:ext cx="2895600" cy="2019300"/>
          </a:xfrm>
          <a:custGeom>
            <a:avLst/>
            <a:gdLst>
              <a:gd name="T0" fmla="*/ 0 w 1824"/>
              <a:gd name="T1" fmla="*/ 2147483646 h 1272"/>
              <a:gd name="T2" fmla="*/ 2147483646 w 1824"/>
              <a:gd name="T3" fmla="*/ 2147483646 h 1272"/>
              <a:gd name="T4" fmla="*/ 2147483646 w 1824"/>
              <a:gd name="T5" fmla="*/ 2147483646 h 1272"/>
              <a:gd name="T6" fmla="*/ 2147483646 w 1824"/>
              <a:gd name="T7" fmla="*/ 2147483646 h 1272"/>
              <a:gd name="T8" fmla="*/ 2147483646 w 1824"/>
              <a:gd name="T9" fmla="*/ 2147483646 h 1272"/>
              <a:gd name="T10" fmla="*/ 2147483646 w 1824"/>
              <a:gd name="T11" fmla="*/ 2147483646 h 1272"/>
              <a:gd name="T12" fmla="*/ 2147483646 w 1824"/>
              <a:gd name="T13" fmla="*/ 2147483646 h 12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24"/>
              <a:gd name="T22" fmla="*/ 0 h 1272"/>
              <a:gd name="T23" fmla="*/ 1824 w 1824"/>
              <a:gd name="T24" fmla="*/ 1272 h 12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24" h="1272">
                <a:moveTo>
                  <a:pt x="0" y="1264"/>
                </a:moveTo>
                <a:cubicBezTo>
                  <a:pt x="388" y="1268"/>
                  <a:pt x="776" y="1272"/>
                  <a:pt x="960" y="1264"/>
                </a:cubicBezTo>
                <a:cubicBezTo>
                  <a:pt x="1144" y="1256"/>
                  <a:pt x="1048" y="1240"/>
                  <a:pt x="1104" y="1216"/>
                </a:cubicBezTo>
                <a:cubicBezTo>
                  <a:pt x="1160" y="1192"/>
                  <a:pt x="1264" y="1256"/>
                  <a:pt x="1296" y="1120"/>
                </a:cubicBezTo>
                <a:cubicBezTo>
                  <a:pt x="1328" y="984"/>
                  <a:pt x="1256" y="576"/>
                  <a:pt x="1296" y="400"/>
                </a:cubicBezTo>
                <a:cubicBezTo>
                  <a:pt x="1336" y="224"/>
                  <a:pt x="1448" y="128"/>
                  <a:pt x="1536" y="64"/>
                </a:cubicBezTo>
                <a:cubicBezTo>
                  <a:pt x="1624" y="0"/>
                  <a:pt x="1784" y="16"/>
                  <a:pt x="1824" y="16"/>
                </a:cubicBezTo>
              </a:path>
            </a:pathLst>
          </a:custGeom>
          <a:noFill/>
          <a:ln w="28575" cap="sq">
            <a:solidFill>
              <a:srgbClr val="009900"/>
            </a:solidFill>
            <a:miter lim="800000"/>
            <a:headEnd type="none" w="sm" len="sm"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498" name="Rectangle 18"/>
          <p:cNvSpPr>
            <a:spLocks noChangeArrowheads="1"/>
          </p:cNvSpPr>
          <p:nvPr/>
        </p:nvSpPr>
        <p:spPr bwMode="auto">
          <a:xfrm>
            <a:off x="5500688" y="3446463"/>
            <a:ext cx="3124200" cy="381000"/>
          </a:xfrm>
          <a:prstGeom prst="rect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family: PF_INET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0499" name="Rectangle 19"/>
          <p:cNvSpPr>
            <a:spLocks noChangeArrowheads="1"/>
          </p:cNvSpPr>
          <p:nvPr/>
        </p:nvSpPr>
        <p:spPr bwMode="auto">
          <a:xfrm>
            <a:off x="5500688" y="3827463"/>
            <a:ext cx="3124200" cy="381000"/>
          </a:xfrm>
          <a:prstGeom prst="rect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service: SOCK_STREAM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0500" name="Rectangle 20"/>
          <p:cNvSpPr>
            <a:spLocks noChangeArrowheads="1"/>
          </p:cNvSpPr>
          <p:nvPr/>
        </p:nvSpPr>
        <p:spPr bwMode="auto">
          <a:xfrm>
            <a:off x="5500688" y="4208463"/>
            <a:ext cx="3124200" cy="381000"/>
          </a:xfrm>
          <a:prstGeom prst="rect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Local IP: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0501" name="Rectangle 21"/>
          <p:cNvSpPr>
            <a:spLocks noChangeArrowheads="1"/>
          </p:cNvSpPr>
          <p:nvPr/>
        </p:nvSpPr>
        <p:spPr bwMode="auto">
          <a:xfrm>
            <a:off x="5500688" y="4589463"/>
            <a:ext cx="3124200" cy="381000"/>
          </a:xfrm>
          <a:prstGeom prst="rect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Remote IP: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0502" name="Rectangle 22"/>
          <p:cNvSpPr>
            <a:spLocks noChangeArrowheads="1"/>
          </p:cNvSpPr>
          <p:nvPr/>
        </p:nvSpPr>
        <p:spPr bwMode="auto">
          <a:xfrm>
            <a:off x="5500688" y="4970463"/>
            <a:ext cx="3124200" cy="381000"/>
          </a:xfrm>
          <a:prstGeom prst="rect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Local port: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0503" name="Rectangle 23"/>
          <p:cNvSpPr>
            <a:spLocks noChangeArrowheads="1"/>
          </p:cNvSpPr>
          <p:nvPr/>
        </p:nvSpPr>
        <p:spPr bwMode="auto">
          <a:xfrm>
            <a:off x="5500688" y="5351463"/>
            <a:ext cx="3124200" cy="381000"/>
          </a:xfrm>
          <a:prstGeom prst="rect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r>
              <a:rPr kumimoji="1" lang="en-US" altLang="zh-CN" sz="2000">
                <a:latin typeface="Times New Roman" panose="02020603050405020304" pitchFamily="18" charset="0"/>
              </a:rPr>
              <a:t>Remote port: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0504" name="Rectangle 24"/>
          <p:cNvSpPr>
            <a:spLocks noChangeArrowheads="1"/>
          </p:cNvSpPr>
          <p:nvPr/>
        </p:nvSpPr>
        <p:spPr bwMode="auto">
          <a:xfrm>
            <a:off x="5500688" y="5732463"/>
            <a:ext cx="3124200" cy="381000"/>
          </a:xfrm>
          <a:prstGeom prst="rect">
            <a:avLst/>
          </a:prstGeom>
          <a:noFill/>
          <a:ln w="28575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1" hangingPunct="1"/>
            <a:r>
              <a:rPr kumimoji="1" lang="en-US" altLang="zh-CN" sz="2000">
                <a:latin typeface="Times New Roman" panose="02020603050405020304" pitchFamily="18" charset="0"/>
              </a:rPr>
              <a:t>:</a:t>
            </a:r>
            <a:endParaRPr kumimoji="1"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20505" name="TextBox 26"/>
          <p:cNvSpPr txBox="1">
            <a:spLocks noChangeArrowheads="1"/>
          </p:cNvSpPr>
          <p:nvPr/>
        </p:nvSpPr>
        <p:spPr bwMode="auto">
          <a:xfrm>
            <a:off x="6005513" y="6261100"/>
            <a:ext cx="203200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/>
              <a:t>套接字的数据结构</a:t>
            </a:r>
            <a:endParaRPr lang="zh-CN" altLang="en-US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0"/>
              <a:t>主动套接字和被动套接字</a:t>
            </a:r>
            <a:endParaRPr lang="zh-CN" altLang="en-US" b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00200"/>
            <a:ext cx="8569325" cy="4525963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lang="zh-CN" altLang="en-US" sz="3200" b="0" dirty="0"/>
              <a:t>创建方式相同，使用方式不同</a:t>
            </a:r>
            <a:endParaRPr lang="zh-CN" altLang="en-US" sz="3200" b="0" dirty="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lang="zh-CN" altLang="en-US" sz="3200" b="0" dirty="0"/>
              <a:t>等待传入连接的套接字</a:t>
            </a:r>
            <a:r>
              <a:rPr lang="en-US" altLang="zh-CN" sz="3200" b="0" dirty="0"/>
              <a:t>——</a:t>
            </a:r>
            <a:r>
              <a:rPr lang="zh-CN" altLang="en-US" sz="3200" b="0" dirty="0">
                <a:solidFill>
                  <a:srgbClr val="FF0000"/>
                </a:solidFill>
              </a:rPr>
              <a:t>被动</a:t>
            </a:r>
            <a:r>
              <a:rPr lang="zh-CN" altLang="en-US" sz="3200" b="0" dirty="0"/>
              <a:t>，</a:t>
            </a:r>
            <a:r>
              <a:rPr lang="zh-CN" altLang="en-US" sz="3200" b="0" dirty="0">
                <a:solidFill>
                  <a:srgbClr val="0000CC"/>
                </a:solidFill>
              </a:rPr>
              <a:t>如服务器套接字</a:t>
            </a:r>
            <a:endParaRPr lang="zh-CN" altLang="en-US" sz="3200" b="0" dirty="0">
              <a:solidFill>
                <a:srgbClr val="0000CC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lang="zh-CN" altLang="en-US" sz="3200" b="0" dirty="0"/>
              <a:t>发起连接的套接字</a:t>
            </a:r>
            <a:r>
              <a:rPr lang="en-US" altLang="zh-CN" sz="3200" b="0" dirty="0"/>
              <a:t>——</a:t>
            </a:r>
            <a:r>
              <a:rPr lang="zh-CN" altLang="en-US" sz="3200" b="0" dirty="0">
                <a:solidFill>
                  <a:srgbClr val="FF0000"/>
                </a:solidFill>
              </a:rPr>
              <a:t>主动</a:t>
            </a:r>
            <a:r>
              <a:rPr lang="zh-CN" altLang="en-US" sz="3200" b="0" dirty="0"/>
              <a:t>，</a:t>
            </a:r>
            <a:r>
              <a:rPr lang="zh-CN" altLang="en-US" sz="3200" b="0" dirty="0">
                <a:solidFill>
                  <a:srgbClr val="0000CC"/>
                </a:solidFill>
              </a:rPr>
              <a:t>如客户套接字</a:t>
            </a:r>
            <a:endParaRPr lang="zh-CN" altLang="en-US" sz="3200" b="0" dirty="0">
              <a:solidFill>
                <a:srgbClr val="0000CC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lang="zh-CN" altLang="en-US" sz="3200" b="0" dirty="0"/>
              <a:t>指明</a:t>
            </a:r>
            <a:r>
              <a:rPr lang="zh-CN" altLang="en-US" sz="3200" b="0" dirty="0">
                <a:solidFill>
                  <a:srgbClr val="FF0000"/>
                </a:solidFill>
              </a:rPr>
              <a:t>端点地址</a:t>
            </a:r>
            <a:r>
              <a:rPr lang="zh-CN" altLang="en-US" sz="3200" b="0" dirty="0"/>
              <a:t>：</a:t>
            </a:r>
            <a:endParaRPr lang="en-US" altLang="zh-CN" sz="3200" b="0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0" dirty="0"/>
              <a:t>    </a:t>
            </a:r>
            <a:r>
              <a:rPr lang="zh-CN" altLang="en-US" sz="3200" b="0" dirty="0"/>
              <a:t>创建时不指定，使用时指明</a:t>
            </a:r>
            <a:endParaRPr lang="zh-CN" altLang="en-US" sz="3200" b="0" dirty="0"/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lang="en-US" altLang="zh-CN" sz="2800" dirty="0">
                <a:solidFill>
                  <a:srgbClr val="6600CC"/>
                </a:solidFill>
              </a:rPr>
              <a:t>TCP/IP</a:t>
            </a:r>
            <a:r>
              <a:rPr lang="zh-CN" altLang="en-US" sz="2800" dirty="0">
                <a:solidFill>
                  <a:srgbClr val="6600CC"/>
                </a:solidFill>
              </a:rPr>
              <a:t>需要指明协议端口号和</a:t>
            </a:r>
            <a:r>
              <a:rPr lang="en-US" altLang="zh-CN" sz="2800" dirty="0">
                <a:solidFill>
                  <a:srgbClr val="6600CC"/>
                </a:solidFill>
              </a:rPr>
              <a:t>IP</a:t>
            </a:r>
            <a:r>
              <a:rPr lang="zh-CN" altLang="en-US" sz="2800" dirty="0">
                <a:solidFill>
                  <a:srgbClr val="6600CC"/>
                </a:solidFill>
              </a:rPr>
              <a:t>地址</a:t>
            </a:r>
            <a:endParaRPr lang="zh-CN" altLang="en-US" sz="2800" dirty="0">
              <a:solidFill>
                <a:srgbClr val="6600CC"/>
              </a:solidFill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lang="en-US" altLang="zh-CN" sz="2800" dirty="0">
                <a:solidFill>
                  <a:srgbClr val="6600CC"/>
                </a:solidFill>
              </a:rPr>
              <a:t>TCP/IP</a:t>
            </a:r>
            <a:r>
              <a:rPr lang="zh-CN" altLang="en-US" sz="2800" dirty="0">
                <a:solidFill>
                  <a:srgbClr val="6600CC"/>
                </a:solidFill>
              </a:rPr>
              <a:t>协议族：</a:t>
            </a:r>
            <a:r>
              <a:rPr lang="en-US" altLang="zh-CN" sz="2800" dirty="0">
                <a:solidFill>
                  <a:srgbClr val="6600CC"/>
                </a:solidFill>
              </a:rPr>
              <a:t>PF_INET</a:t>
            </a:r>
            <a:endParaRPr lang="en-US" altLang="zh-CN" sz="2800" dirty="0">
              <a:solidFill>
                <a:srgbClr val="6600CC"/>
              </a:solidFill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lang="en-US" altLang="zh-CN" sz="2800" dirty="0">
                <a:solidFill>
                  <a:srgbClr val="6600CC"/>
                </a:solidFill>
              </a:rPr>
              <a:t>TCP/IP</a:t>
            </a:r>
            <a:r>
              <a:rPr lang="zh-CN" altLang="en-US" sz="2800" dirty="0">
                <a:solidFill>
                  <a:srgbClr val="6600CC"/>
                </a:solidFill>
              </a:rPr>
              <a:t>的地址族：</a:t>
            </a:r>
            <a:r>
              <a:rPr lang="en-US" altLang="zh-CN" sz="2800" dirty="0">
                <a:solidFill>
                  <a:srgbClr val="6600CC"/>
                </a:solidFill>
              </a:rPr>
              <a:t>AF_INET</a:t>
            </a:r>
            <a:endParaRPr lang="en-US" altLang="zh-CN" sz="2800" dirty="0">
              <a:solidFill>
                <a:srgbClr val="66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10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10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1000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050" y="188913"/>
            <a:ext cx="67056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/>
              <a:t>类属地址结构</a:t>
            </a:r>
            <a:endParaRPr lang="zh-CN" altLang="en-US" b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4073" y="1340768"/>
            <a:ext cx="7704137" cy="10080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200" b="0" dirty="0"/>
              <a:t>套接字系统定义的一般化的地址结构</a:t>
            </a:r>
            <a:endParaRPr lang="zh-CN" altLang="en-US" sz="3200" b="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</a:rPr>
              <a:t>（地址族，该族的端点地址）</a:t>
            </a:r>
            <a:endParaRPr lang="zh-CN" altLang="en-US" sz="28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4580" name="Text Box 5"/>
          <p:cNvSpPr txBox="1">
            <a:spLocks noChangeArrowheads="1"/>
          </p:cNvSpPr>
          <p:nvPr/>
        </p:nvSpPr>
        <p:spPr bwMode="auto">
          <a:xfrm>
            <a:off x="410270" y="2926432"/>
            <a:ext cx="3816350" cy="31654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</a:rPr>
              <a:t>套接字的普通</a:t>
            </a:r>
            <a:r>
              <a:rPr lang="en-US" altLang="zh-CN" sz="2800" b="1" dirty="0">
                <a:solidFill>
                  <a:srgbClr val="0000CC"/>
                </a:solidFill>
              </a:rPr>
              <a:t>C</a:t>
            </a:r>
            <a:r>
              <a:rPr lang="zh-CN" altLang="en-US" sz="2800" b="1" dirty="0">
                <a:solidFill>
                  <a:srgbClr val="0000CC"/>
                </a:solidFill>
              </a:rPr>
              <a:t>定义结构</a:t>
            </a:r>
            <a:endParaRPr lang="zh-CN" altLang="en-US" sz="2800" b="1" dirty="0">
              <a:solidFill>
                <a:srgbClr val="0000CC"/>
              </a:solidFill>
            </a:endParaRPr>
          </a:p>
          <a:p>
            <a:r>
              <a:rPr lang="en-US" altLang="zh-CN" sz="2400" b="1" dirty="0"/>
              <a:t>struct </a:t>
            </a:r>
            <a:r>
              <a:rPr lang="en-US" altLang="zh-CN" sz="2400" b="1" dirty="0" err="1"/>
              <a:t>sockaddr</a:t>
            </a:r>
            <a:r>
              <a:rPr lang="en-US" altLang="zh-CN" sz="2400" b="1" dirty="0"/>
              <a:t> {</a:t>
            </a:r>
            <a:endParaRPr lang="en-US" altLang="zh-CN" sz="2400" b="1" dirty="0"/>
          </a:p>
          <a:p>
            <a:r>
              <a:rPr lang="en-US" altLang="zh-CN" sz="2400" b="1" dirty="0" err="1"/>
              <a:t>u_char</a:t>
            </a:r>
            <a:r>
              <a:rPr lang="en-US" altLang="zh-CN" sz="2400" b="1" dirty="0"/>
              <a:t>  </a:t>
            </a:r>
            <a:r>
              <a:rPr lang="en-US" altLang="zh-CN" sz="2400" b="1" dirty="0" err="1"/>
              <a:t>sa_len</a:t>
            </a:r>
            <a:r>
              <a:rPr lang="en-US" altLang="zh-CN" sz="2400" b="1" dirty="0"/>
              <a:t>;</a:t>
            </a:r>
            <a:endParaRPr lang="en-US" altLang="zh-CN" sz="2400" b="1" dirty="0"/>
          </a:p>
          <a:p>
            <a:r>
              <a:rPr lang="en-US" altLang="zh-CN" sz="2400" b="1" dirty="0" err="1"/>
              <a:t>u_short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sa_family</a:t>
            </a:r>
            <a:r>
              <a:rPr lang="zh-CN" altLang="en-US" sz="2400" b="1" dirty="0"/>
              <a:t>；</a:t>
            </a:r>
            <a:endParaRPr lang="zh-CN" altLang="en-US" sz="2400" b="1" dirty="0"/>
          </a:p>
          <a:p>
            <a:r>
              <a:rPr lang="en-US" altLang="zh-CN" sz="2400" b="1" dirty="0"/>
              <a:t>char   </a:t>
            </a:r>
            <a:r>
              <a:rPr lang="en-US" altLang="zh-CN" sz="2400" b="1" dirty="0" err="1"/>
              <a:t>sa_data</a:t>
            </a:r>
            <a:r>
              <a:rPr lang="en-US" altLang="zh-CN" sz="2400" b="1" dirty="0"/>
              <a:t>[14];</a:t>
            </a:r>
            <a:endParaRPr lang="en-US" altLang="zh-CN" sz="2400" b="1" dirty="0"/>
          </a:p>
          <a:p>
            <a:r>
              <a:rPr lang="en-US" altLang="zh-CN" sz="2400" b="1" dirty="0"/>
              <a:t>}</a:t>
            </a:r>
            <a:r>
              <a:rPr lang="zh-CN" altLang="en-US" sz="2400" b="1" dirty="0"/>
              <a:t>只是很适用于</a:t>
            </a:r>
            <a:r>
              <a:rPr lang="en-US" altLang="zh-CN" sz="2400" b="1" dirty="0"/>
              <a:t>AF_INET</a:t>
            </a:r>
            <a:r>
              <a:rPr lang="zh-CN" altLang="en-US" sz="2400" b="1" dirty="0"/>
              <a:t>族中的地址</a:t>
            </a:r>
            <a:endParaRPr lang="zh-CN" altLang="en-US" sz="2400" b="1" dirty="0"/>
          </a:p>
        </p:txBody>
      </p:sp>
      <p:sp>
        <p:nvSpPr>
          <p:cNvPr id="24581" name="Text Box 7"/>
          <p:cNvSpPr txBox="1">
            <a:spLocks noChangeArrowheads="1"/>
          </p:cNvSpPr>
          <p:nvPr/>
        </p:nvSpPr>
        <p:spPr bwMode="auto">
          <a:xfrm>
            <a:off x="4632112" y="2430245"/>
            <a:ext cx="4105275" cy="2739211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TCP/IP</a:t>
            </a:r>
            <a:r>
              <a:rPr lang="zh-CN" altLang="en-US" sz="2800" b="1" dirty="0">
                <a:solidFill>
                  <a:srgbClr val="0000CC"/>
                </a:solidFill>
              </a:rPr>
              <a:t>的地址定义</a:t>
            </a:r>
            <a:endParaRPr lang="zh-CN" altLang="en-US" sz="2800" b="1" dirty="0">
              <a:solidFill>
                <a:srgbClr val="0000CC"/>
              </a:solidFill>
            </a:endParaRPr>
          </a:p>
          <a:p>
            <a:r>
              <a:rPr lang="en-US" altLang="zh-CN" sz="2400" b="1" dirty="0"/>
              <a:t>struct </a:t>
            </a:r>
            <a:r>
              <a:rPr lang="en-US" altLang="zh-CN" sz="2400" b="1" dirty="0" err="1"/>
              <a:t>sockaddr_in</a:t>
            </a:r>
            <a:r>
              <a:rPr lang="en-US" altLang="zh-CN" sz="2400" b="1" dirty="0"/>
              <a:t> { </a:t>
            </a:r>
            <a:endParaRPr lang="en-US" altLang="zh-CN" sz="2400" b="1" dirty="0"/>
          </a:p>
          <a:p>
            <a:r>
              <a:rPr lang="en-US" altLang="zh-CN" sz="2400" b="1" dirty="0" err="1"/>
              <a:t>u_char</a:t>
            </a:r>
            <a:r>
              <a:rPr lang="en-US" altLang="zh-CN" sz="2400" b="1" dirty="0"/>
              <a:t>  </a:t>
            </a:r>
            <a:r>
              <a:rPr lang="en-US" altLang="zh-CN" sz="2400" b="1" dirty="0" err="1"/>
              <a:t>sin_len</a:t>
            </a:r>
            <a:r>
              <a:rPr lang="en-US" altLang="zh-CN" sz="2400" b="1" dirty="0"/>
              <a:t>;</a:t>
            </a:r>
            <a:endParaRPr lang="en-US" altLang="zh-CN" sz="2400" b="1" dirty="0"/>
          </a:p>
          <a:p>
            <a:r>
              <a:rPr lang="en-US" altLang="zh-CN" sz="2400" b="1" dirty="0" err="1"/>
              <a:t>u_short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sin_family</a:t>
            </a:r>
            <a:r>
              <a:rPr lang="zh-CN" altLang="en-US" sz="2400" b="1" dirty="0"/>
              <a:t>；</a:t>
            </a:r>
            <a:r>
              <a:rPr lang="en-US" altLang="zh-CN" sz="2400" b="1" dirty="0" err="1"/>
              <a:t>u_short</a:t>
            </a:r>
            <a:r>
              <a:rPr lang="en-US" altLang="zh-CN" sz="2400" b="1" dirty="0"/>
              <a:t>  </a:t>
            </a:r>
            <a:r>
              <a:rPr lang="en-US" altLang="zh-CN" sz="2400" b="1" dirty="0" err="1"/>
              <a:t>sin_port</a:t>
            </a:r>
            <a:r>
              <a:rPr lang="zh-CN" altLang="en-US" sz="2400" b="1" dirty="0"/>
              <a:t>；</a:t>
            </a:r>
            <a:endParaRPr lang="zh-CN" altLang="en-US" sz="2400" b="1" dirty="0"/>
          </a:p>
          <a:p>
            <a:r>
              <a:rPr lang="en-US" altLang="zh-CN" sz="2400" b="1" dirty="0">
                <a:solidFill>
                  <a:srgbClr val="FF0000"/>
                </a:solidFill>
              </a:rPr>
              <a:t>struct </a:t>
            </a:r>
            <a:r>
              <a:rPr lang="en-US" altLang="zh-CN" sz="2400" b="1" dirty="0" err="1">
                <a:solidFill>
                  <a:srgbClr val="FF0000"/>
                </a:solidFill>
              </a:rPr>
              <a:t>in_addr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</a:rPr>
              <a:t>sin_addr</a:t>
            </a:r>
            <a:r>
              <a:rPr lang="en-US" altLang="zh-CN" sz="2400" b="1" dirty="0">
                <a:solidFill>
                  <a:srgbClr val="FF0000"/>
                </a:solidFill>
              </a:rPr>
              <a:t>;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/>
              <a:t>char   </a:t>
            </a:r>
            <a:r>
              <a:rPr lang="en-US" altLang="zh-CN" sz="2400" b="1" dirty="0" err="1"/>
              <a:t>sin_zero</a:t>
            </a:r>
            <a:r>
              <a:rPr lang="en-US" altLang="zh-CN" sz="2400" b="1" dirty="0"/>
              <a:t>[8];}</a:t>
            </a:r>
            <a:endParaRPr lang="en-US" altLang="zh-CN" sz="2400" b="1" dirty="0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632112" y="5233766"/>
            <a:ext cx="4124538" cy="1631216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400" b="1"/>
              <a:t>in_addr</a:t>
            </a:r>
            <a:r>
              <a:rPr lang="zh-CN" altLang="en-US" sz="2400" b="1"/>
              <a:t>结构的</a:t>
            </a:r>
            <a:r>
              <a:rPr lang="zh-CN" altLang="en-US" sz="2800" b="1">
                <a:solidFill>
                  <a:srgbClr val="0000CC"/>
                </a:solidFill>
              </a:rPr>
              <a:t>定义</a:t>
            </a:r>
            <a:endParaRPr lang="zh-CN" altLang="en-US" sz="2800" b="1">
              <a:solidFill>
                <a:srgbClr val="0000CC"/>
              </a:solidFill>
            </a:endParaRPr>
          </a:p>
          <a:p>
            <a:r>
              <a:rPr lang="en-US" altLang="zh-CN" sz="2400" b="1"/>
              <a:t>struct in_addr { </a:t>
            </a:r>
            <a:endParaRPr lang="en-US" altLang="zh-CN" sz="2400" b="1"/>
          </a:p>
          <a:p>
            <a:r>
              <a:rPr lang="en-US" altLang="zh-CN" sz="2400" b="1"/>
              <a:t>u_long  s_addr;</a:t>
            </a:r>
            <a:endParaRPr lang="en-US" altLang="zh-CN" sz="2400" b="1"/>
          </a:p>
          <a:p>
            <a:pPr lvl="2"/>
            <a:r>
              <a:rPr lang="en-US" altLang="zh-CN" sz="2400" b="1"/>
              <a:t>}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/>
              <a:t>套接字</a:t>
            </a:r>
            <a:r>
              <a:rPr lang="en-US" altLang="zh-CN" b="0"/>
              <a:t>API</a:t>
            </a:r>
            <a:r>
              <a:rPr lang="zh-CN" altLang="en-US" b="0"/>
              <a:t>的主要系统调用</a:t>
            </a:r>
            <a:endParaRPr lang="zh-CN" altLang="en-US" b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916113"/>
            <a:ext cx="8229600" cy="324167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lang="zh-CN" altLang="en-US" sz="3200" b="0" dirty="0"/>
              <a:t>套接字调用分为两组：</a:t>
            </a:r>
            <a:endParaRPr lang="en-US" altLang="zh-CN" sz="3200" b="0" dirty="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endParaRPr lang="zh-CN" altLang="en-US" sz="3200" b="0" dirty="0"/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lang="zh-CN" altLang="en-US" sz="2800" dirty="0">
                <a:solidFill>
                  <a:srgbClr val="6600CC"/>
                </a:solidFill>
              </a:rPr>
              <a:t>主调用：提供下层功能的访问</a:t>
            </a:r>
            <a:endParaRPr lang="zh-CN" altLang="en-US" sz="2800" dirty="0">
              <a:solidFill>
                <a:srgbClr val="6600CC"/>
              </a:solidFill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endParaRPr lang="zh-CN" altLang="en-US" sz="2800" dirty="0">
              <a:solidFill>
                <a:srgbClr val="6600CC"/>
              </a:solidFill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lang="zh-CN" altLang="en-US" sz="2800" dirty="0">
                <a:solidFill>
                  <a:srgbClr val="6600CC"/>
                </a:solidFill>
              </a:rPr>
              <a:t>实用例程：提供帮助</a:t>
            </a:r>
            <a:endParaRPr lang="zh-CN" altLang="en-US" sz="2800" dirty="0">
              <a:solidFill>
                <a:srgbClr val="6600CC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None/>
              <a:defRPr/>
            </a:pPr>
            <a:endParaRPr lang="zh-CN" altLang="en-US" sz="2800" dirty="0">
              <a:solidFill>
                <a:srgbClr val="6600CC"/>
              </a:solidFill>
            </a:endParaRP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lang="zh-CN" altLang="en-US" sz="3200" b="0" dirty="0"/>
              <a:t>套接字带有参数，允许以多种方式来使用它们。</a:t>
            </a:r>
            <a:endParaRPr lang="zh-CN" altLang="en-US" sz="3200" b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8964613" cy="10525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/>
              <a:t>一些主调用的套接字</a:t>
            </a:r>
            <a:r>
              <a:rPr lang="en-US" altLang="zh-CN" b="0"/>
              <a:t>API</a:t>
            </a:r>
            <a:br>
              <a:rPr lang="en-US" altLang="zh-CN" sz="3600" b="0">
                <a:solidFill>
                  <a:srgbClr val="0000CC"/>
                </a:solidFill>
              </a:rPr>
            </a:br>
            <a:endParaRPr lang="en-US" altLang="zh-CN" sz="3600" b="0">
              <a:solidFill>
                <a:srgbClr val="0000CC"/>
              </a:solidFill>
            </a:endParaRPr>
          </a:p>
        </p:txBody>
      </p:sp>
      <p:sp>
        <p:nvSpPr>
          <p:cNvPr id="71684" name="Text Box 4"/>
          <p:cNvSpPr txBox="1"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8713788" cy="5183187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kumimoji="1" lang="en-US" altLang="zh-CN" sz="3200" b="0">
                <a:solidFill>
                  <a:srgbClr val="FF3300"/>
                </a:solidFill>
              </a:rPr>
              <a:t>int Socket</a:t>
            </a:r>
            <a:r>
              <a:rPr kumimoji="1" lang="en-US" altLang="zh-CN" sz="3200" b="0">
                <a:solidFill>
                  <a:srgbClr val="FF3300"/>
                </a:solidFill>
                <a:sym typeface="Wingdings" panose="05000000000000000000" pitchFamily="2" charset="2"/>
              </a:rPr>
              <a:t>( int domain, int type, int protocol)</a:t>
            </a:r>
            <a:endParaRPr kumimoji="1" lang="en-US" altLang="zh-CN" sz="3200" b="0">
              <a:solidFill>
                <a:srgbClr val="FF3300"/>
              </a:solidFill>
              <a:sym typeface="Wingdings" panose="05000000000000000000" pitchFamily="2" charset="2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3200" b="0">
                <a:sym typeface="Wingdings" panose="05000000000000000000" pitchFamily="2" charset="2"/>
              </a:rPr>
              <a:t>功能：</a:t>
            </a:r>
            <a:r>
              <a:rPr kumimoji="1" lang="zh-CN" altLang="en-US" sz="3200" b="0"/>
              <a:t>创建一个新的套接字，返回套接字描述符</a:t>
            </a:r>
            <a:endParaRPr kumimoji="1" lang="zh-CN" altLang="en-US" sz="3200" b="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3200" b="0"/>
              <a:t>参数说明：</a:t>
            </a:r>
            <a:endParaRPr kumimoji="1" lang="zh-CN" altLang="en-US" sz="3200" b="0"/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kumimoji="1" lang="en-US" altLang="zh-CN">
                <a:solidFill>
                  <a:srgbClr val="6600CC"/>
                </a:solidFill>
              </a:rPr>
              <a:t>domain</a:t>
            </a:r>
            <a:r>
              <a:rPr kumimoji="1" lang="zh-CN" altLang="en-US">
                <a:solidFill>
                  <a:srgbClr val="6600CC"/>
                </a:solidFill>
              </a:rPr>
              <a:t>：域类型，指明使用的协议栈，如</a:t>
            </a:r>
            <a:r>
              <a:rPr kumimoji="1" lang="en-US" altLang="zh-CN">
                <a:solidFill>
                  <a:srgbClr val="6600CC"/>
                </a:solidFill>
              </a:rPr>
              <a:t>TCP/IP</a:t>
            </a:r>
            <a:r>
              <a:rPr kumimoji="1" lang="zh-CN" altLang="en-US">
                <a:solidFill>
                  <a:srgbClr val="6600CC"/>
                </a:solidFill>
              </a:rPr>
              <a:t>使用的是 </a:t>
            </a:r>
            <a:r>
              <a:rPr kumimoji="1" lang="en-US" altLang="zh-CN">
                <a:solidFill>
                  <a:srgbClr val="6600CC"/>
                </a:solidFill>
              </a:rPr>
              <a:t>PF_INET	</a:t>
            </a:r>
            <a:endParaRPr kumimoji="1" lang="en-US" altLang="zh-CN">
              <a:solidFill>
                <a:srgbClr val="6600CC"/>
              </a:solidFill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kumimoji="1" lang="en-US" altLang="zh-CN">
                <a:solidFill>
                  <a:srgbClr val="6600CC"/>
                </a:solidFill>
              </a:rPr>
              <a:t>type: </a:t>
            </a:r>
            <a:r>
              <a:rPr kumimoji="1" lang="zh-CN" altLang="en-US">
                <a:solidFill>
                  <a:srgbClr val="6600CC"/>
                </a:solidFill>
              </a:rPr>
              <a:t>指明需要的服务类型</a:t>
            </a:r>
            <a:r>
              <a:rPr kumimoji="1" lang="en-US" altLang="zh-CN">
                <a:solidFill>
                  <a:srgbClr val="6600CC"/>
                </a:solidFill>
              </a:rPr>
              <a:t>, </a:t>
            </a:r>
            <a:r>
              <a:rPr kumimoji="1" lang="zh-CN" altLang="en-US">
                <a:solidFill>
                  <a:srgbClr val="6600CC"/>
                </a:solidFill>
              </a:rPr>
              <a:t>如</a:t>
            </a:r>
            <a:endParaRPr kumimoji="1" lang="zh-CN" altLang="en-US">
              <a:solidFill>
                <a:srgbClr val="6600CC"/>
              </a:solidFill>
            </a:endParaRPr>
          </a:p>
          <a:p>
            <a:pPr marL="1295400" lvl="2" indent="-3810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alphaLcParenR"/>
              <a:defRPr/>
            </a:pP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SOCK_DGRAM: </a:t>
            </a: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数据报服务，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UDP</a:t>
            </a: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协议</a:t>
            </a:r>
            <a:endParaRPr kumimoji="1" lang="zh-CN" alt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1295400" lvl="2" indent="-3810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alphaLcParenR"/>
              <a:defRPr/>
            </a:pP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SOCK_STREAM: </a:t>
            </a: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流服务，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TCP</a:t>
            </a: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协议</a:t>
            </a:r>
            <a:endParaRPr kumimoji="1" lang="zh-CN" alt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  <a:defRPr/>
            </a:pPr>
            <a:r>
              <a:rPr kumimoji="1" lang="en-US" altLang="zh-CN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protocol:</a:t>
            </a:r>
            <a:r>
              <a:rPr kumimoji="1" lang="zh-CN" altLang="en-US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一般都取</a:t>
            </a:r>
            <a:r>
              <a:rPr kumimoji="1" lang="en-US" altLang="zh-CN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kumimoji="1" lang="en-US" altLang="zh-CN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2800" b="0">
                <a:effectLst>
                  <a:outerShdw blurRad="38100" dist="38100" dir="2700000" algn="tl">
                    <a:srgbClr val="C0C0C0"/>
                  </a:outerShdw>
                </a:effectLst>
              </a:rPr>
              <a:t>举例：</a:t>
            </a:r>
            <a:r>
              <a:rPr kumimoji="1" lang="en-US" altLang="zh-CN" sz="2800" b="0">
                <a:effectLst>
                  <a:outerShdw blurRad="38100" dist="38100" dir="2700000" algn="tl">
                    <a:srgbClr val="C0C0C0"/>
                  </a:outerShdw>
                </a:effectLst>
              </a:rPr>
              <a:t>s=socket(PF_INET,SOCK_STREAM,0)</a:t>
            </a:r>
            <a:endParaRPr kumimoji="1" lang="en-US" altLang="zh-CN" sz="2800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8964613" cy="10525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0" dirty="0"/>
              <a:t>一些主调用的套接字</a:t>
            </a:r>
            <a:r>
              <a:rPr lang="en-US" altLang="zh-CN" sz="3600" b="0" dirty="0"/>
              <a:t>API</a:t>
            </a:r>
            <a:br>
              <a:rPr lang="en-US" altLang="zh-CN" sz="3600" b="0" dirty="0"/>
            </a:br>
            <a:endParaRPr lang="en-US" altLang="zh-CN" sz="3600" b="0" dirty="0"/>
          </a:p>
        </p:txBody>
      </p:sp>
      <p:sp>
        <p:nvSpPr>
          <p:cNvPr id="32771" name="Text Box 4"/>
          <p:cNvSpPr>
            <a:spLocks noGrp="1" noChangeArrowheads="1"/>
          </p:cNvSpPr>
          <p:nvPr>
            <p:ph type="body" idx="1"/>
          </p:nvPr>
        </p:nvSpPr>
        <p:spPr>
          <a:xfrm>
            <a:off x="0" y="1571625"/>
            <a:ext cx="9501188" cy="5111750"/>
          </a:xfrm>
          <a:noFill/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kumimoji="1" lang="en-US" altLang="zh-CN" sz="2400">
                <a:solidFill>
                  <a:srgbClr val="FF3300"/>
                </a:solidFill>
              </a:rPr>
              <a:t>int Connect</a:t>
            </a:r>
            <a:r>
              <a:rPr kumimoji="1" lang="zh-CN" altLang="en-US" sz="2400">
                <a:solidFill>
                  <a:srgbClr val="FF3300"/>
                </a:solidFill>
              </a:rPr>
              <a:t>（</a:t>
            </a:r>
            <a:r>
              <a:rPr kumimoji="1" lang="en-US" altLang="zh-CN" sz="2400">
                <a:solidFill>
                  <a:srgbClr val="FF3300"/>
                </a:solidFill>
              </a:rPr>
              <a:t>int sockfd,struct sockaddr *server_addr,   </a:t>
            </a:r>
            <a:endParaRPr kumimoji="1" lang="en-US" altLang="zh-CN" sz="2400">
              <a:solidFill>
                <a:srgbClr val="FF3300"/>
              </a:solidFill>
            </a:endParaRP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FF3300"/>
                </a:solidFill>
              </a:rPr>
              <a:t>      int sockaddr_len</a:t>
            </a:r>
            <a:r>
              <a:rPr kumimoji="1" lang="zh-CN" altLang="en-US" sz="2400">
                <a:solidFill>
                  <a:srgbClr val="FF3300"/>
                </a:solidFill>
              </a:rPr>
              <a:t>）</a:t>
            </a:r>
            <a:endParaRPr kumimoji="1" lang="zh-CN" altLang="en-US" sz="2400">
              <a:solidFill>
                <a:srgbClr val="FF3300"/>
              </a:solidFill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kumimoji="1" lang="zh-CN" altLang="en-US" sz="3200" b="0"/>
              <a:t>功能： 同远程服务器建立主动连接，成功时返回</a:t>
            </a:r>
            <a:r>
              <a:rPr kumimoji="1" lang="en-US" altLang="zh-CN" sz="3200" b="0"/>
              <a:t>0</a:t>
            </a:r>
            <a:r>
              <a:rPr kumimoji="1" lang="zh-CN" altLang="en-US" sz="3200" b="0"/>
              <a:t>，若连接失败返回－</a:t>
            </a:r>
            <a:r>
              <a:rPr kumimoji="1" lang="en-US" altLang="zh-CN" sz="3200" b="0"/>
              <a:t>1</a:t>
            </a:r>
            <a:r>
              <a:rPr kumimoji="1" lang="zh-CN" altLang="en-US" sz="3200" b="0"/>
              <a:t>。客户端的调用</a:t>
            </a:r>
            <a:endParaRPr kumimoji="1" lang="en-US" altLang="zh-CN" sz="3200" b="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kumimoji="1" lang="zh-CN" altLang="en-US" sz="3200" b="0"/>
              <a:t>参数说明：</a:t>
            </a:r>
            <a:endParaRPr kumimoji="1" lang="zh-CN" altLang="en-US" sz="3200" b="0"/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kumimoji="1" lang="en-US" altLang="zh-CN" sz="2800">
                <a:solidFill>
                  <a:srgbClr val="6600CC"/>
                </a:solidFill>
                <a:ea typeface="宋体" panose="02010600030101010101" pitchFamily="2" charset="-122"/>
              </a:rPr>
              <a:t>Sockfd:</a:t>
            </a:r>
            <a:r>
              <a:rPr kumimoji="1"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套接字描述符，指明创建连接的套接字</a:t>
            </a:r>
            <a:endParaRPr kumimoji="1" lang="zh-CN" altLang="en-US" sz="28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kumimoji="1" lang="en-US" altLang="zh-CN" sz="2800">
                <a:solidFill>
                  <a:srgbClr val="6600CC"/>
                </a:solidFill>
                <a:ea typeface="宋体" panose="02010600030101010101" pitchFamily="2" charset="-122"/>
              </a:rPr>
              <a:t>Server_addr:</a:t>
            </a:r>
            <a:r>
              <a:rPr kumimoji="1"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指明远程端点：</a:t>
            </a:r>
            <a:r>
              <a:rPr kumimoji="1" lang="en-US" altLang="zh-CN" sz="2800">
                <a:solidFill>
                  <a:srgbClr val="6600CC"/>
                </a:solidFill>
                <a:ea typeface="宋体" panose="02010600030101010101" pitchFamily="2" charset="-122"/>
              </a:rPr>
              <a:t>IP</a:t>
            </a:r>
            <a:r>
              <a:rPr kumimoji="1"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地址和端口号</a:t>
            </a:r>
            <a:endParaRPr kumimoji="1" lang="zh-CN" altLang="en-US" sz="28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kumimoji="1" lang="en-US" altLang="zh-CN" sz="2800">
                <a:solidFill>
                  <a:srgbClr val="6600CC"/>
                </a:solidFill>
                <a:ea typeface="宋体" panose="02010600030101010101" pitchFamily="2" charset="-122"/>
              </a:rPr>
              <a:t>sockaddr_len :</a:t>
            </a:r>
            <a:r>
              <a:rPr kumimoji="1"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地址长度</a:t>
            </a:r>
            <a:endParaRPr kumimoji="1" lang="zh-CN" altLang="en-US" sz="28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kumimoji="1" lang="zh-CN" altLang="en-US" sz="2800" b="0">
                <a:ea typeface="宋体" panose="02010600030101010101" pitchFamily="2" charset="-122"/>
              </a:rPr>
              <a:t>举例</a:t>
            </a:r>
            <a:r>
              <a:rPr kumimoji="1" lang="en-US" altLang="zh-CN" sz="2800" b="0">
                <a:ea typeface="宋体" panose="02010600030101010101" pitchFamily="2" charset="-122"/>
              </a:rPr>
              <a:t>(P49): connect(s,remaddr,remaddrlen)</a:t>
            </a:r>
            <a:endParaRPr kumimoji="1" lang="en-US" altLang="zh-CN" sz="2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33375"/>
            <a:ext cx="8964613" cy="10525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0"/>
              <a:t>一些主调用的套接字</a:t>
            </a:r>
            <a:r>
              <a:rPr lang="en-US" altLang="zh-CN" sz="3600" b="0"/>
              <a:t>API</a:t>
            </a:r>
            <a:br>
              <a:rPr lang="en-US" altLang="zh-CN" sz="3600" b="0"/>
            </a:br>
            <a:endParaRPr lang="en-US" altLang="zh-CN" sz="3600" b="0"/>
          </a:p>
        </p:txBody>
      </p:sp>
      <p:sp>
        <p:nvSpPr>
          <p:cNvPr id="34819" name="Text Box 4"/>
          <p:cNvSpPr>
            <a:spLocks noGrp="1" noChangeArrowheads="1"/>
          </p:cNvSpPr>
          <p:nvPr>
            <p:ph type="body" idx="4294967295"/>
          </p:nvPr>
        </p:nvSpPr>
        <p:spPr>
          <a:xfrm>
            <a:off x="374650" y="1360488"/>
            <a:ext cx="8569325" cy="5111750"/>
          </a:xfrm>
          <a:noFill/>
        </p:spPr>
        <p:txBody>
          <a:bodyPr/>
          <a:lstStyle/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#include &lt;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string.h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&gt;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#include &lt;sys/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types.h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&gt;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#include &lt;sys/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socket.h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&gt;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#define DEST_IP "166.111.69.52" 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#define DEST_PORT 23 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main() {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int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sockfd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; 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          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struct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sockaddr_in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dest_addr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; /*</a:t>
            </a:r>
            <a:r>
              <a:rPr kumimoji="1" lang="zh-CN" altLang="en-US" sz="1800" dirty="0">
                <a:solidFill>
                  <a:srgbClr val="FF0000"/>
                </a:solidFill>
                <a:latin typeface="Arial Unicode MS" pitchFamily="34" charset="-122"/>
              </a:rPr>
              <a:t>将用来存储远程信息</a:t>
            </a:r>
            <a:r>
              <a:rPr kumimoji="1" lang="zh-CN" altLang="en-US" sz="1800" dirty="0">
                <a:solidFill>
                  <a:srgbClr val="000000"/>
                </a:solidFill>
                <a:latin typeface="Arial Unicode MS" pitchFamily="34" charset="-122"/>
              </a:rPr>
              <a:t>*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/ 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         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sockfd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= </a:t>
            </a:r>
            <a:r>
              <a:rPr kumimoji="1" lang="en-US" altLang="zh-CN" sz="1800" dirty="0">
                <a:solidFill>
                  <a:srgbClr val="0070C0"/>
                </a:solidFill>
                <a:latin typeface="Arial Unicode MS" pitchFamily="34" charset="-122"/>
              </a:rPr>
              <a:t>socket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(PF_INET, SOCK_STREAM, 0); 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        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dest_addr.sin_family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= AF_INET; /*</a:t>
            </a:r>
            <a:r>
              <a:rPr kumimoji="1" lang="zh-CN" altLang="en-US" sz="1800" dirty="0">
                <a:solidFill>
                  <a:srgbClr val="FF0000"/>
                </a:solidFill>
                <a:latin typeface="Arial Unicode MS" pitchFamily="34" charset="-122"/>
              </a:rPr>
              <a:t>主机字节序</a:t>
            </a:r>
            <a:r>
              <a:rPr kumimoji="1" lang="zh-CN" altLang="en-US" sz="1800" dirty="0">
                <a:solidFill>
                  <a:srgbClr val="000000"/>
                </a:solidFill>
                <a:latin typeface="Arial Unicode MS" pitchFamily="34" charset="-122"/>
              </a:rPr>
              <a:t>*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/ 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        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dest_addr.sin_port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=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htons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(DEST_PORT); /*</a:t>
            </a:r>
            <a:r>
              <a:rPr kumimoji="1" lang="zh-CN" altLang="en-US" sz="1800" dirty="0">
                <a:solidFill>
                  <a:srgbClr val="FF0000"/>
                </a:solidFill>
                <a:latin typeface="Arial Unicode MS" pitchFamily="34" charset="-122"/>
              </a:rPr>
              <a:t>网络字节序，短整形</a:t>
            </a:r>
            <a:r>
              <a:rPr kumimoji="1" lang="zh-CN" altLang="en-US" sz="1800" dirty="0">
                <a:solidFill>
                  <a:srgbClr val="000000"/>
                </a:solidFill>
                <a:latin typeface="Arial Unicode MS" pitchFamily="34" charset="-122"/>
              </a:rPr>
              <a:t>*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/ 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        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dest_addr.sin_addr.s_addr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=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inet_addr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(DEST_IP); 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       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bzero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(&amp;(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dest_addr.sin_zero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), 8); /*</a:t>
            </a:r>
            <a:r>
              <a:rPr kumimoji="1" lang="zh-CN" altLang="en-US" sz="1800" dirty="0">
                <a:solidFill>
                  <a:srgbClr val="FF0000"/>
                </a:solidFill>
                <a:latin typeface="Arial Unicode MS" pitchFamily="34" charset="-122"/>
              </a:rPr>
              <a:t>将剩下的结构中的空间置</a:t>
            </a:r>
            <a:r>
              <a:rPr kumimoji="1" lang="en-US" altLang="zh-CN" sz="1800" dirty="0">
                <a:solidFill>
                  <a:srgbClr val="FF0000"/>
                </a:solidFill>
                <a:latin typeface="Arial Unicode MS" pitchFamily="34" charset="-122"/>
              </a:rPr>
              <a:t>0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*/ 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       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int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</a:t>
            </a:r>
            <a:r>
              <a:rPr kumimoji="1" lang="en-US" altLang="zh-CN" sz="1800" dirty="0">
                <a:solidFill>
                  <a:srgbClr val="0070C0"/>
                </a:solidFill>
                <a:latin typeface="Arial Unicode MS" pitchFamily="34" charset="-122"/>
              </a:rPr>
              <a:t>connect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(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sockfd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, (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struct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sockaddr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*)&amp;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dest_addr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, 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sizeof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(</a:t>
            </a:r>
            <a:r>
              <a:rPr kumimoji="1" lang="en-US" altLang="zh-CN" sz="1800" dirty="0" err="1">
                <a:solidFill>
                  <a:srgbClr val="000000"/>
                </a:solidFill>
                <a:latin typeface="Arial Unicode MS" pitchFamily="34" charset="-122"/>
              </a:rPr>
              <a:t>dest_addr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)); 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        </a:t>
            </a:r>
            <a:r>
              <a:rPr kumimoji="1" lang="en-US" altLang="zh-CN" sz="1800" dirty="0">
                <a:solidFill>
                  <a:srgbClr val="000000"/>
                </a:solidFill>
              </a:rPr>
              <a:t>……</a:t>
            </a: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</a:t>
            </a:r>
            <a:r>
              <a:rPr kumimoji="1" lang="en-US" altLang="zh-CN" sz="1800" dirty="0">
                <a:solidFill>
                  <a:srgbClr val="000000"/>
                </a:solidFill>
              </a:rPr>
              <a:t>……</a:t>
            </a:r>
            <a:endParaRPr kumimoji="1" lang="en-US" altLang="zh-CN" sz="1800" dirty="0">
              <a:solidFill>
                <a:srgbClr val="000000"/>
              </a:solidFill>
              <a:latin typeface="Arial Unicode MS" pitchFamily="34" charset="-122"/>
            </a:endParaRPr>
          </a:p>
          <a:p>
            <a:pPr marL="716280" indent="-71628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800" dirty="0">
                <a:solidFill>
                  <a:srgbClr val="000000"/>
                </a:solidFill>
                <a:latin typeface="Arial Unicode MS" pitchFamily="34" charset="-122"/>
              </a:rPr>
              <a:t>         }</a:t>
            </a:r>
            <a:r>
              <a:rPr kumimoji="1" lang="en-US" altLang="zh-CN" sz="1800" dirty="0"/>
              <a:t> </a:t>
            </a:r>
            <a:endParaRPr kumimoji="1" lang="en-US" altLang="zh-CN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0"/>
              <a:t>发送数据：</a:t>
            </a:r>
            <a:r>
              <a:rPr lang="en-US" altLang="zh-CN" sz="3600" b="0"/>
              <a:t>send</a:t>
            </a:r>
            <a:endParaRPr lang="en-US" altLang="zh-CN" sz="3600" b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01788"/>
            <a:ext cx="8229600" cy="5256212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zh-CN">
                <a:solidFill>
                  <a:srgbClr val="0000CC"/>
                </a:solidFill>
              </a:rPr>
              <a:t>int Send(int sockfd, const void * data, int data_len, unsigned int flags)</a:t>
            </a:r>
            <a:endParaRPr lang="en-US" altLang="zh-CN">
              <a:solidFill>
                <a:srgbClr val="0000CC"/>
              </a:solidFill>
            </a:endParaRPr>
          </a:p>
          <a:p>
            <a:pPr marL="533400" indent="-5334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功能：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TCP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连接上发送数据</a:t>
            </a: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返回成功传送数据的长度，出错时返回－</a:t>
            </a: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send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会将外发数据复制到</a:t>
            </a: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OS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内核中，也可以使用</a:t>
            </a: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send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发送“面向连接”的</a:t>
            </a: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UDP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报文。</a:t>
            </a:r>
            <a:endParaRPr lang="zh-CN" altLang="en-US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参数说明：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sockfd: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套接字描述符</a:t>
            </a:r>
            <a:endParaRPr lang="zh-CN" altLang="en-US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data: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指向要发送数据的指针</a:t>
            </a:r>
            <a:endParaRPr lang="zh-CN" altLang="en-US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data_len: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数据长度</a:t>
            </a:r>
            <a:endParaRPr lang="zh-CN" altLang="en-US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flags: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一般为</a:t>
            </a: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en-US" altLang="zh-CN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举例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(p50)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send(s,req,strlen(req),0);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altLang="zh-CN" sz="19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0"/>
              <a:t>发送数据：</a:t>
            </a:r>
            <a:r>
              <a:rPr lang="en-US" altLang="zh-CN" sz="3600" b="0"/>
              <a:t>sendto</a:t>
            </a:r>
            <a:endParaRPr kumimoji="1" lang="en-US" altLang="zh-CN" sz="3600" b="0"/>
          </a:p>
        </p:txBody>
      </p:sp>
      <p:sp>
        <p:nvSpPr>
          <p:cNvPr id="3891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1341438"/>
            <a:ext cx="8713787" cy="5400675"/>
          </a:xfrm>
          <a:noFill/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>
                <a:solidFill>
                  <a:srgbClr val="0000CC"/>
                </a:solidFill>
              </a:rPr>
              <a:t>int Sendto(int sockfd, const void * data, int data_len, unsigned int flags, </a:t>
            </a:r>
            <a:r>
              <a:rPr kumimoji="1" lang="en-US" altLang="zh-CN" sz="2400">
                <a:solidFill>
                  <a:srgbClr val="0000CC"/>
                </a:solidFill>
              </a:rPr>
              <a:t>struct sockaddr *remaddr,int remaddr_len</a:t>
            </a:r>
            <a:r>
              <a:rPr kumimoji="1" lang="zh-CN" altLang="en-US" sz="2400">
                <a:solidFill>
                  <a:srgbClr val="0000CC"/>
                </a:solidFill>
              </a:rPr>
              <a:t>）</a:t>
            </a:r>
            <a:endParaRPr kumimoji="1" lang="zh-CN" altLang="en-US" sz="2400">
              <a:solidFill>
                <a:srgbClr val="0000CC"/>
              </a:solidFill>
            </a:endParaRPr>
          </a:p>
          <a:p>
            <a:pPr marL="533400" indent="-5334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功能：基于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UDP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发送数据报，返回实际发送的数据长度，出错时返回－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3400" indent="-5334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参数说明：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sockfd: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套接字描述符</a:t>
            </a:r>
            <a:endParaRPr lang="zh-CN" altLang="en-US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data: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指向要发送数据的指针</a:t>
            </a:r>
            <a:endParaRPr lang="zh-CN" altLang="en-US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data_len: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数据长度</a:t>
            </a:r>
            <a:endParaRPr lang="zh-CN" altLang="en-US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flags: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一般为</a:t>
            </a: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en-US" altLang="zh-CN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remaddr: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远端地址：</a:t>
            </a:r>
            <a:r>
              <a:rPr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地址和端口号</a:t>
            </a:r>
            <a:endParaRPr lang="zh-CN" altLang="en-US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kumimoji="1" lang="en-US" altLang="zh-CN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remaddr_len :</a:t>
            </a:r>
            <a:r>
              <a:rPr kumimoji="1" lang="zh-CN" altLang="en-US">
                <a:solidFill>
                  <a:srgbClr val="66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地址长度</a:t>
            </a:r>
            <a:endParaRPr kumimoji="1" lang="zh-CN" altLang="en-US">
              <a:solidFill>
                <a:srgbClr val="66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500">
                <a:latin typeface="宋体" panose="02010600030101010101" pitchFamily="2" charset="-122"/>
                <a:ea typeface="宋体" panose="02010600030101010101" pitchFamily="2" charset="-122"/>
              </a:rPr>
              <a:t>举例：</a:t>
            </a:r>
            <a:r>
              <a:rPr lang="en-US" altLang="zh-CN" sz="2500">
                <a:latin typeface="宋体" panose="02010600030101010101" pitchFamily="2" charset="-122"/>
                <a:ea typeface="宋体" panose="02010600030101010101" pitchFamily="2" charset="-122"/>
              </a:rPr>
              <a:t>sendto(sockfd,buf,sizeof(buf),0,(struct sockaddr *)&amp;address, sizeof(address)); </a:t>
            </a:r>
            <a:endParaRPr lang="en-US" altLang="zh-CN" sz="25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0"/>
              <a:t>接收数据：</a:t>
            </a:r>
            <a:r>
              <a:rPr lang="en-US" altLang="zh-CN" sz="3600" b="0"/>
              <a:t>recv</a:t>
            </a:r>
            <a:endParaRPr lang="en-US" altLang="zh-CN" sz="3600" b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569325" cy="532765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>
                <a:solidFill>
                  <a:srgbClr val="0000CC"/>
                </a:solidFill>
              </a:rPr>
              <a:t>int recv(int sockfd, void *buf, int buf_len,unsigned int flags); </a:t>
            </a:r>
            <a:endParaRPr lang="en-US" altLang="zh-CN" sz="240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功能：</a:t>
            </a:r>
            <a:endParaRPr lang="zh-CN" altLang="en-US" sz="2400"/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100">
                <a:ea typeface="宋体" panose="02010600030101010101" pitchFamily="2" charset="-122"/>
              </a:rPr>
              <a:t>从</a:t>
            </a:r>
            <a:r>
              <a:rPr lang="en-US" altLang="zh-CN" sz="2100">
                <a:ea typeface="宋体" panose="02010600030101010101" pitchFamily="2" charset="-122"/>
              </a:rPr>
              <a:t>TCP</a:t>
            </a:r>
            <a:r>
              <a:rPr lang="zh-CN" altLang="en-US" sz="2100">
                <a:ea typeface="宋体" panose="02010600030101010101" pitchFamily="2" charset="-122"/>
              </a:rPr>
              <a:t>接收数据</a:t>
            </a:r>
            <a:r>
              <a:rPr lang="en-US" altLang="zh-CN" sz="2100">
                <a:ea typeface="宋体" panose="02010600030101010101" pitchFamily="2" charset="-122"/>
              </a:rPr>
              <a:t>,</a:t>
            </a:r>
            <a:r>
              <a:rPr lang="zh-CN" altLang="en-US" sz="2100">
                <a:ea typeface="宋体" panose="02010600030101010101" pitchFamily="2" charset="-122"/>
              </a:rPr>
              <a:t>返回实际接收的数据长度，出错时返回－</a:t>
            </a:r>
            <a:r>
              <a:rPr lang="en-US" altLang="zh-CN" sz="2100">
                <a:ea typeface="宋体" panose="02010600030101010101" pitchFamily="2" charset="-122"/>
              </a:rPr>
              <a:t>1</a:t>
            </a:r>
            <a:r>
              <a:rPr lang="zh-CN" altLang="en-US" sz="2100">
                <a:ea typeface="宋体" panose="02010600030101010101" pitchFamily="2" charset="-122"/>
              </a:rPr>
              <a:t>。</a:t>
            </a:r>
            <a:endParaRPr lang="zh-CN" altLang="en-US" sz="2000"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100">
                <a:ea typeface="宋体" panose="02010600030101010101" pitchFamily="2" charset="-122"/>
              </a:rPr>
              <a:t>服务器使用其接收客户请求，客户使用它接受服务器的应答。</a:t>
            </a:r>
            <a:r>
              <a:rPr lang="zh-CN" altLang="en-US" sz="2000">
                <a:ea typeface="宋体" panose="02010600030101010101" pitchFamily="2" charset="-122"/>
              </a:rPr>
              <a:t>如果没有数据，将阻塞，如果收到的数据大于缓存的大小，多余的数据将丢弃。</a:t>
            </a:r>
            <a:r>
              <a:rPr lang="zh-CN" altLang="en-US" sz="2100">
                <a:ea typeface="宋体" panose="02010600030101010101" pitchFamily="2" charset="-122"/>
              </a:rPr>
              <a:t>也</a:t>
            </a:r>
            <a:r>
              <a:rPr lang="zh-CN" altLang="en-US" sz="2000">
                <a:ea typeface="宋体" panose="02010600030101010101" pitchFamily="2" charset="-122"/>
              </a:rPr>
              <a:t>可以使用</a:t>
            </a:r>
            <a:r>
              <a:rPr lang="en-US" altLang="zh-CN" sz="2000">
                <a:ea typeface="宋体" panose="02010600030101010101" pitchFamily="2" charset="-122"/>
              </a:rPr>
              <a:t>recv</a:t>
            </a:r>
            <a:r>
              <a:rPr lang="zh-CN" altLang="en-US" sz="2000">
                <a:ea typeface="宋体" panose="02010600030101010101" pitchFamily="2" charset="-122"/>
              </a:rPr>
              <a:t>接收面向连接的</a:t>
            </a:r>
            <a:r>
              <a:rPr lang="en-US" altLang="zh-CN" sz="2000">
                <a:ea typeface="宋体" panose="02010600030101010101" pitchFamily="2" charset="-122"/>
              </a:rPr>
              <a:t>UDP</a:t>
            </a:r>
            <a:r>
              <a:rPr lang="zh-CN" altLang="en-US" sz="2000">
                <a:ea typeface="宋体" panose="02010600030101010101" pitchFamily="2" charset="-122"/>
              </a:rPr>
              <a:t>的报文</a:t>
            </a:r>
            <a:endParaRPr lang="zh-CN" altLang="en-US" sz="2100">
              <a:ea typeface="宋体" panose="02010600030101010101" pitchFamily="2" charset="-12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参数说明：</a:t>
            </a:r>
            <a:endParaRPr lang="zh-CN" altLang="en-US" sz="2400"/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100">
                <a:solidFill>
                  <a:srgbClr val="6600CC"/>
                </a:solidFill>
                <a:ea typeface="宋体" panose="02010600030101010101" pitchFamily="2" charset="-122"/>
              </a:rPr>
              <a:t>Sockfd:</a:t>
            </a:r>
            <a:r>
              <a:rPr lang="zh-CN" altLang="en-US" sz="2100">
                <a:solidFill>
                  <a:srgbClr val="6600CC"/>
                </a:solidFill>
                <a:ea typeface="宋体" panose="02010600030101010101" pitchFamily="2" charset="-122"/>
              </a:rPr>
              <a:t>套接字描述符</a:t>
            </a:r>
            <a:endParaRPr lang="zh-CN" altLang="en-US" sz="21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100">
                <a:solidFill>
                  <a:srgbClr val="6600CC"/>
                </a:solidFill>
                <a:ea typeface="宋体" panose="02010600030101010101" pitchFamily="2" charset="-122"/>
              </a:rPr>
              <a:t>Buf:</a:t>
            </a:r>
            <a:r>
              <a:rPr lang="zh-CN" altLang="en-US" sz="2100">
                <a:solidFill>
                  <a:srgbClr val="6600CC"/>
                </a:solidFill>
                <a:ea typeface="宋体" panose="02010600030101010101" pitchFamily="2" charset="-122"/>
              </a:rPr>
              <a:t>指向内存块的指针</a:t>
            </a:r>
            <a:endParaRPr lang="zh-CN" altLang="en-US" sz="21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100">
                <a:solidFill>
                  <a:srgbClr val="6600CC"/>
                </a:solidFill>
                <a:ea typeface="宋体" panose="02010600030101010101" pitchFamily="2" charset="-122"/>
              </a:rPr>
              <a:t>Buf_len:</a:t>
            </a:r>
            <a:r>
              <a:rPr lang="zh-CN" altLang="en-US" sz="2100">
                <a:solidFill>
                  <a:srgbClr val="6600CC"/>
                </a:solidFill>
                <a:ea typeface="宋体" panose="02010600030101010101" pitchFamily="2" charset="-122"/>
              </a:rPr>
              <a:t>内存块大小，以字节为单位</a:t>
            </a:r>
            <a:endParaRPr lang="zh-CN" altLang="en-US" sz="21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100">
                <a:solidFill>
                  <a:srgbClr val="6600CC"/>
                </a:solidFill>
                <a:ea typeface="宋体" panose="02010600030101010101" pitchFamily="2" charset="-122"/>
              </a:rPr>
              <a:t>flags:</a:t>
            </a:r>
            <a:r>
              <a:rPr lang="zh-CN" altLang="en-US" sz="2100">
                <a:solidFill>
                  <a:srgbClr val="6600CC"/>
                </a:solidFill>
                <a:ea typeface="宋体" panose="02010600030101010101" pitchFamily="2" charset="-122"/>
              </a:rPr>
              <a:t>一般为</a:t>
            </a:r>
            <a:r>
              <a:rPr lang="en-US" altLang="zh-CN" sz="2100">
                <a:solidFill>
                  <a:srgbClr val="6600CC"/>
                </a:solidFill>
                <a:ea typeface="宋体" panose="02010600030101010101" pitchFamily="2" charset="-122"/>
              </a:rPr>
              <a:t>0 </a:t>
            </a:r>
            <a:endParaRPr lang="en-US" altLang="zh-CN" sz="21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举例：</a:t>
            </a:r>
            <a:r>
              <a:rPr lang="en-US" altLang="zh-CN">
                <a:ea typeface="宋体" panose="02010600030101010101" pitchFamily="2" charset="-122"/>
              </a:rPr>
              <a:t>recv(sockfd,buf,8192,0)</a:t>
            </a:r>
            <a:endParaRPr lang="en-US" altLang="zh-CN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0" dirty="0"/>
              <a:t>接收数据：</a:t>
            </a:r>
            <a:r>
              <a:rPr lang="en-US" altLang="zh-CN" sz="3600" b="0" dirty="0" err="1"/>
              <a:t>recvfrom</a:t>
            </a:r>
            <a:endParaRPr lang="en-US" altLang="zh-CN" sz="3600" b="0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820150" cy="5184775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>
                <a:solidFill>
                  <a:srgbClr val="0000CC"/>
                </a:solidFill>
              </a:rPr>
              <a:t>int recvfrom(int sockfd, void *buf, int buf_len,unsigned int flags,struct sockaddr *from,int fromlen</a:t>
            </a:r>
            <a:endParaRPr lang="en-US" altLang="zh-CN" sz="2400"/>
          </a:p>
          <a:p>
            <a:pPr marL="533400" indent="-5334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zh-CN" altLang="en-US"/>
              <a:t>功能：从</a:t>
            </a:r>
            <a:r>
              <a:rPr lang="en-US" altLang="zh-CN"/>
              <a:t>UDP</a:t>
            </a:r>
            <a:r>
              <a:rPr lang="zh-CN" altLang="en-US"/>
              <a:t>接收数据，返回实际接收的字节数，失败时返回－</a:t>
            </a:r>
            <a:r>
              <a:rPr lang="en-US" altLang="zh-CN"/>
              <a:t>1</a:t>
            </a:r>
            <a:endParaRPr lang="en-US" altLang="zh-CN"/>
          </a:p>
          <a:p>
            <a:pPr marL="533400" indent="-533400" eaLnBrk="1" hangingPunct="1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zh-CN" altLang="en-US"/>
              <a:t>参数说明：</a:t>
            </a:r>
            <a:endParaRPr lang="zh-CN" altLang="en-US"/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Sockfd: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套接字描述符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buf: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指向内存块的指针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buf_len: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内存块大小，以字节为单位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flags: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一般为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0</a:t>
            </a:r>
            <a:endParaRPr lang="en-US" altLang="zh-CN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from: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远端的地址，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IP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地址和端口号</a:t>
            </a:r>
            <a:endParaRPr lang="zh-CN" altLang="en-US">
              <a:solidFill>
                <a:srgbClr val="800080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fromlen: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远端地址长度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8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AutoNum type="circleNumDbPlain"/>
            </a:pPr>
            <a:r>
              <a:rPr lang="zh-CN" altLang="en-US">
                <a:ea typeface="宋体" panose="02010600030101010101" pitchFamily="2" charset="-122"/>
              </a:rPr>
              <a:t>举例：</a:t>
            </a:r>
            <a:r>
              <a:rPr lang="en-US" altLang="zh-CN" sz="2000">
                <a:ea typeface="宋体" panose="02010600030101010101" pitchFamily="2" charset="-122"/>
              </a:rPr>
              <a:t>recvfrom(sockfd,buf,8192,0,(struct sockaddr *)&amp;address, sizeof(address));</a:t>
            </a: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048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400" b="0"/>
              <a:t>close(int sockfd)</a:t>
            </a:r>
            <a:r>
              <a:rPr lang="en-US" altLang="zh-CN" sz="4400" b="0">
                <a:solidFill>
                  <a:srgbClr val="0000CC"/>
                </a:solidFill>
              </a:rPr>
              <a:t> </a:t>
            </a:r>
            <a:br>
              <a:rPr lang="en-US" altLang="zh-CN" sz="4400" b="0">
                <a:solidFill>
                  <a:srgbClr val="0000CC"/>
                </a:solidFill>
              </a:rPr>
            </a:br>
            <a:r>
              <a:rPr lang="zh-CN" altLang="en-US" sz="4400" b="0">
                <a:solidFill>
                  <a:srgbClr val="0000CC"/>
                </a:solidFill>
              </a:rPr>
              <a:t>　　 </a:t>
            </a:r>
            <a:endParaRPr lang="zh-CN" altLang="en-US" sz="4400" b="0">
              <a:solidFill>
                <a:srgbClr val="0000CC"/>
              </a:solidFill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29600" cy="478155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3200" b="0"/>
              <a:t>功能</a:t>
            </a:r>
            <a:r>
              <a:rPr lang="zh-CN" altLang="en-US" b="0"/>
              <a:t>：</a:t>
            </a:r>
            <a:endParaRPr lang="zh-CN" altLang="en-US" b="0"/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撤销套接字</a:t>
            </a:r>
            <a:r>
              <a:rPr lang="en-US" altLang="zh-CN" sz="2800">
                <a:solidFill>
                  <a:srgbClr val="6600CC"/>
                </a:solidFill>
                <a:ea typeface="宋体" panose="02010600030101010101" pitchFamily="2" charset="-122"/>
              </a:rPr>
              <a:t>.</a:t>
            </a:r>
            <a:endParaRPr lang="en-US" altLang="zh-CN" sz="28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如果只有一个进程使用，立即终止连接并撤销该套接字，如果多个进程共享该套接字，将引用数减一，如果引用数降到零，则撤销它</a:t>
            </a:r>
            <a:r>
              <a:rPr lang="zh-CN" altLang="en-US" sz="2800">
                <a:ea typeface="宋体" panose="02010600030101010101" pitchFamily="2" charset="-122"/>
              </a:rPr>
              <a:t>。</a:t>
            </a:r>
            <a:endParaRPr lang="zh-CN" altLang="en-US" sz="2800">
              <a:ea typeface="宋体" panose="02010600030101010101" pitchFamily="2" charset="-12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3200"/>
              <a:t>参数说明：</a:t>
            </a:r>
            <a:endParaRPr lang="zh-CN" altLang="en-US" sz="3200"/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2800">
                <a:solidFill>
                  <a:srgbClr val="6600CC"/>
                </a:solidFill>
                <a:ea typeface="宋体" panose="02010600030101010101" pitchFamily="2" charset="-122"/>
              </a:rPr>
              <a:t>Sockfd:</a:t>
            </a:r>
            <a:r>
              <a:rPr lang="zh-CN" altLang="en-US" sz="2800">
                <a:solidFill>
                  <a:srgbClr val="6600CC"/>
                </a:solidFill>
                <a:ea typeface="宋体" panose="02010600030101010101" pitchFamily="2" charset="-122"/>
              </a:rPr>
              <a:t>套接字描述符</a:t>
            </a:r>
            <a:endParaRPr lang="zh-CN" altLang="en-US" sz="280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ea typeface="宋体" panose="02010600030101010101" pitchFamily="2" charset="-122"/>
              </a:rPr>
              <a:t>举例：</a:t>
            </a:r>
            <a:r>
              <a:rPr lang="en-US" altLang="zh-CN" sz="2800">
                <a:ea typeface="宋体" panose="02010600030101010101" pitchFamily="2" charset="-122"/>
              </a:rPr>
              <a:t>close(socket_descriptor)</a:t>
            </a:r>
            <a:endParaRPr lang="en-US" altLang="zh-CN" sz="2800">
              <a:ea typeface="宋体" panose="02010600030101010101" pitchFamily="2" charset="-122"/>
            </a:endParaRPr>
          </a:p>
          <a:p>
            <a:pPr marL="914400" lvl="1" indent="-457200" eaLnBrk="1" hangingPunct="1"/>
            <a:endParaRPr lang="en-US" altLang="zh-CN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0"/>
              <a:t>分配本地地址：</a:t>
            </a:r>
            <a:r>
              <a:rPr lang="en-US" altLang="zh-CN" b="0"/>
              <a:t>bind</a:t>
            </a:r>
            <a:endParaRPr lang="en-US" altLang="zh-CN" b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29600" cy="532765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CN" sz="2400">
                <a:solidFill>
                  <a:srgbClr val="0000CC"/>
                </a:solidFill>
              </a:rPr>
              <a:t>int bind(int sockfd,struct sockaddr * my_addr,int addrlen)</a:t>
            </a:r>
            <a:endParaRPr lang="en-US" altLang="zh-CN" sz="240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/>
              <a:t>功能：为套接字指明一个本地端点地址</a:t>
            </a:r>
            <a:endParaRPr lang="zh-CN" altLang="en-US"/>
          </a:p>
          <a:p>
            <a:pPr marL="914400" lvl="1" indent="-457200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TCP/IP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协议使用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sockaddr_in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结构，包含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IP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地址和端口号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服务器使用它来指明熟知的端口号，然后等待连接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/>
              <a:t>参数说明：</a:t>
            </a:r>
            <a:endParaRPr lang="zh-CN" altLang="en-US"/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kumimoji="1"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Sockfd:</a:t>
            </a:r>
            <a:r>
              <a:rPr kumimoji="1"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套接字描述符，指明创建连接的套接字</a:t>
            </a:r>
            <a:endParaRPr kumimoji="1"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kumimoji="1"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my_addr:</a:t>
            </a:r>
            <a:r>
              <a:rPr kumimoji="1"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本地地址，</a:t>
            </a:r>
            <a:r>
              <a:rPr kumimoji="1"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IP</a:t>
            </a:r>
            <a:r>
              <a:rPr kumimoji="1"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地址和端口号</a:t>
            </a:r>
            <a:endParaRPr kumimoji="1"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kumimoji="1"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addrlen :</a:t>
            </a:r>
            <a:r>
              <a:rPr kumimoji="1"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地址长度</a:t>
            </a:r>
            <a:endParaRPr kumimoji="1"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	举例：</a:t>
            </a:r>
            <a:r>
              <a:rPr lang="en-US" altLang="zh-CN" sz="2400"/>
              <a:t>bind(sockfd, (struct sockaddr *)&amp;address, sizeof(address)); </a:t>
            </a:r>
            <a:endParaRPr lang="en-US" altLang="zh-CN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/>
              <a:t>设置被动模式：</a:t>
            </a:r>
            <a:r>
              <a:rPr lang="en-US" altLang="zh-CN" b="0"/>
              <a:t>listen</a:t>
            </a:r>
            <a:endParaRPr lang="en-US" altLang="zh-CN" b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5183187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CN" sz="2400">
                <a:solidFill>
                  <a:srgbClr val="0000CC"/>
                </a:solidFill>
              </a:rPr>
              <a:t>int listen(int sockfd,int input_queue_size)</a:t>
            </a:r>
            <a:endParaRPr lang="en-US" altLang="zh-CN" sz="240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3200"/>
              <a:t>功能：</a:t>
            </a:r>
            <a:endParaRPr lang="zh-CN" altLang="en-US" sz="3200"/>
          </a:p>
          <a:p>
            <a:pPr marL="914400" lvl="1" indent="-457200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面向连接的套接字使用它将一个套接字置为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被动模式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，并准备接收传入连接。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用于服务器，指明某个套接字连接是被动的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3200"/>
              <a:t>参数说明：</a:t>
            </a:r>
            <a:endParaRPr lang="zh-CN" altLang="en-US" sz="3200"/>
          </a:p>
          <a:p>
            <a:pPr marL="914400" lvl="1" indent="-457200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kumimoji="1"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Sockfd:</a:t>
            </a:r>
            <a:r>
              <a:rPr kumimoji="1"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套接字描述符，指明创建连接的套接字</a:t>
            </a:r>
            <a:endParaRPr kumimoji="1"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kumimoji="1"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input_queue_size: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该套接字使用的队列长度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,</a:t>
            </a:r>
            <a:r>
              <a:rPr lang="zh-CN" altLang="zh-CN">
                <a:solidFill>
                  <a:srgbClr val="6600CC"/>
                </a:solidFill>
                <a:ea typeface="宋体" panose="02010600030101010101" pitchFamily="2" charset="-122"/>
              </a:rPr>
              <a:t>指定在请求队列中允许的最大请求数</a:t>
            </a:r>
            <a:r>
              <a:rPr lang="zh-CN" altLang="en-US">
                <a:solidFill>
                  <a:srgbClr val="800080"/>
                </a:solidFill>
                <a:ea typeface="宋体" panose="02010600030101010101" pitchFamily="2" charset="-122"/>
              </a:rPr>
              <a:t> </a:t>
            </a:r>
            <a:endParaRPr lang="zh-CN" altLang="en-US">
              <a:solidFill>
                <a:srgbClr val="800080"/>
              </a:solidFill>
              <a:ea typeface="宋体" panose="02010600030101010101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	举例：</a:t>
            </a:r>
            <a:r>
              <a:rPr lang="en-US" altLang="zh-CN"/>
              <a:t>listen(sockfd,20)</a:t>
            </a:r>
            <a:endParaRPr kumimoji="1" lang="en-US" altLang="zh-CN">
              <a:solidFill>
                <a:srgbClr val="80008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64235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0"/>
              <a:t>接收连接：</a:t>
            </a:r>
            <a:r>
              <a:rPr lang="en-US" altLang="zh-CN" sz="3600" b="0"/>
              <a:t>accept</a:t>
            </a:r>
            <a:br>
              <a:rPr lang="en-US" altLang="zh-CN" sz="3600" b="0">
                <a:solidFill>
                  <a:srgbClr val="0000CC"/>
                </a:solidFill>
              </a:rPr>
            </a:br>
            <a:endParaRPr lang="en-US" altLang="zh-CN" sz="3600" b="0">
              <a:solidFill>
                <a:srgbClr val="0000CC"/>
              </a:solidFill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713787" cy="5329237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 err="1">
                <a:solidFill>
                  <a:srgbClr val="0000CC"/>
                </a:solidFill>
              </a:rPr>
              <a:t>int</a:t>
            </a:r>
            <a:r>
              <a:rPr lang="en-US" altLang="zh-CN" sz="2400" dirty="0">
                <a:solidFill>
                  <a:srgbClr val="0000CC"/>
                </a:solidFill>
              </a:rPr>
              <a:t> accept(</a:t>
            </a:r>
            <a:r>
              <a:rPr lang="en-US" altLang="zh-CN" sz="2400" dirty="0" err="1">
                <a:solidFill>
                  <a:srgbClr val="0000CC"/>
                </a:solidFill>
              </a:rPr>
              <a:t>int</a:t>
            </a:r>
            <a:r>
              <a:rPr lang="en-US" altLang="zh-CN" sz="2400" dirty="0">
                <a:solidFill>
                  <a:srgbClr val="0000CC"/>
                </a:solidFill>
              </a:rPr>
              <a:t> </a:t>
            </a:r>
            <a:r>
              <a:rPr lang="en-US" altLang="zh-CN" sz="2400" dirty="0" err="1">
                <a:solidFill>
                  <a:srgbClr val="0000CC"/>
                </a:solidFill>
              </a:rPr>
              <a:t>sockfd</a:t>
            </a:r>
            <a:r>
              <a:rPr lang="en-US" altLang="zh-CN" sz="2400" dirty="0">
                <a:solidFill>
                  <a:srgbClr val="0000CC"/>
                </a:solidFill>
              </a:rPr>
              <a:t>, void *</a:t>
            </a:r>
            <a:r>
              <a:rPr lang="en-US" altLang="zh-CN" sz="2400" dirty="0" err="1">
                <a:solidFill>
                  <a:srgbClr val="0000CC"/>
                </a:solidFill>
              </a:rPr>
              <a:t>addr</a:t>
            </a:r>
            <a:r>
              <a:rPr lang="en-US" altLang="zh-CN" sz="2400" dirty="0">
                <a:solidFill>
                  <a:srgbClr val="0000CC"/>
                </a:solidFill>
              </a:rPr>
              <a:t>, </a:t>
            </a:r>
            <a:r>
              <a:rPr lang="en-US" altLang="zh-CN" sz="2400" dirty="0" err="1">
                <a:solidFill>
                  <a:srgbClr val="0000CC"/>
                </a:solidFill>
              </a:rPr>
              <a:t>int</a:t>
            </a:r>
            <a:r>
              <a:rPr lang="en-US" altLang="zh-CN" sz="2400" dirty="0">
                <a:solidFill>
                  <a:srgbClr val="0000CC"/>
                </a:solidFill>
              </a:rPr>
              <a:t> *</a:t>
            </a:r>
            <a:r>
              <a:rPr lang="en-US" altLang="zh-CN" sz="2400" dirty="0" err="1">
                <a:solidFill>
                  <a:srgbClr val="0000CC"/>
                </a:solidFill>
              </a:rPr>
              <a:t>addrlen</a:t>
            </a:r>
            <a:r>
              <a:rPr lang="en-US" altLang="zh-CN" sz="2400" dirty="0">
                <a:solidFill>
                  <a:srgbClr val="0000CC"/>
                </a:solidFill>
              </a:rPr>
              <a:t>);</a:t>
            </a:r>
            <a:endParaRPr lang="en-US" altLang="zh-CN" sz="2400" dirty="0">
              <a:solidFill>
                <a:srgbClr val="0000CC"/>
              </a:solidFill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功能：获取传入连接请求，返回新的连接的套接字描述符。</a:t>
            </a:r>
            <a:endParaRPr lang="zh-CN" altLang="en-US" dirty="0"/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000" dirty="0">
                <a:solidFill>
                  <a:srgbClr val="6600CC"/>
                </a:solidFill>
                <a:ea typeface="宋体" panose="02010600030101010101" pitchFamily="2" charset="-122"/>
              </a:rPr>
              <a:t>为每个新的连接请求创建了一个新的套接字，服务器只对新的连接使用该套接字，原来的监听套接字接受其他的连接请求。</a:t>
            </a:r>
            <a:endParaRPr lang="zh-CN" altLang="en-US" sz="2000" dirty="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000" dirty="0">
                <a:solidFill>
                  <a:srgbClr val="6600CC"/>
                </a:solidFill>
                <a:ea typeface="宋体" panose="02010600030101010101" pitchFamily="2" charset="-122"/>
              </a:rPr>
              <a:t>新的连接上传输数据使用新的套接字，使用完毕，服务器将关闭这个套接字。</a:t>
            </a:r>
            <a:endParaRPr lang="zh-CN" altLang="en-US" sz="2000" dirty="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参数说明：</a:t>
            </a:r>
            <a:endParaRPr lang="zh-CN" altLang="en-US" dirty="0"/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kumimoji="1" lang="en-US" altLang="zh-CN" sz="2000" dirty="0" err="1">
                <a:solidFill>
                  <a:srgbClr val="6600CC"/>
                </a:solidFill>
                <a:ea typeface="宋体" panose="02010600030101010101" pitchFamily="2" charset="-122"/>
              </a:rPr>
              <a:t>Sockfd</a:t>
            </a:r>
            <a:r>
              <a:rPr kumimoji="1" lang="en-US" altLang="zh-CN" sz="2000" dirty="0">
                <a:solidFill>
                  <a:srgbClr val="6600CC"/>
                </a:solidFill>
                <a:ea typeface="宋体" panose="02010600030101010101" pitchFamily="2" charset="-122"/>
              </a:rPr>
              <a:t>:</a:t>
            </a:r>
            <a:r>
              <a:rPr kumimoji="1" lang="zh-CN" altLang="en-US" sz="2000" dirty="0">
                <a:solidFill>
                  <a:srgbClr val="6600CC"/>
                </a:solidFill>
                <a:ea typeface="宋体" panose="02010600030101010101" pitchFamily="2" charset="-122"/>
              </a:rPr>
              <a:t>套接字描述符，指明正在监听的套接字</a:t>
            </a:r>
            <a:endParaRPr kumimoji="1" lang="zh-CN" altLang="en-US" sz="2000" dirty="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kumimoji="1" lang="en-US" altLang="zh-CN" sz="2000" dirty="0" err="1">
                <a:solidFill>
                  <a:srgbClr val="6600CC"/>
                </a:solidFill>
                <a:ea typeface="宋体" panose="02010600030101010101" pitchFamily="2" charset="-122"/>
              </a:rPr>
              <a:t>addr</a:t>
            </a:r>
            <a:r>
              <a:rPr kumimoji="1" lang="en-US" altLang="zh-CN" sz="2000" dirty="0">
                <a:solidFill>
                  <a:srgbClr val="6600CC"/>
                </a:solidFill>
                <a:ea typeface="宋体" panose="02010600030101010101" pitchFamily="2" charset="-122"/>
              </a:rPr>
              <a:t>:</a:t>
            </a:r>
            <a:r>
              <a:rPr kumimoji="1" lang="zh-CN" altLang="en-US" sz="2000" dirty="0">
                <a:solidFill>
                  <a:srgbClr val="6600CC"/>
                </a:solidFill>
                <a:ea typeface="宋体" panose="02010600030101010101" pitchFamily="2" charset="-122"/>
              </a:rPr>
              <a:t>提出连接请求的主机地址</a:t>
            </a:r>
            <a:endParaRPr kumimoji="1" lang="zh-CN" altLang="en-US" sz="2000" dirty="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0000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000" dirty="0" err="1">
                <a:solidFill>
                  <a:srgbClr val="6600CC"/>
                </a:solidFill>
                <a:ea typeface="宋体" panose="02010600030101010101" pitchFamily="2" charset="-122"/>
              </a:rPr>
              <a:t>addrlen</a:t>
            </a:r>
            <a:r>
              <a:rPr lang="en-US" altLang="zh-CN" sz="2000" dirty="0">
                <a:solidFill>
                  <a:srgbClr val="6600CC"/>
                </a:solidFill>
                <a:ea typeface="宋体" panose="02010600030101010101" pitchFamily="2" charset="-122"/>
              </a:rPr>
              <a:t>:</a:t>
            </a:r>
            <a:r>
              <a:rPr lang="zh-CN" altLang="en-US" sz="2000" dirty="0">
                <a:solidFill>
                  <a:srgbClr val="6600CC"/>
                </a:solidFill>
                <a:ea typeface="宋体" panose="02010600030101010101" pitchFamily="2" charset="-122"/>
              </a:rPr>
              <a:t>地址长度</a:t>
            </a:r>
            <a:endParaRPr lang="zh-CN" altLang="en-US" sz="2000" dirty="0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2000" dirty="0"/>
              <a:t>	举例：</a:t>
            </a:r>
            <a:r>
              <a:rPr lang="en-US" altLang="zh-CN" sz="2000" dirty="0" err="1"/>
              <a:t>new_sockfd</a:t>
            </a:r>
            <a:r>
              <a:rPr lang="en-US" altLang="zh-CN" sz="2000" dirty="0"/>
              <a:t> = accept(</a:t>
            </a:r>
            <a:r>
              <a:rPr lang="en-US" altLang="zh-CN" sz="2000" dirty="0" err="1"/>
              <a:t>sockfd</a:t>
            </a:r>
            <a:r>
              <a:rPr lang="en-US" altLang="zh-CN" sz="2000" dirty="0"/>
              <a:t>, </a:t>
            </a:r>
            <a:r>
              <a:rPr lang="en-US" altLang="zh-CN" sz="2100" dirty="0"/>
              <a:t>(</a:t>
            </a:r>
            <a:r>
              <a:rPr lang="en-US" altLang="zh-CN" sz="2100" dirty="0" err="1"/>
              <a:t>struct</a:t>
            </a:r>
            <a:r>
              <a:rPr lang="en-US" altLang="zh-CN" sz="2100" dirty="0"/>
              <a:t> </a:t>
            </a:r>
            <a:r>
              <a:rPr lang="en-US" altLang="zh-CN" sz="2100" dirty="0" err="1"/>
              <a:t>sockaddr</a:t>
            </a:r>
            <a:r>
              <a:rPr lang="en-US" altLang="zh-CN" sz="2100" dirty="0"/>
              <a:t> *)&amp;address, </a:t>
            </a:r>
            <a:r>
              <a:rPr lang="en-US" altLang="zh-CN" sz="2100" dirty="0" err="1"/>
              <a:t>sizeof</a:t>
            </a:r>
            <a:r>
              <a:rPr lang="en-US" altLang="zh-CN" sz="2100" dirty="0"/>
              <a:t>(address)); </a:t>
            </a:r>
            <a:endParaRPr lang="en-US" altLang="zh-CN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0"/>
              <a:t>套接字</a:t>
            </a:r>
            <a:r>
              <a:rPr lang="en-US" altLang="zh-CN" b="0"/>
              <a:t>API</a:t>
            </a:r>
            <a:r>
              <a:rPr lang="zh-CN" altLang="en-US" b="0"/>
              <a:t>中的主要系统调用</a:t>
            </a:r>
            <a:endParaRPr lang="zh-CN" altLang="en-US" b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180022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CN"/>
              <a:t>read</a:t>
            </a:r>
            <a:r>
              <a:rPr lang="zh-CN" altLang="en-US"/>
              <a:t>和</a:t>
            </a:r>
            <a:r>
              <a:rPr lang="en-US" altLang="zh-CN"/>
              <a:t>write</a:t>
            </a:r>
            <a:endParaRPr lang="en-US" altLang="zh-CN"/>
          </a:p>
          <a:p>
            <a:pPr marL="914400" lvl="1" indent="-457200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6600CC"/>
                </a:solidFill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在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UNIX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和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Linux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中，可以用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read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和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write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代替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recv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和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send,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因为都调用内核的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sosend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实现。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/>
              <a:t>小结：</a:t>
            </a:r>
            <a:endParaRPr lang="zh-CN" altLang="en-US"/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1371600" y="3181350"/>
            <a:ext cx="1981200" cy="3195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socket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connect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send(write)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recv(read)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close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bind </a:t>
            </a:r>
            <a:r>
              <a:rPr kumimoji="1" lang="en-US" altLang="zh-CN" sz="2400" b="1">
                <a:solidFill>
                  <a:srgbClr val="FF0000"/>
                </a:solidFill>
              </a:rPr>
              <a:t>*</a:t>
            </a:r>
            <a:endParaRPr kumimoji="1"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4191000" y="3257550"/>
            <a:ext cx="1752600" cy="3195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listen </a:t>
            </a:r>
            <a:r>
              <a:rPr kumimoji="1" lang="en-US" altLang="zh-CN" sz="2400" b="1">
                <a:solidFill>
                  <a:srgbClr val="FF0000"/>
                </a:solidFill>
              </a:rPr>
              <a:t>*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accept </a:t>
            </a:r>
            <a:r>
              <a:rPr kumimoji="1" lang="en-US" altLang="zh-CN" sz="2400" b="1">
                <a:solidFill>
                  <a:srgbClr val="FF0000"/>
                </a:solidFill>
              </a:rPr>
              <a:t>*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recvmsg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sendmsg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recvfrom</a:t>
            </a:r>
            <a:endParaRPr kumimoji="1" lang="en-US" altLang="zh-CN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sendto </a:t>
            </a:r>
            <a:r>
              <a:rPr kumimoji="1" lang="en-US" altLang="zh-CN" sz="2400" b="1">
                <a:solidFill>
                  <a:srgbClr val="FF0000"/>
                </a:solidFill>
              </a:rPr>
              <a:t>*</a:t>
            </a:r>
            <a:endParaRPr kumimoji="1"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6248400" y="3181350"/>
            <a:ext cx="1981200" cy="21002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shutdown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getpeername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getsockopt</a:t>
            </a:r>
            <a:endParaRPr kumimoji="1"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setsockopt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>
              <a:defRPr/>
            </a:pPr>
            <a:r>
              <a:rPr lang="zh-CN" altLang="en-US" dirty="0">
                <a:ea typeface="宋体" panose="02010600030101010101" pitchFamily="2" charset="-122"/>
              </a:rPr>
              <a:t>字节顺序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536700"/>
            <a:ext cx="7772400" cy="2133600"/>
          </a:xfrm>
          <a:noFill/>
        </p:spPr>
        <p:txBody>
          <a:bodyPr lIns="90488" tIns="44450" rIns="90488" bIns="44450"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3200">
                <a:ea typeface="宋体" panose="02010600030101010101" pitchFamily="2" charset="-122"/>
              </a:rPr>
              <a:t>Different computer architectures use different byte ordering to represent multibyte values.</a:t>
            </a:r>
            <a:endParaRPr lang="en-US" altLang="zh-CN" sz="3200">
              <a:ea typeface="宋体" panose="02010600030101010101" pitchFamily="2" charset="-12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3200">
                <a:ea typeface="宋体" panose="02010600030101010101" pitchFamily="2" charset="-122"/>
              </a:rPr>
              <a:t>16 bit integer: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495425" y="3971925"/>
            <a:ext cx="1651000" cy="508000"/>
          </a:xfrm>
          <a:prstGeom prst="rect">
            <a:avLst/>
          </a:prstGeom>
          <a:solidFill>
            <a:schemeClr val="folHlink"/>
          </a:solidFill>
          <a:ln w="25400">
            <a:solidFill>
              <a:srgbClr val="000000"/>
            </a:solidFill>
            <a:miter lim="800000"/>
          </a:ln>
          <a:effectLst/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Low Byte</a:t>
            </a:r>
            <a:endParaRPr lang="en-US" altLang="zh-CN" sz="24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elvetica" pitchFamily="34" charset="0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495425" y="4505325"/>
            <a:ext cx="1651000" cy="508000"/>
          </a:xfrm>
          <a:prstGeom prst="rect">
            <a:avLst/>
          </a:prstGeom>
          <a:solidFill>
            <a:srgbClr val="FF3300"/>
          </a:solidFill>
          <a:ln w="25400">
            <a:solidFill>
              <a:srgbClr val="000000"/>
            </a:solidFill>
            <a:miter lim="800000"/>
          </a:ln>
          <a:effectLst/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High Byte</a:t>
            </a:r>
            <a:endParaRPr lang="en-US" altLang="zh-CN" sz="24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elvetica" pitchFamily="34" charset="0"/>
            </a:endParaRP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1495425" y="5038725"/>
            <a:ext cx="1651000" cy="5080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1495425" y="5572125"/>
            <a:ext cx="1651000" cy="5080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6143625" y="3971925"/>
            <a:ext cx="1651000" cy="508000"/>
          </a:xfrm>
          <a:prstGeom prst="rect">
            <a:avLst/>
          </a:prstGeom>
          <a:solidFill>
            <a:srgbClr val="FF3300"/>
          </a:solidFill>
          <a:ln w="25400" algn="ctr">
            <a:solidFill>
              <a:srgbClr val="000000"/>
            </a:solidFill>
            <a:miter lim="800000"/>
          </a:ln>
          <a:effectLst/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High Byte</a:t>
            </a:r>
            <a:endParaRPr lang="en-US" altLang="zh-CN" sz="24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elvetica" pitchFamily="34" charset="0"/>
            </a:endParaRP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6143625" y="4505325"/>
            <a:ext cx="1651000" cy="508000"/>
          </a:xfrm>
          <a:prstGeom prst="rect">
            <a:avLst/>
          </a:prstGeom>
          <a:solidFill>
            <a:schemeClr val="folHlink"/>
          </a:solidFill>
          <a:ln w="25400" algn="ctr">
            <a:solidFill>
              <a:srgbClr val="000000"/>
            </a:solidFill>
            <a:miter lim="800000"/>
          </a:ln>
          <a:effectLst/>
        </p:spPr>
        <p:txBody>
          <a:bodyPr wrap="none" lIns="90488" tIns="44450" rIns="90488" bIns="44450" anchor="ctr"/>
          <a:lstStyle/>
          <a:p>
            <a:pPr algn="ctr">
              <a:defRPr/>
            </a:pP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Low Byte</a:t>
            </a:r>
            <a:endParaRPr lang="en-US" altLang="zh-CN" sz="24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elvetica" pitchFamily="34" charset="0"/>
            </a:endParaRP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6143625" y="5038725"/>
            <a:ext cx="1651000" cy="508000"/>
          </a:xfrm>
          <a:prstGeom prst="rect">
            <a:avLst/>
          </a:prstGeom>
          <a:solidFill>
            <a:schemeClr val="accent1"/>
          </a:solidFill>
          <a:ln w="25400" algn="ctr">
            <a:solidFill>
              <a:srgbClr val="000000"/>
            </a:solidFill>
            <a:miter lim="800000"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6143625" y="5572125"/>
            <a:ext cx="1651000" cy="508000"/>
          </a:xfrm>
          <a:prstGeom prst="rect">
            <a:avLst/>
          </a:prstGeom>
          <a:solidFill>
            <a:schemeClr val="accent1"/>
          </a:solidFill>
          <a:ln w="25400" algn="ctr">
            <a:solidFill>
              <a:srgbClr val="000000"/>
            </a:solidFill>
            <a:miter lim="800000"/>
          </a:ln>
        </p:spPr>
        <p:txBody>
          <a:bodyPr wrap="none" lIns="90488" tIns="44450" rIns="90488" bIns="44450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3754438" y="3975100"/>
            <a:ext cx="1822450" cy="515938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0">
                <a:latin typeface="Helvetica" pitchFamily="34" charset="0"/>
                <a:ea typeface="宋体" panose="02010600030101010101" pitchFamily="2" charset="-122"/>
              </a:rPr>
              <a:t>Address A</a:t>
            </a:r>
            <a:endParaRPr lang="en-US" altLang="zh-CN" b="0">
              <a:latin typeface="Helvetica" pitchFamily="34" charset="0"/>
              <a:ea typeface="宋体" panose="02010600030101010101" pitchFamily="2" charset="-122"/>
            </a:endParaRPr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 flipH="1">
            <a:off x="3222625" y="4187825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>
            <a:off x="5534025" y="4187825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 flipH="1">
            <a:off x="3222625" y="4721225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>
            <a:off x="5686425" y="47212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7" name="Rectangle 17"/>
          <p:cNvSpPr>
            <a:spLocks noChangeArrowheads="1"/>
          </p:cNvSpPr>
          <p:nvPr/>
        </p:nvSpPr>
        <p:spPr bwMode="auto">
          <a:xfrm>
            <a:off x="3486150" y="4508500"/>
            <a:ext cx="2228850" cy="515938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b="0">
                <a:latin typeface="Helvetica" pitchFamily="34" charset="0"/>
                <a:ea typeface="宋体" panose="02010600030101010101" pitchFamily="2" charset="-122"/>
              </a:rPr>
              <a:t>Address A+1</a:t>
            </a:r>
            <a:endParaRPr lang="en-US" altLang="zh-CN" b="0">
              <a:latin typeface="Helvetica" pitchFamily="34" charset="0"/>
              <a:ea typeface="宋体" panose="02010600030101010101" pitchFamily="2" charset="-122"/>
            </a:endParaRPr>
          </a:p>
        </p:txBody>
      </p:sp>
      <p:sp>
        <p:nvSpPr>
          <p:cNvPr id="20498" name="TextBox 19"/>
          <p:cNvSpPr txBox="1">
            <a:spLocks noChangeArrowheads="1"/>
          </p:cNvSpPr>
          <p:nvPr/>
        </p:nvSpPr>
        <p:spPr bwMode="auto">
          <a:xfrm>
            <a:off x="357188" y="4357688"/>
            <a:ext cx="9286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宋体" panose="02010600030101010101" pitchFamily="2" charset="-122"/>
              </a:rPr>
              <a:t>Little Endian</a:t>
            </a:r>
            <a:endParaRPr lang="zh-CN" altLang="en-US" sz="1800" b="0">
              <a:ea typeface="宋体" panose="02010600030101010101" pitchFamily="2" charset="-122"/>
            </a:endParaRPr>
          </a:p>
        </p:txBody>
      </p:sp>
      <p:sp>
        <p:nvSpPr>
          <p:cNvPr id="20499" name="TextBox 20"/>
          <p:cNvSpPr txBox="1">
            <a:spLocks noChangeArrowheads="1"/>
          </p:cNvSpPr>
          <p:nvPr/>
        </p:nvSpPr>
        <p:spPr bwMode="auto">
          <a:xfrm>
            <a:off x="7929563" y="4357688"/>
            <a:ext cx="9286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宋体" panose="02010600030101010101" pitchFamily="2" charset="-122"/>
              </a:rPr>
              <a:t>Big</a:t>
            </a:r>
            <a:endParaRPr lang="en-US" altLang="zh-CN" sz="1800" b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宋体" panose="02010600030101010101" pitchFamily="2" charset="-122"/>
              </a:rPr>
              <a:t>Endian</a:t>
            </a: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宋体" panose="02010600030101010101" pitchFamily="2" charset="-122"/>
              </a:rPr>
              <a:t>主机字节顺序和网络字节顺序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3200">
                <a:ea typeface="宋体" panose="02010600030101010101" pitchFamily="2" charset="-122"/>
              </a:rPr>
              <a:t>Suppose a Big Endian machine sends a 16 bit integer with the value 2:</a:t>
            </a:r>
            <a:endParaRPr lang="en-US" altLang="zh-CN" sz="3200">
              <a:ea typeface="宋体" panose="02010600030101010101" pitchFamily="2" charset="-122"/>
            </a:endParaRP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3200">
                <a:ea typeface="宋体" panose="02010600030101010101" pitchFamily="2" charset="-122"/>
              </a:rPr>
              <a:t>               低</a:t>
            </a:r>
            <a:r>
              <a:rPr lang="en-US" altLang="zh-CN" sz="3200">
                <a:ea typeface="宋体" panose="02010600030101010101" pitchFamily="2" charset="-122"/>
              </a:rPr>
              <a:t>                                   </a:t>
            </a:r>
            <a:r>
              <a:rPr lang="zh-CN" altLang="en-US" sz="3200">
                <a:ea typeface="宋体" panose="02010600030101010101" pitchFamily="2" charset="-122"/>
              </a:rPr>
              <a:t>高</a:t>
            </a:r>
            <a:endParaRPr lang="en-US" altLang="zh-CN" sz="3200">
              <a:ea typeface="宋体" panose="02010600030101010101" pitchFamily="2" charset="-122"/>
            </a:endParaRP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endParaRPr lang="en-US" altLang="zh-CN" sz="3200">
              <a:ea typeface="宋体" panose="02010600030101010101" pitchFamily="2" charset="-122"/>
            </a:endParaRPr>
          </a:p>
          <a:p>
            <a:pPr marL="533400" indent="-533400" eaLnBrk="1" hangingPunct="1">
              <a:buFont typeface="Arial" panose="020B0604020202020204" pitchFamily="34" charset="0"/>
              <a:buAutoNum type="arabicPeriod" startAt="2"/>
            </a:pPr>
            <a:r>
              <a:rPr lang="en-US" altLang="zh-CN" sz="3200">
                <a:ea typeface="宋体" panose="02010600030101010101" pitchFamily="2" charset="-122"/>
              </a:rPr>
              <a:t>A Little Endian machine will think it got the number 512: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2224088" y="5229225"/>
            <a:ext cx="4724400" cy="617538"/>
          </a:xfrm>
          <a:prstGeom prst="rect">
            <a:avLst/>
          </a:prstGeom>
          <a:solidFill>
            <a:srgbClr val="FF3300"/>
          </a:solidFill>
          <a:ln w="38100" algn="ctr">
            <a:solidFill>
              <a:schemeClr val="bg2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chemeClr val="bg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0000001000000000</a:t>
            </a:r>
            <a:endParaRPr lang="en-US" altLang="zh-CN" sz="3200">
              <a:solidFill>
                <a:schemeClr val="bg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2286000" y="3214688"/>
            <a:ext cx="4724400" cy="617537"/>
          </a:xfrm>
          <a:prstGeom prst="rect">
            <a:avLst/>
          </a:prstGeom>
          <a:solidFill>
            <a:srgbClr val="FF3300"/>
          </a:solidFill>
          <a:ln w="38100">
            <a:solidFill>
              <a:schemeClr val="bg2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3200">
                <a:solidFill>
                  <a:schemeClr val="bg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0000000000000010</a:t>
            </a:r>
            <a:endParaRPr lang="en-US" altLang="zh-CN" sz="2400">
              <a:solidFill>
                <a:schemeClr val="bg1"/>
              </a:solidFill>
              <a:latin typeface="Helvetica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52400" y="152400"/>
            <a:ext cx="8964613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r" eaLnBrk="1" hangingPunct="1">
              <a:defRPr/>
            </a:pPr>
            <a:r>
              <a:rPr lang="zh-CN" altLang="en-US" sz="4000" b="1" ker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主机字节顺序和网络字节顺序</a:t>
            </a:r>
            <a:endParaRPr lang="en-US" altLang="zh-CN" sz="4000" b="1" kern="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网络字节顺序是</a:t>
            </a:r>
            <a:r>
              <a:rPr lang="en-US" altLang="zh-CN"/>
              <a:t>TCP/IP</a:t>
            </a:r>
            <a:r>
              <a:rPr lang="zh-CN" altLang="en-US"/>
              <a:t>中规定好的一种数据表示格式，它与具体的</a:t>
            </a:r>
            <a:r>
              <a:rPr lang="en-US" altLang="zh-CN"/>
              <a:t>CPU</a:t>
            </a:r>
            <a:r>
              <a:rPr lang="zh-CN" altLang="en-US"/>
              <a:t>类型、操作系统等无关，从而可以保证数据在不同主机之间传输时能够被正确解释。网络字节顺序采用</a:t>
            </a:r>
            <a:r>
              <a:rPr lang="en-US" altLang="zh-CN"/>
              <a:t>big endian</a:t>
            </a:r>
            <a:r>
              <a:rPr lang="zh-CN" altLang="en-US"/>
              <a:t>排序方式。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考虑到与协议的一致以及与同类其它平台产品的互通，在程序中发数据包时，将主机字节序转换为网络字节序，收数据包处将网络字节序转换为主机字节序 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用于整数转换的实用例程</a:t>
            </a:r>
            <a:endParaRPr lang="zh-CN" alt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85888"/>
            <a:ext cx="8389937" cy="5472112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3200" b="0"/>
              <a:t>网络字节顺序：最高位字节在前</a:t>
            </a:r>
            <a:endParaRPr lang="zh-CN" altLang="en-US" sz="3200" b="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3200" b="0"/>
              <a:t>有些套接字例程要求参数按照网络字节顺序存储。如</a:t>
            </a:r>
            <a:r>
              <a:rPr lang="en-US" altLang="zh-CN" sz="3200" b="0"/>
              <a:t>sockaddr_in</a:t>
            </a:r>
            <a:endParaRPr lang="en-US" altLang="zh-CN" sz="3200" b="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3200" b="0"/>
              <a:t>需要网络字节顺序和本地主机字节顺序进行转换的函数，坚持使用，便于移植。</a:t>
            </a:r>
            <a:endParaRPr lang="zh-CN" altLang="en-US" sz="3200" b="0"/>
          </a:p>
          <a:p>
            <a:pPr marL="533400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sz="3200" b="0"/>
              <a:t>分为短（</a:t>
            </a:r>
            <a:r>
              <a:rPr lang="en-US" altLang="zh-CN" sz="3200" b="0"/>
              <a:t>short 16</a:t>
            </a:r>
            <a:r>
              <a:rPr lang="zh-CN" altLang="en-US" sz="3200" b="0"/>
              <a:t>位</a:t>
            </a:r>
            <a:r>
              <a:rPr lang="en-US" altLang="zh-CN" sz="3200" b="0"/>
              <a:t>)</a:t>
            </a:r>
            <a:r>
              <a:rPr lang="zh-CN" altLang="en-US" sz="3200" b="0"/>
              <a:t>和长（</a:t>
            </a:r>
            <a:r>
              <a:rPr lang="en-US" altLang="zh-CN" sz="3200" b="0"/>
              <a:t>long 32</a:t>
            </a:r>
            <a:r>
              <a:rPr lang="zh-CN" altLang="en-US" sz="3200" b="0"/>
              <a:t>位</a:t>
            </a:r>
            <a:r>
              <a:rPr lang="en-US" altLang="zh-CN" sz="3200" b="0"/>
              <a:t>)</a:t>
            </a:r>
            <a:r>
              <a:rPr lang="zh-CN" altLang="en-US" sz="3200" b="0"/>
              <a:t>两种</a:t>
            </a:r>
            <a:endParaRPr lang="zh-CN" altLang="en-US" sz="3200" b="0"/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htons: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将一个短整数从本地字节顺序转换为网络字节顺序；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ntohs: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将一个短整数从网络字节顺序转换为本地字节顺序；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htonl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和</a:t>
            </a:r>
            <a:r>
              <a:rPr lang="en-US" altLang="zh-CN">
                <a:solidFill>
                  <a:srgbClr val="6600CC"/>
                </a:solidFill>
                <a:ea typeface="宋体" panose="02010600030101010101" pitchFamily="2" charset="-122"/>
              </a:rPr>
              <a:t>ntohl</a:t>
            </a:r>
            <a:r>
              <a:rPr lang="zh-CN" altLang="en-US">
                <a:solidFill>
                  <a:srgbClr val="6600CC"/>
                </a:solidFill>
                <a:ea typeface="宋体" panose="02010600030101010101" pitchFamily="2" charset="-122"/>
              </a:rPr>
              <a:t>： 类似如上</a:t>
            </a:r>
            <a:endParaRPr lang="zh-CN" altLang="en-US">
              <a:solidFill>
                <a:srgbClr val="6600CC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在程序中使用套接字调用</a:t>
            </a: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229600" cy="5572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0"/>
              <a:t> </a:t>
            </a:r>
            <a:r>
              <a:rPr lang="zh-CN" altLang="en-US" b="0"/>
              <a:t>使用</a:t>
            </a:r>
            <a:r>
              <a:rPr lang="en-US" altLang="zh-CN" b="0"/>
              <a:t>TCP</a:t>
            </a:r>
            <a:r>
              <a:rPr lang="zh-CN" altLang="en-US" b="0"/>
              <a:t>的客户和服务器套接字函数调用序列</a:t>
            </a:r>
            <a:endParaRPr lang="zh-CN" altLang="en-US" b="0"/>
          </a:p>
        </p:txBody>
      </p:sp>
      <p:grpSp>
        <p:nvGrpSpPr>
          <p:cNvPr id="57348" name="Group 4"/>
          <p:cNvGrpSpPr/>
          <p:nvPr/>
        </p:nvGrpSpPr>
        <p:grpSpPr bwMode="auto">
          <a:xfrm>
            <a:off x="1600200" y="1981200"/>
            <a:ext cx="1854200" cy="4038600"/>
            <a:chOff x="1104" y="1392"/>
            <a:chExt cx="1168" cy="2544"/>
          </a:xfrm>
        </p:grpSpPr>
        <p:sp>
          <p:nvSpPr>
            <p:cNvPr id="57366" name="Text Box 5"/>
            <p:cNvSpPr txBox="1">
              <a:spLocks noChangeArrowheads="1"/>
            </p:cNvSpPr>
            <p:nvPr/>
          </p:nvSpPr>
          <p:spPr bwMode="auto">
            <a:xfrm>
              <a:off x="1104" y="1776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socket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7" name="Text Box 6"/>
            <p:cNvSpPr txBox="1">
              <a:spLocks noChangeArrowheads="1"/>
            </p:cNvSpPr>
            <p:nvPr/>
          </p:nvSpPr>
          <p:spPr bwMode="auto">
            <a:xfrm>
              <a:off x="1104" y="1392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客户端</a:t>
              </a:r>
              <a:endPara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8" name="Text Box 7"/>
            <p:cNvSpPr txBox="1">
              <a:spLocks noChangeArrowheads="1"/>
            </p:cNvSpPr>
            <p:nvPr/>
          </p:nvSpPr>
          <p:spPr bwMode="auto">
            <a:xfrm>
              <a:off x="1104" y="2244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connect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9" name="Text Box 8"/>
            <p:cNvSpPr txBox="1">
              <a:spLocks noChangeArrowheads="1"/>
            </p:cNvSpPr>
            <p:nvPr/>
          </p:nvSpPr>
          <p:spPr bwMode="auto">
            <a:xfrm>
              <a:off x="1104" y="2712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send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70" name="Text Box 9"/>
            <p:cNvSpPr txBox="1">
              <a:spLocks noChangeArrowheads="1"/>
            </p:cNvSpPr>
            <p:nvPr/>
          </p:nvSpPr>
          <p:spPr bwMode="auto">
            <a:xfrm>
              <a:off x="1104" y="3180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recv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71" name="Text Box 10"/>
            <p:cNvSpPr txBox="1">
              <a:spLocks noChangeArrowheads="1"/>
            </p:cNvSpPr>
            <p:nvPr/>
          </p:nvSpPr>
          <p:spPr bwMode="auto">
            <a:xfrm>
              <a:off x="1104" y="3648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close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72" name="Line 11"/>
            <p:cNvSpPr>
              <a:spLocks noChangeShapeType="1"/>
            </p:cNvSpPr>
            <p:nvPr/>
          </p:nvSpPr>
          <p:spPr bwMode="auto">
            <a:xfrm>
              <a:off x="1392" y="2016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3" name="Line 12"/>
            <p:cNvSpPr>
              <a:spLocks noChangeShapeType="1"/>
            </p:cNvSpPr>
            <p:nvPr/>
          </p:nvSpPr>
          <p:spPr bwMode="auto">
            <a:xfrm>
              <a:off x="1392" y="2496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4" name="Line 13"/>
            <p:cNvSpPr>
              <a:spLocks noChangeShapeType="1"/>
            </p:cNvSpPr>
            <p:nvPr/>
          </p:nvSpPr>
          <p:spPr bwMode="auto">
            <a:xfrm>
              <a:off x="1392" y="2976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5" name="Line 14"/>
            <p:cNvSpPr>
              <a:spLocks noChangeShapeType="1"/>
            </p:cNvSpPr>
            <p:nvPr/>
          </p:nvSpPr>
          <p:spPr bwMode="auto">
            <a:xfrm>
              <a:off x="1392" y="3456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6" name="Freeform 15"/>
            <p:cNvSpPr/>
            <p:nvPr/>
          </p:nvSpPr>
          <p:spPr bwMode="auto">
            <a:xfrm>
              <a:off x="1680" y="2856"/>
              <a:ext cx="592" cy="520"/>
            </a:xfrm>
            <a:custGeom>
              <a:avLst/>
              <a:gdLst>
                <a:gd name="T0" fmla="*/ 0 w 592"/>
                <a:gd name="T1" fmla="*/ 504 h 520"/>
                <a:gd name="T2" fmla="*/ 384 w 592"/>
                <a:gd name="T3" fmla="*/ 504 h 520"/>
                <a:gd name="T4" fmla="*/ 528 w 592"/>
                <a:gd name="T5" fmla="*/ 408 h 520"/>
                <a:gd name="T6" fmla="*/ 576 w 592"/>
                <a:gd name="T7" fmla="*/ 168 h 520"/>
                <a:gd name="T8" fmla="*/ 432 w 592"/>
                <a:gd name="T9" fmla="*/ 24 h 520"/>
                <a:gd name="T10" fmla="*/ 0 w 592"/>
                <a:gd name="T11" fmla="*/ 24 h 5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92"/>
                <a:gd name="T19" fmla="*/ 0 h 520"/>
                <a:gd name="T20" fmla="*/ 592 w 592"/>
                <a:gd name="T21" fmla="*/ 520 h 5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92" h="520">
                  <a:moveTo>
                    <a:pt x="0" y="504"/>
                  </a:moveTo>
                  <a:cubicBezTo>
                    <a:pt x="148" y="512"/>
                    <a:pt x="296" y="520"/>
                    <a:pt x="384" y="504"/>
                  </a:cubicBezTo>
                  <a:cubicBezTo>
                    <a:pt x="472" y="488"/>
                    <a:pt x="496" y="464"/>
                    <a:pt x="528" y="408"/>
                  </a:cubicBezTo>
                  <a:cubicBezTo>
                    <a:pt x="560" y="352"/>
                    <a:pt x="592" y="232"/>
                    <a:pt x="576" y="168"/>
                  </a:cubicBezTo>
                  <a:cubicBezTo>
                    <a:pt x="560" y="104"/>
                    <a:pt x="528" y="48"/>
                    <a:pt x="432" y="24"/>
                  </a:cubicBezTo>
                  <a:cubicBezTo>
                    <a:pt x="336" y="0"/>
                    <a:pt x="168" y="12"/>
                    <a:pt x="0" y="24"/>
                  </a:cubicBezTo>
                </a:path>
              </a:pathLst>
            </a:cu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7349" name="Group 16"/>
          <p:cNvGrpSpPr/>
          <p:nvPr/>
        </p:nvGrpSpPr>
        <p:grpSpPr bwMode="auto">
          <a:xfrm>
            <a:off x="5638800" y="1905000"/>
            <a:ext cx="2082800" cy="4572000"/>
            <a:chOff x="3552" y="1200"/>
            <a:chExt cx="1312" cy="2880"/>
          </a:xfrm>
        </p:grpSpPr>
        <p:sp>
          <p:nvSpPr>
            <p:cNvPr id="57350" name="Text Box 17"/>
            <p:cNvSpPr txBox="1">
              <a:spLocks noChangeArrowheads="1"/>
            </p:cNvSpPr>
            <p:nvPr/>
          </p:nvSpPr>
          <p:spPr bwMode="auto">
            <a:xfrm>
              <a:off x="3600" y="1440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socket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1" name="Text Box 18"/>
            <p:cNvSpPr txBox="1">
              <a:spLocks noChangeArrowheads="1"/>
            </p:cNvSpPr>
            <p:nvPr/>
          </p:nvSpPr>
          <p:spPr bwMode="auto">
            <a:xfrm>
              <a:off x="3552" y="1200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服务器端</a:t>
              </a:r>
              <a:endPara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2" name="Text Box 19"/>
            <p:cNvSpPr txBox="1">
              <a:spLocks noChangeArrowheads="1"/>
            </p:cNvSpPr>
            <p:nvPr/>
          </p:nvSpPr>
          <p:spPr bwMode="auto">
            <a:xfrm>
              <a:off x="3648" y="1872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bind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3" name="Text Box 20"/>
            <p:cNvSpPr txBox="1">
              <a:spLocks noChangeArrowheads="1"/>
            </p:cNvSpPr>
            <p:nvPr/>
          </p:nvSpPr>
          <p:spPr bwMode="auto">
            <a:xfrm>
              <a:off x="3648" y="2256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listen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4" name="Text Box 21"/>
            <p:cNvSpPr txBox="1">
              <a:spLocks noChangeArrowheads="1"/>
            </p:cNvSpPr>
            <p:nvPr/>
          </p:nvSpPr>
          <p:spPr bwMode="auto">
            <a:xfrm>
              <a:off x="3648" y="2592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accept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5" name="Text Box 22"/>
            <p:cNvSpPr txBox="1">
              <a:spLocks noChangeArrowheads="1"/>
            </p:cNvSpPr>
            <p:nvPr/>
          </p:nvSpPr>
          <p:spPr bwMode="auto">
            <a:xfrm>
              <a:off x="3648" y="3792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close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56" name="Line 23"/>
            <p:cNvSpPr>
              <a:spLocks noChangeShapeType="1"/>
            </p:cNvSpPr>
            <p:nvPr/>
          </p:nvSpPr>
          <p:spPr bwMode="auto">
            <a:xfrm>
              <a:off x="3888" y="1680"/>
              <a:ext cx="0" cy="2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57" name="Line 24"/>
            <p:cNvSpPr>
              <a:spLocks noChangeShapeType="1"/>
            </p:cNvSpPr>
            <p:nvPr/>
          </p:nvSpPr>
          <p:spPr bwMode="auto">
            <a:xfrm>
              <a:off x="3888" y="2112"/>
              <a:ext cx="0" cy="2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58" name="Line 25"/>
            <p:cNvSpPr>
              <a:spLocks noChangeShapeType="1"/>
            </p:cNvSpPr>
            <p:nvPr/>
          </p:nvSpPr>
          <p:spPr bwMode="auto">
            <a:xfrm>
              <a:off x="3888" y="2496"/>
              <a:ext cx="0" cy="1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59" name="Line 26"/>
            <p:cNvSpPr>
              <a:spLocks noChangeShapeType="1"/>
            </p:cNvSpPr>
            <p:nvPr/>
          </p:nvSpPr>
          <p:spPr bwMode="auto">
            <a:xfrm>
              <a:off x="3888" y="2832"/>
              <a:ext cx="0" cy="2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60" name="Freeform 27"/>
            <p:cNvSpPr/>
            <p:nvPr/>
          </p:nvSpPr>
          <p:spPr bwMode="auto">
            <a:xfrm>
              <a:off x="4176" y="3120"/>
              <a:ext cx="592" cy="424"/>
            </a:xfrm>
            <a:custGeom>
              <a:avLst/>
              <a:gdLst>
                <a:gd name="T0" fmla="*/ 0 w 592"/>
                <a:gd name="T1" fmla="*/ 81 h 520"/>
                <a:gd name="T2" fmla="*/ 384 w 592"/>
                <a:gd name="T3" fmla="*/ 81 h 520"/>
                <a:gd name="T4" fmla="*/ 528 w 592"/>
                <a:gd name="T5" fmla="*/ 66 h 520"/>
                <a:gd name="T6" fmla="*/ 576 w 592"/>
                <a:gd name="T7" fmla="*/ 27 h 520"/>
                <a:gd name="T8" fmla="*/ 432 w 592"/>
                <a:gd name="T9" fmla="*/ 4 h 520"/>
                <a:gd name="T10" fmla="*/ 0 w 592"/>
                <a:gd name="T11" fmla="*/ 4 h 5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92"/>
                <a:gd name="T19" fmla="*/ 0 h 520"/>
                <a:gd name="T20" fmla="*/ 592 w 592"/>
                <a:gd name="T21" fmla="*/ 520 h 5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92" h="520">
                  <a:moveTo>
                    <a:pt x="0" y="504"/>
                  </a:moveTo>
                  <a:cubicBezTo>
                    <a:pt x="148" y="512"/>
                    <a:pt x="296" y="520"/>
                    <a:pt x="384" y="504"/>
                  </a:cubicBezTo>
                  <a:cubicBezTo>
                    <a:pt x="472" y="488"/>
                    <a:pt x="496" y="464"/>
                    <a:pt x="528" y="408"/>
                  </a:cubicBezTo>
                  <a:cubicBezTo>
                    <a:pt x="560" y="352"/>
                    <a:pt x="592" y="232"/>
                    <a:pt x="576" y="168"/>
                  </a:cubicBezTo>
                  <a:cubicBezTo>
                    <a:pt x="560" y="104"/>
                    <a:pt x="528" y="48"/>
                    <a:pt x="432" y="24"/>
                  </a:cubicBezTo>
                  <a:cubicBezTo>
                    <a:pt x="336" y="0"/>
                    <a:pt x="168" y="12"/>
                    <a:pt x="0" y="24"/>
                  </a:cubicBezTo>
                </a:path>
              </a:pathLst>
            </a:cu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61" name="Text Box 28"/>
            <p:cNvSpPr txBox="1">
              <a:spLocks noChangeArrowheads="1"/>
            </p:cNvSpPr>
            <p:nvPr/>
          </p:nvSpPr>
          <p:spPr bwMode="auto">
            <a:xfrm>
              <a:off x="3648" y="3360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send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2" name="Text Box 29"/>
            <p:cNvSpPr txBox="1">
              <a:spLocks noChangeArrowheads="1"/>
            </p:cNvSpPr>
            <p:nvPr/>
          </p:nvSpPr>
          <p:spPr bwMode="auto">
            <a:xfrm>
              <a:off x="3648" y="2976"/>
              <a:ext cx="1008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recv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3" name="Line 30"/>
            <p:cNvSpPr>
              <a:spLocks noChangeShapeType="1"/>
            </p:cNvSpPr>
            <p:nvPr/>
          </p:nvSpPr>
          <p:spPr bwMode="auto">
            <a:xfrm>
              <a:off x="3888" y="3216"/>
              <a:ext cx="0" cy="2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64" name="Line 31"/>
            <p:cNvSpPr>
              <a:spLocks noChangeShapeType="1"/>
            </p:cNvSpPr>
            <p:nvPr/>
          </p:nvSpPr>
          <p:spPr bwMode="auto">
            <a:xfrm>
              <a:off x="3888" y="3600"/>
              <a:ext cx="0" cy="2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65" name="Freeform 32"/>
            <p:cNvSpPr/>
            <p:nvPr/>
          </p:nvSpPr>
          <p:spPr bwMode="auto">
            <a:xfrm>
              <a:off x="4320" y="2688"/>
              <a:ext cx="544" cy="1296"/>
            </a:xfrm>
            <a:custGeom>
              <a:avLst/>
              <a:gdLst>
                <a:gd name="T0" fmla="*/ 0 w 592"/>
                <a:gd name="T1" fmla="*/ 1869592 h 520"/>
                <a:gd name="T2" fmla="*/ 180 w 592"/>
                <a:gd name="T3" fmla="*/ 1869592 h 520"/>
                <a:gd name="T4" fmla="*/ 246 w 592"/>
                <a:gd name="T5" fmla="*/ 1514189 h 520"/>
                <a:gd name="T6" fmla="*/ 269 w 592"/>
                <a:gd name="T7" fmla="*/ 623633 h 520"/>
                <a:gd name="T8" fmla="*/ 202 w 592"/>
                <a:gd name="T9" fmla="*/ 89633 h 520"/>
                <a:gd name="T10" fmla="*/ 0 w 592"/>
                <a:gd name="T11" fmla="*/ 89633 h 5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92"/>
                <a:gd name="T19" fmla="*/ 0 h 520"/>
                <a:gd name="T20" fmla="*/ 592 w 592"/>
                <a:gd name="T21" fmla="*/ 520 h 5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92" h="520">
                  <a:moveTo>
                    <a:pt x="0" y="504"/>
                  </a:moveTo>
                  <a:cubicBezTo>
                    <a:pt x="148" y="512"/>
                    <a:pt x="296" y="520"/>
                    <a:pt x="384" y="504"/>
                  </a:cubicBezTo>
                  <a:cubicBezTo>
                    <a:pt x="472" y="488"/>
                    <a:pt x="496" y="464"/>
                    <a:pt x="528" y="408"/>
                  </a:cubicBezTo>
                  <a:cubicBezTo>
                    <a:pt x="560" y="352"/>
                    <a:pt x="592" y="232"/>
                    <a:pt x="576" y="168"/>
                  </a:cubicBezTo>
                  <a:cubicBezTo>
                    <a:pt x="560" y="104"/>
                    <a:pt x="528" y="48"/>
                    <a:pt x="432" y="24"/>
                  </a:cubicBezTo>
                  <a:cubicBezTo>
                    <a:pt x="336" y="0"/>
                    <a:pt x="168" y="12"/>
                    <a:pt x="0" y="24"/>
                  </a:cubicBezTo>
                </a:path>
              </a:pathLst>
            </a:custGeom>
            <a:noFill/>
            <a:ln w="28575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188913"/>
            <a:ext cx="80518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套接字调用参数使用的符号常量</a:t>
            </a:r>
            <a:endParaRPr lang="zh-CN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1638"/>
            <a:ext cx="8229600" cy="499745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UNIX</a:t>
            </a:r>
            <a:r>
              <a:rPr lang="zh-CN" altLang="en-US"/>
              <a:t>系统提供了预定义的符号常量和数据结构来声明数据和指明参数：</a:t>
            </a:r>
            <a:endParaRPr lang="zh-CN" altLang="en-US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使用何种服务：</a:t>
            </a:r>
            <a:endParaRPr lang="zh-CN" altLang="en-US"/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ea typeface="宋体" panose="02010600030101010101" pitchFamily="2" charset="-122"/>
              </a:rPr>
              <a:t>SOCK_DGRAM: </a:t>
            </a:r>
            <a:r>
              <a:rPr lang="zh-CN" altLang="en-US">
                <a:ea typeface="宋体" panose="02010600030101010101" pitchFamily="2" charset="-122"/>
              </a:rPr>
              <a:t>数据报服务，</a:t>
            </a:r>
            <a:r>
              <a:rPr lang="en-US" altLang="zh-CN">
                <a:ea typeface="宋体" panose="02010600030101010101" pitchFamily="2" charset="-122"/>
              </a:rPr>
              <a:t>UDP</a:t>
            </a:r>
            <a:r>
              <a:rPr lang="zh-CN" altLang="en-US">
                <a:ea typeface="宋体" panose="02010600030101010101" pitchFamily="2" charset="-122"/>
              </a:rPr>
              <a:t>协议</a:t>
            </a:r>
            <a:endParaRPr lang="zh-CN" altLang="en-US"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ea typeface="宋体" panose="02010600030101010101" pitchFamily="2" charset="-122"/>
              </a:rPr>
              <a:t>SOCK_STREAM: </a:t>
            </a:r>
            <a:r>
              <a:rPr lang="zh-CN" altLang="en-US">
                <a:ea typeface="宋体" panose="02010600030101010101" pitchFamily="2" charset="-122"/>
              </a:rPr>
              <a:t>流服务，</a:t>
            </a:r>
            <a:r>
              <a:rPr lang="en-US" altLang="zh-CN">
                <a:ea typeface="宋体" panose="02010600030101010101" pitchFamily="2" charset="-122"/>
              </a:rPr>
              <a:t>TCP</a:t>
            </a:r>
            <a:r>
              <a:rPr lang="zh-CN" altLang="en-US">
                <a:ea typeface="宋体" panose="02010600030101010101" pitchFamily="2" charset="-122"/>
              </a:rPr>
              <a:t>协议</a:t>
            </a:r>
            <a:endParaRPr lang="zh-CN" altLang="en-US"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ea typeface="宋体" panose="02010600030101010101" pitchFamily="2" charset="-122"/>
              </a:rPr>
              <a:t>PF_INET</a:t>
            </a:r>
            <a:r>
              <a:rPr lang="zh-CN" altLang="en-US">
                <a:ea typeface="宋体" panose="02010600030101010101" pitchFamily="2" charset="-122"/>
              </a:rPr>
              <a:t>：使用</a:t>
            </a:r>
            <a:r>
              <a:rPr lang="en-US" altLang="zh-CN">
                <a:ea typeface="宋体" panose="02010600030101010101" pitchFamily="2" charset="-122"/>
              </a:rPr>
              <a:t>TCP/IP</a:t>
            </a:r>
            <a:r>
              <a:rPr lang="zh-CN" altLang="en-US">
                <a:ea typeface="宋体" panose="02010600030101010101" pitchFamily="2" charset="-122"/>
              </a:rPr>
              <a:t>协议族</a:t>
            </a:r>
            <a:endParaRPr lang="zh-CN" altLang="en-US"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ea typeface="宋体" panose="02010600030101010101" pitchFamily="2" charset="-122"/>
              </a:rPr>
              <a:t>AF_INET:  </a:t>
            </a:r>
            <a:r>
              <a:rPr lang="zh-CN" altLang="en-US">
                <a:ea typeface="宋体" panose="02010600030101010101" pitchFamily="2" charset="-122"/>
              </a:rPr>
              <a:t>使用</a:t>
            </a:r>
            <a:r>
              <a:rPr lang="en-US" altLang="zh-CN">
                <a:ea typeface="宋体" panose="02010600030101010101" pitchFamily="2" charset="-122"/>
              </a:rPr>
              <a:t>TCP/IP</a:t>
            </a:r>
            <a:r>
              <a:rPr lang="zh-CN" altLang="en-US">
                <a:ea typeface="宋体" panose="02010600030101010101" pitchFamily="2" charset="-122"/>
              </a:rPr>
              <a:t>地址结构</a:t>
            </a:r>
            <a:endParaRPr lang="zh-CN" altLang="en-US">
              <a:ea typeface="宋体" panose="02010600030101010101" pitchFamily="2" charset="-12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需要</a:t>
            </a:r>
            <a:r>
              <a:rPr lang="en-US" altLang="zh-CN"/>
              <a:t>include</a:t>
            </a:r>
            <a:r>
              <a:rPr lang="zh-CN" altLang="en-US"/>
              <a:t>，引用出现这些定义的文本</a:t>
            </a:r>
            <a:endParaRPr lang="zh-CN" altLang="en-US"/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ea typeface="宋体" panose="02010600030101010101" pitchFamily="2" charset="-122"/>
              </a:rPr>
              <a:t>#include &lt;sys/types.h&gt;</a:t>
            </a:r>
            <a:endParaRPr lang="en-US" altLang="zh-CN"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ea typeface="宋体" panose="02010600030101010101" pitchFamily="2" charset="-122"/>
              </a:rPr>
              <a:t>#include &lt;sys/socket.h&gt;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10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10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10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1000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1000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1000"/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1000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小结</a:t>
            </a:r>
            <a:endParaRPr lang="zh-CN" alt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1650" y="1557338"/>
            <a:ext cx="8318500" cy="4530725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套接字已经成为一种事实上的标准</a:t>
            </a:r>
            <a:endParaRPr lang="zh-CN" altLang="en-US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socket</a:t>
            </a:r>
            <a:r>
              <a:rPr lang="zh-CN" altLang="en-US"/>
              <a:t>函数使用</a:t>
            </a:r>
            <a:r>
              <a:rPr lang="en-US" altLang="zh-CN"/>
              <a:t>PF_INET</a:t>
            </a:r>
            <a:r>
              <a:rPr lang="zh-CN" altLang="en-US"/>
              <a:t>说明使用</a:t>
            </a:r>
            <a:r>
              <a:rPr lang="en-US" altLang="zh-CN"/>
              <a:t>TCP/IP</a:t>
            </a:r>
            <a:endParaRPr lang="en-US" altLang="zh-CN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其它的系统调用的使用方法</a:t>
            </a:r>
            <a:endParaRPr lang="zh-CN" altLang="en-US"/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800">
                <a:ea typeface="宋体" panose="02010600030101010101" pitchFamily="2" charset="-122"/>
              </a:rPr>
              <a:t> </a:t>
            </a:r>
            <a:r>
              <a:rPr lang="en-US" altLang="zh-CN" sz="2800">
                <a:ea typeface="宋体" panose="02010600030101010101" pitchFamily="2" charset="-122"/>
              </a:rPr>
              <a:t>bind, listen, connect, accept, read, write, close</a:t>
            </a:r>
            <a:endParaRPr lang="en-US" altLang="zh-CN" sz="2800">
              <a:ea typeface="宋体" panose="02010600030101010101" pitchFamily="2" charset="-12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协议族的地址表示方式</a:t>
            </a:r>
            <a:endParaRPr lang="zh-CN" altLang="en-US"/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ea typeface="宋体" panose="02010600030101010101" pitchFamily="2" charset="-122"/>
              </a:rPr>
              <a:t>AF_INET</a:t>
            </a:r>
            <a:r>
              <a:rPr lang="zh-CN" altLang="en-US">
                <a:ea typeface="宋体" panose="02010600030101010101" pitchFamily="2" charset="-122"/>
              </a:rPr>
              <a:t>指明含有一个</a:t>
            </a:r>
            <a:r>
              <a:rPr lang="en-US" altLang="zh-CN">
                <a:ea typeface="宋体" panose="02010600030101010101" pitchFamily="2" charset="-122"/>
              </a:rPr>
              <a:t>IP</a:t>
            </a:r>
            <a:r>
              <a:rPr lang="zh-CN" altLang="en-US">
                <a:ea typeface="宋体" panose="02010600030101010101" pitchFamily="2" charset="-122"/>
              </a:rPr>
              <a:t>地址和端口号的端点地址</a:t>
            </a:r>
            <a:endParaRPr lang="zh-CN" altLang="en-US">
              <a:ea typeface="宋体" panose="02010600030101010101" pitchFamily="2" charset="-122"/>
            </a:endParaRPr>
          </a:p>
          <a:p>
            <a:pPr marL="914400" lvl="1" indent="-457200" eaLnBrk="1" hangingPunct="1">
              <a:buClr>
                <a:srgbClr val="FF3300"/>
              </a:buClr>
              <a:buFont typeface="Wingdings" panose="05000000000000000000" pitchFamily="2" charset="2"/>
              <a:buAutoNum type="circleNumDbPlain"/>
            </a:pPr>
            <a:r>
              <a:rPr lang="en-US" altLang="zh-CN">
                <a:ea typeface="宋体" panose="02010600030101010101" pitchFamily="2" charset="-122"/>
              </a:rPr>
              <a:t>TCP/IP</a:t>
            </a:r>
            <a:r>
              <a:rPr lang="zh-CN" altLang="en-US">
                <a:ea typeface="宋体" panose="02010600030101010101" pitchFamily="2" charset="-122"/>
              </a:rPr>
              <a:t>是用于定义的结构</a:t>
            </a:r>
            <a:r>
              <a:rPr lang="en-US" altLang="zh-CN">
                <a:ea typeface="宋体" panose="02010600030101010101" pitchFamily="2" charset="-122"/>
              </a:rPr>
              <a:t>sockaddr_in</a:t>
            </a:r>
            <a:endParaRPr lang="en-US" altLang="zh-CN">
              <a:ea typeface="宋体" panose="02010600030101010101" pitchFamily="2" charset="-12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一些预定义的结构和常量需要</a:t>
            </a:r>
            <a:r>
              <a:rPr lang="en-US" altLang="zh-CN"/>
              <a:t>include</a:t>
            </a:r>
            <a:r>
              <a:rPr lang="zh-CN" altLang="en-US"/>
              <a:t>引用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</p:bldLst>
  </p:timing>
</p:sld>
</file>

<file path=ppt/theme/theme1.xml><?xml version="1.0" encoding="utf-8"?>
<a:theme xmlns:a="http://schemas.openxmlformats.org/drawingml/2006/main" name="演示文稿模版">
  <a:themeElements>
    <a:clrScheme name="演示文稿模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演示文稿模版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演示文稿模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模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模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模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模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模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模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模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模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模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模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模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演示文稿模版</Template>
  <TotalTime>0</TotalTime>
  <Words>6277</Words>
  <Application>WPS 演示</Application>
  <PresentationFormat>全屏显示(4:3)</PresentationFormat>
  <Paragraphs>447</Paragraphs>
  <Slides>31</Slides>
  <Notes>31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Arial</vt:lpstr>
      <vt:lpstr>宋体</vt:lpstr>
      <vt:lpstr>Wingdings</vt:lpstr>
      <vt:lpstr>黑体</vt:lpstr>
      <vt:lpstr>Comic Sans MS</vt:lpstr>
      <vt:lpstr>Times New Roman</vt:lpstr>
      <vt:lpstr>微软雅黑</vt:lpstr>
      <vt:lpstr>Arial Unicode MS</vt:lpstr>
      <vt:lpstr>Arial Unicode MS</vt:lpstr>
      <vt:lpstr>Helvetica</vt:lpstr>
      <vt:lpstr>Courier New</vt:lpstr>
      <vt:lpstr>演示文稿模版</vt:lpstr>
      <vt:lpstr>MS_ClipArt_Gallery.2</vt:lpstr>
      <vt:lpstr>MS_ClipArt_Gallery.2</vt:lpstr>
      <vt:lpstr>PowerPoint 演示文稿</vt:lpstr>
      <vt:lpstr>目录</vt:lpstr>
      <vt:lpstr>什么是套接字</vt:lpstr>
      <vt:lpstr>什么是套接字</vt:lpstr>
      <vt:lpstr>什么是套接字</vt:lpstr>
      <vt:lpstr>什么是套接字</vt:lpstr>
      <vt:lpstr>指明一个协议接口</vt:lpstr>
      <vt:lpstr>套接字：描述符</vt:lpstr>
      <vt:lpstr>针对套接字的系统数据结构</vt:lpstr>
      <vt:lpstr>主动套接字和被动套接字</vt:lpstr>
      <vt:lpstr>类属地址结构</vt:lpstr>
      <vt:lpstr>套接字API的主要系统调用</vt:lpstr>
      <vt:lpstr>一些主调用的套接字API </vt:lpstr>
      <vt:lpstr>一些主调用的套接字API </vt:lpstr>
      <vt:lpstr>一些主调用的套接字API </vt:lpstr>
      <vt:lpstr>发送数据：send</vt:lpstr>
      <vt:lpstr>发送数据：sendto</vt:lpstr>
      <vt:lpstr>接收数据：recv</vt:lpstr>
      <vt:lpstr>接收数据：recvfrom</vt:lpstr>
      <vt:lpstr>close(int sockfd)  　　 </vt:lpstr>
      <vt:lpstr>分配本地地址：bind</vt:lpstr>
      <vt:lpstr>设置被动模式：listen</vt:lpstr>
      <vt:lpstr>接收连接：accept </vt:lpstr>
      <vt:lpstr>套接字API中的主要系统调用</vt:lpstr>
      <vt:lpstr>字节顺序</vt:lpstr>
      <vt:lpstr>主机字节顺序和网络字节顺序</vt:lpstr>
      <vt:lpstr>PowerPoint 演示文稿</vt:lpstr>
      <vt:lpstr>用于整数转换的实用例程</vt:lpstr>
      <vt:lpstr>在程序中使用套接字调用</vt:lpstr>
      <vt:lpstr>套接字调用参数使用的符号常量</vt:lpstr>
      <vt:lpstr>小结</vt:lpstr>
    </vt:vector>
  </TitlesOfParts>
  <Company>1108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ljy</dc:creator>
  <cp:lastModifiedBy>沽如醉</cp:lastModifiedBy>
  <cp:revision>121</cp:revision>
  <dcterms:created xsi:type="dcterms:W3CDTF">2006-01-10T11:17:00Z</dcterms:created>
  <dcterms:modified xsi:type="dcterms:W3CDTF">2025-12-20T09:29:54Z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D905F9137560429BAB354EAFE7E4474E_12</vt:lpwstr>
  </property>
</Properties>
</file>