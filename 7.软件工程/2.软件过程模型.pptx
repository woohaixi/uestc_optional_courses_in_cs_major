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16"/>
  </p:notesMasterIdLst>
  <p:sldIdLst>
    <p:sldId id="285" r:id="rId6"/>
    <p:sldId id="329" r:id="rId7"/>
    <p:sldId id="950" r:id="rId8"/>
    <p:sldId id="995" r:id="rId9"/>
    <p:sldId id="952" r:id="rId10"/>
    <p:sldId id="954" r:id="rId11"/>
    <p:sldId id="996" r:id="rId12"/>
    <p:sldId id="1020" r:id="rId13"/>
    <p:sldId id="1026" r:id="rId14"/>
    <p:sldId id="998" r:id="rId15"/>
    <p:sldId id="1027" r:id="rId17"/>
    <p:sldId id="999" r:id="rId18"/>
    <p:sldId id="1038" r:id="rId19"/>
    <p:sldId id="1039" r:id="rId20"/>
    <p:sldId id="1040" r:id="rId21"/>
    <p:sldId id="1041" r:id="rId22"/>
    <p:sldId id="1042" r:id="rId23"/>
    <p:sldId id="1043" r:id="rId24"/>
    <p:sldId id="1044" r:id="rId25"/>
    <p:sldId id="1045" r:id="rId26"/>
    <p:sldId id="1000" r:id="rId27"/>
    <p:sldId id="956" r:id="rId28"/>
    <p:sldId id="958" r:id="rId29"/>
    <p:sldId id="959" r:id="rId30"/>
    <p:sldId id="963" r:id="rId31"/>
    <p:sldId id="965" r:id="rId32"/>
    <p:sldId id="964" r:id="rId33"/>
    <p:sldId id="966" r:id="rId34"/>
    <p:sldId id="967" r:id="rId35"/>
    <p:sldId id="1002" r:id="rId36"/>
    <p:sldId id="1016" r:id="rId37"/>
    <p:sldId id="1003" r:id="rId38"/>
    <p:sldId id="1004" r:id="rId39"/>
    <p:sldId id="1005" r:id="rId40"/>
    <p:sldId id="1006" r:id="rId41"/>
    <p:sldId id="1007" r:id="rId42"/>
    <p:sldId id="970" r:id="rId43"/>
    <p:sldId id="969" r:id="rId44"/>
    <p:sldId id="1008" r:id="rId45"/>
    <p:sldId id="1009" r:id="rId46"/>
    <p:sldId id="1017" r:id="rId47"/>
    <p:sldId id="1001" r:id="rId48"/>
    <p:sldId id="1011" r:id="rId49"/>
    <p:sldId id="1012" r:id="rId50"/>
    <p:sldId id="1013" r:id="rId51"/>
    <p:sldId id="971" r:id="rId52"/>
    <p:sldId id="972" r:id="rId53"/>
    <p:sldId id="973" r:id="rId54"/>
    <p:sldId id="974" r:id="rId55"/>
    <p:sldId id="1018" r:id="rId56"/>
    <p:sldId id="975" r:id="rId57"/>
    <p:sldId id="983" r:id="rId58"/>
    <p:sldId id="986" r:id="rId59"/>
    <p:sldId id="987" r:id="rId60"/>
    <p:sldId id="989" r:id="rId61"/>
    <p:sldId id="990" r:id="rId62"/>
    <p:sldId id="991" r:id="rId63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A14"/>
    <a:srgbClr val="000066"/>
    <a:srgbClr val="333399"/>
    <a:srgbClr val="5F5F5F"/>
    <a:srgbClr val="808080"/>
    <a:srgbClr val="CC3300"/>
    <a:srgbClr val="6D7BA5"/>
    <a:srgbClr val="50B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2" d="100"/>
          <a:sy n="62" d="100"/>
        </p:scale>
        <p:origin x="1400" y="40"/>
      </p:cViewPr>
      <p:guideLst>
        <p:guide orient="horz" pos="220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57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0" Type="http://schemas.openxmlformats.org/officeDocument/2006/relationships/slide" Target="slides/slide54.xml"/><Relationship Id="rId6" Type="http://schemas.openxmlformats.org/officeDocument/2006/relationships/slide" Target="slides/slide1.xml"/><Relationship Id="rId59" Type="http://schemas.openxmlformats.org/officeDocument/2006/relationships/slide" Target="slides/slide53.xml"/><Relationship Id="rId58" Type="http://schemas.openxmlformats.org/officeDocument/2006/relationships/slide" Target="slides/slide52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0" Type="http://schemas.openxmlformats.org/officeDocument/2006/relationships/slide" Target="slides/slide34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355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560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765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765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9698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2969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1746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174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3794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379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5842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584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indent="0" algn="r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7890" name="Rectangle 2"/>
          <p:cNvSpPr>
            <a:spLocks noRot="1" noTextEdit="1"/>
          </p:cNvSpPr>
          <p:nvPr>
            <p:ph type="sldImg"/>
          </p:nvPr>
        </p:nvSpPr>
        <p:spPr/>
      </p:sp>
      <p:sp>
        <p:nvSpPr>
          <p:cNvPr id="3789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/>
        <p:txBody>
          <a:bodyPr wrap="square" lIns="91440" tIns="45720" rIns="91440" bIns="45720" numCol="1" anchor="t" anchorCtr="0" compatLnSpc="1"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                 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226" name="Rectangle 7"/>
          <p:cNvSpPr txBox="1">
            <a:spLocks noGrp="1" noChangeArrowheads="1"/>
          </p:cNvSpPr>
          <p:nvPr/>
        </p:nvSpPr>
        <p:spPr bwMode="auto">
          <a:xfrm>
            <a:off x="3884613" y="8686800"/>
            <a:ext cx="2971800" cy="455613"/>
          </a:xfrm>
          <a:prstGeom prst="rect">
            <a:avLst/>
          </a:prstGeom>
          <a:noFill/>
          <a:ln>
            <a:noFill/>
          </a:ln>
        </p:spPr>
        <p:txBody>
          <a:bodyPr lIns="90004" tIns="45002" rIns="90004" bIns="45002"/>
          <a:p>
            <a:pPr lvl="0" algn="ctr" eaLnBrk="1" hangingPunct="1">
              <a:buClr>
                <a:schemeClr val="tx2"/>
              </a:buClr>
              <a:buFont typeface="Wingdings" panose="05000000000000000000" pitchFamily="2" charset="2"/>
              <a:buChar char="•"/>
            </a:pPr>
            <a:fld id="{9A0DB2DC-4C9A-4742-B13C-FB6460FD3503}" type="slidenum">
              <a:rPr lang="en-US" altLang="zh-CN" sz="2600" dirty="0">
                <a:effectLst>
                  <a:outerShdw blurRad="38100" dist="38100" dir="2700000">
                    <a:srgbClr val="C0C0C0"/>
                  </a:outerShdw>
                </a:effectLst>
                <a:ea typeface="MS PGothic" panose="020B0600070205080204" pitchFamily="34" charset="-128"/>
              </a:rPr>
            </a:fld>
            <a:endParaRPr lang="en-US" altLang="zh-CN" sz="2600" dirty="0">
              <a:effectLst>
                <a:outerShdw blurRad="38100" dist="38100" dir="2700000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52227" name="Rectangle 2"/>
          <p:cNvSpPr>
            <a:spLocks noRot="1" noTextEdit="1"/>
          </p:cNvSpPr>
          <p:nvPr>
            <p:ph type="sldImg"/>
          </p:nvPr>
        </p:nvSpPr>
        <p:spPr>
          <a:xfrm>
            <a:off x="1146175" y="688975"/>
            <a:ext cx="4567238" cy="3424238"/>
          </a:xfrm>
        </p:spPr>
      </p:sp>
      <p:sp>
        <p:nvSpPr>
          <p:cNvPr id="52228" name="Rectangle 3"/>
          <p:cNvSpPr>
            <a:spLocks noGrp="1"/>
          </p:cNvSpPr>
          <p:nvPr>
            <p:ph type="body" idx="1"/>
          </p:nvPr>
        </p:nvSpPr>
        <p:spPr>
          <a:xfrm>
            <a:off x="912813" y="4343400"/>
            <a:ext cx="5032375" cy="4113213"/>
          </a:xfrm>
        </p:spPr>
        <p:txBody>
          <a:bodyPr wrap="square" lIns="91440" tIns="45720" rIns="91440" bIns="45720" anchor="t" anchorCtr="0"/>
          <a:p>
            <a:pPr lvl="0"/>
            <a:r>
              <a:rPr lang="zh-CN" altLang="en-US" dirty="0">
                <a:ea typeface="宋体" panose="02010600030101010101" pitchFamily="2" charset="-122"/>
              </a:rPr>
              <a:t>两类极端：很多老板只重结果；我们老师看重过程，举例平时考试，半期，期末，项目等。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06375"/>
            <a:ext cx="2171700" cy="6022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206375"/>
            <a:ext cx="6362700" cy="6022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06375"/>
            <a:ext cx="2171700" cy="6022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206375"/>
            <a:ext cx="6362700" cy="6022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06375"/>
            <a:ext cx="2171700" cy="6022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206375"/>
            <a:ext cx="6362700" cy="6022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206375"/>
            <a:ext cx="2171700" cy="6022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206375"/>
            <a:ext cx="6362700" cy="6022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4" Type="http://schemas.openxmlformats.org/officeDocument/2006/relationships/theme" Target="../theme/theme4.xml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53"/>
          <p:cNvSpPr>
            <a:spLocks noChangeArrowheads="1"/>
          </p:cNvSpPr>
          <p:nvPr/>
        </p:nvSpPr>
        <p:spPr bwMode="auto">
          <a:xfrm>
            <a:off x="228600" y="762000"/>
            <a:ext cx="8686800" cy="584835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27" name="Picture 60" descr="04_back_b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762000"/>
            <a:ext cx="4057650" cy="5834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9339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308725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xfrm>
            <a:off x="228600" y="206375"/>
            <a:ext cx="86868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031" name="Picture 63" descr="04_icon_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524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32" descr="04_back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8938" y="942975"/>
            <a:ext cx="8367712" cy="5153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24"/>
          <p:cNvSpPr>
            <a:spLocks noChangeArrowheads="1"/>
          </p:cNvSpPr>
          <p:nvPr/>
        </p:nvSpPr>
        <p:spPr bwMode="auto">
          <a:xfrm>
            <a:off x="373063" y="942975"/>
            <a:ext cx="8405813" cy="5133975"/>
          </a:xfrm>
          <a:prstGeom prst="rect">
            <a:avLst/>
          </a:prstGeom>
          <a:noFill/>
          <a:ln w="38100" cmpd="sng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052" name="Line 29"/>
          <p:cNvSpPr>
            <a:spLocks noChangeShapeType="1"/>
          </p:cNvSpPr>
          <p:nvPr/>
        </p:nvSpPr>
        <p:spPr bwMode="auto">
          <a:xfrm>
            <a:off x="381000" y="3000375"/>
            <a:ext cx="4876800" cy="0"/>
          </a:xfrm>
          <a:prstGeom prst="line">
            <a:avLst/>
          </a:prstGeom>
          <a:noFill/>
          <a:ln w="9525" cmpd="sng">
            <a:solidFill>
              <a:schemeClr val="tx1"/>
            </a:solidFill>
            <a:rou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053" name="Picture 34" descr="04_icon_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0388" y="2238375"/>
            <a:ext cx="1420812" cy="1420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9339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55" name="Rectangle 2"/>
          <p:cNvSpPr>
            <a:spLocks noGrp="1"/>
          </p:cNvSpPr>
          <p:nvPr>
            <p:ph type="title"/>
          </p:nvPr>
        </p:nvSpPr>
        <p:spPr>
          <a:xfrm>
            <a:off x="228600" y="206375"/>
            <a:ext cx="86868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7325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37325"/>
            <a:ext cx="2895600" cy="244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000"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29400" y="6553200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53"/>
          <p:cNvSpPr>
            <a:spLocks noChangeArrowheads="1"/>
          </p:cNvSpPr>
          <p:nvPr/>
        </p:nvSpPr>
        <p:spPr bwMode="auto">
          <a:xfrm>
            <a:off x="228600" y="762000"/>
            <a:ext cx="8686800" cy="584835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3075" name="Picture 60" descr="04_back_b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762000"/>
            <a:ext cx="4057650" cy="5834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Picture 63" descr="04_icon_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524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7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9339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078" name="Rectangle 2"/>
          <p:cNvSpPr>
            <a:spLocks noGrp="1"/>
          </p:cNvSpPr>
          <p:nvPr>
            <p:ph type="title"/>
          </p:nvPr>
        </p:nvSpPr>
        <p:spPr>
          <a:xfrm>
            <a:off x="228600" y="206375"/>
            <a:ext cx="86868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79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Font typeface="Wingdings" panose="05000000000000000000" pitchFamily="2" charset="2"/>
              <a:buNone/>
              <a:defRPr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数计学院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80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308725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53"/>
          <p:cNvSpPr>
            <a:spLocks noChangeArrowheads="1"/>
          </p:cNvSpPr>
          <p:nvPr/>
        </p:nvSpPr>
        <p:spPr bwMode="auto">
          <a:xfrm>
            <a:off x="228600" y="762000"/>
            <a:ext cx="8686800" cy="5848350"/>
          </a:xfrm>
          <a:prstGeom prst="rect">
            <a:avLst/>
          </a:prstGeom>
          <a:solidFill>
            <a:schemeClr val="bg1"/>
          </a:solidFill>
          <a:ln w="38100" cmpd="sng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1027" name="Picture 60" descr="04_back_b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0" y="762000"/>
            <a:ext cx="4057650" cy="5834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9339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59563" y="6308725"/>
            <a:ext cx="2133600" cy="2444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r>
              <a:rPr lang="en-US" altLang="zh-CN" sz="100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/23</a:t>
            </a:r>
            <a:endParaRPr lang="zh-CN" altLang="en-US" sz="100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2"/>
          <p:cNvSpPr>
            <a:spLocks noGrp="1"/>
          </p:cNvSpPr>
          <p:nvPr>
            <p:ph type="title"/>
          </p:nvPr>
        </p:nvSpPr>
        <p:spPr>
          <a:xfrm>
            <a:off x="228600" y="206375"/>
            <a:ext cx="86868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031" name="Picture 63" descr="04_icon_f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1524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5.xml"/><Relationship Id="rId1" Type="http://schemas.openxmlformats.org/officeDocument/2006/relationships/hyperlink" Target="http://www.cmmionline.net/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://www.igrafx.com/products/process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4"/>
          <p:cNvSpPr>
            <a:spLocks noGrp="1"/>
          </p:cNvSpPr>
          <p:nvPr>
            <p:ph type="ctrTitle"/>
          </p:nvPr>
        </p:nvSpPr>
        <p:spPr>
          <a:xfrm>
            <a:off x="395288" y="1700213"/>
            <a:ext cx="4686300" cy="1727200"/>
          </a:xfrm>
        </p:spPr>
        <p:txBody>
          <a:bodyPr vert="horz" wrap="square" lIns="91440" tIns="45720" rIns="91440" bIns="45720" anchor="ctr" anchorCtr="0"/>
          <a:lstStyle>
            <a:lvl1pPr lvl="0">
              <a:buClrTx/>
              <a:buSzTx/>
              <a:buFontTx/>
              <a:defRPr/>
            </a:lvl1pPr>
          </a:lstStyle>
          <a:p>
            <a:pPr lvl="0" eaLnBrk="1" hangingPunct="1"/>
            <a:r>
              <a:rPr lang="zh-CN" altLang="en-US" sz="6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软件工程</a:t>
            </a:r>
            <a:endParaRPr lang="zh-CN" altLang="en-US" sz="6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3" name="Rectangle 7"/>
          <p:cNvSpPr>
            <a:spLocks noGrp="1"/>
          </p:cNvSpPr>
          <p:nvPr>
            <p:ph type="subTitle"/>
          </p:nvPr>
        </p:nvSpPr>
        <p:spPr>
          <a:xfrm>
            <a:off x="684213" y="4437063"/>
            <a:ext cx="7031037" cy="1206500"/>
          </a:xfrm>
        </p:spPr>
        <p:txBody>
          <a:bodyPr vert="horz" wrap="square" lIns="91440" tIns="45720" rIns="91440" bIns="45720" anchor="t" anchorCtr="0"/>
          <a:lstStyle>
            <a:lvl1pPr marL="0" lvl="0" indent="0" algn="ctr"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lvl1pPr>
            <a:lvl2pPr marL="457200" lvl="1" indent="0" algn="ctr"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lvl2pPr>
            <a:lvl3pPr marL="914400" lvl="2" indent="0" algn="ctr">
              <a:buClr>
                <a:schemeClr val="tx1"/>
              </a:buClr>
              <a:buSzTx/>
              <a:buFontTx/>
              <a:buNone/>
              <a:defRPr/>
            </a:lvl3pPr>
            <a:lvl4pPr marL="1371600" lvl="3" indent="0" algn="ctr">
              <a:buClrTx/>
              <a:buSzTx/>
              <a:buFontTx/>
              <a:buNone/>
              <a:defRPr/>
            </a:lvl4pPr>
            <a:lvl5pPr marL="1828800" lvl="4" indent="0" algn="ctr">
              <a:buClrTx/>
              <a:buSzTx/>
              <a:buFontTx/>
              <a:buNone/>
              <a:defRPr/>
            </a:lvl5pPr>
          </a:lstStyle>
          <a:p>
            <a:pPr lvl="0" algn="l" eaLnBrk="1" hangingPunct="1"/>
            <a:r>
              <a:rPr lang="zh-CN" altLang="en-US" sz="3200" dirty="0">
                <a:solidFill>
                  <a:srgbClr val="000000"/>
                </a:solidFill>
                <a:ea typeface="黑体" panose="02010609060101010101" pitchFamily="49" charset="-122"/>
              </a:rPr>
              <a:t>主讲人：段贵多</a:t>
            </a:r>
            <a:endParaRPr lang="zh-CN" altLang="en-US" sz="3200" dirty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lvl="0" algn="l" eaLnBrk="1" hangingPunct="1"/>
            <a:r>
              <a:rPr lang="en-US" altLang="zh-CN" sz="3200" dirty="0">
                <a:solidFill>
                  <a:srgbClr val="000000"/>
                </a:solidFill>
                <a:ea typeface="宋体" panose="02010600030101010101" pitchFamily="2" charset="-122"/>
              </a:rPr>
              <a:t>Email:duanguiduo@163.com</a:t>
            </a:r>
            <a:endParaRPr lang="en-US" altLang="zh-CN" sz="32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250825" y="981075"/>
            <a:ext cx="8591550" cy="5635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solidFill>
                  <a:srgbClr val="0000CC"/>
                </a:solidFill>
                <a:ea typeface="宋体" panose="02010600030101010101" pitchFamily="2" charset="-122"/>
              </a:rPr>
              <a:t>第二章 软件过程模型</a:t>
            </a:r>
            <a:endParaRPr lang="zh-CN" altLang="en-US" sz="3200" dirty="0">
              <a:solidFill>
                <a:srgbClr val="0000CC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Text Box 3"/>
          <p:cNvSpPr txBox="1"/>
          <p:nvPr/>
        </p:nvSpPr>
        <p:spPr>
          <a:xfrm>
            <a:off x="1660525" y="722313"/>
            <a:ext cx="1841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148" name="Group 4"/>
          <p:cNvGrpSpPr/>
          <p:nvPr/>
        </p:nvGrpSpPr>
        <p:grpSpPr>
          <a:xfrm>
            <a:off x="2195513" y="2100263"/>
            <a:ext cx="4724400" cy="685800"/>
            <a:chOff x="0" y="0"/>
            <a:chExt cx="2976" cy="432"/>
          </a:xfrm>
        </p:grpSpPr>
        <p:sp>
          <p:nvSpPr>
            <p:cNvPr id="2" name="AutoShape 5"/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rgbClr val="E2EED1"/>
                </a:gs>
                <a:gs pos="100000">
                  <a:schemeClr val="accent2"/>
                </a:gs>
              </a:gsLst>
              <a:lin ang="5400000" scaled="1"/>
            </a:gradFill>
            <a:ln w="12700" cmpd="sng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" name="AutoShape 6"/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cmpd="sng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71" name="Text Box 7"/>
            <p:cNvSpPr txBox="1"/>
            <p:nvPr/>
          </p:nvSpPr>
          <p:spPr>
            <a:xfrm>
              <a:off x="384" y="110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软件过程的概念</a:t>
              </a:r>
              <a:endParaRPr lang="zh-CN" altLang="en-US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72" name="Text Box 8"/>
            <p:cNvSpPr txBox="1"/>
            <p:nvPr/>
          </p:nvSpPr>
          <p:spPr>
            <a:xfrm>
              <a:off x="97" y="62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49" name="Group 9"/>
          <p:cNvGrpSpPr/>
          <p:nvPr/>
        </p:nvGrpSpPr>
        <p:grpSpPr>
          <a:xfrm>
            <a:off x="2195513" y="3529013"/>
            <a:ext cx="4733925" cy="685800"/>
            <a:chOff x="0" y="0"/>
            <a:chExt cx="2982" cy="432"/>
          </a:xfrm>
        </p:grpSpPr>
        <p:sp>
          <p:nvSpPr>
            <p:cNvPr id="6154" name="AutoShape 25"/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rgbClr val="E2EBF4"/>
                </a:gs>
                <a:gs pos="100000">
                  <a:schemeClr val="folHlink"/>
                </a:gs>
              </a:gsLst>
              <a:lin ang="5400000" scaled="1"/>
            </a:gradFill>
            <a:ln w="12700" cmpd="sng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AutoShape 26"/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cmpd="sng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67" name="Text Box 27"/>
            <p:cNvSpPr txBox="1"/>
            <p:nvPr/>
          </p:nvSpPr>
          <p:spPr>
            <a:xfrm>
              <a:off x="384" y="110"/>
              <a:ext cx="259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一些典型的软件过程模型 </a:t>
              </a:r>
              <a:endPara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68" name="Text Box 28"/>
            <p:cNvSpPr txBox="1"/>
            <p:nvPr/>
          </p:nvSpPr>
          <p:spPr>
            <a:xfrm>
              <a:off x="97" y="62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3</a:t>
              </a:r>
              <a:endPara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50" name="Group 14"/>
          <p:cNvGrpSpPr/>
          <p:nvPr/>
        </p:nvGrpSpPr>
        <p:grpSpPr>
          <a:xfrm>
            <a:off x="2195513" y="2814638"/>
            <a:ext cx="4724400" cy="685800"/>
            <a:chOff x="0" y="0"/>
            <a:chExt cx="2976" cy="432"/>
          </a:xfrm>
        </p:grpSpPr>
        <p:sp>
          <p:nvSpPr>
            <p:cNvPr id="5" name="AutoShape 30"/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rgbClr val="D7E6F4"/>
                </a:gs>
                <a:gs pos="100000">
                  <a:schemeClr val="accent1"/>
                </a:gs>
              </a:gsLst>
              <a:lin ang="5400000" scaled="1"/>
            </a:gradFill>
            <a:ln w="12700" cmpd="sng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成熟度模型</a:t>
              </a: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" name="AutoShape 31"/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cmpd="sng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63" name="Text Box 32"/>
            <p:cNvSpPr txBox="1"/>
            <p:nvPr/>
          </p:nvSpPr>
          <p:spPr>
            <a:xfrm>
              <a:off x="384" y="110"/>
              <a:ext cx="255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endPara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64" name="Text Box 33"/>
            <p:cNvSpPr txBox="1"/>
            <p:nvPr/>
          </p:nvSpPr>
          <p:spPr>
            <a:xfrm>
              <a:off x="97" y="62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51" name="Group 19"/>
          <p:cNvGrpSpPr/>
          <p:nvPr/>
        </p:nvGrpSpPr>
        <p:grpSpPr>
          <a:xfrm>
            <a:off x="2214563" y="4929188"/>
            <a:ext cx="4724400" cy="685800"/>
            <a:chOff x="0" y="0"/>
            <a:chExt cx="2976" cy="432"/>
          </a:xfrm>
        </p:grpSpPr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rgbClr val="E2EED1"/>
                </a:gs>
                <a:gs pos="100000">
                  <a:schemeClr val="accent2"/>
                </a:gs>
              </a:gsLst>
              <a:lin ang="5400000" scaled="1"/>
            </a:gradFill>
            <a:ln w="12700" cmpd="sng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65" name="AutoShape 6"/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cmpd="sng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59" name="Text Box 7"/>
            <p:cNvSpPr txBox="1"/>
            <p:nvPr/>
          </p:nvSpPr>
          <p:spPr>
            <a:xfrm>
              <a:off x="384" y="110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小结</a:t>
              </a:r>
              <a:endParaRPr lang="zh-CN" altLang="en-US" sz="24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60" name="Text Box 8"/>
            <p:cNvSpPr txBox="1"/>
            <p:nvPr/>
          </p:nvSpPr>
          <p:spPr>
            <a:xfrm>
              <a:off x="97" y="62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5</a:t>
              </a:r>
              <a:endPara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152" name="Group 24"/>
          <p:cNvGrpSpPr/>
          <p:nvPr/>
        </p:nvGrpSpPr>
        <p:grpSpPr>
          <a:xfrm>
            <a:off x="2214563" y="4214813"/>
            <a:ext cx="4724400" cy="685800"/>
            <a:chOff x="0" y="0"/>
            <a:chExt cx="2976" cy="432"/>
          </a:xfrm>
        </p:grpSpPr>
        <p:sp>
          <p:nvSpPr>
            <p:cNvPr id="6169" name="AutoShape 30"/>
            <p:cNvSpPr>
              <a:spLocks noChangeArrowheads="1"/>
            </p:cNvSpPr>
            <p:nvPr/>
          </p:nvSpPr>
          <p:spPr bwMode="auto">
            <a:xfrm>
              <a:off x="240" y="75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/>
                </a:gs>
                <a:gs pos="50000">
                  <a:srgbClr val="D7E6F4"/>
                </a:gs>
                <a:gs pos="100000">
                  <a:schemeClr val="accent1"/>
                </a:gs>
              </a:gsLst>
              <a:lin ang="5400000" scaled="1"/>
            </a:gradFill>
            <a:ln w="12700" cmpd="sng">
              <a:solidFill>
                <a:schemeClr val="bg1"/>
              </a:solidFill>
              <a:round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70" name="AutoShape 31"/>
            <p:cNvSpPr>
              <a:spLocks noChangeArrowheads="1"/>
            </p:cNvSpPr>
            <p:nvPr/>
          </p:nvSpPr>
          <p:spPr bwMode="auto">
            <a:xfrm>
              <a:off x="0" y="0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cmpd="sng">
              <a:solidFill>
                <a:schemeClr val="bg1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155" name="Text Box 32"/>
            <p:cNvSpPr txBox="1"/>
            <p:nvPr/>
          </p:nvSpPr>
          <p:spPr>
            <a:xfrm>
              <a:off x="384" y="110"/>
              <a:ext cx="2160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过程和产品</a:t>
              </a:r>
              <a:endParaRPr lang="zh-CN" altLang="en-US" sz="24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56" name="Text Box 33"/>
            <p:cNvSpPr txBox="1"/>
            <p:nvPr/>
          </p:nvSpPr>
          <p:spPr>
            <a:xfrm>
              <a:off x="97" y="62"/>
              <a:ext cx="2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0" dirty="0"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4</a:t>
              </a:r>
              <a:endParaRPr lang="en-US" altLang="zh-CN" sz="2400" b="0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dirty="0">
                <a:ea typeface="宋体" panose="02010600030101010101" pitchFamily="2" charset="-122"/>
              </a:rPr>
              <a:t>本章学习目标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7171" name="AutoShape 3"/>
          <p:cNvSpPr>
            <a:spLocks noChangeArrowheads="1"/>
          </p:cNvSpPr>
          <p:nvPr/>
        </p:nvSpPr>
        <p:spPr bwMode="auto">
          <a:xfrm>
            <a:off x="1265238" y="4341813"/>
            <a:ext cx="2019300" cy="674688"/>
          </a:xfrm>
          <a:prstGeom prst="roundRect">
            <a:avLst>
              <a:gd name="adj" fmla="val 40389"/>
            </a:avLst>
          </a:prstGeom>
          <a:gradFill rotWithShape="1">
            <a:gsLst>
              <a:gs pos="0">
                <a:srgbClr val="7EA5D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72" name="Group 4"/>
          <p:cNvGrpSpPr/>
          <p:nvPr/>
        </p:nvGrpSpPr>
        <p:grpSpPr>
          <a:xfrm>
            <a:off x="1258888" y="1412875"/>
            <a:ext cx="2019300" cy="3605213"/>
            <a:chOff x="0" y="0"/>
            <a:chExt cx="1272" cy="2271"/>
          </a:xfrm>
        </p:grpSpPr>
        <p:sp>
          <p:nvSpPr>
            <p:cNvPr id="7173" name="AutoShape 5"/>
            <p:cNvSpPr>
              <a:spLocks noChangeArrowheads="1"/>
            </p:cNvSpPr>
            <p:nvPr/>
          </p:nvSpPr>
          <p:spPr bwMode="auto">
            <a:xfrm>
              <a:off x="0" y="179"/>
              <a:ext cx="1272" cy="1666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4E91D4"/>
                </a:gs>
                <a:gs pos="100000">
                  <a:srgbClr val="3477A4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74" name="AutoShape 6"/>
            <p:cNvSpPr>
              <a:spLocks noChangeArrowheads="1"/>
            </p:cNvSpPr>
            <p:nvPr/>
          </p:nvSpPr>
          <p:spPr bwMode="auto">
            <a:xfrm>
              <a:off x="20" y="184"/>
              <a:ext cx="1233" cy="163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80D4F2"/>
                </a:gs>
                <a:gs pos="100000">
                  <a:srgbClr val="3CA1E6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75" name="AutoShape 7"/>
            <p:cNvSpPr>
              <a:spLocks noChangeArrowheads="1"/>
            </p:cNvSpPr>
            <p:nvPr/>
          </p:nvSpPr>
          <p:spPr bwMode="auto">
            <a:xfrm>
              <a:off x="30" y="1387"/>
              <a:ext cx="1217" cy="4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80D4F2">
                    <a:alpha val="0"/>
                  </a:srgbClr>
                </a:gs>
                <a:gs pos="100000">
                  <a:srgbClr val="8FD9F4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76" name="AutoShape 8"/>
            <p:cNvSpPr>
              <a:spLocks noChangeArrowheads="1"/>
            </p:cNvSpPr>
            <p:nvPr/>
          </p:nvSpPr>
          <p:spPr bwMode="auto">
            <a:xfrm>
              <a:off x="30" y="197"/>
              <a:ext cx="1217" cy="41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5F1FB"/>
                </a:gs>
                <a:gs pos="100000">
                  <a:srgbClr val="80D4F2">
                    <a:alpha val="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" name="AutoShape 9"/>
            <p:cNvSpPr>
              <a:spLocks noChangeArrowheads="1"/>
            </p:cNvSpPr>
            <p:nvPr/>
          </p:nvSpPr>
          <p:spPr bwMode="auto">
            <a:xfrm>
              <a:off x="30" y="1858"/>
              <a:ext cx="1217" cy="413"/>
            </a:xfrm>
            <a:prstGeom prst="roundRect">
              <a:avLst>
                <a:gd name="adj" fmla="val 42856"/>
              </a:avLst>
            </a:prstGeom>
            <a:gradFill rotWithShape="1">
              <a:gsLst>
                <a:gs pos="0">
                  <a:srgbClr val="ACE7FA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7207" name="Group 10"/>
            <p:cNvGrpSpPr/>
            <p:nvPr/>
          </p:nvGrpSpPr>
          <p:grpSpPr>
            <a:xfrm>
              <a:off x="437" y="0"/>
              <a:ext cx="379" cy="374"/>
              <a:chOff x="0" y="0"/>
              <a:chExt cx="668" cy="668"/>
            </a:xfrm>
          </p:grpSpPr>
          <p:sp>
            <p:nvSpPr>
              <p:cNvPr id="7179" name="Oval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668" cy="66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7180" name="Oval 12"/>
              <p:cNvSpPr>
                <a:spLocks noChangeArrowheads="1"/>
              </p:cNvSpPr>
              <p:nvPr/>
            </p:nvSpPr>
            <p:spPr bwMode="auto">
              <a:xfrm>
                <a:off x="7" y="5"/>
                <a:ext cx="645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eaVert"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7181" name="Oval 13"/>
              <p:cNvSpPr>
                <a:spLocks noChangeArrowheads="1"/>
              </p:cNvSpPr>
              <p:nvPr/>
            </p:nvSpPr>
            <p:spPr bwMode="auto">
              <a:xfrm>
                <a:off x="16" y="9"/>
                <a:ext cx="631" cy="630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eaVert"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7182" name="Oval 14"/>
              <p:cNvSpPr>
                <a:spLocks noChangeArrowheads="1"/>
              </p:cNvSpPr>
              <p:nvPr/>
            </p:nvSpPr>
            <p:spPr bwMode="auto">
              <a:xfrm>
                <a:off x="21" y="14"/>
                <a:ext cx="601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eaVert"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7183" name="Oval 15"/>
              <p:cNvSpPr>
                <a:spLocks noChangeArrowheads="1"/>
              </p:cNvSpPr>
              <p:nvPr/>
            </p:nvSpPr>
            <p:spPr bwMode="auto">
              <a:xfrm>
                <a:off x="56" y="30"/>
                <a:ext cx="534" cy="480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</p:spPr>
            <p:txBody>
              <a:bodyPr vert="eaVert"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7184" name="Text Box 16"/>
            <p:cNvSpPr txBox="1">
              <a:spLocks noChangeArrowheads="1"/>
            </p:cNvSpPr>
            <p:nvPr/>
          </p:nvSpPr>
          <p:spPr bwMode="auto">
            <a:xfrm>
              <a:off x="512" y="54"/>
              <a:ext cx="223" cy="2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" name="Text Box 17"/>
            <p:cNvSpPr txBox="1">
              <a:spLocks noChangeArrowheads="1"/>
            </p:cNvSpPr>
            <p:nvPr/>
          </p:nvSpPr>
          <p:spPr bwMode="auto">
            <a:xfrm>
              <a:off x="45" y="444"/>
              <a:ext cx="1210" cy="23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86" name="AutoShape 19"/>
          <p:cNvSpPr>
            <a:spLocks noChangeArrowheads="1"/>
          </p:cNvSpPr>
          <p:nvPr/>
        </p:nvSpPr>
        <p:spPr bwMode="auto">
          <a:xfrm>
            <a:off x="3492500" y="1697038"/>
            <a:ext cx="2020888" cy="2641600"/>
          </a:xfrm>
          <a:prstGeom prst="roundRect">
            <a:avLst>
              <a:gd name="adj" fmla="val 17509"/>
            </a:avLst>
          </a:prstGeom>
          <a:gradFill rotWithShape="1">
            <a:gsLst>
              <a:gs pos="0">
                <a:srgbClr val="34B034"/>
              </a:gs>
              <a:gs pos="100000">
                <a:srgbClr val="3F8B4A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87" name="AutoShape 20"/>
          <p:cNvSpPr>
            <a:spLocks noChangeArrowheads="1"/>
          </p:cNvSpPr>
          <p:nvPr/>
        </p:nvSpPr>
        <p:spPr bwMode="auto">
          <a:xfrm>
            <a:off x="3524250" y="1704975"/>
            <a:ext cx="1958975" cy="2590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88EA91"/>
              </a:gs>
              <a:gs pos="100000">
                <a:srgbClr val="21D347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88" name="AutoShape 21"/>
          <p:cNvSpPr>
            <a:spLocks noChangeArrowheads="1"/>
          </p:cNvSpPr>
          <p:nvPr/>
        </p:nvSpPr>
        <p:spPr bwMode="auto">
          <a:xfrm>
            <a:off x="3540125" y="3613150"/>
            <a:ext cx="1933575" cy="6556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88EA91">
                  <a:alpha val="0"/>
                </a:srgbClr>
              </a:gs>
              <a:gs pos="100000">
                <a:srgbClr val="96ED9E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89" name="AutoShape 22"/>
          <p:cNvSpPr>
            <a:spLocks noChangeArrowheads="1"/>
          </p:cNvSpPr>
          <p:nvPr/>
        </p:nvSpPr>
        <p:spPr bwMode="auto">
          <a:xfrm>
            <a:off x="3500438" y="1714500"/>
            <a:ext cx="1933575" cy="6540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7F8DA"/>
              </a:gs>
              <a:gs pos="100000">
                <a:srgbClr val="88EA91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77" name="Group 22"/>
          <p:cNvGrpSpPr/>
          <p:nvPr/>
        </p:nvGrpSpPr>
        <p:grpSpPr>
          <a:xfrm>
            <a:off x="4187825" y="1412875"/>
            <a:ext cx="600075" cy="593725"/>
            <a:chOff x="0" y="0"/>
            <a:chExt cx="668" cy="668"/>
          </a:xfrm>
        </p:grpSpPr>
        <p:sp>
          <p:nvSpPr>
            <p:cNvPr id="5" name="Oval 24"/>
            <p:cNvSpPr>
              <a:spLocks noChangeArrowheads="1"/>
            </p:cNvSpPr>
            <p:nvPr/>
          </p:nvSpPr>
          <p:spPr bwMode="auto">
            <a:xfrm>
              <a:off x="0" y="0"/>
              <a:ext cx="668" cy="66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2" name="Oval 25"/>
            <p:cNvSpPr>
              <a:spLocks noChangeArrowheads="1"/>
            </p:cNvSpPr>
            <p:nvPr/>
          </p:nvSpPr>
          <p:spPr bwMode="auto">
            <a:xfrm>
              <a:off x="7" y="5"/>
              <a:ext cx="647" cy="647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3" name="Oval 26"/>
            <p:cNvSpPr>
              <a:spLocks noChangeArrowheads="1"/>
            </p:cNvSpPr>
            <p:nvPr/>
          </p:nvSpPr>
          <p:spPr bwMode="auto">
            <a:xfrm>
              <a:off x="14" y="9"/>
              <a:ext cx="633" cy="63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4" name="Oval 27"/>
            <p:cNvSpPr>
              <a:spLocks noChangeArrowheads="1"/>
            </p:cNvSpPr>
            <p:nvPr/>
          </p:nvSpPr>
          <p:spPr bwMode="auto">
            <a:xfrm>
              <a:off x="21" y="14"/>
              <a:ext cx="601" cy="589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195" name="Oval 28"/>
            <p:cNvSpPr>
              <a:spLocks noChangeArrowheads="1"/>
            </p:cNvSpPr>
            <p:nvPr/>
          </p:nvSpPr>
          <p:spPr bwMode="auto">
            <a:xfrm>
              <a:off x="57" y="30"/>
              <a:ext cx="534" cy="48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196" name="Text Box 29"/>
          <p:cNvSpPr txBox="1">
            <a:spLocks noChangeArrowheads="1"/>
          </p:cNvSpPr>
          <p:nvPr/>
        </p:nvSpPr>
        <p:spPr bwMode="auto">
          <a:xfrm>
            <a:off x="4305300" y="1498600"/>
            <a:ext cx="354013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97" name="AutoShape 31"/>
          <p:cNvSpPr>
            <a:spLocks noChangeArrowheads="1"/>
          </p:cNvSpPr>
          <p:nvPr/>
        </p:nvSpPr>
        <p:spPr bwMode="auto">
          <a:xfrm>
            <a:off x="3522663" y="4327525"/>
            <a:ext cx="2019300" cy="674688"/>
          </a:xfrm>
          <a:prstGeom prst="roundRect">
            <a:avLst>
              <a:gd name="adj" fmla="val 40389"/>
            </a:avLst>
          </a:prstGeom>
          <a:gradFill rotWithShape="1">
            <a:gsLst>
              <a:gs pos="0">
                <a:srgbClr val="52E26A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98" name="AutoShape 32"/>
          <p:cNvSpPr>
            <a:spLocks noChangeArrowheads="1"/>
          </p:cNvSpPr>
          <p:nvPr/>
        </p:nvSpPr>
        <p:spPr bwMode="auto">
          <a:xfrm>
            <a:off x="3563938" y="4348163"/>
            <a:ext cx="1931988" cy="655638"/>
          </a:xfrm>
          <a:prstGeom prst="roundRect">
            <a:avLst>
              <a:gd name="adj" fmla="val 42856"/>
            </a:avLst>
          </a:prstGeom>
          <a:gradFill rotWithShape="1">
            <a:gsLst>
              <a:gs pos="0">
                <a:srgbClr val="CBFDC7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99" name="AutoShape 34"/>
          <p:cNvSpPr>
            <a:spLocks noChangeArrowheads="1"/>
          </p:cNvSpPr>
          <p:nvPr/>
        </p:nvSpPr>
        <p:spPr bwMode="auto">
          <a:xfrm>
            <a:off x="5651500" y="1697038"/>
            <a:ext cx="2019300" cy="2641600"/>
          </a:xfrm>
          <a:prstGeom prst="roundRect">
            <a:avLst>
              <a:gd name="adj" fmla="val 17509"/>
            </a:avLst>
          </a:prstGeom>
          <a:gradFill rotWithShape="1">
            <a:gsLst>
              <a:gs pos="0">
                <a:srgbClr val="B59F43"/>
              </a:gs>
              <a:gs pos="100000">
                <a:srgbClr val="8F8849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00" name="AutoShape 35"/>
          <p:cNvSpPr>
            <a:spLocks noChangeArrowheads="1"/>
          </p:cNvSpPr>
          <p:nvPr/>
        </p:nvSpPr>
        <p:spPr bwMode="auto">
          <a:xfrm>
            <a:off x="5683250" y="1704975"/>
            <a:ext cx="1957388" cy="2590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EAEC86"/>
              </a:gs>
              <a:gs pos="100000">
                <a:srgbClr val="DCCE46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01" name="AutoShape 36"/>
          <p:cNvSpPr>
            <a:spLocks noChangeArrowheads="1"/>
          </p:cNvSpPr>
          <p:nvPr/>
        </p:nvSpPr>
        <p:spPr bwMode="auto">
          <a:xfrm>
            <a:off x="5699125" y="3613150"/>
            <a:ext cx="1931988" cy="6556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AEC86">
                  <a:alpha val="0"/>
                </a:srgbClr>
              </a:gs>
              <a:gs pos="100000">
                <a:srgbClr val="EDEE95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02" name="AutoShape 37"/>
          <p:cNvSpPr>
            <a:spLocks noChangeArrowheads="1"/>
          </p:cNvSpPr>
          <p:nvPr/>
        </p:nvSpPr>
        <p:spPr bwMode="auto">
          <a:xfrm>
            <a:off x="5699125" y="1725613"/>
            <a:ext cx="1931988" cy="6540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8F9D7"/>
              </a:gs>
              <a:gs pos="100000">
                <a:srgbClr val="EAEC86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185" name="Group 35"/>
          <p:cNvGrpSpPr/>
          <p:nvPr/>
        </p:nvGrpSpPr>
        <p:grpSpPr>
          <a:xfrm>
            <a:off x="6345238" y="1412875"/>
            <a:ext cx="601662" cy="593725"/>
            <a:chOff x="0" y="0"/>
            <a:chExt cx="668" cy="668"/>
          </a:xfrm>
        </p:grpSpPr>
        <p:sp>
          <p:nvSpPr>
            <p:cNvPr id="7204" name="Oval 39"/>
            <p:cNvSpPr>
              <a:spLocks noChangeArrowheads="1"/>
            </p:cNvSpPr>
            <p:nvPr/>
          </p:nvSpPr>
          <p:spPr bwMode="auto">
            <a:xfrm>
              <a:off x="0" y="0"/>
              <a:ext cx="668" cy="66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5" name="Oval 40"/>
            <p:cNvSpPr>
              <a:spLocks noChangeArrowheads="1"/>
            </p:cNvSpPr>
            <p:nvPr/>
          </p:nvSpPr>
          <p:spPr bwMode="auto">
            <a:xfrm>
              <a:off x="7" y="5"/>
              <a:ext cx="645" cy="647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6" name="Oval 41"/>
            <p:cNvSpPr>
              <a:spLocks noChangeArrowheads="1"/>
            </p:cNvSpPr>
            <p:nvPr/>
          </p:nvSpPr>
          <p:spPr bwMode="auto">
            <a:xfrm>
              <a:off x="16" y="9"/>
              <a:ext cx="631" cy="630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" name="Oval 42"/>
            <p:cNvSpPr>
              <a:spLocks noChangeArrowheads="1"/>
            </p:cNvSpPr>
            <p:nvPr/>
          </p:nvSpPr>
          <p:spPr bwMode="auto">
            <a:xfrm>
              <a:off x="21" y="14"/>
              <a:ext cx="601" cy="589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7208" name="Oval 43"/>
            <p:cNvSpPr>
              <a:spLocks noChangeArrowheads="1"/>
            </p:cNvSpPr>
            <p:nvPr/>
          </p:nvSpPr>
          <p:spPr bwMode="auto">
            <a:xfrm>
              <a:off x="56" y="30"/>
              <a:ext cx="534" cy="48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</p:spPr>
          <p:txBody>
            <a:bodyPr vert="eaVert"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7209" name="Text Box 44"/>
          <p:cNvSpPr txBox="1">
            <a:spLocks noChangeArrowheads="1"/>
          </p:cNvSpPr>
          <p:nvPr/>
        </p:nvSpPr>
        <p:spPr bwMode="auto">
          <a:xfrm>
            <a:off x="6464300" y="1498600"/>
            <a:ext cx="354013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 Box 45"/>
          <p:cNvSpPr txBox="1"/>
          <p:nvPr/>
        </p:nvSpPr>
        <p:spPr>
          <a:xfrm>
            <a:off x="5724525" y="1857375"/>
            <a:ext cx="1922463" cy="2012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2400" dirty="0">
                <a:solidFill>
                  <a:srgbClr val="000A14"/>
                </a:solidFill>
                <a:latin typeface="Arial Unicode MS" pitchFamily="34" charset="-128"/>
                <a:ea typeface="黑体" panose="02010609060101010101" pitchFamily="49" charset="-122"/>
              </a:rPr>
              <a:t>掌握如何为不同的项目选择过程模型。</a:t>
            </a:r>
            <a:endParaRPr lang="zh-CN" altLang="en-US" sz="2400" dirty="0">
              <a:solidFill>
                <a:srgbClr val="000A14"/>
              </a:solidFill>
              <a:latin typeface="Arial Unicode MS" pitchFamily="34" charset="-128"/>
              <a:ea typeface="黑体" panose="02010609060101010101" pitchFamily="49" charset="-122"/>
            </a:endParaRPr>
          </a:p>
        </p:txBody>
      </p:sp>
      <p:sp>
        <p:nvSpPr>
          <p:cNvPr id="7211" name="AutoShape 46"/>
          <p:cNvSpPr>
            <a:spLocks noChangeArrowheads="1"/>
          </p:cNvSpPr>
          <p:nvPr/>
        </p:nvSpPr>
        <p:spPr bwMode="auto">
          <a:xfrm>
            <a:off x="5659438" y="4335463"/>
            <a:ext cx="2019300" cy="674688"/>
          </a:xfrm>
          <a:prstGeom prst="roundRect">
            <a:avLst>
              <a:gd name="adj" fmla="val 40389"/>
            </a:avLst>
          </a:prstGeom>
          <a:gradFill rotWithShape="1">
            <a:gsLst>
              <a:gs pos="0">
                <a:srgbClr val="D7D45D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12" name="AutoShape 47"/>
          <p:cNvSpPr>
            <a:spLocks noChangeArrowheads="1"/>
          </p:cNvSpPr>
          <p:nvPr/>
        </p:nvSpPr>
        <p:spPr bwMode="auto">
          <a:xfrm>
            <a:off x="5700713" y="4356100"/>
            <a:ext cx="1931988" cy="655638"/>
          </a:xfrm>
          <a:prstGeom prst="roundRect">
            <a:avLst>
              <a:gd name="adj" fmla="val 42856"/>
            </a:avLst>
          </a:prstGeom>
          <a:gradFill rotWithShape="1">
            <a:gsLst>
              <a:gs pos="0">
                <a:srgbClr val="FAFDC7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A14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90" name="Text Box 45"/>
          <p:cNvSpPr txBox="1"/>
          <p:nvPr/>
        </p:nvSpPr>
        <p:spPr>
          <a:xfrm>
            <a:off x="3500438" y="1857375"/>
            <a:ext cx="1922462" cy="2492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2400" dirty="0">
                <a:solidFill>
                  <a:srgbClr val="000A14"/>
                </a:solidFill>
                <a:latin typeface="Arial Unicode MS" pitchFamily="34" charset="-128"/>
                <a:ea typeface="黑体" panose="02010609060101010101" pitchFamily="49" charset="-122"/>
              </a:rPr>
              <a:t>理解软件过程的重要性，了解不同过程模型的优缺点。</a:t>
            </a:r>
            <a:endParaRPr lang="zh-CN" altLang="en-US" sz="2400" dirty="0">
              <a:solidFill>
                <a:srgbClr val="000A14"/>
              </a:solidFill>
              <a:latin typeface="Arial Unicode MS" pitchFamily="34" charset="-128"/>
              <a:ea typeface="黑体" panose="02010609060101010101" pitchFamily="49" charset="-122"/>
            </a:endParaRPr>
          </a:p>
        </p:txBody>
      </p:sp>
      <p:sp>
        <p:nvSpPr>
          <p:cNvPr id="7191" name="Text Box 45"/>
          <p:cNvSpPr txBox="1"/>
          <p:nvPr/>
        </p:nvSpPr>
        <p:spPr>
          <a:xfrm>
            <a:off x="1285875" y="2000250"/>
            <a:ext cx="1922463" cy="1465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ts val="600"/>
              </a:spcBef>
              <a:buSzPct val="70000"/>
              <a:buNone/>
            </a:pPr>
            <a:r>
              <a:rPr lang="zh-CN" altLang="en-US" sz="2400" dirty="0">
                <a:solidFill>
                  <a:srgbClr val="000A1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了解软件过程和软件过程模型概念。</a:t>
            </a:r>
            <a:endParaRPr lang="zh-CN" altLang="en-US" sz="2400" dirty="0">
              <a:solidFill>
                <a:srgbClr val="000A14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194" name="Group 2"/>
          <p:cNvGrpSpPr/>
          <p:nvPr/>
        </p:nvGrpSpPr>
        <p:grpSpPr>
          <a:xfrm>
            <a:off x="285750" y="1000125"/>
            <a:ext cx="8501063" cy="4214813"/>
            <a:chOff x="0" y="0"/>
            <a:chExt cx="3984" cy="912"/>
          </a:xfrm>
        </p:grpSpPr>
        <p:sp>
          <p:nvSpPr>
            <p:cNvPr id="2" name="AutoShape 4"/>
            <p:cNvSpPr>
              <a:spLocks noChangeArrowheads="1"/>
            </p:cNvSpPr>
            <p:nvPr/>
          </p:nvSpPr>
          <p:spPr bwMode="auto">
            <a:xfrm>
              <a:off x="0" y="0"/>
              <a:ext cx="3984" cy="912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F3F3F3"/>
                </a:gs>
                <a:gs pos="50000">
                  <a:srgbClr val="DDDDDD"/>
                </a:gs>
                <a:gs pos="100000">
                  <a:srgbClr val="F3F3F3"/>
                </a:gs>
              </a:gsLst>
              <a:lin ang="18900000" scaled="1"/>
            </a:gradFill>
            <a:ln w="38100" cmpd="sng">
              <a:solidFill>
                <a:srgbClr val="FFFFFF"/>
              </a:solidFill>
              <a:rou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8197" name="Group 4"/>
            <p:cNvGrpSpPr/>
            <p:nvPr/>
          </p:nvGrpSpPr>
          <p:grpSpPr>
            <a:xfrm>
              <a:off x="54" y="27"/>
              <a:ext cx="768" cy="746"/>
              <a:chOff x="0" y="0"/>
              <a:chExt cx="768" cy="746"/>
            </a:xfrm>
          </p:grpSpPr>
          <p:sp>
            <p:nvSpPr>
              <p:cNvPr id="3" name="AutoShap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769" cy="746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2F608E"/>
                  </a:gs>
                </a:gsLst>
                <a:lin ang="5400000" scaled="1"/>
              </a:gradFill>
              <a:ln w="38100" cmpd="sng">
                <a:solidFill>
                  <a:schemeClr val="bg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" name="未知"/>
              <p:cNvSpPr>
                <a:spLocks noChangeArrowheads="1"/>
              </p:cNvSpPr>
              <p:nvPr/>
            </p:nvSpPr>
            <p:spPr bwMode="auto">
              <a:xfrm>
                <a:off x="47" y="48"/>
                <a:ext cx="384" cy="373"/>
              </a:xfrm>
              <a:custGeom>
                <a:avLst/>
                <a:gdLst>
                  <a:gd name="T0" fmla="*/ 118 w 596"/>
                  <a:gd name="T1" fmla="*/ 0 h 598"/>
                  <a:gd name="T2" fmla="*/ 0 w 596"/>
                  <a:gd name="T3" fmla="*/ 118 h 598"/>
                  <a:gd name="T4" fmla="*/ 0 w 596"/>
                  <a:gd name="T5" fmla="*/ 589 h 598"/>
                  <a:gd name="T6" fmla="*/ 161 w 596"/>
                  <a:gd name="T7" fmla="*/ 174 h 598"/>
                  <a:gd name="T8" fmla="*/ 589 w 596"/>
                  <a:gd name="T9" fmla="*/ 0 h 598"/>
                  <a:gd name="T10" fmla="*/ 118 w 596"/>
                  <a:gd name="T11" fmla="*/ 0 h 5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6"/>
                  <a:gd name="T19" fmla="*/ 0 h 598"/>
                  <a:gd name="T20" fmla="*/ 596 w 596"/>
                  <a:gd name="T21" fmla="*/ 598 h 5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50000">
                    <a:srgbClr val="99BFE3"/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8199" name="Text Box 8"/>
              <p:cNvSpPr txBox="1">
                <a:spLocks noChangeArrowheads="1"/>
              </p:cNvSpPr>
              <p:nvPr/>
            </p:nvSpPr>
            <p:spPr bwMode="auto">
              <a:xfrm>
                <a:off x="43" y="188"/>
                <a:ext cx="667" cy="45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定义</a:t>
                </a: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8198" name="Text Box 9"/>
            <p:cNvSpPr txBox="1"/>
            <p:nvPr/>
          </p:nvSpPr>
          <p:spPr>
            <a:xfrm>
              <a:off x="927" y="85"/>
              <a:ext cx="2927" cy="38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algn="just" eaLnBrk="1" hangingPunct="1">
                <a:lnSpc>
                  <a:spcPct val="130000"/>
                </a:lnSpc>
                <a:spcBef>
                  <a:spcPct val="30000"/>
                </a:spcBef>
                <a:buClrTx/>
                <a:buNone/>
              </a:pPr>
              <a:r>
                <a:rPr lang="zh-CN" altLang="en-US" dirty="0">
                  <a:solidFill>
                    <a:srgbClr val="000A14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软件生命周期</a:t>
              </a:r>
              <a:r>
                <a:rPr lang="en-US" altLang="zh-CN" dirty="0">
                  <a:solidFill>
                    <a:srgbClr val="000A14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(Software  Life  Cycle)</a:t>
              </a:r>
              <a:r>
                <a:rPr lang="zh-CN" altLang="en-US" dirty="0">
                  <a:solidFill>
                    <a:srgbClr val="000A14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dirty="0">
                  <a:solidFill>
                    <a:srgbClr val="000A14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软件产品或软件系统从设计、投入使用到被淘汰的全过程。</a:t>
              </a:r>
              <a:endPara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8195" name="矩形 14"/>
          <p:cNvSpPr/>
          <p:nvPr/>
        </p:nvSpPr>
        <p:spPr>
          <a:xfrm>
            <a:off x="3214688" y="0"/>
            <a:ext cx="3143250" cy="735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软件生命周期</a:t>
            </a:r>
            <a:endParaRPr lang="zh-CN" altLang="en-US" sz="36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Rot="1"/>
          </p:cNvSpPr>
          <p:nvPr>
            <p:ph type="title"/>
          </p:nvPr>
        </p:nvSpPr>
        <p:spPr>
          <a:xfrm>
            <a:off x="179705" y="0"/>
            <a:ext cx="8909050" cy="770890"/>
          </a:xfrm>
        </p:spPr>
        <p:txBody>
          <a:bodyPr vert="horz" wrap="square" lIns="63500" tIns="25400" rIns="63500" bIns="25400" anchor="t" anchorCtr="0">
            <a:spAutoFit/>
          </a:bodyPr>
          <a:p>
            <a:pPr algn="ctr" defTabSz="91440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SzTx/>
              <a:buFont typeface="Wingdings" panose="05000000000000000000" pitchFamily="2" charset="2"/>
            </a:pPr>
            <a:r>
              <a:rPr lang="zh-CN" altLang="en-US" sz="3600" kern="1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一个典型的软件开发周期</a:t>
            </a:r>
            <a:endParaRPr lang="zh-CN" altLang="en-US" sz="3600" kern="12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21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050" y="982663"/>
            <a:ext cx="7966075" cy="484663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 advTm="207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Slide Number Placeholder 4"/>
          <p:cNvSpPr txBox="1">
            <a:spLocks noGrp="1" noChangeArrowheads="1"/>
          </p:cNvSpPr>
          <p:nvPr/>
        </p:nvSpPr>
        <p:spPr bwMode="auto">
          <a:xfrm>
            <a:off x="8239125" y="6248400"/>
            <a:ext cx="631825" cy="4762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r" eaLnBrk="1" hangingPunct="1">
              <a:spcBef>
                <a:spcPct val="30000"/>
              </a:spcBef>
              <a:buClr>
                <a:schemeClr val="tx2"/>
              </a:buClr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24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975" y="812800"/>
            <a:ext cx="8383588" cy="4710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4" name="Text Box 9"/>
          <p:cNvSpPr txBox="1">
            <a:spLocks noChangeArrowheads="1"/>
          </p:cNvSpPr>
          <p:nvPr/>
        </p:nvSpPr>
        <p:spPr bwMode="auto">
          <a:xfrm>
            <a:off x="5013325" y="2079625"/>
            <a:ext cx="352425" cy="571500"/>
          </a:xfrm>
          <a:prstGeom prst="rect">
            <a:avLst/>
          </a:prstGeom>
          <a:noFill/>
          <a:ln w="12700" cmpd="sng">
            <a:solidFill>
              <a:schemeClr val="bg1"/>
            </a:solidFill>
            <a:miter lim="800000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5" name="Text Box 9"/>
          <p:cNvSpPr txBox="1">
            <a:spLocks noChangeArrowheads="1"/>
          </p:cNvSpPr>
          <p:nvPr/>
        </p:nvSpPr>
        <p:spPr bwMode="auto">
          <a:xfrm>
            <a:off x="6334125" y="3608388"/>
            <a:ext cx="352425" cy="571500"/>
          </a:xfrm>
          <a:prstGeom prst="rect">
            <a:avLst/>
          </a:prstGeom>
          <a:noFill/>
          <a:ln w="12700" cmpd="sng">
            <a:solidFill>
              <a:schemeClr val="bg1"/>
            </a:solidFill>
            <a:miter lim="800000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6" name="Text Box 9"/>
          <p:cNvSpPr txBox="1">
            <a:spLocks noChangeArrowheads="1"/>
          </p:cNvSpPr>
          <p:nvPr/>
        </p:nvSpPr>
        <p:spPr bwMode="auto">
          <a:xfrm>
            <a:off x="5026025" y="4465638"/>
            <a:ext cx="352425" cy="571500"/>
          </a:xfrm>
          <a:prstGeom prst="rect">
            <a:avLst/>
          </a:prstGeom>
          <a:noFill/>
          <a:ln w="12700" cmpd="sng">
            <a:solidFill>
              <a:schemeClr val="bg1"/>
            </a:solidFill>
            <a:miter lim="800000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7" name="Text Box 9"/>
          <p:cNvSpPr txBox="1">
            <a:spLocks noChangeArrowheads="1"/>
          </p:cNvSpPr>
          <p:nvPr/>
        </p:nvSpPr>
        <p:spPr bwMode="auto">
          <a:xfrm>
            <a:off x="1266825" y="2736850"/>
            <a:ext cx="352425" cy="571500"/>
          </a:xfrm>
          <a:prstGeom prst="rect">
            <a:avLst/>
          </a:prstGeom>
          <a:noFill/>
          <a:ln w="12700" cmpd="sng">
            <a:solidFill>
              <a:schemeClr val="bg1"/>
            </a:solidFill>
            <a:miter lim="800000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66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8" name="标题 1"/>
          <p:cNvSpPr txBox="1"/>
          <p:nvPr/>
        </p:nvSpPr>
        <p:spPr>
          <a:xfrm>
            <a:off x="228600" y="206375"/>
            <a:ext cx="8686800" cy="56356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36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什么是软件过程？</a:t>
            </a:r>
            <a:endParaRPr lang="zh-CN" altLang="en-US" dirty="0">
              <a:solidFill>
                <a:schemeClr val="bg1"/>
              </a:solidFill>
              <a:ea typeface="黑体" panose="02010609060101010101" pitchFamily="49" charset="-122"/>
            </a:endParaRPr>
          </a:p>
        </p:txBody>
      </p:sp>
      <p:grpSp>
        <p:nvGrpSpPr>
          <p:cNvPr id="10249" name="Group 9"/>
          <p:cNvGrpSpPr/>
          <p:nvPr/>
        </p:nvGrpSpPr>
        <p:grpSpPr>
          <a:xfrm>
            <a:off x="142875" y="5429250"/>
            <a:ext cx="8642350" cy="1216025"/>
            <a:chOff x="0" y="0"/>
            <a:chExt cx="3984" cy="1054"/>
          </a:xfrm>
        </p:grpSpPr>
        <p:sp>
          <p:nvSpPr>
            <p:cNvPr id="10250" name="AutoShape 4"/>
            <p:cNvSpPr>
              <a:spLocks noChangeArrowheads="1"/>
            </p:cNvSpPr>
            <p:nvPr/>
          </p:nvSpPr>
          <p:spPr bwMode="auto">
            <a:xfrm>
              <a:off x="0" y="0"/>
              <a:ext cx="3984" cy="912"/>
            </a:xfrm>
            <a:prstGeom prst="roundRect">
              <a:avLst>
                <a:gd name="adj" fmla="val 10889"/>
              </a:avLst>
            </a:prstGeom>
            <a:gradFill rotWithShape="1">
              <a:gsLst>
                <a:gs pos="0">
                  <a:srgbClr val="F3F3F3"/>
                </a:gs>
                <a:gs pos="50000">
                  <a:srgbClr val="DDDDDD"/>
                </a:gs>
                <a:gs pos="100000">
                  <a:srgbClr val="F3F3F3"/>
                </a:gs>
              </a:gsLst>
              <a:lin ang="18900000" scaled="1"/>
            </a:gradFill>
            <a:ln w="38100" cmpd="sng">
              <a:solidFill>
                <a:srgbClr val="FFFFFF"/>
              </a:solidFill>
              <a:round/>
            </a:ln>
            <a:effectLst>
              <a:outerShdw dist="135003" dir="2928844" algn="ctr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10251" name="Group 11"/>
            <p:cNvGrpSpPr/>
            <p:nvPr/>
          </p:nvGrpSpPr>
          <p:grpSpPr>
            <a:xfrm>
              <a:off x="87" y="84"/>
              <a:ext cx="768" cy="746"/>
              <a:chOff x="0" y="0"/>
              <a:chExt cx="768" cy="746"/>
            </a:xfrm>
          </p:grpSpPr>
          <p:sp>
            <p:nvSpPr>
              <p:cNvPr id="10252" name="AutoShap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768" cy="746"/>
              </a:xfrm>
              <a:prstGeom prst="roundRect">
                <a:avLst>
                  <a:gd name="adj" fmla="val 11921"/>
                </a:avLst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2F608E"/>
                  </a:gs>
                </a:gsLst>
                <a:lin ang="5400000" scaled="1"/>
              </a:gradFill>
              <a:ln w="38100" cmpd="sng">
                <a:solidFill>
                  <a:schemeClr val="bg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253" name="未知"/>
              <p:cNvSpPr>
                <a:spLocks noChangeArrowheads="1"/>
              </p:cNvSpPr>
              <p:nvPr/>
            </p:nvSpPr>
            <p:spPr bwMode="auto">
              <a:xfrm>
                <a:off x="48" y="48"/>
                <a:ext cx="383" cy="373"/>
              </a:xfrm>
              <a:custGeom>
                <a:avLst/>
                <a:gdLst>
                  <a:gd name="T0" fmla="*/ 118 w 596"/>
                  <a:gd name="T1" fmla="*/ 0 h 598"/>
                  <a:gd name="T2" fmla="*/ 0 w 596"/>
                  <a:gd name="T3" fmla="*/ 118 h 598"/>
                  <a:gd name="T4" fmla="*/ 0 w 596"/>
                  <a:gd name="T5" fmla="*/ 589 h 598"/>
                  <a:gd name="T6" fmla="*/ 161 w 596"/>
                  <a:gd name="T7" fmla="*/ 174 h 598"/>
                  <a:gd name="T8" fmla="*/ 589 w 596"/>
                  <a:gd name="T9" fmla="*/ 0 h 598"/>
                  <a:gd name="T10" fmla="*/ 118 w 596"/>
                  <a:gd name="T11" fmla="*/ 0 h 5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6"/>
                  <a:gd name="T19" fmla="*/ 0 h 598"/>
                  <a:gd name="T20" fmla="*/ 596 w 596"/>
                  <a:gd name="T21" fmla="*/ 598 h 59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6" h="598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lnTo>
                      <a:pt x="0" y="589"/>
                    </a:lnTo>
                    <a:cubicBezTo>
                      <a:pt x="27" y="598"/>
                      <a:pt x="12" y="309"/>
                      <a:pt x="161" y="174"/>
                    </a:cubicBezTo>
                    <a:cubicBezTo>
                      <a:pt x="310" y="39"/>
                      <a:pt x="596" y="29"/>
                      <a:pt x="589" y="0"/>
                    </a:cubicBezTo>
                    <a:lnTo>
                      <a:pt x="118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50000">
                    <a:srgbClr val="99BFE3"/>
                  </a:gs>
                  <a:gs pos="100000">
                    <a:schemeClr val="accent1">
                      <a:alpha val="0"/>
                    </a:schemeClr>
                  </a:gs>
                </a:gsLst>
                <a:lin ang="18900000" scaled="1"/>
              </a:gra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10254" name="Text Box 8"/>
              <p:cNvSpPr txBox="1">
                <a:spLocks noChangeArrowheads="1"/>
              </p:cNvSpPr>
              <p:nvPr/>
            </p:nvSpPr>
            <p:spPr bwMode="auto">
              <a:xfrm>
                <a:off x="43" y="188"/>
                <a:ext cx="667" cy="450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tx1"/>
                </a:outerShdw>
              </a:effec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Verdan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3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rPr>
                  <a:t>定义</a:t>
                </a: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255" name="Text Box 9"/>
            <p:cNvSpPr txBox="1">
              <a:spLocks noChangeArrowheads="1"/>
            </p:cNvSpPr>
            <p:nvPr/>
          </p:nvSpPr>
          <p:spPr bwMode="auto">
            <a:xfrm>
              <a:off x="960" y="142"/>
              <a:ext cx="2928" cy="91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软件过程定义了软件生产的一系列活动，这些活动贯穿于软件开发的整个过程。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Rot="1"/>
          </p:cNvSpPr>
          <p:nvPr>
            <p:ph type="title"/>
          </p:nvPr>
        </p:nvSpPr>
        <p:spPr>
          <a:xfrm>
            <a:off x="228600" y="116205"/>
            <a:ext cx="8686800" cy="563563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dirty="0">
                <a:solidFill>
                  <a:srgbClr val="001933"/>
                </a:solidFill>
                <a:ea typeface="宋体" panose="02010600030101010101" pitchFamily="2" charset="-122"/>
              </a:rPr>
              <a:t>什么是软件过程？</a:t>
            </a:r>
            <a:endParaRPr lang="zh-CN" altLang="en-US" sz="3200" dirty="0">
              <a:solidFill>
                <a:srgbClr val="001933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6"/>
          <p:cNvSpPr>
            <a:spLocks noGrp="1" noRot="1"/>
          </p:cNvSpPr>
          <p:nvPr>
            <p:ph type="body"/>
          </p:nvPr>
        </p:nvSpPr>
        <p:spPr>
          <a:xfrm>
            <a:off x="457200" y="1295400"/>
            <a:ext cx="8401050" cy="493395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2400" dirty="0">
                <a:solidFill>
                  <a:srgbClr val="000A14"/>
                </a:solidFill>
                <a:ea typeface="宋体" panose="02010600030101010101" pitchFamily="2" charset="-122"/>
              </a:rPr>
              <a:t>虽然过程是多种多样的，但所有过程都具有以下的共同活动</a:t>
            </a:r>
            <a:endParaRPr lang="zh-CN" altLang="en-US" sz="2400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>
              <a:buNone/>
            </a:pP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11268" name="Oval 4"/>
          <p:cNvSpPr/>
          <p:nvPr/>
        </p:nvSpPr>
        <p:spPr>
          <a:xfrm>
            <a:off x="666750" y="2484438"/>
            <a:ext cx="1625600" cy="931862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沟通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69" name="TextBox 158"/>
          <p:cNvSpPr/>
          <p:nvPr/>
        </p:nvSpPr>
        <p:spPr>
          <a:xfrm rot="-5400000">
            <a:off x="4714875" y="139700"/>
            <a:ext cx="1827213" cy="5548313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53000"/>
                </a:schemeClr>
              </a:gs>
              <a:gs pos="100000">
                <a:schemeClr val="tx1">
                  <a:alpha val="23996"/>
                </a:schemeClr>
              </a:gs>
            </a:gsLst>
            <a:lin ang="5400000" scaled="1"/>
            <a:tileRect/>
          </a:gradFill>
          <a:ln w="9525">
            <a:noFill/>
          </a:ln>
        </p:spPr>
        <p:txBody>
          <a:bodyPr vert="eaVert" lIns="548640" tIns="13716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该活动包括软件设计者与客户沟通，客户提出要求，软件设计者收集材料，以及其它相关活动。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30000"/>
              </a:spcBef>
              <a:buClr>
                <a:schemeClr val="tx2"/>
              </a:buClr>
              <a:buNone/>
            </a:pPr>
            <a:endParaRPr lang="en-US" altLang="zh-CN" sz="1200" b="0" dirty="0">
              <a:solidFill>
                <a:schemeClr val="bg1"/>
              </a:solidFill>
              <a:latin typeface="Segoe UI" panose="020B0502040204020203" pitchFamily="34" charset="0"/>
              <a:ea typeface="宋体" panose="02010600030101010101" pitchFamily="2" charset="-122"/>
            </a:endParaRPr>
          </a:p>
        </p:txBody>
      </p:sp>
      <p:sp>
        <p:nvSpPr>
          <p:cNvPr id="11270" name="Oval 14"/>
          <p:cNvSpPr/>
          <p:nvPr/>
        </p:nvSpPr>
        <p:spPr>
          <a:xfrm>
            <a:off x="666750" y="4668838"/>
            <a:ext cx="1625600" cy="996950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计划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1" name="TextBox 158"/>
          <p:cNvSpPr/>
          <p:nvPr/>
        </p:nvSpPr>
        <p:spPr>
          <a:xfrm rot="-5400000">
            <a:off x="4846638" y="2392363"/>
            <a:ext cx="1647825" cy="5576887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53000"/>
                </a:schemeClr>
              </a:gs>
              <a:gs pos="100000">
                <a:schemeClr val="tx1">
                  <a:alpha val="23996"/>
                </a:schemeClr>
              </a:gs>
            </a:gsLst>
            <a:lin ang="5400000" scaled="1"/>
            <a:tileRect/>
          </a:gradFill>
          <a:ln w="9525">
            <a:noFill/>
          </a:ln>
        </p:spPr>
        <p:txBody>
          <a:bodyPr vert="eaVert" lIns="548640" tIns="13716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Pct val="70000"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buClr>
                <a:schemeClr val="hlink"/>
              </a:buClr>
              <a:buSzPct val="70000"/>
              <a:buNone/>
            </a:pP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软件开发小组讨论使用何种方法及何种工具来实现客户需求。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30000"/>
              </a:spcBef>
              <a:buClr>
                <a:schemeClr val="tx2"/>
              </a:buClr>
              <a:buNone/>
            </a:pPr>
            <a:endParaRPr lang="en-US" altLang="zh-CN" sz="1200" dirty="0">
              <a:solidFill>
                <a:schemeClr val="bg1"/>
              </a:solidFill>
              <a:latin typeface="Segoe UI" panose="020B0502040204020203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1126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" fill="hold"/>
                                        <p:tgtEl>
                                          <p:spTgt spid="11269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" fill="hold"/>
                                        <p:tgtEl>
                                          <p:spTgt spid="1127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" fill="hold"/>
                                        <p:tgtEl>
                                          <p:spTgt spid="11271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animBg="1"/>
      <p:bldP spid="11269" grpId="0" animBg="1"/>
      <p:bldP spid="11270" grpId="0" animBg="1"/>
      <p:bldP spid="1127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Oval 4"/>
          <p:cNvSpPr/>
          <p:nvPr/>
        </p:nvSpPr>
        <p:spPr>
          <a:xfrm>
            <a:off x="609600" y="1403350"/>
            <a:ext cx="1536700" cy="981075"/>
          </a:xfrm>
          <a:prstGeom prst="ellipse">
            <a:avLst/>
          </a:prstGeom>
          <a:solidFill>
            <a:srgbClr val="FF99CC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建模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1" name="TextBox 158"/>
          <p:cNvSpPr>
            <a:spLocks noChangeArrowheads="1"/>
          </p:cNvSpPr>
          <p:nvPr/>
        </p:nvSpPr>
        <p:spPr bwMode="auto">
          <a:xfrm rot="16200000">
            <a:off x="4654550" y="-939800"/>
            <a:ext cx="1554163" cy="5576888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53000"/>
                </a:schemeClr>
              </a:gs>
              <a:gs pos="100000">
                <a:schemeClr val="tx1">
                  <a:alpha val="23999"/>
                </a:schemeClr>
              </a:gs>
            </a:gsLst>
            <a:lin ang="5400000" scaled="1"/>
          </a:gradFill>
          <a:ln>
            <a:noFill/>
          </a:ln>
        </p:spPr>
        <p:txBody>
          <a:bodyPr vert="eaVert" lIns="548640" tIns="137160" rIns="0" bIns="0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19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1933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在这一部分，软件开发小组讨论选择何种模型来满足需求。不同的需求需要不同的模型。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1933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2292" name="Oval 7"/>
          <p:cNvSpPr/>
          <p:nvPr/>
        </p:nvSpPr>
        <p:spPr>
          <a:xfrm>
            <a:off x="681038" y="3152775"/>
            <a:ext cx="1581150" cy="1028700"/>
          </a:xfrm>
          <a:prstGeom prst="ellipse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rgbClr val="00193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构造</a:t>
            </a:r>
            <a:endParaRPr lang="zh-CN" altLang="en-US" sz="2400" dirty="0">
              <a:solidFill>
                <a:srgbClr val="0019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3" name="Oval 9"/>
          <p:cNvSpPr/>
          <p:nvPr/>
        </p:nvSpPr>
        <p:spPr>
          <a:xfrm>
            <a:off x="652463" y="4867275"/>
            <a:ext cx="1566862" cy="1093788"/>
          </a:xfrm>
          <a:prstGeom prst="ellipse">
            <a:avLst/>
          </a:prstGeom>
          <a:solidFill>
            <a:srgbClr val="FF9900"/>
          </a:solidFill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部署</a:t>
            </a: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294" name="TextBox 158"/>
          <p:cNvSpPr/>
          <p:nvPr/>
        </p:nvSpPr>
        <p:spPr>
          <a:xfrm rot="-5400000">
            <a:off x="4897438" y="815975"/>
            <a:ext cx="1209675" cy="5576888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53000"/>
                </a:schemeClr>
              </a:gs>
              <a:gs pos="100000">
                <a:schemeClr val="tx1">
                  <a:alpha val="23996"/>
                </a:schemeClr>
              </a:gs>
            </a:gsLst>
            <a:lin ang="5400000" scaled="1"/>
            <a:tileRect/>
          </a:gradFill>
          <a:ln w="9525">
            <a:noFill/>
          </a:ln>
        </p:spPr>
        <p:txBody>
          <a:bodyPr vert="eaVert" lIns="548640" tIns="13716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Pct val="70000"/>
              <a:buNone/>
            </a:pPr>
            <a:endParaRPr lang="en-US" altLang="zh-CN" sz="2400" dirty="0">
              <a:solidFill>
                <a:srgbClr val="0019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buClr>
                <a:schemeClr val="hlink"/>
              </a:buClr>
              <a:buSzPct val="70000"/>
              <a:buNone/>
            </a:pPr>
            <a:endParaRPr lang="en-US" altLang="zh-CN" sz="2400" dirty="0">
              <a:solidFill>
                <a:srgbClr val="0019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rgbClr val="0019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编码和测试。</a:t>
            </a:r>
            <a:endParaRPr lang="zh-CN" altLang="en-US" sz="2400" dirty="0">
              <a:solidFill>
                <a:srgbClr val="001933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30000"/>
              </a:spcBef>
              <a:buClr>
                <a:schemeClr val="tx2"/>
              </a:buClr>
              <a:buNone/>
            </a:pPr>
            <a:endParaRPr lang="en-US" altLang="zh-CN" sz="1200" dirty="0">
              <a:solidFill>
                <a:srgbClr val="001933"/>
              </a:solidFill>
              <a:latin typeface="Segoe UI" panose="020B0502040204020203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TextBox 158"/>
          <p:cNvSpPr/>
          <p:nvPr/>
        </p:nvSpPr>
        <p:spPr>
          <a:xfrm rot="-5400000">
            <a:off x="4775200" y="2581275"/>
            <a:ext cx="1454150" cy="5576888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bg1">
                  <a:alpha val="53000"/>
                </a:schemeClr>
              </a:gs>
              <a:gs pos="100000">
                <a:schemeClr val="tx1">
                  <a:alpha val="23996"/>
                </a:schemeClr>
              </a:gs>
            </a:gsLst>
            <a:lin ang="5400000" scaled="1"/>
            <a:tileRect/>
          </a:gradFill>
          <a:ln w="9525">
            <a:noFill/>
          </a:ln>
        </p:spPr>
        <p:txBody>
          <a:bodyPr vert="eaVert" lIns="548640" tIns="13716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Pct val="70000"/>
              <a:buNone/>
            </a:pPr>
            <a:endParaRPr lang="en-US" altLang="zh-CN" sz="2400" dirty="0">
              <a:solidFill>
                <a:srgbClr val="0019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2400" dirty="0">
              <a:solidFill>
                <a:srgbClr val="0019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rgbClr val="001933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软件交付给客户。客户给出建议和反馈，软件实施小组改进软件。</a:t>
            </a:r>
            <a:endParaRPr lang="zh-CN" altLang="en-US" sz="2400" dirty="0">
              <a:solidFill>
                <a:srgbClr val="001933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eaLnBrk="1" hangingPunct="1">
              <a:spcBef>
                <a:spcPct val="30000"/>
              </a:spcBef>
              <a:buClr>
                <a:schemeClr val="tx2"/>
              </a:buClr>
              <a:buNone/>
            </a:pPr>
            <a:endParaRPr lang="en-US" altLang="zh-CN" sz="1200" dirty="0">
              <a:solidFill>
                <a:srgbClr val="001933"/>
              </a:solidFill>
              <a:latin typeface="Segoe UI" panose="020B0502040204020203" pitchFamily="34" charset="0"/>
              <a:ea typeface="宋体" panose="02010600030101010101" pitchFamily="2" charset="-122"/>
            </a:endParaRPr>
          </a:p>
        </p:txBody>
      </p:sp>
      <p:sp>
        <p:nvSpPr>
          <p:cNvPr id="12296" name="标题 8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1229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" fill="hold"/>
                                        <p:tgtEl>
                                          <p:spTgt spid="1229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" fill="hold"/>
                                        <p:tgtEl>
                                          <p:spTgt spid="1229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" fill="hold"/>
                                        <p:tgtEl>
                                          <p:spTgt spid="1229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nimBg="1"/>
      <p:bldP spid="12293" grpId="0" animBg="1"/>
      <p:bldP spid="12294" grpId="0" animBg="1"/>
      <p:bldP spid="1229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05105" y="188595"/>
            <a:ext cx="87363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sz="3200" b="1" kern="0" dirty="0">
                <a:solidFill>
                  <a:srgbClr val="001933"/>
                </a:solidFill>
                <a:latin typeface="+mj-lt"/>
                <a:ea typeface="宋体" panose="02010600030101010101" pitchFamily="2" charset="-122"/>
                <a:cs typeface="+mj-cs"/>
                <a:sym typeface="+mn-ea"/>
              </a:rPr>
              <a:t>成熟度模型标准（CMMI）</a:t>
            </a:r>
            <a:endParaRPr lang="zh-CN" altLang="en-US" sz="3200" b="1" kern="0" dirty="0">
              <a:solidFill>
                <a:srgbClr val="001933"/>
              </a:solidFill>
              <a:latin typeface="+mj-lt"/>
              <a:ea typeface="宋体" panose="02010600030101010101" pitchFamily="2" charset="-122"/>
              <a:cs typeface="+mj-cs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66775" y="1161415"/>
            <a:ext cx="7771130" cy="49955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什么是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CMMI?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/>
            <a:endParaRPr lang="zh-CN" altLang="en-US" dirty="0">
              <a:sym typeface="+mn-ea"/>
            </a:endParaRPr>
          </a:p>
          <a:p>
            <a:pPr marL="342900" indent="-342900" eaLnBrk="1" hangingPunct="1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zh-CN" altLang="en-US" dirty="0">
                <a:sym typeface="+mn-ea"/>
              </a:rPr>
              <a:t>她是一个如何做好软件的最佳实践的集合。</a:t>
            </a:r>
            <a:endParaRPr lang="zh-CN" altLang="en-US" dirty="0"/>
          </a:p>
          <a:p>
            <a:pPr marL="342900" indent="-342900" eaLnBrk="1" hangingPunct="1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zh-CN" altLang="en-US" dirty="0">
                <a:sym typeface="+mn-ea"/>
              </a:rPr>
              <a:t>已经得到全球实践证明，我们不必怀疑她的先进性。</a:t>
            </a:r>
            <a:endParaRPr lang="zh-CN" altLang="en-US" dirty="0"/>
          </a:p>
          <a:p>
            <a:pPr marL="342900" indent="-342900" eaLnBrk="1" hangingPunct="1">
              <a:lnSpc>
                <a:spcPct val="200000"/>
              </a:lnSpc>
              <a:buFont typeface="Wingdings" panose="05000000000000000000" charset="0"/>
              <a:buChar char="n"/>
            </a:pPr>
            <a:r>
              <a:rPr lang="zh-CN" altLang="en-US" dirty="0">
                <a:sym typeface="+mn-ea"/>
              </a:rPr>
              <a:t>如果我们没有做好，那不是</a:t>
            </a:r>
            <a:r>
              <a:rPr lang="en-US" altLang="zh-CN" dirty="0">
                <a:sym typeface="+mn-ea"/>
              </a:rPr>
              <a:t>CMMI</a:t>
            </a:r>
            <a:r>
              <a:rPr lang="zh-CN" altLang="en-US" dirty="0">
                <a:sym typeface="+mn-ea"/>
              </a:rPr>
              <a:t>的问题，而是我们的理解与执行的问题。</a:t>
            </a:r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200" dirty="0">
                <a:solidFill>
                  <a:srgbClr val="001933"/>
                </a:solidFill>
                <a:ea typeface="宋体" panose="02010600030101010101" pitchFamily="2" charset="-122"/>
              </a:rPr>
              <a:t>CMMI的5个级别</a:t>
            </a:r>
            <a:endParaRPr lang="zh-CN" altLang="en-US" dirty="0">
              <a:solidFill>
                <a:srgbClr val="001933"/>
              </a:solidFill>
              <a:ea typeface="宋体" panose="02010600030101010101" pitchFamily="2" charset="-122"/>
            </a:endParaRPr>
          </a:p>
        </p:txBody>
      </p:sp>
      <p:grpSp>
        <p:nvGrpSpPr>
          <p:cNvPr id="15363" name="Group 3"/>
          <p:cNvGrpSpPr/>
          <p:nvPr/>
        </p:nvGrpSpPr>
        <p:grpSpPr>
          <a:xfrm>
            <a:off x="2239963" y="792163"/>
            <a:ext cx="1835150" cy="820737"/>
            <a:chOff x="0" y="0"/>
            <a:chExt cx="1029" cy="432"/>
          </a:xfrm>
        </p:grpSpPr>
        <p:grpSp>
          <p:nvGrpSpPr>
            <p:cNvPr id="15388" name="Group 4"/>
            <p:cNvGrpSpPr/>
            <p:nvPr/>
          </p:nvGrpSpPr>
          <p:grpSpPr>
            <a:xfrm>
              <a:off x="0" y="0"/>
              <a:ext cx="1029" cy="432"/>
              <a:chOff x="0" y="0"/>
              <a:chExt cx="4002" cy="1680"/>
            </a:xfrm>
          </p:grpSpPr>
          <p:sp>
            <p:nvSpPr>
              <p:cNvPr id="15390" name="Oval 6"/>
              <p:cNvSpPr/>
              <p:nvPr/>
            </p:nvSpPr>
            <p:spPr>
              <a:xfrm>
                <a:off x="0" y="0"/>
                <a:ext cx="4002" cy="1680"/>
              </a:xfrm>
              <a:prstGeom prst="ellipse">
                <a:avLst/>
              </a:prstGeom>
              <a:gradFill rotWithShape="1">
                <a:gsLst>
                  <a:gs pos="0">
                    <a:srgbClr val="FF9900"/>
                  </a:gs>
                  <a:gs pos="100000">
                    <a:srgbClr val="643C00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eaLnBrk="1" hangingPunct="1">
                  <a:lnSpc>
                    <a:spcPct val="130000"/>
                  </a:lnSpc>
                  <a:spcBef>
                    <a:spcPct val="30000"/>
                  </a:spcBef>
                  <a:buClr>
                    <a:schemeClr val="tx2"/>
                  </a:buClr>
                  <a:buFont typeface="Wingdings" panose="05000000000000000000" pitchFamily="2" charset="2"/>
                  <a:buNone/>
                </a:pPr>
                <a:endParaRPr lang="zh-CN" altLang="en-US" b="1" dirty="0">
                  <a:solidFill>
                    <a:srgbClr val="000A14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91" name="Freeform 7"/>
              <p:cNvSpPr/>
              <p:nvPr/>
            </p:nvSpPr>
            <p:spPr>
              <a:xfrm>
                <a:off x="190" y="29"/>
                <a:ext cx="1298" cy="634"/>
              </a:xfrm>
              <a:custGeom>
                <a:avLst/>
                <a:gdLst>
                  <a:gd name="txL" fmla="*/ 0 w 1321"/>
                  <a:gd name="txT" fmla="*/ 0 h 712"/>
                  <a:gd name="txR" fmla="*/ 1321 w 1321"/>
                  <a:gd name="txB" fmla="*/ 712 h 712"/>
                </a:gdLst>
                <a:ahLst/>
                <a:cxnLst>
                  <a:cxn ang="0">
                    <a:pos x="1141" y="177"/>
                  </a:cxn>
                  <a:cxn ang="0">
                    <a:pos x="1156" y="197"/>
                  </a:cxn>
                  <a:cxn ang="0">
                    <a:pos x="1158" y="214"/>
                  </a:cxn>
                  <a:cxn ang="0">
                    <a:pos x="1154" y="229"/>
                  </a:cxn>
                  <a:cxn ang="0">
                    <a:pos x="1138" y="243"/>
                  </a:cxn>
                  <a:cxn ang="0">
                    <a:pos x="1116" y="257"/>
                  </a:cxn>
                  <a:cxn ang="0">
                    <a:pos x="1087" y="268"/>
                  </a:cxn>
                  <a:cxn ang="0">
                    <a:pos x="1049" y="279"/>
                  </a:cxn>
                  <a:cxn ang="0">
                    <a:pos x="1007" y="289"/>
                  </a:cxn>
                  <a:cxn ang="0">
                    <a:pos x="958" y="296"/>
                  </a:cxn>
                  <a:cxn ang="0">
                    <a:pos x="905" y="303"/>
                  </a:cxn>
                  <a:cxn ang="0">
                    <a:pos x="849" y="307"/>
                  </a:cxn>
                  <a:cxn ang="0">
                    <a:pos x="786" y="313"/>
                  </a:cxn>
                  <a:cxn ang="0">
                    <a:pos x="723" y="315"/>
                  </a:cxn>
                  <a:cxn ang="0">
                    <a:pos x="698" y="316"/>
                  </a:cxn>
                  <a:cxn ang="0">
                    <a:pos x="418" y="316"/>
                  </a:cxn>
                  <a:cxn ang="0">
                    <a:pos x="415" y="316"/>
                  </a:cxn>
                  <a:cxn ang="0">
                    <a:pos x="360" y="314"/>
                  </a:cxn>
                  <a:cxn ang="0">
                    <a:pos x="306" y="313"/>
                  </a:cxn>
                  <a:cxn ang="0">
                    <a:pos x="255" y="309"/>
                  </a:cxn>
                  <a:cxn ang="0">
                    <a:pos x="207" y="306"/>
                  </a:cxn>
                  <a:cxn ang="0">
                    <a:pos x="164" y="300"/>
                  </a:cxn>
                  <a:cxn ang="0">
                    <a:pos x="124" y="293"/>
                  </a:cxn>
                  <a:cxn ang="0">
                    <a:pos x="88" y="288"/>
                  </a:cxn>
                  <a:cxn ang="0">
                    <a:pos x="60" y="280"/>
                  </a:cxn>
                  <a:cxn ang="0">
                    <a:pos x="32" y="270"/>
                  </a:cxn>
                  <a:cxn ang="0">
                    <a:pos x="18" y="258"/>
                  </a:cxn>
                  <a:cxn ang="0">
                    <a:pos x="6" y="246"/>
                  </a:cxn>
                  <a:cxn ang="0">
                    <a:pos x="0" y="232"/>
                  </a:cxn>
                  <a:cxn ang="0">
                    <a:pos x="0" y="231"/>
                  </a:cxn>
                  <a:cxn ang="0">
                    <a:pos x="4" y="215"/>
                  </a:cxn>
                  <a:cxn ang="0">
                    <a:pos x="16" y="198"/>
                  </a:cxn>
                  <a:cxn ang="0">
                    <a:pos x="44" y="164"/>
                  </a:cxn>
                  <a:cxn ang="0">
                    <a:pos x="82" y="133"/>
                  </a:cxn>
                  <a:cxn ang="0">
                    <a:pos x="128" y="105"/>
                  </a:cxn>
                  <a:cxn ang="0">
                    <a:pos x="178" y="78"/>
                  </a:cxn>
                  <a:cxn ang="0">
                    <a:pos x="237" y="54"/>
                  </a:cxn>
                  <a:cxn ang="0">
                    <a:pos x="301" y="37"/>
                  </a:cxn>
                  <a:cxn ang="0">
                    <a:pos x="364" y="20"/>
                  </a:cxn>
                  <a:cxn ang="0">
                    <a:pos x="436" y="10"/>
                  </a:cxn>
                  <a:cxn ang="0">
                    <a:pos x="510" y="4"/>
                  </a:cxn>
                  <a:cxn ang="0">
                    <a:pos x="585" y="0"/>
                  </a:cxn>
                  <a:cxn ang="0">
                    <a:pos x="585" y="0"/>
                  </a:cxn>
                  <a:cxn ang="0">
                    <a:pos x="666" y="4"/>
                  </a:cxn>
                  <a:cxn ang="0">
                    <a:pos x="744" y="10"/>
                  </a:cxn>
                  <a:cxn ang="0">
                    <a:pos x="818" y="23"/>
                  </a:cxn>
                  <a:cxn ang="0">
                    <a:pos x="886" y="40"/>
                  </a:cxn>
                  <a:cxn ang="0">
                    <a:pos x="950" y="61"/>
                  </a:cxn>
                  <a:cxn ang="0">
                    <a:pos x="1008" y="86"/>
                  </a:cxn>
                  <a:cxn ang="0">
                    <a:pos x="1060" y="113"/>
                  </a:cxn>
                  <a:cxn ang="0">
                    <a:pos x="1104" y="144"/>
                  </a:cxn>
                  <a:cxn ang="0">
                    <a:pos x="1141" y="177"/>
                  </a:cxn>
                  <a:cxn ang="0">
                    <a:pos x="1141" y="177"/>
                  </a:cxn>
                </a:cxnLst>
                <a:rect l="txL" t="txT" r="txR" b="tx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FF9900">
                      <a:alpha val="100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5389" name="Text Box 8"/>
            <p:cNvSpPr txBox="1"/>
            <p:nvPr/>
          </p:nvSpPr>
          <p:spPr>
            <a:xfrm>
              <a:off x="120" y="75"/>
              <a:ext cx="797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buNone/>
              </a:pPr>
              <a:r>
                <a:rPr lang="en-US" altLang="zh-CN" sz="2400" dirty="0">
                  <a:solidFill>
                    <a:srgbClr val="000A14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5 </a:t>
              </a:r>
              <a:r>
                <a:rPr lang="zh-CN" altLang="en-US" sz="2400" dirty="0">
                  <a:solidFill>
                    <a:srgbClr val="000A14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优化级</a:t>
              </a:r>
              <a:endParaRPr lang="zh-CN" altLang="en-US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368" name="Rectangle 3"/>
          <p:cNvSpPr/>
          <p:nvPr/>
        </p:nvSpPr>
        <p:spPr>
          <a:xfrm>
            <a:off x="3995738" y="836613"/>
            <a:ext cx="3798887" cy="717550"/>
          </a:xfrm>
          <a:prstGeom prst="rect">
            <a:avLst/>
          </a:prstGeom>
          <a:gradFill rotWithShape="1">
            <a:gsLst>
              <a:gs pos="0">
                <a:srgbClr val="001773">
                  <a:alpha val="43999"/>
                </a:srgbClr>
              </a:gs>
              <a:gs pos="100000">
                <a:srgbClr val="E9893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持续的过程改进</a:t>
            </a:r>
            <a:endParaRPr lang="zh-CN" altLang="en-US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9" name="Rectangle 10"/>
          <p:cNvSpPr/>
          <p:nvPr/>
        </p:nvSpPr>
        <p:spPr>
          <a:xfrm>
            <a:off x="3973513" y="1911350"/>
            <a:ext cx="3805237" cy="620713"/>
          </a:xfrm>
          <a:prstGeom prst="rect">
            <a:avLst/>
          </a:prstGeom>
          <a:gradFill rotWithShape="1">
            <a:gsLst>
              <a:gs pos="0">
                <a:srgbClr val="013997">
                  <a:alpha val="43999"/>
                </a:srgbClr>
              </a:gs>
              <a:gs pos="100000">
                <a:srgbClr val="418AEB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量化管理</a:t>
            </a:r>
            <a:endParaRPr lang="zh-CN" altLang="en-US" sz="2800" b="1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370" name="Group 10"/>
          <p:cNvGrpSpPr/>
          <p:nvPr/>
        </p:nvGrpSpPr>
        <p:grpSpPr>
          <a:xfrm>
            <a:off x="2236788" y="1763713"/>
            <a:ext cx="1836737" cy="1006475"/>
            <a:chOff x="0" y="0"/>
            <a:chExt cx="4821" cy="1680"/>
          </a:xfrm>
        </p:grpSpPr>
        <p:sp>
          <p:nvSpPr>
            <p:cNvPr id="15386" name="Oval 13"/>
            <p:cNvSpPr/>
            <p:nvPr/>
          </p:nvSpPr>
          <p:spPr>
            <a:xfrm>
              <a:off x="0" y="0"/>
              <a:ext cx="4821" cy="1680"/>
            </a:xfrm>
            <a:prstGeom prst="ellipse">
              <a:avLst/>
            </a:prstGeom>
            <a:gradFill rotWithShape="1">
              <a:gsLst>
                <a:gs pos="0">
                  <a:srgbClr val="4996E3"/>
                </a:gs>
                <a:gs pos="100000">
                  <a:srgbClr val="162D45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1" hangingPunct="1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buFont typeface="Wingdings" panose="05000000000000000000" pitchFamily="2" charset="2"/>
                <a:buNone/>
              </a:pPr>
              <a:endParaRPr lang="zh-CN" altLang="en-US" b="1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7" name="Freeform 14"/>
            <p:cNvSpPr/>
            <p:nvPr/>
          </p:nvSpPr>
          <p:spPr>
            <a:xfrm>
              <a:off x="192" y="29"/>
              <a:ext cx="1296" cy="633"/>
            </a:xfrm>
            <a:custGeom>
              <a:avLst/>
              <a:gdLst>
                <a:gd name="txL" fmla="*/ 0 w 1321"/>
                <a:gd name="txT" fmla="*/ 0 h 712"/>
                <a:gd name="txR" fmla="*/ 1321 w 1321"/>
                <a:gd name="txB" fmla="*/ 712 h 712"/>
              </a:gdLst>
              <a:ahLst/>
              <a:cxnLst>
                <a:cxn ang="0">
                  <a:pos x="1138" y="177"/>
                </a:cxn>
                <a:cxn ang="0">
                  <a:pos x="1152" y="196"/>
                </a:cxn>
                <a:cxn ang="0">
                  <a:pos x="1155" y="212"/>
                </a:cxn>
                <a:cxn ang="0">
                  <a:pos x="1150" y="228"/>
                </a:cxn>
                <a:cxn ang="0">
                  <a:pos x="1135" y="243"/>
                </a:cxn>
                <a:cxn ang="0">
                  <a:pos x="1113" y="256"/>
                </a:cxn>
                <a:cxn ang="0">
                  <a:pos x="1084" y="267"/>
                </a:cxn>
                <a:cxn ang="0">
                  <a:pos x="1046" y="277"/>
                </a:cxn>
                <a:cxn ang="0">
                  <a:pos x="1004" y="288"/>
                </a:cxn>
                <a:cxn ang="0">
                  <a:pos x="955" y="295"/>
                </a:cxn>
                <a:cxn ang="0">
                  <a:pos x="902" y="302"/>
                </a:cxn>
                <a:cxn ang="0">
                  <a:pos x="846" y="307"/>
                </a:cxn>
                <a:cxn ang="0">
                  <a:pos x="784" y="311"/>
                </a:cxn>
                <a:cxn ang="0">
                  <a:pos x="721" y="314"/>
                </a:cxn>
                <a:cxn ang="0">
                  <a:pos x="696" y="316"/>
                </a:cxn>
                <a:cxn ang="0">
                  <a:pos x="417" y="316"/>
                </a:cxn>
                <a:cxn ang="0">
                  <a:pos x="413" y="316"/>
                </a:cxn>
                <a:cxn ang="0">
                  <a:pos x="358" y="313"/>
                </a:cxn>
                <a:cxn ang="0">
                  <a:pos x="305" y="311"/>
                </a:cxn>
                <a:cxn ang="0">
                  <a:pos x="255" y="308"/>
                </a:cxn>
                <a:cxn ang="0">
                  <a:pos x="207" y="305"/>
                </a:cxn>
                <a:cxn ang="0">
                  <a:pos x="164" y="300"/>
                </a:cxn>
                <a:cxn ang="0">
                  <a:pos x="124" y="292"/>
                </a:cxn>
                <a:cxn ang="0">
                  <a:pos x="88" y="287"/>
                </a:cxn>
                <a:cxn ang="0">
                  <a:pos x="60" y="279"/>
                </a:cxn>
                <a:cxn ang="0">
                  <a:pos x="32" y="268"/>
                </a:cxn>
                <a:cxn ang="0">
                  <a:pos x="18" y="258"/>
                </a:cxn>
                <a:cxn ang="0">
                  <a:pos x="6" y="245"/>
                </a:cxn>
                <a:cxn ang="0">
                  <a:pos x="0" y="231"/>
                </a:cxn>
                <a:cxn ang="0">
                  <a:pos x="0" y="230"/>
                </a:cxn>
                <a:cxn ang="0">
                  <a:pos x="4" y="215"/>
                </a:cxn>
                <a:cxn ang="0">
                  <a:pos x="16" y="196"/>
                </a:cxn>
                <a:cxn ang="0">
                  <a:pos x="44" y="164"/>
                </a:cxn>
                <a:cxn ang="0">
                  <a:pos x="80" y="132"/>
                </a:cxn>
                <a:cxn ang="0">
                  <a:pos x="128" y="104"/>
                </a:cxn>
                <a:cxn ang="0">
                  <a:pos x="178" y="78"/>
                </a:cxn>
                <a:cxn ang="0">
                  <a:pos x="235" y="54"/>
                </a:cxn>
                <a:cxn ang="0">
                  <a:pos x="299" y="36"/>
                </a:cxn>
                <a:cxn ang="0">
                  <a:pos x="363" y="20"/>
                </a:cxn>
                <a:cxn ang="0">
                  <a:pos x="435" y="10"/>
                </a:cxn>
                <a:cxn ang="0">
                  <a:pos x="508" y="4"/>
                </a:cxn>
                <a:cxn ang="0">
                  <a:pos x="584" y="0"/>
                </a:cxn>
                <a:cxn ang="0">
                  <a:pos x="584" y="0"/>
                </a:cxn>
                <a:cxn ang="0">
                  <a:pos x="664" y="4"/>
                </a:cxn>
                <a:cxn ang="0">
                  <a:pos x="741" y="10"/>
                </a:cxn>
                <a:cxn ang="0">
                  <a:pos x="815" y="23"/>
                </a:cxn>
                <a:cxn ang="0">
                  <a:pos x="884" y="39"/>
                </a:cxn>
                <a:cxn ang="0">
                  <a:pos x="947" y="60"/>
                </a:cxn>
                <a:cxn ang="0">
                  <a:pos x="1005" y="86"/>
                </a:cxn>
                <a:cxn ang="0">
                  <a:pos x="1057" y="113"/>
                </a:cxn>
                <a:cxn ang="0">
                  <a:pos x="1101" y="144"/>
                </a:cxn>
                <a:cxn ang="0">
                  <a:pos x="1138" y="177"/>
                </a:cxn>
                <a:cxn ang="0">
                  <a:pos x="1138" y="177"/>
                </a:cxn>
              </a:cxnLst>
              <a:rect l="txL" t="txT" r="txR" b="tx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66A7E8">
                    <a:alpha val="100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373" name="Text Box 15"/>
          <p:cNvSpPr txBox="1"/>
          <p:nvPr/>
        </p:nvSpPr>
        <p:spPr>
          <a:xfrm>
            <a:off x="1739900" y="2006600"/>
            <a:ext cx="2424113" cy="5730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en-US" altLang="zh-CN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4 </a:t>
            </a:r>
            <a:r>
              <a:rPr lang="zh-CN" altLang="en-US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量化管理级</a:t>
            </a:r>
            <a:endParaRPr lang="zh-CN" altLang="en-US" sz="2400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74" name="Rectangle 24"/>
          <p:cNvSpPr/>
          <p:nvPr/>
        </p:nvSpPr>
        <p:spPr>
          <a:xfrm>
            <a:off x="4049713" y="2973388"/>
            <a:ext cx="3754437" cy="719137"/>
          </a:xfrm>
          <a:prstGeom prst="rect">
            <a:avLst/>
          </a:prstGeom>
          <a:gradFill rotWithShape="1">
            <a:gsLst>
              <a:gs pos="0">
                <a:srgbClr val="013997">
                  <a:alpha val="43999"/>
                </a:srgbClr>
              </a:gs>
              <a:gs pos="100000">
                <a:srgbClr val="33AD8A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过程标准化</a:t>
            </a:r>
            <a:endParaRPr lang="zh-CN" altLang="en-US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375" name="Group 15"/>
          <p:cNvGrpSpPr/>
          <p:nvPr/>
        </p:nvGrpSpPr>
        <p:grpSpPr>
          <a:xfrm>
            <a:off x="2286000" y="2817813"/>
            <a:ext cx="1760538" cy="1036637"/>
            <a:chOff x="0" y="0"/>
            <a:chExt cx="1680" cy="1680"/>
          </a:xfrm>
        </p:grpSpPr>
        <p:sp>
          <p:nvSpPr>
            <p:cNvPr id="15384" name="Oval 26"/>
            <p:cNvSpPr/>
            <p:nvPr/>
          </p:nvSpPr>
          <p:spPr>
            <a:xfrm>
              <a:off x="0" y="0"/>
              <a:ext cx="1680" cy="1680"/>
            </a:xfrm>
            <a:prstGeom prst="ellipse">
              <a:avLst/>
            </a:prstGeom>
            <a:gradFill rotWithShape="1">
              <a:gsLst>
                <a:gs pos="0">
                  <a:srgbClr val="33CCCC"/>
                </a:gs>
                <a:gs pos="100000">
                  <a:srgbClr val="0C323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buNone/>
              </a:pPr>
              <a:endParaRPr lang="zh-CN" altLang="en-US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385" name="Freeform 27"/>
            <p:cNvSpPr/>
            <p:nvPr/>
          </p:nvSpPr>
          <p:spPr>
            <a:xfrm>
              <a:off x="192" y="28"/>
              <a:ext cx="1295" cy="633"/>
            </a:xfrm>
            <a:custGeom>
              <a:avLst/>
              <a:gdLst>
                <a:gd name="txL" fmla="*/ 0 w 1321"/>
                <a:gd name="txT" fmla="*/ 0 h 712"/>
                <a:gd name="txR" fmla="*/ 1321 w 1321"/>
                <a:gd name="txB" fmla="*/ 712 h 712"/>
              </a:gdLst>
              <a:ahLst/>
              <a:cxnLst>
                <a:cxn ang="0">
                  <a:pos x="970" y="68"/>
                </a:cxn>
                <a:cxn ang="0">
                  <a:pos x="981" y="76"/>
                </a:cxn>
                <a:cxn ang="0">
                  <a:pos x="983" y="82"/>
                </a:cxn>
                <a:cxn ang="0">
                  <a:pos x="979" y="89"/>
                </a:cxn>
                <a:cxn ang="0">
                  <a:pos x="967" y="95"/>
                </a:cxn>
                <a:cxn ang="0">
                  <a:pos x="948" y="100"/>
                </a:cxn>
                <a:cxn ang="0">
                  <a:pos x="923" y="104"/>
                </a:cxn>
                <a:cxn ang="0">
                  <a:pos x="891" y="108"/>
                </a:cxn>
                <a:cxn ang="0">
                  <a:pos x="855" y="112"/>
                </a:cxn>
                <a:cxn ang="0">
                  <a:pos x="813" y="116"/>
                </a:cxn>
                <a:cxn ang="0">
                  <a:pos x="769" y="117"/>
                </a:cxn>
                <a:cxn ang="0">
                  <a:pos x="721" y="120"/>
                </a:cxn>
                <a:cxn ang="0">
                  <a:pos x="667" y="121"/>
                </a:cxn>
                <a:cxn ang="0">
                  <a:pos x="614" y="123"/>
                </a:cxn>
                <a:cxn ang="0">
                  <a:pos x="593" y="124"/>
                </a:cxn>
                <a:cxn ang="0">
                  <a:pos x="355" y="124"/>
                </a:cxn>
                <a:cxn ang="0">
                  <a:pos x="353" y="124"/>
                </a:cxn>
                <a:cxn ang="0">
                  <a:pos x="306" y="123"/>
                </a:cxn>
                <a:cxn ang="0">
                  <a:pos x="260" y="121"/>
                </a:cxn>
                <a:cxn ang="0">
                  <a:pos x="217" y="121"/>
                </a:cxn>
                <a:cxn ang="0">
                  <a:pos x="175" y="118"/>
                </a:cxn>
                <a:cxn ang="0">
                  <a:pos x="140" y="117"/>
                </a:cxn>
                <a:cxn ang="0">
                  <a:pos x="107" y="114"/>
                </a:cxn>
                <a:cxn ang="0">
                  <a:pos x="74" y="112"/>
                </a:cxn>
                <a:cxn ang="0">
                  <a:pos x="52" y="109"/>
                </a:cxn>
                <a:cxn ang="0">
                  <a:pos x="25" y="104"/>
                </a:cxn>
                <a:cxn ang="0">
                  <a:pos x="18" y="100"/>
                </a:cxn>
                <a:cxn ang="0">
                  <a:pos x="6" y="96"/>
                </a:cxn>
                <a:cxn ang="0">
                  <a:pos x="0" y="90"/>
                </a:cxn>
                <a:cxn ang="0">
                  <a:pos x="0" y="89"/>
                </a:cxn>
                <a:cxn ang="0">
                  <a:pos x="4" y="84"/>
                </a:cxn>
                <a:cxn ang="0">
                  <a:pos x="16" y="76"/>
                </a:cxn>
                <a:cxn ang="0">
                  <a:pos x="36" y="65"/>
                </a:cxn>
                <a:cxn ang="0">
                  <a:pos x="70" y="52"/>
                </a:cxn>
                <a:cxn ang="0">
                  <a:pos x="110" y="41"/>
                </a:cxn>
                <a:cxn ang="0">
                  <a:pos x="152" y="30"/>
                </a:cxn>
                <a:cxn ang="0">
                  <a:pos x="201" y="21"/>
                </a:cxn>
                <a:cxn ang="0">
                  <a:pos x="255" y="14"/>
                </a:cxn>
                <a:cxn ang="0">
                  <a:pos x="310" y="8"/>
                </a:cxn>
                <a:cxn ang="0">
                  <a:pos x="370" y="4"/>
                </a:cxn>
                <a:cxn ang="0">
                  <a:pos x="433" y="4"/>
                </a:cxn>
                <a:cxn ang="0">
                  <a:pos x="497" y="0"/>
                </a:cxn>
                <a:cxn ang="0">
                  <a:pos x="497" y="0"/>
                </a:cxn>
                <a:cxn ang="0">
                  <a:pos x="565" y="4"/>
                </a:cxn>
                <a:cxn ang="0">
                  <a:pos x="631" y="4"/>
                </a:cxn>
                <a:cxn ang="0">
                  <a:pos x="694" y="9"/>
                </a:cxn>
                <a:cxn ang="0">
                  <a:pos x="753" y="16"/>
                </a:cxn>
                <a:cxn ang="0">
                  <a:pos x="806" y="23"/>
                </a:cxn>
                <a:cxn ang="0">
                  <a:pos x="855" y="33"/>
                </a:cxn>
                <a:cxn ang="0">
                  <a:pos x="900" y="44"/>
                </a:cxn>
                <a:cxn ang="0">
                  <a:pos x="937" y="56"/>
                </a:cxn>
                <a:cxn ang="0">
                  <a:pos x="970" y="68"/>
                </a:cxn>
                <a:cxn ang="0">
                  <a:pos x="970" y="68"/>
                </a:cxn>
              </a:cxnLst>
              <a:rect l="txL" t="txT" r="txR" b="txB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33CCCC">
                    <a:alpha val="100000"/>
                  </a:srgb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378" name="Rectangle 32"/>
          <p:cNvSpPr/>
          <p:nvPr/>
        </p:nvSpPr>
        <p:spPr>
          <a:xfrm>
            <a:off x="2311400" y="3078163"/>
            <a:ext cx="1652588" cy="520700"/>
          </a:xfrm>
          <a:prstGeom prst="rect">
            <a:avLst/>
          </a:prstGeom>
          <a:noFill/>
          <a:ln w="9525">
            <a:noFill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en-US" altLang="zh-CN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zh-CN" altLang="en-US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已定义级</a:t>
            </a:r>
            <a:endParaRPr lang="zh-CN" altLang="en-US" sz="2400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79" name="Rectangle 17"/>
          <p:cNvSpPr/>
          <p:nvPr/>
        </p:nvSpPr>
        <p:spPr>
          <a:xfrm>
            <a:off x="3971925" y="4016375"/>
            <a:ext cx="3810000" cy="719138"/>
          </a:xfrm>
          <a:prstGeom prst="rect">
            <a:avLst/>
          </a:prstGeom>
          <a:gradFill rotWithShape="1">
            <a:gsLst>
              <a:gs pos="0">
                <a:srgbClr val="013997">
                  <a:alpha val="43999"/>
                </a:srgbClr>
              </a:gs>
              <a:gs pos="100000">
                <a:srgbClr val="9942E0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基本项目管理</a:t>
            </a:r>
            <a:endParaRPr lang="zh-CN" altLang="en-US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380" name="Group 20"/>
          <p:cNvGrpSpPr/>
          <p:nvPr/>
        </p:nvGrpSpPr>
        <p:grpSpPr>
          <a:xfrm>
            <a:off x="2276475" y="3905250"/>
            <a:ext cx="1612900" cy="1012825"/>
            <a:chOff x="0" y="0"/>
            <a:chExt cx="1460" cy="392"/>
          </a:xfrm>
        </p:grpSpPr>
        <p:grpSp>
          <p:nvGrpSpPr>
            <p:cNvPr id="2" name="Group 21"/>
            <p:cNvGrpSpPr/>
            <p:nvPr/>
          </p:nvGrpSpPr>
          <p:grpSpPr>
            <a:xfrm>
              <a:off x="0" y="0"/>
              <a:ext cx="1460" cy="392"/>
              <a:chOff x="0" y="0"/>
              <a:chExt cx="5953" cy="1680"/>
            </a:xfrm>
          </p:grpSpPr>
          <p:sp>
            <p:nvSpPr>
              <p:cNvPr id="15382" name="Oval 20"/>
              <p:cNvSpPr/>
              <p:nvPr/>
            </p:nvSpPr>
            <p:spPr>
              <a:xfrm>
                <a:off x="0" y="0"/>
                <a:ext cx="5953" cy="1680"/>
              </a:xfrm>
              <a:prstGeom prst="ellipse">
                <a:avLst/>
              </a:prstGeom>
              <a:gradFill rotWithShape="1">
                <a:gsLst>
                  <a:gs pos="0">
                    <a:srgbClr val="9966FF"/>
                  </a:gs>
                  <a:gs pos="100000">
                    <a:srgbClr val="25193E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v"/>
                  <a:defRPr sz="2800" b="1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</a:lstStyle>
              <a:p>
                <a:pPr marL="0" lvl="0" indent="0" eaLnBrk="1" hangingPunct="1">
                  <a:lnSpc>
                    <a:spcPct val="130000"/>
                  </a:lnSpc>
                  <a:spcBef>
                    <a:spcPct val="30000"/>
                  </a:spcBef>
                  <a:buClr>
                    <a:schemeClr val="tx2"/>
                  </a:buClr>
                  <a:buNone/>
                </a:pPr>
                <a:endParaRPr lang="zh-CN" altLang="en-US" sz="2400" dirty="0">
                  <a:solidFill>
                    <a:srgbClr val="000A14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83" name="Freeform 21"/>
              <p:cNvSpPr/>
              <p:nvPr/>
            </p:nvSpPr>
            <p:spPr>
              <a:xfrm>
                <a:off x="193" y="29"/>
                <a:ext cx="1295" cy="632"/>
              </a:xfrm>
              <a:custGeom>
                <a:avLst/>
                <a:gdLst>
                  <a:gd name="txL" fmla="*/ 0 w 1321"/>
                  <a:gd name="txT" fmla="*/ 0 h 712"/>
                  <a:gd name="txR" fmla="*/ 1321 w 1321"/>
                  <a:gd name="txB" fmla="*/ 712 h 712"/>
                </a:gdLst>
                <a:ahLst/>
                <a:cxnLst>
                  <a:cxn ang="0">
                    <a:pos x="970" y="67"/>
                  </a:cxn>
                  <a:cxn ang="0">
                    <a:pos x="981" y="75"/>
                  </a:cxn>
                  <a:cxn ang="0">
                    <a:pos x="983" y="81"/>
                  </a:cxn>
                  <a:cxn ang="0">
                    <a:pos x="979" y="88"/>
                  </a:cxn>
                  <a:cxn ang="0">
                    <a:pos x="967" y="94"/>
                  </a:cxn>
                  <a:cxn ang="0">
                    <a:pos x="948" y="98"/>
                  </a:cxn>
                  <a:cxn ang="0">
                    <a:pos x="923" y="102"/>
                  </a:cxn>
                  <a:cxn ang="0">
                    <a:pos x="891" y="107"/>
                  </a:cxn>
                  <a:cxn ang="0">
                    <a:pos x="855" y="110"/>
                  </a:cxn>
                  <a:cxn ang="0">
                    <a:pos x="813" y="114"/>
                  </a:cxn>
                  <a:cxn ang="0">
                    <a:pos x="769" y="115"/>
                  </a:cxn>
                  <a:cxn ang="0">
                    <a:pos x="721" y="118"/>
                  </a:cxn>
                  <a:cxn ang="0">
                    <a:pos x="667" y="120"/>
                  </a:cxn>
                  <a:cxn ang="0">
                    <a:pos x="614" y="121"/>
                  </a:cxn>
                  <a:cxn ang="0">
                    <a:pos x="593" y="122"/>
                  </a:cxn>
                  <a:cxn ang="0">
                    <a:pos x="355" y="122"/>
                  </a:cxn>
                  <a:cxn ang="0">
                    <a:pos x="353" y="122"/>
                  </a:cxn>
                  <a:cxn ang="0">
                    <a:pos x="306" y="121"/>
                  </a:cxn>
                  <a:cxn ang="0">
                    <a:pos x="260" y="120"/>
                  </a:cxn>
                  <a:cxn ang="0">
                    <a:pos x="217" y="119"/>
                  </a:cxn>
                  <a:cxn ang="0">
                    <a:pos x="175" y="117"/>
                  </a:cxn>
                  <a:cxn ang="0">
                    <a:pos x="140" y="115"/>
                  </a:cxn>
                  <a:cxn ang="0">
                    <a:pos x="107" y="112"/>
                  </a:cxn>
                  <a:cxn ang="0">
                    <a:pos x="74" y="110"/>
                  </a:cxn>
                  <a:cxn ang="0">
                    <a:pos x="52" y="107"/>
                  </a:cxn>
                  <a:cxn ang="0">
                    <a:pos x="25" y="102"/>
                  </a:cxn>
                  <a:cxn ang="0">
                    <a:pos x="18" y="99"/>
                  </a:cxn>
                  <a:cxn ang="0">
                    <a:pos x="6" y="95"/>
                  </a:cxn>
                  <a:cxn ang="0">
                    <a:pos x="0" y="90"/>
                  </a:cxn>
                  <a:cxn ang="0">
                    <a:pos x="0" y="88"/>
                  </a:cxn>
                  <a:cxn ang="0">
                    <a:pos x="4" y="83"/>
                  </a:cxn>
                  <a:cxn ang="0">
                    <a:pos x="16" y="75"/>
                  </a:cxn>
                  <a:cxn ang="0">
                    <a:pos x="36" y="64"/>
                  </a:cxn>
                  <a:cxn ang="0">
                    <a:pos x="70" y="51"/>
                  </a:cxn>
                  <a:cxn ang="0">
                    <a:pos x="110" y="40"/>
                  </a:cxn>
                  <a:cxn ang="0">
                    <a:pos x="152" y="30"/>
                  </a:cxn>
                  <a:cxn ang="0">
                    <a:pos x="201" y="21"/>
                  </a:cxn>
                  <a:cxn ang="0">
                    <a:pos x="255" y="14"/>
                  </a:cxn>
                  <a:cxn ang="0">
                    <a:pos x="310" y="8"/>
                  </a:cxn>
                  <a:cxn ang="0">
                    <a:pos x="370" y="4"/>
                  </a:cxn>
                  <a:cxn ang="0">
                    <a:pos x="433" y="4"/>
                  </a:cxn>
                  <a:cxn ang="0">
                    <a:pos x="497" y="0"/>
                  </a:cxn>
                  <a:cxn ang="0">
                    <a:pos x="497" y="0"/>
                  </a:cxn>
                  <a:cxn ang="0">
                    <a:pos x="565" y="4"/>
                  </a:cxn>
                  <a:cxn ang="0">
                    <a:pos x="631" y="4"/>
                  </a:cxn>
                  <a:cxn ang="0">
                    <a:pos x="694" y="9"/>
                  </a:cxn>
                  <a:cxn ang="0">
                    <a:pos x="753" y="16"/>
                  </a:cxn>
                  <a:cxn ang="0">
                    <a:pos x="806" y="23"/>
                  </a:cxn>
                  <a:cxn ang="0">
                    <a:pos x="855" y="32"/>
                  </a:cxn>
                  <a:cxn ang="0">
                    <a:pos x="900" y="43"/>
                  </a:cxn>
                  <a:cxn ang="0">
                    <a:pos x="937" y="56"/>
                  </a:cxn>
                  <a:cxn ang="0">
                    <a:pos x="970" y="67"/>
                  </a:cxn>
                  <a:cxn ang="0">
                    <a:pos x="970" y="67"/>
                  </a:cxn>
                </a:cxnLst>
                <a:rect l="txL" t="txT" r="txR" b="txB"/>
                <a:pathLst>
                  <a:path w="1321" h="712">
                    <a:moveTo>
                      <a:pt x="1301" y="401"/>
                    </a:moveTo>
                    <a:lnTo>
                      <a:pt x="1317" y="442"/>
                    </a:lnTo>
                    <a:lnTo>
                      <a:pt x="1321" y="481"/>
                    </a:lnTo>
                    <a:lnTo>
                      <a:pt x="1315" y="516"/>
                    </a:lnTo>
                    <a:lnTo>
                      <a:pt x="1298" y="550"/>
                    </a:lnTo>
                    <a:lnTo>
                      <a:pt x="1272" y="579"/>
                    </a:lnTo>
                    <a:lnTo>
                      <a:pt x="1239" y="604"/>
                    </a:lnTo>
                    <a:lnTo>
                      <a:pt x="1196" y="628"/>
                    </a:lnTo>
                    <a:lnTo>
                      <a:pt x="1147" y="649"/>
                    </a:lnTo>
                    <a:lnTo>
                      <a:pt x="1092" y="667"/>
                    </a:lnTo>
                    <a:lnTo>
                      <a:pt x="1031" y="683"/>
                    </a:lnTo>
                    <a:lnTo>
                      <a:pt x="967" y="694"/>
                    </a:lnTo>
                    <a:lnTo>
                      <a:pt x="896" y="704"/>
                    </a:lnTo>
                    <a:lnTo>
                      <a:pt x="824" y="710"/>
                    </a:lnTo>
                    <a:lnTo>
                      <a:pt x="795" y="712"/>
                    </a:lnTo>
                    <a:lnTo>
                      <a:pt x="476" y="712"/>
                    </a:lnTo>
                    <a:lnTo>
                      <a:pt x="472" y="712"/>
                    </a:lnTo>
                    <a:lnTo>
                      <a:pt x="409" y="708"/>
                    </a:lnTo>
                    <a:lnTo>
                      <a:pt x="348" y="704"/>
                    </a:lnTo>
                    <a:lnTo>
                      <a:pt x="290" y="696"/>
                    </a:lnTo>
                    <a:lnTo>
                      <a:pt x="235" y="689"/>
                    </a:lnTo>
                    <a:lnTo>
                      <a:pt x="186" y="677"/>
                    </a:lnTo>
                    <a:lnTo>
                      <a:pt x="141" y="663"/>
                    </a:lnTo>
                    <a:lnTo>
                      <a:pt x="102" y="648"/>
                    </a:lnTo>
                    <a:lnTo>
                      <a:pt x="67" y="630"/>
                    </a:lnTo>
                    <a:lnTo>
                      <a:pt x="39" y="608"/>
                    </a:lnTo>
                    <a:lnTo>
                      <a:pt x="18" y="583"/>
                    </a:lnTo>
                    <a:lnTo>
                      <a:pt x="6" y="554"/>
                    </a:lnTo>
                    <a:lnTo>
                      <a:pt x="0" y="524"/>
                    </a:lnTo>
                    <a:lnTo>
                      <a:pt x="0" y="520"/>
                    </a:lnTo>
                    <a:lnTo>
                      <a:pt x="4" y="487"/>
                    </a:lnTo>
                    <a:lnTo>
                      <a:pt x="16" y="446"/>
                    </a:lnTo>
                    <a:lnTo>
                      <a:pt x="51" y="370"/>
                    </a:lnTo>
                    <a:lnTo>
                      <a:pt x="94" y="299"/>
                    </a:lnTo>
                    <a:lnTo>
                      <a:pt x="147" y="235"/>
                    </a:lnTo>
                    <a:lnTo>
                      <a:pt x="204" y="176"/>
                    </a:lnTo>
                    <a:lnTo>
                      <a:pt x="270" y="125"/>
                    </a:lnTo>
                    <a:lnTo>
                      <a:pt x="341" y="82"/>
                    </a:lnTo>
                    <a:lnTo>
                      <a:pt x="415" y="47"/>
                    </a:lnTo>
                    <a:lnTo>
                      <a:pt x="497" y="21"/>
                    </a:lnTo>
                    <a:lnTo>
                      <a:pt x="581" y="6"/>
                    </a:lnTo>
                    <a:lnTo>
                      <a:pt x="667" y="0"/>
                    </a:lnTo>
                    <a:lnTo>
                      <a:pt x="759" y="6"/>
                    </a:lnTo>
                    <a:lnTo>
                      <a:pt x="847" y="23"/>
                    </a:lnTo>
                    <a:lnTo>
                      <a:pt x="932" y="53"/>
                    </a:lnTo>
                    <a:lnTo>
                      <a:pt x="1010" y="90"/>
                    </a:lnTo>
                    <a:lnTo>
                      <a:pt x="1082" y="137"/>
                    </a:lnTo>
                    <a:lnTo>
                      <a:pt x="1149" y="194"/>
                    </a:lnTo>
                    <a:lnTo>
                      <a:pt x="1208" y="256"/>
                    </a:lnTo>
                    <a:lnTo>
                      <a:pt x="1258" y="325"/>
                    </a:lnTo>
                    <a:lnTo>
                      <a:pt x="1301" y="4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9966FF">
                      <a:alpha val="100000"/>
                    </a:srgb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5381" name="Text Box 22"/>
            <p:cNvSpPr txBox="1"/>
            <p:nvPr/>
          </p:nvSpPr>
          <p:spPr>
            <a:xfrm>
              <a:off x="144" y="21"/>
              <a:ext cx="167" cy="2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buNone/>
              </a:pPr>
              <a:endParaRPr lang="en-US" altLang="zh-CN" sz="2400" dirty="0">
                <a:solidFill>
                  <a:srgbClr val="000A14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" name="Rectangle 10"/>
          <p:cNvSpPr/>
          <p:nvPr/>
        </p:nvSpPr>
        <p:spPr>
          <a:xfrm>
            <a:off x="3971925" y="5118100"/>
            <a:ext cx="4548505" cy="619125"/>
          </a:xfrm>
          <a:prstGeom prst="rect">
            <a:avLst/>
          </a:prstGeom>
          <a:gradFill rotWithShape="1">
            <a:gsLst>
              <a:gs pos="0">
                <a:srgbClr val="013997">
                  <a:alpha val="43999"/>
                </a:srgbClr>
              </a:gs>
              <a:gs pos="100000">
                <a:srgbClr val="418AEB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buClr>
                <a:schemeClr val="hlink"/>
              </a:buClr>
              <a:buSzPct val="70000"/>
              <a:buNone/>
            </a:pPr>
            <a:endParaRPr lang="en-US" altLang="zh-CN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buClr>
                <a:schemeClr val="hlink"/>
              </a:buClr>
              <a:buSzPct val="70000"/>
              <a:buNone/>
            </a:pPr>
            <a:r>
              <a:rPr lang="zh-CN" altLang="en-US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有能力的人和个人英雄主义</a:t>
            </a:r>
            <a:endParaRPr lang="zh-CN" altLang="en-US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endParaRPr lang="zh-CN" altLang="en-US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Group 26"/>
          <p:cNvGrpSpPr/>
          <p:nvPr/>
        </p:nvGrpSpPr>
        <p:grpSpPr>
          <a:xfrm>
            <a:off x="2219325" y="5035550"/>
            <a:ext cx="1793875" cy="844550"/>
            <a:chOff x="0" y="0"/>
            <a:chExt cx="4821" cy="1680"/>
          </a:xfrm>
        </p:grpSpPr>
        <p:sp>
          <p:nvSpPr>
            <p:cNvPr id="5" name="Oval 13"/>
            <p:cNvSpPr/>
            <p:nvPr/>
          </p:nvSpPr>
          <p:spPr>
            <a:xfrm>
              <a:off x="0" y="0"/>
              <a:ext cx="4821" cy="1680"/>
            </a:xfrm>
            <a:prstGeom prst="ellipse">
              <a:avLst/>
            </a:prstGeom>
            <a:gradFill rotWithShape="1">
              <a:gsLst>
                <a:gs pos="0">
                  <a:srgbClr val="4996E3"/>
                </a:gs>
                <a:gs pos="100000">
                  <a:srgbClr val="162D45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</a:lstStyle>
            <a:p>
              <a:pPr marL="0" lvl="0" indent="0" eaLnBrk="1" hangingPunct="1">
                <a:lnSpc>
                  <a:spcPct val="130000"/>
                </a:lnSpc>
                <a:spcBef>
                  <a:spcPct val="30000"/>
                </a:spcBef>
                <a:buClr>
                  <a:schemeClr val="tx2"/>
                </a:buClr>
                <a:buNone/>
              </a:pPr>
              <a:endParaRPr lang="zh-CN" altLang="en-US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55" name="Freeform 14"/>
            <p:cNvSpPr>
              <a:spLocks noChangeArrowheads="1"/>
            </p:cNvSpPr>
            <p:nvPr/>
          </p:nvSpPr>
          <p:spPr bwMode="auto">
            <a:xfrm>
              <a:off x="192" y="28"/>
              <a:ext cx="1297" cy="635"/>
            </a:xfrm>
            <a:custGeom>
              <a:avLst/>
              <a:gdLst>
                <a:gd name="T0" fmla="*/ 1002 w 1321"/>
                <a:gd name="T1" fmla="*/ 80 h 712"/>
                <a:gd name="T2" fmla="*/ 1015 w 1321"/>
                <a:gd name="T3" fmla="*/ 88 h 712"/>
                <a:gd name="T4" fmla="*/ 1017 w 1321"/>
                <a:gd name="T5" fmla="*/ 96 h 712"/>
                <a:gd name="T6" fmla="*/ 1013 w 1321"/>
                <a:gd name="T7" fmla="*/ 103 h 712"/>
                <a:gd name="T8" fmla="*/ 1000 w 1321"/>
                <a:gd name="T9" fmla="*/ 109 h 712"/>
                <a:gd name="T10" fmla="*/ 980 w 1321"/>
                <a:gd name="T11" fmla="*/ 115 h 712"/>
                <a:gd name="T12" fmla="*/ 955 w 1321"/>
                <a:gd name="T13" fmla="*/ 120 h 712"/>
                <a:gd name="T14" fmla="*/ 922 w 1321"/>
                <a:gd name="T15" fmla="*/ 126 h 712"/>
                <a:gd name="T16" fmla="*/ 884 w 1321"/>
                <a:gd name="T17" fmla="*/ 130 h 712"/>
                <a:gd name="T18" fmla="*/ 841 w 1321"/>
                <a:gd name="T19" fmla="*/ 133 h 712"/>
                <a:gd name="T20" fmla="*/ 794 w 1321"/>
                <a:gd name="T21" fmla="*/ 136 h 712"/>
                <a:gd name="T22" fmla="*/ 745 w 1321"/>
                <a:gd name="T23" fmla="*/ 138 h 712"/>
                <a:gd name="T24" fmla="*/ 690 w 1321"/>
                <a:gd name="T25" fmla="*/ 141 h 712"/>
                <a:gd name="T26" fmla="*/ 635 w 1321"/>
                <a:gd name="T27" fmla="*/ 143 h 712"/>
                <a:gd name="T28" fmla="*/ 613 w 1321"/>
                <a:gd name="T29" fmla="*/ 144 h 712"/>
                <a:gd name="T30" fmla="*/ 367 w 1321"/>
                <a:gd name="T31" fmla="*/ 144 h 712"/>
                <a:gd name="T32" fmla="*/ 363 w 1321"/>
                <a:gd name="T33" fmla="*/ 144 h 712"/>
                <a:gd name="T34" fmla="*/ 315 w 1321"/>
                <a:gd name="T35" fmla="*/ 142 h 712"/>
                <a:gd name="T36" fmla="*/ 269 w 1321"/>
                <a:gd name="T37" fmla="*/ 141 h 712"/>
                <a:gd name="T38" fmla="*/ 225 w 1321"/>
                <a:gd name="T39" fmla="*/ 138 h 712"/>
                <a:gd name="T40" fmla="*/ 182 w 1321"/>
                <a:gd name="T41" fmla="*/ 137 h 712"/>
                <a:gd name="T42" fmla="*/ 143 w 1321"/>
                <a:gd name="T43" fmla="*/ 135 h 712"/>
                <a:gd name="T44" fmla="*/ 110 w 1321"/>
                <a:gd name="T45" fmla="*/ 132 h 712"/>
                <a:gd name="T46" fmla="*/ 78 w 1321"/>
                <a:gd name="T47" fmla="*/ 129 h 712"/>
                <a:gd name="T48" fmla="*/ 53 w 1321"/>
                <a:gd name="T49" fmla="*/ 127 h 712"/>
                <a:gd name="T50" fmla="*/ 27 w 1321"/>
                <a:gd name="T51" fmla="*/ 121 h 712"/>
                <a:gd name="T52" fmla="*/ 18 w 1321"/>
                <a:gd name="T53" fmla="*/ 117 h 712"/>
                <a:gd name="T54" fmla="*/ 6 w 1321"/>
                <a:gd name="T55" fmla="*/ 110 h 712"/>
                <a:gd name="T56" fmla="*/ 0 w 1321"/>
                <a:gd name="T57" fmla="*/ 105 h 712"/>
                <a:gd name="T58" fmla="*/ 0 w 1321"/>
                <a:gd name="T59" fmla="*/ 104 h 712"/>
                <a:gd name="T60" fmla="*/ 4 w 1321"/>
                <a:gd name="T61" fmla="*/ 97 h 712"/>
                <a:gd name="T62" fmla="*/ 16 w 1321"/>
                <a:gd name="T63" fmla="*/ 89 h 712"/>
                <a:gd name="T64" fmla="*/ 37 w 1321"/>
                <a:gd name="T65" fmla="*/ 74 h 712"/>
                <a:gd name="T66" fmla="*/ 74 w 1321"/>
                <a:gd name="T67" fmla="*/ 61 h 712"/>
                <a:gd name="T68" fmla="*/ 114 w 1321"/>
                <a:gd name="T69" fmla="*/ 48 h 712"/>
                <a:gd name="T70" fmla="*/ 157 w 1321"/>
                <a:gd name="T71" fmla="*/ 35 h 712"/>
                <a:gd name="T72" fmla="*/ 209 w 1321"/>
                <a:gd name="T73" fmla="*/ 25 h 712"/>
                <a:gd name="T74" fmla="*/ 264 w 1321"/>
                <a:gd name="T75" fmla="*/ 17 h 712"/>
                <a:gd name="T76" fmla="*/ 320 w 1321"/>
                <a:gd name="T77" fmla="*/ 10 h 712"/>
                <a:gd name="T78" fmla="*/ 384 w 1321"/>
                <a:gd name="T79" fmla="*/ 4 h 712"/>
                <a:gd name="T80" fmla="*/ 448 w 1321"/>
                <a:gd name="T81" fmla="*/ 4 h 712"/>
                <a:gd name="T82" fmla="*/ 513 w 1321"/>
                <a:gd name="T83" fmla="*/ 0 h 712"/>
                <a:gd name="T84" fmla="*/ 513 w 1321"/>
                <a:gd name="T85" fmla="*/ 0 h 712"/>
                <a:gd name="T86" fmla="*/ 585 w 1321"/>
                <a:gd name="T87" fmla="*/ 4 h 712"/>
                <a:gd name="T88" fmla="*/ 653 w 1321"/>
                <a:gd name="T89" fmla="*/ 4 h 712"/>
                <a:gd name="T90" fmla="*/ 718 w 1321"/>
                <a:gd name="T91" fmla="*/ 11 h 712"/>
                <a:gd name="T92" fmla="*/ 779 w 1321"/>
                <a:gd name="T93" fmla="*/ 19 h 712"/>
                <a:gd name="T94" fmla="*/ 834 w 1321"/>
                <a:gd name="T95" fmla="*/ 28 h 712"/>
                <a:gd name="T96" fmla="*/ 885 w 1321"/>
                <a:gd name="T97" fmla="*/ 39 h 712"/>
                <a:gd name="T98" fmla="*/ 930 w 1321"/>
                <a:gd name="T99" fmla="*/ 51 h 712"/>
                <a:gd name="T100" fmla="*/ 970 w 1321"/>
                <a:gd name="T101" fmla="*/ 64 h 712"/>
                <a:gd name="T102" fmla="*/ 1002 w 1321"/>
                <a:gd name="T103" fmla="*/ 80 h 712"/>
                <a:gd name="T104" fmla="*/ 1002 w 1321"/>
                <a:gd name="T105" fmla="*/ 80 h 7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321"/>
                <a:gd name="T160" fmla="*/ 0 h 712"/>
                <a:gd name="T161" fmla="*/ 1321 w 1321"/>
                <a:gd name="T162" fmla="*/ 712 h 7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321" h="712">
                  <a:moveTo>
                    <a:pt x="1301" y="401"/>
                  </a:moveTo>
                  <a:lnTo>
                    <a:pt x="1317" y="442"/>
                  </a:lnTo>
                  <a:lnTo>
                    <a:pt x="1321" y="481"/>
                  </a:lnTo>
                  <a:lnTo>
                    <a:pt x="1315" y="516"/>
                  </a:lnTo>
                  <a:lnTo>
                    <a:pt x="1298" y="550"/>
                  </a:lnTo>
                  <a:lnTo>
                    <a:pt x="1272" y="579"/>
                  </a:lnTo>
                  <a:lnTo>
                    <a:pt x="1239" y="604"/>
                  </a:lnTo>
                  <a:lnTo>
                    <a:pt x="1196" y="628"/>
                  </a:lnTo>
                  <a:lnTo>
                    <a:pt x="1147" y="649"/>
                  </a:lnTo>
                  <a:lnTo>
                    <a:pt x="1092" y="667"/>
                  </a:lnTo>
                  <a:lnTo>
                    <a:pt x="1031" y="683"/>
                  </a:lnTo>
                  <a:lnTo>
                    <a:pt x="967" y="694"/>
                  </a:lnTo>
                  <a:lnTo>
                    <a:pt x="896" y="704"/>
                  </a:lnTo>
                  <a:lnTo>
                    <a:pt x="824" y="710"/>
                  </a:lnTo>
                  <a:lnTo>
                    <a:pt x="795" y="712"/>
                  </a:lnTo>
                  <a:lnTo>
                    <a:pt x="476" y="712"/>
                  </a:lnTo>
                  <a:lnTo>
                    <a:pt x="472" y="712"/>
                  </a:lnTo>
                  <a:lnTo>
                    <a:pt x="409" y="708"/>
                  </a:lnTo>
                  <a:lnTo>
                    <a:pt x="348" y="704"/>
                  </a:lnTo>
                  <a:lnTo>
                    <a:pt x="290" y="696"/>
                  </a:lnTo>
                  <a:lnTo>
                    <a:pt x="235" y="689"/>
                  </a:lnTo>
                  <a:lnTo>
                    <a:pt x="186" y="677"/>
                  </a:lnTo>
                  <a:lnTo>
                    <a:pt x="141" y="663"/>
                  </a:lnTo>
                  <a:lnTo>
                    <a:pt x="102" y="648"/>
                  </a:lnTo>
                  <a:lnTo>
                    <a:pt x="67" y="630"/>
                  </a:lnTo>
                  <a:lnTo>
                    <a:pt x="39" y="608"/>
                  </a:lnTo>
                  <a:lnTo>
                    <a:pt x="18" y="583"/>
                  </a:lnTo>
                  <a:lnTo>
                    <a:pt x="6" y="554"/>
                  </a:lnTo>
                  <a:lnTo>
                    <a:pt x="0" y="524"/>
                  </a:lnTo>
                  <a:lnTo>
                    <a:pt x="0" y="520"/>
                  </a:lnTo>
                  <a:lnTo>
                    <a:pt x="4" y="487"/>
                  </a:lnTo>
                  <a:lnTo>
                    <a:pt x="16" y="446"/>
                  </a:lnTo>
                  <a:lnTo>
                    <a:pt x="51" y="370"/>
                  </a:lnTo>
                  <a:lnTo>
                    <a:pt x="94" y="299"/>
                  </a:lnTo>
                  <a:lnTo>
                    <a:pt x="147" y="235"/>
                  </a:lnTo>
                  <a:lnTo>
                    <a:pt x="204" y="176"/>
                  </a:lnTo>
                  <a:lnTo>
                    <a:pt x="270" y="125"/>
                  </a:lnTo>
                  <a:lnTo>
                    <a:pt x="341" y="82"/>
                  </a:lnTo>
                  <a:lnTo>
                    <a:pt x="415" y="47"/>
                  </a:lnTo>
                  <a:lnTo>
                    <a:pt x="497" y="21"/>
                  </a:lnTo>
                  <a:lnTo>
                    <a:pt x="581" y="6"/>
                  </a:lnTo>
                  <a:lnTo>
                    <a:pt x="667" y="0"/>
                  </a:lnTo>
                  <a:lnTo>
                    <a:pt x="759" y="6"/>
                  </a:lnTo>
                  <a:lnTo>
                    <a:pt x="847" y="23"/>
                  </a:lnTo>
                  <a:lnTo>
                    <a:pt x="932" y="53"/>
                  </a:lnTo>
                  <a:lnTo>
                    <a:pt x="1010" y="90"/>
                  </a:lnTo>
                  <a:lnTo>
                    <a:pt x="1082" y="137"/>
                  </a:lnTo>
                  <a:lnTo>
                    <a:pt x="1149" y="194"/>
                  </a:lnTo>
                  <a:lnTo>
                    <a:pt x="1208" y="256"/>
                  </a:lnTo>
                  <a:lnTo>
                    <a:pt x="1258" y="325"/>
                  </a:lnTo>
                  <a:lnTo>
                    <a:pt x="1301" y="401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66A7E8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6" name="Rectangle 45"/>
          <p:cNvSpPr/>
          <p:nvPr/>
        </p:nvSpPr>
        <p:spPr>
          <a:xfrm>
            <a:off x="2239963" y="4149725"/>
            <a:ext cx="1652587" cy="520700"/>
          </a:xfrm>
          <a:prstGeom prst="rect">
            <a:avLst/>
          </a:prstGeom>
          <a:noFill/>
          <a:ln w="9525">
            <a:noFill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en-US" altLang="zh-CN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</a:t>
            </a:r>
            <a:r>
              <a:rPr lang="zh-CN" altLang="en-US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可重复级</a:t>
            </a:r>
            <a:endParaRPr lang="zh-CN" altLang="en-US" sz="2400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Rectangle 46"/>
          <p:cNvSpPr/>
          <p:nvPr/>
        </p:nvSpPr>
        <p:spPr>
          <a:xfrm>
            <a:off x="2382838" y="5221288"/>
            <a:ext cx="1343025" cy="520700"/>
          </a:xfrm>
          <a:prstGeom prst="rect">
            <a:avLst/>
          </a:prstGeom>
          <a:noFill/>
          <a:ln w="9525">
            <a:noFill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en-US" altLang="zh-CN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</a:t>
            </a:r>
            <a:r>
              <a:rPr lang="zh-CN" altLang="en-US" sz="2400" dirty="0">
                <a:solidFill>
                  <a:srgbClr val="000A14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初始级</a:t>
            </a:r>
            <a:endParaRPr lang="zh-CN" altLang="en-US" sz="2400" dirty="0">
              <a:solidFill>
                <a:srgbClr val="000A1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77" name="AutoShape 2"/>
          <p:cNvSpPr/>
          <p:nvPr/>
        </p:nvSpPr>
        <p:spPr>
          <a:xfrm rot="5400000">
            <a:off x="-1280795" y="1671638"/>
            <a:ext cx="3503613" cy="3560762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7713 h 21600"/>
            </a:gdLst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0736" y="10800"/>
                </a:moveTo>
                <a:cubicBezTo>
                  <a:pt x="10736" y="10764"/>
                  <a:pt x="10764" y="10736"/>
                  <a:pt x="10800" y="10736"/>
                </a:cubicBezTo>
                <a:cubicBezTo>
                  <a:pt x="10835" y="10735"/>
                  <a:pt x="10863" y="10764"/>
                  <a:pt x="10864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10736" y="10800"/>
                </a:lnTo>
                <a:close/>
              </a:path>
            </a:pathLst>
          </a:custGeom>
          <a:solidFill>
            <a:schemeClr val="folHlink"/>
          </a:solidFill>
          <a:ln w="9525">
            <a:noFill/>
          </a:ln>
        </p:spPr>
        <p:txBody>
          <a:bodyPr rot="10800000" vert="eaVert" wrap="none" anchor="ctr" anchorCtr="0"/>
          <a:p>
            <a:pPr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bg2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CMMI</a:t>
            </a:r>
            <a:endParaRPr lang="en-US" altLang="zh-CN" b="1" dirty="0">
              <a:solidFill>
                <a:schemeClr val="bg2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8445" y="5925820"/>
            <a:ext cx="8656955" cy="652145"/>
          </a:xfrm>
          <a:prstGeom prst="rect">
            <a:avLst/>
          </a:prstGeom>
          <a:solidFill>
            <a:schemeClr val="accent1"/>
          </a:solidFill>
          <a:ln>
            <a:solidFill>
              <a:schemeClr val="tx1">
                <a:lumMod val="40000"/>
                <a:lumOff val="60000"/>
              </a:schemeClr>
            </a:solidFill>
          </a:ln>
        </p:spPr>
        <p:txBody>
          <a:bodyPr wrap="square" rtlCol="0" anchor="t">
            <a:noAutofit/>
            <a:scene3d>
              <a:camera prst="orthographicFront"/>
              <a:lightRig rig="threePt" dir="t"/>
            </a:scene3d>
          </a:bodyPr>
          <a:p>
            <a:pPr algn="ctr" eaLnBrk="1" hangingPunct="1"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sym typeface="+mn-ea"/>
              </a:rPr>
              <a:t>数字越大，成熟度越高。高成熟度等级代表比较强的综合软件能力。</a:t>
            </a:r>
            <a:endParaRPr lang="zh-CN" altLang="en-US" sz="22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5368" grpId="0" bldLvl="0" animBg="1"/>
      <p:bldP spid="15369" grpId="0" bldLvl="0" animBg="1"/>
      <p:bldP spid="15373" grpId="0"/>
      <p:bldP spid="15374" grpId="0" bldLvl="0" animBg="1"/>
      <p:bldP spid="15378" grpId="0" bldLvl="0" animBg="1"/>
      <p:bldP spid="15379" grpId="0" bldLvl="0" animBg="1"/>
      <p:bldP spid="3" grpId="0" bldLvl="0" animBg="1"/>
      <p:bldP spid="6" grpId="0" bldLvl="0" animBg="1"/>
      <p:bldP spid="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8600" y="87630"/>
            <a:ext cx="8710930" cy="6648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 eaLnBrk="1" hangingPunct="1"/>
            <a:r>
              <a:rPr lang="en-US" altLang="zh-CN" sz="3200" dirty="0">
                <a:solidFill>
                  <a:schemeClr val="bg1"/>
                </a:solidFill>
                <a:sym typeface="+mn-ea"/>
              </a:rPr>
              <a:t>CMMI</a:t>
            </a:r>
            <a:r>
              <a:rPr lang="zh-CN" altLang="en-US" sz="3200" dirty="0">
                <a:solidFill>
                  <a:schemeClr val="bg1"/>
                </a:solidFill>
                <a:sym typeface="+mn-ea"/>
              </a:rPr>
              <a:t>的概念体系</a:t>
            </a:r>
            <a:r>
              <a:rPr lang="en-US" altLang="zh-CN" sz="3200" dirty="0">
                <a:solidFill>
                  <a:schemeClr val="bg1"/>
                </a:solidFill>
                <a:sym typeface="+mn-ea"/>
              </a:rPr>
              <a:t>-1</a:t>
            </a:r>
            <a:endParaRPr lang="en-US" altLang="zh-CN" sz="3200" b="1" kern="0" dirty="0">
              <a:solidFill>
                <a:schemeClr val="bg1"/>
              </a:solidFill>
              <a:latin typeface="+mj-lt"/>
              <a:ea typeface="宋体" panose="02010600030101010101" pitchFamily="2" charset="-122"/>
              <a:cs typeface="+mj-cs"/>
              <a:sym typeface="+mn-ea"/>
            </a:endParaRPr>
          </a:p>
        </p:txBody>
      </p:sp>
      <p:sp>
        <p:nvSpPr>
          <p:cNvPr id="20483" name="Rectangle 4"/>
          <p:cNvSpPr/>
          <p:nvPr/>
        </p:nvSpPr>
        <p:spPr>
          <a:xfrm>
            <a:off x="2667000" y="5029200"/>
            <a:ext cx="31242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初始级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4" name="Rectangle 5"/>
          <p:cNvSpPr/>
          <p:nvPr/>
        </p:nvSpPr>
        <p:spPr>
          <a:xfrm>
            <a:off x="2667000" y="4267200"/>
            <a:ext cx="31242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受管理级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5" name="Rectangle 6"/>
          <p:cNvSpPr/>
          <p:nvPr/>
        </p:nvSpPr>
        <p:spPr>
          <a:xfrm>
            <a:off x="2667000" y="3505200"/>
            <a:ext cx="31242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已定义级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6" name="Rectangle 7"/>
          <p:cNvSpPr/>
          <p:nvPr/>
        </p:nvSpPr>
        <p:spPr>
          <a:xfrm>
            <a:off x="2667000" y="2743200"/>
            <a:ext cx="31242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定量管理级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7" name="Rectangle 8"/>
          <p:cNvSpPr/>
          <p:nvPr/>
        </p:nvSpPr>
        <p:spPr>
          <a:xfrm>
            <a:off x="2667000" y="1981200"/>
            <a:ext cx="31242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-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持续优化级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9" name="AutoShape 9"/>
          <p:cNvSpPr/>
          <p:nvPr/>
        </p:nvSpPr>
        <p:spPr>
          <a:xfrm>
            <a:off x="228600" y="5105400"/>
            <a:ext cx="1676400" cy="1157605"/>
          </a:xfrm>
          <a:prstGeom prst="borderCallout1">
            <a:avLst>
              <a:gd name="adj1" fmla="val 18750"/>
              <a:gd name="adj2" fmla="val 104546"/>
              <a:gd name="adj3" fmla="val 30731"/>
              <a:gd name="adj4" fmla="val 141287"/>
            </a:avLst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SEI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在该级别没有任何标准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10" name="Rectangle 10"/>
          <p:cNvSpPr/>
          <p:nvPr/>
        </p:nvSpPr>
        <p:spPr>
          <a:xfrm>
            <a:off x="2590800" y="1828800"/>
            <a:ext cx="3276600" cy="31242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dash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11" name="AutoShape 11"/>
          <p:cNvSpPr/>
          <p:nvPr/>
        </p:nvSpPr>
        <p:spPr>
          <a:xfrm>
            <a:off x="323850" y="2060575"/>
            <a:ext cx="1676400" cy="1092835"/>
          </a:xfrm>
          <a:prstGeom prst="borderCallout1">
            <a:avLst>
              <a:gd name="adj1" fmla="val 18750"/>
              <a:gd name="adj2" fmla="val 104546"/>
              <a:gd name="adj3" fmla="val 30731"/>
              <a:gd name="adj4" fmla="val 141287"/>
            </a:avLst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/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SEI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在各级别有详细的标准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12" name="AutoShape 12"/>
          <p:cNvSpPr/>
          <p:nvPr/>
        </p:nvSpPr>
        <p:spPr>
          <a:xfrm>
            <a:off x="6169025" y="1196340"/>
            <a:ext cx="2612390" cy="4785995"/>
          </a:xfrm>
          <a:prstGeom prst="borderCallout1">
            <a:avLst>
              <a:gd name="adj1" fmla="val 2727"/>
              <a:gd name="adj2" fmla="val -3125"/>
              <a:gd name="adj3" fmla="val 59772"/>
              <a:gd name="adj4" fmla="val -27083"/>
            </a:avLst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just"/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要通过高级别的评估，要满足这个级别以下所有级别的标准。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例如：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1)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一个进行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级评估的企业，评估的时候首先是看是否达到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级要求，然后是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级要求，然后才是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级要求。</a:t>
            </a:r>
            <a:endParaRPr lang="zh-CN" altLang="en-US" sz="2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/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2)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评估的时候，如果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级的标准达到，但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级的要求达不到，就算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级的要求达到了，也只能算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02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9" grpId="0" bldLvl="0" animBg="1"/>
      <p:bldP spid="102410" grpId="0" bldLvl="0" animBg="1"/>
      <p:bldP spid="102411" grpId="0" bldLvl="0" animBg="1"/>
      <p:bldP spid="10241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 noRot="1"/>
          </p:cNvSpPr>
          <p:nvPr>
            <p:ph type="title"/>
          </p:nvPr>
        </p:nvSpPr>
        <p:spPr>
          <a:xfrm>
            <a:off x="250190" y="29845"/>
            <a:ext cx="8635365" cy="6953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ea typeface="宋体" panose="02010600030101010101" pitchFamily="2" charset="-122"/>
              </a:rPr>
              <a:t>CMMI的</a:t>
            </a:r>
            <a:r>
              <a:rPr lang="en-US" altLang="zh-CN" sz="3200" dirty="0">
                <a:ea typeface="宋体" panose="02010600030101010101" pitchFamily="2" charset="-122"/>
              </a:rPr>
              <a:t> 5 </a:t>
            </a:r>
            <a:r>
              <a:rPr lang="zh-CN" altLang="en-US" sz="3200" dirty="0">
                <a:ea typeface="宋体" panose="02010600030101010101" pitchFamily="2" charset="-122"/>
              </a:rPr>
              <a:t>个级别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Rot="1"/>
          </p:cNvSpPr>
          <p:nvPr>
            <p:ph type="body"/>
          </p:nvPr>
        </p:nvSpPr>
        <p:spPr>
          <a:xfrm>
            <a:off x="582613" y="1214438"/>
            <a:ext cx="8229600" cy="4498975"/>
          </a:xfrm>
        </p:spPr>
        <p:txBody>
          <a:bodyPr vert="horz" wrap="square" lIns="91440" tIns="45720" rIns="91440" bIns="45720" anchor="t" anchorCtr="0"/>
          <a:p>
            <a:pPr algn="just" latinLnBrk="0">
              <a:spcBef>
                <a:spcPts val="0"/>
              </a:spcBef>
              <a:spcAft>
                <a:spcPts val="500"/>
              </a:spcAft>
            </a:pP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初始级：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ea typeface="宋体" panose="02010600030101010101" pitchFamily="2" charset="-122"/>
              </a:rPr>
              <a:t>软件过程混乱无序。已定义的过程极少，项目成功与否依赖于个人能力。</a:t>
            </a:r>
            <a:endParaRPr lang="zh-CN" altLang="en-US" sz="2400" dirty="0">
              <a:solidFill>
                <a:schemeClr val="tx1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pPr algn="just" latinLnBrk="0">
              <a:spcAft>
                <a:spcPts val="500"/>
              </a:spcAft>
            </a:pP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可重复级：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ea typeface="宋体" panose="02010600030101010101" pitchFamily="2" charset="-122"/>
              </a:rPr>
              <a:t>已建立必要的过程规范，能够在具有相似应用场景的项目中，重复以往的成功经验。</a:t>
            </a:r>
            <a:endParaRPr lang="zh-CN" altLang="en-US" sz="2400" dirty="0">
              <a:solidFill>
                <a:schemeClr val="tx1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pPr algn="just" latinLnBrk="0">
              <a:spcAft>
                <a:spcPts val="500"/>
              </a:spcAft>
            </a:pP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已定义级：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ea typeface="宋体" panose="02010600030101010101" pitchFamily="2" charset="-122"/>
              </a:rPr>
              <a:t>无论是管理活动还是工程活动的软件过程，均已形成文档记录、实现标准化，并整合为组织层面统一的软件过程。</a:t>
            </a:r>
            <a:endParaRPr lang="zh-CN" altLang="en-US" sz="2400" dirty="0">
              <a:solidFill>
                <a:schemeClr val="tx1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pPr algn="just" latinLnBrk="0">
              <a:spcAft>
                <a:spcPts val="500"/>
              </a:spcAft>
            </a:pP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量化管理级：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ea typeface="宋体" panose="02010600030101010101" pitchFamily="2" charset="-122"/>
              </a:rPr>
              <a:t>会收集软件过程与产品质量的详细度量数据（对过程和产品质量进行精细化量化跟踪）。</a:t>
            </a:r>
            <a:endParaRPr lang="zh-CN" altLang="en-US" sz="2400" dirty="0">
              <a:solidFill>
                <a:schemeClr val="tx1">
                  <a:lumMod val="75000"/>
                </a:schemeClr>
              </a:solidFill>
              <a:ea typeface="宋体" panose="02010600030101010101" pitchFamily="2" charset="-122"/>
            </a:endParaRPr>
          </a:p>
          <a:p>
            <a:pPr algn="just" latinLnBrk="0">
              <a:spcAft>
                <a:spcPts val="500"/>
              </a:spcAft>
            </a:pP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优化级：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  <a:ea typeface="宋体" panose="02010600030101010101" pitchFamily="2" charset="-122"/>
              </a:rPr>
              <a:t>借助过程产生的定量反馈，以及对创新理念、新技术的测试验证，实现过程的持续改进。</a:t>
            </a:r>
            <a:endParaRPr lang="zh-CN" altLang="en-US" sz="2400" dirty="0">
              <a:solidFill>
                <a:schemeClr val="tx1">
                  <a:lumMod val="75000"/>
                </a:schemeClr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CMMI</a:t>
            </a:r>
            <a:r>
              <a:rPr lang="zh-CN" altLang="en-US" sz="3200" dirty="0"/>
              <a:t>的概念体系</a:t>
            </a:r>
            <a:r>
              <a:rPr lang="en-US" altLang="zh-CN" sz="3200" dirty="0"/>
              <a:t>-2</a:t>
            </a:r>
            <a:endParaRPr lang="en-US" altLang="zh-CN" sz="3200" dirty="0"/>
          </a:p>
        </p:txBody>
      </p:sp>
      <p:sp>
        <p:nvSpPr>
          <p:cNvPr id="10445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每一个级别，都包含几个到十几个</a:t>
            </a:r>
            <a:r>
              <a:rPr lang="en-US" altLang="zh-CN" b="1" dirty="0"/>
              <a:t>PA</a:t>
            </a:r>
            <a:endParaRPr lang="en-US" altLang="zh-CN" b="1" dirty="0"/>
          </a:p>
          <a:p>
            <a:pPr lvl="1" indent="-439420" eaLnBrk="1" hangingPunct="1"/>
            <a:r>
              <a:rPr lang="zh-CN" altLang="en-US" b="1" dirty="0"/>
              <a:t>英文全写：</a:t>
            </a:r>
            <a:r>
              <a:rPr lang="en-US" altLang="zh-CN" b="1" dirty="0"/>
              <a:t>Process Area</a:t>
            </a:r>
            <a:endParaRPr lang="en-US" altLang="zh-CN" b="1" dirty="0"/>
          </a:p>
          <a:p>
            <a:pPr lvl="1" indent="-439420" eaLnBrk="1" hangingPunct="1"/>
            <a:r>
              <a:rPr lang="zh-CN" altLang="en-US" b="1" dirty="0"/>
              <a:t>中文译名：过程域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什么叫“过程域”？</a:t>
            </a:r>
            <a:endParaRPr lang="zh-CN" altLang="en-US" b="1" dirty="0"/>
          </a:p>
          <a:p>
            <a:pPr lvl="1" indent="-439420" eaLnBrk="1" hangingPunct="1"/>
            <a:r>
              <a:rPr lang="zh-CN" altLang="en-US" b="1" dirty="0"/>
              <a:t>简单的说就是做好一个事情的某一个方面。</a:t>
            </a:r>
            <a:endParaRPr lang="zh-CN" altLang="en-US" b="1" dirty="0"/>
          </a:p>
          <a:p>
            <a:pPr lvl="1" indent="-439420" eaLnBrk="1" hangingPunct="1"/>
            <a:r>
              <a:rPr lang="zh-CN" altLang="en-US" b="1" dirty="0"/>
              <a:t>对应软件开发来说，就是做好软件开发的某一个方面。</a:t>
            </a:r>
            <a:endParaRPr lang="zh-CN" altLang="en-US" b="1" dirty="0"/>
          </a:p>
          <a:p>
            <a:pPr lvl="1" indent="-439420" eaLnBrk="1" hangingPunct="1"/>
            <a:endParaRPr lang="en-US" altLang="zh-CN" b="1" dirty="0"/>
          </a:p>
        </p:txBody>
      </p:sp>
      <p:sp>
        <p:nvSpPr>
          <p:cNvPr id="2253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char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charRg st="18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charRg st="36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charRg st="45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charRg st="55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charRg st="7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CMMI</a:t>
            </a:r>
            <a:r>
              <a:rPr lang="zh-CN" altLang="en-US" sz="3200" dirty="0"/>
              <a:t>的概念体系</a:t>
            </a:r>
            <a:r>
              <a:rPr lang="en-US" altLang="zh-CN" sz="3200" dirty="0"/>
              <a:t>-3</a:t>
            </a:r>
            <a:endParaRPr lang="en-US" altLang="zh-CN" sz="3200" dirty="0"/>
          </a:p>
        </p:txBody>
      </p:sp>
      <p:sp>
        <p:nvSpPr>
          <p:cNvPr id="10547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/>
              <a:t>如果该级别的全部</a:t>
            </a:r>
            <a:r>
              <a:rPr lang="en-US" altLang="zh-CN" sz="2800" b="1" dirty="0"/>
              <a:t>PA</a:t>
            </a:r>
            <a:r>
              <a:rPr lang="zh-CN" altLang="en-US" sz="2800" b="1" dirty="0"/>
              <a:t>达到要求了，就认为该级别达到了。</a:t>
            </a:r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如何判断</a:t>
            </a:r>
            <a:r>
              <a:rPr lang="en-US" altLang="zh-CN" sz="2800" b="1" dirty="0"/>
              <a:t>PA</a:t>
            </a:r>
            <a:r>
              <a:rPr lang="zh-CN" altLang="en-US" sz="2800" b="1" dirty="0"/>
              <a:t>达到要求呢？</a:t>
            </a:r>
            <a:endParaRPr lang="zh-CN" altLang="en-US" sz="2800" b="1" dirty="0"/>
          </a:p>
          <a:p>
            <a:pPr lvl="1" indent="-439420" eaLnBrk="1" hangingPunct="1"/>
            <a:r>
              <a:rPr lang="zh-CN" altLang="en-US" sz="2400" b="1" dirty="0"/>
              <a:t>每个</a:t>
            </a:r>
            <a:r>
              <a:rPr lang="en-US" altLang="zh-CN" sz="2400" b="1" dirty="0"/>
              <a:t>PA</a:t>
            </a:r>
            <a:r>
              <a:rPr lang="zh-CN" altLang="en-US" sz="2400" b="1" dirty="0"/>
              <a:t>包含几个目标</a:t>
            </a:r>
            <a:r>
              <a:rPr lang="en-US" altLang="zh-CN" sz="2400" b="1" dirty="0"/>
              <a:t>(Goal)</a:t>
            </a:r>
            <a:endParaRPr lang="en-US" altLang="zh-CN" sz="2400" b="1" dirty="0"/>
          </a:p>
          <a:p>
            <a:pPr lvl="1" indent="-439420" eaLnBrk="1" hangingPunct="1"/>
            <a:r>
              <a:rPr lang="zh-CN" altLang="en-US" sz="2400" b="1" dirty="0"/>
              <a:t>如果这个几个目标都达到要求了，就认为该</a:t>
            </a:r>
            <a:r>
              <a:rPr lang="en-US" altLang="zh-CN" sz="2400" b="1" dirty="0"/>
              <a:t>PA</a:t>
            </a:r>
            <a:r>
              <a:rPr lang="zh-CN" altLang="en-US" sz="2400" b="1" dirty="0"/>
              <a:t>达到要求了</a:t>
            </a:r>
            <a:endParaRPr lang="zh-CN" altLang="en-US" sz="2400" b="1" dirty="0"/>
          </a:p>
          <a:p>
            <a:pPr eaLnBrk="1" hangingPunct="1"/>
            <a:r>
              <a:rPr lang="zh-CN" altLang="en-US" sz="2800" b="1" dirty="0"/>
              <a:t>如何判断</a:t>
            </a:r>
            <a:r>
              <a:rPr lang="en-US" altLang="zh-CN" sz="2800" b="1" dirty="0"/>
              <a:t>Goal</a:t>
            </a:r>
            <a:r>
              <a:rPr lang="zh-CN" altLang="en-US" sz="2800" b="1" dirty="0"/>
              <a:t>达到要求呢？</a:t>
            </a:r>
            <a:endParaRPr lang="zh-CN" altLang="en-US" sz="2800" b="1" dirty="0"/>
          </a:p>
          <a:p>
            <a:pPr lvl="1" indent="-439420" eaLnBrk="1" hangingPunct="1"/>
            <a:r>
              <a:rPr lang="zh-CN" altLang="en-US" sz="2400" b="1" dirty="0"/>
              <a:t>每个</a:t>
            </a:r>
            <a:r>
              <a:rPr lang="en-US" altLang="zh-CN" sz="2400" b="1" dirty="0"/>
              <a:t>Goal</a:t>
            </a:r>
            <a:r>
              <a:rPr lang="zh-CN" altLang="en-US" sz="2400" b="1" dirty="0"/>
              <a:t>包含几个实践</a:t>
            </a:r>
            <a:r>
              <a:rPr lang="en-US" altLang="zh-CN" sz="2400" b="1" dirty="0"/>
              <a:t>(Practice)</a:t>
            </a:r>
            <a:endParaRPr lang="en-US" altLang="zh-CN" sz="2400" b="1" dirty="0"/>
          </a:p>
          <a:p>
            <a:pPr lvl="1" indent="-439420" eaLnBrk="1" hangingPunct="1"/>
            <a:r>
              <a:rPr lang="zh-CN" altLang="en-US" sz="2400" b="1" dirty="0"/>
              <a:t>每个实践达到要求了，就认为该</a:t>
            </a:r>
            <a:r>
              <a:rPr lang="en-US" altLang="zh-CN" sz="2400" b="1" dirty="0"/>
              <a:t>Goal</a:t>
            </a:r>
            <a:r>
              <a:rPr lang="zh-CN" altLang="en-US" sz="2400" b="1" dirty="0"/>
              <a:t>达到要求了</a:t>
            </a:r>
            <a:endParaRPr lang="zh-CN" altLang="en-US" sz="2400" b="1" dirty="0"/>
          </a:p>
        </p:txBody>
      </p:sp>
      <p:sp>
        <p:nvSpPr>
          <p:cNvPr id="2458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charRg st="27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charRg st="4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charRg st="5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charRg st="84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charRg st="99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charRg st="122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CMMI</a:t>
            </a:r>
            <a:r>
              <a:rPr lang="zh-CN" altLang="en-US" sz="3200" dirty="0"/>
              <a:t>概念体系图</a:t>
            </a:r>
            <a:endParaRPr lang="zh-CN" altLang="en-US" sz="3200" dirty="0"/>
          </a:p>
        </p:txBody>
      </p:sp>
      <p:sp>
        <p:nvSpPr>
          <p:cNvPr id="26627" name="Rectangle 4"/>
          <p:cNvSpPr/>
          <p:nvPr/>
        </p:nvSpPr>
        <p:spPr>
          <a:xfrm>
            <a:off x="3657600" y="18288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级别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49" name="Rectangle 5"/>
          <p:cNvSpPr/>
          <p:nvPr/>
        </p:nvSpPr>
        <p:spPr>
          <a:xfrm>
            <a:off x="1905000" y="28956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PA1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0" name="Rectangle 6"/>
          <p:cNvSpPr/>
          <p:nvPr/>
        </p:nvSpPr>
        <p:spPr>
          <a:xfrm>
            <a:off x="3810000" y="28956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PA2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1" name="Rectangle 7"/>
          <p:cNvSpPr/>
          <p:nvPr/>
        </p:nvSpPr>
        <p:spPr>
          <a:xfrm>
            <a:off x="5715000" y="28956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2" name="Rectangle 8"/>
          <p:cNvSpPr/>
          <p:nvPr/>
        </p:nvSpPr>
        <p:spPr>
          <a:xfrm>
            <a:off x="762000" y="39624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Goal1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3" name="Rectangle 9"/>
          <p:cNvSpPr/>
          <p:nvPr/>
        </p:nvSpPr>
        <p:spPr>
          <a:xfrm>
            <a:off x="2667000" y="39624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Goal2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4" name="Rectangle 10"/>
          <p:cNvSpPr/>
          <p:nvPr/>
        </p:nvSpPr>
        <p:spPr>
          <a:xfrm>
            <a:off x="4572000" y="39624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…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5" name="Rectangle 11"/>
          <p:cNvSpPr/>
          <p:nvPr/>
        </p:nvSpPr>
        <p:spPr>
          <a:xfrm>
            <a:off x="609600" y="50292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Practice1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6" name="Rectangle 12"/>
          <p:cNvSpPr/>
          <p:nvPr/>
        </p:nvSpPr>
        <p:spPr>
          <a:xfrm>
            <a:off x="2438400" y="50292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Practice2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7" name="Rectangle 13"/>
          <p:cNvSpPr/>
          <p:nvPr/>
        </p:nvSpPr>
        <p:spPr>
          <a:xfrm>
            <a:off x="4343400" y="50292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Practice3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8" name="Rectangle 14"/>
          <p:cNvSpPr/>
          <p:nvPr/>
        </p:nvSpPr>
        <p:spPr>
          <a:xfrm>
            <a:off x="6172200" y="5029200"/>
            <a:ext cx="14478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….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59" name="Line 15"/>
          <p:cNvSpPr/>
          <p:nvPr/>
        </p:nvSpPr>
        <p:spPr>
          <a:xfrm flipH="1">
            <a:off x="3124200" y="2438400"/>
            <a:ext cx="9906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0" name="Line 16"/>
          <p:cNvSpPr/>
          <p:nvPr/>
        </p:nvSpPr>
        <p:spPr>
          <a:xfrm>
            <a:off x="4419600" y="24384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1" name="Line 17"/>
          <p:cNvSpPr/>
          <p:nvPr/>
        </p:nvSpPr>
        <p:spPr>
          <a:xfrm>
            <a:off x="4953000" y="2438400"/>
            <a:ext cx="106680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2" name="Line 18"/>
          <p:cNvSpPr/>
          <p:nvPr/>
        </p:nvSpPr>
        <p:spPr>
          <a:xfrm flipH="1">
            <a:off x="1676400" y="3505200"/>
            <a:ext cx="533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3" name="Line 19"/>
          <p:cNvSpPr/>
          <p:nvPr/>
        </p:nvSpPr>
        <p:spPr>
          <a:xfrm>
            <a:off x="2819400" y="3505200"/>
            <a:ext cx="3810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4" name="Line 20"/>
          <p:cNvSpPr/>
          <p:nvPr/>
        </p:nvSpPr>
        <p:spPr>
          <a:xfrm>
            <a:off x="3124200" y="3505200"/>
            <a:ext cx="16764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5" name="Line 21"/>
          <p:cNvSpPr/>
          <p:nvPr/>
        </p:nvSpPr>
        <p:spPr>
          <a:xfrm flipH="1">
            <a:off x="1143000" y="4572000"/>
            <a:ext cx="2286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6" name="Line 22"/>
          <p:cNvSpPr/>
          <p:nvPr/>
        </p:nvSpPr>
        <p:spPr>
          <a:xfrm>
            <a:off x="1828800" y="4572000"/>
            <a:ext cx="9906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7" name="Line 23"/>
          <p:cNvSpPr/>
          <p:nvPr/>
        </p:nvSpPr>
        <p:spPr>
          <a:xfrm>
            <a:off x="2057400" y="4572000"/>
            <a:ext cx="236220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8568" name="Line 24"/>
          <p:cNvSpPr/>
          <p:nvPr/>
        </p:nvSpPr>
        <p:spPr>
          <a:xfrm>
            <a:off x="2286000" y="4495800"/>
            <a:ext cx="388620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664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8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8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8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8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08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08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8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08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08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9" grpId="0" bldLvl="0" animBg="1"/>
      <p:bldP spid="108550" grpId="0" bldLvl="0" animBg="1"/>
      <p:bldP spid="108551" grpId="0" bldLvl="0" animBg="1"/>
      <p:bldP spid="108552" grpId="0" bldLvl="0" animBg="1"/>
      <p:bldP spid="108553" grpId="0" bldLvl="0" animBg="1"/>
      <p:bldP spid="108554" grpId="0" bldLvl="0" animBg="1"/>
      <p:bldP spid="108555" grpId="0" bldLvl="0" animBg="1"/>
      <p:bldP spid="108556" grpId="0" bldLvl="0" animBg="1"/>
      <p:bldP spid="108557" grpId="0" bldLvl="0" animBg="1"/>
      <p:bldP spid="10855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200" dirty="0"/>
              <a:t>CMMI</a:t>
            </a:r>
            <a:r>
              <a:rPr lang="zh-CN" altLang="en-US" sz="3200" dirty="0"/>
              <a:t>的评估办法</a:t>
            </a:r>
            <a:endParaRPr lang="zh-CN" altLang="en-US" sz="3200" dirty="0"/>
          </a:p>
        </p:txBody>
      </p:sp>
      <p:sp>
        <p:nvSpPr>
          <p:cNvPr id="109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评估一个企业是否达到某级别的标准，评估的关键就是每个</a:t>
            </a:r>
            <a:r>
              <a:rPr lang="en-US" altLang="zh-CN" b="1" dirty="0"/>
              <a:t>Practice</a:t>
            </a:r>
            <a:r>
              <a:rPr lang="zh-CN" altLang="en-US" b="1" dirty="0"/>
              <a:t>的实际情况。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根据评估办法的严谨程度，有以下办法</a:t>
            </a:r>
            <a:endParaRPr lang="zh-CN" altLang="en-US" b="1" dirty="0"/>
          </a:p>
          <a:p>
            <a:pPr lvl="1" indent="-439420" eaLnBrk="1" hangingPunct="1"/>
            <a:r>
              <a:rPr lang="en-US" altLang="zh-CN" b="1" dirty="0"/>
              <a:t>SCAMPI C</a:t>
            </a:r>
            <a:endParaRPr lang="en-US" altLang="zh-CN" b="1" dirty="0"/>
          </a:p>
          <a:p>
            <a:pPr lvl="1" indent="-439420" eaLnBrk="1" hangingPunct="1"/>
            <a:r>
              <a:rPr lang="en-US" altLang="zh-CN" b="1" dirty="0"/>
              <a:t>SCAMPI B</a:t>
            </a:r>
            <a:endParaRPr lang="en-US" altLang="zh-CN" b="1" dirty="0"/>
          </a:p>
          <a:p>
            <a:pPr lvl="1" indent="-439420" eaLnBrk="1" hangingPunct="1"/>
            <a:r>
              <a:rPr lang="en-US" altLang="zh-CN" b="1" dirty="0"/>
              <a:t>SCAMPI A</a:t>
            </a:r>
            <a:r>
              <a:rPr lang="zh-CN" altLang="en-US" b="1" dirty="0"/>
              <a:t>（正式评估用的办法）</a:t>
            </a:r>
            <a:endParaRPr lang="zh-CN" altLang="en-US" b="1" dirty="0"/>
          </a:p>
        </p:txBody>
      </p:sp>
      <p:sp>
        <p:nvSpPr>
          <p:cNvPr id="2867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59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68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charRg st="77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/>
              <a:t>某企业通过了某某级别的评估，意味着什么？</a:t>
            </a:r>
            <a:endParaRPr lang="zh-CN" altLang="en-US" dirty="0"/>
          </a:p>
        </p:txBody>
      </p:sp>
      <p:sp>
        <p:nvSpPr>
          <p:cNvPr id="1105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评估是对企业准备的几个评估项目按照</a:t>
            </a:r>
            <a:r>
              <a:rPr lang="en-US" altLang="zh-CN" sz="2800" dirty="0"/>
              <a:t>CMMI</a:t>
            </a:r>
            <a:r>
              <a:rPr lang="zh-CN" altLang="en-US" sz="2800" dirty="0"/>
              <a:t>的标准进行检查。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企业可以准备任意数量的项目，评估的项目是企业自己指定的。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通过评估，只代表评估小组认为参加评估的几个项目达到了</a:t>
            </a:r>
            <a:r>
              <a:rPr lang="en-US" altLang="zh-CN" sz="2800" dirty="0"/>
              <a:t>CMMI</a:t>
            </a:r>
            <a:r>
              <a:rPr lang="zh-CN" altLang="en-US" sz="2800" dirty="0"/>
              <a:t>某个级别的标准。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通过评估，不代表这个企业其它项目也达到了要求，也不代表这个企业以后也会达到这个标准。</a:t>
            </a:r>
            <a:endParaRPr lang="zh-CN" altLang="en-US" sz="2800" dirty="0"/>
          </a:p>
        </p:txBody>
      </p:sp>
      <p:sp>
        <p:nvSpPr>
          <p:cNvPr id="3072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charRg st="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charRg st="3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charRg st="5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charRg st="98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企业的商业目标</a:t>
            </a:r>
            <a:endParaRPr lang="zh-CN" altLang="en-US" sz="3200" dirty="0"/>
          </a:p>
        </p:txBody>
      </p:sp>
      <p:sp>
        <p:nvSpPr>
          <p:cNvPr id="1177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加快进度</a:t>
            </a:r>
            <a:endParaRPr lang="zh-CN" altLang="en-US" dirty="0"/>
          </a:p>
          <a:p>
            <a:pPr lvl="1" indent="-439420" eaLnBrk="1" hangingPunct="1"/>
            <a:r>
              <a:rPr lang="zh-CN" altLang="en-US" dirty="0"/>
              <a:t>相同的项目规模，需要更少时间完成。</a:t>
            </a:r>
            <a:endParaRPr lang="zh-CN" altLang="en-US" dirty="0"/>
          </a:p>
          <a:p>
            <a:pPr eaLnBrk="1" hangingPunct="1"/>
            <a:r>
              <a:rPr lang="zh-CN" altLang="en-US" dirty="0"/>
              <a:t>减少成本</a:t>
            </a:r>
            <a:endParaRPr lang="zh-CN" altLang="en-US" dirty="0"/>
          </a:p>
          <a:p>
            <a:pPr lvl="1" indent="-439420" eaLnBrk="1" hangingPunct="1"/>
            <a:r>
              <a:rPr lang="zh-CN" altLang="en-US" dirty="0"/>
              <a:t>相同的项目规模，需要更少的成本。</a:t>
            </a:r>
            <a:endParaRPr lang="zh-CN" altLang="en-US" dirty="0"/>
          </a:p>
          <a:p>
            <a:pPr eaLnBrk="1" hangingPunct="1"/>
            <a:r>
              <a:rPr lang="zh-CN" altLang="en-US" dirty="0"/>
              <a:t>提高质量</a:t>
            </a:r>
            <a:endParaRPr lang="zh-CN" altLang="en-US" dirty="0"/>
          </a:p>
          <a:p>
            <a:pPr lvl="1" indent="-439420" eaLnBrk="1" hangingPunct="1"/>
            <a:r>
              <a:rPr lang="zh-CN" altLang="en-US" dirty="0"/>
              <a:t>相同投入情况下，质量更高。</a:t>
            </a:r>
            <a:endParaRPr lang="zh-CN" altLang="en-US" dirty="0"/>
          </a:p>
          <a:p>
            <a:pPr eaLnBrk="1" hangingPunct="1"/>
            <a:r>
              <a:rPr lang="zh-CN" altLang="en-US" dirty="0"/>
              <a:t>终极目标：利润更高！</a:t>
            </a:r>
            <a:endParaRPr lang="zh-CN" altLang="en-US" dirty="0"/>
          </a:p>
        </p:txBody>
      </p:sp>
      <p:sp>
        <p:nvSpPr>
          <p:cNvPr id="32773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charRg st="5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charRg st="23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charRg st="28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charRg st="4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charRg st="50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charRg st="64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企业商业目标与</a:t>
            </a:r>
            <a:r>
              <a:rPr lang="en-US" altLang="zh-CN" sz="3200" dirty="0"/>
              <a:t>CMMI</a:t>
            </a:r>
            <a:r>
              <a:rPr lang="zh-CN" altLang="en-US" sz="3200" dirty="0"/>
              <a:t>的关系</a:t>
            </a:r>
            <a:endParaRPr lang="zh-CN" altLang="en-US" sz="3200" dirty="0"/>
          </a:p>
        </p:txBody>
      </p:sp>
      <p:sp>
        <p:nvSpPr>
          <p:cNvPr id="1198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CMMI</a:t>
            </a:r>
            <a:r>
              <a:rPr lang="zh-CN" altLang="en-US" dirty="0"/>
              <a:t>是为了支持企业的商业目标的。</a:t>
            </a:r>
            <a:endParaRPr lang="zh-CN" altLang="en-US" dirty="0"/>
          </a:p>
          <a:p>
            <a:pPr eaLnBrk="1" hangingPunct="1"/>
            <a:r>
              <a:rPr lang="en-US" altLang="zh-CN" dirty="0"/>
              <a:t>CMMI</a:t>
            </a:r>
            <a:r>
              <a:rPr lang="zh-CN" altLang="en-US" dirty="0"/>
              <a:t>不是用来增加管理成本而不提高收益的。</a:t>
            </a:r>
            <a:endParaRPr lang="zh-CN" altLang="en-US" dirty="0"/>
          </a:p>
          <a:p>
            <a:pPr eaLnBrk="1" hangingPunct="1"/>
            <a:r>
              <a:rPr lang="zh-CN" altLang="en-US" dirty="0"/>
              <a:t>更高级别的企业，她的效能应该更高。</a:t>
            </a:r>
            <a:endParaRPr lang="zh-CN" altLang="en-US" dirty="0"/>
          </a:p>
          <a:p>
            <a:pPr lvl="1" indent="-439420" eaLnBrk="1" hangingPunct="1"/>
            <a:r>
              <a:rPr lang="zh-CN" altLang="en-US" dirty="0"/>
              <a:t>效能</a:t>
            </a:r>
            <a:r>
              <a:rPr lang="en-US" altLang="zh-CN" dirty="0"/>
              <a:t>=</a:t>
            </a:r>
            <a:r>
              <a:rPr lang="zh-CN" altLang="en-US" dirty="0"/>
              <a:t>收益</a:t>
            </a:r>
            <a:r>
              <a:rPr lang="en-US" altLang="zh-CN" dirty="0"/>
              <a:t>/</a:t>
            </a:r>
            <a:r>
              <a:rPr lang="zh-CN" altLang="en-US" dirty="0"/>
              <a:t>投入</a:t>
            </a:r>
            <a:endParaRPr lang="zh-CN" altLang="en-US" dirty="0"/>
          </a:p>
        </p:txBody>
      </p:sp>
      <p:sp>
        <p:nvSpPr>
          <p:cNvPr id="34821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charRg st="19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charRg st="60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en-US" altLang="zh-CN" sz="1000" dirty="0"/>
              <a:t>                                         </a:t>
            </a:r>
            <a:endParaRPr lang="en-US" altLang="zh-CN" sz="1000" dirty="0"/>
          </a:p>
        </p:txBody>
      </p:sp>
      <p:sp>
        <p:nvSpPr>
          <p:cNvPr id="368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3200" dirty="0"/>
              <a:t>常见疑问</a:t>
            </a:r>
            <a:r>
              <a:rPr lang="en-US" altLang="zh-CN" sz="3200" dirty="0"/>
              <a:t>-</a:t>
            </a:r>
            <a:r>
              <a:rPr lang="zh-CN" altLang="en-US" sz="3200" dirty="0"/>
              <a:t>有答案了吗？</a:t>
            </a:r>
            <a:endParaRPr lang="zh-CN" altLang="en-US" sz="3200" dirty="0"/>
          </a:p>
        </p:txBody>
      </p:sp>
      <p:sp>
        <p:nvSpPr>
          <p:cNvPr id="368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/>
              <a:t>不通过</a:t>
            </a:r>
            <a:r>
              <a:rPr lang="en-US" altLang="zh-CN" sz="2800" dirty="0"/>
              <a:t>2</a:t>
            </a:r>
            <a:r>
              <a:rPr lang="zh-CN" altLang="en-US" sz="2800" dirty="0"/>
              <a:t>级能过</a:t>
            </a:r>
            <a:r>
              <a:rPr lang="en-US" altLang="zh-CN" sz="2800" dirty="0"/>
              <a:t>3</a:t>
            </a:r>
            <a:r>
              <a:rPr lang="zh-CN" altLang="en-US" sz="2800" dirty="0"/>
              <a:t>级吗？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3</a:t>
            </a:r>
            <a:r>
              <a:rPr lang="zh-CN" altLang="en-US" sz="2800" dirty="0"/>
              <a:t>级的企业研发总体成本比</a:t>
            </a:r>
            <a:r>
              <a:rPr lang="en-US" altLang="zh-CN" sz="2800" dirty="0"/>
              <a:t>2</a:t>
            </a:r>
            <a:r>
              <a:rPr lang="zh-CN" altLang="en-US" sz="2800" dirty="0"/>
              <a:t>级的要高？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怎样才算通过了某个级别的评估呢？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CMMI</a:t>
            </a:r>
            <a:r>
              <a:rPr lang="zh-CN" altLang="en-US" sz="2800" dirty="0"/>
              <a:t>评估与</a:t>
            </a:r>
            <a:r>
              <a:rPr lang="en-US" altLang="zh-CN" sz="2800" dirty="0"/>
              <a:t>ISO</a:t>
            </a:r>
            <a:r>
              <a:rPr lang="zh-CN" altLang="en-US" sz="2800" dirty="0"/>
              <a:t>审核有什么不同？</a:t>
            </a:r>
            <a:endParaRPr lang="zh-CN" altLang="en-US" sz="2800" dirty="0"/>
          </a:p>
          <a:p>
            <a:pPr eaLnBrk="1" hangingPunct="1"/>
            <a:r>
              <a:rPr lang="zh-CN" altLang="en-US" sz="2800" dirty="0"/>
              <a:t>很多公司说自己整体过了</a:t>
            </a:r>
            <a:r>
              <a:rPr lang="en-US" altLang="zh-CN" sz="2800" dirty="0"/>
              <a:t>CMMI</a:t>
            </a:r>
            <a:r>
              <a:rPr lang="zh-CN" altLang="en-US" sz="2800" dirty="0"/>
              <a:t>多少级，什么叫“整体过”呢？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CMMI</a:t>
            </a:r>
            <a:r>
              <a:rPr lang="zh-CN" altLang="en-US" sz="2800" dirty="0"/>
              <a:t>是个什么东西呢？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……</a:t>
            </a:r>
            <a:endParaRPr lang="en-US" altLang="zh-CN" sz="2800" dirty="0"/>
          </a:p>
        </p:txBody>
      </p:sp>
      <p:sp>
        <p:nvSpPr>
          <p:cNvPr id="36868" name="Text Box 4"/>
          <p:cNvSpPr txBox="1"/>
          <p:nvPr/>
        </p:nvSpPr>
        <p:spPr>
          <a:xfrm>
            <a:off x="7740650" y="6491288"/>
            <a:ext cx="14033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hlinkClick r:id="rId1"/>
              </a:rPr>
              <a:t>CMMIonline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en-US" altLang="zh-CN" sz="1000" dirty="0"/>
            </a:fld>
            <a:endParaRPr lang="en-US" altLang="zh-CN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" y="785813"/>
            <a:ext cx="8429625" cy="5786437"/>
          </a:xfrm>
          <a:prstGeom prst="rect">
            <a:avLst/>
          </a:prstGeom>
          <a:noFill/>
          <a:ln w="9525">
            <a:noFill/>
          </a:ln>
          <a:effectLst>
            <a:outerShdw algn="ctr" rotWithShape="0">
              <a:srgbClr val="808080">
                <a:alpha val="50000"/>
              </a:srgbClr>
            </a:outerShdw>
          </a:effectLst>
        </p:spPr>
      </p:pic>
      <p:sp>
        <p:nvSpPr>
          <p:cNvPr id="17411" name="Rectangle 2"/>
          <p:cNvSpPr txBox="1">
            <a:spLocks noRot="1"/>
          </p:cNvSpPr>
          <p:nvPr/>
        </p:nvSpPr>
        <p:spPr>
          <a:xfrm>
            <a:off x="2357438" y="0"/>
            <a:ext cx="46291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200" dirty="0">
                <a:solidFill>
                  <a:schemeClr val="bg1"/>
                </a:solidFill>
                <a:ea typeface="宋体" panose="02010600030101010101" pitchFamily="2" charset="-122"/>
              </a:rPr>
              <a:t>P-CMM</a:t>
            </a:r>
            <a:endParaRPr lang="en-US" altLang="zh-CN" sz="32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3"/>
          <p:cNvSpPr/>
          <p:nvPr/>
        </p:nvSpPr>
        <p:spPr>
          <a:xfrm>
            <a:off x="357188" y="1014413"/>
            <a:ext cx="8215312" cy="548640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342900" lvl="0" indent="-342900" eaLnBrk="1" hangingPunct="1">
              <a:lnSpc>
                <a:spcPct val="130000"/>
              </a:lnSpc>
              <a:buClr>
                <a:schemeClr val="folHlink"/>
              </a:buClr>
              <a:buSzPct val="60000"/>
              <a:buFont typeface="Monotype Sorts" pitchFamily="2" charset="2"/>
              <a:buNone/>
            </a:pPr>
            <a:r>
              <a:rPr lang="en-US" altLang="zh-CN" sz="4400" b="0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软件过程模型是软件开发全部过程、活动和任务的</a:t>
            </a: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结构框架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。它能直观表达软件开发全过程，明确规定要完成的主要活动、任务和开发策略。 软件过程模型也常称为：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30000"/>
              </a:lnSpc>
              <a:spcBef>
                <a:spcPct val="10000"/>
              </a:spcBef>
              <a:buClr>
                <a:srgbClr val="E00025"/>
              </a:buClr>
              <a:buSzPct val="60000"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	</a:t>
            </a: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	 软件开发模型</a:t>
            </a:r>
            <a:endParaRPr lang="zh-CN" altLang="en-US" dirty="0">
              <a:solidFill>
                <a:srgbClr val="000A14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30000"/>
              </a:lnSpc>
              <a:spcBef>
                <a:spcPct val="10000"/>
              </a:spcBef>
              <a:buClr>
                <a:srgbClr val="E00025"/>
              </a:buClr>
              <a:buSzPct val="60000"/>
              <a:buNone/>
            </a:pP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			软件生存周期模型</a:t>
            </a:r>
            <a:endParaRPr lang="zh-CN" altLang="en-US" dirty="0">
              <a:solidFill>
                <a:srgbClr val="000A14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  <a:p>
            <a:pPr marL="342900" lvl="0" indent="-342900" eaLnBrk="1" hangingPunct="1">
              <a:lnSpc>
                <a:spcPct val="130000"/>
              </a:lnSpc>
              <a:spcBef>
                <a:spcPct val="10000"/>
              </a:spcBef>
              <a:buClr>
                <a:srgbClr val="E00025"/>
              </a:buClr>
              <a:buSzPct val="60000"/>
              <a:buNone/>
            </a:pP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  				        软件工程范型</a:t>
            </a:r>
            <a:endParaRPr lang="zh-CN" altLang="en-US" dirty="0">
              <a:solidFill>
                <a:srgbClr val="000A14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sp>
        <p:nvSpPr>
          <p:cNvPr id="18435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软件过程模型</a:t>
            </a:r>
            <a:endParaRPr lang="zh-CN" altLang="en-US" dirty="0">
              <a:solidFill>
                <a:srgbClr val="001933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 noRot="1"/>
          </p:cNvSpPr>
          <p:nvPr>
            <p:ph type="title"/>
          </p:nvPr>
        </p:nvSpPr>
        <p:spPr>
          <a:xfrm>
            <a:off x="406400" y="214313"/>
            <a:ext cx="8407400" cy="65405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常用过程模型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Rot="1"/>
          </p:cNvSpPr>
          <p:nvPr>
            <p:ph type="body"/>
          </p:nvPr>
        </p:nvSpPr>
        <p:spPr>
          <a:xfrm>
            <a:off x="714375" y="785813"/>
            <a:ext cx="8229600" cy="557212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瀑布模型 </a:t>
            </a:r>
            <a:r>
              <a:rPr lang="en-US" altLang="zh-CN" dirty="0">
                <a:solidFill>
                  <a:srgbClr val="001933"/>
                </a:solidFill>
                <a:ea typeface="宋体" panose="02010600030101010101" pitchFamily="2" charset="-122"/>
              </a:rPr>
              <a:t>(</a:t>
            </a:r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经典的生命周期模型</a:t>
            </a:r>
            <a:r>
              <a:rPr lang="en-US" altLang="zh-CN" dirty="0">
                <a:solidFill>
                  <a:srgbClr val="001933"/>
                </a:solidFill>
                <a:ea typeface="宋体" panose="02010600030101010101" pitchFamily="2" charset="-122"/>
              </a:rPr>
              <a:t>)</a:t>
            </a:r>
            <a:endParaRPr lang="en-US" altLang="zh-CN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演化过程模型</a:t>
            </a:r>
            <a:endParaRPr lang="zh-CN" altLang="en-US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原型模型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并行开发模型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基于构建模型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增量过程模型</a:t>
            </a:r>
            <a:endParaRPr lang="zh-CN" altLang="en-US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增量模型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RAD</a:t>
            </a:r>
            <a:endParaRPr lang="en-US" altLang="zh-CN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螺旋模型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001933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其他过程模型</a:t>
            </a:r>
            <a:endParaRPr lang="zh-CN" altLang="en-US" b="1" dirty="0">
              <a:solidFill>
                <a:srgbClr val="001933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智能模型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敏捷过程模型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>
              <a:buNone/>
            </a:pPr>
            <a:endParaRPr lang="zh-CN" altLang="en-US" b="1" dirty="0">
              <a:solidFill>
                <a:schemeClr val="accent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lvl="1" eaLnBrk="1" hangingPunct="1">
              <a:buNone/>
            </a:pPr>
            <a:endParaRPr lang="en-US" altLang="zh-CN" dirty="0">
              <a:solidFill>
                <a:srgbClr val="F3FF07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charRg st="17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24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59">
                                            <p:txEl>
                                              <p:charRg st="24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">
                                            <p:txEl>
                                              <p:charRg st="24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59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59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3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charRg st="3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charRg st="36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43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59">
                                            <p:txEl>
                                              <p:charRg st="43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59">
                                            <p:txEl>
                                              <p:charRg st="43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5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59">
                                            <p:txEl>
                                              <p:charRg st="5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59">
                                            <p:txEl>
                                              <p:charRg st="50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55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59">
                                            <p:txEl>
                                              <p:charRg st="55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59">
                                            <p:txEl>
                                              <p:charRg st="55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5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59">
                                            <p:txEl>
                                              <p:charRg st="5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59">
                                            <p:txEl>
                                              <p:charRg st="59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64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59">
                                            <p:txEl>
                                              <p:charRg st="64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59">
                                            <p:txEl>
                                              <p:charRg st="64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7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459">
                                            <p:txEl>
                                              <p:charRg st="7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459">
                                            <p:txEl>
                                              <p:charRg st="71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charRg st="76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459">
                                            <p:txEl>
                                              <p:charRg st="76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459">
                                            <p:txEl>
                                              <p:charRg st="76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1.</a:t>
            </a:r>
            <a:r>
              <a:rPr lang="zh-CN" altLang="en-US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瀑布模型</a:t>
            </a:r>
            <a:r>
              <a:rPr lang="en-US" altLang="zh-CN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(Waterfall Model)</a:t>
            </a:r>
            <a:endParaRPr lang="en-US" altLang="zh-CN" sz="3600" dirty="0">
              <a:solidFill>
                <a:srgbClr val="003F8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xfrm>
            <a:off x="539750" y="1428750"/>
            <a:ext cx="8229600" cy="4879975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由Winston Royce 在1970年最早提出的软件开发模型。</a:t>
            </a:r>
            <a:endParaRPr lang="zh-CN" altLang="en-US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marL="342900" lvl="1" indent="-342900" eaLnBrk="1" hangingPunct="1"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001933"/>
                </a:solidFill>
                <a:ea typeface="宋体" panose="02010600030101010101" pitchFamily="2" charset="-122"/>
              </a:rPr>
              <a:t>软件开发过程与软件生命周期是一致的，也称经典的生命周期模型。</a:t>
            </a:r>
            <a:endParaRPr lang="zh-CN" altLang="en-US" b="1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规定了各项软件工程活动，以及它们自上而下，相互衔接的固定次序，如同瀑布流水，逐级下落。</a:t>
            </a:r>
            <a:endParaRPr lang="zh-CN" altLang="en-US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1933"/>
                </a:solidFill>
                <a:ea typeface="宋体" panose="02010600030101010101" pitchFamily="2" charset="-122"/>
              </a:rPr>
              <a:t>是一种使用广泛，以文档为驱动的模型。</a:t>
            </a:r>
            <a:endParaRPr lang="zh-CN" altLang="en-US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zh-CN" altLang="en-US" b="0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0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34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65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09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ext Box 3"/>
          <p:cNvSpPr txBox="1">
            <a:spLocks noChangeAspect="1"/>
          </p:cNvSpPr>
          <p:nvPr/>
        </p:nvSpPr>
        <p:spPr>
          <a:xfrm>
            <a:off x="1785938" y="142875"/>
            <a:ext cx="5265737" cy="5445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3200" dirty="0">
                <a:solidFill>
                  <a:srgbClr val="003F80"/>
                </a:solidFill>
                <a:latin typeface="Times New Roman" panose="02020603050405020304" pitchFamily="18" charset="0"/>
                <a:ea typeface="楷体_GB2312" pitchFamily="1" charset="-122"/>
              </a:rPr>
              <a:t>传统的瀑布模型</a:t>
            </a:r>
            <a:endParaRPr lang="zh-CN" altLang="en-US" sz="3200" dirty="0">
              <a:solidFill>
                <a:srgbClr val="003F8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pic>
        <p:nvPicPr>
          <p:cNvPr id="2150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" y="857250"/>
            <a:ext cx="7667625" cy="5667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solidFill>
                  <a:srgbClr val="00264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按照传统瀑布模型开发软件的特点</a:t>
            </a:r>
            <a:endParaRPr lang="zh-CN" altLang="en-US" dirty="0">
              <a:solidFill>
                <a:srgbClr val="00264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xfrm>
            <a:off x="771525" y="1143000"/>
            <a:ext cx="7943850" cy="49339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阶段间具有顺序性和依赖性。</a:t>
            </a:r>
            <a:endParaRPr lang="zh-CN" altLang="en-US" dirty="0">
              <a:solidFill>
                <a:srgbClr val="000A1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推迟实现的观点。</a:t>
            </a:r>
            <a:endParaRPr lang="zh-CN" altLang="en-US" dirty="0">
              <a:solidFill>
                <a:srgbClr val="000A1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每个阶段必须完成规定的文档</a:t>
            </a:r>
            <a:r>
              <a:rPr lang="en-US" altLang="zh-CN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dirty="0">
              <a:solidFill>
                <a:srgbClr val="000A1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每个阶段结束前完成文档审查</a:t>
            </a:r>
            <a:r>
              <a:rPr lang="en-US" altLang="zh-CN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dirty="0">
                <a:solidFill>
                  <a:srgbClr val="000A1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及早改正错误。</a:t>
            </a:r>
            <a:endParaRPr lang="zh-CN" altLang="en-US" dirty="0">
              <a:solidFill>
                <a:srgbClr val="000A1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16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charRg st="16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charRg st="16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charRg st="27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charRg st="4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531">
                                            <p:txEl>
                                              <p:charRg st="4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531">
                                            <p:txEl>
                                              <p:charRg st="44" end="6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35"/>
          <p:cNvSpPr txBox="1">
            <a:spLocks noChangeAspect="1"/>
          </p:cNvSpPr>
          <p:nvPr/>
        </p:nvSpPr>
        <p:spPr>
          <a:xfrm>
            <a:off x="1857375" y="169863"/>
            <a:ext cx="5265738" cy="54451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3200" dirty="0">
                <a:solidFill>
                  <a:srgbClr val="00264D"/>
                </a:solidFill>
                <a:latin typeface="Times New Roman" panose="02020603050405020304" pitchFamily="18" charset="0"/>
                <a:ea typeface="楷体_GB2312" pitchFamily="1" charset="-122"/>
              </a:rPr>
              <a:t>带反馈的瀑布模型</a:t>
            </a:r>
            <a:endParaRPr lang="zh-CN" altLang="en-US" sz="3200" dirty="0">
              <a:solidFill>
                <a:srgbClr val="00264D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pic>
        <p:nvPicPr>
          <p:cNvPr id="23555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901700"/>
            <a:ext cx="7429500" cy="5670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body"/>
          </p:nvPr>
        </p:nvSpPr>
        <p:spPr>
          <a:xfrm>
            <a:off x="457200" y="1214438"/>
            <a:ext cx="8229600" cy="350043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66"/>
                </a:solidFill>
                <a:latin typeface="_x000B__x000C_" charset="0"/>
                <a:ea typeface="宋体" panose="02010600030101010101" pitchFamily="2" charset="-122"/>
              </a:rPr>
              <a:t>线性过程太理想化</a:t>
            </a:r>
            <a:endParaRPr lang="zh-CN" altLang="en-US" dirty="0">
              <a:solidFill>
                <a:srgbClr val="000066"/>
              </a:solidFill>
              <a:latin typeface="_x000B__x000C_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A14"/>
                </a:solidFill>
                <a:latin typeface="_x000B__x000C_" charset="0"/>
                <a:ea typeface="宋体" panose="02010600030101010101" pitchFamily="2" charset="-122"/>
              </a:rPr>
              <a:t>各个阶段的划分完全固定，阶段之间产生大量的文档，极大地增加了工作量；</a:t>
            </a:r>
            <a:endParaRPr lang="zh-CN" altLang="en-US" b="1" dirty="0">
              <a:solidFill>
                <a:srgbClr val="000A14"/>
              </a:solidFill>
              <a:latin typeface="_x000B__x000C_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A14"/>
                </a:solidFill>
                <a:latin typeface="_x000B__x000C_" charset="0"/>
                <a:ea typeface="宋体" panose="02010600030101010101" pitchFamily="2" charset="-122"/>
              </a:rPr>
              <a:t>由于开发模型是线性的，用户只有等到整个过程的末期才能见到开发成果，从而增加了开发的风险；</a:t>
            </a:r>
            <a:endParaRPr lang="zh-CN" altLang="en-US" b="1" dirty="0">
              <a:solidFill>
                <a:srgbClr val="000A14"/>
              </a:solidFill>
              <a:latin typeface="_x000B__x000C_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A14"/>
                </a:solidFill>
                <a:latin typeface="_x000B__x000C_" charset="0"/>
                <a:ea typeface="宋体" panose="02010600030101010101" pitchFamily="2" charset="-122"/>
              </a:rPr>
              <a:t>早期的错误可能要等到开发后期的测试阶段才能发现，进而带来严重的后果。</a:t>
            </a:r>
            <a:endParaRPr lang="zh-CN" altLang="en-US" b="1" dirty="0">
              <a:solidFill>
                <a:srgbClr val="000A14"/>
              </a:solidFill>
              <a:latin typeface="_x000B__x000C_" charset="0"/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2071688" y="71438"/>
            <a:ext cx="4857750" cy="715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3600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瀑布模型主要问题</a:t>
            </a:r>
            <a:r>
              <a:rPr lang="zh-CN" altLang="en-US" b="0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endParaRPr lang="zh-CN" altLang="en-US" b="0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4580" name="圆角矩形 3"/>
          <p:cNvSpPr>
            <a:spLocks noChangeArrowheads="1"/>
          </p:cNvSpPr>
          <p:nvPr/>
        </p:nvSpPr>
        <p:spPr bwMode="auto">
          <a:xfrm>
            <a:off x="785813" y="4786313"/>
            <a:ext cx="3571875" cy="8572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581" name="爆炸形 2 4"/>
          <p:cNvSpPr>
            <a:spLocks noChangeArrowheads="1"/>
          </p:cNvSpPr>
          <p:nvPr/>
        </p:nvSpPr>
        <p:spPr bwMode="auto">
          <a:xfrm>
            <a:off x="2714625" y="5857875"/>
            <a:ext cx="914400" cy="914400"/>
          </a:xfrm>
          <a:prstGeom prst="irregularSeal2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4582" name="图示 6"/>
          <p:cNvPicPr/>
          <p:nvPr/>
        </p:nvPicPr>
        <p:blipFill>
          <a:blip r:embed="rId1"/>
          <a:stretch>
            <a:fillRect/>
          </a:stretch>
        </p:blipFill>
        <p:spPr>
          <a:xfrm>
            <a:off x="792163" y="4840288"/>
            <a:ext cx="7991475" cy="1597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9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4578">
                                            <p:txEl>
                                              <p:charRg st="9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44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578">
                                            <p:txEl>
                                              <p:charRg st="44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charRg st="89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4578">
                                            <p:txEl>
                                              <p:charRg st="89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演化模型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>
                <a:solidFill>
                  <a:srgbClr val="001933"/>
                </a:solidFill>
                <a:ea typeface="宋体" panose="02010600030101010101" pitchFamily="2" charset="-122"/>
              </a:rPr>
              <a:t>演化过程模型</a:t>
            </a:r>
            <a:endParaRPr lang="zh-CN" altLang="en-US" sz="3200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原型模型</a:t>
            </a:r>
            <a:endParaRPr lang="zh-CN" altLang="en-US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并行开发模型</a:t>
            </a:r>
            <a:endParaRPr lang="zh-CN" altLang="en-US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基于构建模型</a:t>
            </a:r>
            <a:endParaRPr lang="zh-CN" altLang="en-US" sz="32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原型模型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26627" name="Oval 4"/>
          <p:cNvSpPr>
            <a:spLocks noChangeArrowheads="1"/>
          </p:cNvSpPr>
          <p:nvPr/>
        </p:nvSpPr>
        <p:spPr bwMode="auto">
          <a:xfrm>
            <a:off x="428625" y="2286000"/>
            <a:ext cx="1625600" cy="931863"/>
          </a:xfrm>
          <a:prstGeom prst="ellipse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round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适用情况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8" name="TextBox 5"/>
          <p:cNvSpPr txBox="1"/>
          <p:nvPr/>
        </p:nvSpPr>
        <p:spPr>
          <a:xfrm>
            <a:off x="2214563" y="1785938"/>
            <a:ext cx="6429375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5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客户定义一个总体目标集，但是他们并不清楚系统的具体输入输出；或开发者不确定算法的效率、软件与操作系统是否兼容以及客户与计算机交互的方式。此时，原型法是很好的选择。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原型模型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/>
          </p:cNvSpPr>
          <p:nvPr>
            <p:ph idx="1"/>
          </p:nvPr>
        </p:nvSpPr>
        <p:spPr>
          <a:xfrm>
            <a:off x="457200" y="5572125"/>
            <a:ext cx="8229600" cy="1158875"/>
          </a:xfrm>
        </p:spPr>
        <p:txBody>
          <a:bodyPr vert="horz" wrap="square" lIns="63500" tIns="25400" rIns="63500" bIns="25400" anchor="t" anchorCtr="0">
            <a:spAutoFit/>
          </a:bodyPr>
          <a:p>
            <a:pPr lvl="1" algn="just" eaLnBrk="1" hangingPunct="1"/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优点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: </a:t>
            </a:r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solidFill>
                  <a:srgbClr val="000A14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）可以得到比较良好的需求定义，容易适应需求的变化；（</a:t>
            </a:r>
            <a:r>
              <a:rPr lang="en-US" altLang="zh-CN" sz="2400" b="1" dirty="0">
                <a:solidFill>
                  <a:srgbClr val="000A14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）开发费用低、开发周期短且对用户更友好。</a:t>
            </a:r>
            <a:endParaRPr lang="zh-CN" altLang="en-US" sz="2400" b="1" dirty="0">
              <a:solidFill>
                <a:srgbClr val="000A14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8" y="857250"/>
            <a:ext cx="8429625" cy="4643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charRg st="0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原型模型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 noRot="1"/>
          </p:cNvSpPr>
          <p:nvPr>
            <p:ph idx="1"/>
          </p:nvPr>
        </p:nvSpPr>
        <p:spPr>
          <a:xfrm>
            <a:off x="457200" y="5572125"/>
            <a:ext cx="8229600" cy="863600"/>
          </a:xfrm>
        </p:spPr>
        <p:txBody>
          <a:bodyPr vert="horz" wrap="square" lIns="63500" tIns="25400" rIns="63500" bIns="25400" anchor="t" anchorCtr="0">
            <a:spAutoFit/>
          </a:bodyPr>
          <a:p>
            <a:pPr lvl="1" algn="ctr" eaLnBrk="1" hangingPunct="1"/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缺点</a:t>
            </a:r>
            <a:r>
              <a:rPr lang="en-US" altLang="zh-CN" sz="24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: 1).  </a:t>
            </a:r>
            <a:r>
              <a:rPr lang="zh-CN" alt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设计者在质量和原型间有所折中</a:t>
            </a:r>
            <a:endParaRPr lang="zh-CN" altLang="en-US" sz="2400" b="1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algn="ctr" eaLnBrk="1" hangingPunct="1">
              <a:buNone/>
            </a:pP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2).</a:t>
            </a:r>
            <a:r>
              <a:rPr lang="zh-CN" altLang="en-US" sz="2400" dirty="0">
                <a:solidFill>
                  <a:srgbClr val="FF0000"/>
                </a:solidFill>
                <a:ea typeface="宋体" panose="02010600030101010101" pitchFamily="2" charset="-122"/>
              </a:rPr>
              <a:t>客户没有意识到质量问题</a:t>
            </a:r>
            <a:endParaRPr lang="zh-CN" altLang="en-US" sz="24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pic>
        <p:nvPicPr>
          <p:cNvPr id="2867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8" y="857250"/>
            <a:ext cx="8429625" cy="46434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5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charRg st="2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675">
                                            <p:txEl>
                                              <p:charRg st="2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5">
                                            <p:txEl>
                                              <p:charRg st="2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并行开发模型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pic>
        <p:nvPicPr>
          <p:cNvPr id="29699" name="内容占位符 5"/>
          <p:cNvPicPr>
            <a:picLocks noGrp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643063" y="928688"/>
            <a:ext cx="6286500" cy="4933950"/>
          </a:xfrm>
        </p:spPr>
      </p:pic>
      <p:sp>
        <p:nvSpPr>
          <p:cNvPr id="29700" name="内容占位符 2"/>
          <p:cNvSpPr txBox="1"/>
          <p:nvPr/>
        </p:nvSpPr>
        <p:spPr>
          <a:xfrm>
            <a:off x="642938" y="6000750"/>
            <a:ext cx="8229600" cy="4286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342900" lvl="0" indent="-342900"/>
            <a:r>
              <a:rPr lang="zh-CN" altLang="en-US" sz="2400" dirty="0">
                <a:solidFill>
                  <a:srgbClr val="000A14"/>
                </a:solidFill>
                <a:ea typeface="黑体" panose="02010609060101010101" pitchFamily="49" charset="-122"/>
              </a:rPr>
              <a:t>适合于不同的工程团队共同开发的系统工程项目。</a:t>
            </a:r>
            <a:endParaRPr lang="zh-CN" altLang="en-US" sz="2400" dirty="0">
              <a:solidFill>
                <a:srgbClr val="000A14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基于构件的模型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pic>
        <p:nvPicPr>
          <p:cNvPr id="30723" name="Picture 4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85750" y="1000125"/>
            <a:ext cx="8501063" cy="5214938"/>
          </a:xfrm>
          <a:effectLst>
            <a:outerShdw algn="ctr" rotWithShape="0">
              <a:srgbClr val="80808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基于构件的模型的四个阶段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642938" y="928688"/>
            <a:ext cx="8401050" cy="493395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000066"/>
                </a:solidFill>
                <a:ea typeface="宋体" panose="02010600030101010101" pitchFamily="2" charset="-122"/>
              </a:rPr>
              <a:t>需求</a:t>
            </a:r>
            <a:endParaRPr lang="zh-CN" altLang="en-US" dirty="0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与其它模型相同，这里不再赘述。</a:t>
            </a:r>
            <a:endParaRPr lang="zh-CN" altLang="en-US" sz="2400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000066"/>
                </a:solidFill>
                <a:ea typeface="宋体" panose="02010600030101010101" pitchFamily="2" charset="-122"/>
              </a:rPr>
              <a:t>组件分析</a:t>
            </a:r>
            <a:endParaRPr lang="zh-CN" altLang="en-US" dirty="0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根据需求规格搜索可满足该需求的组件。通常情况下，没有完全匹配的情况，因而组件通常需要加以修改。</a:t>
            </a:r>
            <a:endParaRPr lang="zh-CN" altLang="en-US" sz="2400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000066"/>
                </a:solidFill>
                <a:ea typeface="宋体" panose="02010600030101010101" pitchFamily="2" charset="-122"/>
              </a:rPr>
              <a:t>系统设计</a:t>
            </a:r>
            <a:endParaRPr lang="zh-CN" altLang="en-US" dirty="0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与其它模型的系统设计有所不同，因为该模型是基于重用的。设计者必须考虑到重用的概念，但遗憾的是，如果没有可重用的组件，还要设计新的软件。</a:t>
            </a:r>
            <a:endParaRPr lang="zh-CN" altLang="en-US" sz="2400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000066"/>
                </a:solidFill>
                <a:ea typeface="宋体" panose="02010600030101010101" pitchFamily="2" charset="-122"/>
              </a:rPr>
              <a:t>开发和集成</a:t>
            </a:r>
            <a:endParaRPr lang="zh-CN" altLang="en-US" dirty="0">
              <a:solidFill>
                <a:srgbClr val="000066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在这个阶段，组件集成到系统中。</a:t>
            </a:r>
            <a:endParaRPr lang="zh-CN" altLang="en-US" sz="2400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基于构件的模型的优缺点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组件的重用，降低了成本和风险，节约了时间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模型复杂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导致需求的折中，进而导致系统不能完全符合需求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无法完全控制所开发系统的演化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项目划分的好坏直接影响项目结果的好坏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增量过程模型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428625" y="1214438"/>
            <a:ext cx="8143875" cy="4933950"/>
          </a:xfrm>
        </p:spPr>
        <p:txBody>
          <a:bodyPr vert="horz" wrap="square" lIns="91440" tIns="45720" rIns="91440" bIns="45720" anchor="t" anchorCtr="0"/>
          <a:p>
            <a:pPr marL="346075" indent="0" algn="just">
              <a:lnSpc>
                <a:spcPct val="120000"/>
              </a:lnSpc>
              <a:spcBef>
                <a:spcPts val="725"/>
              </a:spcBef>
              <a:buNone/>
            </a:pPr>
            <a:r>
              <a:rPr lang="zh-CN" altLang="en-US" dirty="0">
                <a:solidFill>
                  <a:srgbClr val="000A1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量过程模型是一种非整体开发的模型。是一种进化式的开发过程。她允许从部分需求定义出发，先建立一个不完整的系统，通过测试运行这个系统取得经验和反馈，进一步使系统扩充和完善。如此反复进行，直至软件人员和用户对所设计的</a:t>
            </a:r>
            <a:r>
              <a:rPr lang="zh-CN" altLang="en-US" sz="2400" dirty="0">
                <a:solidFill>
                  <a:srgbClr val="000A14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软件系统满意为止。</a:t>
            </a:r>
            <a:endParaRPr lang="zh-CN" altLang="en-US" sz="2400" dirty="0">
              <a:solidFill>
                <a:srgbClr val="000A14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增量模型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RAD</a:t>
            </a:r>
            <a:endParaRPr lang="en-US" altLang="zh-CN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FF0000"/>
                </a:solidFill>
                <a:ea typeface="宋体" panose="02010600030101010101" pitchFamily="2" charset="-122"/>
              </a:rPr>
              <a:t>螺旋模型</a:t>
            </a:r>
            <a:endParaRPr lang="zh-CN" altLang="en-US" sz="24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 marL="346075" indent="0">
              <a:buNone/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1143000" y="214313"/>
            <a:ext cx="7800975" cy="56356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增量模型</a:t>
            </a:r>
            <a:r>
              <a:rPr lang="en-US" altLang="zh-CN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(Incremental Model)</a:t>
            </a:r>
            <a:endParaRPr lang="en-US" altLang="zh-CN" sz="3600" dirty="0">
              <a:solidFill>
                <a:srgbClr val="003F8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type="body" sz="half"/>
          </p:nvPr>
        </p:nvSpPr>
        <p:spPr>
          <a:xfrm>
            <a:off x="285750" y="1071563"/>
            <a:ext cx="8497888" cy="2447925"/>
          </a:xfrm>
        </p:spPr>
        <p:txBody>
          <a:bodyPr vert="horz" wrap="square" lIns="91440" tIns="45720" rIns="91440" bIns="45720" anchor="t" anchorCtr="0"/>
          <a:lstStyle>
            <a:lvl1pPr lvl="0">
              <a:buClr>
                <a:schemeClr val="accent1"/>
              </a:buClr>
              <a:buSzTx/>
              <a:buFont typeface="Wingdings" panose="05000000000000000000" pitchFamily="2" charset="2"/>
              <a:defRPr sz="2400"/>
            </a:lvl1pPr>
            <a:lvl2pPr lvl="1">
              <a:buClr>
                <a:schemeClr val="accent1"/>
              </a:buClr>
              <a:buSzTx/>
              <a:buFont typeface="Wingdings" panose="05000000000000000000" pitchFamily="2" charset="2"/>
              <a:defRPr sz="2400"/>
            </a:lvl2pPr>
            <a:lvl3pPr lvl="2">
              <a:buClr>
                <a:schemeClr val="tx1"/>
              </a:buClr>
              <a:buSzTx/>
              <a:buFontTx/>
              <a:defRPr sz="2000"/>
            </a:lvl3pPr>
            <a:lvl4pPr lvl="3">
              <a:buClrTx/>
              <a:buSzTx/>
              <a:buFontTx/>
              <a:defRPr sz="1800"/>
            </a:lvl4pPr>
            <a:lvl5pPr lvl="4">
              <a:buClrTx/>
              <a:buSzTx/>
              <a:buFontTx/>
              <a:defRPr sz="1800"/>
            </a:lvl5pPr>
          </a:lstStyle>
          <a:p>
            <a:pPr lvl="0" indent="711200" algn="just">
              <a:lnSpc>
                <a:spcPct val="120000"/>
              </a:lnSpc>
              <a:spcBef>
                <a:spcPct val="25000"/>
              </a:spcBef>
            </a:pPr>
            <a:r>
              <a:rPr lang="zh-CN" altLang="en-US" sz="2800" dirty="0">
                <a:solidFill>
                  <a:srgbClr val="000A14"/>
                </a:solidFill>
                <a:latin typeface="楷体_GB2312" pitchFamily="1" charset="-122"/>
                <a:ea typeface="楷体_GB2312" pitchFamily="1" charset="-122"/>
              </a:rPr>
              <a:t>增量模型结合了原型模型的基本要素和迭代的特征，采用了基于时间的线性序列，每个确定线性序列都会输出该软件的一个</a:t>
            </a:r>
            <a:r>
              <a:rPr lang="zh-CN" altLang="en-US" sz="2800" dirty="0">
                <a:solidFill>
                  <a:srgbClr val="000A14"/>
                </a:solidFill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lang="zh-CN" altLang="en-US" sz="2800" dirty="0">
                <a:solidFill>
                  <a:srgbClr val="000A14"/>
                </a:solidFill>
                <a:latin typeface="楷体_GB2312" pitchFamily="1" charset="-122"/>
                <a:ea typeface="楷体_GB2312" pitchFamily="1" charset="-122"/>
              </a:rPr>
              <a:t>增量</a:t>
            </a:r>
            <a:r>
              <a:rPr lang="zh-CN" altLang="en-US" sz="2800" dirty="0">
                <a:solidFill>
                  <a:srgbClr val="000A14"/>
                </a:solidFill>
                <a:latin typeface="Arial" panose="020B0604020202020204" pitchFamily="34" charset="0"/>
                <a:ea typeface="楷体_GB2312" pitchFamily="1" charset="-122"/>
              </a:rPr>
              <a:t>”</a:t>
            </a:r>
            <a:r>
              <a:rPr lang="zh-CN" altLang="en-US" sz="2800" dirty="0">
                <a:solidFill>
                  <a:srgbClr val="000A14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sz="2800" dirty="0">
              <a:solidFill>
                <a:srgbClr val="000A14"/>
              </a:solidFill>
              <a:latin typeface="楷体_GB2312" pitchFamily="1" charset="-122"/>
              <a:ea typeface="楷体_GB2312" pitchFamily="1" charset="-122"/>
            </a:endParaRPr>
          </a:p>
          <a:p>
            <a:pPr lvl="0" indent="711200" algn="just">
              <a:lnSpc>
                <a:spcPct val="120000"/>
              </a:lnSpc>
              <a:spcBef>
                <a:spcPct val="25000"/>
              </a:spcBef>
            </a:pPr>
            <a:endParaRPr lang="en-US" altLang="zh-CN" dirty="0">
              <a:latin typeface="楷体_GB2312" pitchFamily="1" charset="-122"/>
              <a:ea typeface="楷体_GB2312" pitchFamily="1" charset="-122"/>
            </a:endParaRPr>
          </a:p>
        </p:txBody>
      </p:sp>
      <p:pic>
        <p:nvPicPr>
          <p:cNvPr id="34820" name="Picture 4" descr="P1_2_5"/>
          <p:cNvPicPr>
            <a:picLocks noChangeAspect="1"/>
          </p:cNvPicPr>
          <p:nvPr>
            <p:ph sz="half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823913" y="3214688"/>
            <a:ext cx="7748587" cy="2916237"/>
          </a:xfr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charRg st="0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  <p:bldP spid="3482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增量模型特点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500063" y="1000125"/>
            <a:ext cx="8229600" cy="4933950"/>
          </a:xfrm>
        </p:spPr>
        <p:txBody>
          <a:bodyPr vert="horz" wrap="square" lIns="91440" tIns="45720" rIns="91440" bIns="45720" anchor="t" anchorCtr="0"/>
          <a:p>
            <a:r>
              <a:rPr lang="zh-CN" altLang="en-US" dirty="0">
                <a:solidFill>
                  <a:srgbClr val="000A14"/>
                </a:solidFill>
                <a:ea typeface="宋体" panose="02010600030101010101" pitchFamily="2" charset="-122"/>
              </a:rPr>
              <a:t>增量</a:t>
            </a:r>
            <a:endParaRPr lang="zh-CN" altLang="en-US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小而可用的软件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000A14"/>
                </a:solidFill>
                <a:ea typeface="宋体" panose="02010600030101010101" pitchFamily="2" charset="-122"/>
              </a:rPr>
              <a:t>特点</a:t>
            </a:r>
            <a:endParaRPr lang="zh-CN" altLang="en-US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在前面增量的基础上开发后面的增量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每个增量的开发可用瀑布或原型模型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迭代的思路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35844" name="Picture 4" descr="P1_2_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4143375"/>
            <a:ext cx="7748587" cy="1987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584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3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35843">
                                            <p:txEl>
                                              <p:charRg st="3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1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5843">
                                            <p:txEl>
                                              <p:charRg st="11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14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5843">
                                            <p:txEl>
                                              <p:charRg st="14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31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5843">
                                            <p:txEl>
                                              <p:charRg st="31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charRg st="48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5843">
                                            <p:txEl>
                                              <p:charRg st="48" end="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增量模型的优缺点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Rectangle 3"/>
          <p:cNvSpPr>
            <a:spLocks noGrp="1" noRot="1"/>
          </p:cNvSpPr>
          <p:nvPr>
            <p:ph type="body"/>
          </p:nvPr>
        </p:nvSpPr>
        <p:spPr>
          <a:xfrm>
            <a:off x="428625" y="1812925"/>
            <a:ext cx="8229600" cy="4498975"/>
          </a:xfrm>
        </p:spPr>
        <p:txBody>
          <a:bodyPr vert="horz" wrap="square" lIns="91440" tIns="45720" rIns="91440" bIns="45720" anchor="t" anchorCtr="0"/>
          <a:p>
            <a:pPr marL="457200" indent="-457200" algn="just">
              <a:buFont typeface="Verdana" panose="020B0604030504040204" pitchFamily="34" charset="0"/>
              <a:buAutoNum type="arabicPeriod"/>
            </a:pPr>
            <a:r>
              <a:rPr lang="zh-CN" altLang="en-US" dirty="0">
                <a:solidFill>
                  <a:srgbClr val="000A14"/>
                </a:solidFill>
                <a:ea typeface="宋体" panose="02010600030101010101" pitchFamily="2" charset="-122"/>
              </a:rPr>
              <a:t>增量包概念的引入，以及它不需要提供完整的需求。只要有一个增量包出现，开发就可以进行。</a:t>
            </a:r>
            <a:endParaRPr lang="zh-CN" altLang="en-US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marL="457200" indent="-457200" algn="just">
              <a:buFont typeface="Verdana" panose="020B0604030504040204" pitchFamily="34" charset="0"/>
              <a:buAutoNum type="arabicPeriod"/>
            </a:pPr>
            <a:r>
              <a:rPr lang="zh-CN" altLang="en-US" dirty="0">
                <a:solidFill>
                  <a:srgbClr val="000A14"/>
                </a:solidFill>
                <a:ea typeface="宋体" panose="02010600030101010101" pitchFamily="2" charset="-122"/>
              </a:rPr>
              <a:t>在项目的初始阶段不需要投入太多的人力资源。</a:t>
            </a:r>
            <a:endParaRPr lang="zh-CN" altLang="en-US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marL="457200" indent="-457200" algn="just">
              <a:buFont typeface="Verdana" panose="020B0604030504040204" pitchFamily="34" charset="0"/>
              <a:buAutoNum type="arabicPeriod"/>
            </a:pPr>
            <a:r>
              <a:rPr lang="zh-CN" altLang="en-US" dirty="0">
                <a:solidFill>
                  <a:srgbClr val="000A14"/>
                </a:solidFill>
                <a:ea typeface="宋体" panose="02010600030101010101" pitchFamily="2" charset="-122"/>
              </a:rPr>
              <a:t>增量可以有效地管理技术风险。</a:t>
            </a:r>
            <a:endParaRPr lang="zh-CN" altLang="en-US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marL="457200" indent="-457200">
              <a:buNone/>
            </a:pPr>
            <a:endParaRPr lang="zh-CN" altLang="en-US" sz="2000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endParaRPr lang="zh-CN" altLang="en-US" sz="2400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endParaRPr lang="zh-CN" altLang="en-US" sz="2000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  <p:sp>
        <p:nvSpPr>
          <p:cNvPr id="36868" name="AutoShape 11"/>
          <p:cNvSpPr>
            <a:spLocks noChangeArrowheads="1"/>
          </p:cNvSpPr>
          <p:nvPr/>
        </p:nvSpPr>
        <p:spPr bwMode="auto">
          <a:xfrm>
            <a:off x="752475" y="1214438"/>
            <a:ext cx="1858963" cy="539750"/>
          </a:xfrm>
          <a:prstGeom prst="flowChartTerminator">
            <a:avLst/>
          </a:prstGeom>
          <a:solidFill>
            <a:schemeClr val="accent2"/>
          </a:solidFill>
          <a:ln w="12700" cmpd="sng">
            <a:solidFill>
              <a:schemeClr val="tx1"/>
            </a:solidFill>
            <a:miter lim="800000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Advantages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3686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" fill="hold"/>
                                        <p:tgtEl>
                                          <p:spTgt spid="36867">
                                            <p:txEl>
                                              <p:charRg st="0" end="4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" fill="hold"/>
                                        <p:tgtEl>
                                          <p:spTgt spid="36867">
                                            <p:txEl>
                                              <p:charRg st="43" end="65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" fill="hold"/>
                                        <p:tgtEl>
                                          <p:spTgt spid="36867">
                                            <p:txEl>
                                              <p:charRg st="65" end="8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zh-CN" dirty="0">
              <a:ea typeface="宋体" panose="02010600030101010101" pitchFamily="2" charset="-122"/>
            </a:endParaRP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457200" indent="-457200">
              <a:buNone/>
            </a:pPr>
            <a:endParaRPr lang="en-US" altLang="zh-CN" sz="2400" dirty="0">
              <a:ea typeface="宋体" panose="02010600030101010101" pitchFamily="2" charset="-122"/>
            </a:endParaRPr>
          </a:p>
          <a:p>
            <a:pPr marL="457200" indent="-457200"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marL="457200" indent="-457200">
              <a:buFont typeface="Verdana" panose="020B0604030504040204" pitchFamily="34" charset="0"/>
              <a:buAutoNum type="arabicPeriod"/>
            </a:pPr>
            <a:r>
              <a:rPr lang="zh-CN" altLang="en-US" dirty="0">
                <a:solidFill>
                  <a:srgbClr val="000A14"/>
                </a:solidFill>
                <a:ea typeface="宋体" panose="02010600030101010101" pitchFamily="2" charset="-122"/>
              </a:rPr>
              <a:t>每个增量必须提供一些系统功能，这使得开发者很难根据客户需求给出大小适合的增量。</a:t>
            </a:r>
            <a:endParaRPr lang="zh-CN" altLang="en-US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marL="457200" indent="-457200">
              <a:buFont typeface="Verdana" panose="020B0604030504040204" pitchFamily="34" charset="0"/>
              <a:buAutoNum type="arabicPeriod"/>
            </a:pPr>
            <a:r>
              <a:rPr lang="zh-CN" altLang="en-US" dirty="0">
                <a:solidFill>
                  <a:srgbClr val="000A14"/>
                </a:solidFill>
                <a:ea typeface="宋体" panose="02010600030101010101" pitchFamily="2" charset="-122"/>
              </a:rPr>
              <a:t>新增量构件的集成问题。</a:t>
            </a:r>
            <a:endParaRPr lang="zh-CN" altLang="en-US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marL="457200" indent="-457200">
              <a:buFont typeface="Wingdings" panose="05000000000000000000" pitchFamily="2" charset="2"/>
              <a:buAutoNum type="arabicPeriod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7892" name="AutoShape 12"/>
          <p:cNvSpPr>
            <a:spLocks noChangeArrowheads="1"/>
          </p:cNvSpPr>
          <p:nvPr/>
        </p:nvSpPr>
        <p:spPr bwMode="auto">
          <a:xfrm>
            <a:off x="785813" y="1214438"/>
            <a:ext cx="1943100" cy="522288"/>
          </a:xfrm>
          <a:prstGeom prst="flowChartTerminator">
            <a:avLst/>
          </a:prstGeom>
          <a:solidFill>
            <a:schemeClr val="accent1"/>
          </a:solidFill>
          <a:ln w="12700" cmpd="sng">
            <a:solidFill>
              <a:schemeClr val="tx1"/>
            </a:solidFill>
            <a:miter lim="800000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Disadvantages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3789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快速应用开发模型（</a:t>
            </a:r>
            <a:r>
              <a:rPr lang="en-US" altLang="zh-CN" sz="3600" dirty="0">
                <a:solidFill>
                  <a:srgbClr val="003F80"/>
                </a:solidFill>
                <a:ea typeface="宋体" panose="02010600030101010101" pitchFamily="2" charset="-122"/>
              </a:rPr>
              <a:t>RAD</a:t>
            </a:r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）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214313" y="1214438"/>
            <a:ext cx="8429625" cy="4933950"/>
          </a:xfrm>
        </p:spPr>
        <p:txBody>
          <a:bodyPr vert="horz" wrap="square" lIns="91440" tIns="45720" rIns="91440" bIns="45720" anchor="t" anchorCtr="0"/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快速应用开发模型（</a:t>
            </a:r>
            <a:r>
              <a:rPr lang="en-US" altLang="zh-CN" b="1" dirty="0">
                <a:solidFill>
                  <a:srgbClr val="000A14"/>
                </a:solidFill>
                <a:ea typeface="宋体" panose="02010600030101010101" pitchFamily="2" charset="-122"/>
              </a:rPr>
              <a:t>RAD</a:t>
            </a: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）是一个增量过程模型，强调短暂的开发周期。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0A14"/>
                </a:solidFill>
                <a:ea typeface="宋体" panose="02010600030101010101" pitchFamily="2" charset="-122"/>
              </a:rPr>
              <a:t>RAD </a:t>
            </a: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模型是瀑布模型的“高速”变体，通过基于组件的构建方法实现快速开发。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如果需求以及项目范围得到明确界定，</a:t>
            </a:r>
            <a:r>
              <a:rPr lang="en-US" altLang="zh-CN" b="1" dirty="0">
                <a:solidFill>
                  <a:srgbClr val="000A14"/>
                </a:solidFill>
                <a:ea typeface="宋体" panose="02010600030101010101" pitchFamily="2" charset="-122"/>
              </a:rPr>
              <a:t>RAD </a:t>
            </a: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能使开发团队在很短的时间内（如</a:t>
            </a:r>
            <a:r>
              <a:rPr lang="en-US" altLang="zh-CN" b="1" dirty="0">
                <a:solidFill>
                  <a:srgbClr val="000A14"/>
                </a:solidFill>
                <a:ea typeface="宋体" panose="02010600030101010101" pitchFamily="2" charset="-122"/>
              </a:rPr>
              <a:t>60 </a:t>
            </a: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到</a:t>
            </a:r>
            <a:r>
              <a:rPr lang="en-US" altLang="zh-CN" b="1" dirty="0">
                <a:solidFill>
                  <a:srgbClr val="000A14"/>
                </a:solidFill>
                <a:ea typeface="宋体" panose="02010600030101010101" pitchFamily="2" charset="-122"/>
              </a:rPr>
              <a:t>90 </a:t>
            </a: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天）建立一个“全功能系统”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34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charRg st="34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charRg st="72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charRg st="72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快速应用开发模型（</a:t>
            </a:r>
            <a:r>
              <a:rPr lang="en-US" altLang="zh-CN" sz="3600" dirty="0">
                <a:solidFill>
                  <a:srgbClr val="003F80"/>
                </a:solidFill>
                <a:ea typeface="宋体" panose="02010600030101010101" pitchFamily="2" charset="-122"/>
              </a:rPr>
              <a:t>RAD</a:t>
            </a:r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）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pic>
        <p:nvPicPr>
          <p:cNvPr id="39939" name="内容占位符 5"/>
          <p:cNvPicPr>
            <a:picLocks noGrp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749300" y="1071563"/>
            <a:ext cx="7894638" cy="4933950"/>
          </a:xfr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sz="3600" dirty="0">
                <a:solidFill>
                  <a:srgbClr val="003F80"/>
                </a:solidFill>
                <a:ea typeface="宋体" panose="02010600030101010101" pitchFamily="2" charset="-122"/>
              </a:rPr>
              <a:t>RAD </a:t>
            </a:r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模型也有它的不足之处：</a:t>
            </a:r>
            <a:b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</a:b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/>
            <a:r>
              <a:rPr lang="en-US" altLang="zh-CN" b="1" dirty="0">
                <a:solidFill>
                  <a:srgbClr val="001933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1933"/>
                </a:solidFill>
                <a:ea typeface="宋体" panose="02010600030101010101" pitchFamily="2" charset="-122"/>
              </a:rPr>
              <a:t>）对大型项目而言，</a:t>
            </a:r>
            <a:r>
              <a:rPr lang="en-US" altLang="zh-CN" b="1" dirty="0">
                <a:solidFill>
                  <a:srgbClr val="001933"/>
                </a:solidFill>
                <a:ea typeface="宋体" panose="02010600030101010101" pitchFamily="2" charset="-122"/>
              </a:rPr>
              <a:t>RAD </a:t>
            </a:r>
            <a:r>
              <a:rPr lang="zh-CN" altLang="en-US" b="1" dirty="0">
                <a:solidFill>
                  <a:srgbClr val="001933"/>
                </a:solidFill>
                <a:ea typeface="宋体" panose="02010600030101010101" pitchFamily="2" charset="-122"/>
              </a:rPr>
              <a:t>需要足够的人力资源。</a:t>
            </a:r>
            <a:endParaRPr lang="zh-CN" altLang="en-US" b="1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1933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1933"/>
                </a:solidFill>
                <a:ea typeface="宋体" panose="02010600030101010101" pitchFamily="2" charset="-122"/>
              </a:rPr>
              <a:t>）开发者和客户都要实现承诺，否则将导致失败。</a:t>
            </a:r>
            <a:endParaRPr lang="zh-CN" altLang="en-US" b="1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1933"/>
                </a:solidFill>
                <a:ea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001933"/>
                </a:solidFill>
                <a:ea typeface="宋体" panose="02010600030101010101" pitchFamily="2" charset="-122"/>
              </a:rPr>
              <a:t>）并非所有系统都适合（不能合理模块化的系统、高性能需求并且要调整构件接口的、技术风险很高的系统均不适合）。</a:t>
            </a:r>
            <a:endParaRPr lang="zh-CN" altLang="en-US" b="1" dirty="0">
              <a:solidFill>
                <a:srgbClr val="001933"/>
              </a:solidFill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螺旋模型（</a:t>
            </a:r>
            <a:r>
              <a:rPr lang="en-US" altLang="zh-CN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Spiral Model</a:t>
            </a:r>
            <a:r>
              <a:rPr lang="zh-CN" altLang="en-US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endParaRPr lang="zh-CN" altLang="en-US" sz="3600" dirty="0">
              <a:solidFill>
                <a:srgbClr val="003F8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sp>
        <p:nvSpPr>
          <p:cNvPr id="41987" name="矩形 56"/>
          <p:cNvSpPr/>
          <p:nvPr/>
        </p:nvSpPr>
        <p:spPr>
          <a:xfrm>
            <a:off x="857250" y="1214438"/>
            <a:ext cx="7643813" cy="296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just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螺旋模型最早由</a:t>
            </a:r>
            <a:r>
              <a:rPr lang="en-US" altLang="zh-CN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Boehm </a:t>
            </a:r>
            <a:r>
              <a:rPr lang="zh-CN" altLang="en-US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在</a:t>
            </a:r>
            <a:r>
              <a:rPr lang="en-US" altLang="zh-CN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[Boehm1998]</a:t>
            </a:r>
            <a:r>
              <a:rPr lang="zh-CN" altLang="en-US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中提出，与</a:t>
            </a:r>
            <a:r>
              <a:rPr lang="en-US" altLang="zh-CN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RAD </a:t>
            </a:r>
            <a:r>
              <a:rPr lang="zh-CN" altLang="en-US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模型相似，该模型结合了瀑布模型和原型模型的特点。</a:t>
            </a:r>
            <a:endParaRPr lang="zh-CN" altLang="en-US" b="0" dirty="0">
              <a:solidFill>
                <a:srgbClr val="000A14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0" lvl="0" indent="0" algn="just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A1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螺旋模型强调风险管理，因此该模型适用于大型系统的开发。</a:t>
            </a:r>
            <a:endParaRPr lang="zh-CN" altLang="en-US" b="0" dirty="0">
              <a:solidFill>
                <a:srgbClr val="000A14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charRg st="0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charRg st="59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1987">
                                            <p:txEl>
                                              <p:charRg st="59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螺旋模型（</a:t>
            </a:r>
            <a:r>
              <a:rPr lang="en-US" altLang="zh-CN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Spiral Model</a:t>
            </a:r>
            <a:r>
              <a:rPr lang="zh-CN" altLang="en-US" sz="3600" dirty="0">
                <a:solidFill>
                  <a:srgbClr val="003F80"/>
                </a:solidFill>
                <a:latin typeface="楷体_GB2312" pitchFamily="1" charset="-122"/>
                <a:ea typeface="楷体_GB2312" pitchFamily="1" charset="-122"/>
              </a:rPr>
              <a:t>）</a:t>
            </a:r>
            <a:endParaRPr lang="zh-CN" altLang="en-US" sz="3600" dirty="0">
              <a:solidFill>
                <a:srgbClr val="003F80"/>
              </a:solidFill>
              <a:latin typeface="楷体_GB2312" pitchFamily="1" charset="-122"/>
              <a:ea typeface="楷体_GB2312" pitchFamily="1" charset="-122"/>
            </a:endParaRPr>
          </a:p>
        </p:txBody>
      </p:sp>
      <p:grpSp>
        <p:nvGrpSpPr>
          <p:cNvPr id="43011" name="Group 3"/>
          <p:cNvGrpSpPr>
            <a:grpSpLocks noChangeAspect="1"/>
          </p:cNvGrpSpPr>
          <p:nvPr/>
        </p:nvGrpSpPr>
        <p:grpSpPr>
          <a:xfrm>
            <a:off x="611188" y="1143000"/>
            <a:ext cx="8137525" cy="5241925"/>
            <a:chOff x="0" y="0"/>
            <a:chExt cx="5151" cy="3756"/>
          </a:xfrm>
        </p:grpSpPr>
        <p:sp>
          <p:nvSpPr>
            <p:cNvPr id="43012" name="Line 4"/>
            <p:cNvSpPr>
              <a:spLocks noChangeAspect="1" noChangeShapeType="1"/>
            </p:cNvSpPr>
            <p:nvPr/>
          </p:nvSpPr>
          <p:spPr bwMode="auto">
            <a:xfrm>
              <a:off x="222" y="2060"/>
              <a:ext cx="4619" cy="1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13" name="Line 5"/>
            <p:cNvSpPr>
              <a:spLocks noChangeAspect="1" noChangeShapeType="1"/>
            </p:cNvSpPr>
            <p:nvPr/>
          </p:nvSpPr>
          <p:spPr bwMode="auto">
            <a:xfrm>
              <a:off x="1722" y="0"/>
              <a:ext cx="0" cy="3756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 type="triangle" w="sm" len="lg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14" name="未知"/>
            <p:cNvSpPr>
              <a:spLocks noChangeAspect="1"/>
            </p:cNvSpPr>
            <p:nvPr/>
          </p:nvSpPr>
          <p:spPr bwMode="auto">
            <a:xfrm>
              <a:off x="944" y="1755"/>
              <a:ext cx="1838" cy="305"/>
            </a:xfrm>
            <a:custGeom>
              <a:avLst/>
              <a:gdLst>
                <a:gd name="T0" fmla="*/ 0 w 2821"/>
                <a:gd name="T1" fmla="*/ 305 h 469"/>
                <a:gd name="T2" fmla="*/ 43 w 2821"/>
                <a:gd name="T3" fmla="*/ 219 h 469"/>
                <a:gd name="T4" fmla="*/ 151 w 2821"/>
                <a:gd name="T5" fmla="*/ 133 h 469"/>
                <a:gd name="T6" fmla="*/ 437 w 2821"/>
                <a:gd name="T7" fmla="*/ 62 h 469"/>
                <a:gd name="T8" fmla="*/ 781 w 2821"/>
                <a:gd name="T9" fmla="*/ 33 h 469"/>
                <a:gd name="T10" fmla="*/ 1297 w 2821"/>
                <a:gd name="T11" fmla="*/ 26 h 469"/>
                <a:gd name="T12" fmla="*/ 1749 w 2821"/>
                <a:gd name="T13" fmla="*/ 191 h 469"/>
                <a:gd name="T14" fmla="*/ 1835 w 2821"/>
                <a:gd name="T15" fmla="*/ 305 h 46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821"/>
                <a:gd name="T25" fmla="*/ 0 h 469"/>
                <a:gd name="T26" fmla="*/ 2821 w 2821"/>
                <a:gd name="T27" fmla="*/ 469 h 46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821" h="469">
                  <a:moveTo>
                    <a:pt x="0" y="469"/>
                  </a:moveTo>
                  <a:cubicBezTo>
                    <a:pt x="14" y="425"/>
                    <a:pt x="28" y="381"/>
                    <a:pt x="66" y="337"/>
                  </a:cubicBezTo>
                  <a:cubicBezTo>
                    <a:pt x="104" y="293"/>
                    <a:pt x="130" y="245"/>
                    <a:pt x="231" y="205"/>
                  </a:cubicBezTo>
                  <a:cubicBezTo>
                    <a:pt x="332" y="165"/>
                    <a:pt x="510" y="121"/>
                    <a:pt x="671" y="95"/>
                  </a:cubicBezTo>
                  <a:cubicBezTo>
                    <a:pt x="832" y="69"/>
                    <a:pt x="979" y="60"/>
                    <a:pt x="1199" y="51"/>
                  </a:cubicBezTo>
                  <a:cubicBezTo>
                    <a:pt x="1419" y="42"/>
                    <a:pt x="1744" y="0"/>
                    <a:pt x="1991" y="40"/>
                  </a:cubicBezTo>
                  <a:cubicBezTo>
                    <a:pt x="2238" y="80"/>
                    <a:pt x="2547" y="222"/>
                    <a:pt x="2684" y="293"/>
                  </a:cubicBezTo>
                  <a:cubicBezTo>
                    <a:pt x="2821" y="364"/>
                    <a:pt x="2818" y="416"/>
                    <a:pt x="2816" y="469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15" name="未知"/>
            <p:cNvSpPr>
              <a:spLocks noChangeAspect="1"/>
            </p:cNvSpPr>
            <p:nvPr/>
          </p:nvSpPr>
          <p:spPr bwMode="auto">
            <a:xfrm>
              <a:off x="751" y="2059"/>
              <a:ext cx="2038" cy="413"/>
            </a:xfrm>
            <a:custGeom>
              <a:avLst/>
              <a:gdLst>
                <a:gd name="T0" fmla="*/ 2038 w 3201"/>
                <a:gd name="T1" fmla="*/ 0 h 614"/>
                <a:gd name="T2" fmla="*/ 1737 w 3201"/>
                <a:gd name="T3" fmla="*/ 289 h 614"/>
                <a:gd name="T4" fmla="*/ 1001 w 3201"/>
                <a:gd name="T5" fmla="*/ 407 h 614"/>
                <a:gd name="T6" fmla="*/ 196 w 3201"/>
                <a:gd name="T7" fmla="*/ 252 h 614"/>
                <a:gd name="T8" fmla="*/ 0 w 3201"/>
                <a:gd name="T9" fmla="*/ 0 h 6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01"/>
                <a:gd name="T16" fmla="*/ 0 h 614"/>
                <a:gd name="T17" fmla="*/ 3201 w 3201"/>
                <a:gd name="T18" fmla="*/ 614 h 6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01" h="614">
                  <a:moveTo>
                    <a:pt x="3201" y="0"/>
                  </a:moveTo>
                  <a:cubicBezTo>
                    <a:pt x="3100" y="164"/>
                    <a:pt x="2999" y="328"/>
                    <a:pt x="2728" y="429"/>
                  </a:cubicBezTo>
                  <a:cubicBezTo>
                    <a:pt x="2457" y="530"/>
                    <a:pt x="1976" y="614"/>
                    <a:pt x="1573" y="605"/>
                  </a:cubicBezTo>
                  <a:cubicBezTo>
                    <a:pt x="1170" y="596"/>
                    <a:pt x="570" y="475"/>
                    <a:pt x="308" y="374"/>
                  </a:cubicBezTo>
                  <a:cubicBezTo>
                    <a:pt x="46" y="273"/>
                    <a:pt x="51" y="62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16" name="未知"/>
            <p:cNvSpPr>
              <a:spLocks noChangeAspect="1"/>
            </p:cNvSpPr>
            <p:nvPr/>
          </p:nvSpPr>
          <p:spPr bwMode="auto">
            <a:xfrm>
              <a:off x="769" y="1410"/>
              <a:ext cx="2569" cy="660"/>
            </a:xfrm>
            <a:custGeom>
              <a:avLst/>
              <a:gdLst>
                <a:gd name="T0" fmla="*/ 0 w 3960"/>
                <a:gd name="T1" fmla="*/ 660 h 1016"/>
                <a:gd name="T2" fmla="*/ 243 w 3960"/>
                <a:gd name="T3" fmla="*/ 324 h 1016"/>
                <a:gd name="T4" fmla="*/ 963 w 3960"/>
                <a:gd name="T5" fmla="*/ 38 h 1016"/>
                <a:gd name="T6" fmla="*/ 1912 w 3960"/>
                <a:gd name="T7" fmla="*/ 95 h 1016"/>
                <a:gd name="T8" fmla="*/ 2433 w 3960"/>
                <a:gd name="T9" fmla="*/ 496 h 1016"/>
                <a:gd name="T10" fmla="*/ 2569 w 3960"/>
                <a:gd name="T11" fmla="*/ 660 h 10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60"/>
                <a:gd name="T19" fmla="*/ 0 h 1016"/>
                <a:gd name="T20" fmla="*/ 3960 w 3960"/>
                <a:gd name="T21" fmla="*/ 1016 h 101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60" h="1016">
                  <a:moveTo>
                    <a:pt x="0" y="1016"/>
                  </a:moveTo>
                  <a:cubicBezTo>
                    <a:pt x="63" y="837"/>
                    <a:pt x="127" y="658"/>
                    <a:pt x="374" y="499"/>
                  </a:cubicBezTo>
                  <a:cubicBezTo>
                    <a:pt x="621" y="340"/>
                    <a:pt x="1056" y="118"/>
                    <a:pt x="1485" y="59"/>
                  </a:cubicBezTo>
                  <a:cubicBezTo>
                    <a:pt x="1914" y="0"/>
                    <a:pt x="2570" y="30"/>
                    <a:pt x="2948" y="147"/>
                  </a:cubicBezTo>
                  <a:cubicBezTo>
                    <a:pt x="3326" y="264"/>
                    <a:pt x="3583" y="618"/>
                    <a:pt x="3751" y="763"/>
                  </a:cubicBezTo>
                  <a:cubicBezTo>
                    <a:pt x="3919" y="908"/>
                    <a:pt x="3923" y="976"/>
                    <a:pt x="3960" y="1016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17" name="未知"/>
            <p:cNvSpPr>
              <a:spLocks noChangeAspect="1"/>
            </p:cNvSpPr>
            <p:nvPr/>
          </p:nvSpPr>
          <p:spPr bwMode="auto">
            <a:xfrm>
              <a:off x="563" y="2052"/>
              <a:ext cx="2807" cy="718"/>
            </a:xfrm>
            <a:custGeom>
              <a:avLst/>
              <a:gdLst>
                <a:gd name="T0" fmla="*/ 2774 w 4292"/>
                <a:gd name="T1" fmla="*/ 0 h 1104"/>
                <a:gd name="T2" fmla="*/ 2760 w 4292"/>
                <a:gd name="T3" fmla="*/ 157 h 1104"/>
                <a:gd name="T4" fmla="*/ 2508 w 4292"/>
                <a:gd name="T5" fmla="*/ 479 h 1104"/>
                <a:gd name="T6" fmla="*/ 2048 w 4292"/>
                <a:gd name="T7" fmla="*/ 622 h 1104"/>
                <a:gd name="T8" fmla="*/ 1157 w 4292"/>
                <a:gd name="T9" fmla="*/ 680 h 1104"/>
                <a:gd name="T10" fmla="*/ 244 w 4292"/>
                <a:gd name="T11" fmla="*/ 393 h 1104"/>
                <a:gd name="T12" fmla="*/ 0 w 4292"/>
                <a:gd name="T13" fmla="*/ 0 h 1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292"/>
                <a:gd name="T22" fmla="*/ 0 h 1104"/>
                <a:gd name="T23" fmla="*/ 4292 w 4292"/>
                <a:gd name="T24" fmla="*/ 1104 h 110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292" h="1104">
                  <a:moveTo>
                    <a:pt x="4246" y="0"/>
                  </a:moveTo>
                  <a:cubicBezTo>
                    <a:pt x="4269" y="59"/>
                    <a:pt x="4292" y="119"/>
                    <a:pt x="4224" y="242"/>
                  </a:cubicBezTo>
                  <a:cubicBezTo>
                    <a:pt x="4156" y="365"/>
                    <a:pt x="4020" y="618"/>
                    <a:pt x="3839" y="737"/>
                  </a:cubicBezTo>
                  <a:cubicBezTo>
                    <a:pt x="3658" y="856"/>
                    <a:pt x="3479" y="906"/>
                    <a:pt x="3135" y="957"/>
                  </a:cubicBezTo>
                  <a:cubicBezTo>
                    <a:pt x="2791" y="1008"/>
                    <a:pt x="2231" y="1104"/>
                    <a:pt x="1771" y="1045"/>
                  </a:cubicBezTo>
                  <a:cubicBezTo>
                    <a:pt x="1311" y="986"/>
                    <a:pt x="669" y="779"/>
                    <a:pt x="374" y="605"/>
                  </a:cubicBezTo>
                  <a:cubicBezTo>
                    <a:pt x="79" y="431"/>
                    <a:pt x="62" y="95"/>
                    <a:pt x="0" y="0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18" name="未知"/>
            <p:cNvSpPr>
              <a:spLocks noChangeAspect="1"/>
            </p:cNvSpPr>
            <p:nvPr/>
          </p:nvSpPr>
          <p:spPr bwMode="auto">
            <a:xfrm>
              <a:off x="333" y="808"/>
              <a:ext cx="4374" cy="2307"/>
            </a:xfrm>
            <a:custGeom>
              <a:avLst/>
              <a:gdLst>
                <a:gd name="T0" fmla="*/ 239 w 6748"/>
                <a:gd name="T1" fmla="*/ 1308 h 3694"/>
                <a:gd name="T2" fmla="*/ 374 w 6748"/>
                <a:gd name="T3" fmla="*/ 986 h 3694"/>
                <a:gd name="T4" fmla="*/ 723 w 6748"/>
                <a:gd name="T5" fmla="*/ 635 h 3694"/>
                <a:gd name="T6" fmla="*/ 1379 w 6748"/>
                <a:gd name="T7" fmla="*/ 402 h 3694"/>
                <a:gd name="T8" fmla="*/ 2584 w 6748"/>
                <a:gd name="T9" fmla="*/ 429 h 3694"/>
                <a:gd name="T10" fmla="*/ 3383 w 6748"/>
                <a:gd name="T11" fmla="*/ 889 h 3694"/>
                <a:gd name="T12" fmla="*/ 3661 w 6748"/>
                <a:gd name="T13" fmla="*/ 1308 h 3694"/>
                <a:gd name="T14" fmla="*/ 3176 w 6748"/>
                <a:gd name="T15" fmla="*/ 1940 h 3694"/>
                <a:gd name="T16" fmla="*/ 2114 w 6748"/>
                <a:gd name="T17" fmla="*/ 2250 h 3694"/>
                <a:gd name="T18" fmla="*/ 1379 w 6748"/>
                <a:gd name="T19" fmla="*/ 2256 h 3694"/>
                <a:gd name="T20" fmla="*/ 403 w 6748"/>
                <a:gd name="T21" fmla="*/ 1947 h 3694"/>
                <a:gd name="T22" fmla="*/ 10 w 6748"/>
                <a:gd name="T23" fmla="*/ 1302 h 3694"/>
                <a:gd name="T24" fmla="*/ 338 w 6748"/>
                <a:gd name="T25" fmla="*/ 587 h 3694"/>
                <a:gd name="T26" fmla="*/ 1009 w 6748"/>
                <a:gd name="T27" fmla="*/ 216 h 3694"/>
                <a:gd name="T28" fmla="*/ 1386 w 6748"/>
                <a:gd name="T29" fmla="*/ 86 h 3694"/>
                <a:gd name="T30" fmla="*/ 2107 w 6748"/>
                <a:gd name="T31" fmla="*/ 10 h 3694"/>
                <a:gd name="T32" fmla="*/ 3112 w 6748"/>
                <a:gd name="T33" fmla="*/ 141 h 3694"/>
                <a:gd name="T34" fmla="*/ 4160 w 6748"/>
                <a:gd name="T35" fmla="*/ 855 h 3694"/>
                <a:gd name="T36" fmla="*/ 4374 w 6748"/>
                <a:gd name="T37" fmla="*/ 1308 h 369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748"/>
                <a:gd name="T58" fmla="*/ 0 h 3694"/>
                <a:gd name="T59" fmla="*/ 6748 w 6748"/>
                <a:gd name="T60" fmla="*/ 3694 h 369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748" h="3694">
                  <a:moveTo>
                    <a:pt x="368" y="2095"/>
                  </a:moveTo>
                  <a:cubicBezTo>
                    <a:pt x="410" y="1926"/>
                    <a:pt x="452" y="1758"/>
                    <a:pt x="577" y="1578"/>
                  </a:cubicBezTo>
                  <a:cubicBezTo>
                    <a:pt x="702" y="1398"/>
                    <a:pt x="858" y="1173"/>
                    <a:pt x="1116" y="1017"/>
                  </a:cubicBezTo>
                  <a:cubicBezTo>
                    <a:pt x="1374" y="861"/>
                    <a:pt x="1650" y="698"/>
                    <a:pt x="2128" y="643"/>
                  </a:cubicBezTo>
                  <a:cubicBezTo>
                    <a:pt x="2606" y="588"/>
                    <a:pt x="3472" y="557"/>
                    <a:pt x="3987" y="687"/>
                  </a:cubicBezTo>
                  <a:cubicBezTo>
                    <a:pt x="4502" y="817"/>
                    <a:pt x="4942" y="1189"/>
                    <a:pt x="5219" y="1424"/>
                  </a:cubicBezTo>
                  <a:cubicBezTo>
                    <a:pt x="5496" y="1659"/>
                    <a:pt x="5701" y="1815"/>
                    <a:pt x="5648" y="2095"/>
                  </a:cubicBezTo>
                  <a:cubicBezTo>
                    <a:pt x="5595" y="2375"/>
                    <a:pt x="5298" y="2856"/>
                    <a:pt x="4900" y="3107"/>
                  </a:cubicBezTo>
                  <a:cubicBezTo>
                    <a:pt x="4502" y="3358"/>
                    <a:pt x="3723" y="3518"/>
                    <a:pt x="3261" y="3602"/>
                  </a:cubicBezTo>
                  <a:cubicBezTo>
                    <a:pt x="2799" y="3686"/>
                    <a:pt x="2568" y="3694"/>
                    <a:pt x="2128" y="3613"/>
                  </a:cubicBezTo>
                  <a:cubicBezTo>
                    <a:pt x="1688" y="3532"/>
                    <a:pt x="973" y="3373"/>
                    <a:pt x="621" y="3118"/>
                  </a:cubicBezTo>
                  <a:cubicBezTo>
                    <a:pt x="269" y="2863"/>
                    <a:pt x="32" y="2447"/>
                    <a:pt x="16" y="2084"/>
                  </a:cubicBezTo>
                  <a:cubicBezTo>
                    <a:pt x="0" y="1721"/>
                    <a:pt x="265" y="1230"/>
                    <a:pt x="522" y="940"/>
                  </a:cubicBezTo>
                  <a:cubicBezTo>
                    <a:pt x="779" y="650"/>
                    <a:pt x="1287" y="480"/>
                    <a:pt x="1556" y="346"/>
                  </a:cubicBezTo>
                  <a:cubicBezTo>
                    <a:pt x="1825" y="212"/>
                    <a:pt x="1857" y="192"/>
                    <a:pt x="2139" y="137"/>
                  </a:cubicBezTo>
                  <a:cubicBezTo>
                    <a:pt x="2421" y="82"/>
                    <a:pt x="2806" y="1"/>
                    <a:pt x="3250" y="16"/>
                  </a:cubicBezTo>
                  <a:cubicBezTo>
                    <a:pt x="3694" y="31"/>
                    <a:pt x="4273" y="0"/>
                    <a:pt x="4801" y="225"/>
                  </a:cubicBezTo>
                  <a:cubicBezTo>
                    <a:pt x="5329" y="450"/>
                    <a:pt x="6094" y="1057"/>
                    <a:pt x="6418" y="1369"/>
                  </a:cubicBezTo>
                  <a:cubicBezTo>
                    <a:pt x="6742" y="1681"/>
                    <a:pt x="6745" y="1888"/>
                    <a:pt x="6748" y="2095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19" name="未知"/>
            <p:cNvSpPr>
              <a:spLocks noChangeAspect="1"/>
            </p:cNvSpPr>
            <p:nvPr/>
          </p:nvSpPr>
          <p:spPr bwMode="auto">
            <a:xfrm>
              <a:off x="1720" y="2060"/>
              <a:ext cx="2996" cy="1537"/>
            </a:xfrm>
            <a:custGeom>
              <a:avLst/>
              <a:gdLst>
                <a:gd name="T0" fmla="*/ 2996 w 4620"/>
                <a:gd name="T1" fmla="*/ 0 h 2255"/>
                <a:gd name="T2" fmla="*/ 2768 w 4620"/>
                <a:gd name="T3" fmla="*/ 562 h 2255"/>
                <a:gd name="T4" fmla="*/ 2097 w 4620"/>
                <a:gd name="T5" fmla="*/ 1140 h 2255"/>
                <a:gd name="T6" fmla="*/ 970 w 4620"/>
                <a:gd name="T7" fmla="*/ 1455 h 2255"/>
                <a:gd name="T8" fmla="*/ 0 w 4620"/>
                <a:gd name="T9" fmla="*/ 1537 h 22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20"/>
                <a:gd name="T16" fmla="*/ 0 h 2255"/>
                <a:gd name="T17" fmla="*/ 4620 w 4620"/>
                <a:gd name="T18" fmla="*/ 2255 h 22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20" h="2255">
                  <a:moveTo>
                    <a:pt x="4620" y="0"/>
                  </a:moveTo>
                  <a:cubicBezTo>
                    <a:pt x="4559" y="273"/>
                    <a:pt x="4499" y="546"/>
                    <a:pt x="4268" y="825"/>
                  </a:cubicBezTo>
                  <a:cubicBezTo>
                    <a:pt x="4037" y="1104"/>
                    <a:pt x="3696" y="1454"/>
                    <a:pt x="3234" y="1672"/>
                  </a:cubicBezTo>
                  <a:cubicBezTo>
                    <a:pt x="2772" y="1890"/>
                    <a:pt x="2035" y="2037"/>
                    <a:pt x="1496" y="2134"/>
                  </a:cubicBezTo>
                  <a:cubicBezTo>
                    <a:pt x="957" y="2231"/>
                    <a:pt x="249" y="2235"/>
                    <a:pt x="0" y="2255"/>
                  </a:cubicBezTo>
                </a:path>
              </a:pathLst>
            </a:custGeom>
            <a:noFill/>
            <a:ln w="12700" cmpd="sng">
              <a:solidFill>
                <a:srgbClr val="000000"/>
              </a:solidFill>
              <a:miter lim="800000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20" name="Line 12"/>
            <p:cNvSpPr>
              <a:spLocks noChangeAspect="1" noChangeShapeType="1"/>
            </p:cNvSpPr>
            <p:nvPr/>
          </p:nvSpPr>
          <p:spPr bwMode="auto">
            <a:xfrm flipV="1">
              <a:off x="1722" y="1331"/>
              <a:ext cx="2325" cy="72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21" name="Line 13"/>
            <p:cNvSpPr>
              <a:spLocks noChangeAspect="1" noChangeShapeType="1"/>
            </p:cNvSpPr>
            <p:nvPr/>
          </p:nvSpPr>
          <p:spPr bwMode="auto">
            <a:xfrm>
              <a:off x="1722" y="2060"/>
              <a:ext cx="2858" cy="428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22" name="Text Box 14"/>
            <p:cNvSpPr txBox="1">
              <a:spLocks noChangeAspect="1" noChangeArrowheads="1"/>
            </p:cNvSpPr>
            <p:nvPr/>
          </p:nvSpPr>
          <p:spPr bwMode="auto">
            <a:xfrm>
              <a:off x="1062" y="1900"/>
              <a:ext cx="689" cy="29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生命周期计划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需求计划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3" name="Text Box 15"/>
            <p:cNvSpPr txBox="1">
              <a:spLocks noChangeAspect="1" noChangeArrowheads="1"/>
            </p:cNvSpPr>
            <p:nvPr/>
          </p:nvSpPr>
          <p:spPr bwMode="auto">
            <a:xfrm>
              <a:off x="1752" y="1782"/>
              <a:ext cx="499" cy="15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风险分析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4" name="Text Box 16"/>
            <p:cNvSpPr txBox="1">
              <a:spLocks noChangeAspect="1" noChangeArrowheads="1"/>
            </p:cNvSpPr>
            <p:nvPr/>
          </p:nvSpPr>
          <p:spPr bwMode="auto">
            <a:xfrm>
              <a:off x="2243" y="1902"/>
              <a:ext cx="348" cy="15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原型1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5" name="Text Box 17"/>
            <p:cNvSpPr txBox="1">
              <a:spLocks noChangeAspect="1" noChangeArrowheads="1"/>
            </p:cNvSpPr>
            <p:nvPr/>
          </p:nvSpPr>
          <p:spPr bwMode="auto">
            <a:xfrm>
              <a:off x="2766" y="1823"/>
              <a:ext cx="348" cy="15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原型2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6" name="Text Box 18"/>
            <p:cNvSpPr txBox="1">
              <a:spLocks noChangeAspect="1" noChangeArrowheads="1"/>
            </p:cNvSpPr>
            <p:nvPr/>
          </p:nvSpPr>
          <p:spPr bwMode="auto">
            <a:xfrm>
              <a:off x="3360" y="1759"/>
              <a:ext cx="349" cy="15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原型3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7" name="Text Box 19"/>
            <p:cNvSpPr txBox="1">
              <a:spLocks noChangeAspect="1" noChangeArrowheads="1"/>
            </p:cNvSpPr>
            <p:nvPr/>
          </p:nvSpPr>
          <p:spPr bwMode="auto">
            <a:xfrm>
              <a:off x="3936" y="1536"/>
              <a:ext cx="420" cy="30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可操作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的原型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8" name="Text Box 20"/>
            <p:cNvSpPr txBox="1">
              <a:spLocks noChangeAspect="1" noChangeArrowheads="1"/>
            </p:cNvSpPr>
            <p:nvPr/>
          </p:nvSpPr>
          <p:spPr bwMode="auto">
            <a:xfrm>
              <a:off x="2900" y="2084"/>
              <a:ext cx="317" cy="15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建模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29" name="Text Box 21"/>
            <p:cNvSpPr txBox="1">
              <a:spLocks noChangeAspect="1" noChangeArrowheads="1"/>
            </p:cNvSpPr>
            <p:nvPr/>
          </p:nvSpPr>
          <p:spPr bwMode="auto">
            <a:xfrm>
              <a:off x="3495" y="2116"/>
              <a:ext cx="317" cy="17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模拟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0" name="Text Box 22"/>
            <p:cNvSpPr txBox="1">
              <a:spLocks noChangeAspect="1" noChangeArrowheads="1"/>
            </p:cNvSpPr>
            <p:nvPr/>
          </p:nvSpPr>
          <p:spPr bwMode="auto">
            <a:xfrm>
              <a:off x="4145" y="2195"/>
              <a:ext cx="332" cy="15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评价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1" name="Text Box 23"/>
            <p:cNvSpPr txBox="1">
              <a:spLocks noChangeAspect="1" noChangeArrowheads="1"/>
            </p:cNvSpPr>
            <p:nvPr/>
          </p:nvSpPr>
          <p:spPr bwMode="auto">
            <a:xfrm>
              <a:off x="1839" y="2195"/>
              <a:ext cx="531" cy="14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操作概念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2" name="Text Box 24"/>
            <p:cNvSpPr txBox="1">
              <a:spLocks noChangeAspect="1" noChangeArrowheads="1"/>
            </p:cNvSpPr>
            <p:nvPr/>
          </p:nvSpPr>
          <p:spPr bwMode="auto">
            <a:xfrm>
              <a:off x="2599" y="2334"/>
              <a:ext cx="581" cy="18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软件需求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3" name="Text Box 25"/>
            <p:cNvSpPr txBox="1">
              <a:spLocks noChangeAspect="1" noChangeArrowheads="1"/>
            </p:cNvSpPr>
            <p:nvPr/>
          </p:nvSpPr>
          <p:spPr bwMode="auto">
            <a:xfrm>
              <a:off x="1846" y="2506"/>
              <a:ext cx="524" cy="14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需求确认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4" name="Text Box 26"/>
            <p:cNvSpPr txBox="1">
              <a:spLocks noChangeAspect="1" noChangeArrowheads="1"/>
            </p:cNvSpPr>
            <p:nvPr/>
          </p:nvSpPr>
          <p:spPr bwMode="auto">
            <a:xfrm>
              <a:off x="1056" y="1389"/>
              <a:ext cx="497" cy="14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开发计划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5" name="Text Box 27"/>
            <p:cNvSpPr txBox="1">
              <a:spLocks noChangeAspect="1" noChangeArrowheads="1"/>
            </p:cNvSpPr>
            <p:nvPr/>
          </p:nvSpPr>
          <p:spPr bwMode="auto">
            <a:xfrm>
              <a:off x="999" y="2728"/>
              <a:ext cx="705" cy="15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组装测试计划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6" name="Text Box 28"/>
            <p:cNvSpPr txBox="1">
              <a:spLocks noChangeAspect="1" noChangeArrowheads="1"/>
            </p:cNvSpPr>
            <p:nvPr/>
          </p:nvSpPr>
          <p:spPr bwMode="auto">
            <a:xfrm>
              <a:off x="2710" y="857"/>
              <a:ext cx="497" cy="14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风险分析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7" name="Text Box 29"/>
            <p:cNvSpPr txBox="1">
              <a:spLocks noChangeAspect="1" noChangeArrowheads="1"/>
            </p:cNvSpPr>
            <p:nvPr/>
          </p:nvSpPr>
          <p:spPr bwMode="auto">
            <a:xfrm>
              <a:off x="2203" y="1203"/>
              <a:ext cx="533" cy="141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风险分析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8" name="Text Box 30"/>
            <p:cNvSpPr txBox="1">
              <a:spLocks noChangeAspect="1" noChangeArrowheads="1"/>
            </p:cNvSpPr>
            <p:nvPr/>
          </p:nvSpPr>
          <p:spPr bwMode="auto">
            <a:xfrm>
              <a:off x="1934" y="1537"/>
              <a:ext cx="497" cy="14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风险分析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39" name="Text Box 31"/>
            <p:cNvSpPr txBox="1">
              <a:spLocks noChangeAspect="1" noChangeArrowheads="1"/>
            </p:cNvSpPr>
            <p:nvPr/>
          </p:nvSpPr>
          <p:spPr bwMode="auto">
            <a:xfrm>
              <a:off x="3083" y="2443"/>
              <a:ext cx="546" cy="30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软件产品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设计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0" name="Text Box 32"/>
            <p:cNvSpPr txBox="1">
              <a:spLocks noChangeAspect="1" noChangeArrowheads="1"/>
            </p:cNvSpPr>
            <p:nvPr/>
          </p:nvSpPr>
          <p:spPr bwMode="auto">
            <a:xfrm>
              <a:off x="1886" y="2799"/>
              <a:ext cx="824" cy="16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设计验证与确认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1" name="Text Box 33"/>
            <p:cNvSpPr txBox="1">
              <a:spLocks noChangeAspect="1" noChangeArrowheads="1"/>
            </p:cNvSpPr>
            <p:nvPr/>
          </p:nvSpPr>
          <p:spPr bwMode="auto">
            <a:xfrm>
              <a:off x="3946" y="2441"/>
              <a:ext cx="325" cy="309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详细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设计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2" name="Line 34"/>
            <p:cNvSpPr>
              <a:spLocks noChangeAspect="1" noChangeShapeType="1"/>
            </p:cNvSpPr>
            <p:nvPr/>
          </p:nvSpPr>
          <p:spPr bwMode="auto">
            <a:xfrm>
              <a:off x="3542" y="2725"/>
              <a:ext cx="856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43" name="Text Box 35"/>
            <p:cNvSpPr txBox="1">
              <a:spLocks noChangeAspect="1" noChangeArrowheads="1"/>
            </p:cNvSpPr>
            <p:nvPr/>
          </p:nvSpPr>
          <p:spPr bwMode="auto">
            <a:xfrm>
              <a:off x="3744" y="2851"/>
              <a:ext cx="284" cy="17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编码</a:t>
              </a:r>
              <a:endParaRPr kumimoji="0" lang="zh-CN" altLang="en-US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4" name="Line 36"/>
            <p:cNvSpPr>
              <a:spLocks noChangeAspect="1" noChangeShapeType="1"/>
            </p:cNvSpPr>
            <p:nvPr/>
          </p:nvSpPr>
          <p:spPr bwMode="auto">
            <a:xfrm>
              <a:off x="3661" y="2725"/>
              <a:ext cx="0" cy="547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45" name="Text Box 37"/>
            <p:cNvSpPr txBox="1">
              <a:spLocks noChangeAspect="1" noChangeArrowheads="1"/>
            </p:cNvSpPr>
            <p:nvPr/>
          </p:nvSpPr>
          <p:spPr bwMode="auto">
            <a:xfrm>
              <a:off x="3392" y="2868"/>
              <a:ext cx="259" cy="305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单元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测试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6" name="Line 38"/>
            <p:cNvSpPr>
              <a:spLocks noChangeAspect="1" noChangeShapeType="1"/>
            </p:cNvSpPr>
            <p:nvPr/>
          </p:nvSpPr>
          <p:spPr bwMode="auto">
            <a:xfrm>
              <a:off x="3170" y="2899"/>
              <a:ext cx="6" cy="513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47" name="Text Box 39"/>
            <p:cNvSpPr txBox="1">
              <a:spLocks noChangeAspect="1" noChangeArrowheads="1"/>
            </p:cNvSpPr>
            <p:nvPr/>
          </p:nvSpPr>
          <p:spPr bwMode="auto">
            <a:xfrm>
              <a:off x="2821" y="3051"/>
              <a:ext cx="255" cy="29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组装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测试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8" name="Line 40"/>
            <p:cNvSpPr>
              <a:spLocks noChangeAspect="1" noChangeShapeType="1"/>
            </p:cNvSpPr>
            <p:nvPr/>
          </p:nvSpPr>
          <p:spPr bwMode="auto">
            <a:xfrm>
              <a:off x="2647" y="3043"/>
              <a:ext cx="0" cy="475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49" name="Text Box 41"/>
            <p:cNvSpPr txBox="1">
              <a:spLocks noChangeAspect="1" noChangeArrowheads="1"/>
            </p:cNvSpPr>
            <p:nvPr/>
          </p:nvSpPr>
          <p:spPr bwMode="auto">
            <a:xfrm>
              <a:off x="2322" y="3106"/>
              <a:ext cx="283" cy="290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验收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测试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0" name="Line 42"/>
            <p:cNvSpPr>
              <a:spLocks noChangeAspect="1" noChangeShapeType="1"/>
            </p:cNvSpPr>
            <p:nvPr/>
          </p:nvSpPr>
          <p:spPr bwMode="auto">
            <a:xfrm>
              <a:off x="2171" y="3067"/>
              <a:ext cx="0" cy="507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51" name="Text Box 43"/>
            <p:cNvSpPr txBox="1">
              <a:spLocks noChangeAspect="1" noChangeArrowheads="1"/>
            </p:cNvSpPr>
            <p:nvPr/>
          </p:nvSpPr>
          <p:spPr bwMode="auto">
            <a:xfrm>
              <a:off x="1815" y="3225"/>
              <a:ext cx="301" cy="166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实现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2" name="Text Box 44"/>
            <p:cNvSpPr txBox="1">
              <a:spLocks noChangeAspect="1" noChangeArrowheads="1"/>
            </p:cNvSpPr>
            <p:nvPr/>
          </p:nvSpPr>
          <p:spPr bwMode="auto">
            <a:xfrm>
              <a:off x="1823" y="40"/>
              <a:ext cx="277" cy="14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成本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3" name="未知"/>
            <p:cNvSpPr>
              <a:spLocks noChangeAspect="1"/>
            </p:cNvSpPr>
            <p:nvPr/>
          </p:nvSpPr>
          <p:spPr bwMode="auto">
            <a:xfrm rot="21312929">
              <a:off x="1387" y="483"/>
              <a:ext cx="713" cy="64"/>
            </a:xfrm>
            <a:custGeom>
              <a:avLst/>
              <a:gdLst>
                <a:gd name="T0" fmla="*/ 0 w 990"/>
                <a:gd name="T1" fmla="*/ 64 h 88"/>
                <a:gd name="T2" fmla="*/ 333 w 990"/>
                <a:gd name="T3" fmla="*/ 0 h 88"/>
                <a:gd name="T4" fmla="*/ 713 w 990"/>
                <a:gd name="T5" fmla="*/ 64 h 88"/>
                <a:gd name="T6" fmla="*/ 0 60000 65536"/>
                <a:gd name="T7" fmla="*/ 0 60000 65536"/>
                <a:gd name="T8" fmla="*/ 0 60000 65536"/>
                <a:gd name="T9" fmla="*/ 0 w 990"/>
                <a:gd name="T10" fmla="*/ 0 h 88"/>
                <a:gd name="T11" fmla="*/ 990 w 990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0" h="88">
                  <a:moveTo>
                    <a:pt x="0" y="88"/>
                  </a:moveTo>
                  <a:cubicBezTo>
                    <a:pt x="148" y="44"/>
                    <a:pt x="297" y="0"/>
                    <a:pt x="462" y="0"/>
                  </a:cubicBezTo>
                  <a:cubicBezTo>
                    <a:pt x="627" y="0"/>
                    <a:pt x="808" y="44"/>
                    <a:pt x="990" y="88"/>
                  </a:cubicBezTo>
                </a:path>
              </a:pathLst>
            </a:custGeom>
            <a:noFill/>
            <a:ln w="9525" cmpd="sng">
              <a:solidFill>
                <a:srgbClr val="000000"/>
              </a:solidFill>
              <a:miter lim="800000"/>
              <a:tailEnd type="stealth" w="sm" len="lg"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054" name="Text Box 46"/>
            <p:cNvSpPr txBox="1">
              <a:spLocks noChangeAspect="1" noChangeArrowheads="1"/>
            </p:cNvSpPr>
            <p:nvPr/>
          </p:nvSpPr>
          <p:spPr bwMode="auto">
            <a:xfrm>
              <a:off x="2124" y="436"/>
              <a:ext cx="901" cy="15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顺时针为进展方向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5" name="Text Box 47"/>
            <p:cNvSpPr txBox="1">
              <a:spLocks noChangeAspect="1" noChangeArrowheads="1"/>
            </p:cNvSpPr>
            <p:nvPr/>
          </p:nvSpPr>
          <p:spPr bwMode="auto">
            <a:xfrm>
              <a:off x="48" y="222"/>
              <a:ext cx="1205" cy="446"/>
            </a:xfrm>
            <a:prstGeom prst="rect">
              <a:avLst/>
            </a:prstGeom>
            <a:noFill/>
            <a:ln w="9525" cmpd="sng">
              <a:solidFill>
                <a:srgbClr val="00000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计划：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明确目标、约束条件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选择方案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6" name="Text Box 48"/>
            <p:cNvSpPr txBox="1">
              <a:spLocks noChangeAspect="1" noChangeArrowheads="1"/>
            </p:cNvSpPr>
            <p:nvPr/>
          </p:nvSpPr>
          <p:spPr bwMode="auto">
            <a:xfrm>
              <a:off x="4240" y="224"/>
              <a:ext cx="580" cy="309"/>
            </a:xfrm>
            <a:prstGeom prst="rect">
              <a:avLst/>
            </a:prstGeom>
            <a:noFill/>
            <a:ln w="9525" cmpd="sng">
              <a:solidFill>
                <a:srgbClr val="00000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风险分析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构造原型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7" name="Text Box 49"/>
            <p:cNvSpPr txBox="1">
              <a:spLocks noChangeAspect="1" noChangeArrowheads="1"/>
            </p:cNvSpPr>
            <p:nvPr/>
          </p:nvSpPr>
          <p:spPr bwMode="auto">
            <a:xfrm>
              <a:off x="4232" y="3225"/>
              <a:ext cx="604" cy="188"/>
            </a:xfrm>
            <a:prstGeom prst="rect">
              <a:avLst/>
            </a:prstGeom>
            <a:noFill/>
            <a:ln w="9525" cmpd="sng">
              <a:solidFill>
                <a:srgbClr val="00000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工程实现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8" name="Text Box 50"/>
            <p:cNvSpPr txBox="1">
              <a:spLocks noChangeAspect="1" noChangeArrowheads="1"/>
            </p:cNvSpPr>
            <p:nvPr/>
          </p:nvSpPr>
          <p:spPr bwMode="auto">
            <a:xfrm>
              <a:off x="48" y="3225"/>
              <a:ext cx="1205" cy="293"/>
            </a:xfrm>
            <a:prstGeom prst="rect">
              <a:avLst/>
            </a:prstGeom>
            <a:noFill/>
            <a:ln w="9525" cmpd="sng">
              <a:solidFill>
                <a:srgbClr val="000000"/>
              </a:solidFill>
              <a:miter lim="800000"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用户评价；阶段评审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59" name="Text Box 51"/>
            <p:cNvSpPr txBox="1">
              <a:spLocks noChangeAspect="1" noChangeArrowheads="1"/>
            </p:cNvSpPr>
            <p:nvPr/>
          </p:nvSpPr>
          <p:spPr bwMode="auto">
            <a:xfrm>
              <a:off x="960" y="2448"/>
              <a:ext cx="809" cy="184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验收测试计划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0" name="Text Box 52"/>
            <p:cNvSpPr txBox="1">
              <a:spLocks noChangeAspect="1" noChangeArrowheads="1"/>
            </p:cNvSpPr>
            <p:nvPr/>
          </p:nvSpPr>
          <p:spPr bwMode="auto">
            <a:xfrm>
              <a:off x="1008" y="1632"/>
              <a:ext cx="705" cy="217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需求精化计划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1" name="Text Box 53"/>
            <p:cNvSpPr txBox="1">
              <a:spLocks noChangeAspect="1" noChangeArrowheads="1"/>
            </p:cNvSpPr>
            <p:nvPr/>
          </p:nvSpPr>
          <p:spPr bwMode="auto">
            <a:xfrm>
              <a:off x="1102" y="2229"/>
              <a:ext cx="530" cy="13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需求评价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2" name="Text Box 54"/>
            <p:cNvSpPr txBox="1">
              <a:spLocks noChangeAspect="1" noChangeArrowheads="1"/>
            </p:cNvSpPr>
            <p:nvPr/>
          </p:nvSpPr>
          <p:spPr bwMode="auto">
            <a:xfrm>
              <a:off x="0" y="1984"/>
              <a:ext cx="293" cy="143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评审</a:t>
              </a: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3" name="Text Box 55"/>
            <p:cNvSpPr txBox="1">
              <a:spLocks noChangeAspect="1" noChangeArrowheads="1"/>
            </p:cNvSpPr>
            <p:nvPr/>
          </p:nvSpPr>
          <p:spPr bwMode="auto">
            <a:xfrm>
              <a:off x="4858" y="2000"/>
              <a:ext cx="293" cy="142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决策</a:t>
              </a: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64" name="Text Box 56"/>
            <p:cNvSpPr txBox="1">
              <a:spLocks noChangeAspect="1" noChangeArrowheads="1"/>
            </p:cNvSpPr>
            <p:nvPr/>
          </p:nvSpPr>
          <p:spPr bwMode="auto">
            <a:xfrm>
              <a:off x="1213" y="1056"/>
              <a:ext cx="533" cy="148"/>
            </a:xfrm>
            <a:prstGeom prst="rect">
              <a:avLst/>
            </a:prstGeom>
            <a:noFill/>
            <a:ln>
              <a:noFill/>
            </a:ln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just" defTabSz="914400" rtl="0" eaLnBrk="0" fontAlgn="base" latinLnBrk="0" hangingPunct="0">
                <a:lnSpc>
                  <a:spcPct val="8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实现计划</a:t>
              </a:r>
              <a:endPara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body"/>
          </p:nvPr>
        </p:nvSpPr>
        <p:spPr>
          <a:xfrm>
            <a:off x="571500" y="1285875"/>
            <a:ext cx="8229600" cy="48799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2060"/>
                </a:solidFill>
                <a:ea typeface="宋体" panose="02010600030101010101" pitchFamily="2" charset="-122"/>
              </a:rPr>
              <a:t>螺旋模型沿着螺线旋转，在笛卡尔坐标的四个象限上分别表达了四个方面的活动：</a:t>
            </a:r>
            <a:endParaRPr lang="zh-CN" altLang="en-US" dirty="0">
              <a:solidFill>
                <a:srgbClr val="00206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制定计划。确定软件目标，选定实施方案，弄清项目开发的限制条件。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风险分析。分析所选方案，考虑如何识别和消除风险。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实施工程。实施软件开发。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A14"/>
                </a:solidFill>
                <a:ea typeface="宋体" panose="02010600030101010101" pitchFamily="2" charset="-122"/>
              </a:rPr>
              <a:t>客户评估。评价开发工作，提出修正建议</a:t>
            </a:r>
            <a:r>
              <a:rPr lang="zh-CN" altLang="en-US" b="1" dirty="0">
                <a:ea typeface="宋体" panose="02010600030101010101" pitchFamily="2" charset="-122"/>
              </a:rPr>
              <a:t>。　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1428750" y="142875"/>
            <a:ext cx="6775450" cy="6635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zh-CN" altLang="en-US" sz="3200" dirty="0">
                <a:solidFill>
                  <a:srgbClr val="003F8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四个象限上分别表达四个方面的活动</a:t>
            </a:r>
            <a:endParaRPr lang="zh-CN" altLang="en-US" sz="3200" dirty="0">
              <a:solidFill>
                <a:srgbClr val="003F8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0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37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69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94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>
                                            <p:txEl>
                                              <p:charRg st="107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1000125" y="214313"/>
            <a:ext cx="7800975" cy="5365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solidFill>
                  <a:srgbClr val="003F80"/>
                </a:solidFill>
                <a:latin typeface="Times New Roman" panose="02020603050405020304" pitchFamily="18" charset="0"/>
                <a:ea typeface="楷体_GB2312" pitchFamily="1" charset="-122"/>
              </a:rPr>
              <a:t>螺旋模型的优点</a:t>
            </a:r>
            <a:endParaRPr lang="zh-CN" altLang="en-US" sz="3600" dirty="0">
              <a:solidFill>
                <a:srgbClr val="003F8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5059" name="Rectangle 3"/>
          <p:cNvSpPr>
            <a:spLocks noGrp="1" noChangeAspect="1"/>
          </p:cNvSpPr>
          <p:nvPr>
            <p:ph type="body"/>
          </p:nvPr>
        </p:nvSpPr>
        <p:spPr>
          <a:xfrm>
            <a:off x="428625" y="1143000"/>
            <a:ext cx="8215313" cy="4465638"/>
          </a:xfrm>
        </p:spPr>
        <p:txBody>
          <a:bodyPr vert="horz" wrap="square" lIns="91440" tIns="45720" rIns="91440" bIns="45720" anchor="t" anchorCtr="0"/>
          <a:p>
            <a:pPr lvl="1" eaLnBrk="1" hangingPunct="1"/>
            <a:endParaRPr lang="en-US" altLang="zh-CN" b="1" dirty="0">
              <a:ea typeface="楷体_GB2312" pitchFamily="1" charset="-122"/>
            </a:endParaRPr>
          </a:p>
          <a:p>
            <a:pPr lvl="1" eaLnBrk="1" hangingPunct="1"/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1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强调可选方案和限制条件，以支持现有解决方案的重用。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  <a:p>
            <a:pPr lvl="1" eaLnBrk="1" hangingPunct="1"/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2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维护和开发一样，是螺旋模型的一个阶段。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  <a:p>
            <a:pPr lvl="1" eaLnBrk="1" hangingPunct="1"/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3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评估（预算和进度）更加准确，因为重要问题能及早发现。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  <a:p>
            <a:pPr lvl="1" eaLnBrk="1" hangingPunct="1"/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4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更能应对开发过程中出现的各种变化。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  <a:p>
            <a:pPr lvl="1" eaLnBrk="1" hangingPunct="1"/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5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软件工程师可以提前开始项目工作。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</p:txBody>
      </p:sp>
      <p:sp>
        <p:nvSpPr>
          <p:cNvPr id="45060" name="AutoShape 11"/>
          <p:cNvSpPr>
            <a:spLocks noChangeArrowheads="1"/>
          </p:cNvSpPr>
          <p:nvPr/>
        </p:nvSpPr>
        <p:spPr bwMode="auto">
          <a:xfrm>
            <a:off x="1000125" y="1071563"/>
            <a:ext cx="1858963" cy="539750"/>
          </a:xfrm>
          <a:prstGeom prst="flowChartTerminator">
            <a:avLst/>
          </a:prstGeom>
          <a:solidFill>
            <a:schemeClr val="accent2"/>
          </a:solidFill>
          <a:ln w="12700" cmpd="sng">
            <a:solidFill>
              <a:schemeClr val="tx1"/>
            </a:solidFill>
            <a:miter lim="800000"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优点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4506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714375" y="166688"/>
            <a:ext cx="7772400" cy="762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楷体_GB2312" pitchFamily="1" charset="-122"/>
              </a:rPr>
              <a:t>螺旋模型的缺点和适应场合</a:t>
            </a:r>
            <a:endParaRPr lang="zh-CN" altLang="en-US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6083" name="Rectangle 3"/>
          <p:cNvSpPr>
            <a:spLocks noGrp="1" noChangeAspect="1"/>
          </p:cNvSpPr>
          <p:nvPr>
            <p:ph type="body"/>
          </p:nvPr>
        </p:nvSpPr>
        <p:spPr>
          <a:xfrm>
            <a:off x="684213" y="1143000"/>
            <a:ext cx="7772400" cy="51435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Bef>
                <a:spcPct val="50000"/>
              </a:spcBef>
              <a:buClr>
                <a:schemeClr val="tx1"/>
              </a:buClr>
              <a:buNone/>
            </a:pPr>
            <a:endParaRPr lang="zh-CN" altLang="en-US" dirty="0">
              <a:ea typeface="楷体_GB2312" pitchFamily="1" charset="-122"/>
            </a:endParaRPr>
          </a:p>
          <a:p>
            <a:pPr lvl="1" algn="just"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1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仅适用于内部（一个公司内部）项目，因为开发过程中要进行风险评估，该模型不能用于合同性的软件开发。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  <a:p>
            <a:pPr lvl="1" algn="just"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2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螺旋模型是风险驱动的，因此它需要经验丰富的员工。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  <a:p>
            <a:pPr lvl="1" algn="just" eaLnBrk="1" hangingPunct="1">
              <a:spcBef>
                <a:spcPct val="50000"/>
              </a:spcBef>
              <a:buClr>
                <a:schemeClr val="tx1"/>
              </a:buClr>
              <a:buNone/>
            </a:pPr>
            <a:r>
              <a:rPr lang="en-US" altLang="zh-CN" b="1" dirty="0">
                <a:solidFill>
                  <a:srgbClr val="000A14"/>
                </a:solidFill>
                <a:ea typeface="楷体_GB2312" pitchFamily="1" charset="-122"/>
              </a:rPr>
              <a:t>3</a:t>
            </a: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） 只适用于大型软件的开发。如果风险分析占用了整个项目成本的主要部分，则使用该模型没有任何意义。</a:t>
            </a:r>
            <a:endParaRPr lang="zh-CN" altLang="en-US" b="1" dirty="0">
              <a:solidFill>
                <a:srgbClr val="000A14"/>
              </a:solidFill>
              <a:ea typeface="楷体_GB2312" pitchFamily="1" charset="-122"/>
            </a:endParaRPr>
          </a:p>
          <a:p>
            <a:pPr lvl="1" algn="just"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p"/>
            </a:pPr>
            <a:endParaRPr lang="en-US" altLang="zh-CN" sz="2400" dirty="0">
              <a:ea typeface="楷体_GB2312" pitchFamily="1" charset="-122"/>
            </a:endParaRPr>
          </a:p>
        </p:txBody>
      </p:sp>
      <p:sp>
        <p:nvSpPr>
          <p:cNvPr id="46084" name="AutoShape 12"/>
          <p:cNvSpPr/>
          <p:nvPr/>
        </p:nvSpPr>
        <p:spPr>
          <a:xfrm>
            <a:off x="857250" y="1071563"/>
            <a:ext cx="1943100" cy="520700"/>
          </a:xfrm>
          <a:prstGeom prst="flowChartTerminator">
            <a:avLst/>
          </a:prstGeom>
          <a:solidFill>
            <a:schemeClr val="accent1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缺点</a:t>
            </a:r>
            <a:endParaRPr lang="zh-CN" altLang="en-US" b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46084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1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083">
                                            <p:txEl>
                                              <p:charRg st="1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3">
                                            <p:txEl>
                                              <p:charRg st="1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5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083">
                                            <p:txEl>
                                              <p:charRg st="5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083">
                                            <p:txEl>
                                              <p:charRg st="53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charRg st="8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3">
                                            <p:txEl>
                                              <p:charRg st="8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083">
                                            <p:txEl>
                                              <p:charRg st="81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endParaRPr lang="zh-CN" altLang="zh-CN" dirty="0">
              <a:ea typeface="宋体" panose="02010600030101010101" pitchFamily="2" charset="-122"/>
            </a:endParaRP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endParaRPr lang="en-US" altLang="zh-CN" dirty="0">
              <a:ea typeface="宋体" panose="02010600030101010101" pitchFamily="2" charset="-122"/>
            </a:endParaRPr>
          </a:p>
          <a:p>
            <a:pPr marL="342900" lvl="1" indent="-342900">
              <a:buFont typeface="Wingdings" panose="05000000000000000000" pitchFamily="2" charset="2"/>
              <a:buChar char="v"/>
            </a:pPr>
            <a:r>
              <a:rPr lang="zh-CN" altLang="en-US" b="1" dirty="0">
                <a:solidFill>
                  <a:srgbClr val="000A14"/>
                </a:solidFill>
                <a:ea typeface="楷体_GB2312" pitchFamily="1" charset="-122"/>
              </a:rPr>
              <a:t>支持需求不明确、特别是大型软件系统的开发，并支持面向规格说明、面向过程、面向对象等多种软件开发方法，是一种具有广阔前景的模型。</a:t>
            </a:r>
            <a:endParaRPr lang="zh-CN" altLang="en-US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Char char="v"/>
            </a:pP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7108" name="AutoShape 12"/>
          <p:cNvSpPr/>
          <p:nvPr/>
        </p:nvSpPr>
        <p:spPr>
          <a:xfrm>
            <a:off x="571500" y="1214438"/>
            <a:ext cx="1943100" cy="522287"/>
          </a:xfrm>
          <a:prstGeom prst="flowChartTerminator">
            <a:avLst/>
          </a:prstGeom>
          <a:solidFill>
            <a:srgbClr val="FFC000"/>
          </a:solidFill>
          <a:ln w="12700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  <a:effectLst>
            <a:prstShdw prst="shdw11" dir="16200000">
              <a:schemeClr val="bg2">
                <a:alpha val="50000"/>
              </a:schemeClr>
            </a:prstShdw>
          </a:effectLst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ctr" eaLnBrk="1" hangingPunct="1">
              <a:lnSpc>
                <a:spcPct val="130000"/>
              </a:lnSpc>
              <a:spcBef>
                <a:spcPct val="30000"/>
              </a:spcBef>
              <a:buClr>
                <a:schemeClr val="tx2"/>
              </a:buClr>
              <a:buNone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适应场合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47108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一些新的过程模型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>
                <a:ea typeface="宋体" panose="02010600030101010101" pitchFamily="2" charset="-122"/>
              </a:rPr>
              <a:t>敏捷软件过程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/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是基本原理和开发准则的结合。基本原理强调客户满意度和较早的软件增量交付；小但有激情的团队；非正式的方法；最小的软件工程产品；简化整体开发。开发准则强调分析和设计的交付，以及开发者和客户之间积极持续的交流。</a:t>
            </a:r>
            <a:endParaRPr lang="zh-CN" altLang="en-US" sz="2400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pPr lvl="1"/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目前的敏捷过程模型主要包括极限编程（</a:t>
            </a:r>
            <a:r>
              <a:rPr lang="en-US" altLang="zh-CN" sz="2400" b="1" dirty="0">
                <a:solidFill>
                  <a:srgbClr val="000A14"/>
                </a:solidFill>
                <a:ea typeface="宋体" panose="02010600030101010101" pitchFamily="2" charset="-122"/>
              </a:rPr>
              <a:t>XP</a:t>
            </a:r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），自适应软件开发（</a:t>
            </a:r>
            <a:r>
              <a:rPr lang="en-US" altLang="zh-CN" sz="2400" b="1" dirty="0">
                <a:solidFill>
                  <a:srgbClr val="000A14"/>
                </a:solidFill>
                <a:ea typeface="宋体" panose="02010600030101010101" pitchFamily="2" charset="-122"/>
              </a:rPr>
              <a:t>ASD</a:t>
            </a:r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），动态系统开发方法（</a:t>
            </a:r>
            <a:r>
              <a:rPr lang="en-US" altLang="zh-CN" sz="2400" b="1" dirty="0">
                <a:solidFill>
                  <a:srgbClr val="000A14"/>
                </a:solidFill>
                <a:ea typeface="宋体" panose="02010600030101010101" pitchFamily="2" charset="-122"/>
              </a:rPr>
              <a:t>DSDM</a:t>
            </a:r>
            <a:r>
              <a:rPr lang="zh-CN" altLang="en-US" sz="2400" b="1" dirty="0">
                <a:solidFill>
                  <a:srgbClr val="000A14"/>
                </a:solidFill>
                <a:ea typeface="宋体" panose="02010600030101010101" pitchFamily="2" charset="-122"/>
              </a:rPr>
              <a:t>）等。</a:t>
            </a:r>
            <a:endParaRPr lang="zh-CN" altLang="en-US" sz="2400" b="1" dirty="0">
              <a:solidFill>
                <a:srgbClr val="000A14"/>
              </a:solidFill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如何选择过程模型？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/>
            <a:r>
              <a:rPr lang="zh-CN" altLang="en-US" b="1" dirty="0">
                <a:ea typeface="宋体" panose="02010600030101010101" pitchFamily="2" charset="-122"/>
              </a:rPr>
              <a:t>软件开发模型是不断发展的</a:t>
            </a:r>
            <a:endParaRPr lang="zh-CN" altLang="en-US" b="1" dirty="0"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ea typeface="宋体" panose="02010600030101010101" pitchFamily="2" charset="-122"/>
              </a:rPr>
              <a:t>各种软件开发模型各有优缺点</a:t>
            </a:r>
            <a:endParaRPr lang="zh-CN" altLang="en-US" b="1" dirty="0"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ea typeface="宋体" panose="02010600030101010101" pitchFamily="2" charset="-122"/>
              </a:rPr>
              <a:t>选用时不必拘泥与某种模型</a:t>
            </a:r>
            <a:endParaRPr lang="zh-CN" altLang="en-US" b="1" dirty="0"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ea typeface="宋体" panose="02010600030101010101" pitchFamily="2" charset="-122"/>
              </a:rPr>
              <a:t>可组合多种模型</a:t>
            </a:r>
            <a:endParaRPr lang="zh-CN" altLang="en-US" b="1" dirty="0">
              <a:ea typeface="宋体" panose="02010600030101010101" pitchFamily="2" charset="-122"/>
            </a:endParaRPr>
          </a:p>
          <a:p>
            <a:pPr lvl="1"/>
            <a:r>
              <a:rPr lang="zh-CN" altLang="en-US" b="1" dirty="0">
                <a:ea typeface="宋体" panose="02010600030101010101" pitchFamily="2" charset="-122"/>
              </a:rPr>
              <a:t>也可根据实际创建新的模型</a:t>
            </a:r>
            <a:endParaRPr lang="zh-CN" altLang="en-US" b="1" dirty="0">
              <a:ea typeface="宋体" panose="02010600030101010101" pitchFamily="2" charset="-122"/>
            </a:endParaRPr>
          </a:p>
          <a:p>
            <a:pPr>
              <a:buNone/>
            </a:pP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785813" y="714375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以产品为中心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79" name="Freeform 4"/>
          <p:cNvSpPr/>
          <p:nvPr/>
        </p:nvSpPr>
        <p:spPr bwMode="auto">
          <a:xfrm>
            <a:off x="2819400" y="3959225"/>
            <a:ext cx="2057400" cy="915988"/>
          </a:xfrm>
          <a:custGeom>
            <a:avLst/>
            <a:gdLst>
              <a:gd name="T0" fmla="*/ 2147483647 w 3981"/>
              <a:gd name="T1" fmla="*/ 2147483647 h 1127"/>
              <a:gd name="T2" fmla="*/ 2147483647 w 3981"/>
              <a:gd name="T3" fmla="*/ 2147483647 h 1127"/>
              <a:gd name="T4" fmla="*/ 2147483647 w 3981"/>
              <a:gd name="T5" fmla="*/ 2147483647 h 1127"/>
              <a:gd name="T6" fmla="*/ 2147483647 w 3981"/>
              <a:gd name="T7" fmla="*/ 2147483647 h 1127"/>
              <a:gd name="T8" fmla="*/ 2147483647 w 3981"/>
              <a:gd name="T9" fmla="*/ 2147483647 h 1127"/>
              <a:gd name="T10" fmla="*/ 2147483647 w 3981"/>
              <a:gd name="T11" fmla="*/ 2147483647 h 1127"/>
              <a:gd name="T12" fmla="*/ 2147483647 w 3981"/>
              <a:gd name="T13" fmla="*/ 2147483647 h 1127"/>
              <a:gd name="T14" fmla="*/ 2147483647 w 3981"/>
              <a:gd name="T15" fmla="*/ 2147483647 h 1127"/>
              <a:gd name="T16" fmla="*/ 2147483647 w 3981"/>
              <a:gd name="T17" fmla="*/ 2147483647 h 1127"/>
              <a:gd name="T18" fmla="*/ 2147483647 w 3981"/>
              <a:gd name="T19" fmla="*/ 2147483647 h 1127"/>
              <a:gd name="T20" fmla="*/ 2147483647 w 3981"/>
              <a:gd name="T21" fmla="*/ 2147483647 h 1127"/>
              <a:gd name="T22" fmla="*/ 2147483647 w 3981"/>
              <a:gd name="T23" fmla="*/ 2147483647 h 1127"/>
              <a:gd name="T24" fmla="*/ 2147483647 w 3981"/>
              <a:gd name="T25" fmla="*/ 2147483647 h 1127"/>
              <a:gd name="T26" fmla="*/ 2147483647 w 3981"/>
              <a:gd name="T27" fmla="*/ 2147483647 h 1127"/>
              <a:gd name="T28" fmla="*/ 2147483647 w 3981"/>
              <a:gd name="T29" fmla="*/ 2147483647 h 1127"/>
              <a:gd name="T30" fmla="*/ 2147483647 w 3981"/>
              <a:gd name="T31" fmla="*/ 0 h 1127"/>
              <a:gd name="T32" fmla="*/ 2147483647 w 3981"/>
              <a:gd name="T33" fmla="*/ 0 h 1127"/>
              <a:gd name="T34" fmla="*/ 2147483647 w 3981"/>
              <a:gd name="T35" fmla="*/ 0 h 1127"/>
              <a:gd name="T36" fmla="*/ 2147483647 w 3981"/>
              <a:gd name="T37" fmla="*/ 2147483647 h 1127"/>
              <a:gd name="T38" fmla="*/ 2147483647 w 3981"/>
              <a:gd name="T39" fmla="*/ 2147483647 h 1127"/>
              <a:gd name="T40" fmla="*/ 2147483647 w 3981"/>
              <a:gd name="T41" fmla="*/ 2147483647 h 1127"/>
              <a:gd name="T42" fmla="*/ 2147483647 w 3981"/>
              <a:gd name="T43" fmla="*/ 2147483647 h 1127"/>
              <a:gd name="T44" fmla="*/ 2147483647 w 3981"/>
              <a:gd name="T45" fmla="*/ 2147483647 h 1127"/>
              <a:gd name="T46" fmla="*/ 2147483647 w 3981"/>
              <a:gd name="T47" fmla="*/ 2147483647 h 1127"/>
              <a:gd name="T48" fmla="*/ 2147483647 w 3981"/>
              <a:gd name="T49" fmla="*/ 2147483647 h 1127"/>
              <a:gd name="T50" fmla="*/ 2147483647 w 3981"/>
              <a:gd name="T51" fmla="*/ 2147483647 h 1127"/>
              <a:gd name="T52" fmla="*/ 2147483647 w 3981"/>
              <a:gd name="T53" fmla="*/ 2147483647 h 1127"/>
              <a:gd name="T54" fmla="*/ 2147483647 w 3981"/>
              <a:gd name="T55" fmla="*/ 2147483647 h 1127"/>
              <a:gd name="T56" fmla="*/ 2147483647 w 3981"/>
              <a:gd name="T57" fmla="*/ 2147483647 h 1127"/>
              <a:gd name="T58" fmla="*/ 2147483647 w 3981"/>
              <a:gd name="T59" fmla="*/ 2147483647 h 1127"/>
              <a:gd name="T60" fmla="*/ 2147483647 w 3981"/>
              <a:gd name="T61" fmla="*/ 2147483647 h 1127"/>
              <a:gd name="T62" fmla="*/ 2147483647 w 3981"/>
              <a:gd name="T63" fmla="*/ 2147483647 h 1127"/>
              <a:gd name="T64" fmla="*/ 2147483647 w 3981"/>
              <a:gd name="T65" fmla="*/ 2147483647 h 1127"/>
              <a:gd name="T66" fmla="*/ 2147483647 w 3981"/>
              <a:gd name="T67" fmla="*/ 2147483647 h 1127"/>
              <a:gd name="T68" fmla="*/ 2147483647 w 3981"/>
              <a:gd name="T69" fmla="*/ 2147483647 h 1127"/>
              <a:gd name="T70" fmla="*/ 2147483647 w 3981"/>
              <a:gd name="T71" fmla="*/ 2147483647 h 1127"/>
              <a:gd name="T72" fmla="*/ 2147483647 w 3981"/>
              <a:gd name="T73" fmla="*/ 2147483647 h 1127"/>
              <a:gd name="T74" fmla="*/ 2147483647 w 3981"/>
              <a:gd name="T75" fmla="*/ 2147483647 h 1127"/>
              <a:gd name="T76" fmla="*/ 2147483647 w 3981"/>
              <a:gd name="T77" fmla="*/ 2147483647 h 1127"/>
              <a:gd name="T78" fmla="*/ 2147483647 w 3981"/>
              <a:gd name="T79" fmla="*/ 2147483647 h 1127"/>
              <a:gd name="T80" fmla="*/ 2147483647 w 3981"/>
              <a:gd name="T81" fmla="*/ 2147483647 h 1127"/>
              <a:gd name="T82" fmla="*/ 2147483647 w 3981"/>
              <a:gd name="T83" fmla="*/ 2147483647 h 1127"/>
              <a:gd name="T84" fmla="*/ 2147483647 w 3981"/>
              <a:gd name="T85" fmla="*/ 2147483647 h 1127"/>
              <a:gd name="T86" fmla="*/ 2147483647 w 3981"/>
              <a:gd name="T87" fmla="*/ 2147483647 h 1127"/>
              <a:gd name="T88" fmla="*/ 2147483647 w 3981"/>
              <a:gd name="T89" fmla="*/ 2147483647 h 1127"/>
              <a:gd name="T90" fmla="*/ 2147483647 w 3981"/>
              <a:gd name="T91" fmla="*/ 2147483647 h 1127"/>
              <a:gd name="T92" fmla="*/ 2147483647 w 3981"/>
              <a:gd name="T93" fmla="*/ 2147483647 h 1127"/>
              <a:gd name="T94" fmla="*/ 2147483647 w 3981"/>
              <a:gd name="T95" fmla="*/ 2147483647 h 1127"/>
              <a:gd name="T96" fmla="*/ 2147483647 w 3981"/>
              <a:gd name="T97" fmla="*/ 2147483647 h 1127"/>
              <a:gd name="T98" fmla="*/ 2147483647 w 3981"/>
              <a:gd name="T99" fmla="*/ 2147483647 h 1127"/>
              <a:gd name="T100" fmla="*/ 2147483647 w 3981"/>
              <a:gd name="T101" fmla="*/ 2147483647 h 1127"/>
              <a:gd name="T102" fmla="*/ 2147483647 w 3981"/>
              <a:gd name="T103" fmla="*/ 2147483647 h 1127"/>
              <a:gd name="T104" fmla="*/ 2147483647 w 3981"/>
              <a:gd name="T105" fmla="*/ 2147483647 h 1127"/>
              <a:gd name="T106" fmla="*/ 2147483647 w 3981"/>
              <a:gd name="T107" fmla="*/ 2147483647 h 1127"/>
              <a:gd name="T108" fmla="*/ 2147483647 w 3981"/>
              <a:gd name="T109" fmla="*/ 2147483647 h 1127"/>
              <a:gd name="T110" fmla="*/ 2147483647 w 3981"/>
              <a:gd name="T111" fmla="*/ 2147483647 h 1127"/>
              <a:gd name="T112" fmla="*/ 2147483647 w 3981"/>
              <a:gd name="T113" fmla="*/ 2147483647 h 1127"/>
              <a:gd name="T114" fmla="*/ 0 w 3981"/>
              <a:gd name="T115" fmla="*/ 2147483647 h 1127"/>
              <a:gd name="T116" fmla="*/ 2147483647 w 3981"/>
              <a:gd name="T117" fmla="*/ 2147483647 h 1127"/>
              <a:gd name="T118" fmla="*/ 2147483647 w 3981"/>
              <a:gd name="T119" fmla="*/ 2147483647 h 1127"/>
              <a:gd name="T120" fmla="*/ 2147483647 w 3981"/>
              <a:gd name="T121" fmla="*/ 2147483647 h 1127"/>
              <a:gd name="T122" fmla="*/ 2147483647 w 3981"/>
              <a:gd name="T123" fmla="*/ 2147483647 h 1127"/>
              <a:gd name="T124" fmla="*/ 2147483647 w 3981"/>
              <a:gd name="T125" fmla="*/ 2147483647 h 1127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3981"/>
              <a:gd name="T190" fmla="*/ 0 h 1127"/>
              <a:gd name="T191" fmla="*/ 3981 w 3981"/>
              <a:gd name="T192" fmla="*/ 1127 h 1127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3981" h="1127">
                <a:moveTo>
                  <a:pt x="351" y="468"/>
                </a:moveTo>
                <a:lnTo>
                  <a:pt x="351" y="424"/>
                </a:lnTo>
                <a:lnTo>
                  <a:pt x="410" y="365"/>
                </a:lnTo>
                <a:lnTo>
                  <a:pt x="468" y="322"/>
                </a:lnTo>
                <a:lnTo>
                  <a:pt x="527" y="278"/>
                </a:lnTo>
                <a:lnTo>
                  <a:pt x="614" y="263"/>
                </a:lnTo>
                <a:lnTo>
                  <a:pt x="717" y="234"/>
                </a:lnTo>
                <a:lnTo>
                  <a:pt x="805" y="219"/>
                </a:lnTo>
                <a:lnTo>
                  <a:pt x="849" y="204"/>
                </a:lnTo>
                <a:lnTo>
                  <a:pt x="893" y="204"/>
                </a:lnTo>
                <a:lnTo>
                  <a:pt x="951" y="204"/>
                </a:lnTo>
                <a:lnTo>
                  <a:pt x="995" y="248"/>
                </a:lnTo>
                <a:lnTo>
                  <a:pt x="1054" y="307"/>
                </a:lnTo>
                <a:lnTo>
                  <a:pt x="1112" y="351"/>
                </a:lnTo>
                <a:lnTo>
                  <a:pt x="1156" y="365"/>
                </a:lnTo>
                <a:lnTo>
                  <a:pt x="1214" y="380"/>
                </a:lnTo>
                <a:lnTo>
                  <a:pt x="1273" y="395"/>
                </a:lnTo>
                <a:lnTo>
                  <a:pt x="1332" y="409"/>
                </a:lnTo>
                <a:lnTo>
                  <a:pt x="1390" y="409"/>
                </a:lnTo>
                <a:lnTo>
                  <a:pt x="1434" y="409"/>
                </a:lnTo>
                <a:lnTo>
                  <a:pt x="1551" y="395"/>
                </a:lnTo>
                <a:lnTo>
                  <a:pt x="1654" y="365"/>
                </a:lnTo>
                <a:lnTo>
                  <a:pt x="1756" y="336"/>
                </a:lnTo>
                <a:lnTo>
                  <a:pt x="1858" y="292"/>
                </a:lnTo>
                <a:lnTo>
                  <a:pt x="1917" y="234"/>
                </a:lnTo>
                <a:lnTo>
                  <a:pt x="2034" y="190"/>
                </a:lnTo>
                <a:lnTo>
                  <a:pt x="2151" y="146"/>
                </a:lnTo>
                <a:lnTo>
                  <a:pt x="2239" y="117"/>
                </a:lnTo>
                <a:lnTo>
                  <a:pt x="2297" y="73"/>
                </a:lnTo>
                <a:lnTo>
                  <a:pt x="2400" y="44"/>
                </a:lnTo>
                <a:lnTo>
                  <a:pt x="2444" y="0"/>
                </a:lnTo>
                <a:lnTo>
                  <a:pt x="2561" y="0"/>
                </a:lnTo>
                <a:lnTo>
                  <a:pt x="2619" y="0"/>
                </a:lnTo>
                <a:lnTo>
                  <a:pt x="2663" y="0"/>
                </a:lnTo>
                <a:lnTo>
                  <a:pt x="2707" y="0"/>
                </a:lnTo>
                <a:lnTo>
                  <a:pt x="2751" y="0"/>
                </a:lnTo>
                <a:lnTo>
                  <a:pt x="2795" y="29"/>
                </a:lnTo>
                <a:lnTo>
                  <a:pt x="2824" y="73"/>
                </a:lnTo>
                <a:lnTo>
                  <a:pt x="2854" y="117"/>
                </a:lnTo>
                <a:lnTo>
                  <a:pt x="2883" y="161"/>
                </a:lnTo>
                <a:lnTo>
                  <a:pt x="2927" y="204"/>
                </a:lnTo>
                <a:lnTo>
                  <a:pt x="2956" y="248"/>
                </a:lnTo>
                <a:lnTo>
                  <a:pt x="2971" y="292"/>
                </a:lnTo>
                <a:lnTo>
                  <a:pt x="3029" y="322"/>
                </a:lnTo>
                <a:lnTo>
                  <a:pt x="3073" y="336"/>
                </a:lnTo>
                <a:lnTo>
                  <a:pt x="3117" y="336"/>
                </a:lnTo>
                <a:lnTo>
                  <a:pt x="3161" y="351"/>
                </a:lnTo>
                <a:lnTo>
                  <a:pt x="3205" y="351"/>
                </a:lnTo>
                <a:lnTo>
                  <a:pt x="3249" y="365"/>
                </a:lnTo>
                <a:lnTo>
                  <a:pt x="3366" y="365"/>
                </a:lnTo>
                <a:lnTo>
                  <a:pt x="3454" y="380"/>
                </a:lnTo>
                <a:lnTo>
                  <a:pt x="3512" y="380"/>
                </a:lnTo>
                <a:lnTo>
                  <a:pt x="3629" y="409"/>
                </a:lnTo>
                <a:lnTo>
                  <a:pt x="3673" y="409"/>
                </a:lnTo>
                <a:lnTo>
                  <a:pt x="3790" y="439"/>
                </a:lnTo>
                <a:lnTo>
                  <a:pt x="3907" y="468"/>
                </a:lnTo>
                <a:lnTo>
                  <a:pt x="3936" y="512"/>
                </a:lnTo>
                <a:lnTo>
                  <a:pt x="3966" y="556"/>
                </a:lnTo>
                <a:lnTo>
                  <a:pt x="3980" y="600"/>
                </a:lnTo>
                <a:lnTo>
                  <a:pt x="3980" y="702"/>
                </a:lnTo>
                <a:lnTo>
                  <a:pt x="3980" y="746"/>
                </a:lnTo>
                <a:lnTo>
                  <a:pt x="3951" y="804"/>
                </a:lnTo>
                <a:lnTo>
                  <a:pt x="3907" y="863"/>
                </a:lnTo>
                <a:lnTo>
                  <a:pt x="3863" y="878"/>
                </a:lnTo>
                <a:lnTo>
                  <a:pt x="3805" y="892"/>
                </a:lnTo>
                <a:lnTo>
                  <a:pt x="3761" y="922"/>
                </a:lnTo>
                <a:lnTo>
                  <a:pt x="3702" y="936"/>
                </a:lnTo>
                <a:lnTo>
                  <a:pt x="3658" y="951"/>
                </a:lnTo>
                <a:lnTo>
                  <a:pt x="3600" y="965"/>
                </a:lnTo>
                <a:lnTo>
                  <a:pt x="3541" y="980"/>
                </a:lnTo>
                <a:lnTo>
                  <a:pt x="3483" y="995"/>
                </a:lnTo>
                <a:lnTo>
                  <a:pt x="3424" y="995"/>
                </a:lnTo>
                <a:lnTo>
                  <a:pt x="3366" y="995"/>
                </a:lnTo>
                <a:lnTo>
                  <a:pt x="3263" y="995"/>
                </a:lnTo>
                <a:lnTo>
                  <a:pt x="3146" y="995"/>
                </a:lnTo>
                <a:lnTo>
                  <a:pt x="3000" y="995"/>
                </a:lnTo>
                <a:lnTo>
                  <a:pt x="2912" y="995"/>
                </a:lnTo>
                <a:lnTo>
                  <a:pt x="2795" y="995"/>
                </a:lnTo>
                <a:lnTo>
                  <a:pt x="2707" y="995"/>
                </a:lnTo>
                <a:lnTo>
                  <a:pt x="2649" y="995"/>
                </a:lnTo>
                <a:lnTo>
                  <a:pt x="2590" y="995"/>
                </a:lnTo>
                <a:lnTo>
                  <a:pt x="2532" y="995"/>
                </a:lnTo>
                <a:lnTo>
                  <a:pt x="2414" y="995"/>
                </a:lnTo>
                <a:lnTo>
                  <a:pt x="2356" y="1009"/>
                </a:lnTo>
                <a:lnTo>
                  <a:pt x="2268" y="1009"/>
                </a:lnTo>
                <a:lnTo>
                  <a:pt x="2151" y="1009"/>
                </a:lnTo>
                <a:lnTo>
                  <a:pt x="2063" y="1009"/>
                </a:lnTo>
                <a:lnTo>
                  <a:pt x="1975" y="1009"/>
                </a:lnTo>
                <a:lnTo>
                  <a:pt x="1888" y="1009"/>
                </a:lnTo>
                <a:lnTo>
                  <a:pt x="1800" y="1009"/>
                </a:lnTo>
                <a:lnTo>
                  <a:pt x="1683" y="1009"/>
                </a:lnTo>
                <a:lnTo>
                  <a:pt x="1566" y="1009"/>
                </a:lnTo>
                <a:lnTo>
                  <a:pt x="1478" y="1009"/>
                </a:lnTo>
                <a:lnTo>
                  <a:pt x="1390" y="1009"/>
                </a:lnTo>
                <a:lnTo>
                  <a:pt x="1332" y="1039"/>
                </a:lnTo>
                <a:lnTo>
                  <a:pt x="1244" y="1039"/>
                </a:lnTo>
                <a:lnTo>
                  <a:pt x="1185" y="1068"/>
                </a:lnTo>
                <a:lnTo>
                  <a:pt x="1068" y="1112"/>
                </a:lnTo>
                <a:lnTo>
                  <a:pt x="951" y="1126"/>
                </a:lnTo>
                <a:lnTo>
                  <a:pt x="893" y="1126"/>
                </a:lnTo>
                <a:lnTo>
                  <a:pt x="805" y="1126"/>
                </a:lnTo>
                <a:lnTo>
                  <a:pt x="688" y="1126"/>
                </a:lnTo>
                <a:lnTo>
                  <a:pt x="600" y="1126"/>
                </a:lnTo>
                <a:lnTo>
                  <a:pt x="541" y="1126"/>
                </a:lnTo>
                <a:lnTo>
                  <a:pt x="424" y="1126"/>
                </a:lnTo>
                <a:lnTo>
                  <a:pt x="336" y="1097"/>
                </a:lnTo>
                <a:lnTo>
                  <a:pt x="219" y="1068"/>
                </a:lnTo>
                <a:lnTo>
                  <a:pt x="132" y="1039"/>
                </a:lnTo>
                <a:lnTo>
                  <a:pt x="73" y="1024"/>
                </a:lnTo>
                <a:lnTo>
                  <a:pt x="44" y="980"/>
                </a:lnTo>
                <a:lnTo>
                  <a:pt x="44" y="922"/>
                </a:lnTo>
                <a:lnTo>
                  <a:pt x="44" y="863"/>
                </a:lnTo>
                <a:lnTo>
                  <a:pt x="44" y="819"/>
                </a:lnTo>
                <a:lnTo>
                  <a:pt x="14" y="775"/>
                </a:lnTo>
                <a:lnTo>
                  <a:pt x="0" y="731"/>
                </a:lnTo>
                <a:lnTo>
                  <a:pt x="0" y="687"/>
                </a:lnTo>
                <a:lnTo>
                  <a:pt x="44" y="658"/>
                </a:lnTo>
                <a:lnTo>
                  <a:pt x="88" y="644"/>
                </a:lnTo>
                <a:lnTo>
                  <a:pt x="146" y="644"/>
                </a:lnTo>
                <a:lnTo>
                  <a:pt x="190" y="629"/>
                </a:lnTo>
                <a:lnTo>
                  <a:pt x="234" y="629"/>
                </a:lnTo>
                <a:lnTo>
                  <a:pt x="278" y="629"/>
                </a:lnTo>
                <a:lnTo>
                  <a:pt x="322" y="600"/>
                </a:lnTo>
                <a:lnTo>
                  <a:pt x="351" y="556"/>
                </a:lnTo>
                <a:lnTo>
                  <a:pt x="366" y="512"/>
                </a:lnTo>
                <a:lnTo>
                  <a:pt x="366" y="468"/>
                </a:lnTo>
                <a:lnTo>
                  <a:pt x="351" y="468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miter lim="800000"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0" name="Line 5"/>
          <p:cNvSpPr>
            <a:spLocks noChangeShapeType="1"/>
          </p:cNvSpPr>
          <p:nvPr/>
        </p:nvSpPr>
        <p:spPr bwMode="auto">
          <a:xfrm>
            <a:off x="1657350" y="4343400"/>
            <a:ext cx="116205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81" name="Oval 6"/>
          <p:cNvSpPr>
            <a:spLocks noChangeArrowheads="1"/>
          </p:cNvSpPr>
          <p:nvPr/>
        </p:nvSpPr>
        <p:spPr bwMode="auto">
          <a:xfrm>
            <a:off x="5562600" y="2471738"/>
            <a:ext cx="2286000" cy="388620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rgbClr val="2C5B87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2" name="Text Box 7"/>
          <p:cNvSpPr txBox="1">
            <a:spLocks noChangeArrowheads="1"/>
          </p:cNvSpPr>
          <p:nvPr/>
        </p:nvSpPr>
        <p:spPr bwMode="auto">
          <a:xfrm>
            <a:off x="3170238" y="4287838"/>
            <a:ext cx="1241425" cy="4921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过程  </a:t>
            </a:r>
            <a:r>
              <a:rPr kumimoji="0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B</a:t>
            </a: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3" name="AutoShape 8"/>
          <p:cNvSpPr>
            <a:spLocks noChangeArrowheads="1"/>
          </p:cNvSpPr>
          <p:nvPr/>
        </p:nvSpPr>
        <p:spPr bwMode="auto">
          <a:xfrm>
            <a:off x="6248400" y="2817813"/>
            <a:ext cx="1203325" cy="685800"/>
          </a:xfrm>
          <a:prstGeom prst="flowChartDocument">
            <a:avLst/>
          </a:prstGeom>
          <a:noFill/>
          <a:ln w="19050" cmpd="sng">
            <a:solidFill>
              <a:schemeClr val="bg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产品</a:t>
            </a: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4" name="Freeform 9"/>
          <p:cNvSpPr/>
          <p:nvPr/>
        </p:nvSpPr>
        <p:spPr bwMode="auto">
          <a:xfrm>
            <a:off x="2971800" y="5181600"/>
            <a:ext cx="1828800" cy="762000"/>
          </a:xfrm>
          <a:custGeom>
            <a:avLst/>
            <a:gdLst>
              <a:gd name="T0" fmla="*/ 0 w 1152"/>
              <a:gd name="T1" fmla="*/ 2147483647 h 672"/>
              <a:gd name="T2" fmla="*/ 2147483647 w 1152"/>
              <a:gd name="T3" fmla="*/ 0 h 672"/>
              <a:gd name="T4" fmla="*/ 2147483647 w 1152"/>
              <a:gd name="T5" fmla="*/ 0 h 672"/>
              <a:gd name="T6" fmla="*/ 2147483647 w 1152"/>
              <a:gd name="T7" fmla="*/ 2147483647 h 672"/>
              <a:gd name="T8" fmla="*/ 2147483647 w 1152"/>
              <a:gd name="T9" fmla="*/ 2147483647 h 672"/>
              <a:gd name="T10" fmla="*/ 2147483647 w 1152"/>
              <a:gd name="T11" fmla="*/ 2147483647 h 672"/>
              <a:gd name="T12" fmla="*/ 2147483647 w 1152"/>
              <a:gd name="T13" fmla="*/ 2147483647 h 672"/>
              <a:gd name="T14" fmla="*/ 2147483647 w 1152"/>
              <a:gd name="T15" fmla="*/ 2147483647 h 672"/>
              <a:gd name="T16" fmla="*/ 0 w 1152"/>
              <a:gd name="T17" fmla="*/ 2147483647 h 67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52"/>
              <a:gd name="T28" fmla="*/ 0 h 672"/>
              <a:gd name="T29" fmla="*/ 1152 w 1152"/>
              <a:gd name="T30" fmla="*/ 672 h 67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52" h="672">
                <a:moveTo>
                  <a:pt x="0" y="288"/>
                </a:moveTo>
                <a:lnTo>
                  <a:pt x="288" y="0"/>
                </a:lnTo>
                <a:lnTo>
                  <a:pt x="672" y="0"/>
                </a:lnTo>
                <a:lnTo>
                  <a:pt x="912" y="96"/>
                </a:lnTo>
                <a:lnTo>
                  <a:pt x="1152" y="336"/>
                </a:lnTo>
                <a:lnTo>
                  <a:pt x="912" y="576"/>
                </a:lnTo>
                <a:lnTo>
                  <a:pt x="432" y="672"/>
                </a:lnTo>
                <a:lnTo>
                  <a:pt x="144" y="528"/>
                </a:lnTo>
                <a:lnTo>
                  <a:pt x="0" y="288"/>
                </a:ln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5" name="Text Box 10"/>
          <p:cNvSpPr txBox="1">
            <a:spLocks noChangeArrowheads="1"/>
          </p:cNvSpPr>
          <p:nvPr/>
        </p:nvSpPr>
        <p:spPr bwMode="auto">
          <a:xfrm>
            <a:off x="3163888" y="5275263"/>
            <a:ext cx="1157288" cy="4921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过程 </a:t>
            </a:r>
            <a:r>
              <a:rPr kumimoji="0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C</a:t>
            </a: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6" name="Freeform 11"/>
          <p:cNvSpPr/>
          <p:nvPr/>
        </p:nvSpPr>
        <p:spPr bwMode="auto">
          <a:xfrm>
            <a:off x="2857500" y="2743200"/>
            <a:ext cx="2247900" cy="914400"/>
          </a:xfrm>
          <a:custGeom>
            <a:avLst/>
            <a:gdLst>
              <a:gd name="T0" fmla="*/ 2147483647 w 1464"/>
              <a:gd name="T1" fmla="*/ 2147483647 h 640"/>
              <a:gd name="T2" fmla="*/ 2147483647 w 1464"/>
              <a:gd name="T3" fmla="*/ 0 h 640"/>
              <a:gd name="T4" fmla="*/ 2147483647 w 1464"/>
              <a:gd name="T5" fmla="*/ 2147483647 h 640"/>
              <a:gd name="T6" fmla="*/ 2147483647 w 1464"/>
              <a:gd name="T7" fmla="*/ 2147483647 h 640"/>
              <a:gd name="T8" fmla="*/ 2147483647 w 1464"/>
              <a:gd name="T9" fmla="*/ 2147483647 h 640"/>
              <a:gd name="T10" fmla="*/ 2147483647 w 1464"/>
              <a:gd name="T11" fmla="*/ 2147483647 h 640"/>
              <a:gd name="T12" fmla="*/ 2147483647 w 1464"/>
              <a:gd name="T13" fmla="*/ 2147483647 h 640"/>
              <a:gd name="T14" fmla="*/ 2147483647 w 1464"/>
              <a:gd name="T15" fmla="*/ 2147483647 h 640"/>
              <a:gd name="T16" fmla="*/ 2147483647 w 1464"/>
              <a:gd name="T17" fmla="*/ 2147483647 h 64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464"/>
              <a:gd name="T28" fmla="*/ 0 h 640"/>
              <a:gd name="T29" fmla="*/ 1464 w 1464"/>
              <a:gd name="T30" fmla="*/ 640 h 64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464" h="640">
                <a:moveTo>
                  <a:pt x="168" y="192"/>
                </a:moveTo>
                <a:cubicBezTo>
                  <a:pt x="304" y="112"/>
                  <a:pt x="704" y="0"/>
                  <a:pt x="888" y="0"/>
                </a:cubicBezTo>
                <a:cubicBezTo>
                  <a:pt x="1072" y="0"/>
                  <a:pt x="1216" y="120"/>
                  <a:pt x="1272" y="192"/>
                </a:cubicBezTo>
                <a:cubicBezTo>
                  <a:pt x="1328" y="264"/>
                  <a:pt x="1208" y="368"/>
                  <a:pt x="1224" y="432"/>
                </a:cubicBezTo>
                <a:cubicBezTo>
                  <a:pt x="1240" y="496"/>
                  <a:pt x="1464" y="544"/>
                  <a:pt x="1368" y="576"/>
                </a:cubicBezTo>
                <a:cubicBezTo>
                  <a:pt x="1272" y="608"/>
                  <a:pt x="776" y="640"/>
                  <a:pt x="648" y="624"/>
                </a:cubicBezTo>
                <a:cubicBezTo>
                  <a:pt x="520" y="608"/>
                  <a:pt x="696" y="504"/>
                  <a:pt x="600" y="480"/>
                </a:cubicBezTo>
                <a:cubicBezTo>
                  <a:pt x="504" y="456"/>
                  <a:pt x="144" y="528"/>
                  <a:pt x="72" y="480"/>
                </a:cubicBezTo>
                <a:cubicBezTo>
                  <a:pt x="0" y="432"/>
                  <a:pt x="32" y="272"/>
                  <a:pt x="168" y="192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7" name="Text Box 12"/>
          <p:cNvSpPr txBox="1">
            <a:spLocks noChangeArrowheads="1"/>
          </p:cNvSpPr>
          <p:nvPr/>
        </p:nvSpPr>
        <p:spPr bwMode="auto">
          <a:xfrm>
            <a:off x="3111500" y="2971800"/>
            <a:ext cx="1854200" cy="492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过程 </a:t>
            </a:r>
            <a:r>
              <a:rPr kumimoji="0" lang="en-US" altLang="zh-CN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A</a:t>
            </a:r>
            <a:endParaRPr kumimoji="0" lang="en-US" altLang="zh-CN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88" name="Line 13"/>
          <p:cNvSpPr>
            <a:spLocks noChangeShapeType="1"/>
          </p:cNvSpPr>
          <p:nvPr/>
        </p:nvSpPr>
        <p:spPr bwMode="auto">
          <a:xfrm flipV="1">
            <a:off x="1714500" y="3352800"/>
            <a:ext cx="1143000" cy="606425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med" len="med"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89" name="Line 14"/>
          <p:cNvSpPr>
            <a:spLocks noChangeShapeType="1"/>
          </p:cNvSpPr>
          <p:nvPr/>
        </p:nvSpPr>
        <p:spPr bwMode="auto">
          <a:xfrm>
            <a:off x="1657350" y="4875213"/>
            <a:ext cx="1162050" cy="68580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med" len="med"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90" name="Text Box 15"/>
          <p:cNvSpPr txBox="1">
            <a:spLocks noChangeArrowheads="1"/>
          </p:cNvSpPr>
          <p:nvPr/>
        </p:nvSpPr>
        <p:spPr bwMode="auto">
          <a:xfrm>
            <a:off x="852488" y="2562225"/>
            <a:ext cx="1004888" cy="584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需求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1" name="AutoShape 16"/>
          <p:cNvSpPr>
            <a:spLocks noChangeArrowheads="1"/>
          </p:cNvSpPr>
          <p:nvPr/>
        </p:nvSpPr>
        <p:spPr bwMode="auto">
          <a:xfrm>
            <a:off x="6249988" y="4040188"/>
            <a:ext cx="1027113" cy="692150"/>
          </a:xfrm>
          <a:prstGeom prst="octagon">
            <a:avLst>
              <a:gd name="adj" fmla="val 29287"/>
            </a:avLst>
          </a:prstGeom>
          <a:noFill/>
          <a:ln w="19050" cmpd="sng">
            <a:solidFill>
              <a:schemeClr val="bg1"/>
            </a:solidFill>
            <a:miter lim="800000"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2" name="AutoShape 17"/>
          <p:cNvSpPr>
            <a:spLocks noChangeArrowheads="1"/>
          </p:cNvSpPr>
          <p:nvPr/>
        </p:nvSpPr>
        <p:spPr bwMode="auto">
          <a:xfrm>
            <a:off x="6172200" y="5000625"/>
            <a:ext cx="1141413" cy="1190625"/>
          </a:xfrm>
          <a:prstGeom prst="hexagon">
            <a:avLst>
              <a:gd name="adj" fmla="val 53681"/>
              <a:gd name="vf" fmla="val 115470"/>
            </a:avLst>
          </a:prstGeom>
          <a:noFill/>
          <a:ln w="19050" cmpd="sng">
            <a:solidFill>
              <a:schemeClr val="bg1"/>
            </a:solidFill>
            <a:miter lim="800000"/>
          </a:ln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3" name="Line 18"/>
          <p:cNvSpPr>
            <a:spLocks noChangeShapeType="1"/>
          </p:cNvSpPr>
          <p:nvPr/>
        </p:nvSpPr>
        <p:spPr bwMode="auto">
          <a:xfrm>
            <a:off x="4876800" y="4343400"/>
            <a:ext cx="12954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94" name="Line 19"/>
          <p:cNvSpPr>
            <a:spLocks noChangeShapeType="1"/>
          </p:cNvSpPr>
          <p:nvPr/>
        </p:nvSpPr>
        <p:spPr bwMode="auto">
          <a:xfrm>
            <a:off x="4876800" y="3124200"/>
            <a:ext cx="12954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95" name="Line 20"/>
          <p:cNvSpPr>
            <a:spLocks noChangeShapeType="1"/>
          </p:cNvSpPr>
          <p:nvPr/>
        </p:nvSpPr>
        <p:spPr bwMode="auto">
          <a:xfrm>
            <a:off x="4800600" y="5561013"/>
            <a:ext cx="1295400" cy="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med" len="med"/>
          </a:ln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0196" name="Text Box 21"/>
          <p:cNvSpPr txBox="1">
            <a:spLocks noChangeArrowheads="1"/>
          </p:cNvSpPr>
          <p:nvPr/>
        </p:nvSpPr>
        <p:spPr bwMode="auto">
          <a:xfrm>
            <a:off x="7769225" y="2743200"/>
            <a:ext cx="981075" cy="49212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algn="ctr" eaLnBrk="0" fontAlgn="base" hangingPunct="0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Foucs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197" name="Line 22"/>
          <p:cNvSpPr>
            <a:spLocks noChangeShapeType="1"/>
          </p:cNvSpPr>
          <p:nvPr/>
        </p:nvSpPr>
        <p:spPr bwMode="auto">
          <a:xfrm flipH="1">
            <a:off x="7769225" y="3259138"/>
            <a:ext cx="685800" cy="457200"/>
          </a:xfrm>
          <a:prstGeom prst="line">
            <a:avLst/>
          </a:prstGeom>
          <a:noFill/>
          <a:ln w="28575" cmpd="sng">
            <a:solidFill>
              <a:schemeClr val="tx1"/>
            </a:solidFill>
            <a:round/>
            <a:tailEnd type="triangle" w="med" len="med"/>
          </a:ln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50198" name="Group 22"/>
          <p:cNvGrpSpPr/>
          <p:nvPr/>
        </p:nvGrpSpPr>
        <p:grpSpPr>
          <a:xfrm>
            <a:off x="588963" y="3436938"/>
            <a:ext cx="1066800" cy="2124075"/>
            <a:chOff x="0" y="0"/>
            <a:chExt cx="672" cy="1339"/>
          </a:xfrm>
        </p:grpSpPr>
        <p:sp>
          <p:nvSpPr>
            <p:cNvPr id="2" name="Freeform 24"/>
            <p:cNvSpPr>
              <a:spLocks noChangeArrowheads="1"/>
            </p:cNvSpPr>
            <p:nvPr/>
          </p:nvSpPr>
          <p:spPr bwMode="auto">
            <a:xfrm>
              <a:off x="214" y="75"/>
              <a:ext cx="264" cy="293"/>
            </a:xfrm>
            <a:custGeom>
              <a:avLst/>
              <a:gdLst>
                <a:gd name="T0" fmla="*/ 3 w 526"/>
                <a:gd name="T1" fmla="*/ 2 h 584"/>
                <a:gd name="T2" fmla="*/ 2 w 526"/>
                <a:gd name="T3" fmla="*/ 1 h 584"/>
                <a:gd name="T4" fmla="*/ 2 w 526"/>
                <a:gd name="T5" fmla="*/ 1 h 584"/>
                <a:gd name="T6" fmla="*/ 1 w 526"/>
                <a:gd name="T7" fmla="*/ 0 h 584"/>
                <a:gd name="T8" fmla="*/ 1 w 526"/>
                <a:gd name="T9" fmla="*/ 1 h 584"/>
                <a:gd name="T10" fmla="*/ 1 w 526"/>
                <a:gd name="T11" fmla="*/ 1 h 584"/>
                <a:gd name="T12" fmla="*/ 0 w 526"/>
                <a:gd name="T13" fmla="*/ 2 h 584"/>
                <a:gd name="T14" fmla="*/ 1 w 526"/>
                <a:gd name="T15" fmla="*/ 3 h 584"/>
                <a:gd name="T16" fmla="*/ 1 w 526"/>
                <a:gd name="T17" fmla="*/ 3 h 584"/>
                <a:gd name="T18" fmla="*/ 1 w 526"/>
                <a:gd name="T19" fmla="*/ 4 h 584"/>
                <a:gd name="T20" fmla="*/ 1 w 526"/>
                <a:gd name="T21" fmla="*/ 5 h 584"/>
                <a:gd name="T22" fmla="*/ 2 w 526"/>
                <a:gd name="T23" fmla="*/ 5 h 584"/>
                <a:gd name="T24" fmla="*/ 2 w 526"/>
                <a:gd name="T25" fmla="*/ 5 h 584"/>
                <a:gd name="T26" fmla="*/ 3 w 526"/>
                <a:gd name="T27" fmla="*/ 5 h 584"/>
                <a:gd name="T28" fmla="*/ 3 w 526"/>
                <a:gd name="T29" fmla="*/ 4 h 584"/>
                <a:gd name="T30" fmla="*/ 3 w 526"/>
                <a:gd name="T31" fmla="*/ 4 h 584"/>
                <a:gd name="T32" fmla="*/ 3 w 526"/>
                <a:gd name="T33" fmla="*/ 3 h 584"/>
                <a:gd name="T34" fmla="*/ 5 w 526"/>
                <a:gd name="T35" fmla="*/ 3 h 584"/>
                <a:gd name="T36" fmla="*/ 5 w 526"/>
                <a:gd name="T37" fmla="*/ 3 h 584"/>
                <a:gd name="T38" fmla="*/ 3 w 526"/>
                <a:gd name="T39" fmla="*/ 3 h 584"/>
                <a:gd name="T40" fmla="*/ 3 w 526"/>
                <a:gd name="T41" fmla="*/ 2 h 584"/>
                <a:gd name="T42" fmla="*/ 3 w 526"/>
                <a:gd name="T43" fmla="*/ 2 h 58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526"/>
                <a:gd name="T67" fmla="*/ 0 h 584"/>
                <a:gd name="T68" fmla="*/ 526 w 526"/>
                <a:gd name="T69" fmla="*/ 584 h 584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526" h="584">
                  <a:moveTo>
                    <a:pt x="274" y="135"/>
                  </a:moveTo>
                  <a:lnTo>
                    <a:pt x="228" y="75"/>
                  </a:lnTo>
                  <a:lnTo>
                    <a:pt x="164" y="30"/>
                  </a:lnTo>
                  <a:lnTo>
                    <a:pt x="106" y="0"/>
                  </a:lnTo>
                  <a:lnTo>
                    <a:pt x="60" y="8"/>
                  </a:lnTo>
                  <a:lnTo>
                    <a:pt x="26" y="41"/>
                  </a:lnTo>
                  <a:lnTo>
                    <a:pt x="0" y="143"/>
                  </a:lnTo>
                  <a:lnTo>
                    <a:pt x="10" y="259"/>
                  </a:lnTo>
                  <a:lnTo>
                    <a:pt x="38" y="371"/>
                  </a:lnTo>
                  <a:lnTo>
                    <a:pt x="68" y="457"/>
                  </a:lnTo>
                  <a:lnTo>
                    <a:pt x="125" y="547"/>
                  </a:lnTo>
                  <a:lnTo>
                    <a:pt x="175" y="584"/>
                  </a:lnTo>
                  <a:lnTo>
                    <a:pt x="243" y="584"/>
                  </a:lnTo>
                  <a:lnTo>
                    <a:pt x="312" y="559"/>
                  </a:lnTo>
                  <a:lnTo>
                    <a:pt x="347" y="494"/>
                  </a:lnTo>
                  <a:lnTo>
                    <a:pt x="365" y="412"/>
                  </a:lnTo>
                  <a:lnTo>
                    <a:pt x="358" y="311"/>
                  </a:lnTo>
                  <a:lnTo>
                    <a:pt x="518" y="323"/>
                  </a:lnTo>
                  <a:lnTo>
                    <a:pt x="526" y="278"/>
                  </a:lnTo>
                  <a:lnTo>
                    <a:pt x="343" y="259"/>
                  </a:lnTo>
                  <a:lnTo>
                    <a:pt x="297" y="154"/>
                  </a:lnTo>
                  <a:lnTo>
                    <a:pt x="274" y="1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00" name="Freeform 25"/>
            <p:cNvSpPr>
              <a:spLocks noChangeArrowheads="1"/>
            </p:cNvSpPr>
            <p:nvPr/>
          </p:nvSpPr>
          <p:spPr bwMode="auto">
            <a:xfrm>
              <a:off x="0" y="0"/>
              <a:ext cx="303" cy="469"/>
            </a:xfrm>
            <a:custGeom>
              <a:avLst/>
              <a:gdLst>
                <a:gd name="T0" fmla="*/ 2 w 606"/>
                <a:gd name="T1" fmla="*/ 1 h 937"/>
                <a:gd name="T2" fmla="*/ 3 w 606"/>
                <a:gd name="T3" fmla="*/ 0 h 937"/>
                <a:gd name="T4" fmla="*/ 3 w 606"/>
                <a:gd name="T5" fmla="*/ 1 h 937"/>
                <a:gd name="T6" fmla="*/ 5 w 606"/>
                <a:gd name="T7" fmla="*/ 1 h 937"/>
                <a:gd name="T8" fmla="*/ 5 w 606"/>
                <a:gd name="T9" fmla="*/ 1 h 937"/>
                <a:gd name="T10" fmla="*/ 5 w 606"/>
                <a:gd name="T11" fmla="*/ 2 h 937"/>
                <a:gd name="T12" fmla="*/ 5 w 606"/>
                <a:gd name="T13" fmla="*/ 2 h 937"/>
                <a:gd name="T14" fmla="*/ 5 w 606"/>
                <a:gd name="T15" fmla="*/ 1 h 937"/>
                <a:gd name="T16" fmla="*/ 3 w 606"/>
                <a:gd name="T17" fmla="*/ 1 h 937"/>
                <a:gd name="T18" fmla="*/ 3 w 606"/>
                <a:gd name="T19" fmla="*/ 1 h 937"/>
                <a:gd name="T20" fmla="*/ 3 w 606"/>
                <a:gd name="T21" fmla="*/ 1 h 937"/>
                <a:gd name="T22" fmla="*/ 3 w 606"/>
                <a:gd name="T23" fmla="*/ 1 h 937"/>
                <a:gd name="T24" fmla="*/ 3 w 606"/>
                <a:gd name="T25" fmla="*/ 2 h 937"/>
                <a:gd name="T26" fmla="*/ 3 w 606"/>
                <a:gd name="T27" fmla="*/ 2 h 937"/>
                <a:gd name="T28" fmla="*/ 2 w 606"/>
                <a:gd name="T29" fmla="*/ 2 h 937"/>
                <a:gd name="T30" fmla="*/ 2 w 606"/>
                <a:gd name="T31" fmla="*/ 2 h 937"/>
                <a:gd name="T32" fmla="*/ 2 w 606"/>
                <a:gd name="T33" fmla="*/ 2 h 937"/>
                <a:gd name="T34" fmla="*/ 1 w 606"/>
                <a:gd name="T35" fmla="*/ 2 h 937"/>
                <a:gd name="T36" fmla="*/ 1 w 606"/>
                <a:gd name="T37" fmla="*/ 3 h 937"/>
                <a:gd name="T38" fmla="*/ 1 w 606"/>
                <a:gd name="T39" fmla="*/ 4 h 937"/>
                <a:gd name="T40" fmla="*/ 1 w 606"/>
                <a:gd name="T41" fmla="*/ 4 h 937"/>
                <a:gd name="T42" fmla="*/ 1 w 606"/>
                <a:gd name="T43" fmla="*/ 5 h 937"/>
                <a:gd name="T44" fmla="*/ 1 w 606"/>
                <a:gd name="T45" fmla="*/ 5 h 937"/>
                <a:gd name="T46" fmla="*/ 1 w 606"/>
                <a:gd name="T47" fmla="*/ 6 h 937"/>
                <a:gd name="T48" fmla="*/ 2 w 606"/>
                <a:gd name="T49" fmla="*/ 6 h 937"/>
                <a:gd name="T50" fmla="*/ 2 w 606"/>
                <a:gd name="T51" fmla="*/ 6 h 937"/>
                <a:gd name="T52" fmla="*/ 3 w 606"/>
                <a:gd name="T53" fmla="*/ 6 h 937"/>
                <a:gd name="T54" fmla="*/ 5 w 606"/>
                <a:gd name="T55" fmla="*/ 7 h 937"/>
                <a:gd name="T56" fmla="*/ 5 w 606"/>
                <a:gd name="T57" fmla="*/ 7 h 937"/>
                <a:gd name="T58" fmla="*/ 5 w 606"/>
                <a:gd name="T59" fmla="*/ 7 h 937"/>
                <a:gd name="T60" fmla="*/ 5 w 606"/>
                <a:gd name="T61" fmla="*/ 8 h 937"/>
                <a:gd name="T62" fmla="*/ 5 w 606"/>
                <a:gd name="T63" fmla="*/ 8 h 937"/>
                <a:gd name="T64" fmla="*/ 3 w 606"/>
                <a:gd name="T65" fmla="*/ 8 h 937"/>
                <a:gd name="T66" fmla="*/ 2 w 606"/>
                <a:gd name="T67" fmla="*/ 7 h 937"/>
                <a:gd name="T68" fmla="*/ 1 w 606"/>
                <a:gd name="T69" fmla="*/ 6 h 937"/>
                <a:gd name="T70" fmla="*/ 1 w 606"/>
                <a:gd name="T71" fmla="*/ 6 h 937"/>
                <a:gd name="T72" fmla="*/ 1 w 606"/>
                <a:gd name="T73" fmla="*/ 6 h 937"/>
                <a:gd name="T74" fmla="*/ 0 w 606"/>
                <a:gd name="T75" fmla="*/ 5 h 937"/>
                <a:gd name="T76" fmla="*/ 1 w 606"/>
                <a:gd name="T77" fmla="*/ 4 h 937"/>
                <a:gd name="T78" fmla="*/ 1 w 606"/>
                <a:gd name="T79" fmla="*/ 3 h 937"/>
                <a:gd name="T80" fmla="*/ 1 w 606"/>
                <a:gd name="T81" fmla="*/ 2 h 937"/>
                <a:gd name="T82" fmla="*/ 1 w 606"/>
                <a:gd name="T83" fmla="*/ 1 h 937"/>
                <a:gd name="T84" fmla="*/ 2 w 606"/>
                <a:gd name="T85" fmla="*/ 1 h 937"/>
                <a:gd name="T86" fmla="*/ 3 w 606"/>
                <a:gd name="T87" fmla="*/ 1 h 937"/>
                <a:gd name="T88" fmla="*/ 2 w 606"/>
                <a:gd name="T89" fmla="*/ 1 h 93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06"/>
                <a:gd name="T136" fmla="*/ 0 h 937"/>
                <a:gd name="T137" fmla="*/ 606 w 606"/>
                <a:gd name="T138" fmla="*/ 937 h 93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06" h="937">
                  <a:moveTo>
                    <a:pt x="354" y="22"/>
                  </a:moveTo>
                  <a:lnTo>
                    <a:pt x="430" y="0"/>
                  </a:lnTo>
                  <a:lnTo>
                    <a:pt x="491" y="3"/>
                  </a:lnTo>
                  <a:lnTo>
                    <a:pt x="537" y="37"/>
                  </a:lnTo>
                  <a:lnTo>
                    <a:pt x="568" y="90"/>
                  </a:lnTo>
                  <a:lnTo>
                    <a:pt x="557" y="145"/>
                  </a:lnTo>
                  <a:lnTo>
                    <a:pt x="514" y="145"/>
                  </a:lnTo>
                  <a:lnTo>
                    <a:pt x="526" y="100"/>
                  </a:lnTo>
                  <a:lnTo>
                    <a:pt x="491" y="60"/>
                  </a:lnTo>
                  <a:lnTo>
                    <a:pt x="458" y="45"/>
                  </a:lnTo>
                  <a:lnTo>
                    <a:pt x="400" y="60"/>
                  </a:lnTo>
                  <a:lnTo>
                    <a:pt x="423" y="105"/>
                  </a:lnTo>
                  <a:lnTo>
                    <a:pt x="430" y="145"/>
                  </a:lnTo>
                  <a:lnTo>
                    <a:pt x="423" y="180"/>
                  </a:lnTo>
                  <a:lnTo>
                    <a:pt x="366" y="195"/>
                  </a:lnTo>
                  <a:lnTo>
                    <a:pt x="304" y="183"/>
                  </a:lnTo>
                  <a:lnTo>
                    <a:pt x="293" y="157"/>
                  </a:lnTo>
                  <a:lnTo>
                    <a:pt x="228" y="228"/>
                  </a:lnTo>
                  <a:lnTo>
                    <a:pt x="190" y="307"/>
                  </a:lnTo>
                  <a:lnTo>
                    <a:pt x="137" y="408"/>
                  </a:lnTo>
                  <a:lnTo>
                    <a:pt x="103" y="498"/>
                  </a:lnTo>
                  <a:lnTo>
                    <a:pt x="88" y="584"/>
                  </a:lnTo>
                  <a:lnTo>
                    <a:pt x="99" y="629"/>
                  </a:lnTo>
                  <a:lnTo>
                    <a:pt x="160" y="686"/>
                  </a:lnTo>
                  <a:lnTo>
                    <a:pt x="286" y="734"/>
                  </a:lnTo>
                  <a:lnTo>
                    <a:pt x="354" y="756"/>
                  </a:lnTo>
                  <a:lnTo>
                    <a:pt x="423" y="768"/>
                  </a:lnTo>
                  <a:lnTo>
                    <a:pt x="526" y="809"/>
                  </a:lnTo>
                  <a:lnTo>
                    <a:pt x="602" y="836"/>
                  </a:lnTo>
                  <a:lnTo>
                    <a:pt x="606" y="888"/>
                  </a:lnTo>
                  <a:lnTo>
                    <a:pt x="568" y="926"/>
                  </a:lnTo>
                  <a:lnTo>
                    <a:pt x="522" y="937"/>
                  </a:lnTo>
                  <a:lnTo>
                    <a:pt x="453" y="903"/>
                  </a:lnTo>
                  <a:lnTo>
                    <a:pt x="293" y="821"/>
                  </a:lnTo>
                  <a:lnTo>
                    <a:pt x="160" y="764"/>
                  </a:lnTo>
                  <a:lnTo>
                    <a:pt x="68" y="701"/>
                  </a:lnTo>
                  <a:lnTo>
                    <a:pt x="7" y="644"/>
                  </a:lnTo>
                  <a:lnTo>
                    <a:pt x="0" y="576"/>
                  </a:lnTo>
                  <a:lnTo>
                    <a:pt x="34" y="486"/>
                  </a:lnTo>
                  <a:lnTo>
                    <a:pt x="103" y="351"/>
                  </a:lnTo>
                  <a:lnTo>
                    <a:pt x="167" y="240"/>
                  </a:lnTo>
                  <a:lnTo>
                    <a:pt x="248" y="123"/>
                  </a:lnTo>
                  <a:lnTo>
                    <a:pt x="309" y="55"/>
                  </a:lnTo>
                  <a:lnTo>
                    <a:pt x="385" y="22"/>
                  </a:lnTo>
                  <a:lnTo>
                    <a:pt x="354" y="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01" name="Freeform 26"/>
            <p:cNvSpPr>
              <a:spLocks noChangeArrowheads="1"/>
            </p:cNvSpPr>
            <p:nvPr/>
          </p:nvSpPr>
          <p:spPr bwMode="auto">
            <a:xfrm>
              <a:off x="286" y="389"/>
              <a:ext cx="158" cy="422"/>
            </a:xfrm>
            <a:custGeom>
              <a:avLst/>
              <a:gdLst>
                <a:gd name="T0" fmla="*/ 0 w 317"/>
                <a:gd name="T1" fmla="*/ 1 h 880"/>
                <a:gd name="T2" fmla="*/ 0 w 317"/>
                <a:gd name="T3" fmla="*/ 0 h 880"/>
                <a:gd name="T4" fmla="*/ 0 w 317"/>
                <a:gd name="T5" fmla="*/ 0 h 880"/>
                <a:gd name="T6" fmla="*/ 0 w 317"/>
                <a:gd name="T7" fmla="*/ 0 h 880"/>
                <a:gd name="T8" fmla="*/ 1 w 317"/>
                <a:gd name="T9" fmla="*/ 0 h 880"/>
                <a:gd name="T10" fmla="*/ 1 w 317"/>
                <a:gd name="T11" fmla="*/ 1 h 880"/>
                <a:gd name="T12" fmla="*/ 2 w 317"/>
                <a:gd name="T13" fmla="*/ 1 h 880"/>
                <a:gd name="T14" fmla="*/ 2 w 317"/>
                <a:gd name="T15" fmla="*/ 2 h 880"/>
                <a:gd name="T16" fmla="*/ 2 w 317"/>
                <a:gd name="T17" fmla="*/ 3 h 880"/>
                <a:gd name="T18" fmla="*/ 2 w 317"/>
                <a:gd name="T19" fmla="*/ 4 h 880"/>
                <a:gd name="T20" fmla="*/ 2 w 317"/>
                <a:gd name="T21" fmla="*/ 6 h 880"/>
                <a:gd name="T22" fmla="*/ 2 w 317"/>
                <a:gd name="T23" fmla="*/ 6 h 880"/>
                <a:gd name="T24" fmla="*/ 1 w 317"/>
                <a:gd name="T25" fmla="*/ 7 h 880"/>
                <a:gd name="T26" fmla="*/ 1 w 317"/>
                <a:gd name="T27" fmla="*/ 7 h 880"/>
                <a:gd name="T28" fmla="*/ 0 w 317"/>
                <a:gd name="T29" fmla="*/ 7 h 880"/>
                <a:gd name="T30" fmla="*/ 0 w 317"/>
                <a:gd name="T31" fmla="*/ 6 h 880"/>
                <a:gd name="T32" fmla="*/ 0 w 317"/>
                <a:gd name="T33" fmla="*/ 6 h 880"/>
                <a:gd name="T34" fmla="*/ 0 w 317"/>
                <a:gd name="T35" fmla="*/ 5 h 880"/>
                <a:gd name="T36" fmla="*/ 0 w 317"/>
                <a:gd name="T37" fmla="*/ 4 h 880"/>
                <a:gd name="T38" fmla="*/ 0 w 317"/>
                <a:gd name="T39" fmla="*/ 3 h 880"/>
                <a:gd name="T40" fmla="*/ 0 w 317"/>
                <a:gd name="T41" fmla="*/ 1 h 880"/>
                <a:gd name="T42" fmla="*/ 0 w 317"/>
                <a:gd name="T43" fmla="*/ 1 h 880"/>
                <a:gd name="T44" fmla="*/ 0 w 317"/>
                <a:gd name="T45" fmla="*/ 1 h 88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17"/>
                <a:gd name="T70" fmla="*/ 0 h 880"/>
                <a:gd name="T71" fmla="*/ 317 w 317"/>
                <a:gd name="T72" fmla="*/ 880 h 88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17" h="880">
                  <a:moveTo>
                    <a:pt x="19" y="68"/>
                  </a:moveTo>
                  <a:lnTo>
                    <a:pt x="31" y="23"/>
                  </a:lnTo>
                  <a:lnTo>
                    <a:pt x="80" y="0"/>
                  </a:lnTo>
                  <a:lnTo>
                    <a:pt x="125" y="0"/>
                  </a:lnTo>
                  <a:lnTo>
                    <a:pt x="183" y="33"/>
                  </a:lnTo>
                  <a:lnTo>
                    <a:pt x="237" y="113"/>
                  </a:lnTo>
                  <a:lnTo>
                    <a:pt x="275" y="195"/>
                  </a:lnTo>
                  <a:lnTo>
                    <a:pt x="294" y="307"/>
                  </a:lnTo>
                  <a:lnTo>
                    <a:pt x="310" y="438"/>
                  </a:lnTo>
                  <a:lnTo>
                    <a:pt x="317" y="565"/>
                  </a:lnTo>
                  <a:lnTo>
                    <a:pt x="317" y="730"/>
                  </a:lnTo>
                  <a:lnTo>
                    <a:pt x="294" y="831"/>
                  </a:lnTo>
                  <a:lnTo>
                    <a:pt x="252" y="868"/>
                  </a:lnTo>
                  <a:lnTo>
                    <a:pt x="179" y="880"/>
                  </a:lnTo>
                  <a:lnTo>
                    <a:pt x="103" y="876"/>
                  </a:lnTo>
                  <a:lnTo>
                    <a:pt x="64" y="831"/>
                  </a:lnTo>
                  <a:lnTo>
                    <a:pt x="42" y="753"/>
                  </a:lnTo>
                  <a:lnTo>
                    <a:pt x="23" y="674"/>
                  </a:lnTo>
                  <a:lnTo>
                    <a:pt x="8" y="531"/>
                  </a:lnTo>
                  <a:lnTo>
                    <a:pt x="0" y="371"/>
                  </a:lnTo>
                  <a:lnTo>
                    <a:pt x="0" y="183"/>
                  </a:lnTo>
                  <a:lnTo>
                    <a:pt x="19" y="101"/>
                  </a:lnTo>
                  <a:lnTo>
                    <a:pt x="19" y="6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02" name="Freeform 27"/>
            <p:cNvSpPr>
              <a:spLocks noChangeArrowheads="1"/>
            </p:cNvSpPr>
            <p:nvPr/>
          </p:nvSpPr>
          <p:spPr bwMode="auto">
            <a:xfrm>
              <a:off x="359" y="401"/>
              <a:ext cx="242" cy="320"/>
            </a:xfrm>
            <a:custGeom>
              <a:avLst/>
              <a:gdLst>
                <a:gd name="T0" fmla="*/ 1 w 484"/>
                <a:gd name="T1" fmla="*/ 0 h 676"/>
                <a:gd name="T2" fmla="*/ 1 w 484"/>
                <a:gd name="T3" fmla="*/ 0 h 676"/>
                <a:gd name="T4" fmla="*/ 2 w 484"/>
                <a:gd name="T5" fmla="*/ 0 h 676"/>
                <a:gd name="T6" fmla="*/ 3 w 484"/>
                <a:gd name="T7" fmla="*/ 0 h 676"/>
                <a:gd name="T8" fmla="*/ 4 w 484"/>
                <a:gd name="T9" fmla="*/ 1 h 676"/>
                <a:gd name="T10" fmla="*/ 4 w 484"/>
                <a:gd name="T11" fmla="*/ 1 h 676"/>
                <a:gd name="T12" fmla="*/ 4 w 484"/>
                <a:gd name="T13" fmla="*/ 1 h 676"/>
                <a:gd name="T14" fmla="*/ 4 w 484"/>
                <a:gd name="T15" fmla="*/ 2 h 676"/>
                <a:gd name="T16" fmla="*/ 3 w 484"/>
                <a:gd name="T17" fmla="*/ 3 h 676"/>
                <a:gd name="T18" fmla="*/ 3 w 484"/>
                <a:gd name="T19" fmla="*/ 3 h 676"/>
                <a:gd name="T20" fmla="*/ 2 w 484"/>
                <a:gd name="T21" fmla="*/ 3 h 676"/>
                <a:gd name="T22" fmla="*/ 2 w 484"/>
                <a:gd name="T23" fmla="*/ 3 h 676"/>
                <a:gd name="T24" fmla="*/ 2 w 484"/>
                <a:gd name="T25" fmla="*/ 4 h 676"/>
                <a:gd name="T26" fmla="*/ 2 w 484"/>
                <a:gd name="T27" fmla="*/ 4 h 676"/>
                <a:gd name="T28" fmla="*/ 3 w 484"/>
                <a:gd name="T29" fmla="*/ 5 h 676"/>
                <a:gd name="T30" fmla="*/ 3 w 484"/>
                <a:gd name="T31" fmla="*/ 5 h 676"/>
                <a:gd name="T32" fmla="*/ 3 w 484"/>
                <a:gd name="T33" fmla="*/ 5 h 676"/>
                <a:gd name="T34" fmla="*/ 3 w 484"/>
                <a:gd name="T35" fmla="*/ 5 h 676"/>
                <a:gd name="T36" fmla="*/ 3 w 484"/>
                <a:gd name="T37" fmla="*/ 5 h 676"/>
                <a:gd name="T38" fmla="*/ 2 w 484"/>
                <a:gd name="T39" fmla="*/ 5 h 676"/>
                <a:gd name="T40" fmla="*/ 1 w 484"/>
                <a:gd name="T41" fmla="*/ 4 h 676"/>
                <a:gd name="T42" fmla="*/ 1 w 484"/>
                <a:gd name="T43" fmla="*/ 4 h 676"/>
                <a:gd name="T44" fmla="*/ 2 w 484"/>
                <a:gd name="T45" fmla="*/ 3 h 676"/>
                <a:gd name="T46" fmla="*/ 2 w 484"/>
                <a:gd name="T47" fmla="*/ 3 h 676"/>
                <a:gd name="T48" fmla="*/ 3 w 484"/>
                <a:gd name="T49" fmla="*/ 3 h 676"/>
                <a:gd name="T50" fmla="*/ 3 w 484"/>
                <a:gd name="T51" fmla="*/ 2 h 676"/>
                <a:gd name="T52" fmla="*/ 4 w 484"/>
                <a:gd name="T53" fmla="*/ 2 h 676"/>
                <a:gd name="T54" fmla="*/ 4 w 484"/>
                <a:gd name="T55" fmla="*/ 1 h 676"/>
                <a:gd name="T56" fmla="*/ 3 w 484"/>
                <a:gd name="T57" fmla="*/ 1 h 676"/>
                <a:gd name="T58" fmla="*/ 3 w 484"/>
                <a:gd name="T59" fmla="*/ 0 h 676"/>
                <a:gd name="T60" fmla="*/ 2 w 484"/>
                <a:gd name="T61" fmla="*/ 0 h 676"/>
                <a:gd name="T62" fmla="*/ 1 w 484"/>
                <a:gd name="T63" fmla="*/ 0 h 676"/>
                <a:gd name="T64" fmla="*/ 1 w 484"/>
                <a:gd name="T65" fmla="*/ 0 h 676"/>
                <a:gd name="T66" fmla="*/ 0 w 484"/>
                <a:gd name="T67" fmla="*/ 0 h 676"/>
                <a:gd name="T68" fmla="*/ 1 w 484"/>
                <a:gd name="T69" fmla="*/ 0 h 6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484"/>
                <a:gd name="T106" fmla="*/ 0 h 676"/>
                <a:gd name="T107" fmla="*/ 484 w 484"/>
                <a:gd name="T108" fmla="*/ 676 h 67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484" h="676">
                  <a:moveTo>
                    <a:pt x="27" y="0"/>
                  </a:moveTo>
                  <a:lnTo>
                    <a:pt x="126" y="12"/>
                  </a:lnTo>
                  <a:lnTo>
                    <a:pt x="228" y="30"/>
                  </a:lnTo>
                  <a:lnTo>
                    <a:pt x="335" y="90"/>
                  </a:lnTo>
                  <a:lnTo>
                    <a:pt x="411" y="135"/>
                  </a:lnTo>
                  <a:lnTo>
                    <a:pt x="461" y="200"/>
                  </a:lnTo>
                  <a:lnTo>
                    <a:pt x="484" y="236"/>
                  </a:lnTo>
                  <a:lnTo>
                    <a:pt x="438" y="346"/>
                  </a:lnTo>
                  <a:lnTo>
                    <a:pt x="365" y="413"/>
                  </a:lnTo>
                  <a:lnTo>
                    <a:pt x="278" y="461"/>
                  </a:lnTo>
                  <a:lnTo>
                    <a:pt x="232" y="491"/>
                  </a:lnTo>
                  <a:lnTo>
                    <a:pt x="152" y="506"/>
                  </a:lnTo>
                  <a:lnTo>
                    <a:pt x="149" y="536"/>
                  </a:lnTo>
                  <a:lnTo>
                    <a:pt x="210" y="563"/>
                  </a:lnTo>
                  <a:lnTo>
                    <a:pt x="297" y="586"/>
                  </a:lnTo>
                  <a:lnTo>
                    <a:pt x="380" y="631"/>
                  </a:lnTo>
                  <a:lnTo>
                    <a:pt x="347" y="664"/>
                  </a:lnTo>
                  <a:lnTo>
                    <a:pt x="312" y="676"/>
                  </a:lnTo>
                  <a:lnTo>
                    <a:pt x="263" y="626"/>
                  </a:lnTo>
                  <a:lnTo>
                    <a:pt x="187" y="596"/>
                  </a:lnTo>
                  <a:lnTo>
                    <a:pt x="126" y="574"/>
                  </a:lnTo>
                  <a:lnTo>
                    <a:pt x="126" y="529"/>
                  </a:lnTo>
                  <a:lnTo>
                    <a:pt x="137" y="481"/>
                  </a:lnTo>
                  <a:lnTo>
                    <a:pt x="175" y="461"/>
                  </a:lnTo>
                  <a:lnTo>
                    <a:pt x="297" y="413"/>
                  </a:lnTo>
                  <a:lnTo>
                    <a:pt x="365" y="338"/>
                  </a:lnTo>
                  <a:lnTo>
                    <a:pt x="415" y="260"/>
                  </a:lnTo>
                  <a:lnTo>
                    <a:pt x="403" y="222"/>
                  </a:lnTo>
                  <a:lnTo>
                    <a:pt x="365" y="177"/>
                  </a:lnTo>
                  <a:lnTo>
                    <a:pt x="274" y="113"/>
                  </a:lnTo>
                  <a:lnTo>
                    <a:pt x="164" y="90"/>
                  </a:lnTo>
                  <a:lnTo>
                    <a:pt x="91" y="87"/>
                  </a:lnTo>
                  <a:lnTo>
                    <a:pt x="27" y="87"/>
                  </a:lnTo>
                  <a:lnTo>
                    <a:pt x="0" y="45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03" name="Freeform 28"/>
            <p:cNvSpPr>
              <a:spLocks noChangeArrowheads="1"/>
            </p:cNvSpPr>
            <p:nvPr/>
          </p:nvSpPr>
          <p:spPr bwMode="auto">
            <a:xfrm>
              <a:off x="378" y="784"/>
              <a:ext cx="294" cy="546"/>
            </a:xfrm>
            <a:custGeom>
              <a:avLst/>
              <a:gdLst>
                <a:gd name="T0" fmla="*/ 0 w 589"/>
                <a:gd name="T1" fmla="*/ 0 h 1092"/>
                <a:gd name="T2" fmla="*/ 0 w 589"/>
                <a:gd name="T3" fmla="*/ 0 h 1092"/>
                <a:gd name="T4" fmla="*/ 0 w 589"/>
                <a:gd name="T5" fmla="*/ 1 h 1092"/>
                <a:gd name="T6" fmla="*/ 0 w 589"/>
                <a:gd name="T7" fmla="*/ 1 h 1092"/>
                <a:gd name="T8" fmla="*/ 1 w 589"/>
                <a:gd name="T9" fmla="*/ 1 h 1092"/>
                <a:gd name="T10" fmla="*/ 2 w 589"/>
                <a:gd name="T11" fmla="*/ 2 h 1092"/>
                <a:gd name="T12" fmla="*/ 2 w 589"/>
                <a:gd name="T13" fmla="*/ 4 h 1092"/>
                <a:gd name="T14" fmla="*/ 2 w 589"/>
                <a:gd name="T15" fmla="*/ 4 h 1092"/>
                <a:gd name="T16" fmla="*/ 2 w 589"/>
                <a:gd name="T17" fmla="*/ 5 h 1092"/>
                <a:gd name="T18" fmla="*/ 2 w 589"/>
                <a:gd name="T19" fmla="*/ 6 h 1092"/>
                <a:gd name="T20" fmla="*/ 2 w 589"/>
                <a:gd name="T21" fmla="*/ 7 h 1092"/>
                <a:gd name="T22" fmla="*/ 1 w 589"/>
                <a:gd name="T23" fmla="*/ 9 h 1092"/>
                <a:gd name="T24" fmla="*/ 1 w 589"/>
                <a:gd name="T25" fmla="*/ 9 h 1092"/>
                <a:gd name="T26" fmla="*/ 2 w 589"/>
                <a:gd name="T27" fmla="*/ 9 h 1092"/>
                <a:gd name="T28" fmla="*/ 2 w 589"/>
                <a:gd name="T29" fmla="*/ 9 h 1092"/>
                <a:gd name="T30" fmla="*/ 2 w 589"/>
                <a:gd name="T31" fmla="*/ 9 h 1092"/>
                <a:gd name="T32" fmla="*/ 3 w 589"/>
                <a:gd name="T33" fmla="*/ 9 h 1092"/>
                <a:gd name="T34" fmla="*/ 4 w 589"/>
                <a:gd name="T35" fmla="*/ 9 h 1092"/>
                <a:gd name="T36" fmla="*/ 4 w 589"/>
                <a:gd name="T37" fmla="*/ 9 h 1092"/>
                <a:gd name="T38" fmla="*/ 4 w 589"/>
                <a:gd name="T39" fmla="*/ 7 h 1092"/>
                <a:gd name="T40" fmla="*/ 4 w 589"/>
                <a:gd name="T41" fmla="*/ 7 h 1092"/>
                <a:gd name="T42" fmla="*/ 3 w 589"/>
                <a:gd name="T43" fmla="*/ 7 h 1092"/>
                <a:gd name="T44" fmla="*/ 2 w 589"/>
                <a:gd name="T45" fmla="*/ 7 h 1092"/>
                <a:gd name="T46" fmla="*/ 2 w 589"/>
                <a:gd name="T47" fmla="*/ 7 h 1092"/>
                <a:gd name="T48" fmla="*/ 2 w 589"/>
                <a:gd name="T49" fmla="*/ 7 h 1092"/>
                <a:gd name="T50" fmla="*/ 2 w 589"/>
                <a:gd name="T51" fmla="*/ 6 h 1092"/>
                <a:gd name="T52" fmla="*/ 3 w 589"/>
                <a:gd name="T53" fmla="*/ 5 h 1092"/>
                <a:gd name="T54" fmla="*/ 3 w 589"/>
                <a:gd name="T55" fmla="*/ 5 h 1092"/>
                <a:gd name="T56" fmla="*/ 3 w 589"/>
                <a:gd name="T57" fmla="*/ 4 h 1092"/>
                <a:gd name="T58" fmla="*/ 2 w 589"/>
                <a:gd name="T59" fmla="*/ 3 h 1092"/>
                <a:gd name="T60" fmla="*/ 2 w 589"/>
                <a:gd name="T61" fmla="*/ 2 h 1092"/>
                <a:gd name="T62" fmla="*/ 1 w 589"/>
                <a:gd name="T63" fmla="*/ 1 h 1092"/>
                <a:gd name="T64" fmla="*/ 0 w 589"/>
                <a:gd name="T65" fmla="*/ 1 h 1092"/>
                <a:gd name="T66" fmla="*/ 0 w 589"/>
                <a:gd name="T67" fmla="*/ 0 h 10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89"/>
                <a:gd name="T103" fmla="*/ 0 h 1092"/>
                <a:gd name="T104" fmla="*/ 589 w 589"/>
                <a:gd name="T105" fmla="*/ 1092 h 109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89" h="1092">
                  <a:moveTo>
                    <a:pt x="68" y="0"/>
                  </a:moveTo>
                  <a:lnTo>
                    <a:pt x="15" y="0"/>
                  </a:lnTo>
                  <a:lnTo>
                    <a:pt x="0" y="78"/>
                  </a:lnTo>
                  <a:lnTo>
                    <a:pt x="38" y="124"/>
                  </a:lnTo>
                  <a:lnTo>
                    <a:pt x="160" y="233"/>
                  </a:lnTo>
                  <a:lnTo>
                    <a:pt x="267" y="371"/>
                  </a:lnTo>
                  <a:lnTo>
                    <a:pt x="337" y="514"/>
                  </a:lnTo>
                  <a:lnTo>
                    <a:pt x="347" y="607"/>
                  </a:lnTo>
                  <a:lnTo>
                    <a:pt x="343" y="675"/>
                  </a:lnTo>
                  <a:lnTo>
                    <a:pt x="313" y="829"/>
                  </a:lnTo>
                  <a:lnTo>
                    <a:pt x="274" y="953"/>
                  </a:lnTo>
                  <a:lnTo>
                    <a:pt x="241" y="1025"/>
                  </a:lnTo>
                  <a:lnTo>
                    <a:pt x="233" y="1070"/>
                  </a:lnTo>
                  <a:lnTo>
                    <a:pt x="267" y="1070"/>
                  </a:lnTo>
                  <a:lnTo>
                    <a:pt x="320" y="1055"/>
                  </a:lnTo>
                  <a:lnTo>
                    <a:pt x="337" y="1058"/>
                  </a:lnTo>
                  <a:lnTo>
                    <a:pt x="447" y="1065"/>
                  </a:lnTo>
                  <a:lnTo>
                    <a:pt x="531" y="1092"/>
                  </a:lnTo>
                  <a:lnTo>
                    <a:pt x="561" y="1077"/>
                  </a:lnTo>
                  <a:lnTo>
                    <a:pt x="589" y="1020"/>
                  </a:lnTo>
                  <a:lnTo>
                    <a:pt x="561" y="990"/>
                  </a:lnTo>
                  <a:lnTo>
                    <a:pt x="436" y="987"/>
                  </a:lnTo>
                  <a:lnTo>
                    <a:pt x="347" y="998"/>
                  </a:lnTo>
                  <a:lnTo>
                    <a:pt x="302" y="1020"/>
                  </a:lnTo>
                  <a:lnTo>
                    <a:pt x="309" y="968"/>
                  </a:lnTo>
                  <a:lnTo>
                    <a:pt x="355" y="889"/>
                  </a:lnTo>
                  <a:lnTo>
                    <a:pt x="393" y="765"/>
                  </a:lnTo>
                  <a:lnTo>
                    <a:pt x="424" y="660"/>
                  </a:lnTo>
                  <a:lnTo>
                    <a:pt x="401" y="540"/>
                  </a:lnTo>
                  <a:lnTo>
                    <a:pt x="366" y="412"/>
                  </a:lnTo>
                  <a:lnTo>
                    <a:pt x="297" y="266"/>
                  </a:lnTo>
                  <a:lnTo>
                    <a:pt x="198" y="131"/>
                  </a:lnTo>
                  <a:lnTo>
                    <a:pt x="114" y="33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04" name="Freeform 29"/>
            <p:cNvSpPr>
              <a:spLocks noChangeArrowheads="1"/>
            </p:cNvSpPr>
            <p:nvPr/>
          </p:nvSpPr>
          <p:spPr bwMode="auto">
            <a:xfrm>
              <a:off x="193" y="783"/>
              <a:ext cx="198" cy="556"/>
            </a:xfrm>
            <a:custGeom>
              <a:avLst/>
              <a:gdLst>
                <a:gd name="T0" fmla="*/ 2 w 397"/>
                <a:gd name="T1" fmla="*/ 0 h 1113"/>
                <a:gd name="T2" fmla="*/ 1 w 397"/>
                <a:gd name="T3" fmla="*/ 0 h 1113"/>
                <a:gd name="T4" fmla="*/ 1 w 397"/>
                <a:gd name="T5" fmla="*/ 2 h 1113"/>
                <a:gd name="T6" fmla="*/ 1 w 397"/>
                <a:gd name="T7" fmla="*/ 3 h 1113"/>
                <a:gd name="T8" fmla="*/ 0 w 397"/>
                <a:gd name="T9" fmla="*/ 4 h 1113"/>
                <a:gd name="T10" fmla="*/ 0 w 397"/>
                <a:gd name="T11" fmla="*/ 5 h 1113"/>
                <a:gd name="T12" fmla="*/ 1 w 397"/>
                <a:gd name="T13" fmla="*/ 6 h 1113"/>
                <a:gd name="T14" fmla="*/ 1 w 397"/>
                <a:gd name="T15" fmla="*/ 6 h 1113"/>
                <a:gd name="T16" fmla="*/ 1 w 397"/>
                <a:gd name="T17" fmla="*/ 7 h 1113"/>
                <a:gd name="T18" fmla="*/ 2 w 397"/>
                <a:gd name="T19" fmla="*/ 7 h 1113"/>
                <a:gd name="T20" fmla="*/ 2 w 397"/>
                <a:gd name="T21" fmla="*/ 7 h 1113"/>
                <a:gd name="T22" fmla="*/ 1 w 397"/>
                <a:gd name="T23" fmla="*/ 7 h 1113"/>
                <a:gd name="T24" fmla="*/ 0 w 397"/>
                <a:gd name="T25" fmla="*/ 8 h 1113"/>
                <a:gd name="T26" fmla="*/ 0 w 397"/>
                <a:gd name="T27" fmla="*/ 8 h 1113"/>
                <a:gd name="T28" fmla="*/ 0 w 397"/>
                <a:gd name="T29" fmla="*/ 8 h 1113"/>
                <a:gd name="T30" fmla="*/ 0 w 397"/>
                <a:gd name="T31" fmla="*/ 8 h 1113"/>
                <a:gd name="T32" fmla="*/ 1 w 397"/>
                <a:gd name="T33" fmla="*/ 8 h 1113"/>
                <a:gd name="T34" fmla="*/ 2 w 397"/>
                <a:gd name="T35" fmla="*/ 8 h 1113"/>
                <a:gd name="T36" fmla="*/ 2 w 397"/>
                <a:gd name="T37" fmla="*/ 8 h 1113"/>
                <a:gd name="T38" fmla="*/ 3 w 397"/>
                <a:gd name="T39" fmla="*/ 7 h 1113"/>
                <a:gd name="T40" fmla="*/ 3 w 397"/>
                <a:gd name="T41" fmla="*/ 7 h 1113"/>
                <a:gd name="T42" fmla="*/ 2 w 397"/>
                <a:gd name="T43" fmla="*/ 6 h 1113"/>
                <a:gd name="T44" fmla="*/ 1 w 397"/>
                <a:gd name="T45" fmla="*/ 6 h 1113"/>
                <a:gd name="T46" fmla="*/ 1 w 397"/>
                <a:gd name="T47" fmla="*/ 5 h 1113"/>
                <a:gd name="T48" fmla="*/ 1 w 397"/>
                <a:gd name="T49" fmla="*/ 5 h 1113"/>
                <a:gd name="T50" fmla="*/ 1 w 397"/>
                <a:gd name="T51" fmla="*/ 4 h 1113"/>
                <a:gd name="T52" fmla="*/ 1 w 397"/>
                <a:gd name="T53" fmla="*/ 3 h 1113"/>
                <a:gd name="T54" fmla="*/ 2 w 397"/>
                <a:gd name="T55" fmla="*/ 1 h 1113"/>
                <a:gd name="T56" fmla="*/ 2 w 397"/>
                <a:gd name="T57" fmla="*/ 0 h 1113"/>
                <a:gd name="T58" fmla="*/ 2 w 397"/>
                <a:gd name="T59" fmla="*/ 0 h 1113"/>
                <a:gd name="T60" fmla="*/ 2 w 397"/>
                <a:gd name="T61" fmla="*/ 0 h 1113"/>
                <a:gd name="T62" fmla="*/ 2 w 397"/>
                <a:gd name="T63" fmla="*/ 0 h 11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97"/>
                <a:gd name="T97" fmla="*/ 0 h 1113"/>
                <a:gd name="T98" fmla="*/ 397 w 397"/>
                <a:gd name="T99" fmla="*/ 1113 h 1113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97" h="1113">
                  <a:moveTo>
                    <a:pt x="274" y="0"/>
                  </a:moveTo>
                  <a:lnTo>
                    <a:pt x="225" y="105"/>
                  </a:lnTo>
                  <a:lnTo>
                    <a:pt x="190" y="259"/>
                  </a:lnTo>
                  <a:lnTo>
                    <a:pt x="149" y="428"/>
                  </a:lnTo>
                  <a:lnTo>
                    <a:pt x="111" y="600"/>
                  </a:lnTo>
                  <a:lnTo>
                    <a:pt x="111" y="663"/>
                  </a:lnTo>
                  <a:lnTo>
                    <a:pt x="149" y="776"/>
                  </a:lnTo>
                  <a:lnTo>
                    <a:pt x="202" y="836"/>
                  </a:lnTo>
                  <a:lnTo>
                    <a:pt x="251" y="911"/>
                  </a:lnTo>
                  <a:lnTo>
                    <a:pt x="286" y="967"/>
                  </a:lnTo>
                  <a:lnTo>
                    <a:pt x="271" y="993"/>
                  </a:lnTo>
                  <a:lnTo>
                    <a:pt x="183" y="1005"/>
                  </a:lnTo>
                  <a:lnTo>
                    <a:pt x="42" y="1027"/>
                  </a:lnTo>
                  <a:lnTo>
                    <a:pt x="0" y="1061"/>
                  </a:lnTo>
                  <a:lnTo>
                    <a:pt x="35" y="1091"/>
                  </a:lnTo>
                  <a:lnTo>
                    <a:pt x="114" y="1113"/>
                  </a:lnTo>
                  <a:lnTo>
                    <a:pt x="207" y="1068"/>
                  </a:lnTo>
                  <a:lnTo>
                    <a:pt x="274" y="1038"/>
                  </a:lnTo>
                  <a:lnTo>
                    <a:pt x="362" y="1027"/>
                  </a:lnTo>
                  <a:lnTo>
                    <a:pt x="397" y="1016"/>
                  </a:lnTo>
                  <a:lnTo>
                    <a:pt x="385" y="978"/>
                  </a:lnTo>
                  <a:lnTo>
                    <a:pt x="286" y="881"/>
                  </a:lnTo>
                  <a:lnTo>
                    <a:pt x="228" y="780"/>
                  </a:lnTo>
                  <a:lnTo>
                    <a:pt x="179" y="712"/>
                  </a:lnTo>
                  <a:lnTo>
                    <a:pt x="172" y="645"/>
                  </a:lnTo>
                  <a:lnTo>
                    <a:pt x="195" y="533"/>
                  </a:lnTo>
                  <a:lnTo>
                    <a:pt x="248" y="417"/>
                  </a:lnTo>
                  <a:lnTo>
                    <a:pt x="306" y="218"/>
                  </a:lnTo>
                  <a:lnTo>
                    <a:pt x="355" y="102"/>
                  </a:lnTo>
                  <a:lnTo>
                    <a:pt x="351" y="34"/>
                  </a:lnTo>
                  <a:lnTo>
                    <a:pt x="306" y="0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grpSp>
        <p:nvGrpSpPr>
          <p:cNvPr id="50199" name="Group 29"/>
          <p:cNvGrpSpPr/>
          <p:nvPr/>
        </p:nvGrpSpPr>
        <p:grpSpPr>
          <a:xfrm>
            <a:off x="1231900" y="3259138"/>
            <a:ext cx="193675" cy="260350"/>
            <a:chOff x="0" y="0"/>
            <a:chExt cx="122" cy="164"/>
          </a:xfrm>
        </p:grpSpPr>
        <p:sp>
          <p:nvSpPr>
            <p:cNvPr id="50206" name="Freeform 31"/>
            <p:cNvSpPr>
              <a:spLocks noChangeArrowheads="1"/>
            </p:cNvSpPr>
            <p:nvPr/>
          </p:nvSpPr>
          <p:spPr bwMode="auto">
            <a:xfrm>
              <a:off x="24" y="0"/>
              <a:ext cx="98" cy="114"/>
            </a:xfrm>
            <a:custGeom>
              <a:avLst/>
              <a:gdLst>
                <a:gd name="T0" fmla="*/ 1 w 196"/>
                <a:gd name="T1" fmla="*/ 0 h 229"/>
                <a:gd name="T2" fmla="*/ 1 w 196"/>
                <a:gd name="T3" fmla="*/ 0 h 229"/>
                <a:gd name="T4" fmla="*/ 1 w 196"/>
                <a:gd name="T5" fmla="*/ 0 h 229"/>
                <a:gd name="T6" fmla="*/ 2 w 196"/>
                <a:gd name="T7" fmla="*/ 0 h 229"/>
                <a:gd name="T8" fmla="*/ 2 w 196"/>
                <a:gd name="T9" fmla="*/ 0 h 229"/>
                <a:gd name="T10" fmla="*/ 2 w 196"/>
                <a:gd name="T11" fmla="*/ 0 h 229"/>
                <a:gd name="T12" fmla="*/ 2 w 196"/>
                <a:gd name="T13" fmla="*/ 1 h 229"/>
                <a:gd name="T14" fmla="*/ 2 w 196"/>
                <a:gd name="T15" fmla="*/ 1 h 229"/>
                <a:gd name="T16" fmla="*/ 1 w 196"/>
                <a:gd name="T17" fmla="*/ 1 h 229"/>
                <a:gd name="T18" fmla="*/ 1 w 196"/>
                <a:gd name="T19" fmla="*/ 1 h 229"/>
                <a:gd name="T20" fmla="*/ 1 w 196"/>
                <a:gd name="T21" fmla="*/ 1 h 229"/>
                <a:gd name="T22" fmla="*/ 0 w 196"/>
                <a:gd name="T23" fmla="*/ 1 h 229"/>
                <a:gd name="T24" fmla="*/ 1 w 196"/>
                <a:gd name="T25" fmla="*/ 1 h 229"/>
                <a:gd name="T26" fmla="*/ 1 w 196"/>
                <a:gd name="T27" fmla="*/ 1 h 229"/>
                <a:gd name="T28" fmla="*/ 1 w 196"/>
                <a:gd name="T29" fmla="*/ 1 h 229"/>
                <a:gd name="T30" fmla="*/ 2 w 196"/>
                <a:gd name="T31" fmla="*/ 0 h 229"/>
                <a:gd name="T32" fmla="*/ 2 w 196"/>
                <a:gd name="T33" fmla="*/ 0 h 229"/>
                <a:gd name="T34" fmla="*/ 1 w 196"/>
                <a:gd name="T35" fmla="*/ 0 h 229"/>
                <a:gd name="T36" fmla="*/ 1 w 196"/>
                <a:gd name="T37" fmla="*/ 0 h 229"/>
                <a:gd name="T38" fmla="*/ 1 w 196"/>
                <a:gd name="T39" fmla="*/ 0 h 229"/>
                <a:gd name="T40" fmla="*/ 1 w 196"/>
                <a:gd name="T41" fmla="*/ 0 h 229"/>
                <a:gd name="T42" fmla="*/ 1 w 196"/>
                <a:gd name="T43" fmla="*/ 0 h 22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96"/>
                <a:gd name="T67" fmla="*/ 0 h 229"/>
                <a:gd name="T68" fmla="*/ 196 w 196"/>
                <a:gd name="T69" fmla="*/ 229 h 22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96" h="229">
                  <a:moveTo>
                    <a:pt x="24" y="11"/>
                  </a:moveTo>
                  <a:lnTo>
                    <a:pt x="77" y="0"/>
                  </a:lnTo>
                  <a:lnTo>
                    <a:pt x="127" y="4"/>
                  </a:lnTo>
                  <a:lnTo>
                    <a:pt x="173" y="26"/>
                  </a:lnTo>
                  <a:lnTo>
                    <a:pt x="196" y="67"/>
                  </a:lnTo>
                  <a:lnTo>
                    <a:pt x="196" y="101"/>
                  </a:lnTo>
                  <a:lnTo>
                    <a:pt x="173" y="146"/>
                  </a:lnTo>
                  <a:lnTo>
                    <a:pt x="134" y="172"/>
                  </a:lnTo>
                  <a:lnTo>
                    <a:pt x="77" y="172"/>
                  </a:lnTo>
                  <a:lnTo>
                    <a:pt x="42" y="194"/>
                  </a:lnTo>
                  <a:lnTo>
                    <a:pt x="30" y="229"/>
                  </a:lnTo>
                  <a:lnTo>
                    <a:pt x="0" y="217"/>
                  </a:lnTo>
                  <a:lnTo>
                    <a:pt x="12" y="172"/>
                  </a:lnTo>
                  <a:lnTo>
                    <a:pt x="53" y="146"/>
                  </a:lnTo>
                  <a:lnTo>
                    <a:pt x="123" y="139"/>
                  </a:lnTo>
                  <a:lnTo>
                    <a:pt x="150" y="112"/>
                  </a:lnTo>
                  <a:lnTo>
                    <a:pt x="157" y="71"/>
                  </a:lnTo>
                  <a:lnTo>
                    <a:pt x="127" y="34"/>
                  </a:lnTo>
                  <a:lnTo>
                    <a:pt x="81" y="34"/>
                  </a:lnTo>
                  <a:lnTo>
                    <a:pt x="30" y="45"/>
                  </a:lnTo>
                  <a:lnTo>
                    <a:pt x="12" y="34"/>
                  </a:lnTo>
                  <a:lnTo>
                    <a:pt x="24" y="1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0207" name="Freeform 32"/>
            <p:cNvSpPr>
              <a:spLocks noChangeArrowheads="1"/>
            </p:cNvSpPr>
            <p:nvPr/>
          </p:nvSpPr>
          <p:spPr bwMode="auto">
            <a:xfrm>
              <a:off x="0" y="133"/>
              <a:ext cx="31" cy="31"/>
            </a:xfrm>
            <a:custGeom>
              <a:avLst/>
              <a:gdLst>
                <a:gd name="T0" fmla="*/ 1 w 61"/>
                <a:gd name="T1" fmla="*/ 1 h 62"/>
                <a:gd name="T2" fmla="*/ 1 w 61"/>
                <a:gd name="T3" fmla="*/ 0 h 62"/>
                <a:gd name="T4" fmla="*/ 1 w 61"/>
                <a:gd name="T5" fmla="*/ 1 h 62"/>
                <a:gd name="T6" fmla="*/ 0 w 61"/>
                <a:gd name="T7" fmla="*/ 1 h 62"/>
                <a:gd name="T8" fmla="*/ 1 w 61"/>
                <a:gd name="T9" fmla="*/ 1 h 62"/>
                <a:gd name="T10" fmla="*/ 1 w 61"/>
                <a:gd name="T11" fmla="*/ 1 h 62"/>
                <a:gd name="T12" fmla="*/ 1 w 61"/>
                <a:gd name="T13" fmla="*/ 1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1"/>
                <a:gd name="T22" fmla="*/ 0 h 62"/>
                <a:gd name="T23" fmla="*/ 61 w 61"/>
                <a:gd name="T24" fmla="*/ 62 h 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1" h="62">
                  <a:moveTo>
                    <a:pt x="61" y="3"/>
                  </a:moveTo>
                  <a:lnTo>
                    <a:pt x="30" y="0"/>
                  </a:lnTo>
                  <a:lnTo>
                    <a:pt x="9" y="23"/>
                  </a:lnTo>
                  <a:lnTo>
                    <a:pt x="0" y="58"/>
                  </a:lnTo>
                  <a:lnTo>
                    <a:pt x="30" y="62"/>
                  </a:lnTo>
                  <a:lnTo>
                    <a:pt x="56" y="46"/>
                  </a:lnTo>
                  <a:lnTo>
                    <a:pt x="61" y="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50208" name="Text Box 33"/>
          <p:cNvSpPr txBox="1">
            <a:spLocks noChangeArrowheads="1"/>
          </p:cNvSpPr>
          <p:nvPr/>
        </p:nvSpPr>
        <p:spPr bwMode="auto">
          <a:xfrm>
            <a:off x="6400800" y="4114800"/>
            <a:ext cx="852488" cy="49371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产品</a:t>
            </a: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0209" name="Text Box 34"/>
          <p:cNvSpPr txBox="1">
            <a:spLocks noChangeArrowheads="1"/>
          </p:cNvSpPr>
          <p:nvPr/>
        </p:nvSpPr>
        <p:spPr bwMode="auto">
          <a:xfrm>
            <a:off x="6369050" y="5357813"/>
            <a:ext cx="852488" cy="493713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tx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产品</a:t>
            </a:r>
            <a:endParaRPr kumimoji="0" lang="zh-CN" altLang="en-US" sz="2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5"/>
          <p:cNvSpPr txBox="1">
            <a:spLocks noGrp="1" noChangeArrowheads="1"/>
          </p:cNvSpPr>
          <p:nvPr/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r" eaLnBrk="1" hangingPunct="1">
              <a:spcBef>
                <a:spcPct val="30000"/>
              </a:spcBef>
              <a:buClr>
                <a:schemeClr val="tx2"/>
              </a:buClr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type="title"/>
          </p:nvPr>
        </p:nvSpPr>
        <p:spPr>
          <a:xfrm>
            <a:off x="571500" y="785813"/>
            <a:ext cx="7772400" cy="928687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以过程为中心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1204" name="Group 4"/>
          <p:cNvGrpSpPr/>
          <p:nvPr/>
        </p:nvGrpSpPr>
        <p:grpSpPr>
          <a:xfrm>
            <a:off x="1071563" y="1811338"/>
            <a:ext cx="7280275" cy="4332287"/>
            <a:chOff x="0" y="0"/>
            <a:chExt cx="4586" cy="2729"/>
          </a:xfrm>
        </p:grpSpPr>
        <p:sp>
          <p:nvSpPr>
            <p:cNvPr id="51205" name="Oval 4"/>
            <p:cNvSpPr>
              <a:spLocks noChangeArrowheads="1"/>
            </p:cNvSpPr>
            <p:nvPr/>
          </p:nvSpPr>
          <p:spPr bwMode="auto">
            <a:xfrm>
              <a:off x="1130" y="402"/>
              <a:ext cx="1680" cy="2017"/>
            </a:xfrm>
            <a:prstGeom prst="ellipse">
              <a:avLst/>
            </a:prstGeom>
            <a:gradFill rotWithShape="0">
              <a:gsLst>
                <a:gs pos="0">
                  <a:srgbClr val="2C5B87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06" name="AutoShape 5"/>
            <p:cNvSpPr>
              <a:spLocks noChangeArrowheads="1"/>
            </p:cNvSpPr>
            <p:nvPr/>
          </p:nvSpPr>
          <p:spPr bwMode="auto">
            <a:xfrm>
              <a:off x="3530" y="1266"/>
              <a:ext cx="1056" cy="432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2C5B87"/>
                </a:gs>
                <a:gs pos="100000">
                  <a:schemeClr val="accent1"/>
                </a:gs>
              </a:gsLst>
              <a:lin ang="2700000" scaled="1"/>
            </a:gradFill>
            <a:ln w="9525" cmpd="sng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产品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07" name="Oval 6"/>
            <p:cNvSpPr>
              <a:spLocks noChangeArrowheads="1"/>
            </p:cNvSpPr>
            <p:nvPr/>
          </p:nvSpPr>
          <p:spPr bwMode="auto">
            <a:xfrm>
              <a:off x="1322" y="1074"/>
              <a:ext cx="1296" cy="672"/>
            </a:xfrm>
            <a:prstGeom prst="ellipse">
              <a:avLst/>
            </a:prstGeom>
            <a:solidFill>
              <a:schemeClr val="accent1"/>
            </a:solidFill>
            <a:ln w="19050" cmpd="sng">
              <a:solidFill>
                <a:schemeClr val="bg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过程</a:t>
              </a:r>
              <a:endParaRPr kumimoji="0" lang="zh-CN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08" name="Line 7"/>
            <p:cNvSpPr>
              <a:spLocks noChangeShapeType="1"/>
            </p:cNvSpPr>
            <p:nvPr/>
          </p:nvSpPr>
          <p:spPr bwMode="auto">
            <a:xfrm>
              <a:off x="2618" y="1410"/>
              <a:ext cx="816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1209" name="Line 8"/>
            <p:cNvSpPr>
              <a:spLocks noChangeShapeType="1"/>
            </p:cNvSpPr>
            <p:nvPr/>
          </p:nvSpPr>
          <p:spPr bwMode="auto">
            <a:xfrm>
              <a:off x="602" y="690"/>
              <a:ext cx="768" cy="576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1210" name="Line 9"/>
            <p:cNvSpPr>
              <a:spLocks noChangeShapeType="1"/>
            </p:cNvSpPr>
            <p:nvPr/>
          </p:nvSpPr>
          <p:spPr bwMode="auto">
            <a:xfrm>
              <a:off x="554" y="1410"/>
              <a:ext cx="768" cy="0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1211" name="Line 10"/>
            <p:cNvSpPr>
              <a:spLocks noChangeShapeType="1"/>
            </p:cNvSpPr>
            <p:nvPr/>
          </p:nvSpPr>
          <p:spPr bwMode="auto">
            <a:xfrm flipV="1">
              <a:off x="554" y="1554"/>
              <a:ext cx="816" cy="624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1212" name="Text Box 11"/>
            <p:cNvSpPr txBox="1">
              <a:spLocks noChangeArrowheads="1"/>
            </p:cNvSpPr>
            <p:nvPr/>
          </p:nvSpPr>
          <p:spPr bwMode="auto">
            <a:xfrm>
              <a:off x="2715" y="0"/>
              <a:ext cx="618" cy="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algn="ctr" eaLnBrk="0" fontAlgn="base" hangingPunct="0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en-US" sz="2600" b="0" i="0" u="none" strike="noStrike" kern="1200" cap="none" spc="0" normalizeH="0" baseline="0" noProof="0">
                  <a:ln>
                    <a:noFill/>
                  </a:ln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Focus</a:t>
              </a:r>
              <a:endParaRPr kumimoji="0" 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3" name="Line 12"/>
            <p:cNvSpPr>
              <a:spLocks noChangeShapeType="1"/>
            </p:cNvSpPr>
            <p:nvPr/>
          </p:nvSpPr>
          <p:spPr bwMode="auto">
            <a:xfrm flipH="1">
              <a:off x="2378" y="288"/>
              <a:ext cx="624" cy="499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1214" name="AutoShape 13"/>
            <p:cNvSpPr>
              <a:spLocks noChangeArrowheads="1"/>
            </p:cNvSpPr>
            <p:nvPr/>
          </p:nvSpPr>
          <p:spPr bwMode="auto">
            <a:xfrm>
              <a:off x="3530" y="1958"/>
              <a:ext cx="1056" cy="433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2C5B87"/>
                </a:gs>
                <a:gs pos="100000">
                  <a:schemeClr val="accent1"/>
                </a:gs>
              </a:gsLst>
              <a:lin ang="2700000" scaled="1"/>
            </a:gradFill>
            <a:ln w="9525" cmpd="sng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产品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5" name="AutoShape 14"/>
            <p:cNvSpPr>
              <a:spLocks noChangeArrowheads="1"/>
            </p:cNvSpPr>
            <p:nvPr/>
          </p:nvSpPr>
          <p:spPr bwMode="auto">
            <a:xfrm>
              <a:off x="3530" y="602"/>
              <a:ext cx="1056" cy="432"/>
            </a:xfrm>
            <a:prstGeom prst="foldedCorner">
              <a:avLst>
                <a:gd name="adj" fmla="val 12500"/>
              </a:avLst>
            </a:prstGeom>
            <a:gradFill rotWithShape="0">
              <a:gsLst>
                <a:gs pos="0">
                  <a:srgbClr val="2C5B87"/>
                </a:gs>
                <a:gs pos="100000">
                  <a:schemeClr val="accent1"/>
                </a:gs>
              </a:gsLst>
              <a:lin ang="2700000" scaled="1"/>
            </a:gradFill>
            <a:ln w="9525" cmpd="sng">
              <a:solidFill>
                <a:schemeClr val="accent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accent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r>
                <a: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MS PGothic" panose="020B0600070205080204" pitchFamily="34" charset="-128"/>
                  <a:cs typeface="+mn-cs"/>
                </a:rPr>
                <a:t>产品</a:t>
              </a:r>
              <a:endParaRPr kumimoji="0" lang="zh-CN" altLang="en-US" sz="2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51216" name="Line 15"/>
            <p:cNvSpPr>
              <a:spLocks noChangeShapeType="1"/>
            </p:cNvSpPr>
            <p:nvPr/>
          </p:nvSpPr>
          <p:spPr bwMode="auto">
            <a:xfrm>
              <a:off x="2378" y="1650"/>
              <a:ext cx="1056" cy="508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1217" name="Line 16"/>
            <p:cNvSpPr>
              <a:spLocks noChangeShapeType="1"/>
            </p:cNvSpPr>
            <p:nvPr/>
          </p:nvSpPr>
          <p:spPr bwMode="auto">
            <a:xfrm flipV="1">
              <a:off x="2378" y="767"/>
              <a:ext cx="1088" cy="354"/>
            </a:xfrm>
            <a:prstGeom prst="line">
              <a:avLst/>
            </a:prstGeom>
            <a:noFill/>
            <a:ln w="28575" cmpd="sng">
              <a:solidFill>
                <a:schemeClr val="tx1"/>
              </a:solidFill>
              <a:round/>
              <a:tailEnd type="triangle" w="med" len="med"/>
            </a:ln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30000"/>
                </a:lnSpc>
                <a:spcBef>
                  <a:spcPct val="3000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Wingdings" panose="05000000000000000000" pitchFamily="2" charset="2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grpSp>
          <p:nvGrpSpPr>
            <p:cNvPr id="51218" name="Group 18"/>
            <p:cNvGrpSpPr/>
            <p:nvPr/>
          </p:nvGrpSpPr>
          <p:grpSpPr>
            <a:xfrm>
              <a:off x="0" y="955"/>
              <a:ext cx="568" cy="695"/>
              <a:chOff x="0" y="0"/>
              <a:chExt cx="568" cy="695"/>
            </a:xfrm>
          </p:grpSpPr>
          <p:sp>
            <p:nvSpPr>
              <p:cNvPr id="2" name="Freeform 18"/>
              <p:cNvSpPr>
                <a:spLocks noChangeArrowheads="1"/>
              </p:cNvSpPr>
              <p:nvPr/>
            </p:nvSpPr>
            <p:spPr bwMode="auto">
              <a:xfrm>
                <a:off x="276" y="100"/>
                <a:ext cx="153" cy="154"/>
              </a:xfrm>
              <a:custGeom>
                <a:avLst/>
                <a:gdLst>
                  <a:gd name="T0" fmla="*/ 0 w 610"/>
                  <a:gd name="T1" fmla="*/ 0 h 618"/>
                  <a:gd name="T2" fmla="*/ 0 w 610"/>
                  <a:gd name="T3" fmla="*/ 0 h 618"/>
                  <a:gd name="T4" fmla="*/ 0 w 610"/>
                  <a:gd name="T5" fmla="*/ 0 h 618"/>
                  <a:gd name="T6" fmla="*/ 0 w 610"/>
                  <a:gd name="T7" fmla="*/ 0 h 618"/>
                  <a:gd name="T8" fmla="*/ 0 w 610"/>
                  <a:gd name="T9" fmla="*/ 0 h 618"/>
                  <a:gd name="T10" fmla="*/ 0 w 610"/>
                  <a:gd name="T11" fmla="*/ 0 h 618"/>
                  <a:gd name="T12" fmla="*/ 0 w 610"/>
                  <a:gd name="T13" fmla="*/ 0 h 618"/>
                  <a:gd name="T14" fmla="*/ 0 w 610"/>
                  <a:gd name="T15" fmla="*/ 0 h 618"/>
                  <a:gd name="T16" fmla="*/ 0 w 610"/>
                  <a:gd name="T17" fmla="*/ 0 h 618"/>
                  <a:gd name="T18" fmla="*/ 0 w 610"/>
                  <a:gd name="T19" fmla="*/ 0 h 618"/>
                  <a:gd name="T20" fmla="*/ 0 w 610"/>
                  <a:gd name="T21" fmla="*/ 0 h 618"/>
                  <a:gd name="T22" fmla="*/ 0 w 610"/>
                  <a:gd name="T23" fmla="*/ 0 h 618"/>
                  <a:gd name="T24" fmla="*/ 0 w 610"/>
                  <a:gd name="T25" fmla="*/ 0 h 618"/>
                  <a:gd name="T26" fmla="*/ 0 w 610"/>
                  <a:gd name="T27" fmla="*/ 0 h 618"/>
                  <a:gd name="T28" fmla="*/ 0 w 610"/>
                  <a:gd name="T29" fmla="*/ 0 h 618"/>
                  <a:gd name="T30" fmla="*/ 0 w 610"/>
                  <a:gd name="T31" fmla="*/ 0 h 618"/>
                  <a:gd name="T32" fmla="*/ 0 w 610"/>
                  <a:gd name="T33" fmla="*/ 0 h 618"/>
                  <a:gd name="T34" fmla="*/ 0 w 610"/>
                  <a:gd name="T35" fmla="*/ 0 h 618"/>
                  <a:gd name="T36" fmla="*/ 0 w 610"/>
                  <a:gd name="T37" fmla="*/ 0 h 618"/>
                  <a:gd name="T38" fmla="*/ 0 w 610"/>
                  <a:gd name="T39" fmla="*/ 0 h 618"/>
                  <a:gd name="T40" fmla="*/ 0 w 610"/>
                  <a:gd name="T41" fmla="*/ 0 h 618"/>
                  <a:gd name="T42" fmla="*/ 0 w 610"/>
                  <a:gd name="T43" fmla="*/ 0 h 61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10"/>
                  <a:gd name="T67" fmla="*/ 0 h 618"/>
                  <a:gd name="T68" fmla="*/ 610 w 610"/>
                  <a:gd name="T69" fmla="*/ 618 h 618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10" h="618">
                    <a:moveTo>
                      <a:pt x="394" y="293"/>
                    </a:moveTo>
                    <a:lnTo>
                      <a:pt x="379" y="179"/>
                    </a:lnTo>
                    <a:lnTo>
                      <a:pt x="347" y="78"/>
                    </a:lnTo>
                    <a:lnTo>
                      <a:pt x="289" y="23"/>
                    </a:lnTo>
                    <a:lnTo>
                      <a:pt x="187" y="0"/>
                    </a:lnTo>
                    <a:lnTo>
                      <a:pt x="101" y="23"/>
                    </a:lnTo>
                    <a:lnTo>
                      <a:pt x="19" y="124"/>
                    </a:lnTo>
                    <a:lnTo>
                      <a:pt x="0" y="246"/>
                    </a:lnTo>
                    <a:lnTo>
                      <a:pt x="19" y="375"/>
                    </a:lnTo>
                    <a:lnTo>
                      <a:pt x="50" y="454"/>
                    </a:lnTo>
                    <a:lnTo>
                      <a:pt x="89" y="536"/>
                    </a:lnTo>
                    <a:lnTo>
                      <a:pt x="132" y="591"/>
                    </a:lnTo>
                    <a:lnTo>
                      <a:pt x="179" y="618"/>
                    </a:lnTo>
                    <a:lnTo>
                      <a:pt x="246" y="594"/>
                    </a:lnTo>
                    <a:lnTo>
                      <a:pt x="312" y="539"/>
                    </a:lnTo>
                    <a:lnTo>
                      <a:pt x="355" y="461"/>
                    </a:lnTo>
                    <a:lnTo>
                      <a:pt x="394" y="395"/>
                    </a:lnTo>
                    <a:lnTo>
                      <a:pt x="407" y="356"/>
                    </a:lnTo>
                    <a:lnTo>
                      <a:pt x="574" y="297"/>
                    </a:lnTo>
                    <a:lnTo>
                      <a:pt x="610" y="274"/>
                    </a:lnTo>
                    <a:lnTo>
                      <a:pt x="590" y="238"/>
                    </a:lnTo>
                    <a:lnTo>
                      <a:pt x="394" y="2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3" name="Freeform 19"/>
              <p:cNvSpPr>
                <a:spLocks noChangeArrowheads="1"/>
              </p:cNvSpPr>
              <p:nvPr/>
            </p:nvSpPr>
            <p:spPr bwMode="auto">
              <a:xfrm>
                <a:off x="201" y="266"/>
                <a:ext cx="158" cy="275"/>
              </a:xfrm>
              <a:custGeom>
                <a:avLst/>
                <a:gdLst>
                  <a:gd name="T0" fmla="*/ 0 w 630"/>
                  <a:gd name="T1" fmla="*/ 0 h 1103"/>
                  <a:gd name="T2" fmla="*/ 0 w 630"/>
                  <a:gd name="T3" fmla="*/ 0 h 1103"/>
                  <a:gd name="T4" fmla="*/ 0 w 630"/>
                  <a:gd name="T5" fmla="*/ 0 h 1103"/>
                  <a:gd name="T6" fmla="*/ 0 w 630"/>
                  <a:gd name="T7" fmla="*/ 0 h 1103"/>
                  <a:gd name="T8" fmla="*/ 0 w 630"/>
                  <a:gd name="T9" fmla="*/ 0 h 1103"/>
                  <a:gd name="T10" fmla="*/ 0 w 630"/>
                  <a:gd name="T11" fmla="*/ 0 h 1103"/>
                  <a:gd name="T12" fmla="*/ 0 w 630"/>
                  <a:gd name="T13" fmla="*/ 0 h 1103"/>
                  <a:gd name="T14" fmla="*/ 0 w 630"/>
                  <a:gd name="T15" fmla="*/ 0 h 1103"/>
                  <a:gd name="T16" fmla="*/ 0 w 630"/>
                  <a:gd name="T17" fmla="*/ 0 h 1103"/>
                  <a:gd name="T18" fmla="*/ 0 w 630"/>
                  <a:gd name="T19" fmla="*/ 0 h 1103"/>
                  <a:gd name="T20" fmla="*/ 0 w 630"/>
                  <a:gd name="T21" fmla="*/ 0 h 1103"/>
                  <a:gd name="T22" fmla="*/ 0 w 630"/>
                  <a:gd name="T23" fmla="*/ 0 h 1103"/>
                  <a:gd name="T24" fmla="*/ 0 w 630"/>
                  <a:gd name="T25" fmla="*/ 0 h 1103"/>
                  <a:gd name="T26" fmla="*/ 0 w 630"/>
                  <a:gd name="T27" fmla="*/ 0 h 1103"/>
                  <a:gd name="T28" fmla="*/ 0 w 630"/>
                  <a:gd name="T29" fmla="*/ 0 h 1103"/>
                  <a:gd name="T30" fmla="*/ 0 w 630"/>
                  <a:gd name="T31" fmla="*/ 0 h 1103"/>
                  <a:gd name="T32" fmla="*/ 0 w 630"/>
                  <a:gd name="T33" fmla="*/ 0 h 1103"/>
                  <a:gd name="T34" fmla="*/ 0 w 630"/>
                  <a:gd name="T35" fmla="*/ 0 h 1103"/>
                  <a:gd name="T36" fmla="*/ 0 w 630"/>
                  <a:gd name="T37" fmla="*/ 0 h 1103"/>
                  <a:gd name="T38" fmla="*/ 0 w 630"/>
                  <a:gd name="T39" fmla="*/ 0 h 1103"/>
                  <a:gd name="T40" fmla="*/ 0 w 630"/>
                  <a:gd name="T41" fmla="*/ 0 h 1103"/>
                  <a:gd name="T42" fmla="*/ 0 w 630"/>
                  <a:gd name="T43" fmla="*/ 0 h 1103"/>
                  <a:gd name="T44" fmla="*/ 0 w 630"/>
                  <a:gd name="T45" fmla="*/ 0 h 1103"/>
                  <a:gd name="T46" fmla="*/ 0 w 630"/>
                  <a:gd name="T47" fmla="*/ 0 h 1103"/>
                  <a:gd name="T48" fmla="*/ 0 w 630"/>
                  <a:gd name="T49" fmla="*/ 0 h 110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30"/>
                  <a:gd name="T76" fmla="*/ 0 h 1103"/>
                  <a:gd name="T77" fmla="*/ 630 w 630"/>
                  <a:gd name="T78" fmla="*/ 1103 h 1103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30" h="1103">
                    <a:moveTo>
                      <a:pt x="212" y="164"/>
                    </a:moveTo>
                    <a:lnTo>
                      <a:pt x="289" y="82"/>
                    </a:lnTo>
                    <a:lnTo>
                      <a:pt x="419" y="3"/>
                    </a:lnTo>
                    <a:lnTo>
                      <a:pt x="477" y="0"/>
                    </a:lnTo>
                    <a:lnTo>
                      <a:pt x="583" y="34"/>
                    </a:lnTo>
                    <a:lnTo>
                      <a:pt x="630" y="86"/>
                    </a:lnTo>
                    <a:lnTo>
                      <a:pt x="630" y="164"/>
                    </a:lnTo>
                    <a:lnTo>
                      <a:pt x="551" y="308"/>
                    </a:lnTo>
                    <a:lnTo>
                      <a:pt x="466" y="422"/>
                    </a:lnTo>
                    <a:lnTo>
                      <a:pt x="430" y="516"/>
                    </a:lnTo>
                    <a:lnTo>
                      <a:pt x="406" y="625"/>
                    </a:lnTo>
                    <a:lnTo>
                      <a:pt x="430" y="731"/>
                    </a:lnTo>
                    <a:lnTo>
                      <a:pt x="454" y="833"/>
                    </a:lnTo>
                    <a:lnTo>
                      <a:pt x="454" y="950"/>
                    </a:lnTo>
                    <a:lnTo>
                      <a:pt x="419" y="1021"/>
                    </a:lnTo>
                    <a:lnTo>
                      <a:pt x="340" y="1060"/>
                    </a:lnTo>
                    <a:lnTo>
                      <a:pt x="247" y="1103"/>
                    </a:lnTo>
                    <a:lnTo>
                      <a:pt x="160" y="1103"/>
                    </a:lnTo>
                    <a:lnTo>
                      <a:pt x="102" y="1071"/>
                    </a:lnTo>
                    <a:lnTo>
                      <a:pt x="24" y="942"/>
                    </a:lnTo>
                    <a:lnTo>
                      <a:pt x="0" y="809"/>
                    </a:lnTo>
                    <a:lnTo>
                      <a:pt x="8" y="638"/>
                    </a:lnTo>
                    <a:lnTo>
                      <a:pt x="67" y="422"/>
                    </a:lnTo>
                    <a:lnTo>
                      <a:pt x="125" y="282"/>
                    </a:lnTo>
                    <a:lnTo>
                      <a:pt x="212" y="16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4" name="Freeform 20"/>
              <p:cNvSpPr>
                <a:spLocks noChangeArrowheads="1"/>
              </p:cNvSpPr>
              <p:nvPr/>
            </p:nvSpPr>
            <p:spPr bwMode="auto">
              <a:xfrm>
                <a:off x="213" y="489"/>
                <a:ext cx="198" cy="206"/>
              </a:xfrm>
              <a:custGeom>
                <a:avLst/>
                <a:gdLst>
                  <a:gd name="T0" fmla="*/ 0 w 796"/>
                  <a:gd name="T1" fmla="*/ 0 h 821"/>
                  <a:gd name="T2" fmla="*/ 0 w 796"/>
                  <a:gd name="T3" fmla="*/ 0 h 821"/>
                  <a:gd name="T4" fmla="*/ 0 w 796"/>
                  <a:gd name="T5" fmla="*/ 0 h 821"/>
                  <a:gd name="T6" fmla="*/ 0 w 796"/>
                  <a:gd name="T7" fmla="*/ 0 h 821"/>
                  <a:gd name="T8" fmla="*/ 0 w 796"/>
                  <a:gd name="T9" fmla="*/ 0 h 821"/>
                  <a:gd name="T10" fmla="*/ 0 w 796"/>
                  <a:gd name="T11" fmla="*/ 0 h 821"/>
                  <a:gd name="T12" fmla="*/ 0 w 796"/>
                  <a:gd name="T13" fmla="*/ 0 h 821"/>
                  <a:gd name="T14" fmla="*/ 0 w 796"/>
                  <a:gd name="T15" fmla="*/ 0 h 821"/>
                  <a:gd name="T16" fmla="*/ 0 w 796"/>
                  <a:gd name="T17" fmla="*/ 0 h 821"/>
                  <a:gd name="T18" fmla="*/ 0 w 796"/>
                  <a:gd name="T19" fmla="*/ 0 h 821"/>
                  <a:gd name="T20" fmla="*/ 0 w 796"/>
                  <a:gd name="T21" fmla="*/ 0 h 821"/>
                  <a:gd name="T22" fmla="*/ 0 w 796"/>
                  <a:gd name="T23" fmla="*/ 0 h 821"/>
                  <a:gd name="T24" fmla="*/ 0 w 796"/>
                  <a:gd name="T25" fmla="*/ 0 h 821"/>
                  <a:gd name="T26" fmla="*/ 0 w 796"/>
                  <a:gd name="T27" fmla="*/ 0 h 821"/>
                  <a:gd name="T28" fmla="*/ 0 w 796"/>
                  <a:gd name="T29" fmla="*/ 0 h 821"/>
                  <a:gd name="T30" fmla="*/ 0 w 796"/>
                  <a:gd name="T31" fmla="*/ 0 h 821"/>
                  <a:gd name="T32" fmla="*/ 0 w 796"/>
                  <a:gd name="T33" fmla="*/ 0 h 821"/>
                  <a:gd name="T34" fmla="*/ 0 w 796"/>
                  <a:gd name="T35" fmla="*/ 0 h 821"/>
                  <a:gd name="T36" fmla="*/ 0 w 796"/>
                  <a:gd name="T37" fmla="*/ 0 h 821"/>
                  <a:gd name="T38" fmla="*/ 0 w 796"/>
                  <a:gd name="T39" fmla="*/ 0 h 821"/>
                  <a:gd name="T40" fmla="*/ 0 w 796"/>
                  <a:gd name="T41" fmla="*/ 0 h 821"/>
                  <a:gd name="T42" fmla="*/ 0 w 796"/>
                  <a:gd name="T43" fmla="*/ 0 h 821"/>
                  <a:gd name="T44" fmla="*/ 0 w 796"/>
                  <a:gd name="T45" fmla="*/ 0 h 821"/>
                  <a:gd name="T46" fmla="*/ 0 w 796"/>
                  <a:gd name="T47" fmla="*/ 0 h 821"/>
                  <a:gd name="T48" fmla="*/ 0 w 796"/>
                  <a:gd name="T49" fmla="*/ 0 h 821"/>
                  <a:gd name="T50" fmla="*/ 0 w 796"/>
                  <a:gd name="T51" fmla="*/ 0 h 821"/>
                  <a:gd name="T52" fmla="*/ 0 w 796"/>
                  <a:gd name="T53" fmla="*/ 0 h 821"/>
                  <a:gd name="T54" fmla="*/ 0 w 796"/>
                  <a:gd name="T55" fmla="*/ 0 h 821"/>
                  <a:gd name="T56" fmla="*/ 0 w 796"/>
                  <a:gd name="T57" fmla="*/ 0 h 821"/>
                  <a:gd name="T58" fmla="*/ 0 w 796"/>
                  <a:gd name="T59" fmla="*/ 0 h 821"/>
                  <a:gd name="T60" fmla="*/ 0 w 796"/>
                  <a:gd name="T61" fmla="*/ 0 h 821"/>
                  <a:gd name="T62" fmla="*/ 0 w 796"/>
                  <a:gd name="T63" fmla="*/ 0 h 821"/>
                  <a:gd name="T64" fmla="*/ 0 w 796"/>
                  <a:gd name="T65" fmla="*/ 0 h 821"/>
                  <a:gd name="T66" fmla="*/ 0 w 796"/>
                  <a:gd name="T67" fmla="*/ 0 h 821"/>
                  <a:gd name="T68" fmla="*/ 0 w 796"/>
                  <a:gd name="T69" fmla="*/ 0 h 821"/>
                  <a:gd name="T70" fmla="*/ 0 w 796"/>
                  <a:gd name="T71" fmla="*/ 0 h 821"/>
                  <a:gd name="T72" fmla="*/ 0 w 796"/>
                  <a:gd name="T73" fmla="*/ 0 h 821"/>
                  <a:gd name="T74" fmla="*/ 0 w 796"/>
                  <a:gd name="T75" fmla="*/ 0 h 821"/>
                  <a:gd name="T76" fmla="*/ 0 w 796"/>
                  <a:gd name="T77" fmla="*/ 0 h 821"/>
                  <a:gd name="T78" fmla="*/ 0 w 796"/>
                  <a:gd name="T79" fmla="*/ 0 h 821"/>
                  <a:gd name="T80" fmla="*/ 0 w 796"/>
                  <a:gd name="T81" fmla="*/ 0 h 821"/>
                  <a:gd name="T82" fmla="*/ 0 w 796"/>
                  <a:gd name="T83" fmla="*/ 0 h 821"/>
                  <a:gd name="T84" fmla="*/ 0 w 796"/>
                  <a:gd name="T85" fmla="*/ 0 h 821"/>
                  <a:gd name="T86" fmla="*/ 0 w 796"/>
                  <a:gd name="T87" fmla="*/ 0 h 821"/>
                  <a:gd name="T88" fmla="*/ 0 w 796"/>
                  <a:gd name="T89" fmla="*/ 0 h 821"/>
                  <a:gd name="T90" fmla="*/ 0 w 796"/>
                  <a:gd name="T91" fmla="*/ 0 h 821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796"/>
                  <a:gd name="T139" fmla="*/ 0 h 821"/>
                  <a:gd name="T140" fmla="*/ 796 w 796"/>
                  <a:gd name="T141" fmla="*/ 821 h 821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796" h="821">
                    <a:moveTo>
                      <a:pt x="0" y="77"/>
                    </a:moveTo>
                    <a:lnTo>
                      <a:pt x="67" y="0"/>
                    </a:lnTo>
                    <a:lnTo>
                      <a:pt x="166" y="0"/>
                    </a:lnTo>
                    <a:lnTo>
                      <a:pt x="349" y="19"/>
                    </a:lnTo>
                    <a:lnTo>
                      <a:pt x="565" y="30"/>
                    </a:lnTo>
                    <a:lnTo>
                      <a:pt x="647" y="66"/>
                    </a:lnTo>
                    <a:lnTo>
                      <a:pt x="682" y="112"/>
                    </a:lnTo>
                    <a:lnTo>
                      <a:pt x="690" y="183"/>
                    </a:lnTo>
                    <a:lnTo>
                      <a:pt x="666" y="257"/>
                    </a:lnTo>
                    <a:lnTo>
                      <a:pt x="600" y="370"/>
                    </a:lnTo>
                    <a:lnTo>
                      <a:pt x="513" y="465"/>
                    </a:lnTo>
                    <a:lnTo>
                      <a:pt x="447" y="550"/>
                    </a:lnTo>
                    <a:lnTo>
                      <a:pt x="420" y="616"/>
                    </a:lnTo>
                    <a:lnTo>
                      <a:pt x="400" y="664"/>
                    </a:lnTo>
                    <a:lnTo>
                      <a:pt x="407" y="700"/>
                    </a:lnTo>
                    <a:lnTo>
                      <a:pt x="412" y="722"/>
                    </a:lnTo>
                    <a:lnTo>
                      <a:pt x="491" y="722"/>
                    </a:lnTo>
                    <a:lnTo>
                      <a:pt x="612" y="703"/>
                    </a:lnTo>
                    <a:lnTo>
                      <a:pt x="690" y="703"/>
                    </a:lnTo>
                    <a:lnTo>
                      <a:pt x="772" y="734"/>
                    </a:lnTo>
                    <a:lnTo>
                      <a:pt x="796" y="774"/>
                    </a:lnTo>
                    <a:lnTo>
                      <a:pt x="772" y="809"/>
                    </a:lnTo>
                    <a:lnTo>
                      <a:pt x="737" y="821"/>
                    </a:lnTo>
                    <a:lnTo>
                      <a:pt x="682" y="805"/>
                    </a:lnTo>
                    <a:lnTo>
                      <a:pt x="608" y="761"/>
                    </a:lnTo>
                    <a:lnTo>
                      <a:pt x="529" y="769"/>
                    </a:lnTo>
                    <a:lnTo>
                      <a:pt x="400" y="793"/>
                    </a:lnTo>
                    <a:lnTo>
                      <a:pt x="361" y="785"/>
                    </a:lnTo>
                    <a:lnTo>
                      <a:pt x="341" y="758"/>
                    </a:lnTo>
                    <a:lnTo>
                      <a:pt x="341" y="692"/>
                    </a:lnTo>
                    <a:lnTo>
                      <a:pt x="341" y="597"/>
                    </a:lnTo>
                    <a:lnTo>
                      <a:pt x="396" y="527"/>
                    </a:lnTo>
                    <a:lnTo>
                      <a:pt x="478" y="421"/>
                    </a:lnTo>
                    <a:lnTo>
                      <a:pt x="549" y="328"/>
                    </a:lnTo>
                    <a:lnTo>
                      <a:pt x="596" y="257"/>
                    </a:lnTo>
                    <a:lnTo>
                      <a:pt x="620" y="195"/>
                    </a:lnTo>
                    <a:lnTo>
                      <a:pt x="608" y="159"/>
                    </a:lnTo>
                    <a:lnTo>
                      <a:pt x="576" y="117"/>
                    </a:lnTo>
                    <a:lnTo>
                      <a:pt x="529" y="104"/>
                    </a:lnTo>
                    <a:lnTo>
                      <a:pt x="478" y="104"/>
                    </a:lnTo>
                    <a:lnTo>
                      <a:pt x="365" y="104"/>
                    </a:lnTo>
                    <a:lnTo>
                      <a:pt x="196" y="136"/>
                    </a:lnTo>
                    <a:lnTo>
                      <a:pt x="71" y="148"/>
                    </a:lnTo>
                    <a:lnTo>
                      <a:pt x="21" y="136"/>
                    </a:lnTo>
                    <a:lnTo>
                      <a:pt x="0" y="117"/>
                    </a:lnTo>
                    <a:lnTo>
                      <a:pt x="0" y="7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22" name="Freeform 21"/>
              <p:cNvSpPr>
                <a:spLocks noChangeArrowheads="1"/>
              </p:cNvSpPr>
              <p:nvPr/>
            </p:nvSpPr>
            <p:spPr bwMode="auto">
              <a:xfrm>
                <a:off x="0" y="443"/>
                <a:ext cx="253" cy="195"/>
              </a:xfrm>
              <a:custGeom>
                <a:avLst/>
                <a:gdLst>
                  <a:gd name="T0" fmla="*/ 0 w 1010"/>
                  <a:gd name="T1" fmla="*/ 0 h 782"/>
                  <a:gd name="T2" fmla="*/ 0 w 1010"/>
                  <a:gd name="T3" fmla="*/ 0 h 782"/>
                  <a:gd name="T4" fmla="*/ 0 w 1010"/>
                  <a:gd name="T5" fmla="*/ 0 h 782"/>
                  <a:gd name="T6" fmla="*/ 0 w 1010"/>
                  <a:gd name="T7" fmla="*/ 0 h 782"/>
                  <a:gd name="T8" fmla="*/ 0 w 1010"/>
                  <a:gd name="T9" fmla="*/ 0 h 782"/>
                  <a:gd name="T10" fmla="*/ 0 w 1010"/>
                  <a:gd name="T11" fmla="*/ 0 h 782"/>
                  <a:gd name="T12" fmla="*/ 0 w 1010"/>
                  <a:gd name="T13" fmla="*/ 0 h 782"/>
                  <a:gd name="T14" fmla="*/ 0 w 1010"/>
                  <a:gd name="T15" fmla="*/ 0 h 782"/>
                  <a:gd name="T16" fmla="*/ 0 w 1010"/>
                  <a:gd name="T17" fmla="*/ 0 h 782"/>
                  <a:gd name="T18" fmla="*/ 0 w 1010"/>
                  <a:gd name="T19" fmla="*/ 0 h 782"/>
                  <a:gd name="T20" fmla="*/ 0 w 1010"/>
                  <a:gd name="T21" fmla="*/ 0 h 782"/>
                  <a:gd name="T22" fmla="*/ 0 w 1010"/>
                  <a:gd name="T23" fmla="*/ 0 h 782"/>
                  <a:gd name="T24" fmla="*/ 0 w 1010"/>
                  <a:gd name="T25" fmla="*/ 0 h 782"/>
                  <a:gd name="T26" fmla="*/ 0 w 1010"/>
                  <a:gd name="T27" fmla="*/ 0 h 782"/>
                  <a:gd name="T28" fmla="*/ 0 w 1010"/>
                  <a:gd name="T29" fmla="*/ 0 h 782"/>
                  <a:gd name="T30" fmla="*/ 0 w 1010"/>
                  <a:gd name="T31" fmla="*/ 0 h 782"/>
                  <a:gd name="T32" fmla="*/ 0 w 1010"/>
                  <a:gd name="T33" fmla="*/ 0 h 782"/>
                  <a:gd name="T34" fmla="*/ 0 w 1010"/>
                  <a:gd name="T35" fmla="*/ 0 h 782"/>
                  <a:gd name="T36" fmla="*/ 0 w 1010"/>
                  <a:gd name="T37" fmla="*/ 0 h 782"/>
                  <a:gd name="T38" fmla="*/ 0 w 1010"/>
                  <a:gd name="T39" fmla="*/ 0 h 782"/>
                  <a:gd name="T40" fmla="*/ 0 w 1010"/>
                  <a:gd name="T41" fmla="*/ 0 h 782"/>
                  <a:gd name="T42" fmla="*/ 0 w 1010"/>
                  <a:gd name="T43" fmla="*/ 0 h 782"/>
                  <a:gd name="T44" fmla="*/ 0 w 1010"/>
                  <a:gd name="T45" fmla="*/ 0 h 782"/>
                  <a:gd name="T46" fmla="*/ 0 w 1010"/>
                  <a:gd name="T47" fmla="*/ 0 h 782"/>
                  <a:gd name="T48" fmla="*/ 0 w 1010"/>
                  <a:gd name="T49" fmla="*/ 0 h 782"/>
                  <a:gd name="T50" fmla="*/ 0 w 1010"/>
                  <a:gd name="T51" fmla="*/ 0 h 782"/>
                  <a:gd name="T52" fmla="*/ 0 w 1010"/>
                  <a:gd name="T53" fmla="*/ 0 h 782"/>
                  <a:gd name="T54" fmla="*/ 0 w 1010"/>
                  <a:gd name="T55" fmla="*/ 0 h 782"/>
                  <a:gd name="T56" fmla="*/ 0 w 1010"/>
                  <a:gd name="T57" fmla="*/ 0 h 782"/>
                  <a:gd name="T58" fmla="*/ 0 w 1010"/>
                  <a:gd name="T59" fmla="*/ 0 h 782"/>
                  <a:gd name="T60" fmla="*/ 0 w 1010"/>
                  <a:gd name="T61" fmla="*/ 0 h 782"/>
                  <a:gd name="T62" fmla="*/ 0 w 1010"/>
                  <a:gd name="T63" fmla="*/ 0 h 782"/>
                  <a:gd name="T64" fmla="*/ 0 w 1010"/>
                  <a:gd name="T65" fmla="*/ 0 h 782"/>
                  <a:gd name="T66" fmla="*/ 0 w 1010"/>
                  <a:gd name="T67" fmla="*/ 0 h 782"/>
                  <a:gd name="T68" fmla="*/ 0 w 1010"/>
                  <a:gd name="T69" fmla="*/ 0 h 782"/>
                  <a:gd name="T70" fmla="*/ 0 w 1010"/>
                  <a:gd name="T71" fmla="*/ 0 h 782"/>
                  <a:gd name="T72" fmla="*/ 0 w 1010"/>
                  <a:gd name="T73" fmla="*/ 0 h 782"/>
                  <a:gd name="T74" fmla="*/ 0 w 1010"/>
                  <a:gd name="T75" fmla="*/ 0 h 782"/>
                  <a:gd name="T76" fmla="*/ 0 w 1010"/>
                  <a:gd name="T77" fmla="*/ 0 h 782"/>
                  <a:gd name="T78" fmla="*/ 0 w 1010"/>
                  <a:gd name="T79" fmla="*/ 0 h 782"/>
                  <a:gd name="T80" fmla="*/ 0 w 1010"/>
                  <a:gd name="T81" fmla="*/ 0 h 782"/>
                  <a:gd name="T82" fmla="*/ 0 w 1010"/>
                  <a:gd name="T83" fmla="*/ 0 h 782"/>
                  <a:gd name="T84" fmla="*/ 0 w 1010"/>
                  <a:gd name="T85" fmla="*/ 0 h 782"/>
                  <a:gd name="T86" fmla="*/ 0 w 1010"/>
                  <a:gd name="T87" fmla="*/ 0 h 782"/>
                  <a:gd name="T88" fmla="*/ 0 w 1010"/>
                  <a:gd name="T89" fmla="*/ 0 h 78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010"/>
                  <a:gd name="T136" fmla="*/ 0 h 782"/>
                  <a:gd name="T137" fmla="*/ 1010 w 1010"/>
                  <a:gd name="T138" fmla="*/ 782 h 78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010" h="782">
                    <a:moveTo>
                      <a:pt x="822" y="325"/>
                    </a:moveTo>
                    <a:lnTo>
                      <a:pt x="838" y="223"/>
                    </a:lnTo>
                    <a:lnTo>
                      <a:pt x="896" y="184"/>
                    </a:lnTo>
                    <a:lnTo>
                      <a:pt x="967" y="177"/>
                    </a:lnTo>
                    <a:lnTo>
                      <a:pt x="1010" y="223"/>
                    </a:lnTo>
                    <a:lnTo>
                      <a:pt x="991" y="312"/>
                    </a:lnTo>
                    <a:lnTo>
                      <a:pt x="952" y="434"/>
                    </a:lnTo>
                    <a:lnTo>
                      <a:pt x="873" y="571"/>
                    </a:lnTo>
                    <a:lnTo>
                      <a:pt x="775" y="688"/>
                    </a:lnTo>
                    <a:lnTo>
                      <a:pt x="693" y="751"/>
                    </a:lnTo>
                    <a:lnTo>
                      <a:pt x="603" y="782"/>
                    </a:lnTo>
                    <a:lnTo>
                      <a:pt x="516" y="771"/>
                    </a:lnTo>
                    <a:lnTo>
                      <a:pt x="450" y="735"/>
                    </a:lnTo>
                    <a:lnTo>
                      <a:pt x="426" y="676"/>
                    </a:lnTo>
                    <a:lnTo>
                      <a:pt x="399" y="575"/>
                    </a:lnTo>
                    <a:lnTo>
                      <a:pt x="368" y="388"/>
                    </a:lnTo>
                    <a:lnTo>
                      <a:pt x="344" y="259"/>
                    </a:lnTo>
                    <a:lnTo>
                      <a:pt x="344" y="106"/>
                    </a:lnTo>
                    <a:lnTo>
                      <a:pt x="328" y="79"/>
                    </a:lnTo>
                    <a:lnTo>
                      <a:pt x="282" y="71"/>
                    </a:lnTo>
                    <a:lnTo>
                      <a:pt x="227" y="114"/>
                    </a:lnTo>
                    <a:lnTo>
                      <a:pt x="177" y="184"/>
                    </a:lnTo>
                    <a:lnTo>
                      <a:pt x="117" y="223"/>
                    </a:lnTo>
                    <a:lnTo>
                      <a:pt x="27" y="223"/>
                    </a:lnTo>
                    <a:lnTo>
                      <a:pt x="0" y="199"/>
                    </a:lnTo>
                    <a:lnTo>
                      <a:pt x="0" y="161"/>
                    </a:lnTo>
                    <a:lnTo>
                      <a:pt x="39" y="125"/>
                    </a:lnTo>
                    <a:lnTo>
                      <a:pt x="82" y="137"/>
                    </a:lnTo>
                    <a:lnTo>
                      <a:pt x="121" y="129"/>
                    </a:lnTo>
                    <a:lnTo>
                      <a:pt x="192" y="79"/>
                    </a:lnTo>
                    <a:lnTo>
                      <a:pt x="262" y="24"/>
                    </a:lnTo>
                    <a:lnTo>
                      <a:pt x="328" y="8"/>
                    </a:lnTo>
                    <a:lnTo>
                      <a:pt x="423" y="0"/>
                    </a:lnTo>
                    <a:lnTo>
                      <a:pt x="426" y="43"/>
                    </a:lnTo>
                    <a:lnTo>
                      <a:pt x="404" y="90"/>
                    </a:lnTo>
                    <a:lnTo>
                      <a:pt x="399" y="211"/>
                    </a:lnTo>
                    <a:lnTo>
                      <a:pt x="426" y="372"/>
                    </a:lnTo>
                    <a:lnTo>
                      <a:pt x="470" y="528"/>
                    </a:lnTo>
                    <a:lnTo>
                      <a:pt x="508" y="621"/>
                    </a:lnTo>
                    <a:lnTo>
                      <a:pt x="568" y="665"/>
                    </a:lnTo>
                    <a:lnTo>
                      <a:pt x="626" y="665"/>
                    </a:lnTo>
                    <a:lnTo>
                      <a:pt x="685" y="621"/>
                    </a:lnTo>
                    <a:lnTo>
                      <a:pt x="764" y="524"/>
                    </a:lnTo>
                    <a:lnTo>
                      <a:pt x="814" y="383"/>
                    </a:lnTo>
                    <a:lnTo>
                      <a:pt x="822" y="32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23" name="Freeform 22"/>
              <p:cNvSpPr>
                <a:spLocks noChangeArrowheads="1"/>
              </p:cNvSpPr>
              <p:nvPr/>
            </p:nvSpPr>
            <p:spPr bwMode="auto">
              <a:xfrm>
                <a:off x="120" y="0"/>
                <a:ext cx="177" cy="309"/>
              </a:xfrm>
              <a:custGeom>
                <a:avLst/>
                <a:gdLst>
                  <a:gd name="T0" fmla="*/ 0 w 712"/>
                  <a:gd name="T1" fmla="*/ 0 h 1236"/>
                  <a:gd name="T2" fmla="*/ 0 w 712"/>
                  <a:gd name="T3" fmla="*/ 0 h 1236"/>
                  <a:gd name="T4" fmla="*/ 0 w 712"/>
                  <a:gd name="T5" fmla="*/ 0 h 1236"/>
                  <a:gd name="T6" fmla="*/ 0 w 712"/>
                  <a:gd name="T7" fmla="*/ 0 h 1236"/>
                  <a:gd name="T8" fmla="*/ 0 w 712"/>
                  <a:gd name="T9" fmla="*/ 0 h 1236"/>
                  <a:gd name="T10" fmla="*/ 0 w 712"/>
                  <a:gd name="T11" fmla="*/ 0 h 1236"/>
                  <a:gd name="T12" fmla="*/ 0 w 712"/>
                  <a:gd name="T13" fmla="*/ 0 h 1236"/>
                  <a:gd name="T14" fmla="*/ 0 w 712"/>
                  <a:gd name="T15" fmla="*/ 0 h 1236"/>
                  <a:gd name="T16" fmla="*/ 0 w 712"/>
                  <a:gd name="T17" fmla="*/ 0 h 1236"/>
                  <a:gd name="T18" fmla="*/ 0 w 712"/>
                  <a:gd name="T19" fmla="*/ 0 h 1236"/>
                  <a:gd name="T20" fmla="*/ 0 w 712"/>
                  <a:gd name="T21" fmla="*/ 0 h 1236"/>
                  <a:gd name="T22" fmla="*/ 0 w 712"/>
                  <a:gd name="T23" fmla="*/ 0 h 1236"/>
                  <a:gd name="T24" fmla="*/ 0 w 712"/>
                  <a:gd name="T25" fmla="*/ 0 h 1236"/>
                  <a:gd name="T26" fmla="*/ 0 w 712"/>
                  <a:gd name="T27" fmla="*/ 0 h 1236"/>
                  <a:gd name="T28" fmla="*/ 0 w 712"/>
                  <a:gd name="T29" fmla="*/ 0 h 1236"/>
                  <a:gd name="T30" fmla="*/ 0 w 712"/>
                  <a:gd name="T31" fmla="*/ 0 h 1236"/>
                  <a:gd name="T32" fmla="*/ 0 w 712"/>
                  <a:gd name="T33" fmla="*/ 0 h 1236"/>
                  <a:gd name="T34" fmla="*/ 0 w 712"/>
                  <a:gd name="T35" fmla="*/ 0 h 1236"/>
                  <a:gd name="T36" fmla="*/ 0 w 712"/>
                  <a:gd name="T37" fmla="*/ 0 h 1236"/>
                  <a:gd name="T38" fmla="*/ 0 w 712"/>
                  <a:gd name="T39" fmla="*/ 0 h 1236"/>
                  <a:gd name="T40" fmla="*/ 0 w 712"/>
                  <a:gd name="T41" fmla="*/ 0 h 1236"/>
                  <a:gd name="T42" fmla="*/ 0 w 712"/>
                  <a:gd name="T43" fmla="*/ 0 h 1236"/>
                  <a:gd name="T44" fmla="*/ 0 w 712"/>
                  <a:gd name="T45" fmla="*/ 0 h 1236"/>
                  <a:gd name="T46" fmla="*/ 0 w 712"/>
                  <a:gd name="T47" fmla="*/ 0 h 1236"/>
                  <a:gd name="T48" fmla="*/ 0 w 712"/>
                  <a:gd name="T49" fmla="*/ 0 h 1236"/>
                  <a:gd name="T50" fmla="*/ 0 w 712"/>
                  <a:gd name="T51" fmla="*/ 0 h 1236"/>
                  <a:gd name="T52" fmla="*/ 0 w 712"/>
                  <a:gd name="T53" fmla="*/ 0 h 1236"/>
                  <a:gd name="T54" fmla="*/ 0 w 712"/>
                  <a:gd name="T55" fmla="*/ 0 h 1236"/>
                  <a:gd name="T56" fmla="*/ 0 w 712"/>
                  <a:gd name="T57" fmla="*/ 0 h 1236"/>
                  <a:gd name="T58" fmla="*/ 0 w 712"/>
                  <a:gd name="T59" fmla="*/ 0 h 1236"/>
                  <a:gd name="T60" fmla="*/ 0 w 712"/>
                  <a:gd name="T61" fmla="*/ 0 h 1236"/>
                  <a:gd name="T62" fmla="*/ 0 w 712"/>
                  <a:gd name="T63" fmla="*/ 0 h 1236"/>
                  <a:gd name="T64" fmla="*/ 0 w 712"/>
                  <a:gd name="T65" fmla="*/ 0 h 1236"/>
                  <a:gd name="T66" fmla="*/ 0 w 712"/>
                  <a:gd name="T67" fmla="*/ 0 h 1236"/>
                  <a:gd name="T68" fmla="*/ 0 w 712"/>
                  <a:gd name="T69" fmla="*/ 0 h 1236"/>
                  <a:gd name="T70" fmla="*/ 0 w 712"/>
                  <a:gd name="T71" fmla="*/ 0 h 1236"/>
                  <a:gd name="T72" fmla="*/ 0 w 712"/>
                  <a:gd name="T73" fmla="*/ 0 h 1236"/>
                  <a:gd name="T74" fmla="*/ 0 w 712"/>
                  <a:gd name="T75" fmla="*/ 0 h 1236"/>
                  <a:gd name="T76" fmla="*/ 0 w 712"/>
                  <a:gd name="T77" fmla="*/ 0 h 1236"/>
                  <a:gd name="T78" fmla="*/ 0 w 712"/>
                  <a:gd name="T79" fmla="*/ 0 h 1236"/>
                  <a:gd name="T80" fmla="*/ 0 w 712"/>
                  <a:gd name="T81" fmla="*/ 0 h 1236"/>
                  <a:gd name="T82" fmla="*/ 0 w 712"/>
                  <a:gd name="T83" fmla="*/ 0 h 12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712"/>
                  <a:gd name="T127" fmla="*/ 0 h 1236"/>
                  <a:gd name="T128" fmla="*/ 712 w 712"/>
                  <a:gd name="T129" fmla="*/ 1236 h 12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712" h="1236">
                    <a:moveTo>
                      <a:pt x="453" y="938"/>
                    </a:moveTo>
                    <a:lnTo>
                      <a:pt x="570" y="1056"/>
                    </a:lnTo>
                    <a:lnTo>
                      <a:pt x="618" y="1056"/>
                    </a:lnTo>
                    <a:lnTo>
                      <a:pt x="696" y="1103"/>
                    </a:lnTo>
                    <a:lnTo>
                      <a:pt x="712" y="1157"/>
                    </a:lnTo>
                    <a:lnTo>
                      <a:pt x="688" y="1228"/>
                    </a:lnTo>
                    <a:lnTo>
                      <a:pt x="625" y="1236"/>
                    </a:lnTo>
                    <a:lnTo>
                      <a:pt x="547" y="1181"/>
                    </a:lnTo>
                    <a:lnTo>
                      <a:pt x="390" y="1032"/>
                    </a:lnTo>
                    <a:lnTo>
                      <a:pt x="289" y="892"/>
                    </a:lnTo>
                    <a:lnTo>
                      <a:pt x="242" y="782"/>
                    </a:lnTo>
                    <a:lnTo>
                      <a:pt x="210" y="594"/>
                    </a:lnTo>
                    <a:lnTo>
                      <a:pt x="210" y="352"/>
                    </a:lnTo>
                    <a:lnTo>
                      <a:pt x="202" y="290"/>
                    </a:lnTo>
                    <a:lnTo>
                      <a:pt x="156" y="243"/>
                    </a:lnTo>
                    <a:lnTo>
                      <a:pt x="23" y="250"/>
                    </a:lnTo>
                    <a:lnTo>
                      <a:pt x="0" y="227"/>
                    </a:lnTo>
                    <a:lnTo>
                      <a:pt x="30" y="211"/>
                    </a:lnTo>
                    <a:lnTo>
                      <a:pt x="125" y="203"/>
                    </a:lnTo>
                    <a:lnTo>
                      <a:pt x="141" y="188"/>
                    </a:lnTo>
                    <a:lnTo>
                      <a:pt x="7" y="109"/>
                    </a:lnTo>
                    <a:lnTo>
                      <a:pt x="7" y="79"/>
                    </a:lnTo>
                    <a:lnTo>
                      <a:pt x="30" y="71"/>
                    </a:lnTo>
                    <a:lnTo>
                      <a:pt x="141" y="133"/>
                    </a:lnTo>
                    <a:lnTo>
                      <a:pt x="164" y="125"/>
                    </a:lnTo>
                    <a:lnTo>
                      <a:pt x="141" y="8"/>
                    </a:lnTo>
                    <a:lnTo>
                      <a:pt x="156" y="0"/>
                    </a:lnTo>
                    <a:lnTo>
                      <a:pt x="172" y="8"/>
                    </a:lnTo>
                    <a:lnTo>
                      <a:pt x="202" y="125"/>
                    </a:lnTo>
                    <a:lnTo>
                      <a:pt x="226" y="133"/>
                    </a:lnTo>
                    <a:lnTo>
                      <a:pt x="289" y="8"/>
                    </a:lnTo>
                    <a:lnTo>
                      <a:pt x="305" y="8"/>
                    </a:lnTo>
                    <a:lnTo>
                      <a:pt x="305" y="47"/>
                    </a:lnTo>
                    <a:lnTo>
                      <a:pt x="265" y="148"/>
                    </a:lnTo>
                    <a:lnTo>
                      <a:pt x="265" y="203"/>
                    </a:lnTo>
                    <a:lnTo>
                      <a:pt x="281" y="274"/>
                    </a:lnTo>
                    <a:lnTo>
                      <a:pt x="273" y="367"/>
                    </a:lnTo>
                    <a:lnTo>
                      <a:pt x="281" y="539"/>
                    </a:lnTo>
                    <a:lnTo>
                      <a:pt x="297" y="649"/>
                    </a:lnTo>
                    <a:lnTo>
                      <a:pt x="336" y="774"/>
                    </a:lnTo>
                    <a:lnTo>
                      <a:pt x="390" y="868"/>
                    </a:lnTo>
                    <a:lnTo>
                      <a:pt x="453" y="93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24" name="Freeform 23"/>
              <p:cNvSpPr>
                <a:spLocks noChangeArrowheads="1"/>
              </p:cNvSpPr>
              <p:nvPr/>
            </p:nvSpPr>
            <p:spPr bwMode="auto">
              <a:xfrm>
                <a:off x="335" y="27"/>
                <a:ext cx="233" cy="289"/>
              </a:xfrm>
              <a:custGeom>
                <a:avLst/>
                <a:gdLst>
                  <a:gd name="T0" fmla="*/ 0 w 931"/>
                  <a:gd name="T1" fmla="*/ 0 h 1157"/>
                  <a:gd name="T2" fmla="*/ 0 w 931"/>
                  <a:gd name="T3" fmla="*/ 0 h 1157"/>
                  <a:gd name="T4" fmla="*/ 0 w 931"/>
                  <a:gd name="T5" fmla="*/ 0 h 1157"/>
                  <a:gd name="T6" fmla="*/ 0 w 931"/>
                  <a:gd name="T7" fmla="*/ 0 h 1157"/>
                  <a:gd name="T8" fmla="*/ 0 w 931"/>
                  <a:gd name="T9" fmla="*/ 0 h 1157"/>
                  <a:gd name="T10" fmla="*/ 0 w 931"/>
                  <a:gd name="T11" fmla="*/ 0 h 1157"/>
                  <a:gd name="T12" fmla="*/ 0 w 931"/>
                  <a:gd name="T13" fmla="*/ 0 h 1157"/>
                  <a:gd name="T14" fmla="*/ 0 w 931"/>
                  <a:gd name="T15" fmla="*/ 0 h 1157"/>
                  <a:gd name="T16" fmla="*/ 0 w 931"/>
                  <a:gd name="T17" fmla="*/ 0 h 1157"/>
                  <a:gd name="T18" fmla="*/ 0 w 931"/>
                  <a:gd name="T19" fmla="*/ 0 h 1157"/>
                  <a:gd name="T20" fmla="*/ 0 w 931"/>
                  <a:gd name="T21" fmla="*/ 0 h 1157"/>
                  <a:gd name="T22" fmla="*/ 0 w 931"/>
                  <a:gd name="T23" fmla="*/ 0 h 1157"/>
                  <a:gd name="T24" fmla="*/ 0 w 931"/>
                  <a:gd name="T25" fmla="*/ 0 h 1157"/>
                  <a:gd name="T26" fmla="*/ 0 w 931"/>
                  <a:gd name="T27" fmla="*/ 0 h 1157"/>
                  <a:gd name="T28" fmla="*/ 0 w 931"/>
                  <a:gd name="T29" fmla="*/ 0 h 1157"/>
                  <a:gd name="T30" fmla="*/ 0 w 931"/>
                  <a:gd name="T31" fmla="*/ 0 h 1157"/>
                  <a:gd name="T32" fmla="*/ 0 w 931"/>
                  <a:gd name="T33" fmla="*/ 0 h 1157"/>
                  <a:gd name="T34" fmla="*/ 0 w 931"/>
                  <a:gd name="T35" fmla="*/ 0 h 1157"/>
                  <a:gd name="T36" fmla="*/ 0 w 931"/>
                  <a:gd name="T37" fmla="*/ 0 h 1157"/>
                  <a:gd name="T38" fmla="*/ 0 w 931"/>
                  <a:gd name="T39" fmla="*/ 0 h 1157"/>
                  <a:gd name="T40" fmla="*/ 0 w 931"/>
                  <a:gd name="T41" fmla="*/ 0 h 1157"/>
                  <a:gd name="T42" fmla="*/ 0 w 931"/>
                  <a:gd name="T43" fmla="*/ 0 h 1157"/>
                  <a:gd name="T44" fmla="*/ 0 w 931"/>
                  <a:gd name="T45" fmla="*/ 0 h 1157"/>
                  <a:gd name="T46" fmla="*/ 0 w 931"/>
                  <a:gd name="T47" fmla="*/ 0 h 1157"/>
                  <a:gd name="T48" fmla="*/ 0 w 931"/>
                  <a:gd name="T49" fmla="*/ 0 h 1157"/>
                  <a:gd name="T50" fmla="*/ 0 w 931"/>
                  <a:gd name="T51" fmla="*/ 0 h 1157"/>
                  <a:gd name="T52" fmla="*/ 0 w 931"/>
                  <a:gd name="T53" fmla="*/ 0 h 1157"/>
                  <a:gd name="T54" fmla="*/ 0 w 931"/>
                  <a:gd name="T55" fmla="*/ 0 h 1157"/>
                  <a:gd name="T56" fmla="*/ 0 w 931"/>
                  <a:gd name="T57" fmla="*/ 0 h 1157"/>
                  <a:gd name="T58" fmla="*/ 0 w 931"/>
                  <a:gd name="T59" fmla="*/ 0 h 1157"/>
                  <a:gd name="T60" fmla="*/ 0 w 931"/>
                  <a:gd name="T61" fmla="*/ 0 h 1157"/>
                  <a:gd name="T62" fmla="*/ 0 w 931"/>
                  <a:gd name="T63" fmla="*/ 0 h 1157"/>
                  <a:gd name="T64" fmla="*/ 0 w 931"/>
                  <a:gd name="T65" fmla="*/ 0 h 1157"/>
                  <a:gd name="T66" fmla="*/ 0 w 931"/>
                  <a:gd name="T67" fmla="*/ 0 h 1157"/>
                  <a:gd name="T68" fmla="*/ 0 w 931"/>
                  <a:gd name="T69" fmla="*/ 0 h 1157"/>
                  <a:gd name="T70" fmla="*/ 0 w 931"/>
                  <a:gd name="T71" fmla="*/ 0 h 1157"/>
                  <a:gd name="T72" fmla="*/ 0 w 931"/>
                  <a:gd name="T73" fmla="*/ 0 h 1157"/>
                  <a:gd name="T74" fmla="*/ 0 w 931"/>
                  <a:gd name="T75" fmla="*/ 0 h 1157"/>
                  <a:gd name="T76" fmla="*/ 0 w 931"/>
                  <a:gd name="T77" fmla="*/ 0 h 1157"/>
                  <a:gd name="T78" fmla="*/ 0 w 931"/>
                  <a:gd name="T79" fmla="*/ 0 h 1157"/>
                  <a:gd name="T80" fmla="*/ 0 w 931"/>
                  <a:gd name="T81" fmla="*/ 0 h 1157"/>
                  <a:gd name="T82" fmla="*/ 0 w 931"/>
                  <a:gd name="T83" fmla="*/ 0 h 1157"/>
                  <a:gd name="T84" fmla="*/ 0 w 931"/>
                  <a:gd name="T85" fmla="*/ 0 h 1157"/>
                  <a:gd name="T86" fmla="*/ 0 w 931"/>
                  <a:gd name="T87" fmla="*/ 0 h 1157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931"/>
                  <a:gd name="T133" fmla="*/ 0 h 1157"/>
                  <a:gd name="T134" fmla="*/ 931 w 931"/>
                  <a:gd name="T135" fmla="*/ 1157 h 1157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931" h="1157">
                    <a:moveTo>
                      <a:pt x="15" y="1024"/>
                    </a:moveTo>
                    <a:lnTo>
                      <a:pt x="0" y="1078"/>
                    </a:lnTo>
                    <a:lnTo>
                      <a:pt x="15" y="1157"/>
                    </a:lnTo>
                    <a:lnTo>
                      <a:pt x="70" y="1157"/>
                    </a:lnTo>
                    <a:lnTo>
                      <a:pt x="235" y="1125"/>
                    </a:lnTo>
                    <a:lnTo>
                      <a:pt x="415" y="1063"/>
                    </a:lnTo>
                    <a:lnTo>
                      <a:pt x="563" y="961"/>
                    </a:lnTo>
                    <a:lnTo>
                      <a:pt x="650" y="829"/>
                    </a:lnTo>
                    <a:lnTo>
                      <a:pt x="727" y="602"/>
                    </a:lnTo>
                    <a:lnTo>
                      <a:pt x="751" y="391"/>
                    </a:lnTo>
                    <a:lnTo>
                      <a:pt x="751" y="290"/>
                    </a:lnTo>
                    <a:lnTo>
                      <a:pt x="790" y="227"/>
                    </a:lnTo>
                    <a:lnTo>
                      <a:pt x="860" y="203"/>
                    </a:lnTo>
                    <a:lnTo>
                      <a:pt x="923" y="203"/>
                    </a:lnTo>
                    <a:lnTo>
                      <a:pt x="931" y="172"/>
                    </a:lnTo>
                    <a:lnTo>
                      <a:pt x="838" y="180"/>
                    </a:lnTo>
                    <a:lnTo>
                      <a:pt x="822" y="156"/>
                    </a:lnTo>
                    <a:lnTo>
                      <a:pt x="899" y="71"/>
                    </a:lnTo>
                    <a:lnTo>
                      <a:pt x="884" y="47"/>
                    </a:lnTo>
                    <a:lnTo>
                      <a:pt x="868" y="63"/>
                    </a:lnTo>
                    <a:lnTo>
                      <a:pt x="806" y="125"/>
                    </a:lnTo>
                    <a:lnTo>
                      <a:pt x="790" y="125"/>
                    </a:lnTo>
                    <a:lnTo>
                      <a:pt x="790" y="16"/>
                    </a:lnTo>
                    <a:lnTo>
                      <a:pt x="775" y="0"/>
                    </a:lnTo>
                    <a:lnTo>
                      <a:pt x="751" y="8"/>
                    </a:lnTo>
                    <a:lnTo>
                      <a:pt x="759" y="125"/>
                    </a:lnTo>
                    <a:lnTo>
                      <a:pt x="743" y="132"/>
                    </a:lnTo>
                    <a:lnTo>
                      <a:pt x="680" y="71"/>
                    </a:lnTo>
                    <a:lnTo>
                      <a:pt x="634" y="63"/>
                    </a:lnTo>
                    <a:lnTo>
                      <a:pt x="642" y="94"/>
                    </a:lnTo>
                    <a:lnTo>
                      <a:pt x="712" y="164"/>
                    </a:lnTo>
                    <a:lnTo>
                      <a:pt x="712" y="203"/>
                    </a:lnTo>
                    <a:lnTo>
                      <a:pt x="688" y="282"/>
                    </a:lnTo>
                    <a:lnTo>
                      <a:pt x="688" y="352"/>
                    </a:lnTo>
                    <a:lnTo>
                      <a:pt x="688" y="469"/>
                    </a:lnTo>
                    <a:lnTo>
                      <a:pt x="656" y="618"/>
                    </a:lnTo>
                    <a:lnTo>
                      <a:pt x="626" y="711"/>
                    </a:lnTo>
                    <a:lnTo>
                      <a:pt x="571" y="829"/>
                    </a:lnTo>
                    <a:lnTo>
                      <a:pt x="508" y="922"/>
                    </a:lnTo>
                    <a:lnTo>
                      <a:pt x="462" y="969"/>
                    </a:lnTo>
                    <a:lnTo>
                      <a:pt x="336" y="1009"/>
                    </a:lnTo>
                    <a:lnTo>
                      <a:pt x="219" y="1024"/>
                    </a:lnTo>
                    <a:lnTo>
                      <a:pt x="101" y="1040"/>
                    </a:lnTo>
                    <a:lnTo>
                      <a:pt x="15" y="10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1219" name="Group 25"/>
            <p:cNvGrpSpPr/>
            <p:nvPr/>
          </p:nvGrpSpPr>
          <p:grpSpPr>
            <a:xfrm>
              <a:off x="213" y="210"/>
              <a:ext cx="466" cy="694"/>
              <a:chOff x="0" y="0"/>
              <a:chExt cx="466" cy="694"/>
            </a:xfrm>
          </p:grpSpPr>
          <p:sp>
            <p:nvSpPr>
              <p:cNvPr id="51226" name="Freeform 25"/>
              <p:cNvSpPr>
                <a:spLocks noChangeArrowheads="1"/>
              </p:cNvSpPr>
              <p:nvPr/>
            </p:nvSpPr>
            <p:spPr bwMode="auto">
              <a:xfrm>
                <a:off x="149" y="0"/>
                <a:ext cx="137" cy="144"/>
              </a:xfrm>
              <a:custGeom>
                <a:avLst/>
                <a:gdLst>
                  <a:gd name="T0" fmla="*/ 0 w 550"/>
                  <a:gd name="T1" fmla="*/ 0 h 579"/>
                  <a:gd name="T2" fmla="*/ 0 w 550"/>
                  <a:gd name="T3" fmla="*/ 0 h 579"/>
                  <a:gd name="T4" fmla="*/ 0 w 550"/>
                  <a:gd name="T5" fmla="*/ 0 h 579"/>
                  <a:gd name="T6" fmla="*/ 0 w 550"/>
                  <a:gd name="T7" fmla="*/ 0 h 579"/>
                  <a:gd name="T8" fmla="*/ 0 w 550"/>
                  <a:gd name="T9" fmla="*/ 0 h 579"/>
                  <a:gd name="T10" fmla="*/ 0 w 550"/>
                  <a:gd name="T11" fmla="*/ 0 h 579"/>
                  <a:gd name="T12" fmla="*/ 0 w 550"/>
                  <a:gd name="T13" fmla="*/ 0 h 579"/>
                  <a:gd name="T14" fmla="*/ 0 w 550"/>
                  <a:gd name="T15" fmla="*/ 0 h 579"/>
                  <a:gd name="T16" fmla="*/ 0 w 550"/>
                  <a:gd name="T17" fmla="*/ 0 h 579"/>
                  <a:gd name="T18" fmla="*/ 0 w 550"/>
                  <a:gd name="T19" fmla="*/ 0 h 579"/>
                  <a:gd name="T20" fmla="*/ 0 w 550"/>
                  <a:gd name="T21" fmla="*/ 0 h 579"/>
                  <a:gd name="T22" fmla="*/ 0 w 550"/>
                  <a:gd name="T23" fmla="*/ 0 h 579"/>
                  <a:gd name="T24" fmla="*/ 0 w 550"/>
                  <a:gd name="T25" fmla="*/ 0 h 579"/>
                  <a:gd name="T26" fmla="*/ 0 w 550"/>
                  <a:gd name="T27" fmla="*/ 0 h 579"/>
                  <a:gd name="T28" fmla="*/ 0 w 550"/>
                  <a:gd name="T29" fmla="*/ 0 h 579"/>
                  <a:gd name="T30" fmla="*/ 0 w 550"/>
                  <a:gd name="T31" fmla="*/ 0 h 579"/>
                  <a:gd name="T32" fmla="*/ 0 w 550"/>
                  <a:gd name="T33" fmla="*/ 0 h 579"/>
                  <a:gd name="T34" fmla="*/ 0 w 550"/>
                  <a:gd name="T35" fmla="*/ 0 h 579"/>
                  <a:gd name="T36" fmla="*/ 0 w 550"/>
                  <a:gd name="T37" fmla="*/ 0 h 579"/>
                  <a:gd name="T38" fmla="*/ 0 w 550"/>
                  <a:gd name="T39" fmla="*/ 0 h 579"/>
                  <a:gd name="T40" fmla="*/ 0 w 550"/>
                  <a:gd name="T41" fmla="*/ 0 h 579"/>
                  <a:gd name="T42" fmla="*/ 0 w 550"/>
                  <a:gd name="T43" fmla="*/ 0 h 579"/>
                  <a:gd name="T44" fmla="*/ 0 w 550"/>
                  <a:gd name="T45" fmla="*/ 0 h 579"/>
                  <a:gd name="T46" fmla="*/ 0 w 550"/>
                  <a:gd name="T47" fmla="*/ 0 h 579"/>
                  <a:gd name="T48" fmla="*/ 0 w 550"/>
                  <a:gd name="T49" fmla="*/ 0 h 57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550"/>
                  <a:gd name="T76" fmla="*/ 0 h 579"/>
                  <a:gd name="T77" fmla="*/ 550 w 550"/>
                  <a:gd name="T78" fmla="*/ 579 h 57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550" h="579">
                    <a:moveTo>
                      <a:pt x="271" y="0"/>
                    </a:moveTo>
                    <a:lnTo>
                      <a:pt x="339" y="9"/>
                    </a:lnTo>
                    <a:lnTo>
                      <a:pt x="373" y="53"/>
                    </a:lnTo>
                    <a:lnTo>
                      <a:pt x="389" y="141"/>
                    </a:lnTo>
                    <a:lnTo>
                      <a:pt x="378" y="247"/>
                    </a:lnTo>
                    <a:lnTo>
                      <a:pt x="351" y="313"/>
                    </a:lnTo>
                    <a:lnTo>
                      <a:pt x="321" y="398"/>
                    </a:lnTo>
                    <a:lnTo>
                      <a:pt x="504" y="503"/>
                    </a:lnTo>
                    <a:lnTo>
                      <a:pt x="550" y="543"/>
                    </a:lnTo>
                    <a:lnTo>
                      <a:pt x="523" y="579"/>
                    </a:lnTo>
                    <a:lnTo>
                      <a:pt x="432" y="503"/>
                    </a:lnTo>
                    <a:lnTo>
                      <a:pt x="293" y="450"/>
                    </a:lnTo>
                    <a:lnTo>
                      <a:pt x="229" y="516"/>
                    </a:lnTo>
                    <a:lnTo>
                      <a:pt x="160" y="565"/>
                    </a:lnTo>
                    <a:lnTo>
                      <a:pt x="102" y="569"/>
                    </a:lnTo>
                    <a:lnTo>
                      <a:pt x="45" y="565"/>
                    </a:lnTo>
                    <a:lnTo>
                      <a:pt x="19" y="525"/>
                    </a:lnTo>
                    <a:lnTo>
                      <a:pt x="0" y="437"/>
                    </a:lnTo>
                    <a:lnTo>
                      <a:pt x="0" y="339"/>
                    </a:lnTo>
                    <a:lnTo>
                      <a:pt x="22" y="265"/>
                    </a:lnTo>
                    <a:lnTo>
                      <a:pt x="99" y="145"/>
                    </a:lnTo>
                    <a:lnTo>
                      <a:pt x="184" y="66"/>
                    </a:lnTo>
                    <a:lnTo>
                      <a:pt x="241" y="22"/>
                    </a:lnTo>
                    <a:lnTo>
                      <a:pt x="293" y="9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27" name="Freeform 26"/>
              <p:cNvSpPr>
                <a:spLocks noChangeArrowheads="1"/>
              </p:cNvSpPr>
              <p:nvPr/>
            </p:nvSpPr>
            <p:spPr bwMode="auto">
              <a:xfrm>
                <a:off x="183" y="171"/>
                <a:ext cx="283" cy="126"/>
              </a:xfrm>
              <a:custGeom>
                <a:avLst/>
                <a:gdLst>
                  <a:gd name="T0" fmla="*/ 0 w 1134"/>
                  <a:gd name="T1" fmla="*/ 0 h 505"/>
                  <a:gd name="T2" fmla="*/ 0 w 1134"/>
                  <a:gd name="T3" fmla="*/ 0 h 505"/>
                  <a:gd name="T4" fmla="*/ 0 w 1134"/>
                  <a:gd name="T5" fmla="*/ 0 h 505"/>
                  <a:gd name="T6" fmla="*/ 0 w 1134"/>
                  <a:gd name="T7" fmla="*/ 0 h 505"/>
                  <a:gd name="T8" fmla="*/ 0 w 1134"/>
                  <a:gd name="T9" fmla="*/ 0 h 505"/>
                  <a:gd name="T10" fmla="*/ 0 w 1134"/>
                  <a:gd name="T11" fmla="*/ 0 h 505"/>
                  <a:gd name="T12" fmla="*/ 0 w 1134"/>
                  <a:gd name="T13" fmla="*/ 0 h 505"/>
                  <a:gd name="T14" fmla="*/ 0 w 1134"/>
                  <a:gd name="T15" fmla="*/ 0 h 505"/>
                  <a:gd name="T16" fmla="*/ 0 w 1134"/>
                  <a:gd name="T17" fmla="*/ 0 h 505"/>
                  <a:gd name="T18" fmla="*/ 0 w 1134"/>
                  <a:gd name="T19" fmla="*/ 0 h 505"/>
                  <a:gd name="T20" fmla="*/ 0 w 1134"/>
                  <a:gd name="T21" fmla="*/ 0 h 505"/>
                  <a:gd name="T22" fmla="*/ 0 w 1134"/>
                  <a:gd name="T23" fmla="*/ 0 h 505"/>
                  <a:gd name="T24" fmla="*/ 0 w 1134"/>
                  <a:gd name="T25" fmla="*/ 0 h 505"/>
                  <a:gd name="T26" fmla="*/ 0 w 1134"/>
                  <a:gd name="T27" fmla="*/ 0 h 505"/>
                  <a:gd name="T28" fmla="*/ 0 w 1134"/>
                  <a:gd name="T29" fmla="*/ 0 h 505"/>
                  <a:gd name="T30" fmla="*/ 0 w 1134"/>
                  <a:gd name="T31" fmla="*/ 0 h 505"/>
                  <a:gd name="T32" fmla="*/ 0 w 1134"/>
                  <a:gd name="T33" fmla="*/ 0 h 505"/>
                  <a:gd name="T34" fmla="*/ 0 w 1134"/>
                  <a:gd name="T35" fmla="*/ 0 h 505"/>
                  <a:gd name="T36" fmla="*/ 0 w 1134"/>
                  <a:gd name="T37" fmla="*/ 0 h 505"/>
                  <a:gd name="T38" fmla="*/ 0 w 1134"/>
                  <a:gd name="T39" fmla="*/ 0 h 505"/>
                  <a:gd name="T40" fmla="*/ 0 w 1134"/>
                  <a:gd name="T41" fmla="*/ 0 h 505"/>
                  <a:gd name="T42" fmla="*/ 0 w 1134"/>
                  <a:gd name="T43" fmla="*/ 0 h 505"/>
                  <a:gd name="T44" fmla="*/ 0 w 1134"/>
                  <a:gd name="T45" fmla="*/ 0 h 505"/>
                  <a:gd name="T46" fmla="*/ 0 w 1134"/>
                  <a:gd name="T47" fmla="*/ 0 h 505"/>
                  <a:gd name="T48" fmla="*/ 0 w 1134"/>
                  <a:gd name="T49" fmla="*/ 0 h 505"/>
                  <a:gd name="T50" fmla="*/ 0 w 1134"/>
                  <a:gd name="T51" fmla="*/ 0 h 505"/>
                  <a:gd name="T52" fmla="*/ 0 w 1134"/>
                  <a:gd name="T53" fmla="*/ 0 h 505"/>
                  <a:gd name="T54" fmla="*/ 0 w 1134"/>
                  <a:gd name="T55" fmla="*/ 0 h 505"/>
                  <a:gd name="T56" fmla="*/ 0 w 1134"/>
                  <a:gd name="T57" fmla="*/ 0 h 50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134"/>
                  <a:gd name="T88" fmla="*/ 0 h 505"/>
                  <a:gd name="T89" fmla="*/ 1134 w 1134"/>
                  <a:gd name="T90" fmla="*/ 505 h 50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134" h="505">
                    <a:moveTo>
                      <a:pt x="12" y="0"/>
                    </a:moveTo>
                    <a:lnTo>
                      <a:pt x="119" y="15"/>
                    </a:lnTo>
                    <a:lnTo>
                      <a:pt x="313" y="103"/>
                    </a:lnTo>
                    <a:lnTo>
                      <a:pt x="481" y="174"/>
                    </a:lnTo>
                    <a:lnTo>
                      <a:pt x="669" y="235"/>
                    </a:lnTo>
                    <a:lnTo>
                      <a:pt x="803" y="301"/>
                    </a:lnTo>
                    <a:lnTo>
                      <a:pt x="986" y="373"/>
                    </a:lnTo>
                    <a:lnTo>
                      <a:pt x="1134" y="438"/>
                    </a:lnTo>
                    <a:lnTo>
                      <a:pt x="1126" y="465"/>
                    </a:lnTo>
                    <a:lnTo>
                      <a:pt x="1081" y="478"/>
                    </a:lnTo>
                    <a:lnTo>
                      <a:pt x="951" y="408"/>
                    </a:lnTo>
                    <a:lnTo>
                      <a:pt x="943" y="452"/>
                    </a:lnTo>
                    <a:lnTo>
                      <a:pt x="909" y="491"/>
                    </a:lnTo>
                    <a:lnTo>
                      <a:pt x="860" y="505"/>
                    </a:lnTo>
                    <a:lnTo>
                      <a:pt x="806" y="474"/>
                    </a:lnTo>
                    <a:lnTo>
                      <a:pt x="767" y="434"/>
                    </a:lnTo>
                    <a:lnTo>
                      <a:pt x="772" y="373"/>
                    </a:lnTo>
                    <a:lnTo>
                      <a:pt x="783" y="342"/>
                    </a:lnTo>
                    <a:lnTo>
                      <a:pt x="657" y="279"/>
                    </a:lnTo>
                    <a:lnTo>
                      <a:pt x="596" y="266"/>
                    </a:lnTo>
                    <a:lnTo>
                      <a:pt x="481" y="240"/>
                    </a:lnTo>
                    <a:lnTo>
                      <a:pt x="325" y="183"/>
                    </a:lnTo>
                    <a:lnTo>
                      <a:pt x="199" y="120"/>
                    </a:lnTo>
                    <a:lnTo>
                      <a:pt x="108" y="94"/>
                    </a:lnTo>
                    <a:lnTo>
                      <a:pt x="12" y="103"/>
                    </a:lnTo>
                    <a:lnTo>
                      <a:pt x="0" y="37"/>
                    </a:lnTo>
                    <a:lnTo>
                      <a:pt x="39" y="0"/>
                    </a:lnTo>
                    <a:lnTo>
                      <a:pt x="62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28" name="Freeform 27"/>
              <p:cNvSpPr>
                <a:spLocks noChangeArrowheads="1"/>
              </p:cNvSpPr>
              <p:nvPr/>
            </p:nvSpPr>
            <p:spPr bwMode="auto">
              <a:xfrm>
                <a:off x="106" y="169"/>
                <a:ext cx="93" cy="270"/>
              </a:xfrm>
              <a:custGeom>
                <a:avLst/>
                <a:gdLst>
                  <a:gd name="T0" fmla="*/ 0 w 373"/>
                  <a:gd name="T1" fmla="*/ 0 h 1082"/>
                  <a:gd name="T2" fmla="*/ 0 w 373"/>
                  <a:gd name="T3" fmla="*/ 0 h 1082"/>
                  <a:gd name="T4" fmla="*/ 0 w 373"/>
                  <a:gd name="T5" fmla="*/ 0 h 1082"/>
                  <a:gd name="T6" fmla="*/ 0 w 373"/>
                  <a:gd name="T7" fmla="*/ 0 h 1082"/>
                  <a:gd name="T8" fmla="*/ 0 w 373"/>
                  <a:gd name="T9" fmla="*/ 0 h 1082"/>
                  <a:gd name="T10" fmla="*/ 0 w 373"/>
                  <a:gd name="T11" fmla="*/ 0 h 1082"/>
                  <a:gd name="T12" fmla="*/ 0 w 373"/>
                  <a:gd name="T13" fmla="*/ 0 h 1082"/>
                  <a:gd name="T14" fmla="*/ 0 w 373"/>
                  <a:gd name="T15" fmla="*/ 0 h 1082"/>
                  <a:gd name="T16" fmla="*/ 0 w 373"/>
                  <a:gd name="T17" fmla="*/ 0 h 1082"/>
                  <a:gd name="T18" fmla="*/ 0 w 373"/>
                  <a:gd name="T19" fmla="*/ 0 h 1082"/>
                  <a:gd name="T20" fmla="*/ 0 w 373"/>
                  <a:gd name="T21" fmla="*/ 0 h 1082"/>
                  <a:gd name="T22" fmla="*/ 0 w 373"/>
                  <a:gd name="T23" fmla="*/ 0 h 1082"/>
                  <a:gd name="T24" fmla="*/ 0 w 373"/>
                  <a:gd name="T25" fmla="*/ 0 h 1082"/>
                  <a:gd name="T26" fmla="*/ 0 w 373"/>
                  <a:gd name="T27" fmla="*/ 0 h 1082"/>
                  <a:gd name="T28" fmla="*/ 0 w 373"/>
                  <a:gd name="T29" fmla="*/ 0 h 1082"/>
                  <a:gd name="T30" fmla="*/ 0 w 373"/>
                  <a:gd name="T31" fmla="*/ 0 h 1082"/>
                  <a:gd name="T32" fmla="*/ 0 w 373"/>
                  <a:gd name="T33" fmla="*/ 0 h 1082"/>
                  <a:gd name="T34" fmla="*/ 0 w 373"/>
                  <a:gd name="T35" fmla="*/ 0 h 1082"/>
                  <a:gd name="T36" fmla="*/ 0 w 373"/>
                  <a:gd name="T37" fmla="*/ 0 h 1082"/>
                  <a:gd name="T38" fmla="*/ 0 w 373"/>
                  <a:gd name="T39" fmla="*/ 0 h 1082"/>
                  <a:gd name="T40" fmla="*/ 0 w 373"/>
                  <a:gd name="T41" fmla="*/ 0 h 108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73"/>
                  <a:gd name="T64" fmla="*/ 0 h 1082"/>
                  <a:gd name="T65" fmla="*/ 373 w 373"/>
                  <a:gd name="T66" fmla="*/ 1082 h 108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73" h="1082">
                    <a:moveTo>
                      <a:pt x="213" y="0"/>
                    </a:moveTo>
                    <a:lnTo>
                      <a:pt x="262" y="0"/>
                    </a:lnTo>
                    <a:lnTo>
                      <a:pt x="305" y="21"/>
                    </a:lnTo>
                    <a:lnTo>
                      <a:pt x="350" y="88"/>
                    </a:lnTo>
                    <a:lnTo>
                      <a:pt x="366" y="172"/>
                    </a:lnTo>
                    <a:lnTo>
                      <a:pt x="373" y="379"/>
                    </a:lnTo>
                    <a:lnTo>
                      <a:pt x="362" y="556"/>
                    </a:lnTo>
                    <a:lnTo>
                      <a:pt x="327" y="737"/>
                    </a:lnTo>
                    <a:lnTo>
                      <a:pt x="282" y="923"/>
                    </a:lnTo>
                    <a:lnTo>
                      <a:pt x="228" y="1034"/>
                    </a:lnTo>
                    <a:lnTo>
                      <a:pt x="160" y="1082"/>
                    </a:lnTo>
                    <a:lnTo>
                      <a:pt x="103" y="1082"/>
                    </a:lnTo>
                    <a:lnTo>
                      <a:pt x="34" y="1034"/>
                    </a:lnTo>
                    <a:lnTo>
                      <a:pt x="8" y="962"/>
                    </a:lnTo>
                    <a:lnTo>
                      <a:pt x="0" y="835"/>
                    </a:lnTo>
                    <a:lnTo>
                      <a:pt x="8" y="676"/>
                    </a:lnTo>
                    <a:lnTo>
                      <a:pt x="42" y="477"/>
                    </a:lnTo>
                    <a:lnTo>
                      <a:pt x="88" y="233"/>
                    </a:lnTo>
                    <a:lnTo>
                      <a:pt x="145" y="48"/>
                    </a:lnTo>
                    <a:lnTo>
                      <a:pt x="179" y="21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29" name="Freeform 28"/>
              <p:cNvSpPr>
                <a:spLocks noChangeArrowheads="1"/>
              </p:cNvSpPr>
              <p:nvPr/>
            </p:nvSpPr>
            <p:spPr bwMode="auto">
              <a:xfrm>
                <a:off x="8" y="154"/>
                <a:ext cx="132" cy="249"/>
              </a:xfrm>
              <a:custGeom>
                <a:avLst/>
                <a:gdLst>
                  <a:gd name="T0" fmla="*/ 0 w 528"/>
                  <a:gd name="T1" fmla="*/ 0 h 994"/>
                  <a:gd name="T2" fmla="*/ 0 w 528"/>
                  <a:gd name="T3" fmla="*/ 0 h 994"/>
                  <a:gd name="T4" fmla="*/ 0 w 528"/>
                  <a:gd name="T5" fmla="*/ 0 h 994"/>
                  <a:gd name="T6" fmla="*/ 0 w 528"/>
                  <a:gd name="T7" fmla="*/ 0 h 994"/>
                  <a:gd name="T8" fmla="*/ 0 w 528"/>
                  <a:gd name="T9" fmla="*/ 0 h 994"/>
                  <a:gd name="T10" fmla="*/ 0 w 528"/>
                  <a:gd name="T11" fmla="*/ 0 h 994"/>
                  <a:gd name="T12" fmla="*/ 0 w 528"/>
                  <a:gd name="T13" fmla="*/ 0 h 994"/>
                  <a:gd name="T14" fmla="*/ 0 w 528"/>
                  <a:gd name="T15" fmla="*/ 0 h 994"/>
                  <a:gd name="T16" fmla="*/ 0 w 528"/>
                  <a:gd name="T17" fmla="*/ 0 h 994"/>
                  <a:gd name="T18" fmla="*/ 0 w 528"/>
                  <a:gd name="T19" fmla="*/ 0 h 994"/>
                  <a:gd name="T20" fmla="*/ 0 w 528"/>
                  <a:gd name="T21" fmla="*/ 0 h 994"/>
                  <a:gd name="T22" fmla="*/ 0 w 528"/>
                  <a:gd name="T23" fmla="*/ 0 h 994"/>
                  <a:gd name="T24" fmla="*/ 0 w 528"/>
                  <a:gd name="T25" fmla="*/ 0 h 994"/>
                  <a:gd name="T26" fmla="*/ 0 w 528"/>
                  <a:gd name="T27" fmla="*/ 0 h 994"/>
                  <a:gd name="T28" fmla="*/ 0 w 528"/>
                  <a:gd name="T29" fmla="*/ 0 h 994"/>
                  <a:gd name="T30" fmla="*/ 0 w 528"/>
                  <a:gd name="T31" fmla="*/ 0 h 994"/>
                  <a:gd name="T32" fmla="*/ 0 w 528"/>
                  <a:gd name="T33" fmla="*/ 0 h 994"/>
                  <a:gd name="T34" fmla="*/ 0 w 528"/>
                  <a:gd name="T35" fmla="*/ 0 h 994"/>
                  <a:gd name="T36" fmla="*/ 0 w 528"/>
                  <a:gd name="T37" fmla="*/ 0 h 994"/>
                  <a:gd name="T38" fmla="*/ 0 w 528"/>
                  <a:gd name="T39" fmla="*/ 0 h 994"/>
                  <a:gd name="T40" fmla="*/ 0 w 528"/>
                  <a:gd name="T41" fmla="*/ 0 h 994"/>
                  <a:gd name="T42" fmla="*/ 0 w 528"/>
                  <a:gd name="T43" fmla="*/ 0 h 994"/>
                  <a:gd name="T44" fmla="*/ 0 w 528"/>
                  <a:gd name="T45" fmla="*/ 0 h 994"/>
                  <a:gd name="T46" fmla="*/ 0 w 528"/>
                  <a:gd name="T47" fmla="*/ 0 h 994"/>
                  <a:gd name="T48" fmla="*/ 0 w 528"/>
                  <a:gd name="T49" fmla="*/ 0 h 994"/>
                  <a:gd name="T50" fmla="*/ 0 w 528"/>
                  <a:gd name="T51" fmla="*/ 0 h 994"/>
                  <a:gd name="T52" fmla="*/ 0 w 528"/>
                  <a:gd name="T53" fmla="*/ 0 h 994"/>
                  <a:gd name="T54" fmla="*/ 0 w 528"/>
                  <a:gd name="T55" fmla="*/ 0 h 994"/>
                  <a:gd name="T56" fmla="*/ 0 w 528"/>
                  <a:gd name="T57" fmla="*/ 0 h 994"/>
                  <a:gd name="T58" fmla="*/ 0 w 528"/>
                  <a:gd name="T59" fmla="*/ 0 h 994"/>
                  <a:gd name="T60" fmla="*/ 0 w 528"/>
                  <a:gd name="T61" fmla="*/ 0 h 994"/>
                  <a:gd name="T62" fmla="*/ 0 w 528"/>
                  <a:gd name="T63" fmla="*/ 0 h 994"/>
                  <a:gd name="T64" fmla="*/ 0 w 528"/>
                  <a:gd name="T65" fmla="*/ 0 h 994"/>
                  <a:gd name="T66" fmla="*/ 0 w 528"/>
                  <a:gd name="T67" fmla="*/ 0 h 994"/>
                  <a:gd name="T68" fmla="*/ 0 w 528"/>
                  <a:gd name="T69" fmla="*/ 0 h 994"/>
                  <a:gd name="T70" fmla="*/ 0 w 528"/>
                  <a:gd name="T71" fmla="*/ 0 h 994"/>
                  <a:gd name="T72" fmla="*/ 0 w 528"/>
                  <a:gd name="T73" fmla="*/ 0 h 994"/>
                  <a:gd name="T74" fmla="*/ 0 w 528"/>
                  <a:gd name="T75" fmla="*/ 0 h 994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528"/>
                  <a:gd name="T115" fmla="*/ 0 h 994"/>
                  <a:gd name="T116" fmla="*/ 528 w 528"/>
                  <a:gd name="T117" fmla="*/ 994 h 994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528" h="994">
                    <a:moveTo>
                      <a:pt x="401" y="40"/>
                    </a:moveTo>
                    <a:lnTo>
                      <a:pt x="459" y="0"/>
                    </a:lnTo>
                    <a:lnTo>
                      <a:pt x="501" y="0"/>
                    </a:lnTo>
                    <a:lnTo>
                      <a:pt x="528" y="31"/>
                    </a:lnTo>
                    <a:lnTo>
                      <a:pt x="513" y="93"/>
                    </a:lnTo>
                    <a:lnTo>
                      <a:pt x="478" y="132"/>
                    </a:lnTo>
                    <a:lnTo>
                      <a:pt x="413" y="172"/>
                    </a:lnTo>
                    <a:lnTo>
                      <a:pt x="287" y="230"/>
                    </a:lnTo>
                    <a:lnTo>
                      <a:pt x="127" y="331"/>
                    </a:lnTo>
                    <a:lnTo>
                      <a:pt x="65" y="335"/>
                    </a:lnTo>
                    <a:lnTo>
                      <a:pt x="99" y="429"/>
                    </a:lnTo>
                    <a:lnTo>
                      <a:pt x="168" y="530"/>
                    </a:lnTo>
                    <a:lnTo>
                      <a:pt x="225" y="654"/>
                    </a:lnTo>
                    <a:lnTo>
                      <a:pt x="248" y="781"/>
                    </a:lnTo>
                    <a:lnTo>
                      <a:pt x="237" y="822"/>
                    </a:lnTo>
                    <a:lnTo>
                      <a:pt x="202" y="848"/>
                    </a:lnTo>
                    <a:lnTo>
                      <a:pt x="156" y="866"/>
                    </a:lnTo>
                    <a:lnTo>
                      <a:pt x="111" y="905"/>
                    </a:lnTo>
                    <a:lnTo>
                      <a:pt x="91" y="945"/>
                    </a:lnTo>
                    <a:lnTo>
                      <a:pt x="80" y="994"/>
                    </a:lnTo>
                    <a:lnTo>
                      <a:pt x="45" y="994"/>
                    </a:lnTo>
                    <a:lnTo>
                      <a:pt x="34" y="958"/>
                    </a:lnTo>
                    <a:lnTo>
                      <a:pt x="57" y="901"/>
                    </a:lnTo>
                    <a:lnTo>
                      <a:pt x="122" y="861"/>
                    </a:lnTo>
                    <a:lnTo>
                      <a:pt x="161" y="822"/>
                    </a:lnTo>
                    <a:lnTo>
                      <a:pt x="195" y="800"/>
                    </a:lnTo>
                    <a:lnTo>
                      <a:pt x="207" y="759"/>
                    </a:lnTo>
                    <a:lnTo>
                      <a:pt x="191" y="654"/>
                    </a:lnTo>
                    <a:lnTo>
                      <a:pt x="138" y="574"/>
                    </a:lnTo>
                    <a:lnTo>
                      <a:pt x="91" y="503"/>
                    </a:lnTo>
                    <a:lnTo>
                      <a:pt x="34" y="424"/>
                    </a:lnTo>
                    <a:lnTo>
                      <a:pt x="0" y="348"/>
                    </a:lnTo>
                    <a:lnTo>
                      <a:pt x="0" y="305"/>
                    </a:lnTo>
                    <a:lnTo>
                      <a:pt x="30" y="283"/>
                    </a:lnTo>
                    <a:lnTo>
                      <a:pt x="148" y="204"/>
                    </a:lnTo>
                    <a:lnTo>
                      <a:pt x="264" y="132"/>
                    </a:lnTo>
                    <a:lnTo>
                      <a:pt x="379" y="66"/>
                    </a:lnTo>
                    <a:lnTo>
                      <a:pt x="401" y="4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30" name="Freeform 29"/>
              <p:cNvSpPr>
                <a:spLocks noChangeArrowheads="1"/>
              </p:cNvSpPr>
              <p:nvPr/>
            </p:nvSpPr>
            <p:spPr bwMode="auto">
              <a:xfrm>
                <a:off x="135" y="415"/>
                <a:ext cx="87" cy="270"/>
              </a:xfrm>
              <a:custGeom>
                <a:avLst/>
                <a:gdLst>
                  <a:gd name="T0" fmla="*/ 0 w 351"/>
                  <a:gd name="T1" fmla="*/ 0 h 1078"/>
                  <a:gd name="T2" fmla="*/ 0 w 351"/>
                  <a:gd name="T3" fmla="*/ 0 h 1078"/>
                  <a:gd name="T4" fmla="*/ 0 w 351"/>
                  <a:gd name="T5" fmla="*/ 0 h 1078"/>
                  <a:gd name="T6" fmla="*/ 0 w 351"/>
                  <a:gd name="T7" fmla="*/ 0 h 1078"/>
                  <a:gd name="T8" fmla="*/ 0 w 351"/>
                  <a:gd name="T9" fmla="*/ 0 h 1078"/>
                  <a:gd name="T10" fmla="*/ 0 w 351"/>
                  <a:gd name="T11" fmla="*/ 0 h 1078"/>
                  <a:gd name="T12" fmla="*/ 0 w 351"/>
                  <a:gd name="T13" fmla="*/ 0 h 1078"/>
                  <a:gd name="T14" fmla="*/ 0 w 351"/>
                  <a:gd name="T15" fmla="*/ 0 h 1078"/>
                  <a:gd name="T16" fmla="*/ 0 w 351"/>
                  <a:gd name="T17" fmla="*/ 0 h 1078"/>
                  <a:gd name="T18" fmla="*/ 0 w 351"/>
                  <a:gd name="T19" fmla="*/ 0 h 1078"/>
                  <a:gd name="T20" fmla="*/ 0 w 351"/>
                  <a:gd name="T21" fmla="*/ 0 h 1078"/>
                  <a:gd name="T22" fmla="*/ 0 w 351"/>
                  <a:gd name="T23" fmla="*/ 0 h 1078"/>
                  <a:gd name="T24" fmla="*/ 0 w 351"/>
                  <a:gd name="T25" fmla="*/ 0 h 1078"/>
                  <a:gd name="T26" fmla="*/ 0 w 351"/>
                  <a:gd name="T27" fmla="*/ 0 h 1078"/>
                  <a:gd name="T28" fmla="*/ 0 w 351"/>
                  <a:gd name="T29" fmla="*/ 0 h 1078"/>
                  <a:gd name="T30" fmla="*/ 0 w 351"/>
                  <a:gd name="T31" fmla="*/ 0 h 1078"/>
                  <a:gd name="T32" fmla="*/ 0 w 351"/>
                  <a:gd name="T33" fmla="*/ 0 h 1078"/>
                  <a:gd name="T34" fmla="*/ 0 w 351"/>
                  <a:gd name="T35" fmla="*/ 0 h 1078"/>
                  <a:gd name="T36" fmla="*/ 0 w 351"/>
                  <a:gd name="T37" fmla="*/ 0 h 1078"/>
                  <a:gd name="T38" fmla="*/ 0 w 351"/>
                  <a:gd name="T39" fmla="*/ 0 h 1078"/>
                  <a:gd name="T40" fmla="*/ 0 w 351"/>
                  <a:gd name="T41" fmla="*/ 0 h 1078"/>
                  <a:gd name="T42" fmla="*/ 0 w 351"/>
                  <a:gd name="T43" fmla="*/ 0 h 1078"/>
                  <a:gd name="T44" fmla="*/ 0 w 351"/>
                  <a:gd name="T45" fmla="*/ 0 h 1078"/>
                  <a:gd name="T46" fmla="*/ 0 w 351"/>
                  <a:gd name="T47" fmla="*/ 0 h 1078"/>
                  <a:gd name="T48" fmla="*/ 0 w 351"/>
                  <a:gd name="T49" fmla="*/ 0 h 1078"/>
                  <a:gd name="T50" fmla="*/ 0 w 351"/>
                  <a:gd name="T51" fmla="*/ 0 h 1078"/>
                  <a:gd name="T52" fmla="*/ 0 w 351"/>
                  <a:gd name="T53" fmla="*/ 0 h 1078"/>
                  <a:gd name="T54" fmla="*/ 0 w 351"/>
                  <a:gd name="T55" fmla="*/ 0 h 1078"/>
                  <a:gd name="T56" fmla="*/ 0 w 351"/>
                  <a:gd name="T57" fmla="*/ 0 h 1078"/>
                  <a:gd name="T58" fmla="*/ 0 w 351"/>
                  <a:gd name="T59" fmla="*/ 0 h 1078"/>
                  <a:gd name="T60" fmla="*/ 0 w 351"/>
                  <a:gd name="T61" fmla="*/ 0 h 1078"/>
                  <a:gd name="T62" fmla="*/ 0 w 351"/>
                  <a:gd name="T63" fmla="*/ 0 h 1078"/>
                  <a:gd name="T64" fmla="*/ 0 w 351"/>
                  <a:gd name="T65" fmla="*/ 0 h 1078"/>
                  <a:gd name="T66" fmla="*/ 0 w 351"/>
                  <a:gd name="T67" fmla="*/ 0 h 1078"/>
                  <a:gd name="T68" fmla="*/ 0 w 351"/>
                  <a:gd name="T69" fmla="*/ 0 h 1078"/>
                  <a:gd name="T70" fmla="*/ 0 w 351"/>
                  <a:gd name="T71" fmla="*/ 0 h 107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51"/>
                  <a:gd name="T109" fmla="*/ 0 h 1078"/>
                  <a:gd name="T110" fmla="*/ 351 w 351"/>
                  <a:gd name="T111" fmla="*/ 1078 h 107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51" h="1078">
                    <a:moveTo>
                      <a:pt x="65" y="124"/>
                    </a:moveTo>
                    <a:lnTo>
                      <a:pt x="19" y="52"/>
                    </a:lnTo>
                    <a:lnTo>
                      <a:pt x="34" y="0"/>
                    </a:lnTo>
                    <a:lnTo>
                      <a:pt x="80" y="0"/>
                    </a:lnTo>
                    <a:lnTo>
                      <a:pt x="134" y="57"/>
                    </a:lnTo>
                    <a:lnTo>
                      <a:pt x="202" y="176"/>
                    </a:lnTo>
                    <a:lnTo>
                      <a:pt x="241" y="292"/>
                    </a:lnTo>
                    <a:lnTo>
                      <a:pt x="275" y="401"/>
                    </a:lnTo>
                    <a:lnTo>
                      <a:pt x="287" y="504"/>
                    </a:lnTo>
                    <a:lnTo>
                      <a:pt x="282" y="556"/>
                    </a:lnTo>
                    <a:lnTo>
                      <a:pt x="248" y="622"/>
                    </a:lnTo>
                    <a:lnTo>
                      <a:pt x="191" y="799"/>
                    </a:lnTo>
                    <a:lnTo>
                      <a:pt x="126" y="901"/>
                    </a:lnTo>
                    <a:lnTo>
                      <a:pt x="111" y="945"/>
                    </a:lnTo>
                    <a:lnTo>
                      <a:pt x="172" y="954"/>
                    </a:lnTo>
                    <a:lnTo>
                      <a:pt x="253" y="954"/>
                    </a:lnTo>
                    <a:lnTo>
                      <a:pt x="351" y="994"/>
                    </a:lnTo>
                    <a:lnTo>
                      <a:pt x="344" y="1025"/>
                    </a:lnTo>
                    <a:lnTo>
                      <a:pt x="328" y="1060"/>
                    </a:lnTo>
                    <a:lnTo>
                      <a:pt x="298" y="1078"/>
                    </a:lnTo>
                    <a:lnTo>
                      <a:pt x="237" y="1051"/>
                    </a:lnTo>
                    <a:lnTo>
                      <a:pt x="172" y="1012"/>
                    </a:lnTo>
                    <a:lnTo>
                      <a:pt x="80" y="1007"/>
                    </a:lnTo>
                    <a:lnTo>
                      <a:pt x="23" y="1021"/>
                    </a:lnTo>
                    <a:lnTo>
                      <a:pt x="0" y="999"/>
                    </a:lnTo>
                    <a:lnTo>
                      <a:pt x="0" y="967"/>
                    </a:lnTo>
                    <a:lnTo>
                      <a:pt x="31" y="932"/>
                    </a:lnTo>
                    <a:lnTo>
                      <a:pt x="80" y="875"/>
                    </a:lnTo>
                    <a:lnTo>
                      <a:pt x="168" y="729"/>
                    </a:lnTo>
                    <a:lnTo>
                      <a:pt x="207" y="600"/>
                    </a:lnTo>
                    <a:lnTo>
                      <a:pt x="217" y="477"/>
                    </a:lnTo>
                    <a:lnTo>
                      <a:pt x="214" y="410"/>
                    </a:lnTo>
                    <a:lnTo>
                      <a:pt x="183" y="292"/>
                    </a:lnTo>
                    <a:lnTo>
                      <a:pt x="103" y="163"/>
                    </a:lnTo>
                    <a:lnTo>
                      <a:pt x="46" y="97"/>
                    </a:lnTo>
                    <a:lnTo>
                      <a:pt x="65" y="12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31" name="Freeform 30"/>
              <p:cNvSpPr>
                <a:spLocks noChangeArrowheads="1"/>
              </p:cNvSpPr>
              <p:nvPr/>
            </p:nvSpPr>
            <p:spPr bwMode="auto">
              <a:xfrm>
                <a:off x="0" y="397"/>
                <a:ext cx="129" cy="297"/>
              </a:xfrm>
              <a:custGeom>
                <a:avLst/>
                <a:gdLst>
                  <a:gd name="T0" fmla="*/ 0 w 516"/>
                  <a:gd name="T1" fmla="*/ 0 h 1188"/>
                  <a:gd name="T2" fmla="*/ 0 w 516"/>
                  <a:gd name="T3" fmla="*/ 0 h 1188"/>
                  <a:gd name="T4" fmla="*/ 0 w 516"/>
                  <a:gd name="T5" fmla="*/ 0 h 1188"/>
                  <a:gd name="T6" fmla="*/ 0 w 516"/>
                  <a:gd name="T7" fmla="*/ 0 h 1188"/>
                  <a:gd name="T8" fmla="*/ 0 w 516"/>
                  <a:gd name="T9" fmla="*/ 0 h 1188"/>
                  <a:gd name="T10" fmla="*/ 0 w 516"/>
                  <a:gd name="T11" fmla="*/ 0 h 1188"/>
                  <a:gd name="T12" fmla="*/ 0 w 516"/>
                  <a:gd name="T13" fmla="*/ 0 h 1188"/>
                  <a:gd name="T14" fmla="*/ 0 w 516"/>
                  <a:gd name="T15" fmla="*/ 0 h 1188"/>
                  <a:gd name="T16" fmla="*/ 0 w 516"/>
                  <a:gd name="T17" fmla="*/ 0 h 1188"/>
                  <a:gd name="T18" fmla="*/ 0 w 516"/>
                  <a:gd name="T19" fmla="*/ 0 h 1188"/>
                  <a:gd name="T20" fmla="*/ 0 w 516"/>
                  <a:gd name="T21" fmla="*/ 0 h 1188"/>
                  <a:gd name="T22" fmla="*/ 0 w 516"/>
                  <a:gd name="T23" fmla="*/ 0 h 1188"/>
                  <a:gd name="T24" fmla="*/ 0 w 516"/>
                  <a:gd name="T25" fmla="*/ 0 h 1188"/>
                  <a:gd name="T26" fmla="*/ 0 w 516"/>
                  <a:gd name="T27" fmla="*/ 0 h 1188"/>
                  <a:gd name="T28" fmla="*/ 0 w 516"/>
                  <a:gd name="T29" fmla="*/ 0 h 1188"/>
                  <a:gd name="T30" fmla="*/ 0 w 516"/>
                  <a:gd name="T31" fmla="*/ 0 h 1188"/>
                  <a:gd name="T32" fmla="*/ 0 w 516"/>
                  <a:gd name="T33" fmla="*/ 0 h 1188"/>
                  <a:gd name="T34" fmla="*/ 0 w 516"/>
                  <a:gd name="T35" fmla="*/ 0 h 1188"/>
                  <a:gd name="T36" fmla="*/ 0 w 516"/>
                  <a:gd name="T37" fmla="*/ 0 h 1188"/>
                  <a:gd name="T38" fmla="*/ 0 w 516"/>
                  <a:gd name="T39" fmla="*/ 0 h 1188"/>
                  <a:gd name="T40" fmla="*/ 0 w 516"/>
                  <a:gd name="T41" fmla="*/ 0 h 1188"/>
                  <a:gd name="T42" fmla="*/ 0 w 516"/>
                  <a:gd name="T43" fmla="*/ 0 h 1188"/>
                  <a:gd name="T44" fmla="*/ 0 w 516"/>
                  <a:gd name="T45" fmla="*/ 0 h 1188"/>
                  <a:gd name="T46" fmla="*/ 0 w 516"/>
                  <a:gd name="T47" fmla="*/ 0 h 1188"/>
                  <a:gd name="T48" fmla="*/ 0 w 516"/>
                  <a:gd name="T49" fmla="*/ 0 h 1188"/>
                  <a:gd name="T50" fmla="*/ 0 w 516"/>
                  <a:gd name="T51" fmla="*/ 0 h 1188"/>
                  <a:gd name="T52" fmla="*/ 0 w 516"/>
                  <a:gd name="T53" fmla="*/ 0 h 1188"/>
                  <a:gd name="T54" fmla="*/ 0 w 516"/>
                  <a:gd name="T55" fmla="*/ 0 h 1188"/>
                  <a:gd name="T56" fmla="*/ 0 w 516"/>
                  <a:gd name="T57" fmla="*/ 0 h 1188"/>
                  <a:gd name="T58" fmla="*/ 0 w 516"/>
                  <a:gd name="T59" fmla="*/ 0 h 1188"/>
                  <a:gd name="T60" fmla="*/ 0 w 516"/>
                  <a:gd name="T61" fmla="*/ 0 h 1188"/>
                  <a:gd name="T62" fmla="*/ 0 w 516"/>
                  <a:gd name="T63" fmla="*/ 0 h 1188"/>
                  <a:gd name="T64" fmla="*/ 0 w 516"/>
                  <a:gd name="T65" fmla="*/ 0 h 1188"/>
                  <a:gd name="T66" fmla="*/ 0 w 516"/>
                  <a:gd name="T67" fmla="*/ 0 h 1188"/>
                  <a:gd name="T68" fmla="*/ 0 w 516"/>
                  <a:gd name="T69" fmla="*/ 0 h 1188"/>
                  <a:gd name="T70" fmla="*/ 0 w 516"/>
                  <a:gd name="T71" fmla="*/ 0 h 1188"/>
                  <a:gd name="T72" fmla="*/ 0 w 516"/>
                  <a:gd name="T73" fmla="*/ 0 h 1188"/>
                  <a:gd name="T74" fmla="*/ 0 w 516"/>
                  <a:gd name="T75" fmla="*/ 0 h 1188"/>
                  <a:gd name="T76" fmla="*/ 0 w 516"/>
                  <a:gd name="T77" fmla="*/ 0 h 118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516"/>
                  <a:gd name="T118" fmla="*/ 0 h 1188"/>
                  <a:gd name="T119" fmla="*/ 516 w 516"/>
                  <a:gd name="T120" fmla="*/ 1188 h 118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516" h="1188">
                    <a:moveTo>
                      <a:pt x="302" y="208"/>
                    </a:moveTo>
                    <a:lnTo>
                      <a:pt x="378" y="92"/>
                    </a:lnTo>
                    <a:lnTo>
                      <a:pt x="447" y="0"/>
                    </a:lnTo>
                    <a:lnTo>
                      <a:pt x="493" y="9"/>
                    </a:lnTo>
                    <a:lnTo>
                      <a:pt x="516" y="48"/>
                    </a:lnTo>
                    <a:lnTo>
                      <a:pt x="516" y="120"/>
                    </a:lnTo>
                    <a:lnTo>
                      <a:pt x="473" y="159"/>
                    </a:lnTo>
                    <a:lnTo>
                      <a:pt x="401" y="212"/>
                    </a:lnTo>
                    <a:lnTo>
                      <a:pt x="344" y="278"/>
                    </a:lnTo>
                    <a:lnTo>
                      <a:pt x="279" y="367"/>
                    </a:lnTo>
                    <a:lnTo>
                      <a:pt x="253" y="433"/>
                    </a:lnTo>
                    <a:lnTo>
                      <a:pt x="222" y="513"/>
                    </a:lnTo>
                    <a:lnTo>
                      <a:pt x="207" y="618"/>
                    </a:lnTo>
                    <a:lnTo>
                      <a:pt x="207" y="716"/>
                    </a:lnTo>
                    <a:lnTo>
                      <a:pt x="222" y="835"/>
                    </a:lnTo>
                    <a:lnTo>
                      <a:pt x="264" y="950"/>
                    </a:lnTo>
                    <a:lnTo>
                      <a:pt x="298" y="1016"/>
                    </a:lnTo>
                    <a:lnTo>
                      <a:pt x="321" y="1060"/>
                    </a:lnTo>
                    <a:lnTo>
                      <a:pt x="321" y="1096"/>
                    </a:lnTo>
                    <a:lnTo>
                      <a:pt x="298" y="1109"/>
                    </a:lnTo>
                    <a:lnTo>
                      <a:pt x="245" y="1109"/>
                    </a:lnTo>
                    <a:lnTo>
                      <a:pt x="160" y="1127"/>
                    </a:lnTo>
                    <a:lnTo>
                      <a:pt x="96" y="1153"/>
                    </a:lnTo>
                    <a:lnTo>
                      <a:pt x="57" y="1188"/>
                    </a:lnTo>
                    <a:lnTo>
                      <a:pt x="23" y="1175"/>
                    </a:lnTo>
                    <a:lnTo>
                      <a:pt x="0" y="1127"/>
                    </a:lnTo>
                    <a:lnTo>
                      <a:pt x="3" y="1086"/>
                    </a:lnTo>
                    <a:lnTo>
                      <a:pt x="68" y="1055"/>
                    </a:lnTo>
                    <a:lnTo>
                      <a:pt x="171" y="1046"/>
                    </a:lnTo>
                    <a:lnTo>
                      <a:pt x="267" y="1046"/>
                    </a:lnTo>
                    <a:lnTo>
                      <a:pt x="230" y="994"/>
                    </a:lnTo>
                    <a:lnTo>
                      <a:pt x="210" y="928"/>
                    </a:lnTo>
                    <a:lnTo>
                      <a:pt x="183" y="835"/>
                    </a:lnTo>
                    <a:lnTo>
                      <a:pt x="153" y="738"/>
                    </a:lnTo>
                    <a:lnTo>
                      <a:pt x="153" y="623"/>
                    </a:lnTo>
                    <a:lnTo>
                      <a:pt x="160" y="513"/>
                    </a:lnTo>
                    <a:lnTo>
                      <a:pt x="194" y="411"/>
                    </a:lnTo>
                    <a:lnTo>
                      <a:pt x="256" y="278"/>
                    </a:lnTo>
                    <a:lnTo>
                      <a:pt x="302" y="2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1220" name="Group 32"/>
            <p:cNvGrpSpPr/>
            <p:nvPr/>
          </p:nvGrpSpPr>
          <p:grpSpPr>
            <a:xfrm>
              <a:off x="167" y="1746"/>
              <a:ext cx="176" cy="172"/>
              <a:chOff x="0" y="0"/>
              <a:chExt cx="176" cy="172"/>
            </a:xfrm>
          </p:grpSpPr>
          <p:sp>
            <p:nvSpPr>
              <p:cNvPr id="51233" name="Freeform 32"/>
              <p:cNvSpPr/>
              <p:nvPr/>
            </p:nvSpPr>
            <p:spPr bwMode="auto">
              <a:xfrm>
                <a:off x="63" y="67"/>
                <a:ext cx="59" cy="105"/>
              </a:xfrm>
              <a:custGeom>
                <a:avLst/>
                <a:gdLst>
                  <a:gd name="T0" fmla="*/ 0 w 178"/>
                  <a:gd name="T1" fmla="*/ 0 h 316"/>
                  <a:gd name="T2" fmla="*/ 0 w 178"/>
                  <a:gd name="T3" fmla="*/ 0 h 316"/>
                  <a:gd name="T4" fmla="*/ 0 w 178"/>
                  <a:gd name="T5" fmla="*/ 0 h 316"/>
                  <a:gd name="T6" fmla="*/ 0 w 178"/>
                  <a:gd name="T7" fmla="*/ 0 h 316"/>
                  <a:gd name="T8" fmla="*/ 0 w 178"/>
                  <a:gd name="T9" fmla="*/ 0 h 316"/>
                  <a:gd name="T10" fmla="*/ 0 w 178"/>
                  <a:gd name="T11" fmla="*/ 0 h 316"/>
                  <a:gd name="T12" fmla="*/ 0 w 178"/>
                  <a:gd name="T13" fmla="*/ 0 h 316"/>
                  <a:gd name="T14" fmla="*/ 0 w 178"/>
                  <a:gd name="T15" fmla="*/ 0 h 316"/>
                  <a:gd name="T16" fmla="*/ 0 w 178"/>
                  <a:gd name="T17" fmla="*/ 0 h 316"/>
                  <a:gd name="T18" fmla="*/ 0 w 178"/>
                  <a:gd name="T19" fmla="*/ 0 h 316"/>
                  <a:gd name="T20" fmla="*/ 0 w 178"/>
                  <a:gd name="T21" fmla="*/ 0 h 316"/>
                  <a:gd name="T22" fmla="*/ 0 w 178"/>
                  <a:gd name="T23" fmla="*/ 0 h 316"/>
                  <a:gd name="T24" fmla="*/ 0 w 178"/>
                  <a:gd name="T25" fmla="*/ 0 h 316"/>
                  <a:gd name="T26" fmla="*/ 0 w 178"/>
                  <a:gd name="T27" fmla="*/ 0 h 316"/>
                  <a:gd name="T28" fmla="*/ 0 w 178"/>
                  <a:gd name="T29" fmla="*/ 0 h 316"/>
                  <a:gd name="T30" fmla="*/ 0 w 178"/>
                  <a:gd name="T31" fmla="*/ 0 h 316"/>
                  <a:gd name="T32" fmla="*/ 0 w 178"/>
                  <a:gd name="T33" fmla="*/ 0 h 316"/>
                  <a:gd name="T34" fmla="*/ 0 w 178"/>
                  <a:gd name="T35" fmla="*/ 0 h 316"/>
                  <a:gd name="T36" fmla="*/ 0 w 178"/>
                  <a:gd name="T37" fmla="*/ 0 h 316"/>
                  <a:gd name="T38" fmla="*/ 0 w 178"/>
                  <a:gd name="T39" fmla="*/ 0 h 316"/>
                  <a:gd name="T40" fmla="*/ 0 w 178"/>
                  <a:gd name="T41" fmla="*/ 0 h 31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78"/>
                  <a:gd name="T64" fmla="*/ 0 h 316"/>
                  <a:gd name="T65" fmla="*/ 178 w 178"/>
                  <a:gd name="T66" fmla="*/ 316 h 31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78" h="316">
                    <a:moveTo>
                      <a:pt x="58" y="286"/>
                    </a:moveTo>
                    <a:lnTo>
                      <a:pt x="60" y="235"/>
                    </a:lnTo>
                    <a:lnTo>
                      <a:pt x="48" y="196"/>
                    </a:lnTo>
                    <a:lnTo>
                      <a:pt x="27" y="162"/>
                    </a:lnTo>
                    <a:lnTo>
                      <a:pt x="0" y="111"/>
                    </a:lnTo>
                    <a:lnTo>
                      <a:pt x="3" y="78"/>
                    </a:lnTo>
                    <a:lnTo>
                      <a:pt x="21" y="36"/>
                    </a:lnTo>
                    <a:lnTo>
                      <a:pt x="54" y="9"/>
                    </a:lnTo>
                    <a:lnTo>
                      <a:pt x="84" y="0"/>
                    </a:lnTo>
                    <a:lnTo>
                      <a:pt x="115" y="6"/>
                    </a:lnTo>
                    <a:lnTo>
                      <a:pt x="135" y="18"/>
                    </a:lnTo>
                    <a:lnTo>
                      <a:pt x="163" y="42"/>
                    </a:lnTo>
                    <a:lnTo>
                      <a:pt x="178" y="78"/>
                    </a:lnTo>
                    <a:lnTo>
                      <a:pt x="172" y="115"/>
                    </a:lnTo>
                    <a:lnTo>
                      <a:pt x="151" y="147"/>
                    </a:lnTo>
                    <a:lnTo>
                      <a:pt x="121" y="198"/>
                    </a:lnTo>
                    <a:lnTo>
                      <a:pt x="115" y="235"/>
                    </a:lnTo>
                    <a:lnTo>
                      <a:pt x="117" y="265"/>
                    </a:lnTo>
                    <a:lnTo>
                      <a:pt x="103" y="295"/>
                    </a:lnTo>
                    <a:lnTo>
                      <a:pt x="87" y="316"/>
                    </a:lnTo>
                    <a:lnTo>
                      <a:pt x="58" y="286"/>
                    </a:lnTo>
                    <a:close/>
                  </a:path>
                </a:pathLst>
              </a:custGeom>
              <a:solidFill>
                <a:schemeClr val="accent1"/>
              </a:solidFill>
              <a:ln w="4763" cmpd="sng">
                <a:solidFill>
                  <a:schemeClr val="accent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34" name="Freeform 33"/>
              <p:cNvSpPr/>
              <p:nvPr/>
            </p:nvSpPr>
            <p:spPr bwMode="auto">
              <a:xfrm>
                <a:off x="0" y="61"/>
                <a:ext cx="43" cy="20"/>
              </a:xfrm>
              <a:custGeom>
                <a:avLst/>
                <a:gdLst>
                  <a:gd name="T0" fmla="*/ 0 w 130"/>
                  <a:gd name="T1" fmla="*/ 0 h 60"/>
                  <a:gd name="T2" fmla="*/ 0 w 130"/>
                  <a:gd name="T3" fmla="*/ 0 h 60"/>
                  <a:gd name="T4" fmla="*/ 0 w 130"/>
                  <a:gd name="T5" fmla="*/ 0 h 60"/>
                  <a:gd name="T6" fmla="*/ 0 w 130"/>
                  <a:gd name="T7" fmla="*/ 0 h 60"/>
                  <a:gd name="T8" fmla="*/ 0 w 130"/>
                  <a:gd name="T9" fmla="*/ 0 h 60"/>
                  <a:gd name="T10" fmla="*/ 0 w 130"/>
                  <a:gd name="T11" fmla="*/ 0 h 6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30"/>
                  <a:gd name="T19" fmla="*/ 0 h 60"/>
                  <a:gd name="T20" fmla="*/ 130 w 130"/>
                  <a:gd name="T21" fmla="*/ 60 h 6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30" h="60">
                    <a:moveTo>
                      <a:pt x="130" y="60"/>
                    </a:moveTo>
                    <a:lnTo>
                      <a:pt x="21" y="41"/>
                    </a:lnTo>
                    <a:lnTo>
                      <a:pt x="0" y="20"/>
                    </a:lnTo>
                    <a:lnTo>
                      <a:pt x="8" y="2"/>
                    </a:lnTo>
                    <a:lnTo>
                      <a:pt x="33" y="0"/>
                    </a:lnTo>
                    <a:lnTo>
                      <a:pt x="130" y="6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mpd="sng">
                <a:solidFill>
                  <a:schemeClr val="accent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35" name="Freeform 34"/>
              <p:cNvSpPr/>
              <p:nvPr/>
            </p:nvSpPr>
            <p:spPr bwMode="auto">
              <a:xfrm>
                <a:off x="43" y="8"/>
                <a:ext cx="19" cy="34"/>
              </a:xfrm>
              <a:custGeom>
                <a:avLst/>
                <a:gdLst>
                  <a:gd name="T0" fmla="*/ 0 w 57"/>
                  <a:gd name="T1" fmla="*/ 0 h 100"/>
                  <a:gd name="T2" fmla="*/ 0 w 57"/>
                  <a:gd name="T3" fmla="*/ 0 h 100"/>
                  <a:gd name="T4" fmla="*/ 0 w 57"/>
                  <a:gd name="T5" fmla="*/ 0 h 100"/>
                  <a:gd name="T6" fmla="*/ 0 w 57"/>
                  <a:gd name="T7" fmla="*/ 0 h 100"/>
                  <a:gd name="T8" fmla="*/ 0 w 57"/>
                  <a:gd name="T9" fmla="*/ 0 h 100"/>
                  <a:gd name="T10" fmla="*/ 0 w 57"/>
                  <a:gd name="T11" fmla="*/ 0 h 1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7"/>
                  <a:gd name="T19" fmla="*/ 0 h 100"/>
                  <a:gd name="T20" fmla="*/ 57 w 57"/>
                  <a:gd name="T21" fmla="*/ 100 h 10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7" h="100">
                    <a:moveTo>
                      <a:pt x="57" y="100"/>
                    </a:moveTo>
                    <a:lnTo>
                      <a:pt x="0" y="37"/>
                    </a:lnTo>
                    <a:lnTo>
                      <a:pt x="5" y="10"/>
                    </a:lnTo>
                    <a:lnTo>
                      <a:pt x="33" y="0"/>
                    </a:lnTo>
                    <a:lnTo>
                      <a:pt x="48" y="19"/>
                    </a:lnTo>
                    <a:lnTo>
                      <a:pt x="57" y="10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mpd="sng">
                <a:solidFill>
                  <a:schemeClr val="accent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36" name="Freeform 35"/>
              <p:cNvSpPr/>
              <p:nvPr/>
            </p:nvSpPr>
            <p:spPr bwMode="auto">
              <a:xfrm>
                <a:off x="104" y="0"/>
                <a:ext cx="16" cy="40"/>
              </a:xfrm>
              <a:custGeom>
                <a:avLst/>
                <a:gdLst>
                  <a:gd name="T0" fmla="*/ 0 w 49"/>
                  <a:gd name="T1" fmla="*/ 0 h 120"/>
                  <a:gd name="T2" fmla="*/ 0 w 49"/>
                  <a:gd name="T3" fmla="*/ 0 h 120"/>
                  <a:gd name="T4" fmla="*/ 0 w 49"/>
                  <a:gd name="T5" fmla="*/ 0 h 120"/>
                  <a:gd name="T6" fmla="*/ 0 w 49"/>
                  <a:gd name="T7" fmla="*/ 0 h 120"/>
                  <a:gd name="T8" fmla="*/ 0 w 49"/>
                  <a:gd name="T9" fmla="*/ 0 h 120"/>
                  <a:gd name="T10" fmla="*/ 0 w 49"/>
                  <a:gd name="T11" fmla="*/ 0 h 1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9"/>
                  <a:gd name="T19" fmla="*/ 0 h 120"/>
                  <a:gd name="T20" fmla="*/ 49 w 49"/>
                  <a:gd name="T21" fmla="*/ 120 h 12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9" h="120">
                    <a:moveTo>
                      <a:pt x="7" y="120"/>
                    </a:moveTo>
                    <a:lnTo>
                      <a:pt x="0" y="31"/>
                    </a:lnTo>
                    <a:lnTo>
                      <a:pt x="26" y="0"/>
                    </a:lnTo>
                    <a:lnTo>
                      <a:pt x="49" y="13"/>
                    </a:lnTo>
                    <a:lnTo>
                      <a:pt x="46" y="37"/>
                    </a:lnTo>
                    <a:lnTo>
                      <a:pt x="7" y="12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mpd="sng">
                <a:solidFill>
                  <a:schemeClr val="accent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37" name="Freeform 36"/>
              <p:cNvSpPr/>
              <p:nvPr/>
            </p:nvSpPr>
            <p:spPr bwMode="auto">
              <a:xfrm>
                <a:off x="137" y="31"/>
                <a:ext cx="39" cy="25"/>
              </a:xfrm>
              <a:custGeom>
                <a:avLst/>
                <a:gdLst>
                  <a:gd name="T0" fmla="*/ 0 w 117"/>
                  <a:gd name="T1" fmla="*/ 0 h 75"/>
                  <a:gd name="T2" fmla="*/ 0 w 117"/>
                  <a:gd name="T3" fmla="*/ 0 h 75"/>
                  <a:gd name="T4" fmla="*/ 0 w 117"/>
                  <a:gd name="T5" fmla="*/ 0 h 75"/>
                  <a:gd name="T6" fmla="*/ 0 w 117"/>
                  <a:gd name="T7" fmla="*/ 0 h 75"/>
                  <a:gd name="T8" fmla="*/ 0 w 117"/>
                  <a:gd name="T9" fmla="*/ 0 h 75"/>
                  <a:gd name="T10" fmla="*/ 0 w 117"/>
                  <a:gd name="T11" fmla="*/ 0 h 7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7"/>
                  <a:gd name="T19" fmla="*/ 0 h 75"/>
                  <a:gd name="T20" fmla="*/ 117 w 117"/>
                  <a:gd name="T21" fmla="*/ 75 h 7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7" h="75">
                    <a:moveTo>
                      <a:pt x="0" y="75"/>
                    </a:moveTo>
                    <a:lnTo>
                      <a:pt x="87" y="0"/>
                    </a:lnTo>
                    <a:lnTo>
                      <a:pt x="117" y="14"/>
                    </a:lnTo>
                    <a:lnTo>
                      <a:pt x="115" y="39"/>
                    </a:lnTo>
                    <a:lnTo>
                      <a:pt x="99" y="51"/>
                    </a:lnTo>
                    <a:lnTo>
                      <a:pt x="0" y="75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mpd="sng">
                <a:solidFill>
                  <a:schemeClr val="accent1"/>
                </a:solidFill>
                <a:miter lim="800000"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1221" name="Group 38"/>
            <p:cNvGrpSpPr/>
            <p:nvPr/>
          </p:nvGrpSpPr>
          <p:grpSpPr>
            <a:xfrm>
              <a:off x="120" y="1804"/>
              <a:ext cx="324" cy="925"/>
              <a:chOff x="0" y="0"/>
              <a:chExt cx="324" cy="925"/>
            </a:xfrm>
          </p:grpSpPr>
          <p:sp>
            <p:nvSpPr>
              <p:cNvPr id="51239" name="Freeform 38"/>
              <p:cNvSpPr>
                <a:spLocks noChangeArrowheads="1"/>
              </p:cNvSpPr>
              <p:nvPr/>
            </p:nvSpPr>
            <p:spPr bwMode="auto">
              <a:xfrm>
                <a:off x="58" y="153"/>
                <a:ext cx="163" cy="161"/>
              </a:xfrm>
              <a:custGeom>
                <a:avLst/>
                <a:gdLst>
                  <a:gd name="T0" fmla="*/ 0 w 488"/>
                  <a:gd name="T1" fmla="*/ 0 h 483"/>
                  <a:gd name="T2" fmla="*/ 0 w 488"/>
                  <a:gd name="T3" fmla="*/ 0 h 483"/>
                  <a:gd name="T4" fmla="*/ 0 w 488"/>
                  <a:gd name="T5" fmla="*/ 0 h 483"/>
                  <a:gd name="T6" fmla="*/ 0 w 488"/>
                  <a:gd name="T7" fmla="*/ 0 h 483"/>
                  <a:gd name="T8" fmla="*/ 0 w 488"/>
                  <a:gd name="T9" fmla="*/ 0 h 483"/>
                  <a:gd name="T10" fmla="*/ 0 w 488"/>
                  <a:gd name="T11" fmla="*/ 0 h 483"/>
                  <a:gd name="T12" fmla="*/ 0 w 488"/>
                  <a:gd name="T13" fmla="*/ 0 h 483"/>
                  <a:gd name="T14" fmla="*/ 0 w 488"/>
                  <a:gd name="T15" fmla="*/ 0 h 483"/>
                  <a:gd name="T16" fmla="*/ 0 w 488"/>
                  <a:gd name="T17" fmla="*/ 0 h 483"/>
                  <a:gd name="T18" fmla="*/ 0 w 488"/>
                  <a:gd name="T19" fmla="*/ 0 h 483"/>
                  <a:gd name="T20" fmla="*/ 0 w 488"/>
                  <a:gd name="T21" fmla="*/ 0 h 483"/>
                  <a:gd name="T22" fmla="*/ 0 w 488"/>
                  <a:gd name="T23" fmla="*/ 0 h 483"/>
                  <a:gd name="T24" fmla="*/ 0 w 488"/>
                  <a:gd name="T25" fmla="*/ 0 h 483"/>
                  <a:gd name="T26" fmla="*/ 0 w 488"/>
                  <a:gd name="T27" fmla="*/ 0 h 483"/>
                  <a:gd name="T28" fmla="*/ 0 w 488"/>
                  <a:gd name="T29" fmla="*/ 0 h 483"/>
                  <a:gd name="T30" fmla="*/ 0 w 488"/>
                  <a:gd name="T31" fmla="*/ 0 h 483"/>
                  <a:gd name="T32" fmla="*/ 0 w 488"/>
                  <a:gd name="T33" fmla="*/ 0 h 483"/>
                  <a:gd name="T34" fmla="*/ 0 w 488"/>
                  <a:gd name="T35" fmla="*/ 0 h 483"/>
                  <a:gd name="T36" fmla="*/ 0 w 488"/>
                  <a:gd name="T37" fmla="*/ 0 h 483"/>
                  <a:gd name="T38" fmla="*/ 0 w 488"/>
                  <a:gd name="T39" fmla="*/ 0 h 483"/>
                  <a:gd name="T40" fmla="*/ 0 w 488"/>
                  <a:gd name="T41" fmla="*/ 0 h 483"/>
                  <a:gd name="T42" fmla="*/ 0 w 488"/>
                  <a:gd name="T43" fmla="*/ 0 h 483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88"/>
                  <a:gd name="T67" fmla="*/ 0 h 483"/>
                  <a:gd name="T68" fmla="*/ 488 w 488"/>
                  <a:gd name="T69" fmla="*/ 483 h 483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88" h="483">
                    <a:moveTo>
                      <a:pt x="319" y="139"/>
                    </a:moveTo>
                    <a:lnTo>
                      <a:pt x="259" y="49"/>
                    </a:lnTo>
                    <a:lnTo>
                      <a:pt x="198" y="0"/>
                    </a:lnTo>
                    <a:lnTo>
                      <a:pt x="127" y="0"/>
                    </a:lnTo>
                    <a:lnTo>
                      <a:pt x="48" y="31"/>
                    </a:lnTo>
                    <a:lnTo>
                      <a:pt x="12" y="84"/>
                    </a:lnTo>
                    <a:lnTo>
                      <a:pt x="0" y="157"/>
                    </a:lnTo>
                    <a:lnTo>
                      <a:pt x="12" y="254"/>
                    </a:lnTo>
                    <a:lnTo>
                      <a:pt x="60" y="362"/>
                    </a:lnTo>
                    <a:lnTo>
                      <a:pt x="145" y="435"/>
                    </a:lnTo>
                    <a:lnTo>
                      <a:pt x="210" y="471"/>
                    </a:lnTo>
                    <a:lnTo>
                      <a:pt x="277" y="483"/>
                    </a:lnTo>
                    <a:lnTo>
                      <a:pt x="331" y="465"/>
                    </a:lnTo>
                    <a:lnTo>
                      <a:pt x="360" y="435"/>
                    </a:lnTo>
                    <a:lnTo>
                      <a:pt x="380" y="362"/>
                    </a:lnTo>
                    <a:lnTo>
                      <a:pt x="374" y="277"/>
                    </a:lnTo>
                    <a:lnTo>
                      <a:pt x="355" y="206"/>
                    </a:lnTo>
                    <a:lnTo>
                      <a:pt x="475" y="139"/>
                    </a:lnTo>
                    <a:lnTo>
                      <a:pt x="488" y="109"/>
                    </a:lnTo>
                    <a:lnTo>
                      <a:pt x="475" y="96"/>
                    </a:lnTo>
                    <a:lnTo>
                      <a:pt x="343" y="175"/>
                    </a:lnTo>
                    <a:lnTo>
                      <a:pt x="319" y="13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40" name="Freeform 39"/>
              <p:cNvSpPr>
                <a:spLocks noChangeArrowheads="1"/>
              </p:cNvSpPr>
              <p:nvPr/>
            </p:nvSpPr>
            <p:spPr bwMode="auto">
              <a:xfrm>
                <a:off x="175" y="0"/>
                <a:ext cx="145" cy="360"/>
              </a:xfrm>
              <a:custGeom>
                <a:avLst/>
                <a:gdLst>
                  <a:gd name="T0" fmla="*/ 0 w 434"/>
                  <a:gd name="T1" fmla="*/ 0 h 1079"/>
                  <a:gd name="T2" fmla="*/ 0 w 434"/>
                  <a:gd name="T3" fmla="*/ 0 h 1079"/>
                  <a:gd name="T4" fmla="*/ 0 w 434"/>
                  <a:gd name="T5" fmla="*/ 0 h 1079"/>
                  <a:gd name="T6" fmla="*/ 0 w 434"/>
                  <a:gd name="T7" fmla="*/ 0 h 1079"/>
                  <a:gd name="T8" fmla="*/ 0 w 434"/>
                  <a:gd name="T9" fmla="*/ 0 h 1079"/>
                  <a:gd name="T10" fmla="*/ 0 w 434"/>
                  <a:gd name="T11" fmla="*/ 0 h 1079"/>
                  <a:gd name="T12" fmla="*/ 0 w 434"/>
                  <a:gd name="T13" fmla="*/ 0 h 1079"/>
                  <a:gd name="T14" fmla="*/ 0 w 434"/>
                  <a:gd name="T15" fmla="*/ 0 h 1079"/>
                  <a:gd name="T16" fmla="*/ 0 w 434"/>
                  <a:gd name="T17" fmla="*/ 0 h 1079"/>
                  <a:gd name="T18" fmla="*/ 0 w 434"/>
                  <a:gd name="T19" fmla="*/ 0 h 1079"/>
                  <a:gd name="T20" fmla="*/ 0 w 434"/>
                  <a:gd name="T21" fmla="*/ 0 h 1079"/>
                  <a:gd name="T22" fmla="*/ 0 w 434"/>
                  <a:gd name="T23" fmla="*/ 0 h 1079"/>
                  <a:gd name="T24" fmla="*/ 0 w 434"/>
                  <a:gd name="T25" fmla="*/ 0 h 1079"/>
                  <a:gd name="T26" fmla="*/ 0 w 434"/>
                  <a:gd name="T27" fmla="*/ 0 h 1079"/>
                  <a:gd name="T28" fmla="*/ 0 w 434"/>
                  <a:gd name="T29" fmla="*/ 0 h 1079"/>
                  <a:gd name="T30" fmla="*/ 0 w 434"/>
                  <a:gd name="T31" fmla="*/ 0 h 1079"/>
                  <a:gd name="T32" fmla="*/ 0 w 434"/>
                  <a:gd name="T33" fmla="*/ 0 h 1079"/>
                  <a:gd name="T34" fmla="*/ 0 w 434"/>
                  <a:gd name="T35" fmla="*/ 0 h 1079"/>
                  <a:gd name="T36" fmla="*/ 0 w 434"/>
                  <a:gd name="T37" fmla="*/ 0 h 1079"/>
                  <a:gd name="T38" fmla="*/ 0 w 434"/>
                  <a:gd name="T39" fmla="*/ 0 h 1079"/>
                  <a:gd name="T40" fmla="*/ 0 w 434"/>
                  <a:gd name="T41" fmla="*/ 0 h 1079"/>
                  <a:gd name="T42" fmla="*/ 0 w 434"/>
                  <a:gd name="T43" fmla="*/ 0 h 1079"/>
                  <a:gd name="T44" fmla="*/ 0 w 434"/>
                  <a:gd name="T45" fmla="*/ 0 h 1079"/>
                  <a:gd name="T46" fmla="*/ 0 w 434"/>
                  <a:gd name="T47" fmla="*/ 0 h 1079"/>
                  <a:gd name="T48" fmla="*/ 0 w 434"/>
                  <a:gd name="T49" fmla="*/ 0 h 1079"/>
                  <a:gd name="T50" fmla="*/ 0 w 434"/>
                  <a:gd name="T51" fmla="*/ 0 h 1079"/>
                  <a:gd name="T52" fmla="*/ 0 w 434"/>
                  <a:gd name="T53" fmla="*/ 0 h 1079"/>
                  <a:gd name="T54" fmla="*/ 0 w 434"/>
                  <a:gd name="T55" fmla="*/ 0 h 1079"/>
                  <a:gd name="T56" fmla="*/ 0 w 434"/>
                  <a:gd name="T57" fmla="*/ 0 h 1079"/>
                  <a:gd name="T58" fmla="*/ 0 w 434"/>
                  <a:gd name="T59" fmla="*/ 0 h 1079"/>
                  <a:gd name="T60" fmla="*/ 0 w 434"/>
                  <a:gd name="T61" fmla="*/ 0 h 1079"/>
                  <a:gd name="T62" fmla="*/ 0 w 434"/>
                  <a:gd name="T63" fmla="*/ 0 h 1079"/>
                  <a:gd name="T64" fmla="*/ 0 w 434"/>
                  <a:gd name="T65" fmla="*/ 0 h 1079"/>
                  <a:gd name="T66" fmla="*/ 0 w 434"/>
                  <a:gd name="T67" fmla="*/ 0 h 1079"/>
                  <a:gd name="T68" fmla="*/ 0 w 434"/>
                  <a:gd name="T69" fmla="*/ 0 h 1079"/>
                  <a:gd name="T70" fmla="*/ 0 w 434"/>
                  <a:gd name="T71" fmla="*/ 0 h 1079"/>
                  <a:gd name="T72" fmla="*/ 0 w 434"/>
                  <a:gd name="T73" fmla="*/ 0 h 1079"/>
                  <a:gd name="T74" fmla="*/ 0 w 434"/>
                  <a:gd name="T75" fmla="*/ 0 h 1079"/>
                  <a:gd name="T76" fmla="*/ 0 w 434"/>
                  <a:gd name="T77" fmla="*/ 0 h 1079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434"/>
                  <a:gd name="T118" fmla="*/ 0 h 1079"/>
                  <a:gd name="T119" fmla="*/ 434 w 434"/>
                  <a:gd name="T120" fmla="*/ 1079 h 1079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434" h="1079">
                    <a:moveTo>
                      <a:pt x="120" y="911"/>
                    </a:moveTo>
                    <a:lnTo>
                      <a:pt x="42" y="970"/>
                    </a:lnTo>
                    <a:lnTo>
                      <a:pt x="18" y="989"/>
                    </a:lnTo>
                    <a:lnTo>
                      <a:pt x="0" y="1031"/>
                    </a:lnTo>
                    <a:lnTo>
                      <a:pt x="24" y="1073"/>
                    </a:lnTo>
                    <a:lnTo>
                      <a:pt x="47" y="1079"/>
                    </a:lnTo>
                    <a:lnTo>
                      <a:pt x="120" y="1055"/>
                    </a:lnTo>
                    <a:lnTo>
                      <a:pt x="229" y="970"/>
                    </a:lnTo>
                    <a:lnTo>
                      <a:pt x="325" y="869"/>
                    </a:lnTo>
                    <a:lnTo>
                      <a:pt x="428" y="753"/>
                    </a:lnTo>
                    <a:lnTo>
                      <a:pt x="434" y="706"/>
                    </a:lnTo>
                    <a:lnTo>
                      <a:pt x="434" y="573"/>
                    </a:lnTo>
                    <a:lnTo>
                      <a:pt x="404" y="368"/>
                    </a:lnTo>
                    <a:lnTo>
                      <a:pt x="422" y="248"/>
                    </a:lnTo>
                    <a:lnTo>
                      <a:pt x="434" y="199"/>
                    </a:lnTo>
                    <a:lnTo>
                      <a:pt x="416" y="175"/>
                    </a:lnTo>
                    <a:lnTo>
                      <a:pt x="373" y="151"/>
                    </a:lnTo>
                    <a:lnTo>
                      <a:pt x="343" y="134"/>
                    </a:lnTo>
                    <a:lnTo>
                      <a:pt x="361" y="25"/>
                    </a:lnTo>
                    <a:lnTo>
                      <a:pt x="349" y="0"/>
                    </a:lnTo>
                    <a:lnTo>
                      <a:pt x="325" y="7"/>
                    </a:lnTo>
                    <a:lnTo>
                      <a:pt x="313" y="145"/>
                    </a:lnTo>
                    <a:lnTo>
                      <a:pt x="301" y="181"/>
                    </a:lnTo>
                    <a:lnTo>
                      <a:pt x="296" y="205"/>
                    </a:lnTo>
                    <a:lnTo>
                      <a:pt x="247" y="187"/>
                    </a:lnTo>
                    <a:lnTo>
                      <a:pt x="211" y="187"/>
                    </a:lnTo>
                    <a:lnTo>
                      <a:pt x="211" y="211"/>
                    </a:lnTo>
                    <a:lnTo>
                      <a:pt x="235" y="230"/>
                    </a:lnTo>
                    <a:lnTo>
                      <a:pt x="278" y="230"/>
                    </a:lnTo>
                    <a:lnTo>
                      <a:pt x="307" y="254"/>
                    </a:lnTo>
                    <a:lnTo>
                      <a:pt x="331" y="296"/>
                    </a:lnTo>
                    <a:lnTo>
                      <a:pt x="355" y="362"/>
                    </a:lnTo>
                    <a:lnTo>
                      <a:pt x="373" y="495"/>
                    </a:lnTo>
                    <a:lnTo>
                      <a:pt x="373" y="615"/>
                    </a:lnTo>
                    <a:lnTo>
                      <a:pt x="361" y="712"/>
                    </a:lnTo>
                    <a:lnTo>
                      <a:pt x="337" y="753"/>
                    </a:lnTo>
                    <a:lnTo>
                      <a:pt x="253" y="814"/>
                    </a:lnTo>
                    <a:lnTo>
                      <a:pt x="162" y="869"/>
                    </a:lnTo>
                    <a:lnTo>
                      <a:pt x="120" y="9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41" name="Freeform 40"/>
              <p:cNvSpPr>
                <a:spLocks noChangeArrowheads="1"/>
              </p:cNvSpPr>
              <p:nvPr/>
            </p:nvSpPr>
            <p:spPr bwMode="auto">
              <a:xfrm>
                <a:off x="0" y="332"/>
                <a:ext cx="131" cy="217"/>
              </a:xfrm>
              <a:custGeom>
                <a:avLst/>
                <a:gdLst>
                  <a:gd name="T0" fmla="*/ 0 w 392"/>
                  <a:gd name="T1" fmla="*/ 0 h 651"/>
                  <a:gd name="T2" fmla="*/ 0 w 392"/>
                  <a:gd name="T3" fmla="*/ 0 h 651"/>
                  <a:gd name="T4" fmla="*/ 0 w 392"/>
                  <a:gd name="T5" fmla="*/ 0 h 651"/>
                  <a:gd name="T6" fmla="*/ 0 w 392"/>
                  <a:gd name="T7" fmla="*/ 0 h 651"/>
                  <a:gd name="T8" fmla="*/ 0 w 392"/>
                  <a:gd name="T9" fmla="*/ 0 h 651"/>
                  <a:gd name="T10" fmla="*/ 0 w 392"/>
                  <a:gd name="T11" fmla="*/ 0 h 651"/>
                  <a:gd name="T12" fmla="*/ 0 w 392"/>
                  <a:gd name="T13" fmla="*/ 0 h 651"/>
                  <a:gd name="T14" fmla="*/ 0 w 392"/>
                  <a:gd name="T15" fmla="*/ 0 h 651"/>
                  <a:gd name="T16" fmla="*/ 0 w 392"/>
                  <a:gd name="T17" fmla="*/ 0 h 651"/>
                  <a:gd name="T18" fmla="*/ 0 w 392"/>
                  <a:gd name="T19" fmla="*/ 0 h 651"/>
                  <a:gd name="T20" fmla="*/ 0 w 392"/>
                  <a:gd name="T21" fmla="*/ 0 h 651"/>
                  <a:gd name="T22" fmla="*/ 0 w 392"/>
                  <a:gd name="T23" fmla="*/ 0 h 651"/>
                  <a:gd name="T24" fmla="*/ 0 w 392"/>
                  <a:gd name="T25" fmla="*/ 0 h 651"/>
                  <a:gd name="T26" fmla="*/ 0 w 392"/>
                  <a:gd name="T27" fmla="*/ 0 h 651"/>
                  <a:gd name="T28" fmla="*/ 0 w 392"/>
                  <a:gd name="T29" fmla="*/ 0 h 651"/>
                  <a:gd name="T30" fmla="*/ 0 w 392"/>
                  <a:gd name="T31" fmla="*/ 0 h 651"/>
                  <a:gd name="T32" fmla="*/ 0 w 392"/>
                  <a:gd name="T33" fmla="*/ 0 h 651"/>
                  <a:gd name="T34" fmla="*/ 0 w 392"/>
                  <a:gd name="T35" fmla="*/ 0 h 651"/>
                  <a:gd name="T36" fmla="*/ 0 w 392"/>
                  <a:gd name="T37" fmla="*/ 0 h 651"/>
                  <a:gd name="T38" fmla="*/ 0 w 392"/>
                  <a:gd name="T39" fmla="*/ 0 h 651"/>
                  <a:gd name="T40" fmla="*/ 0 w 392"/>
                  <a:gd name="T41" fmla="*/ 0 h 651"/>
                  <a:gd name="T42" fmla="*/ 0 w 392"/>
                  <a:gd name="T43" fmla="*/ 0 h 651"/>
                  <a:gd name="T44" fmla="*/ 0 w 392"/>
                  <a:gd name="T45" fmla="*/ 0 h 651"/>
                  <a:gd name="T46" fmla="*/ 0 w 392"/>
                  <a:gd name="T47" fmla="*/ 0 h 651"/>
                  <a:gd name="T48" fmla="*/ 0 w 392"/>
                  <a:gd name="T49" fmla="*/ 0 h 651"/>
                  <a:gd name="T50" fmla="*/ 0 w 392"/>
                  <a:gd name="T51" fmla="*/ 0 h 651"/>
                  <a:gd name="T52" fmla="*/ 0 w 392"/>
                  <a:gd name="T53" fmla="*/ 0 h 651"/>
                  <a:gd name="T54" fmla="*/ 0 w 392"/>
                  <a:gd name="T55" fmla="*/ 0 h 651"/>
                  <a:gd name="T56" fmla="*/ 0 w 392"/>
                  <a:gd name="T57" fmla="*/ 0 h 651"/>
                  <a:gd name="T58" fmla="*/ 0 w 392"/>
                  <a:gd name="T59" fmla="*/ 0 h 651"/>
                  <a:gd name="T60" fmla="*/ 0 w 392"/>
                  <a:gd name="T61" fmla="*/ 0 h 651"/>
                  <a:gd name="T62" fmla="*/ 0 w 392"/>
                  <a:gd name="T63" fmla="*/ 0 h 651"/>
                  <a:gd name="T64" fmla="*/ 0 w 392"/>
                  <a:gd name="T65" fmla="*/ 0 h 651"/>
                  <a:gd name="T66" fmla="*/ 0 w 392"/>
                  <a:gd name="T67" fmla="*/ 0 h 651"/>
                  <a:gd name="T68" fmla="*/ 0 w 392"/>
                  <a:gd name="T69" fmla="*/ 0 h 651"/>
                  <a:gd name="T70" fmla="*/ 0 w 392"/>
                  <a:gd name="T71" fmla="*/ 0 h 651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92"/>
                  <a:gd name="T109" fmla="*/ 0 h 651"/>
                  <a:gd name="T110" fmla="*/ 392 w 392"/>
                  <a:gd name="T111" fmla="*/ 651 h 651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92" h="651">
                    <a:moveTo>
                      <a:pt x="392" y="18"/>
                    </a:moveTo>
                    <a:lnTo>
                      <a:pt x="349" y="0"/>
                    </a:lnTo>
                    <a:lnTo>
                      <a:pt x="259" y="6"/>
                    </a:lnTo>
                    <a:lnTo>
                      <a:pt x="180" y="67"/>
                    </a:lnTo>
                    <a:lnTo>
                      <a:pt x="66" y="193"/>
                    </a:lnTo>
                    <a:lnTo>
                      <a:pt x="6" y="296"/>
                    </a:lnTo>
                    <a:lnTo>
                      <a:pt x="0" y="332"/>
                    </a:lnTo>
                    <a:lnTo>
                      <a:pt x="30" y="398"/>
                    </a:lnTo>
                    <a:lnTo>
                      <a:pt x="95" y="428"/>
                    </a:lnTo>
                    <a:lnTo>
                      <a:pt x="180" y="464"/>
                    </a:lnTo>
                    <a:lnTo>
                      <a:pt x="247" y="482"/>
                    </a:lnTo>
                    <a:lnTo>
                      <a:pt x="277" y="513"/>
                    </a:lnTo>
                    <a:lnTo>
                      <a:pt x="259" y="555"/>
                    </a:lnTo>
                    <a:lnTo>
                      <a:pt x="211" y="603"/>
                    </a:lnTo>
                    <a:lnTo>
                      <a:pt x="150" y="609"/>
                    </a:lnTo>
                    <a:lnTo>
                      <a:pt x="109" y="590"/>
                    </a:lnTo>
                    <a:lnTo>
                      <a:pt x="83" y="609"/>
                    </a:lnTo>
                    <a:lnTo>
                      <a:pt x="89" y="633"/>
                    </a:lnTo>
                    <a:lnTo>
                      <a:pt x="138" y="651"/>
                    </a:lnTo>
                    <a:lnTo>
                      <a:pt x="211" y="651"/>
                    </a:lnTo>
                    <a:lnTo>
                      <a:pt x="277" y="633"/>
                    </a:lnTo>
                    <a:lnTo>
                      <a:pt x="314" y="609"/>
                    </a:lnTo>
                    <a:lnTo>
                      <a:pt x="338" y="567"/>
                    </a:lnTo>
                    <a:lnTo>
                      <a:pt x="349" y="519"/>
                    </a:lnTo>
                    <a:lnTo>
                      <a:pt x="320" y="476"/>
                    </a:lnTo>
                    <a:lnTo>
                      <a:pt x="247" y="446"/>
                    </a:lnTo>
                    <a:lnTo>
                      <a:pt x="162" y="422"/>
                    </a:lnTo>
                    <a:lnTo>
                      <a:pt x="89" y="381"/>
                    </a:lnTo>
                    <a:lnTo>
                      <a:pt x="72" y="344"/>
                    </a:lnTo>
                    <a:lnTo>
                      <a:pt x="83" y="278"/>
                    </a:lnTo>
                    <a:lnTo>
                      <a:pt x="138" y="193"/>
                    </a:lnTo>
                    <a:lnTo>
                      <a:pt x="205" y="145"/>
                    </a:lnTo>
                    <a:lnTo>
                      <a:pt x="308" y="109"/>
                    </a:lnTo>
                    <a:lnTo>
                      <a:pt x="392" y="91"/>
                    </a:lnTo>
                    <a:lnTo>
                      <a:pt x="392" y="42"/>
                    </a:lnTo>
                    <a:lnTo>
                      <a:pt x="392" y="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42" name="Freeform 41"/>
              <p:cNvSpPr>
                <a:spLocks noChangeArrowheads="1"/>
              </p:cNvSpPr>
              <p:nvPr/>
            </p:nvSpPr>
            <p:spPr bwMode="auto">
              <a:xfrm>
                <a:off x="107" y="322"/>
                <a:ext cx="122" cy="267"/>
              </a:xfrm>
              <a:custGeom>
                <a:avLst/>
                <a:gdLst>
                  <a:gd name="T0" fmla="*/ 0 w 367"/>
                  <a:gd name="T1" fmla="*/ 0 h 801"/>
                  <a:gd name="T2" fmla="*/ 0 w 367"/>
                  <a:gd name="T3" fmla="*/ 0 h 801"/>
                  <a:gd name="T4" fmla="*/ 0 w 367"/>
                  <a:gd name="T5" fmla="*/ 0 h 801"/>
                  <a:gd name="T6" fmla="*/ 0 w 367"/>
                  <a:gd name="T7" fmla="*/ 0 h 801"/>
                  <a:gd name="T8" fmla="*/ 0 w 367"/>
                  <a:gd name="T9" fmla="*/ 0 h 801"/>
                  <a:gd name="T10" fmla="*/ 0 w 367"/>
                  <a:gd name="T11" fmla="*/ 0 h 801"/>
                  <a:gd name="T12" fmla="*/ 0 w 367"/>
                  <a:gd name="T13" fmla="*/ 0 h 801"/>
                  <a:gd name="T14" fmla="*/ 0 w 367"/>
                  <a:gd name="T15" fmla="*/ 0 h 801"/>
                  <a:gd name="T16" fmla="*/ 0 w 367"/>
                  <a:gd name="T17" fmla="*/ 0 h 801"/>
                  <a:gd name="T18" fmla="*/ 0 w 367"/>
                  <a:gd name="T19" fmla="*/ 0 h 801"/>
                  <a:gd name="T20" fmla="*/ 0 w 367"/>
                  <a:gd name="T21" fmla="*/ 0 h 801"/>
                  <a:gd name="T22" fmla="*/ 0 w 367"/>
                  <a:gd name="T23" fmla="*/ 0 h 801"/>
                  <a:gd name="T24" fmla="*/ 0 w 367"/>
                  <a:gd name="T25" fmla="*/ 0 h 801"/>
                  <a:gd name="T26" fmla="*/ 0 w 367"/>
                  <a:gd name="T27" fmla="*/ 0 h 801"/>
                  <a:gd name="T28" fmla="*/ 0 w 367"/>
                  <a:gd name="T29" fmla="*/ 0 h 801"/>
                  <a:gd name="T30" fmla="*/ 0 w 367"/>
                  <a:gd name="T31" fmla="*/ 0 h 801"/>
                  <a:gd name="T32" fmla="*/ 0 w 367"/>
                  <a:gd name="T33" fmla="*/ 0 h 801"/>
                  <a:gd name="T34" fmla="*/ 0 w 367"/>
                  <a:gd name="T35" fmla="*/ 0 h 801"/>
                  <a:gd name="T36" fmla="*/ 0 w 367"/>
                  <a:gd name="T37" fmla="*/ 0 h 801"/>
                  <a:gd name="T38" fmla="*/ 0 w 367"/>
                  <a:gd name="T39" fmla="*/ 0 h 801"/>
                  <a:gd name="T40" fmla="*/ 0 w 367"/>
                  <a:gd name="T41" fmla="*/ 0 h 801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67"/>
                  <a:gd name="T64" fmla="*/ 0 h 801"/>
                  <a:gd name="T65" fmla="*/ 367 w 367"/>
                  <a:gd name="T66" fmla="*/ 801 h 801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67" h="801">
                    <a:moveTo>
                      <a:pt x="319" y="252"/>
                    </a:moveTo>
                    <a:lnTo>
                      <a:pt x="282" y="102"/>
                    </a:lnTo>
                    <a:lnTo>
                      <a:pt x="241" y="29"/>
                    </a:lnTo>
                    <a:lnTo>
                      <a:pt x="150" y="0"/>
                    </a:lnTo>
                    <a:lnTo>
                      <a:pt x="59" y="11"/>
                    </a:lnTo>
                    <a:lnTo>
                      <a:pt x="18" y="90"/>
                    </a:lnTo>
                    <a:lnTo>
                      <a:pt x="23" y="187"/>
                    </a:lnTo>
                    <a:lnTo>
                      <a:pt x="47" y="343"/>
                    </a:lnTo>
                    <a:lnTo>
                      <a:pt x="47" y="481"/>
                    </a:lnTo>
                    <a:lnTo>
                      <a:pt x="18" y="602"/>
                    </a:lnTo>
                    <a:lnTo>
                      <a:pt x="0" y="668"/>
                    </a:lnTo>
                    <a:lnTo>
                      <a:pt x="12" y="728"/>
                    </a:lnTo>
                    <a:lnTo>
                      <a:pt x="53" y="759"/>
                    </a:lnTo>
                    <a:lnTo>
                      <a:pt x="108" y="789"/>
                    </a:lnTo>
                    <a:lnTo>
                      <a:pt x="162" y="801"/>
                    </a:lnTo>
                    <a:lnTo>
                      <a:pt x="229" y="801"/>
                    </a:lnTo>
                    <a:lnTo>
                      <a:pt x="307" y="740"/>
                    </a:lnTo>
                    <a:lnTo>
                      <a:pt x="367" y="613"/>
                    </a:lnTo>
                    <a:lnTo>
                      <a:pt x="361" y="499"/>
                    </a:lnTo>
                    <a:lnTo>
                      <a:pt x="325" y="367"/>
                    </a:lnTo>
                    <a:lnTo>
                      <a:pt x="319" y="25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43" name="Freeform 42"/>
              <p:cNvSpPr>
                <a:spLocks noChangeArrowheads="1"/>
              </p:cNvSpPr>
              <p:nvPr/>
            </p:nvSpPr>
            <p:spPr bwMode="auto">
              <a:xfrm>
                <a:off x="70" y="539"/>
                <a:ext cx="93" cy="386"/>
              </a:xfrm>
              <a:custGeom>
                <a:avLst/>
                <a:gdLst>
                  <a:gd name="T0" fmla="*/ 0 w 279"/>
                  <a:gd name="T1" fmla="*/ 0 h 1158"/>
                  <a:gd name="T2" fmla="*/ 0 w 279"/>
                  <a:gd name="T3" fmla="*/ 0 h 1158"/>
                  <a:gd name="T4" fmla="*/ 0 w 279"/>
                  <a:gd name="T5" fmla="*/ 0 h 1158"/>
                  <a:gd name="T6" fmla="*/ 0 w 279"/>
                  <a:gd name="T7" fmla="*/ 0 h 1158"/>
                  <a:gd name="T8" fmla="*/ 0 w 279"/>
                  <a:gd name="T9" fmla="*/ 0 h 1158"/>
                  <a:gd name="T10" fmla="*/ 0 w 279"/>
                  <a:gd name="T11" fmla="*/ 0 h 1158"/>
                  <a:gd name="T12" fmla="*/ 0 w 279"/>
                  <a:gd name="T13" fmla="*/ 0 h 1158"/>
                  <a:gd name="T14" fmla="*/ 0 w 279"/>
                  <a:gd name="T15" fmla="*/ 0 h 1158"/>
                  <a:gd name="T16" fmla="*/ 0 w 279"/>
                  <a:gd name="T17" fmla="*/ 0 h 1158"/>
                  <a:gd name="T18" fmla="*/ 0 w 279"/>
                  <a:gd name="T19" fmla="*/ 0 h 1158"/>
                  <a:gd name="T20" fmla="*/ 0 w 279"/>
                  <a:gd name="T21" fmla="*/ 0 h 1158"/>
                  <a:gd name="T22" fmla="*/ 0 w 279"/>
                  <a:gd name="T23" fmla="*/ 1 h 1158"/>
                  <a:gd name="T24" fmla="*/ 0 w 279"/>
                  <a:gd name="T25" fmla="*/ 1 h 1158"/>
                  <a:gd name="T26" fmla="*/ 0 w 279"/>
                  <a:gd name="T27" fmla="*/ 1 h 1158"/>
                  <a:gd name="T28" fmla="*/ 0 w 279"/>
                  <a:gd name="T29" fmla="*/ 1 h 1158"/>
                  <a:gd name="T30" fmla="*/ 0 w 279"/>
                  <a:gd name="T31" fmla="*/ 0 h 1158"/>
                  <a:gd name="T32" fmla="*/ 0 w 279"/>
                  <a:gd name="T33" fmla="*/ 0 h 1158"/>
                  <a:gd name="T34" fmla="*/ 0 w 279"/>
                  <a:gd name="T35" fmla="*/ 0 h 1158"/>
                  <a:gd name="T36" fmla="*/ 0 w 279"/>
                  <a:gd name="T37" fmla="*/ 0 h 1158"/>
                  <a:gd name="T38" fmla="*/ 0 w 279"/>
                  <a:gd name="T39" fmla="*/ 0 h 1158"/>
                  <a:gd name="T40" fmla="*/ 0 w 279"/>
                  <a:gd name="T41" fmla="*/ 0 h 1158"/>
                  <a:gd name="T42" fmla="*/ 0 w 279"/>
                  <a:gd name="T43" fmla="*/ 0 h 1158"/>
                  <a:gd name="T44" fmla="*/ 0 w 279"/>
                  <a:gd name="T45" fmla="*/ 0 h 1158"/>
                  <a:gd name="T46" fmla="*/ 0 w 279"/>
                  <a:gd name="T47" fmla="*/ 0 h 1158"/>
                  <a:gd name="T48" fmla="*/ 0 w 279"/>
                  <a:gd name="T49" fmla="*/ 0 h 1158"/>
                  <a:gd name="T50" fmla="*/ 0 w 279"/>
                  <a:gd name="T51" fmla="*/ 0 h 1158"/>
                  <a:gd name="T52" fmla="*/ 0 w 279"/>
                  <a:gd name="T53" fmla="*/ 0 h 1158"/>
                  <a:gd name="T54" fmla="*/ 0 w 279"/>
                  <a:gd name="T55" fmla="*/ 0 h 1158"/>
                  <a:gd name="T56" fmla="*/ 0 w 279"/>
                  <a:gd name="T57" fmla="*/ 0 h 115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279"/>
                  <a:gd name="T88" fmla="*/ 0 h 1158"/>
                  <a:gd name="T89" fmla="*/ 279 w 279"/>
                  <a:gd name="T90" fmla="*/ 1158 h 115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279" h="1158">
                    <a:moveTo>
                      <a:pt x="266" y="18"/>
                    </a:moveTo>
                    <a:lnTo>
                      <a:pt x="194" y="0"/>
                    </a:lnTo>
                    <a:lnTo>
                      <a:pt x="151" y="18"/>
                    </a:lnTo>
                    <a:lnTo>
                      <a:pt x="133" y="78"/>
                    </a:lnTo>
                    <a:lnTo>
                      <a:pt x="151" y="409"/>
                    </a:lnTo>
                    <a:lnTo>
                      <a:pt x="151" y="488"/>
                    </a:lnTo>
                    <a:lnTo>
                      <a:pt x="128" y="633"/>
                    </a:lnTo>
                    <a:lnTo>
                      <a:pt x="122" y="801"/>
                    </a:lnTo>
                    <a:lnTo>
                      <a:pt x="133" y="886"/>
                    </a:lnTo>
                    <a:lnTo>
                      <a:pt x="122" y="934"/>
                    </a:lnTo>
                    <a:lnTo>
                      <a:pt x="37" y="1006"/>
                    </a:lnTo>
                    <a:lnTo>
                      <a:pt x="0" y="1097"/>
                    </a:lnTo>
                    <a:lnTo>
                      <a:pt x="7" y="1127"/>
                    </a:lnTo>
                    <a:lnTo>
                      <a:pt x="73" y="1158"/>
                    </a:lnTo>
                    <a:lnTo>
                      <a:pt x="91" y="1145"/>
                    </a:lnTo>
                    <a:lnTo>
                      <a:pt x="98" y="1091"/>
                    </a:lnTo>
                    <a:lnTo>
                      <a:pt x="116" y="1012"/>
                    </a:lnTo>
                    <a:lnTo>
                      <a:pt x="145" y="977"/>
                    </a:lnTo>
                    <a:lnTo>
                      <a:pt x="181" y="953"/>
                    </a:lnTo>
                    <a:lnTo>
                      <a:pt x="212" y="922"/>
                    </a:lnTo>
                    <a:lnTo>
                      <a:pt x="218" y="898"/>
                    </a:lnTo>
                    <a:lnTo>
                      <a:pt x="200" y="868"/>
                    </a:lnTo>
                    <a:lnTo>
                      <a:pt x="181" y="850"/>
                    </a:lnTo>
                    <a:lnTo>
                      <a:pt x="169" y="778"/>
                    </a:lnTo>
                    <a:lnTo>
                      <a:pt x="181" y="626"/>
                    </a:lnTo>
                    <a:lnTo>
                      <a:pt x="224" y="452"/>
                    </a:lnTo>
                    <a:lnTo>
                      <a:pt x="266" y="313"/>
                    </a:lnTo>
                    <a:lnTo>
                      <a:pt x="279" y="145"/>
                    </a:lnTo>
                    <a:lnTo>
                      <a:pt x="266" y="1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51244" name="Freeform 43"/>
              <p:cNvSpPr>
                <a:spLocks noChangeArrowheads="1"/>
              </p:cNvSpPr>
              <p:nvPr/>
            </p:nvSpPr>
            <p:spPr bwMode="auto">
              <a:xfrm>
                <a:off x="171" y="539"/>
                <a:ext cx="153" cy="325"/>
              </a:xfrm>
              <a:custGeom>
                <a:avLst/>
                <a:gdLst>
                  <a:gd name="T0" fmla="*/ 0 w 458"/>
                  <a:gd name="T1" fmla="*/ 0 h 977"/>
                  <a:gd name="T2" fmla="*/ 0 w 458"/>
                  <a:gd name="T3" fmla="*/ 0 h 977"/>
                  <a:gd name="T4" fmla="*/ 0 w 458"/>
                  <a:gd name="T5" fmla="*/ 0 h 977"/>
                  <a:gd name="T6" fmla="*/ 0 w 458"/>
                  <a:gd name="T7" fmla="*/ 0 h 977"/>
                  <a:gd name="T8" fmla="*/ 0 w 458"/>
                  <a:gd name="T9" fmla="*/ 0 h 977"/>
                  <a:gd name="T10" fmla="*/ 0 w 458"/>
                  <a:gd name="T11" fmla="*/ 0 h 977"/>
                  <a:gd name="T12" fmla="*/ 0 w 458"/>
                  <a:gd name="T13" fmla="*/ 0 h 977"/>
                  <a:gd name="T14" fmla="*/ 0 w 458"/>
                  <a:gd name="T15" fmla="*/ 0 h 977"/>
                  <a:gd name="T16" fmla="*/ 0 w 458"/>
                  <a:gd name="T17" fmla="*/ 0 h 977"/>
                  <a:gd name="T18" fmla="*/ 0 w 458"/>
                  <a:gd name="T19" fmla="*/ 0 h 977"/>
                  <a:gd name="T20" fmla="*/ 0 w 458"/>
                  <a:gd name="T21" fmla="*/ 0 h 977"/>
                  <a:gd name="T22" fmla="*/ 0 w 458"/>
                  <a:gd name="T23" fmla="*/ 0 h 977"/>
                  <a:gd name="T24" fmla="*/ 0 w 458"/>
                  <a:gd name="T25" fmla="*/ 0 h 977"/>
                  <a:gd name="T26" fmla="*/ 0 w 458"/>
                  <a:gd name="T27" fmla="*/ 0 h 977"/>
                  <a:gd name="T28" fmla="*/ 0 w 458"/>
                  <a:gd name="T29" fmla="*/ 0 h 977"/>
                  <a:gd name="T30" fmla="*/ 0 w 458"/>
                  <a:gd name="T31" fmla="*/ 0 h 977"/>
                  <a:gd name="T32" fmla="*/ 0 w 458"/>
                  <a:gd name="T33" fmla="*/ 0 h 977"/>
                  <a:gd name="T34" fmla="*/ 0 w 458"/>
                  <a:gd name="T35" fmla="*/ 0 h 977"/>
                  <a:gd name="T36" fmla="*/ 0 w 458"/>
                  <a:gd name="T37" fmla="*/ 0 h 977"/>
                  <a:gd name="T38" fmla="*/ 0 w 458"/>
                  <a:gd name="T39" fmla="*/ 0 h 977"/>
                  <a:gd name="T40" fmla="*/ 0 w 458"/>
                  <a:gd name="T41" fmla="*/ 0 h 977"/>
                  <a:gd name="T42" fmla="*/ 0 w 458"/>
                  <a:gd name="T43" fmla="*/ 0 h 977"/>
                  <a:gd name="T44" fmla="*/ 0 w 458"/>
                  <a:gd name="T45" fmla="*/ 0 h 977"/>
                  <a:gd name="T46" fmla="*/ 0 w 458"/>
                  <a:gd name="T47" fmla="*/ 0 h 977"/>
                  <a:gd name="T48" fmla="*/ 0 w 458"/>
                  <a:gd name="T49" fmla="*/ 0 h 977"/>
                  <a:gd name="T50" fmla="*/ 0 w 458"/>
                  <a:gd name="T51" fmla="*/ 0 h 977"/>
                  <a:gd name="T52" fmla="*/ 0 w 458"/>
                  <a:gd name="T53" fmla="*/ 0 h 977"/>
                  <a:gd name="T54" fmla="*/ 0 w 458"/>
                  <a:gd name="T55" fmla="*/ 0 h 977"/>
                  <a:gd name="T56" fmla="*/ 0 w 458"/>
                  <a:gd name="T57" fmla="*/ 0 h 977"/>
                  <a:gd name="T58" fmla="*/ 0 w 458"/>
                  <a:gd name="T59" fmla="*/ 0 h 977"/>
                  <a:gd name="T60" fmla="*/ 0 w 458"/>
                  <a:gd name="T61" fmla="*/ 0 h 977"/>
                  <a:gd name="T62" fmla="*/ 0 w 458"/>
                  <a:gd name="T63" fmla="*/ 0 h 97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58"/>
                  <a:gd name="T97" fmla="*/ 0 h 977"/>
                  <a:gd name="T98" fmla="*/ 458 w 458"/>
                  <a:gd name="T99" fmla="*/ 977 h 97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58" h="977">
                    <a:moveTo>
                      <a:pt x="150" y="145"/>
                    </a:moveTo>
                    <a:lnTo>
                      <a:pt x="138" y="48"/>
                    </a:lnTo>
                    <a:lnTo>
                      <a:pt x="85" y="0"/>
                    </a:lnTo>
                    <a:lnTo>
                      <a:pt x="6" y="6"/>
                    </a:lnTo>
                    <a:lnTo>
                      <a:pt x="0" y="48"/>
                    </a:lnTo>
                    <a:lnTo>
                      <a:pt x="6" y="139"/>
                    </a:lnTo>
                    <a:lnTo>
                      <a:pt x="48" y="277"/>
                    </a:lnTo>
                    <a:lnTo>
                      <a:pt x="79" y="379"/>
                    </a:lnTo>
                    <a:lnTo>
                      <a:pt x="114" y="518"/>
                    </a:lnTo>
                    <a:lnTo>
                      <a:pt x="126" y="638"/>
                    </a:lnTo>
                    <a:lnTo>
                      <a:pt x="126" y="735"/>
                    </a:lnTo>
                    <a:lnTo>
                      <a:pt x="108" y="807"/>
                    </a:lnTo>
                    <a:lnTo>
                      <a:pt x="90" y="831"/>
                    </a:lnTo>
                    <a:lnTo>
                      <a:pt x="90" y="855"/>
                    </a:lnTo>
                    <a:lnTo>
                      <a:pt x="114" y="892"/>
                    </a:lnTo>
                    <a:lnTo>
                      <a:pt x="156" y="904"/>
                    </a:lnTo>
                    <a:lnTo>
                      <a:pt x="223" y="904"/>
                    </a:lnTo>
                    <a:lnTo>
                      <a:pt x="343" y="934"/>
                    </a:lnTo>
                    <a:lnTo>
                      <a:pt x="379" y="977"/>
                    </a:lnTo>
                    <a:lnTo>
                      <a:pt x="434" y="952"/>
                    </a:lnTo>
                    <a:lnTo>
                      <a:pt x="458" y="892"/>
                    </a:lnTo>
                    <a:lnTo>
                      <a:pt x="434" y="868"/>
                    </a:lnTo>
                    <a:lnTo>
                      <a:pt x="331" y="855"/>
                    </a:lnTo>
                    <a:lnTo>
                      <a:pt x="217" y="855"/>
                    </a:lnTo>
                    <a:lnTo>
                      <a:pt x="168" y="849"/>
                    </a:lnTo>
                    <a:lnTo>
                      <a:pt x="156" y="813"/>
                    </a:lnTo>
                    <a:lnTo>
                      <a:pt x="168" y="747"/>
                    </a:lnTo>
                    <a:lnTo>
                      <a:pt x="175" y="632"/>
                    </a:lnTo>
                    <a:lnTo>
                      <a:pt x="162" y="506"/>
                    </a:lnTo>
                    <a:lnTo>
                      <a:pt x="144" y="338"/>
                    </a:lnTo>
                    <a:lnTo>
                      <a:pt x="150" y="192"/>
                    </a:lnTo>
                    <a:lnTo>
                      <a:pt x="150" y="1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>
                    <a:schemeClr val="tx2"/>
                  </a:buClr>
                  <a:buSzTx/>
                  <a:buFont typeface="Wingdings" panose="05000000000000000000" pitchFamily="2" charset="2"/>
                  <a:buNone/>
                  <a:defRPr/>
                </a:pPr>
                <a:endParaRPr kumimoji="0" lang="zh-CN" altLang="en-US" sz="26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Slide Number Placeholder 4"/>
          <p:cNvSpPr txBox="1">
            <a:spLocks noGrp="1" noChangeArrowheads="1"/>
          </p:cNvSpPr>
          <p:nvPr/>
        </p:nvSpPr>
        <p:spPr bwMode="auto">
          <a:xfrm>
            <a:off x="8239125" y="6248400"/>
            <a:ext cx="631825" cy="4762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r" eaLnBrk="1" hangingPunct="1">
              <a:spcBef>
                <a:spcPct val="30000"/>
              </a:spcBef>
              <a:buClr>
                <a:schemeClr val="tx2"/>
              </a:buClr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51" name="Rectangle 2"/>
          <p:cNvSpPr>
            <a:spLocks noGrp="1" noRot="1"/>
          </p:cNvSpPr>
          <p:nvPr>
            <p:ph type="title"/>
          </p:nvPr>
        </p:nvSpPr>
        <p:spPr>
          <a:xfrm>
            <a:off x="571500" y="0"/>
            <a:ext cx="80883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>
                <a:solidFill>
                  <a:srgbClr val="003F80"/>
                </a:solidFill>
                <a:ea typeface="宋体" panose="02010600030101010101" pitchFamily="2" charset="-122"/>
              </a:rPr>
              <a:t>小结</a:t>
            </a:r>
            <a:endParaRPr lang="zh-CN" altLang="en-US" sz="3600" dirty="0">
              <a:solidFill>
                <a:srgbClr val="003F80"/>
              </a:solidFill>
              <a:ea typeface="宋体" panose="02010600030101010101" pitchFamily="2" charset="-122"/>
            </a:endParaRPr>
          </a:p>
        </p:txBody>
      </p:sp>
      <p:sp>
        <p:nvSpPr>
          <p:cNvPr id="53252" name="Rectangle 3"/>
          <p:cNvSpPr>
            <a:spLocks noGrp="1" noRot="1"/>
          </p:cNvSpPr>
          <p:nvPr>
            <p:ph type="body"/>
          </p:nvPr>
        </p:nvSpPr>
        <p:spPr>
          <a:xfrm>
            <a:off x="1000125" y="1428750"/>
            <a:ext cx="7323138" cy="4498975"/>
          </a:xfrm>
        </p:spPr>
        <p:txBody>
          <a:bodyPr vert="horz" wrap="square" lIns="91440" tIns="45720" rIns="91440" bIns="45720" anchor="t" anchorCtr="0"/>
          <a:p>
            <a:r>
              <a:rPr lang="zh-CN" altLang="en-US" dirty="0">
                <a:ea typeface="宋体" panose="02010600030101010101" pitchFamily="2" charset="-122"/>
              </a:rPr>
              <a:t>软件工程是以质量为中心，过程、方法和工具为三要素 </a:t>
            </a:r>
            <a:endParaRPr lang="zh-CN" altLang="en-US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过程定义了谁在做什么，何时以及如何达到一定的目标。</a:t>
            </a:r>
            <a:endParaRPr lang="zh-CN" altLang="en-US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软件过程决定了软件产品的质量，不同的项目需要不同的过程模型或者过程模型的组合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">
                                            <p:txEl>
                                              <p:charRg st="0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2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2">
                                            <p:txEl>
                                              <p:charRg st="2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2">
                                            <p:txEl>
                                              <p:charRg st="26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charRg st="5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2">
                                            <p:txEl>
                                              <p:charRg st="5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2">
                                            <p:txEl>
                                              <p:charRg st="5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Slide Number Placeholder 4"/>
          <p:cNvSpPr txBox="1">
            <a:spLocks noGrp="1" noChangeArrowheads="1"/>
          </p:cNvSpPr>
          <p:nvPr/>
        </p:nvSpPr>
        <p:spPr bwMode="auto">
          <a:xfrm>
            <a:off x="8239125" y="6248400"/>
            <a:ext cx="631825" cy="4762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algn="r" eaLnBrk="1" hangingPunct="1">
              <a:spcBef>
                <a:spcPct val="30000"/>
              </a:spcBef>
              <a:buClr>
                <a:schemeClr val="tx2"/>
              </a:buClr>
              <a:buNone/>
            </a:pPr>
            <a:fld id="{9A0DB2DC-4C9A-4742-B13C-FB6460FD3503}" type="slidenum">
              <a:rPr lang="en-US" altLang="zh-CN" sz="1200" b="0" dirty="0">
                <a:solidFill>
                  <a:schemeClr val="tx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200" b="0" dirty="0">
              <a:solidFill>
                <a:schemeClr val="tx1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4275" name="Rectangle 2"/>
          <p:cNvSpPr>
            <a:spLocks noGrp="1" noRot="1"/>
          </p:cNvSpPr>
          <p:nvPr>
            <p:ph type="title"/>
          </p:nvPr>
        </p:nvSpPr>
        <p:spPr>
          <a:xfrm>
            <a:off x="1714500" y="0"/>
            <a:ext cx="5748338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过程模型工具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4276" name="Rectangle 3"/>
          <p:cNvSpPr>
            <a:spLocks noGrp="1" noRot="1"/>
          </p:cNvSpPr>
          <p:nvPr>
            <p:ph type="body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Igrafx process tools, </a:t>
            </a:r>
            <a:r>
              <a:rPr lang="en-US" altLang="zh-CN" dirty="0">
                <a:ea typeface="宋体" panose="02010600030101010101" pitchFamily="2" charset="-122"/>
                <a:hlinkClick r:id="rId1"/>
              </a:rPr>
              <a:t>www.igrafx.com/products/process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Objexis Team Portal, www.objexis.com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Slide Number Placeholder 4"/>
          <p:cNvSpPr txBox="1">
            <a:spLocks noGrp="1"/>
          </p:cNvSpPr>
          <p:nvPr/>
        </p:nvSpPr>
        <p:spPr>
          <a:xfrm>
            <a:off x="8239125" y="6248400"/>
            <a:ext cx="63182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zh-CN" sz="1000" b="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000" b="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Rectangle 2"/>
          <p:cNvSpPr>
            <a:spLocks noGrp="1" noRot="1"/>
          </p:cNvSpPr>
          <p:nvPr>
            <p:ph type="title"/>
          </p:nvPr>
        </p:nvSpPr>
        <p:spPr>
          <a:xfrm>
            <a:off x="571500" y="0"/>
            <a:ext cx="80883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>
                <a:ea typeface="宋体" panose="02010600030101010101" pitchFamily="2" charset="-122"/>
              </a:rPr>
              <a:t>作业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55300" name="Rectangle 3"/>
          <p:cNvSpPr>
            <a:spLocks noGrp="1" noRot="1"/>
          </p:cNvSpPr>
          <p:nvPr>
            <p:ph type="body"/>
          </p:nvPr>
        </p:nvSpPr>
        <p:spPr>
          <a:xfrm>
            <a:off x="642938" y="1285875"/>
            <a:ext cx="8001000" cy="449897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1. </a:t>
            </a:r>
            <a:r>
              <a:rPr lang="zh-CN" altLang="en-US" dirty="0">
                <a:ea typeface="宋体" panose="02010600030101010101" pitchFamily="2" charset="-122"/>
              </a:rPr>
              <a:t>解释为什么一个软件系统在真实的环境中使用时，必须做一些改变，或逐渐变得作用没那么明显？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2. </a:t>
            </a:r>
            <a:r>
              <a:rPr lang="zh-CN" altLang="en-US" dirty="0">
                <a:ea typeface="宋体" panose="02010600030101010101" pitchFamily="2" charset="-122"/>
              </a:rPr>
              <a:t>分别举出使用了瀑布模型、原型模型和增量模型的软件项目的例子。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3. </a:t>
            </a:r>
            <a:r>
              <a:rPr lang="zh-CN" altLang="en-US" dirty="0">
                <a:ea typeface="宋体" panose="02010600030101010101" pitchFamily="2" charset="-122"/>
              </a:rPr>
              <a:t>描述</a:t>
            </a:r>
            <a:r>
              <a:rPr lang="en-US" altLang="zh-CN" dirty="0">
                <a:ea typeface="宋体" panose="02010600030101010101" pitchFamily="2" charset="-122"/>
              </a:rPr>
              <a:t>CMMI </a:t>
            </a:r>
            <a:r>
              <a:rPr lang="zh-CN" altLang="en-US" dirty="0">
                <a:ea typeface="宋体" panose="02010600030101010101" pitchFamily="2" charset="-122"/>
              </a:rPr>
              <a:t>的</a:t>
            </a:r>
            <a:r>
              <a:rPr lang="en-US" altLang="zh-CN" dirty="0">
                <a:ea typeface="宋体" panose="02010600030101010101" pitchFamily="2" charset="-122"/>
              </a:rPr>
              <a:t>5 </a:t>
            </a:r>
            <a:r>
              <a:rPr lang="zh-CN" altLang="en-US" dirty="0">
                <a:ea typeface="宋体" panose="02010600030101010101" pitchFamily="2" charset="-122"/>
              </a:rPr>
              <a:t>个级别。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4. </a:t>
            </a:r>
            <a:r>
              <a:rPr lang="zh-CN" altLang="en-US" dirty="0">
                <a:ea typeface="宋体" panose="02010600030101010101" pitchFamily="2" charset="-122"/>
              </a:rPr>
              <a:t>阐述瀑布模型的优缺点。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5. </a:t>
            </a:r>
            <a:r>
              <a:rPr lang="zh-CN" altLang="en-US" dirty="0">
                <a:ea typeface="宋体" panose="02010600030101010101" pitchFamily="2" charset="-122"/>
              </a:rPr>
              <a:t>本章提及的三种增量模型有哪些不同。</a:t>
            </a:r>
            <a:endParaRPr lang="zh-CN" altLang="en-US" dirty="0">
              <a:ea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6. </a:t>
            </a:r>
            <a:r>
              <a:rPr lang="zh-CN" altLang="en-US" dirty="0">
                <a:ea typeface="宋体" panose="02010600030101010101" pitchFamily="2" charset="-122"/>
              </a:rPr>
              <a:t>调研写出其他的一些过程模型的定义、特点、使用</a:t>
            </a:r>
            <a:r>
              <a:rPr lang="zh-CN" altLang="en-US" dirty="0">
                <a:ea typeface="宋体" panose="02010600030101010101" pitchFamily="2" charset="-122"/>
              </a:rPr>
              <a:t>场景。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IMING" val="|0.5|1.5|13.9"/>
</p:tagLst>
</file>

<file path=ppt/theme/theme1.xml><?xml version="1.0" encoding="utf-8"?>
<a:theme xmlns:a="http://schemas.openxmlformats.org/drawingml/2006/main" name="230TGp_report_light">
  <a:themeElements>
    <a:clrScheme name="230TGp_report_light 1">
      <a:dk1>
        <a:srgbClr val="003366"/>
      </a:dk1>
      <a:lt1>
        <a:srgbClr val="FFFFFF"/>
      </a:lt1>
      <a:dk2>
        <a:srgbClr val="3EB1CC"/>
      </a:dk2>
      <a:lt2>
        <a:srgbClr val="DDDDDD"/>
      </a:lt2>
      <a:accent1>
        <a:srgbClr val="438ACB"/>
      </a:accent1>
      <a:accent2>
        <a:srgbClr val="77AE26"/>
      </a:accent2>
      <a:accent3>
        <a:srgbClr val="FFFFFF"/>
      </a:accent3>
      <a:accent4>
        <a:srgbClr val="002A56"/>
      </a:accent4>
      <a:accent5>
        <a:srgbClr val="B0C4E2"/>
      </a:accent5>
      <a:accent6>
        <a:srgbClr val="6B9D21"/>
      </a:accent6>
      <a:hlink>
        <a:srgbClr val="6E815B"/>
      </a:hlink>
      <a:folHlink>
        <a:srgbClr val="76A0CA"/>
      </a:folHlink>
    </a:clrScheme>
    <a:fontScheme name="230TGp_report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230TGp_report_light 1">
        <a:dk1>
          <a:srgbClr val="003366"/>
        </a:dk1>
        <a:lt1>
          <a:srgbClr val="FFFFFF"/>
        </a:lt1>
        <a:dk2>
          <a:srgbClr val="3EB1CC"/>
        </a:dk2>
        <a:lt2>
          <a:srgbClr val="DDDDDD"/>
        </a:lt2>
        <a:accent1>
          <a:srgbClr val="438ACB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B0C4E2"/>
        </a:accent5>
        <a:accent6>
          <a:srgbClr val="6B9D21"/>
        </a:accent6>
        <a:hlink>
          <a:srgbClr val="6E815B"/>
        </a:hlink>
        <a:folHlink>
          <a:srgbClr val="76A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0TGp_report_light 2">
        <a:dk1>
          <a:srgbClr val="30311D"/>
        </a:dk1>
        <a:lt1>
          <a:srgbClr val="FFFFFF"/>
        </a:lt1>
        <a:dk2>
          <a:srgbClr val="D59D81"/>
        </a:dk2>
        <a:lt2>
          <a:srgbClr val="DDDDDD"/>
        </a:lt2>
        <a:accent1>
          <a:srgbClr val="617CD3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B7BFE6"/>
        </a:accent5>
        <a:accent6>
          <a:srgbClr val="85A655"/>
        </a:accent6>
        <a:hlink>
          <a:srgbClr val="557B97"/>
        </a:hlink>
        <a:folHlink>
          <a:srgbClr val="9778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0TGp_report_light 3">
        <a:dk1>
          <a:srgbClr val="000066"/>
        </a:dk1>
        <a:lt1>
          <a:srgbClr val="FFFFFF"/>
        </a:lt1>
        <a:dk2>
          <a:srgbClr val="0D5597"/>
        </a:dk2>
        <a:lt2>
          <a:srgbClr val="DDDDDD"/>
        </a:lt2>
        <a:accent1>
          <a:srgbClr val="428E71"/>
        </a:accent1>
        <a:accent2>
          <a:srgbClr val="3F90BD"/>
        </a:accent2>
        <a:accent3>
          <a:srgbClr val="FFFFFF"/>
        </a:accent3>
        <a:accent4>
          <a:srgbClr val="000056"/>
        </a:accent4>
        <a:accent5>
          <a:srgbClr val="B0C6BB"/>
        </a:accent5>
        <a:accent6>
          <a:srgbClr val="3882AB"/>
        </a:accent6>
        <a:hlink>
          <a:srgbClr val="7D7E89"/>
        </a:hlink>
        <a:folHlink>
          <a:srgbClr val="8AC4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230TGp_report_light">
  <a:themeElements>
    <a:clrScheme name="1_230TGp_report_light 1">
      <a:dk1>
        <a:srgbClr val="003366"/>
      </a:dk1>
      <a:lt1>
        <a:srgbClr val="FFFFFF"/>
      </a:lt1>
      <a:dk2>
        <a:srgbClr val="3EB1CC"/>
      </a:dk2>
      <a:lt2>
        <a:srgbClr val="DDDDDD"/>
      </a:lt2>
      <a:accent1>
        <a:srgbClr val="438ACB"/>
      </a:accent1>
      <a:accent2>
        <a:srgbClr val="77AE26"/>
      </a:accent2>
      <a:accent3>
        <a:srgbClr val="FFFFFF"/>
      </a:accent3>
      <a:accent4>
        <a:srgbClr val="002A56"/>
      </a:accent4>
      <a:accent5>
        <a:srgbClr val="B0C4E2"/>
      </a:accent5>
      <a:accent6>
        <a:srgbClr val="6B9D21"/>
      </a:accent6>
      <a:hlink>
        <a:srgbClr val="6E815B"/>
      </a:hlink>
      <a:folHlink>
        <a:srgbClr val="76A0CA"/>
      </a:folHlink>
    </a:clrScheme>
    <a:fontScheme name="1_230TGp_report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1_230TGp_report_light 1">
        <a:dk1>
          <a:srgbClr val="003366"/>
        </a:dk1>
        <a:lt1>
          <a:srgbClr val="FFFFFF"/>
        </a:lt1>
        <a:dk2>
          <a:srgbClr val="3EB1CC"/>
        </a:dk2>
        <a:lt2>
          <a:srgbClr val="DDDDDD"/>
        </a:lt2>
        <a:accent1>
          <a:srgbClr val="438ACB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B0C4E2"/>
        </a:accent5>
        <a:accent6>
          <a:srgbClr val="6B9D21"/>
        </a:accent6>
        <a:hlink>
          <a:srgbClr val="6E815B"/>
        </a:hlink>
        <a:folHlink>
          <a:srgbClr val="76A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30TGp_report_light 2">
        <a:dk1>
          <a:srgbClr val="30311D"/>
        </a:dk1>
        <a:lt1>
          <a:srgbClr val="FFFFFF"/>
        </a:lt1>
        <a:dk2>
          <a:srgbClr val="D59D81"/>
        </a:dk2>
        <a:lt2>
          <a:srgbClr val="DDDDDD"/>
        </a:lt2>
        <a:accent1>
          <a:srgbClr val="617CD3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B7BFE6"/>
        </a:accent5>
        <a:accent6>
          <a:srgbClr val="85A655"/>
        </a:accent6>
        <a:hlink>
          <a:srgbClr val="557B97"/>
        </a:hlink>
        <a:folHlink>
          <a:srgbClr val="9778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30TGp_report_light 3">
        <a:dk1>
          <a:srgbClr val="000066"/>
        </a:dk1>
        <a:lt1>
          <a:srgbClr val="FFFFFF"/>
        </a:lt1>
        <a:dk2>
          <a:srgbClr val="0D5597"/>
        </a:dk2>
        <a:lt2>
          <a:srgbClr val="DDDDDD"/>
        </a:lt2>
        <a:accent1>
          <a:srgbClr val="428E71"/>
        </a:accent1>
        <a:accent2>
          <a:srgbClr val="3F90BD"/>
        </a:accent2>
        <a:accent3>
          <a:srgbClr val="FFFFFF"/>
        </a:accent3>
        <a:accent4>
          <a:srgbClr val="000056"/>
        </a:accent4>
        <a:accent5>
          <a:srgbClr val="B0C6BB"/>
        </a:accent5>
        <a:accent6>
          <a:srgbClr val="3882AB"/>
        </a:accent6>
        <a:hlink>
          <a:srgbClr val="7D7E89"/>
        </a:hlink>
        <a:folHlink>
          <a:srgbClr val="8AC4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230TGp_report_light">
  <a:themeElements>
    <a:clrScheme name="2_230TGp_report_light 1">
      <a:dk1>
        <a:srgbClr val="003366"/>
      </a:dk1>
      <a:lt1>
        <a:srgbClr val="FFFFFF"/>
      </a:lt1>
      <a:dk2>
        <a:srgbClr val="3EB1CC"/>
      </a:dk2>
      <a:lt2>
        <a:srgbClr val="DDDDDD"/>
      </a:lt2>
      <a:accent1>
        <a:srgbClr val="438ACB"/>
      </a:accent1>
      <a:accent2>
        <a:srgbClr val="77AE26"/>
      </a:accent2>
      <a:accent3>
        <a:srgbClr val="FFFFFF"/>
      </a:accent3>
      <a:accent4>
        <a:srgbClr val="002A56"/>
      </a:accent4>
      <a:accent5>
        <a:srgbClr val="B0C4E2"/>
      </a:accent5>
      <a:accent6>
        <a:srgbClr val="6B9D21"/>
      </a:accent6>
      <a:hlink>
        <a:srgbClr val="6E815B"/>
      </a:hlink>
      <a:folHlink>
        <a:srgbClr val="76A0CA"/>
      </a:folHlink>
    </a:clrScheme>
    <a:fontScheme name="2_230TGp_report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2_230TGp_report_light 1">
        <a:dk1>
          <a:srgbClr val="003366"/>
        </a:dk1>
        <a:lt1>
          <a:srgbClr val="FFFFFF"/>
        </a:lt1>
        <a:dk2>
          <a:srgbClr val="3EB1CC"/>
        </a:dk2>
        <a:lt2>
          <a:srgbClr val="DDDDDD"/>
        </a:lt2>
        <a:accent1>
          <a:srgbClr val="438ACB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B0C4E2"/>
        </a:accent5>
        <a:accent6>
          <a:srgbClr val="6B9D21"/>
        </a:accent6>
        <a:hlink>
          <a:srgbClr val="6E815B"/>
        </a:hlink>
        <a:folHlink>
          <a:srgbClr val="76A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30TGp_report_light 2">
        <a:dk1>
          <a:srgbClr val="30311D"/>
        </a:dk1>
        <a:lt1>
          <a:srgbClr val="FFFFFF"/>
        </a:lt1>
        <a:dk2>
          <a:srgbClr val="D59D81"/>
        </a:dk2>
        <a:lt2>
          <a:srgbClr val="DDDDDD"/>
        </a:lt2>
        <a:accent1>
          <a:srgbClr val="617CD3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B7BFE6"/>
        </a:accent5>
        <a:accent6>
          <a:srgbClr val="85A655"/>
        </a:accent6>
        <a:hlink>
          <a:srgbClr val="557B97"/>
        </a:hlink>
        <a:folHlink>
          <a:srgbClr val="9778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30TGp_report_light 3">
        <a:dk1>
          <a:srgbClr val="000066"/>
        </a:dk1>
        <a:lt1>
          <a:srgbClr val="FFFFFF"/>
        </a:lt1>
        <a:dk2>
          <a:srgbClr val="0D5597"/>
        </a:dk2>
        <a:lt2>
          <a:srgbClr val="DDDDDD"/>
        </a:lt2>
        <a:accent1>
          <a:srgbClr val="428E71"/>
        </a:accent1>
        <a:accent2>
          <a:srgbClr val="3F90BD"/>
        </a:accent2>
        <a:accent3>
          <a:srgbClr val="FFFFFF"/>
        </a:accent3>
        <a:accent4>
          <a:srgbClr val="000056"/>
        </a:accent4>
        <a:accent5>
          <a:srgbClr val="B0C6BB"/>
        </a:accent5>
        <a:accent6>
          <a:srgbClr val="3882AB"/>
        </a:accent6>
        <a:hlink>
          <a:srgbClr val="7D7E89"/>
        </a:hlink>
        <a:folHlink>
          <a:srgbClr val="8AC4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230TGp_report_light">
  <a:themeElements>
    <a:clrScheme name="230TGp_report_light 1">
      <a:dk1>
        <a:srgbClr val="003366"/>
      </a:dk1>
      <a:lt1>
        <a:srgbClr val="FFFFFF"/>
      </a:lt1>
      <a:dk2>
        <a:srgbClr val="3EB1CC"/>
      </a:dk2>
      <a:lt2>
        <a:srgbClr val="DDDDDD"/>
      </a:lt2>
      <a:accent1>
        <a:srgbClr val="438ACB"/>
      </a:accent1>
      <a:accent2>
        <a:srgbClr val="77AE26"/>
      </a:accent2>
      <a:accent3>
        <a:srgbClr val="FFFFFF"/>
      </a:accent3>
      <a:accent4>
        <a:srgbClr val="002A56"/>
      </a:accent4>
      <a:accent5>
        <a:srgbClr val="B0C4E2"/>
      </a:accent5>
      <a:accent6>
        <a:srgbClr val="6B9D21"/>
      </a:accent6>
      <a:hlink>
        <a:srgbClr val="6E815B"/>
      </a:hlink>
      <a:folHlink>
        <a:srgbClr val="76A0CA"/>
      </a:folHlink>
    </a:clrScheme>
    <a:fontScheme name="230TGp_report_ligh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>
          <a:outerShdw kx="3284103" algn="bl" rotWithShape="0">
            <a:srgbClr val="808080">
              <a:alpha val="50000"/>
            </a:srgbClr>
          </a:outerShdw>
        </a:effectLst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30000"/>
          </a:lnSpc>
          <a:spcBef>
            <a:spcPct val="30000"/>
          </a:spcBef>
          <a:spcAft>
            <a:spcPct val="0"/>
          </a:spcAft>
          <a:buClr>
            <a:schemeClr val="tx2"/>
          </a:buClr>
          <a:buSzTx/>
          <a:buFont typeface="Wingdings" panose="05000000000000000000" pitchFamily="2" charset="2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230TGp_report_light 1">
        <a:dk1>
          <a:srgbClr val="003366"/>
        </a:dk1>
        <a:lt1>
          <a:srgbClr val="FFFFFF"/>
        </a:lt1>
        <a:dk2>
          <a:srgbClr val="3EB1CC"/>
        </a:dk2>
        <a:lt2>
          <a:srgbClr val="DDDDDD"/>
        </a:lt2>
        <a:accent1>
          <a:srgbClr val="438ACB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B0C4E2"/>
        </a:accent5>
        <a:accent6>
          <a:srgbClr val="6B9D21"/>
        </a:accent6>
        <a:hlink>
          <a:srgbClr val="6E815B"/>
        </a:hlink>
        <a:folHlink>
          <a:srgbClr val="76A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0TGp_report_light 2">
        <a:dk1>
          <a:srgbClr val="30311D"/>
        </a:dk1>
        <a:lt1>
          <a:srgbClr val="FFFFFF"/>
        </a:lt1>
        <a:dk2>
          <a:srgbClr val="D59D81"/>
        </a:dk2>
        <a:lt2>
          <a:srgbClr val="DDDDDD"/>
        </a:lt2>
        <a:accent1>
          <a:srgbClr val="617CD3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B7BFE6"/>
        </a:accent5>
        <a:accent6>
          <a:srgbClr val="85A655"/>
        </a:accent6>
        <a:hlink>
          <a:srgbClr val="557B97"/>
        </a:hlink>
        <a:folHlink>
          <a:srgbClr val="9778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30TGp_report_light 3">
        <a:dk1>
          <a:srgbClr val="000066"/>
        </a:dk1>
        <a:lt1>
          <a:srgbClr val="FFFFFF"/>
        </a:lt1>
        <a:dk2>
          <a:srgbClr val="0D5597"/>
        </a:dk2>
        <a:lt2>
          <a:srgbClr val="DDDDDD"/>
        </a:lt2>
        <a:accent1>
          <a:srgbClr val="428E71"/>
        </a:accent1>
        <a:accent2>
          <a:srgbClr val="3F90BD"/>
        </a:accent2>
        <a:accent3>
          <a:srgbClr val="FFFFFF"/>
        </a:accent3>
        <a:accent4>
          <a:srgbClr val="000056"/>
        </a:accent4>
        <a:accent5>
          <a:srgbClr val="B0C6BB"/>
        </a:accent5>
        <a:accent6>
          <a:srgbClr val="3882AB"/>
        </a:accent6>
        <a:hlink>
          <a:srgbClr val="7D7E89"/>
        </a:hlink>
        <a:folHlink>
          <a:srgbClr val="8AC4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230TGp_report_light</Template>
  <TotalTime>0</TotalTime>
  <Words>5506</Words>
  <Application>WPS 演示</Application>
  <PresentationFormat>全屏显示(4:3)</PresentationFormat>
  <Paragraphs>651</Paragraphs>
  <Slides>57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57</vt:i4>
      </vt:variant>
    </vt:vector>
  </HeadingPairs>
  <TitlesOfParts>
    <vt:vector size="79" baseType="lpstr">
      <vt:lpstr>Arial</vt:lpstr>
      <vt:lpstr>宋体</vt:lpstr>
      <vt:lpstr>Wingdings</vt:lpstr>
      <vt:lpstr>Times New Roman</vt:lpstr>
      <vt:lpstr>黑体</vt:lpstr>
      <vt:lpstr>Verdana</vt:lpstr>
      <vt:lpstr>Arial Unicode MS</vt:lpstr>
      <vt:lpstr>Segoe UI</vt:lpstr>
      <vt:lpstr>微软雅黑</vt:lpstr>
      <vt:lpstr>Wingdings</vt:lpstr>
      <vt:lpstr>Arial Unicode MS</vt:lpstr>
      <vt:lpstr>Monotype Sorts</vt:lpstr>
      <vt:lpstr>楷体_GB2312</vt:lpstr>
      <vt:lpstr>新宋体</vt:lpstr>
      <vt:lpstr>_x000B__x000C_</vt:lpstr>
      <vt:lpstr>Segoe Print</vt:lpstr>
      <vt:lpstr>楷体</vt:lpstr>
      <vt:lpstr>MS PGothic</vt:lpstr>
      <vt:lpstr>230TGp_report_light</vt:lpstr>
      <vt:lpstr>1_230TGp_report_light</vt:lpstr>
      <vt:lpstr>2_230TGp_report_light</vt:lpstr>
      <vt:lpstr>3_230TGp_report_light</vt:lpstr>
      <vt:lpstr>软件工程</vt:lpstr>
      <vt:lpstr>第二章 软件过程模型</vt:lpstr>
      <vt:lpstr>本章学习目标</vt:lpstr>
      <vt:lpstr>PowerPoint 演示文稿</vt:lpstr>
      <vt:lpstr>一个典型的软件开发周期</vt:lpstr>
      <vt:lpstr>PowerPoint 演示文稿</vt:lpstr>
      <vt:lpstr>什么是软件过程？</vt:lpstr>
      <vt:lpstr>PowerPoint 演示文稿</vt:lpstr>
      <vt:lpstr>PowerPoint 演示文稿</vt:lpstr>
      <vt:lpstr>CMMI的5个级别</vt:lpstr>
      <vt:lpstr>PowerPoint 演示文稿</vt:lpstr>
      <vt:lpstr>CMMI的 5 个级别</vt:lpstr>
      <vt:lpstr>CMMI的概念体系-2</vt:lpstr>
      <vt:lpstr>CMMI的概念体系-3</vt:lpstr>
      <vt:lpstr>CMMI概念体系图</vt:lpstr>
      <vt:lpstr>CMMI的评估办法</vt:lpstr>
      <vt:lpstr>某企业通过了某某级别的评估，意味着什么？</vt:lpstr>
      <vt:lpstr>企业的商业目标</vt:lpstr>
      <vt:lpstr>企业商业目标与CMMI的关系</vt:lpstr>
      <vt:lpstr>常见疑问-有答案了吗？</vt:lpstr>
      <vt:lpstr>PowerPoint 演示文稿</vt:lpstr>
      <vt:lpstr>软件过程模型</vt:lpstr>
      <vt:lpstr>常用过程模型</vt:lpstr>
      <vt:lpstr>1.瀑布模型(Waterfall Model)</vt:lpstr>
      <vt:lpstr>PowerPoint 演示文稿</vt:lpstr>
      <vt:lpstr>按照传统瀑布模型开发软件的特点</vt:lpstr>
      <vt:lpstr>PowerPoint 演示文稿</vt:lpstr>
      <vt:lpstr>PowerPoint 演示文稿</vt:lpstr>
      <vt:lpstr>演化模型</vt:lpstr>
      <vt:lpstr>原型模型</vt:lpstr>
      <vt:lpstr>原型模型</vt:lpstr>
      <vt:lpstr>原型模型</vt:lpstr>
      <vt:lpstr>并行开发模型</vt:lpstr>
      <vt:lpstr>基于构件的模型</vt:lpstr>
      <vt:lpstr>基于构件的模型的四个阶段</vt:lpstr>
      <vt:lpstr>基于构件的模型的优缺点</vt:lpstr>
      <vt:lpstr>增量过程模型</vt:lpstr>
      <vt:lpstr>增量模型(Incremental Model)</vt:lpstr>
      <vt:lpstr>增量模型特点</vt:lpstr>
      <vt:lpstr>增量模型的优缺点</vt:lpstr>
      <vt:lpstr>PowerPoint 演示文稿</vt:lpstr>
      <vt:lpstr>快速应用开发模型（RAD）</vt:lpstr>
      <vt:lpstr>快速应用开发模型（RAD）</vt:lpstr>
      <vt:lpstr> RAD 模型也有它的不足之处： </vt:lpstr>
      <vt:lpstr>螺旋模型（Spiral Model）</vt:lpstr>
      <vt:lpstr>螺旋模型（Spiral Model）</vt:lpstr>
      <vt:lpstr>PowerPoint 演示文稿</vt:lpstr>
      <vt:lpstr>螺旋模型的优点</vt:lpstr>
      <vt:lpstr>螺旋模型的缺点和适应场合</vt:lpstr>
      <vt:lpstr>PowerPoint 演示文稿</vt:lpstr>
      <vt:lpstr>一些新的过程模型</vt:lpstr>
      <vt:lpstr>如何选择过程模型？</vt:lpstr>
      <vt:lpstr>以产品为中心</vt:lpstr>
      <vt:lpstr>以过程为中心</vt:lpstr>
      <vt:lpstr>小结</vt:lpstr>
      <vt:lpstr>过程模型工具</vt:lpstr>
      <vt:lpstr>作业（1）</vt:lpstr>
    </vt:vector>
  </TitlesOfParts>
  <Company>Samsung Electronics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SEC</dc:creator>
  <cp:lastModifiedBy>belinda</cp:lastModifiedBy>
  <cp:revision>284</cp:revision>
  <dcterms:created xsi:type="dcterms:W3CDTF">2009-06-22T13:13:00Z</dcterms:created>
  <dcterms:modified xsi:type="dcterms:W3CDTF">2025-09-08T06:28:39Z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9AEAD38D56084231A05F2A3573D0A094_12</vt:lpwstr>
  </property>
</Properties>
</file>