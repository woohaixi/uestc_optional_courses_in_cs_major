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85" r:id="rId3"/>
    <p:sldId id="953" r:id="rId5"/>
    <p:sldId id="987" r:id="rId6"/>
    <p:sldId id="1027" r:id="rId7"/>
    <p:sldId id="990" r:id="rId8"/>
    <p:sldId id="989" r:id="rId9"/>
    <p:sldId id="991" r:id="rId10"/>
    <p:sldId id="992" r:id="rId11"/>
    <p:sldId id="993" r:id="rId12"/>
    <p:sldId id="994" r:id="rId13"/>
    <p:sldId id="995" r:id="rId14"/>
    <p:sldId id="1005" r:id="rId15"/>
    <p:sldId id="997" r:id="rId16"/>
    <p:sldId id="998" r:id="rId17"/>
    <p:sldId id="1015" r:id="rId18"/>
    <p:sldId id="1014" r:id="rId19"/>
    <p:sldId id="1016" r:id="rId20"/>
    <p:sldId id="1017" r:id="rId21"/>
    <p:sldId id="1020" r:id="rId22"/>
    <p:sldId id="1021" r:id="rId23"/>
    <p:sldId id="1022" r:id="rId24"/>
    <p:sldId id="1023" r:id="rId25"/>
    <p:sldId id="1011" r:id="rId26"/>
    <p:sldId id="1024" r:id="rId27"/>
    <p:sldId id="1025" r:id="rId28"/>
    <p:sldId id="1026" r:id="rId29"/>
  </p:sldIdLst>
  <p:sldSz cx="9144000" cy="6858000" type="screen4x3"/>
  <p:notesSz cx="6858000" cy="9144000"/>
  <p:defaultTextStyle>
    <a:defPPr>
      <a:defRPr lang="en-US"/>
    </a:defPPr>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9pPr>
  </p:defaultTextStyle>
  <p:extLst>
    <p:ext uri="{EFAFB233-063F-42B5-8137-9DF3F51BA10A}">
      <p15:sldGuideLst xmlns:p15="http://schemas.microsoft.com/office/powerpoint/2012/main">
        <p15:guide id="1" orient="horz" pos="2184" userDrawn="1">
          <p15:clr>
            <a:srgbClr val="A4A3A4"/>
          </p15:clr>
        </p15:guide>
        <p15:guide id="2" pos="287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66"/>
    <a:srgbClr val="333399"/>
    <a:srgbClr val="5F5F5F"/>
    <a:srgbClr val="808080"/>
    <a:srgbClr val="CC3300"/>
    <a:srgbClr val="6D7BA5"/>
    <a:srgbClr val="50B848"/>
    <a:srgbClr val="6767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288"/>
    <p:restoredTop sz="95730"/>
  </p:normalViewPr>
  <p:slideViewPr>
    <p:cSldViewPr showGuides="1">
      <p:cViewPr varScale="1">
        <p:scale>
          <a:sx n="85" d="100"/>
          <a:sy n="85" d="100"/>
        </p:scale>
        <p:origin x="1114" y="58"/>
      </p:cViewPr>
      <p:guideLst>
        <p:guide orient="horz" pos="2184"/>
        <p:guide pos="2871"/>
      </p:guideLst>
    </p:cSldViewPr>
  </p:slideViewPr>
  <p:notesTextViewPr>
    <p:cViewPr>
      <p:scale>
        <a:sx n="100" d="100"/>
        <a:sy n="100" d="100"/>
      </p:scale>
      <p:origin x="0" y="0"/>
    </p:cViewPr>
  </p:notesTextViewPr>
  <p:sorterViewPr showFormatting="0">
    <p:cViewPr>
      <p:scale>
        <a:sx n="66" d="100"/>
        <a:sy n="66" d="100"/>
      </p:scale>
      <p:origin x="0" y="888"/>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059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lnSpc>
                <a:spcPct val="100000"/>
              </a:lnSpc>
              <a:spcBef>
                <a:spcPct val="0"/>
              </a:spcBef>
              <a:buClrTx/>
              <a:buFontTx/>
              <a:buNone/>
              <a:defRPr kumimoji="0" sz="1200">
                <a:effectLst/>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0595"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lnSpc>
                <a:spcPct val="100000"/>
              </a:lnSpc>
              <a:spcBef>
                <a:spcPct val="0"/>
              </a:spcBef>
              <a:buClrTx/>
              <a:buFontTx/>
              <a:buNone/>
              <a:defRPr kumimoji="0" sz="1200">
                <a:effectLst/>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6"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110597"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0598"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eaLnBrk="1" hangingPunct="1">
              <a:lnSpc>
                <a:spcPct val="100000"/>
              </a:lnSpc>
              <a:spcBef>
                <a:spcPct val="0"/>
              </a:spcBef>
              <a:buClrTx/>
              <a:buFontTx/>
              <a:buNone/>
              <a:defRPr kumimoji="0" sz="1200">
                <a:effectLst/>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0599"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buNone/>
            </a:pPr>
            <a:fld id="{9A0DB2DC-4C9A-4742-B13C-FB6460FD3503}" type="slidenum">
              <a:rPr lang="zh-CN" altLang="en-US" sz="1200" dirty="0">
                <a:latin typeface="Arial" panose="020B0604020202020204" pitchFamily="34" charset="0"/>
                <a:ea typeface="宋体" panose="02010600030101010101" pitchFamily="2" charset="-122"/>
              </a:rPr>
            </a:fld>
            <a:endParaRPr lang="zh-CN" altLang="en-US" sz="1200" dirty="0">
              <a:latin typeface="Arial" panose="020B0604020202020204" pitchFamily="34" charset="0"/>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
        <p:nvSpPr>
          <p:cNvPr id="5123" name="Rectangle 2"/>
          <p:cNvSpPr>
            <a:spLocks noGrp="1" noRot="1" noChangeAspect="1" noTextEdit="1"/>
          </p:cNvSpPr>
          <p:nvPr>
            <p:ph type="sldImg"/>
          </p:nvPr>
        </p:nvSpPr>
        <p:spPr/>
      </p:sp>
      <p:sp>
        <p:nvSpPr>
          <p:cNvPr id="5124" name="Rectangle 3"/>
          <p:cNvSpPr>
            <a:spLocks noGrp="1"/>
          </p:cNvSpPr>
          <p:nvPr>
            <p:ph type="body" idx="1"/>
          </p:nvPr>
        </p:nvSpPr>
        <p:spPr/>
        <p:txBody>
          <a:bodyPr wrap="square" lIns="91440" tIns="45720" rIns="91440" bIns="45720" anchor="t" anchorCtr="0"/>
          <a:lstStyle/>
          <a:p>
            <a:pPr lvl="0" eaLnBrk="1" hangingPunct="1"/>
            <a:endParaRPr lang="zh-CN" altLang="en-US" dirty="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gradFill rotWithShape="0">
          <a:gsLst>
            <a:gs pos="0">
              <a:schemeClr val="folHlink"/>
            </a:gs>
            <a:gs pos="100000">
              <a:srgbClr val="FFFFFF"/>
            </a:gs>
          </a:gsLst>
          <a:lin ang="5400000" scaled="1"/>
          <a:tileRect/>
        </a:gradFill>
        <a:effectLst/>
      </p:bgPr>
    </p:bg>
    <p:spTree>
      <p:nvGrpSpPr>
        <p:cNvPr id="1" name=""/>
        <p:cNvGrpSpPr/>
        <p:nvPr/>
      </p:nvGrpSpPr>
      <p:grpSpPr>
        <a:xfrm>
          <a:off x="0" y="0"/>
          <a:ext cx="0" cy="0"/>
          <a:chOff x="0" y="0"/>
          <a:chExt cx="0" cy="0"/>
        </a:xfrm>
      </p:grpSpPr>
      <p:pic>
        <p:nvPicPr>
          <p:cNvPr id="2050" name="Picture 32" descr="04_back"/>
          <p:cNvPicPr>
            <a:picLocks noChangeAspect="1"/>
          </p:cNvPicPr>
          <p:nvPr/>
        </p:nvPicPr>
        <p:blipFill>
          <a:blip r:embed="rId2"/>
          <a:stretch>
            <a:fillRect/>
          </a:stretch>
        </p:blipFill>
        <p:spPr>
          <a:xfrm>
            <a:off x="388938" y="942975"/>
            <a:ext cx="8367712" cy="5153025"/>
          </a:xfrm>
          <a:prstGeom prst="rect">
            <a:avLst/>
          </a:prstGeom>
          <a:noFill/>
          <a:ln w="9525">
            <a:noFill/>
          </a:ln>
        </p:spPr>
      </p:pic>
      <p:sp>
        <p:nvSpPr>
          <p:cNvPr id="4" name="Rectangle 24"/>
          <p:cNvSpPr>
            <a:spLocks noChangeArrowheads="1"/>
          </p:cNvSpPr>
          <p:nvPr/>
        </p:nvSpPr>
        <p:spPr bwMode="auto">
          <a:xfrm>
            <a:off x="373063" y="942975"/>
            <a:ext cx="8405813" cy="5133975"/>
          </a:xfrm>
          <a:prstGeom prst="rect">
            <a:avLst/>
          </a:prstGeom>
          <a:noFill/>
          <a:ln w="38100">
            <a:solidFill>
              <a:schemeClr val="tx1"/>
            </a:solidFill>
            <a:miter lim="800000"/>
          </a:ln>
          <a:effectLst/>
        </p:spPr>
        <p:txBody>
          <a:bodyPr wrap="none" anchor="ctr"/>
          <a:lstStyle/>
          <a:p>
            <a:pPr marL="0" marR="0" lvl="0" indent="0" algn="ctr" defTabSz="914400" rtl="0" eaLnBrk="1" fontAlgn="base" latinLnBrk="0" hangingPunct="1">
              <a:lnSpc>
                <a:spcPct val="130000"/>
              </a:lnSpc>
              <a:spcBef>
                <a:spcPct val="30000"/>
              </a:spcBef>
              <a:spcAft>
                <a:spcPct val="0"/>
              </a:spcAft>
              <a:buClr>
                <a:schemeClr val="tx2"/>
              </a:buClr>
              <a:buSzTx/>
              <a:buFont typeface="Wingdings" panose="05000000000000000000" pitchFamily="2" charset="2"/>
              <a:buNone/>
              <a:defRPr/>
            </a:pPr>
            <a:endParaRPr kumimoji="1" lang="zh-CN" altLang="en-US" sz="24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黑体" panose="02010609060101010101" pitchFamily="49" charset="-122"/>
              <a:cs typeface="+mn-cs"/>
            </a:endParaRPr>
          </a:p>
        </p:txBody>
      </p:sp>
      <p:sp>
        <p:nvSpPr>
          <p:cNvPr id="5" name="Line 29"/>
          <p:cNvSpPr>
            <a:spLocks noChangeShapeType="1"/>
          </p:cNvSpPr>
          <p:nvPr/>
        </p:nvSpPr>
        <p:spPr bwMode="auto">
          <a:xfrm>
            <a:off x="381000" y="3000375"/>
            <a:ext cx="4876800" cy="0"/>
          </a:xfrm>
          <a:prstGeom prst="line">
            <a:avLst/>
          </a:prstGeom>
          <a:noFill/>
          <a:ln w="9525">
            <a:solidFill>
              <a:schemeClr val="tx1"/>
            </a:solidFill>
            <a:round/>
          </a:ln>
          <a:effectLst/>
        </p:spPr>
        <p:txBody>
          <a:bodyPr/>
          <a:lstStyle/>
          <a:p>
            <a:pPr marL="0" marR="0" lvl="0" indent="0" algn="ctr" defTabSz="914400" rtl="0" eaLnBrk="1" fontAlgn="base" latinLnBrk="0" hangingPunct="1">
              <a:lnSpc>
                <a:spcPct val="130000"/>
              </a:lnSpc>
              <a:spcBef>
                <a:spcPct val="30000"/>
              </a:spcBef>
              <a:spcAft>
                <a:spcPct val="0"/>
              </a:spcAft>
              <a:buClr>
                <a:schemeClr val="tx2"/>
              </a:buClr>
              <a:buSzTx/>
              <a:buFont typeface="Wingdings" panose="05000000000000000000" pitchFamily="2" charset="2"/>
              <a:buNone/>
              <a:defRPr/>
            </a:pPr>
            <a:endParaRPr kumimoji="1" lang="zh-CN" altLang="en-US" sz="24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黑体" panose="02010609060101010101" pitchFamily="49" charset="-122"/>
              <a:cs typeface="+mn-cs"/>
            </a:endParaRPr>
          </a:p>
        </p:txBody>
      </p:sp>
      <p:pic>
        <p:nvPicPr>
          <p:cNvPr id="2053" name="Picture 34" descr="04_icon_f"/>
          <p:cNvPicPr>
            <a:picLocks noChangeAspect="1"/>
          </p:cNvPicPr>
          <p:nvPr/>
        </p:nvPicPr>
        <p:blipFill>
          <a:blip r:embed="rId3"/>
          <a:stretch>
            <a:fillRect/>
          </a:stretch>
        </p:blipFill>
        <p:spPr>
          <a:xfrm>
            <a:off x="4370388" y="2238375"/>
            <a:ext cx="1420812" cy="1420813"/>
          </a:xfrm>
          <a:prstGeom prst="rect">
            <a:avLst/>
          </a:prstGeom>
          <a:noFill/>
          <a:ln w="9525">
            <a:noFill/>
          </a:ln>
        </p:spPr>
      </p:pic>
      <p:sp>
        <p:nvSpPr>
          <p:cNvPr id="3075" name="Rectangle 3"/>
          <p:cNvSpPr>
            <a:spLocks noGrp="1" noChangeArrowheads="1"/>
          </p:cNvSpPr>
          <p:nvPr>
            <p:ph type="subTitle" idx="1"/>
          </p:nvPr>
        </p:nvSpPr>
        <p:spPr>
          <a:xfrm>
            <a:off x="609600" y="3076575"/>
            <a:ext cx="4038600" cy="457200"/>
          </a:xfrm>
        </p:spPr>
        <p:txBody>
          <a:bodyPr/>
          <a:lstStyle>
            <a:lvl1pPr marL="0" indent="0">
              <a:buFont typeface="Wingdings" panose="05000000000000000000" pitchFamily="2" charset="2"/>
              <a:buNone/>
              <a:defRPr sz="1600">
                <a:solidFill>
                  <a:srgbClr val="000000"/>
                </a:solidFill>
              </a:defRPr>
            </a:lvl1pPr>
          </a:lstStyle>
          <a:p>
            <a:r>
              <a:rPr lang="zh-CN" altLang="en-US"/>
              <a:t>单击此处编辑母版副标题样式</a:t>
            </a:r>
            <a:endParaRPr lang="zh-CN" altLang="en-US"/>
          </a:p>
        </p:txBody>
      </p:sp>
      <p:sp>
        <p:nvSpPr>
          <p:cNvPr id="3074" name="Rectangle 2"/>
          <p:cNvSpPr>
            <a:spLocks noGrp="1" noChangeArrowheads="1"/>
          </p:cNvSpPr>
          <p:nvPr>
            <p:ph type="ctrTitle"/>
          </p:nvPr>
        </p:nvSpPr>
        <p:spPr bwMode="gray">
          <a:xfrm>
            <a:off x="533400" y="2390775"/>
            <a:ext cx="4648200" cy="533400"/>
          </a:xfrm>
        </p:spPr>
        <p:txBody>
          <a:bodyPr/>
          <a:lstStyle>
            <a:lvl1pPr algn="l">
              <a:defRPr>
                <a:solidFill>
                  <a:schemeClr val="tx1"/>
                </a:solidFill>
              </a:defRPr>
            </a:lvl1pPr>
          </a:lstStyle>
          <a:p>
            <a:r>
              <a:rPr lang="zh-CN" altLang="en-US"/>
              <a:t>单击此处编辑母版标题样式</a:t>
            </a:r>
            <a:endParaRPr lang="zh-CN" altLang="en-US"/>
          </a:p>
        </p:txBody>
      </p:sp>
      <p:sp>
        <p:nvSpPr>
          <p:cNvPr id="7" name="Rectangle 4"/>
          <p:cNvSpPr>
            <a:spLocks noGrp="1" noChangeArrowheads="1"/>
          </p:cNvSpPr>
          <p:nvPr>
            <p:ph type="dt" sz="half" idx="2"/>
          </p:nvPr>
        </p:nvSpPr>
        <p:spPr bwMode="gray">
          <a:xfrm>
            <a:off x="381000" y="6537325"/>
            <a:ext cx="2133600" cy="244475"/>
          </a:xfrm>
          <a:prstGeom prst="rect">
            <a:avLst/>
          </a:prstGeom>
          <a:ln>
            <a:miter lim="800000"/>
          </a:ln>
        </p:spPr>
        <p:txBody>
          <a:bodyPr vert="horz" wrap="square" lIns="91440" tIns="45720" rIns="91440" bIns="45720" numCol="1" anchor="t" anchorCtr="0" compatLnSpc="1"/>
          <a:lstStyle>
            <a:lvl1pPr algn="l" eaLnBrk="1" hangingPunct="1">
              <a:lnSpc>
                <a:spcPct val="100000"/>
              </a:lnSpc>
              <a:spcBef>
                <a:spcPct val="0"/>
              </a:spcBef>
              <a:buClrTx/>
              <a:buFontTx/>
              <a:buNone/>
              <a:defRPr kumimoji="0" sz="1000">
                <a:solidFill>
                  <a:srgbClr val="000000"/>
                </a:solidFill>
                <a:effectLst/>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8" name="Rectangle 5"/>
          <p:cNvSpPr>
            <a:spLocks noGrp="1" noChangeArrowheads="1"/>
          </p:cNvSpPr>
          <p:nvPr>
            <p:ph type="ftr" sz="quarter" idx="3"/>
          </p:nvPr>
        </p:nvSpPr>
        <p:spPr bwMode="gray">
          <a:xfrm>
            <a:off x="3124200" y="6537325"/>
            <a:ext cx="2895600" cy="244475"/>
          </a:xfrm>
          <a:prstGeom prst="rect">
            <a:avLst/>
          </a:prstGeom>
          <a:ln>
            <a:miter lim="800000"/>
          </a:ln>
        </p:spPr>
        <p:txBody>
          <a:bodyPr vert="horz" wrap="square" lIns="91440" tIns="45720" rIns="91440" bIns="45720" numCol="1" anchor="t" anchorCtr="0" compatLnSpc="1"/>
          <a:lstStyle>
            <a:lvl1pPr algn="ctr" eaLnBrk="1" hangingPunct="1">
              <a:lnSpc>
                <a:spcPct val="100000"/>
              </a:lnSpc>
              <a:spcBef>
                <a:spcPct val="0"/>
              </a:spcBef>
              <a:buClrTx/>
              <a:buFontTx/>
              <a:buNone/>
              <a:defRPr kumimoji="0" sz="1000">
                <a:solidFill>
                  <a:srgbClr val="000000"/>
                </a:solidFill>
                <a:effectLst/>
                <a:latin typeface="Arial" panose="020B060402020202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9" name="Rectangle 6"/>
          <p:cNvSpPr>
            <a:spLocks noGrp="1" noChangeArrowheads="1"/>
          </p:cNvSpPr>
          <p:nvPr>
            <p:ph type="sldNum" sz="quarter" idx="4"/>
          </p:nvPr>
        </p:nvSpPr>
        <p:spPr bwMode="gray">
          <a:xfrm>
            <a:off x="6629400" y="6553200"/>
            <a:ext cx="2133600" cy="244475"/>
          </a:xfrm>
          <a:prstGeom prst="rect">
            <a:avLst/>
          </a:prstGeom>
          <a:ln>
            <a:miter lim="800000"/>
          </a:ln>
        </p:spPr>
        <p:txBody>
          <a:bodyPr vert="horz" wrap="square" lIns="91440" tIns="45720" rIns="91440" bIns="45720" numCol="1" anchor="t" anchorCtr="0" compatLnSpc="1"/>
          <a:lstStyle/>
          <a:p>
            <a:pPr algn="r" eaLnBrk="1" hangingPunct="1">
              <a:buNone/>
            </a:pPr>
            <a:fld id="{9A0DB2DC-4C9A-4742-B13C-FB6460FD3503}" type="slidenum">
              <a:rPr lang="zh-CN" altLang="en-US" dirty="0">
                <a:latin typeface="Arial" panose="020B0604020202020204" pitchFamily="34" charset="0"/>
                <a:ea typeface="宋体" panose="02010600030101010101" pitchFamily="2" charset="-122"/>
              </a:rPr>
            </a:fld>
            <a:endParaRPr lang="zh-CN" altLang="en-US" dirty="0">
              <a:latin typeface="Arial" panose="020B0604020202020204" pitchFamily="34" charset="0"/>
              <a:ea typeface="宋体" panose="02010600030101010101" pitchFamily="2"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200" baseline="0">
                <a:ea typeface="黑体" panose="02010609060101010101" pitchFamily="49" charset="-122"/>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p:txBody>
          <a:bodyPr/>
          <a:lstStyle>
            <a:lvl1pPr>
              <a:defRPr baseline="0">
                <a:solidFill>
                  <a:schemeClr val="tx1">
                    <a:lumMod val="60000"/>
                    <a:lumOff val="40000"/>
                  </a:schemeClr>
                </a:solidFill>
              </a:defRPr>
            </a:lvl1pPr>
            <a:lvl2pPr>
              <a:defRPr b="1" i="0" baseline="0"/>
            </a:lvl2pPr>
            <a:lvl3pPr>
              <a:defRPr b="1" i="0" baseline="0"/>
            </a:lvl3pPr>
            <a:lvl4pPr>
              <a:defRPr b="1" i="0" baseline="0"/>
            </a:lvl4pPr>
            <a:lvl5pPr>
              <a:defRPr b="1" i="0" baseline="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zh-CN" altLang="en-US" dirty="0"/>
            </a:fld>
            <a:r>
              <a:rPr lang="en-US" altLang="zh-CN" sz="1000" dirty="0">
                <a:solidFill>
                  <a:srgbClr val="000000"/>
                </a:solidFill>
                <a:latin typeface="Verdana" panose="020B0604030504040204" pitchFamily="34" charset="0"/>
                <a:ea typeface="宋体" panose="02010600030101010101" pitchFamily="2" charset="-122"/>
              </a:rPr>
              <a:t>/23</a:t>
            </a:r>
            <a:endParaRPr lang="zh-CN" altLang="en-US" sz="1000" dirty="0">
              <a:solidFill>
                <a:srgbClr val="000000"/>
              </a:solidFill>
              <a:latin typeface="Verdana" panose="020B0604030504040204" pitchFamily="34" charset="0"/>
              <a:ea typeface="宋体" panose="02010600030101010101" pitchFamily="2"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zh-CN" altLang="en-US" dirty="0"/>
            </a:fld>
            <a:r>
              <a:rPr lang="en-US" altLang="zh-CN" sz="1000" dirty="0">
                <a:solidFill>
                  <a:srgbClr val="000000"/>
                </a:solidFill>
                <a:latin typeface="Verdana" panose="020B0604030504040204" pitchFamily="34" charset="0"/>
                <a:ea typeface="宋体" panose="02010600030101010101" pitchFamily="2" charset="-122"/>
              </a:rPr>
              <a:t>/23</a:t>
            </a:r>
            <a:endParaRPr lang="zh-CN" altLang="en-US" sz="1000" dirty="0">
              <a:solidFill>
                <a:srgbClr val="000000"/>
              </a:solidFill>
              <a:latin typeface="Verdana" panose="020B0604030504040204" pitchFamily="34" charset="0"/>
              <a:ea typeface="宋体" panose="02010600030101010101" pitchFamily="2"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295400"/>
            <a:ext cx="4038600" cy="49339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295400"/>
            <a:ext cx="4038600" cy="49339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灯片编号占位符 4"/>
          <p:cNvSpPr>
            <a:spLocks noGrp="1"/>
          </p:cNvSpPr>
          <p:nvPr>
            <p:ph type="sldNum" sz="quarter" idx="10"/>
          </p:nvPr>
        </p:nvSpPr>
        <p:spPr/>
        <p:txBody>
          <a:bodyPr/>
          <a:lstStyle/>
          <a:p>
            <a:pPr lvl="0" eaLnBrk="1" hangingPunct="1">
              <a:buNone/>
            </a:pPr>
            <a:fld id="{9A0DB2DC-4C9A-4742-B13C-FB6460FD3503}" type="slidenum">
              <a:rPr lang="zh-CN" altLang="en-US" dirty="0"/>
            </a:fld>
            <a:r>
              <a:rPr lang="en-US" altLang="zh-CN" sz="1000" dirty="0">
                <a:solidFill>
                  <a:srgbClr val="000000"/>
                </a:solidFill>
                <a:latin typeface="Verdana" panose="020B0604030504040204" pitchFamily="34" charset="0"/>
                <a:ea typeface="宋体" panose="02010600030101010101" pitchFamily="2" charset="-122"/>
              </a:rPr>
              <a:t>/23</a:t>
            </a:r>
            <a:endParaRPr lang="zh-CN" altLang="en-US" sz="1000" dirty="0">
              <a:solidFill>
                <a:srgbClr val="000000"/>
              </a:solidFill>
              <a:latin typeface="Verdana" panose="020B0604030504040204" pitchFamily="34" charset="0"/>
              <a:ea typeface="宋体" panose="02010600030101010101" pitchFamily="2"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灯片编号占位符 6"/>
          <p:cNvSpPr>
            <a:spLocks noGrp="1"/>
          </p:cNvSpPr>
          <p:nvPr>
            <p:ph type="sldNum" sz="quarter" idx="10"/>
          </p:nvPr>
        </p:nvSpPr>
        <p:spPr/>
        <p:txBody>
          <a:bodyPr/>
          <a:lstStyle/>
          <a:p>
            <a:pPr lvl="0" eaLnBrk="1" hangingPunct="1">
              <a:buNone/>
            </a:pPr>
            <a:fld id="{9A0DB2DC-4C9A-4742-B13C-FB6460FD3503}" type="slidenum">
              <a:rPr lang="zh-CN" altLang="en-US" dirty="0"/>
            </a:fld>
            <a:r>
              <a:rPr lang="en-US" altLang="zh-CN" sz="1000" dirty="0">
                <a:solidFill>
                  <a:srgbClr val="000000"/>
                </a:solidFill>
                <a:latin typeface="Verdana" panose="020B0604030504040204" pitchFamily="34" charset="0"/>
                <a:ea typeface="宋体" panose="02010600030101010101" pitchFamily="2" charset="-122"/>
              </a:rPr>
              <a:t>/23</a:t>
            </a:r>
            <a:endParaRPr lang="zh-CN" altLang="en-US" sz="1000" dirty="0">
              <a:solidFill>
                <a:srgbClr val="000000"/>
              </a:solidFill>
              <a:latin typeface="Verdana" panose="020B0604030504040204" pitchFamily="34" charset="0"/>
              <a:ea typeface="宋体" panose="02010600030101010101" pitchFamily="2"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灯片编号占位符 2"/>
          <p:cNvSpPr>
            <a:spLocks noGrp="1"/>
          </p:cNvSpPr>
          <p:nvPr>
            <p:ph type="sldNum" sz="quarter" idx="10"/>
          </p:nvPr>
        </p:nvSpPr>
        <p:spPr/>
        <p:txBody>
          <a:bodyPr/>
          <a:lstStyle/>
          <a:p>
            <a:pPr lvl="0" eaLnBrk="1" hangingPunct="1">
              <a:buNone/>
            </a:pPr>
            <a:fld id="{9A0DB2DC-4C9A-4742-B13C-FB6460FD3503}" type="slidenum">
              <a:rPr lang="zh-CN" altLang="en-US" dirty="0"/>
            </a:fld>
            <a:r>
              <a:rPr lang="en-US" altLang="zh-CN" sz="1000" dirty="0">
                <a:solidFill>
                  <a:srgbClr val="000000"/>
                </a:solidFill>
                <a:latin typeface="Verdana" panose="020B0604030504040204" pitchFamily="34" charset="0"/>
                <a:ea typeface="宋体" panose="02010600030101010101" pitchFamily="2" charset="-122"/>
              </a:rPr>
              <a:t>/23</a:t>
            </a:r>
            <a:endParaRPr lang="zh-CN" altLang="en-US" sz="1000" dirty="0">
              <a:solidFill>
                <a:srgbClr val="000000"/>
              </a:solidFill>
              <a:latin typeface="Verdana" panose="020B0604030504040204" pitchFamily="34" charset="0"/>
              <a:ea typeface="宋体" panose="02010600030101010101" pitchFamily="2"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lvl="0" eaLnBrk="1" hangingPunct="1">
              <a:buNone/>
            </a:pPr>
            <a:fld id="{9A0DB2DC-4C9A-4742-B13C-FB6460FD3503}" type="slidenum">
              <a:rPr lang="zh-CN" altLang="en-US" dirty="0"/>
            </a:fld>
            <a:r>
              <a:rPr lang="en-US" altLang="zh-CN" sz="1000" dirty="0">
                <a:solidFill>
                  <a:srgbClr val="000000"/>
                </a:solidFill>
                <a:latin typeface="Verdana" panose="020B0604030504040204" pitchFamily="34" charset="0"/>
                <a:ea typeface="宋体" panose="02010600030101010101" pitchFamily="2" charset="-122"/>
              </a:rPr>
              <a:t>/23</a:t>
            </a:r>
            <a:endParaRPr lang="zh-CN" altLang="en-US" sz="1000" dirty="0">
              <a:solidFill>
                <a:srgbClr val="000000"/>
              </a:solidFill>
              <a:latin typeface="Verdana" panose="020B0604030504040204" pitchFamily="34" charset="0"/>
              <a:ea typeface="宋体" panose="02010600030101010101" pitchFamily="2"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灯片编号占位符 4"/>
          <p:cNvSpPr>
            <a:spLocks noGrp="1"/>
          </p:cNvSpPr>
          <p:nvPr>
            <p:ph type="sldNum" sz="quarter" idx="10"/>
          </p:nvPr>
        </p:nvSpPr>
        <p:spPr/>
        <p:txBody>
          <a:bodyPr/>
          <a:lstStyle/>
          <a:p>
            <a:pPr lvl="0" eaLnBrk="1" hangingPunct="1">
              <a:buNone/>
            </a:pPr>
            <a:fld id="{9A0DB2DC-4C9A-4742-B13C-FB6460FD3503}" type="slidenum">
              <a:rPr lang="zh-CN" altLang="en-US" dirty="0"/>
            </a:fld>
            <a:r>
              <a:rPr lang="en-US" altLang="zh-CN" sz="1000" dirty="0">
                <a:solidFill>
                  <a:srgbClr val="000000"/>
                </a:solidFill>
                <a:latin typeface="Verdana" panose="020B0604030504040204" pitchFamily="34" charset="0"/>
                <a:ea typeface="宋体" panose="02010600030101010101" pitchFamily="2" charset="-122"/>
              </a:rPr>
              <a:t>/23</a:t>
            </a:r>
            <a:endParaRPr lang="zh-CN" altLang="en-US" sz="1000" dirty="0">
              <a:solidFill>
                <a:srgbClr val="000000"/>
              </a:solidFill>
              <a:latin typeface="Verdana" panose="020B0604030504040204" pitchFamily="34" charset="0"/>
              <a:ea typeface="宋体" panose="02010600030101010101" pitchFamily="2" charset="-122"/>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defRPr/>
            </a:pPr>
            <a:endParaRPr kumimoji="0" lang="zh-CN" altLang="en-US" sz="3200" b="1" i="0" u="none" strike="noStrike" kern="0" cap="none" spc="0" normalizeH="0" baseline="0" noProof="0">
              <a:ln>
                <a:noFill/>
              </a:ln>
              <a:solidFill>
                <a:schemeClr val="accent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灯片编号占位符 4"/>
          <p:cNvSpPr>
            <a:spLocks noGrp="1"/>
          </p:cNvSpPr>
          <p:nvPr>
            <p:ph type="sldNum" sz="quarter" idx="10"/>
          </p:nvPr>
        </p:nvSpPr>
        <p:spPr/>
        <p:txBody>
          <a:bodyPr/>
          <a:lstStyle/>
          <a:p>
            <a:pPr lvl="0" eaLnBrk="1" hangingPunct="1">
              <a:buNone/>
            </a:pPr>
            <a:fld id="{9A0DB2DC-4C9A-4742-B13C-FB6460FD3503}" type="slidenum">
              <a:rPr lang="zh-CN" altLang="en-US" dirty="0"/>
            </a:fld>
            <a:r>
              <a:rPr lang="en-US" altLang="zh-CN" sz="1000" dirty="0">
                <a:solidFill>
                  <a:srgbClr val="000000"/>
                </a:solidFill>
                <a:latin typeface="Verdana" panose="020B0604030504040204" pitchFamily="34" charset="0"/>
                <a:ea typeface="宋体" panose="02010600030101010101" pitchFamily="2" charset="-122"/>
              </a:rPr>
              <a:t>/23</a:t>
            </a:r>
            <a:endParaRPr lang="zh-CN" altLang="en-US" sz="1000" dirty="0">
              <a:solidFill>
                <a:srgbClr val="000000"/>
              </a:solidFill>
              <a:latin typeface="Verdana" panose="020B0604030504040204" pitchFamily="34" charset="0"/>
              <a:ea typeface="宋体" panose="02010600030101010101" pitchFamily="2"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zh-CN" altLang="en-US" dirty="0"/>
            </a:fld>
            <a:r>
              <a:rPr lang="en-US" altLang="zh-CN" sz="1000" dirty="0">
                <a:solidFill>
                  <a:srgbClr val="000000"/>
                </a:solidFill>
                <a:latin typeface="Verdana" panose="020B0604030504040204" pitchFamily="34" charset="0"/>
                <a:ea typeface="宋体" panose="02010600030101010101" pitchFamily="2" charset="-122"/>
              </a:rPr>
              <a:t>/23</a:t>
            </a:r>
            <a:endParaRPr lang="zh-CN" altLang="en-US" sz="1000" dirty="0">
              <a:solidFill>
                <a:srgbClr val="000000"/>
              </a:solidFill>
              <a:latin typeface="Verdana" panose="020B0604030504040204" pitchFamily="34" charset="0"/>
              <a:ea typeface="宋体" panose="02010600030101010101" pitchFamily="2"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43700" y="206375"/>
            <a:ext cx="2171700" cy="602297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228600" y="206375"/>
            <a:ext cx="6362700" cy="602297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zh-CN" altLang="en-US" dirty="0"/>
            </a:fld>
            <a:r>
              <a:rPr lang="en-US" altLang="zh-CN" sz="1000" dirty="0">
                <a:solidFill>
                  <a:srgbClr val="000000"/>
                </a:solidFill>
                <a:latin typeface="Verdana" panose="020B0604030504040204" pitchFamily="34" charset="0"/>
                <a:ea typeface="宋体" panose="02010600030101010101" pitchFamily="2" charset="-122"/>
              </a:rPr>
              <a:t>/23</a:t>
            </a:r>
            <a:endParaRPr lang="zh-CN" altLang="en-US" sz="1000" dirty="0">
              <a:solidFill>
                <a:srgbClr val="000000"/>
              </a:solidFill>
              <a:latin typeface="Verdana" panose="020B0604030504040204" pitchFamily="34" charset="0"/>
              <a:ea typeface="宋体" panose="02010600030101010101" pitchFamily="2"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228600" y="206375"/>
            <a:ext cx="8686800" cy="60229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 name="灯片编号占位符 2"/>
          <p:cNvSpPr>
            <a:spLocks noGrp="1"/>
          </p:cNvSpPr>
          <p:nvPr>
            <p:ph type="sldNum" sz="quarter" idx="10"/>
          </p:nvPr>
        </p:nvSpPr>
        <p:spPr/>
        <p:txBody>
          <a:bodyPr/>
          <a:lstStyle/>
          <a:p>
            <a:pPr lvl="0" eaLnBrk="1" hangingPunct="1">
              <a:buNone/>
            </a:pPr>
            <a:fld id="{9A0DB2DC-4C9A-4742-B13C-FB6460FD3503}" type="slidenum">
              <a:rPr lang="zh-CN" altLang="en-US" dirty="0"/>
            </a:fld>
            <a:r>
              <a:rPr lang="en-US" altLang="zh-CN" sz="1000" dirty="0">
                <a:solidFill>
                  <a:srgbClr val="000000"/>
                </a:solidFill>
                <a:latin typeface="Verdana" panose="020B0604030504040204" pitchFamily="34" charset="0"/>
                <a:ea typeface="宋体" panose="02010600030101010101" pitchFamily="2" charset="-122"/>
              </a:rPr>
              <a:t>/23</a:t>
            </a:r>
            <a:endParaRPr lang="zh-CN" altLang="en-US" sz="1000" dirty="0">
              <a:solidFill>
                <a:srgbClr val="000000"/>
              </a:solidFill>
              <a:latin typeface="Verdana" panose="020B0604030504040204" pitchFamily="34" charset="0"/>
              <a:ea typeface="宋体" panose="02010600030101010101" pitchFamily="2"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228600" y="206375"/>
            <a:ext cx="8686800" cy="563563"/>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457200" y="1295400"/>
            <a:ext cx="4038600" cy="493395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295400"/>
            <a:ext cx="4038600" cy="493395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灯片编号占位符 4"/>
          <p:cNvSpPr>
            <a:spLocks noGrp="1"/>
          </p:cNvSpPr>
          <p:nvPr>
            <p:ph type="sldNum" sz="quarter" idx="10"/>
          </p:nvPr>
        </p:nvSpPr>
        <p:spPr/>
        <p:txBody>
          <a:bodyPr/>
          <a:lstStyle/>
          <a:p>
            <a:pPr lvl="0" eaLnBrk="1" hangingPunct="1">
              <a:buNone/>
            </a:pPr>
            <a:fld id="{9A0DB2DC-4C9A-4742-B13C-FB6460FD3503}" type="slidenum">
              <a:rPr lang="zh-CN" altLang="en-US" dirty="0"/>
            </a:fld>
            <a:r>
              <a:rPr lang="en-US" altLang="zh-CN" sz="1000" dirty="0">
                <a:solidFill>
                  <a:srgbClr val="000000"/>
                </a:solidFill>
                <a:latin typeface="Verdana" panose="020B0604030504040204" pitchFamily="34" charset="0"/>
                <a:ea typeface="宋体" panose="02010600030101010101" pitchFamily="2" charset="-122"/>
              </a:rPr>
              <a:t>/23</a:t>
            </a:r>
            <a:endParaRPr lang="zh-CN" altLang="en-US" sz="1000" dirty="0">
              <a:solidFill>
                <a:srgbClr val="000000"/>
              </a:solidFill>
              <a:latin typeface="Verdana" panose="020B0604030504040204" pitchFamily="34" charset="0"/>
              <a:ea typeface="宋体" panose="02010600030101010101" pitchFamily="2"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2.png"/><Relationship Id="rId14" Type="http://schemas.openxmlformats.org/officeDocument/2006/relationships/image" Target="../media/image3.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folHlink"/>
            </a:gs>
            <a:gs pos="100000">
              <a:srgbClr val="FFFFFF"/>
            </a:gs>
          </a:gsLst>
          <a:lin ang="5400000" scaled="1"/>
          <a:tileRect/>
        </a:gradFill>
        <a:effectLst/>
      </p:bgPr>
    </p:bg>
    <p:spTree>
      <p:nvGrpSpPr>
        <p:cNvPr id="1" name=""/>
        <p:cNvGrpSpPr/>
        <p:nvPr/>
      </p:nvGrpSpPr>
      <p:grpSpPr>
        <a:xfrm>
          <a:off x="0" y="0"/>
          <a:ext cx="0" cy="0"/>
          <a:chOff x="0" y="0"/>
          <a:chExt cx="0" cy="0"/>
        </a:xfrm>
      </p:grpSpPr>
      <p:sp>
        <p:nvSpPr>
          <p:cNvPr id="1077" name="Rectangle 53"/>
          <p:cNvSpPr>
            <a:spLocks noChangeArrowheads="1"/>
          </p:cNvSpPr>
          <p:nvPr/>
        </p:nvSpPr>
        <p:spPr bwMode="auto">
          <a:xfrm>
            <a:off x="228600" y="762000"/>
            <a:ext cx="8686800" cy="5848350"/>
          </a:xfrm>
          <a:prstGeom prst="rect">
            <a:avLst/>
          </a:prstGeom>
          <a:solidFill>
            <a:schemeClr val="bg1"/>
          </a:solidFill>
          <a:ln w="38100">
            <a:solidFill>
              <a:schemeClr val="tx1"/>
            </a:solidFill>
            <a:miter lim="800000"/>
          </a:ln>
          <a:effectLst/>
        </p:spPr>
        <p:txBody>
          <a:bodyPr wrap="none" anchor="ctr"/>
          <a:lstStyle/>
          <a:p>
            <a:pPr marL="0" marR="0" lvl="0" indent="0" algn="ctr" defTabSz="914400" rtl="0" eaLnBrk="1" fontAlgn="base" latinLnBrk="0" hangingPunct="1">
              <a:lnSpc>
                <a:spcPct val="130000"/>
              </a:lnSpc>
              <a:spcBef>
                <a:spcPct val="30000"/>
              </a:spcBef>
              <a:spcAft>
                <a:spcPct val="0"/>
              </a:spcAft>
              <a:buClr>
                <a:schemeClr val="tx2"/>
              </a:buClr>
              <a:buSzTx/>
              <a:buFont typeface="Wingdings" panose="05000000000000000000" pitchFamily="2" charset="2"/>
              <a:buNone/>
              <a:defRPr/>
            </a:pPr>
            <a:endParaRPr kumimoji="1" lang="zh-CN" altLang="en-US" sz="24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黑体" panose="02010609060101010101" pitchFamily="49" charset="-122"/>
              <a:cs typeface="+mn-cs"/>
            </a:endParaRPr>
          </a:p>
        </p:txBody>
      </p:sp>
      <p:pic>
        <p:nvPicPr>
          <p:cNvPr id="1027" name="Picture 60" descr="04_back_b"/>
          <p:cNvPicPr>
            <a:picLocks noChangeAspect="1"/>
          </p:cNvPicPr>
          <p:nvPr/>
        </p:nvPicPr>
        <p:blipFill>
          <a:blip r:embed="rId14"/>
          <a:stretch>
            <a:fillRect/>
          </a:stretch>
        </p:blipFill>
        <p:spPr>
          <a:xfrm>
            <a:off x="4857750" y="762000"/>
            <a:ext cx="4057650" cy="5834063"/>
          </a:xfrm>
          <a:prstGeom prst="rect">
            <a:avLst/>
          </a:prstGeom>
          <a:noFill/>
          <a:ln w="9525">
            <a:noFill/>
          </a:ln>
        </p:spPr>
      </p:pic>
      <p:sp>
        <p:nvSpPr>
          <p:cNvPr id="1028" name="Rectangle 3"/>
          <p:cNvSpPr>
            <a:spLocks noGrp="1"/>
          </p:cNvSpPr>
          <p:nvPr>
            <p:ph type="body" idx="1"/>
          </p:nvPr>
        </p:nvSpPr>
        <p:spPr>
          <a:xfrm>
            <a:off x="457200" y="1295400"/>
            <a:ext cx="8229600" cy="4933950"/>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30" name="Rectangle 6"/>
          <p:cNvSpPr>
            <a:spLocks noGrp="1" noChangeArrowheads="1"/>
          </p:cNvSpPr>
          <p:nvPr>
            <p:ph type="sldNum" sz="quarter" idx="4"/>
          </p:nvPr>
        </p:nvSpPr>
        <p:spPr bwMode="gray">
          <a:xfrm>
            <a:off x="6659563" y="6308725"/>
            <a:ext cx="2133600" cy="244475"/>
          </a:xfrm>
          <a:prstGeom prst="rect">
            <a:avLst/>
          </a:prstGeom>
          <a:noFill/>
          <a:ln w="9525">
            <a:noFill/>
            <a:miter lim="800000"/>
          </a:ln>
          <a:effectLst/>
        </p:spPr>
        <p:txBody>
          <a:bodyPr vert="horz" wrap="square" lIns="91440" tIns="45720" rIns="91440" bIns="45720" numCol="1" anchor="t" anchorCtr="0" compatLnSpc="1"/>
          <a:lstStyle>
            <a:lvl1pPr>
              <a:defRPr sz="1000">
                <a:solidFill>
                  <a:srgbClr val="000000"/>
                </a:solidFill>
                <a:latin typeface="Verdana" panose="020B0604030504040204" pitchFamily="34" charset="0"/>
                <a:ea typeface="宋体" panose="02010600030101010101" pitchFamily="2" charset="-122"/>
              </a:defRPr>
            </a:lvl1pPr>
          </a:lstStyle>
          <a:p>
            <a:pPr lvl="0" eaLnBrk="1" hangingPunct="1">
              <a:buNone/>
            </a:pPr>
            <a:fld id="{9A0DB2DC-4C9A-4742-B13C-FB6460FD3503}" type="slidenum">
              <a:rPr lang="zh-CN" altLang="en-US" dirty="0"/>
            </a:fld>
            <a:r>
              <a:rPr lang="en-US" altLang="zh-CN" sz="1000" dirty="0">
                <a:solidFill>
                  <a:srgbClr val="000000"/>
                </a:solidFill>
                <a:latin typeface="Verdana" panose="020B0604030504040204" pitchFamily="34" charset="0"/>
                <a:ea typeface="宋体" panose="02010600030101010101" pitchFamily="2" charset="-122"/>
              </a:rPr>
              <a:t>/23</a:t>
            </a:r>
            <a:endParaRPr lang="zh-CN" altLang="en-US" sz="1000" dirty="0">
              <a:solidFill>
                <a:srgbClr val="000000"/>
              </a:solidFill>
              <a:latin typeface="Verdana" panose="020B0604030504040204" pitchFamily="34" charset="0"/>
              <a:ea typeface="宋体" panose="02010600030101010101" pitchFamily="2" charset="-122"/>
            </a:endParaRPr>
          </a:p>
        </p:txBody>
      </p:sp>
      <p:sp>
        <p:nvSpPr>
          <p:cNvPr id="2" name="Rectangle 2"/>
          <p:cNvSpPr>
            <a:spLocks noGrp="1"/>
          </p:cNvSpPr>
          <p:nvPr>
            <p:ph type="title"/>
          </p:nvPr>
        </p:nvSpPr>
        <p:spPr>
          <a:xfrm>
            <a:off x="228600" y="206375"/>
            <a:ext cx="8686800" cy="563563"/>
          </a:xfrm>
          <a:prstGeom prst="rect">
            <a:avLst/>
          </a:prstGeom>
          <a:noFill/>
          <a:ln w="9525">
            <a:noFill/>
          </a:ln>
        </p:spPr>
        <p:txBody>
          <a:bodyPr anchor="ctr" anchorCtr="0"/>
          <a:lstStyle/>
          <a:p>
            <a:pPr lvl="0"/>
            <a:r>
              <a:rPr lang="zh-CN" altLang="en-US" dirty="0"/>
              <a:t>单击此处编辑母版标题样式</a:t>
            </a:r>
            <a:endParaRPr lang="zh-CN" altLang="en-US" dirty="0"/>
          </a:p>
        </p:txBody>
      </p:sp>
      <p:pic>
        <p:nvPicPr>
          <p:cNvPr id="1031" name="Picture 63" descr="04_icon_f"/>
          <p:cNvPicPr>
            <a:picLocks noChangeAspect="1"/>
          </p:cNvPicPr>
          <p:nvPr/>
        </p:nvPicPr>
        <p:blipFill>
          <a:blip r:embed="rId15"/>
          <a:stretch>
            <a:fillRect/>
          </a:stretch>
        </p:blipFill>
        <p:spPr>
          <a:xfrm>
            <a:off x="381000" y="152400"/>
            <a:ext cx="1066800" cy="1066800"/>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rtl="0" eaLnBrk="0" fontAlgn="base" hangingPunct="0">
        <a:spcBef>
          <a:spcPct val="0"/>
        </a:spcBef>
        <a:spcAft>
          <a:spcPct val="0"/>
        </a:spcAft>
        <a:defRPr sz="2800" b="1">
          <a:solidFill>
            <a:schemeClr val="bg1"/>
          </a:solidFill>
          <a:latin typeface="+mj-lt"/>
          <a:ea typeface="+mj-ea"/>
          <a:cs typeface="+mj-cs"/>
        </a:defRPr>
      </a:lvl1pPr>
      <a:lvl2pPr algn="ctr" rtl="0" eaLnBrk="0" fontAlgn="base" hangingPunct="0">
        <a:spcBef>
          <a:spcPct val="0"/>
        </a:spcBef>
        <a:spcAft>
          <a:spcPct val="0"/>
        </a:spcAft>
        <a:defRPr sz="2800" b="1">
          <a:solidFill>
            <a:schemeClr val="bg1"/>
          </a:solidFill>
          <a:latin typeface="Verdana" panose="020B0604030504040204" pitchFamily="34" charset="0"/>
        </a:defRPr>
      </a:lvl2pPr>
      <a:lvl3pPr algn="ctr" rtl="0" eaLnBrk="0" fontAlgn="base" hangingPunct="0">
        <a:spcBef>
          <a:spcPct val="0"/>
        </a:spcBef>
        <a:spcAft>
          <a:spcPct val="0"/>
        </a:spcAft>
        <a:defRPr sz="2800" b="1">
          <a:solidFill>
            <a:schemeClr val="bg1"/>
          </a:solidFill>
          <a:latin typeface="Verdana" panose="020B0604030504040204" pitchFamily="34" charset="0"/>
        </a:defRPr>
      </a:lvl3pPr>
      <a:lvl4pPr algn="ctr" rtl="0" eaLnBrk="0" fontAlgn="base" hangingPunct="0">
        <a:spcBef>
          <a:spcPct val="0"/>
        </a:spcBef>
        <a:spcAft>
          <a:spcPct val="0"/>
        </a:spcAft>
        <a:defRPr sz="2800" b="1">
          <a:solidFill>
            <a:schemeClr val="bg1"/>
          </a:solidFill>
          <a:latin typeface="Verdana" panose="020B0604030504040204" pitchFamily="34" charset="0"/>
        </a:defRPr>
      </a:lvl4pPr>
      <a:lvl5pPr algn="ctr" rtl="0" eaLnBrk="0" fontAlgn="base" hangingPunct="0">
        <a:spcBef>
          <a:spcPct val="0"/>
        </a:spcBef>
        <a:spcAft>
          <a:spcPct val="0"/>
        </a:spcAft>
        <a:defRPr sz="2800" b="1">
          <a:solidFill>
            <a:schemeClr val="bg1"/>
          </a:solidFill>
          <a:latin typeface="Verdana" panose="020B0604030504040204" pitchFamily="34" charset="0"/>
        </a:defRPr>
      </a:lvl5pPr>
      <a:lvl6pPr marL="457200" algn="ctr" rtl="0" fontAlgn="base">
        <a:spcBef>
          <a:spcPct val="0"/>
        </a:spcBef>
        <a:spcAft>
          <a:spcPct val="0"/>
        </a:spcAft>
        <a:defRPr sz="2800" b="1">
          <a:solidFill>
            <a:schemeClr val="bg1"/>
          </a:solidFill>
          <a:latin typeface="Verdana" panose="020B0604030504040204" pitchFamily="34" charset="0"/>
        </a:defRPr>
      </a:lvl6pPr>
      <a:lvl7pPr marL="914400" algn="ctr" rtl="0" fontAlgn="base">
        <a:spcBef>
          <a:spcPct val="0"/>
        </a:spcBef>
        <a:spcAft>
          <a:spcPct val="0"/>
        </a:spcAft>
        <a:defRPr sz="2800" b="1">
          <a:solidFill>
            <a:schemeClr val="bg1"/>
          </a:solidFill>
          <a:latin typeface="Verdana" panose="020B0604030504040204" pitchFamily="34" charset="0"/>
        </a:defRPr>
      </a:lvl7pPr>
      <a:lvl8pPr marL="1371600" algn="ctr" rtl="0" fontAlgn="base">
        <a:spcBef>
          <a:spcPct val="0"/>
        </a:spcBef>
        <a:spcAft>
          <a:spcPct val="0"/>
        </a:spcAft>
        <a:defRPr sz="2800" b="1">
          <a:solidFill>
            <a:schemeClr val="bg1"/>
          </a:solidFill>
          <a:latin typeface="Verdana" panose="020B0604030504040204" pitchFamily="34" charset="0"/>
        </a:defRPr>
      </a:lvl8pPr>
      <a:lvl9pPr marL="1828800" algn="ctr" rtl="0" fontAlgn="base">
        <a:spcBef>
          <a:spcPct val="0"/>
        </a:spcBef>
        <a:spcAft>
          <a:spcPct val="0"/>
        </a:spcAft>
        <a:defRPr sz="2800" b="1">
          <a:solidFill>
            <a:schemeClr val="bg1"/>
          </a:solidFill>
          <a:latin typeface="Verdana" panose="020B0604030504040204" pitchFamily="34" charset="0"/>
        </a:defRPr>
      </a:lvl9pPr>
    </p:titleStyle>
    <p:bodyStyle>
      <a:lvl1pPr marL="342900" indent="-342900" algn="l" rtl="0" eaLnBrk="0" fontAlgn="base" hangingPunct="0">
        <a:spcBef>
          <a:spcPct val="20000"/>
        </a:spcBef>
        <a:spcAft>
          <a:spcPct val="0"/>
        </a:spcAft>
        <a:buClr>
          <a:schemeClr val="accent1"/>
        </a:buClr>
        <a:buFont typeface="Wingdings" panose="05000000000000000000" pitchFamily="2" charset="2"/>
        <a:buChar char="v"/>
        <a:defRPr sz="2800" b="1">
          <a:solidFill>
            <a:schemeClr val="accent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defRPr>
      </a:lvl5pPr>
      <a:lvl6pPr marL="2514600" indent="-228600" algn="l" rtl="0" fontAlgn="base">
        <a:spcBef>
          <a:spcPct val="20000"/>
        </a:spcBef>
        <a:spcAft>
          <a:spcPct val="0"/>
        </a:spcAft>
        <a:buChar char="»"/>
        <a:defRPr sz="2000">
          <a:solidFill>
            <a:schemeClr val="tx1"/>
          </a:solidFill>
          <a:latin typeface="Arial" panose="020B0604020202020204" pitchFamily="34" charset="0"/>
        </a:defRPr>
      </a:lvl6pPr>
      <a:lvl7pPr marL="2971800" indent="-228600" algn="l" rtl="0" fontAlgn="base">
        <a:spcBef>
          <a:spcPct val="20000"/>
        </a:spcBef>
        <a:spcAft>
          <a:spcPct val="0"/>
        </a:spcAft>
        <a:buChar char="»"/>
        <a:defRPr sz="2000">
          <a:solidFill>
            <a:schemeClr val="tx1"/>
          </a:solidFill>
          <a:latin typeface="Arial" panose="020B0604020202020204" pitchFamily="34" charset="0"/>
        </a:defRPr>
      </a:lvl7pPr>
      <a:lvl8pPr marL="3429000" indent="-228600" algn="l" rtl="0" fontAlgn="base">
        <a:spcBef>
          <a:spcPct val="20000"/>
        </a:spcBef>
        <a:spcAft>
          <a:spcPct val="0"/>
        </a:spcAft>
        <a:buChar char="»"/>
        <a:defRPr sz="2000">
          <a:solidFill>
            <a:schemeClr val="tx1"/>
          </a:solidFill>
          <a:latin typeface="Arial" panose="020B0604020202020204" pitchFamily="34" charset="0"/>
        </a:defRPr>
      </a:lvl8pPr>
      <a:lvl9pPr marL="3886200" indent="-228600" algn="l" rtl="0" fontAlgn="base">
        <a:spcBef>
          <a:spcPct val="20000"/>
        </a:spcBef>
        <a:spcAft>
          <a:spcPct val="0"/>
        </a:spcAft>
        <a:buChar char="»"/>
        <a:defRPr sz="2000">
          <a:solidFill>
            <a:schemeClr val="tx1"/>
          </a:solidFill>
          <a:latin typeface="Arial" panose="020B0604020202020204" pitchFamily="3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4"/>
          <p:cNvSpPr>
            <a:spLocks noGrp="1"/>
          </p:cNvSpPr>
          <p:nvPr>
            <p:ph type="ctrTitle"/>
          </p:nvPr>
        </p:nvSpPr>
        <p:spPr>
          <a:xfrm>
            <a:off x="395288" y="1700213"/>
            <a:ext cx="4686300" cy="1727200"/>
          </a:xfrm>
        </p:spPr>
        <p:txBody>
          <a:bodyPr vert="horz" wrap="square" lIns="91440" tIns="45720" rIns="91440" bIns="45720" anchor="ctr" anchorCtr="0"/>
          <a:lstStyle/>
          <a:p>
            <a:pPr algn="ctr" eaLnBrk="1" hangingPunct="1">
              <a:buClrTx/>
              <a:buSzTx/>
              <a:buFontTx/>
            </a:pPr>
            <a:r>
              <a:rPr lang="zh-CN" altLang="en-US" sz="5400" dirty="0">
                <a:latin typeface="黑体" panose="02010609060101010101" pitchFamily="49" charset="-122"/>
                <a:ea typeface="黑体" panose="02010609060101010101" pitchFamily="49" charset="-122"/>
                <a:cs typeface="+mj-cs"/>
              </a:rPr>
              <a:t>软件工程实验</a:t>
            </a:r>
            <a:endParaRPr lang="en-US" altLang="zh-CN" sz="5400" dirty="0">
              <a:latin typeface="黑体" panose="02010609060101010101" pitchFamily="49" charset="-122"/>
              <a:ea typeface="黑体" panose="02010609060101010101" pitchFamily="49" charset="-122"/>
              <a:cs typeface="+mj-cs"/>
            </a:endParaRPr>
          </a:p>
        </p:txBody>
      </p:sp>
      <p:sp>
        <p:nvSpPr>
          <p:cNvPr id="4099" name="Rectangle 7"/>
          <p:cNvSpPr>
            <a:spLocks noGrp="1"/>
          </p:cNvSpPr>
          <p:nvPr>
            <p:ph type="subTitle" idx="1"/>
          </p:nvPr>
        </p:nvSpPr>
        <p:spPr>
          <a:xfrm>
            <a:off x="684213" y="4437063"/>
            <a:ext cx="7031037" cy="1206500"/>
          </a:xfrm>
        </p:spPr>
        <p:txBody>
          <a:bodyPr vert="horz" wrap="square" lIns="91440" tIns="45720" rIns="91440" bIns="45720" anchor="t" anchorCtr="0"/>
          <a:lstStyle/>
          <a:p>
            <a:pPr eaLnBrk="1" hangingPunct="1">
              <a:buSzTx/>
            </a:pPr>
            <a:r>
              <a:rPr lang="zh-CN" altLang="en-US" sz="3200" dirty="0">
                <a:solidFill>
                  <a:srgbClr val="000000"/>
                </a:solidFill>
                <a:latin typeface="+mn-lt"/>
                <a:ea typeface="黑体" panose="02010609060101010101" pitchFamily="49" charset="-122"/>
                <a:cs typeface="+mn-cs"/>
              </a:rPr>
              <a:t>主讲人：段贵多</a:t>
            </a:r>
            <a:endParaRPr lang="zh-CN" altLang="en-US" sz="3200" dirty="0">
              <a:solidFill>
                <a:srgbClr val="000000"/>
              </a:solidFill>
              <a:latin typeface="+mn-lt"/>
              <a:ea typeface="黑体" panose="02010609060101010101" pitchFamily="49" charset="-122"/>
              <a:cs typeface="+mn-cs"/>
            </a:endParaRPr>
          </a:p>
          <a:p>
            <a:pPr eaLnBrk="1" hangingPunct="1">
              <a:buSzTx/>
            </a:pPr>
            <a:r>
              <a:rPr lang="en-US" altLang="zh-CN" sz="3200" dirty="0">
                <a:solidFill>
                  <a:srgbClr val="000000"/>
                </a:solidFill>
                <a:latin typeface="+mn-lt"/>
                <a:ea typeface="宋体" panose="02010600030101010101" pitchFamily="2" charset="-122"/>
                <a:cs typeface="+mn-cs"/>
              </a:rPr>
              <a:t>Email:duanguiduo@163.com</a:t>
            </a:r>
            <a:endParaRPr lang="en-US" altLang="zh-CN" sz="3200" dirty="0">
              <a:solidFill>
                <a:srgbClr val="000000"/>
              </a:solidFill>
              <a:latin typeface="+mn-lt"/>
              <a:ea typeface="宋体" panose="02010600030101010101" pitchFamily="2" charset="-122"/>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1026"/>
          <p:cNvSpPr>
            <a:spLocks noGrp="1"/>
          </p:cNvSpPr>
          <p:nvPr>
            <p:ph type="title"/>
          </p:nvPr>
        </p:nvSpPr>
        <p:spPr/>
        <p:txBody>
          <a:bodyPr vert="horz" wrap="square" lIns="91440" tIns="45720" rIns="91440" bIns="45720" anchor="ctr" anchorCtr="0"/>
          <a:lstStyle/>
          <a:p>
            <a:r>
              <a:rPr lang="zh-CN" altLang="en-US" dirty="0">
                <a:latin typeface="黑体" panose="02010609060101010101" pitchFamily="49" charset="-122"/>
                <a:ea typeface="黑体" panose="02010609060101010101" pitchFamily="49" charset="-122"/>
                <a:cs typeface="+mj-cs"/>
              </a:rPr>
              <a:t>总体目标</a:t>
            </a:r>
            <a:endParaRPr lang="zh-CN" altLang="en-US" dirty="0">
              <a:latin typeface="黑体" panose="02010609060101010101" pitchFamily="49" charset="-122"/>
              <a:ea typeface="黑体" panose="02010609060101010101" pitchFamily="49" charset="-122"/>
              <a:cs typeface="+mj-cs"/>
            </a:endParaRPr>
          </a:p>
        </p:txBody>
      </p:sp>
      <p:sp>
        <p:nvSpPr>
          <p:cNvPr id="6147" name="Rectangle 1027"/>
          <p:cNvSpPr>
            <a:spLocks noGrp="1"/>
          </p:cNvSpPr>
          <p:nvPr>
            <p:ph idx="1"/>
          </p:nvPr>
        </p:nvSpPr>
        <p:spPr/>
        <p:txBody>
          <a:bodyPr vert="horz" wrap="square" lIns="91440" tIns="45720" rIns="91440" bIns="45720" anchor="t" anchorCtr="0"/>
          <a:lstStyle/>
          <a:p>
            <a:r>
              <a:rPr lang="zh-CN" altLang="en-US" sz="2400" dirty="0">
                <a:solidFill>
                  <a:srgbClr val="00264D"/>
                </a:solidFill>
                <a:latin typeface="+mn-lt"/>
                <a:ea typeface="宋体" panose="02010600030101010101" pitchFamily="2" charset="-122"/>
                <a:cs typeface="+mn-cs"/>
              </a:rPr>
              <a:t>通过实验教学环节，对学生进行实践技能和科学研究方法的训练</a:t>
            </a:r>
            <a:endParaRPr lang="en-US" altLang="zh-CN" sz="2400" dirty="0">
              <a:solidFill>
                <a:srgbClr val="00264D"/>
              </a:solidFill>
              <a:latin typeface="+mn-lt"/>
              <a:ea typeface="宋体" panose="02010600030101010101" pitchFamily="2" charset="-122"/>
              <a:cs typeface="+mn-cs"/>
            </a:endParaRPr>
          </a:p>
          <a:p>
            <a:r>
              <a:rPr lang="zh-CN" altLang="en-US" sz="2400" dirty="0">
                <a:solidFill>
                  <a:srgbClr val="00264D"/>
                </a:solidFill>
                <a:latin typeface="+mn-lt"/>
                <a:ea typeface="宋体" panose="02010600030101010101" pitchFamily="2" charset="-122"/>
                <a:cs typeface="+mn-cs"/>
              </a:rPr>
              <a:t>巩固其在课堂上所学书本知识，加深对软件工程的基本概念、基本原理和分析方法的理解</a:t>
            </a:r>
            <a:endParaRPr lang="en-US" altLang="zh-CN" sz="2400" dirty="0">
              <a:solidFill>
                <a:srgbClr val="00264D"/>
              </a:solidFill>
              <a:latin typeface="+mn-lt"/>
              <a:ea typeface="宋体" panose="02010600030101010101" pitchFamily="2" charset="-122"/>
              <a:cs typeface="+mn-cs"/>
            </a:endParaRPr>
          </a:p>
          <a:p>
            <a:r>
              <a:rPr lang="zh-CN" altLang="en-US" sz="2400" dirty="0">
                <a:solidFill>
                  <a:srgbClr val="00264D"/>
                </a:solidFill>
                <a:latin typeface="+mn-lt"/>
                <a:ea typeface="宋体" panose="02010600030101010101" pitchFamily="2" charset="-122"/>
                <a:cs typeface="+mn-cs"/>
              </a:rPr>
              <a:t>掌握软件工程的核心基础技术与工具，并能运用典型的软件工程工具处理、解决一些实际问题。</a:t>
            </a:r>
            <a:endParaRPr lang="en-US" altLang="zh-CN" sz="2400" dirty="0">
              <a:solidFill>
                <a:srgbClr val="00264D"/>
              </a:solidFill>
              <a:latin typeface="+mn-lt"/>
              <a:ea typeface="宋体" panose="02010600030101010101" pitchFamily="2" charset="-122"/>
              <a:cs typeface="+mn-cs"/>
            </a:endParaRPr>
          </a:p>
          <a:p>
            <a:r>
              <a:rPr lang="zh-CN" altLang="en-US" sz="2400" dirty="0">
                <a:solidFill>
                  <a:srgbClr val="00264D"/>
                </a:solidFill>
                <a:latin typeface="+mn-lt"/>
                <a:ea typeface="宋体" panose="02010600030101010101" pitchFamily="2" charset="-122"/>
                <a:cs typeface="+mn-cs"/>
              </a:rPr>
              <a:t>同时，拓宽学生的知识领域，锻炼学生的实践技能，培养科学严谨、求真务实的工作作风。</a:t>
            </a:r>
            <a:endParaRPr lang="zh-CN" altLang="en-US" sz="2400" dirty="0">
              <a:solidFill>
                <a:srgbClr val="00264D"/>
              </a:solidFill>
              <a:latin typeface="+mn-lt"/>
              <a:ea typeface="宋体" panose="02010600030101010101" pitchFamily="2" charset="-122"/>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p:cNvSpPr>
          <p:nvPr>
            <p:ph type="title"/>
          </p:nvPr>
        </p:nvSpPr>
        <p:spPr/>
        <p:txBody>
          <a:bodyPr vert="horz" wrap="square" lIns="91440" tIns="45720" rIns="91440" bIns="45720" anchor="ctr" anchorCtr="0"/>
          <a:lstStyle/>
          <a:p>
            <a:r>
              <a:rPr lang="zh-CN" altLang="en-US" dirty="0">
                <a:latin typeface="+mj-lt"/>
                <a:ea typeface="黑体" panose="02010609060101010101" pitchFamily="49" charset="-122"/>
                <a:cs typeface="+mj-cs"/>
              </a:rPr>
              <a:t>基本要求</a:t>
            </a:r>
            <a:endParaRPr lang="zh-CN" altLang="en-US" dirty="0">
              <a:latin typeface="+mj-lt"/>
              <a:ea typeface="黑体" panose="02010609060101010101" pitchFamily="49" charset="-122"/>
              <a:cs typeface="+mj-cs"/>
            </a:endParaRPr>
          </a:p>
        </p:txBody>
      </p:sp>
      <p:sp>
        <p:nvSpPr>
          <p:cNvPr id="7171" name="内容占位符 2"/>
          <p:cNvSpPr>
            <a:spLocks noGrp="1"/>
          </p:cNvSpPr>
          <p:nvPr>
            <p:ph idx="1"/>
          </p:nvPr>
        </p:nvSpPr>
        <p:spPr>
          <a:xfrm>
            <a:off x="457200" y="1096010"/>
            <a:ext cx="8234045" cy="5133340"/>
          </a:xfrm>
        </p:spPr>
        <p:txBody>
          <a:bodyPr vert="horz" wrap="square" lIns="91440" tIns="45720" rIns="91440" bIns="45720" anchor="t" anchorCtr="0"/>
          <a:lstStyle/>
          <a:p>
            <a:r>
              <a:rPr lang="zh-CN" altLang="en-US" sz="2400" dirty="0">
                <a:solidFill>
                  <a:srgbClr val="00264D"/>
                </a:solidFill>
                <a:ea typeface="宋体" panose="02010600030101010101" pitchFamily="2" charset="-122"/>
              </a:rPr>
              <a:t>独立熟练掌握相应的集成开发环境并开展设计，文档管理测试等主要工作。</a:t>
            </a:r>
            <a:endParaRPr lang="zh-CN" altLang="en-US" sz="2400" dirty="0">
              <a:solidFill>
                <a:srgbClr val="00264D"/>
              </a:solidFill>
              <a:ea typeface="宋体" panose="02010600030101010101" pitchFamily="2" charset="-122"/>
            </a:endParaRPr>
          </a:p>
          <a:p>
            <a:r>
              <a:rPr lang="zh-CN" altLang="en-US" sz="2400" dirty="0">
                <a:solidFill>
                  <a:srgbClr val="00264D"/>
                </a:solidFill>
                <a:ea typeface="宋体" panose="02010600030101010101" pitchFamily="2" charset="-122"/>
              </a:rPr>
              <a:t>熟悉基本的编程和调试技巧。</a:t>
            </a:r>
            <a:endParaRPr lang="en-US" altLang="zh-CN" sz="2400" dirty="0">
              <a:solidFill>
                <a:srgbClr val="00264D"/>
              </a:solidFill>
              <a:ea typeface="宋体" panose="02010600030101010101" pitchFamily="2" charset="-122"/>
            </a:endParaRPr>
          </a:p>
          <a:p>
            <a:r>
              <a:rPr lang="zh-CN" altLang="en-US" sz="2400" dirty="0">
                <a:solidFill>
                  <a:srgbClr val="00264D"/>
                </a:solidFill>
                <a:ea typeface="宋体" panose="02010600030101010101" pitchFamily="2" charset="-122"/>
              </a:rPr>
              <a:t>熟悉软件体系结构的建立，分模块编程，网页制作和数据库应用相结合的编程模式。</a:t>
            </a:r>
            <a:endParaRPr lang="en-US" altLang="zh-CN" sz="2400" dirty="0">
              <a:solidFill>
                <a:srgbClr val="00264D"/>
              </a:solidFill>
              <a:ea typeface="宋体" panose="02010600030101010101" pitchFamily="2" charset="-122"/>
            </a:endParaRPr>
          </a:p>
          <a:p>
            <a:r>
              <a:rPr lang="zh-CN" altLang="en-US" sz="2400" dirty="0">
                <a:solidFill>
                  <a:srgbClr val="00264D"/>
                </a:solidFill>
                <a:ea typeface="宋体" panose="02010600030101010101" pitchFamily="2" charset="-122"/>
              </a:rPr>
              <a:t>禁止直接使用现成代码：所有实验需基于自主设计、编码和调试，禁止直接下载或复制网上完整代码运行。若参考开源代码，需在实验报告中明确标注来源，并说明对代码的修改、优化或创新点</a:t>
            </a:r>
            <a:endParaRPr lang="en-US" altLang="zh-CN" sz="2400" dirty="0">
              <a:solidFill>
                <a:srgbClr val="00264D"/>
              </a:solidFill>
              <a:ea typeface="宋体" panose="02010600030101010101" pitchFamily="2" charset="-122"/>
            </a:endParaRPr>
          </a:p>
          <a:p>
            <a:r>
              <a:rPr lang="zh-CN" altLang="en-US" sz="2400" dirty="0">
                <a:solidFill>
                  <a:srgbClr val="00264D"/>
                </a:solidFill>
                <a:ea typeface="宋体" panose="02010600030101010101" pitchFamily="2" charset="-122"/>
              </a:rPr>
              <a:t>工作量证明：需提交代码开发过程中的关键记录（如版本控制日志、调试记录、测试用例设计）</a:t>
            </a:r>
            <a:endParaRPr lang="zh-CN" altLang="en-US" sz="2400" dirty="0">
              <a:solidFill>
                <a:srgbClr val="00264D"/>
              </a:solidFill>
              <a:ea typeface="宋体" panose="02010600030101010101" pitchFamily="2" charset="-122"/>
            </a:endParaRPr>
          </a:p>
          <a:p>
            <a:endParaRPr lang="zh-CN" altLang="en-US" dirty="0">
              <a:solidFill>
                <a:srgbClr val="0A85FF"/>
              </a:solidFill>
              <a:latin typeface="+mn-lt"/>
              <a:ea typeface="宋体" panose="02010600030101010101" pitchFamily="2" charset="-122"/>
              <a:cs typeface="+mn-cs"/>
            </a:endParaRPr>
          </a:p>
          <a:p>
            <a:endParaRPr lang="zh-CN" altLang="en-US" dirty="0">
              <a:solidFill>
                <a:srgbClr val="0A85FF"/>
              </a:solidFill>
              <a:latin typeface="+mn-lt"/>
              <a:ea typeface="宋体" panose="02010600030101010101" pitchFamily="2" charset="-122"/>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考核</a:t>
            </a:r>
            <a:r>
              <a:rPr lang="zh-CN" altLang="en-US"/>
              <a:t>方式</a:t>
            </a:r>
            <a:endParaRPr lang="zh-CN" altLang="en-US"/>
          </a:p>
        </p:txBody>
      </p:sp>
      <p:sp>
        <p:nvSpPr>
          <p:cNvPr id="3" name="内容占位符 2"/>
          <p:cNvSpPr>
            <a:spLocks noGrp="1"/>
          </p:cNvSpPr>
          <p:nvPr>
            <p:ph idx="1"/>
          </p:nvPr>
        </p:nvSpPr>
        <p:spPr/>
        <p:txBody>
          <a:bodyPr/>
          <a:p>
            <a:pPr marL="342900" lvl="1" indent="-342900" algn="l">
              <a:buSzTx/>
              <a:buChar char="v"/>
            </a:pPr>
            <a:r>
              <a:rPr lang="zh-CN" altLang="en-US" sz="2400" dirty="0">
                <a:solidFill>
                  <a:srgbClr val="00264D"/>
                </a:solidFill>
                <a:latin typeface="+mn-lt"/>
                <a:ea typeface="宋体" panose="02010600030101010101" pitchFamily="2" charset="-122"/>
                <a:cs typeface="+mn-cs"/>
                <a:sym typeface="+mn-ea"/>
              </a:rPr>
              <a:t>考核方式：项目演示（50%）+实验报告（50%）</a:t>
            </a:r>
            <a:endParaRPr lang="zh-CN" altLang="en-US" sz="2400" dirty="0">
              <a:solidFill>
                <a:srgbClr val="00264D"/>
              </a:solidFill>
              <a:latin typeface="+mn-lt"/>
              <a:ea typeface="宋体" panose="02010600030101010101" pitchFamily="2" charset="-122"/>
              <a:cs typeface="+mn-cs"/>
            </a:endParaRPr>
          </a:p>
          <a:p>
            <a:pPr marL="342900" lvl="1" indent="-342900" algn="l">
              <a:buSzTx/>
              <a:buChar char="v"/>
            </a:pPr>
            <a:endParaRPr lang="zh-CN" altLang="en-US" sz="2400" dirty="0">
              <a:solidFill>
                <a:srgbClr val="00264D"/>
              </a:solidFill>
              <a:latin typeface="+mn-lt"/>
              <a:ea typeface="宋体" panose="02010600030101010101" pitchFamily="2" charset="-122"/>
              <a:cs typeface="+mn-cs"/>
            </a:endParaRPr>
          </a:p>
          <a:p>
            <a:pPr marL="342900" lvl="1" indent="-342900" algn="l">
              <a:buSzTx/>
              <a:buChar char="v"/>
            </a:pPr>
            <a:r>
              <a:rPr lang="zh-CN" altLang="en-US" sz="2400" dirty="0">
                <a:solidFill>
                  <a:srgbClr val="00264D"/>
                </a:solidFill>
                <a:latin typeface="+mn-lt"/>
                <a:ea typeface="宋体" panose="02010600030101010101" pitchFamily="2" charset="-122"/>
                <a:cs typeface="+mn-cs"/>
                <a:sym typeface="+mn-ea"/>
              </a:rPr>
              <a:t>项目演示时间：12月</a:t>
            </a:r>
            <a:r>
              <a:rPr lang="zh-CN" altLang="en-US" sz="2400" dirty="0">
                <a:solidFill>
                  <a:srgbClr val="00264D"/>
                </a:solidFill>
                <a:latin typeface="+mn-lt"/>
                <a:ea typeface="宋体" panose="02010600030101010101" pitchFamily="2" charset="-122"/>
                <a:cs typeface="+mn-cs"/>
                <a:sym typeface="+mn-ea"/>
              </a:rPr>
              <a:t>下旬，具体时间待定。</a:t>
            </a:r>
            <a:endParaRPr lang="zh-CN" altLang="en-US" sz="2400" dirty="0">
              <a:solidFill>
                <a:srgbClr val="00264D"/>
              </a:solidFill>
              <a:latin typeface="+mn-lt"/>
              <a:ea typeface="宋体" panose="02010600030101010101" pitchFamily="2" charset="-122"/>
              <a:cs typeface="+mn-cs"/>
            </a:endParaRPr>
          </a:p>
          <a:p>
            <a:pPr marL="342900" lvl="1" indent="-342900" algn="l">
              <a:buSzTx/>
              <a:buChar char="v"/>
            </a:pPr>
            <a:endParaRPr lang="zh-CN" altLang="en-US" sz="2400" dirty="0">
              <a:solidFill>
                <a:srgbClr val="00264D"/>
              </a:solidFill>
              <a:latin typeface="+mn-lt"/>
              <a:ea typeface="宋体" panose="02010600030101010101" pitchFamily="2" charset="-122"/>
              <a:cs typeface="+mn-cs"/>
            </a:endParaRPr>
          </a:p>
          <a:p>
            <a:pPr marL="342900" lvl="1" indent="-342900" algn="l">
              <a:buSzTx/>
              <a:buChar char="v"/>
            </a:pPr>
            <a:r>
              <a:rPr lang="zh-CN" altLang="en-US" sz="2400" dirty="0">
                <a:solidFill>
                  <a:srgbClr val="00264D"/>
                </a:solidFill>
                <a:latin typeface="+mn-lt"/>
                <a:ea typeface="宋体" panose="02010600030101010101" pitchFamily="2" charset="-122"/>
                <a:cs typeface="+mn-cs"/>
                <a:sym typeface="+mn-ea"/>
              </a:rPr>
              <a:t>提交内容：</a:t>
            </a:r>
            <a:endParaRPr lang="zh-CN" altLang="en-US" sz="2400" dirty="0">
              <a:solidFill>
                <a:srgbClr val="00264D"/>
              </a:solidFill>
              <a:latin typeface="+mn-lt"/>
              <a:ea typeface="宋体" panose="02010600030101010101" pitchFamily="2" charset="-122"/>
              <a:cs typeface="+mn-cs"/>
            </a:endParaRPr>
          </a:p>
          <a:p>
            <a:pPr marL="342900" lvl="1" indent="-342900" algn="l">
              <a:lnSpc>
                <a:spcPct val="100000"/>
              </a:lnSpc>
              <a:buSzTx/>
              <a:buChar char="v"/>
            </a:pPr>
            <a:r>
              <a:rPr lang="zh-CN" altLang="en-US" sz="2400" dirty="0">
                <a:solidFill>
                  <a:srgbClr val="00264D"/>
                </a:solidFill>
                <a:latin typeface="+mn-lt"/>
                <a:ea typeface="宋体" panose="02010600030101010101" pitchFamily="2" charset="-122"/>
                <a:cs typeface="+mn-cs"/>
                <a:sym typeface="+mn-ea"/>
              </a:rPr>
              <a:t>1.</a:t>
            </a:r>
            <a:r>
              <a:rPr lang="en-US" altLang="zh-CN" sz="2400" dirty="0">
                <a:solidFill>
                  <a:srgbClr val="00264D"/>
                </a:solidFill>
                <a:latin typeface="+mn-lt"/>
                <a:ea typeface="宋体" panose="02010600030101010101" pitchFamily="2" charset="-122"/>
                <a:cs typeface="+mn-cs"/>
                <a:sym typeface="+mn-ea"/>
              </a:rPr>
              <a:t> </a:t>
            </a:r>
            <a:r>
              <a:rPr lang="zh-CN" altLang="en-US" sz="2400" dirty="0">
                <a:solidFill>
                  <a:srgbClr val="00264D"/>
                </a:solidFill>
                <a:latin typeface="+mn-lt"/>
                <a:ea typeface="宋体" panose="02010600030101010101" pitchFamily="2" charset="-122"/>
                <a:cs typeface="+mn-cs"/>
                <a:sym typeface="+mn-ea"/>
              </a:rPr>
              <a:t>4份文档（需求、概要设计、详细设计、测试）</a:t>
            </a:r>
            <a:endParaRPr lang="zh-CN" altLang="en-US" sz="2400" dirty="0">
              <a:solidFill>
                <a:srgbClr val="00264D"/>
              </a:solidFill>
              <a:latin typeface="+mn-lt"/>
              <a:ea typeface="宋体" panose="02010600030101010101" pitchFamily="2" charset="-122"/>
              <a:cs typeface="+mn-cs"/>
            </a:endParaRPr>
          </a:p>
          <a:p>
            <a:pPr marL="342900" lvl="1" indent="-342900" algn="l">
              <a:lnSpc>
                <a:spcPct val="100000"/>
              </a:lnSpc>
              <a:buSzTx/>
              <a:buChar char="v"/>
            </a:pPr>
            <a:r>
              <a:rPr lang="zh-CN" altLang="en-US" sz="2400" dirty="0">
                <a:solidFill>
                  <a:srgbClr val="00264D"/>
                </a:solidFill>
                <a:latin typeface="+mn-lt"/>
                <a:ea typeface="宋体" panose="02010600030101010101" pitchFamily="2" charset="-122"/>
                <a:cs typeface="+mn-cs"/>
                <a:sym typeface="+mn-ea"/>
              </a:rPr>
              <a:t>2.</a:t>
            </a:r>
            <a:r>
              <a:rPr lang="en-US" altLang="zh-CN" sz="2400" dirty="0">
                <a:solidFill>
                  <a:srgbClr val="00264D"/>
                </a:solidFill>
                <a:latin typeface="+mn-lt"/>
                <a:ea typeface="宋体" panose="02010600030101010101" pitchFamily="2" charset="-122"/>
                <a:cs typeface="+mn-cs"/>
                <a:sym typeface="+mn-ea"/>
              </a:rPr>
              <a:t> </a:t>
            </a:r>
            <a:r>
              <a:rPr lang="zh-CN" altLang="en-US" sz="2400" dirty="0">
                <a:solidFill>
                  <a:srgbClr val="00264D"/>
                </a:solidFill>
                <a:latin typeface="+mn-lt"/>
                <a:ea typeface="宋体" panose="02010600030101010101" pitchFamily="2" charset="-122"/>
                <a:cs typeface="+mn-cs"/>
                <a:sym typeface="+mn-ea"/>
              </a:rPr>
              <a:t>源代码及构建脚本</a:t>
            </a:r>
            <a:endParaRPr lang="zh-CN" altLang="en-US" sz="2400" dirty="0">
              <a:solidFill>
                <a:srgbClr val="00264D"/>
              </a:solidFill>
              <a:latin typeface="+mn-lt"/>
              <a:ea typeface="宋体" panose="02010600030101010101" pitchFamily="2" charset="-122"/>
              <a:cs typeface="+mn-cs"/>
            </a:endParaRPr>
          </a:p>
          <a:p>
            <a:pPr marL="342900" lvl="1" indent="-342900" algn="l">
              <a:lnSpc>
                <a:spcPct val="100000"/>
              </a:lnSpc>
              <a:buSzTx/>
              <a:buChar char="v"/>
            </a:pPr>
            <a:r>
              <a:rPr lang="zh-CN" altLang="en-US" sz="2400" dirty="0">
                <a:solidFill>
                  <a:srgbClr val="00264D"/>
                </a:solidFill>
                <a:latin typeface="+mn-lt"/>
                <a:ea typeface="宋体" panose="02010600030101010101" pitchFamily="2" charset="-122"/>
                <a:cs typeface="+mn-cs"/>
                <a:sym typeface="+mn-ea"/>
              </a:rPr>
              <a:t>3.</a:t>
            </a:r>
            <a:r>
              <a:rPr lang="en-US" altLang="zh-CN" sz="2400" dirty="0">
                <a:solidFill>
                  <a:srgbClr val="00264D"/>
                </a:solidFill>
                <a:latin typeface="+mn-lt"/>
                <a:ea typeface="宋体" panose="02010600030101010101" pitchFamily="2" charset="-122"/>
                <a:cs typeface="+mn-cs"/>
                <a:sym typeface="+mn-ea"/>
              </a:rPr>
              <a:t> </a:t>
            </a:r>
            <a:r>
              <a:rPr lang="zh-CN" altLang="en-US" sz="2400" dirty="0">
                <a:solidFill>
                  <a:srgbClr val="00264D"/>
                </a:solidFill>
                <a:latin typeface="+mn-lt"/>
                <a:ea typeface="宋体" panose="02010600030101010101" pitchFamily="2" charset="-122"/>
                <a:cs typeface="+mn-cs"/>
                <a:sym typeface="+mn-ea"/>
              </a:rPr>
              <a:t>演示视频（2min之内）</a:t>
            </a:r>
            <a:endParaRPr lang="zh-CN" altLang="en-US" sz="2400" dirty="0">
              <a:solidFill>
                <a:srgbClr val="00264D"/>
              </a:solidFill>
              <a:latin typeface="+mn-lt"/>
              <a:ea typeface="宋体" panose="02010600030101010101" pitchFamily="2" charset="-122"/>
              <a:cs typeface="+mn-cs"/>
            </a:endParaRPr>
          </a:p>
          <a:p>
            <a:pPr marL="342900" lvl="1" indent="-342900" algn="l">
              <a:lnSpc>
                <a:spcPct val="100000"/>
              </a:lnSpc>
              <a:buSzTx/>
              <a:buChar char="v"/>
            </a:pPr>
            <a:r>
              <a:rPr lang="zh-CN" altLang="en-US" sz="2400" dirty="0">
                <a:solidFill>
                  <a:srgbClr val="00264D"/>
                </a:solidFill>
                <a:latin typeface="+mn-lt"/>
                <a:ea typeface="宋体" panose="02010600030101010101" pitchFamily="2" charset="-122"/>
                <a:cs typeface="+mn-cs"/>
                <a:sym typeface="+mn-ea"/>
              </a:rPr>
              <a:t>4.</a:t>
            </a:r>
            <a:r>
              <a:rPr lang="en-US" altLang="zh-CN" sz="2400" dirty="0">
                <a:solidFill>
                  <a:srgbClr val="00264D"/>
                </a:solidFill>
                <a:latin typeface="+mn-lt"/>
                <a:ea typeface="宋体" panose="02010600030101010101" pitchFamily="2" charset="-122"/>
                <a:cs typeface="+mn-cs"/>
                <a:sym typeface="+mn-ea"/>
              </a:rPr>
              <a:t> </a:t>
            </a:r>
            <a:r>
              <a:rPr lang="zh-CN" altLang="en-US" sz="2400" dirty="0">
                <a:solidFill>
                  <a:srgbClr val="00264D"/>
                </a:solidFill>
                <a:latin typeface="+mn-lt"/>
                <a:ea typeface="宋体" panose="02010600030101010101" pitchFamily="2" charset="-122"/>
                <a:cs typeface="+mn-cs"/>
                <a:sym typeface="+mn-ea"/>
              </a:rPr>
              <a:t>演示PPT</a:t>
            </a:r>
            <a:endParaRPr lang="zh-CN" altLang="en-US" sz="2400" dirty="0">
              <a:solidFill>
                <a:srgbClr val="00264D"/>
              </a:solidFill>
              <a:latin typeface="+mn-lt"/>
              <a:ea typeface="宋体" panose="02010600030101010101" pitchFamily="2" charset="-122"/>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p:txBody>
          <a:bodyPr vert="horz" wrap="square" lIns="91440" tIns="45720" rIns="91440" bIns="45720" anchor="ctr" anchorCtr="0"/>
          <a:lstStyle/>
          <a:p>
            <a:r>
              <a:rPr lang="zh-CN" altLang="en-US" dirty="0">
                <a:latin typeface="+mj-lt"/>
                <a:ea typeface="黑体" panose="02010609060101010101" pitchFamily="49" charset="-122"/>
                <a:cs typeface="+mj-cs"/>
              </a:rPr>
              <a:t>实验基本概况</a:t>
            </a:r>
            <a:endParaRPr lang="zh-CN" altLang="en-US" dirty="0">
              <a:latin typeface="+mj-lt"/>
              <a:ea typeface="黑体" panose="02010609060101010101" pitchFamily="49" charset="-122"/>
              <a:cs typeface="+mj-cs"/>
            </a:endParaRPr>
          </a:p>
        </p:txBody>
      </p:sp>
      <p:sp>
        <p:nvSpPr>
          <p:cNvPr id="8195" name="内容占位符 2"/>
          <p:cNvSpPr>
            <a:spLocks noGrp="1"/>
          </p:cNvSpPr>
          <p:nvPr>
            <p:ph idx="1"/>
          </p:nvPr>
        </p:nvSpPr>
        <p:spPr>
          <a:xfrm>
            <a:off x="300990" y="1000125"/>
            <a:ext cx="8546465" cy="4933950"/>
          </a:xfrm>
        </p:spPr>
        <p:txBody>
          <a:bodyPr vert="horz" wrap="square" lIns="91440" tIns="45720" rIns="91440" bIns="45720" anchor="t" anchorCtr="0"/>
          <a:lstStyle/>
          <a:p>
            <a:r>
              <a:rPr lang="zh-CN" altLang="en-US" dirty="0">
                <a:solidFill>
                  <a:srgbClr val="0A85FF"/>
                </a:solidFill>
                <a:ea typeface="宋体" panose="02010600030101010101" pitchFamily="2" charset="-122"/>
              </a:rPr>
              <a:t>软件工程实验要求学生采用“ 项目小组”的形式， 结合具体的开发项目进行设计。具体要求如下：</a:t>
            </a:r>
            <a:endParaRPr lang="zh-CN" altLang="en-US" dirty="0">
              <a:solidFill>
                <a:srgbClr val="0A85FF"/>
              </a:solidFill>
              <a:ea typeface="宋体" panose="02010600030101010101" pitchFamily="2" charset="-122"/>
            </a:endParaRPr>
          </a:p>
          <a:p>
            <a:pPr marL="342900" lvl="1" indent="-342900">
              <a:buFont typeface="Wingdings" panose="05000000000000000000" pitchFamily="2" charset="2"/>
              <a:buChar char="v"/>
            </a:pPr>
            <a:r>
              <a:rPr lang="en-US" altLang="zh-CN" sz="2400" dirty="0">
                <a:solidFill>
                  <a:srgbClr val="00264D"/>
                </a:solidFill>
                <a:latin typeface="+mn-lt"/>
                <a:ea typeface="宋体" panose="02010600030101010101" pitchFamily="2" charset="-122"/>
                <a:cs typeface="+mn-cs"/>
              </a:rPr>
              <a:t>1. </a:t>
            </a:r>
            <a:r>
              <a:rPr lang="zh-CN" altLang="en-US" sz="2400" dirty="0">
                <a:solidFill>
                  <a:srgbClr val="00264D"/>
                </a:solidFill>
                <a:latin typeface="+mn-lt"/>
                <a:ea typeface="宋体" panose="02010600030101010101" pitchFamily="2" charset="-122"/>
                <a:cs typeface="+mn-cs"/>
              </a:rPr>
              <a:t>班级按项目小组进行分组， 每组不超过</a:t>
            </a:r>
            <a:r>
              <a:rPr lang="en-US" altLang="zh-CN" sz="2400" dirty="0">
                <a:solidFill>
                  <a:srgbClr val="00264D"/>
                </a:solidFill>
                <a:latin typeface="+mn-lt"/>
                <a:ea typeface="宋体" panose="02010600030101010101" pitchFamily="2" charset="-122"/>
                <a:cs typeface="+mn-cs"/>
              </a:rPr>
              <a:t>6</a:t>
            </a:r>
            <a:r>
              <a:rPr lang="zh-CN" altLang="en-US" sz="2400" dirty="0">
                <a:solidFill>
                  <a:srgbClr val="00264D"/>
                </a:solidFill>
                <a:latin typeface="+mn-lt"/>
                <a:ea typeface="宋体" panose="02010600030101010101" pitchFamily="2" charset="-122"/>
                <a:cs typeface="+mn-cs"/>
              </a:rPr>
              <a:t>人。</a:t>
            </a:r>
            <a:endParaRPr lang="zh-CN" altLang="en-US" sz="2400" dirty="0">
              <a:solidFill>
                <a:srgbClr val="00264D"/>
              </a:solidFill>
              <a:latin typeface="+mn-lt"/>
              <a:ea typeface="宋体" panose="02010600030101010101" pitchFamily="2" charset="-122"/>
              <a:cs typeface="+mn-cs"/>
            </a:endParaRPr>
          </a:p>
          <a:p>
            <a:pPr marL="342900" lvl="1" indent="-342900">
              <a:buFont typeface="Wingdings" panose="05000000000000000000" pitchFamily="2" charset="2"/>
              <a:buChar char="v"/>
            </a:pPr>
            <a:r>
              <a:rPr lang="en-US" altLang="zh-CN" sz="2400" dirty="0">
                <a:solidFill>
                  <a:srgbClr val="00264D"/>
                </a:solidFill>
                <a:latin typeface="+mn-lt"/>
                <a:ea typeface="宋体" panose="02010600030101010101" pitchFamily="2" charset="-122"/>
                <a:cs typeface="+mn-cs"/>
              </a:rPr>
              <a:t>2. </a:t>
            </a:r>
            <a:r>
              <a:rPr lang="zh-CN" altLang="en-US" sz="2400" dirty="0">
                <a:solidFill>
                  <a:srgbClr val="00264D"/>
                </a:solidFill>
                <a:latin typeface="+mn-lt"/>
                <a:ea typeface="宋体" panose="02010600030101010101" pitchFamily="2" charset="-122"/>
                <a:cs typeface="+mn-cs"/>
              </a:rPr>
              <a:t>每个项目小组要分配不同的工作角色：项目总监、项目经理、技术经理、配置管理员、数据库管理员、软件工程师</a:t>
            </a:r>
            <a:r>
              <a:rPr lang="zh-CN" altLang="en-US" sz="2400" dirty="0">
                <a:solidFill>
                  <a:srgbClr val="00264D"/>
                </a:solidFill>
                <a:latin typeface="+mn-lt"/>
                <a:ea typeface="宋体" panose="02010600030101010101" pitchFamily="2" charset="-122"/>
                <a:cs typeface="+mn-cs"/>
              </a:rPr>
              <a:t>和测试工程师。</a:t>
            </a:r>
            <a:endParaRPr lang="zh-CN" altLang="en-US" sz="2400" dirty="0">
              <a:solidFill>
                <a:srgbClr val="00264D"/>
              </a:solidFill>
              <a:latin typeface="+mn-lt"/>
              <a:ea typeface="宋体" panose="02010600030101010101" pitchFamily="2" charset="-122"/>
              <a:cs typeface="+mn-cs"/>
            </a:endParaRPr>
          </a:p>
          <a:p>
            <a:pPr marL="342900" lvl="1" indent="-342900">
              <a:buFont typeface="Wingdings" panose="05000000000000000000" pitchFamily="2" charset="2"/>
              <a:buChar char="v"/>
            </a:pPr>
            <a:r>
              <a:rPr lang="en-US" altLang="zh-CN" sz="2400" dirty="0">
                <a:solidFill>
                  <a:srgbClr val="00264D"/>
                </a:solidFill>
                <a:latin typeface="+mn-lt"/>
                <a:ea typeface="宋体" panose="02010600030101010101" pitchFamily="2" charset="-122"/>
                <a:cs typeface="+mn-cs"/>
              </a:rPr>
              <a:t>3. </a:t>
            </a:r>
            <a:r>
              <a:rPr lang="zh-CN" altLang="en-US" sz="2400" dirty="0">
                <a:solidFill>
                  <a:srgbClr val="00264D"/>
                </a:solidFill>
                <a:latin typeface="+mn-lt"/>
                <a:ea typeface="宋体" panose="02010600030101010101" pitchFamily="2" charset="-122"/>
                <a:cs typeface="+mn-cs"/>
              </a:rPr>
              <a:t>选出项目负责人或项目经理，由项目经理召集项目组成员讨论、选定开发项目。</a:t>
            </a:r>
            <a:endParaRPr lang="en-US" altLang="zh-CN" sz="2400" dirty="0">
              <a:solidFill>
                <a:srgbClr val="00264D"/>
              </a:solidFill>
              <a:latin typeface="+mn-lt"/>
              <a:ea typeface="宋体" panose="02010600030101010101" pitchFamily="2" charset="-122"/>
              <a:cs typeface="+mn-cs"/>
            </a:endParaRPr>
          </a:p>
          <a:p>
            <a:pPr marL="342900" lvl="1" indent="-342900">
              <a:buFont typeface="Wingdings" panose="05000000000000000000" pitchFamily="2" charset="2"/>
              <a:buChar char="v"/>
            </a:pPr>
            <a:r>
              <a:rPr lang="en-US" altLang="zh-CN" sz="2400" dirty="0">
                <a:solidFill>
                  <a:srgbClr val="00264D"/>
                </a:solidFill>
                <a:latin typeface="+mn-lt"/>
                <a:ea typeface="宋体" panose="02010600030101010101" pitchFamily="2" charset="-122"/>
                <a:cs typeface="+mn-cs"/>
              </a:rPr>
              <a:t>4. </a:t>
            </a:r>
            <a:r>
              <a:rPr lang="zh-CN" altLang="en-US" sz="2400" dirty="0">
                <a:solidFill>
                  <a:srgbClr val="00264D"/>
                </a:solidFill>
                <a:latin typeface="+mn-lt"/>
                <a:ea typeface="宋体" panose="02010600030101010101" pitchFamily="2" charset="-122"/>
                <a:cs typeface="+mn-cs"/>
              </a:rPr>
              <a:t>项目中的每项任务要落实到人且规定该任务的起止日期和时间。</a:t>
            </a:r>
            <a:endParaRPr lang="en-US" altLang="zh-CN" sz="2400" dirty="0">
              <a:solidFill>
                <a:srgbClr val="00264D"/>
              </a:solidFill>
              <a:latin typeface="+mn-lt"/>
              <a:ea typeface="宋体" panose="02010600030101010101" pitchFamily="2" charset="-122"/>
              <a:cs typeface="+mn-cs"/>
            </a:endParaRPr>
          </a:p>
          <a:p>
            <a:pPr marL="342900" lvl="1" indent="-342900">
              <a:buFont typeface="Wingdings" panose="05000000000000000000" pitchFamily="2" charset="2"/>
              <a:buChar char="v"/>
            </a:pPr>
            <a:r>
              <a:rPr lang="en-US" altLang="zh-CN" sz="2400" dirty="0">
                <a:solidFill>
                  <a:srgbClr val="00264D"/>
                </a:solidFill>
                <a:latin typeface="+mn-lt"/>
                <a:ea typeface="宋体" panose="02010600030101010101" pitchFamily="2" charset="-122"/>
                <a:cs typeface="+mn-cs"/>
              </a:rPr>
              <a:t>5.</a:t>
            </a:r>
            <a:r>
              <a:rPr lang="zh-CN" altLang="en-US" sz="2400" dirty="0">
                <a:solidFill>
                  <a:srgbClr val="00264D"/>
                </a:solidFill>
                <a:latin typeface="+mn-lt"/>
                <a:ea typeface="宋体" panose="02010600030101010101" pitchFamily="2" charset="-122"/>
                <a:cs typeface="+mn-cs"/>
              </a:rPr>
              <a:t>题目见后或自拟。</a:t>
            </a:r>
            <a:endParaRPr lang="zh-CN" altLang="en-US" sz="2400" dirty="0">
              <a:solidFill>
                <a:srgbClr val="00264D"/>
              </a:solidFill>
              <a:latin typeface="+mn-lt"/>
              <a:ea typeface="宋体" panose="02010600030101010101" pitchFamily="2" charset="-122"/>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p:txBody>
          <a:bodyPr vert="horz" wrap="square" lIns="91440" tIns="45720" rIns="91440" bIns="45720" anchor="ctr" anchorCtr="0"/>
          <a:lstStyle/>
          <a:p>
            <a:r>
              <a:rPr lang="zh-CN" altLang="en-US" dirty="0">
                <a:latin typeface="+mj-lt"/>
                <a:ea typeface="黑体" panose="02010609060101010101" pitchFamily="49" charset="-122"/>
                <a:cs typeface="+mj-cs"/>
              </a:rPr>
              <a:t>实验一：项目需求分析</a:t>
            </a:r>
            <a:endParaRPr lang="zh-CN" altLang="en-US" dirty="0">
              <a:latin typeface="+mj-lt"/>
              <a:ea typeface="黑体" panose="02010609060101010101" pitchFamily="49" charset="-122"/>
              <a:cs typeface="+mj-cs"/>
            </a:endParaRPr>
          </a:p>
        </p:txBody>
      </p:sp>
      <p:sp>
        <p:nvSpPr>
          <p:cNvPr id="10243" name="内容占位符 2"/>
          <p:cNvSpPr>
            <a:spLocks noGrp="1"/>
          </p:cNvSpPr>
          <p:nvPr>
            <p:ph idx="1"/>
          </p:nvPr>
        </p:nvSpPr>
        <p:spPr/>
        <p:txBody>
          <a:bodyPr vert="horz" wrap="square" lIns="91440" tIns="45720" rIns="91440" bIns="45720" anchor="t" anchorCtr="0"/>
          <a:lstStyle/>
          <a:p>
            <a:r>
              <a:rPr lang="en-US" altLang="zh-CN" dirty="0">
                <a:solidFill>
                  <a:srgbClr val="0A85FF"/>
                </a:solidFill>
                <a:latin typeface="+mn-lt"/>
                <a:ea typeface="宋体" panose="02010600030101010101" pitchFamily="2" charset="-122"/>
                <a:cs typeface="+mn-cs"/>
              </a:rPr>
              <a:t>1</a:t>
            </a:r>
            <a:r>
              <a:rPr lang="zh-CN" altLang="en-US" dirty="0">
                <a:solidFill>
                  <a:srgbClr val="0A85FF"/>
                </a:solidFill>
                <a:latin typeface="+mn-lt"/>
                <a:ea typeface="宋体" panose="02010600030101010101" pitchFamily="2" charset="-122"/>
                <a:cs typeface="+mn-cs"/>
              </a:rPr>
              <a:t>．实验目的</a:t>
            </a:r>
            <a:endParaRPr lang="en-US" altLang="zh-CN" dirty="0">
              <a:solidFill>
                <a:srgbClr val="0A85FF"/>
              </a:solidFill>
              <a:latin typeface="+mn-lt"/>
              <a:ea typeface="宋体" panose="02010600030101010101" pitchFamily="2" charset="-122"/>
              <a:cs typeface="+mn-cs"/>
            </a:endParaRPr>
          </a:p>
          <a:p>
            <a:pPr lvl="1"/>
            <a:r>
              <a:rPr lang="zh-CN" altLang="en-US" sz="2400" dirty="0">
                <a:solidFill>
                  <a:srgbClr val="00264D"/>
                </a:solidFill>
                <a:latin typeface="Arial" panose="020B0604020202020204" pitchFamily="34" charset="0"/>
                <a:ea typeface="宋体" panose="02010600030101010101" pitchFamily="2" charset="-122"/>
              </a:rPr>
              <a:t>培养团队协作精神</a:t>
            </a:r>
            <a:endParaRPr lang="en-US" altLang="zh-CN" sz="2400" dirty="0">
              <a:solidFill>
                <a:srgbClr val="00264D"/>
              </a:solidFill>
              <a:latin typeface="Arial" panose="020B0604020202020204" pitchFamily="34" charset="0"/>
              <a:ea typeface="宋体" panose="02010600030101010101" pitchFamily="2" charset="-122"/>
            </a:endParaRPr>
          </a:p>
          <a:p>
            <a:pPr lvl="1"/>
            <a:r>
              <a:rPr lang="zh-CN" altLang="en-US" sz="2400" dirty="0">
                <a:solidFill>
                  <a:srgbClr val="00264D"/>
                </a:solidFill>
                <a:latin typeface="Arial" panose="020B0604020202020204" pitchFamily="34" charset="0"/>
                <a:ea typeface="宋体" panose="02010600030101010101" pitchFamily="2" charset="-122"/>
              </a:rPr>
              <a:t>熟悉开发环境</a:t>
            </a:r>
            <a:endParaRPr lang="en-US" altLang="zh-CN" sz="2400" dirty="0">
              <a:solidFill>
                <a:srgbClr val="00264D"/>
              </a:solidFill>
              <a:latin typeface="Arial" panose="020B0604020202020204" pitchFamily="34" charset="0"/>
              <a:ea typeface="宋体" panose="02010600030101010101" pitchFamily="2" charset="-122"/>
            </a:endParaRPr>
          </a:p>
          <a:p>
            <a:pPr lvl="1"/>
            <a:r>
              <a:rPr lang="zh-CN" altLang="en-US" sz="2400" dirty="0">
                <a:solidFill>
                  <a:srgbClr val="00264D"/>
                </a:solidFill>
                <a:latin typeface="Arial" panose="020B0604020202020204" pitchFamily="34" charset="0"/>
                <a:ea typeface="宋体" panose="02010600030101010101" pitchFamily="2" charset="-122"/>
              </a:rPr>
              <a:t>掌握相应的分析建模方法（结构化分析方法或面向对象的分析方法）</a:t>
            </a:r>
            <a:endParaRPr lang="en-US" altLang="zh-CN" sz="2400" dirty="0">
              <a:solidFill>
                <a:srgbClr val="00264D"/>
              </a:solidFill>
              <a:latin typeface="Arial" panose="020B0604020202020204" pitchFamily="34" charset="0"/>
              <a:ea typeface="宋体" panose="02010600030101010101" pitchFamily="2" charset="-122"/>
            </a:endParaRPr>
          </a:p>
          <a:p>
            <a:pPr lvl="1"/>
            <a:r>
              <a:rPr lang="zh-CN" altLang="en-US" sz="2400" dirty="0">
                <a:solidFill>
                  <a:srgbClr val="00264D"/>
                </a:solidFill>
                <a:latin typeface="Arial" panose="020B0604020202020204" pitchFamily="34" charset="0"/>
                <a:ea typeface="宋体" panose="02010600030101010101" pitchFamily="2" charset="-122"/>
              </a:rPr>
              <a:t>完成需求分析规格说明书</a:t>
            </a:r>
            <a:endParaRPr lang="en-US" altLang="zh-CN" sz="2400" dirty="0">
              <a:solidFill>
                <a:srgbClr val="00264D"/>
              </a:solidFill>
              <a:latin typeface="Arial" panose="020B0604020202020204" pitchFamily="34" charset="0"/>
              <a:ea typeface="宋体" panose="02010600030101010101" pitchFamily="2" charset="-122"/>
            </a:endParaRPr>
          </a:p>
          <a:p>
            <a:endParaRPr lang="zh-CN" altLang="en-US" dirty="0">
              <a:solidFill>
                <a:srgbClr val="0A85FF"/>
              </a:solidFill>
              <a:latin typeface="+mn-lt"/>
              <a:ea typeface="宋体" panose="02010600030101010101" pitchFamily="2" charset="-122"/>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p:cNvSpPr>
          <p:nvPr>
            <p:ph type="title"/>
          </p:nvPr>
        </p:nvSpPr>
        <p:spPr/>
        <p:txBody>
          <a:bodyPr vert="horz" wrap="square" lIns="91440" tIns="45720" rIns="91440" bIns="45720" anchor="ctr" anchorCtr="0"/>
          <a:lstStyle/>
          <a:p>
            <a:r>
              <a:rPr lang="en-US" altLang="zh-CN" dirty="0">
                <a:latin typeface="+mj-lt"/>
                <a:ea typeface="黑体" panose="02010609060101010101" pitchFamily="49" charset="-122"/>
                <a:cs typeface="+mj-cs"/>
              </a:rPr>
              <a:t>2.</a:t>
            </a:r>
            <a:r>
              <a:rPr lang="zh-CN" altLang="en-US" dirty="0">
                <a:latin typeface="+mj-lt"/>
                <a:ea typeface="黑体" panose="02010609060101010101" pitchFamily="49" charset="-122"/>
                <a:cs typeface="+mj-cs"/>
              </a:rPr>
              <a:t>实验要求</a:t>
            </a:r>
            <a:endParaRPr lang="zh-CN" altLang="en-US" dirty="0">
              <a:latin typeface="+mj-lt"/>
              <a:ea typeface="黑体" panose="02010609060101010101" pitchFamily="49" charset="-122"/>
              <a:cs typeface="+mj-cs"/>
            </a:endParaRPr>
          </a:p>
        </p:txBody>
      </p:sp>
      <p:sp>
        <p:nvSpPr>
          <p:cNvPr id="11267" name="内容占位符 2"/>
          <p:cNvSpPr>
            <a:spLocks noGrp="1"/>
          </p:cNvSpPr>
          <p:nvPr>
            <p:ph idx="1"/>
          </p:nvPr>
        </p:nvSpPr>
        <p:spPr/>
        <p:txBody>
          <a:bodyPr vert="horz" wrap="square" lIns="91440" tIns="45720" rIns="91440" bIns="45720" anchor="t" anchorCtr="0"/>
          <a:lstStyle/>
          <a:p>
            <a:pPr marL="342900" lvl="1" indent="-342900">
              <a:buFont typeface="Wingdings" panose="05000000000000000000" pitchFamily="2" charset="2"/>
              <a:buChar char="v"/>
            </a:pPr>
            <a:r>
              <a:rPr lang="en-US" altLang="zh-CN" dirty="0">
                <a:solidFill>
                  <a:srgbClr val="0A85FF"/>
                </a:solidFill>
                <a:latin typeface="Verdana" panose="020B0604030504040204" pitchFamily="34" charset="0"/>
                <a:ea typeface="宋体" panose="02010600030101010101" pitchFamily="2" charset="-122"/>
              </a:rPr>
              <a:t>2.</a:t>
            </a:r>
            <a:r>
              <a:rPr lang="zh-CN" altLang="en-US" dirty="0">
                <a:solidFill>
                  <a:srgbClr val="0A85FF"/>
                </a:solidFill>
                <a:latin typeface="Verdana" panose="020B0604030504040204" pitchFamily="34" charset="0"/>
                <a:ea typeface="宋体" panose="02010600030101010101" pitchFamily="2" charset="-122"/>
              </a:rPr>
              <a:t>实验要求</a:t>
            </a:r>
            <a:endParaRPr lang="en-US" altLang="zh-CN" dirty="0">
              <a:solidFill>
                <a:srgbClr val="0A85FF"/>
              </a:solidFill>
              <a:latin typeface="Verdana" panose="020B0604030504040204" pitchFamily="34" charset="0"/>
              <a:ea typeface="宋体" panose="02010600030101010101" pitchFamily="2" charset="-122"/>
            </a:endParaRPr>
          </a:p>
          <a:p>
            <a:pPr lvl="1"/>
            <a:r>
              <a:rPr lang="zh-CN" altLang="en-US" sz="2400" dirty="0">
                <a:solidFill>
                  <a:srgbClr val="00264D"/>
                </a:solidFill>
                <a:ea typeface="宋体" panose="02010600030101010101" pitchFamily="2" charset="-122"/>
              </a:rPr>
              <a:t>要求：根据各组选择的课题，实行项目经理制，各组推荐一名组长统一管理整个项目的实施过程，并合理调整资源和负责项目全局；</a:t>
            </a:r>
            <a:endParaRPr lang="en-US" altLang="zh-CN" sz="2400" dirty="0">
              <a:solidFill>
                <a:srgbClr val="00264D"/>
              </a:solidFill>
              <a:ea typeface="宋体" panose="02010600030101010101" pitchFamily="2" charset="-122"/>
            </a:endParaRPr>
          </a:p>
          <a:p>
            <a:pPr lvl="1"/>
            <a:r>
              <a:rPr lang="zh-CN" altLang="en-US" sz="2400" dirty="0">
                <a:solidFill>
                  <a:srgbClr val="00264D"/>
                </a:solidFill>
                <a:ea typeface="宋体" panose="02010600030101010101" pitchFamily="2" charset="-122"/>
              </a:rPr>
              <a:t>要求：估计项目总体规模、工作量和成本，制定开发计划与项目相关干系人（ </a:t>
            </a:r>
            <a:r>
              <a:rPr lang="en-US" altLang="zh-CN" sz="2400" b="0" dirty="0">
                <a:solidFill>
                  <a:srgbClr val="00264D"/>
                </a:solidFill>
                <a:ea typeface="宋体" panose="02010600030101010101" pitchFamily="2" charset="-122"/>
              </a:rPr>
              <a:t>stakeholder</a:t>
            </a:r>
            <a:r>
              <a:rPr lang="en-US" altLang="zh-CN" sz="2400" dirty="0">
                <a:solidFill>
                  <a:srgbClr val="00264D"/>
                </a:solidFill>
                <a:ea typeface="宋体" panose="02010600030101010101" pitchFamily="2" charset="-122"/>
              </a:rPr>
              <a:t> </a:t>
            </a:r>
            <a:r>
              <a:rPr lang="zh-CN" altLang="en-US" sz="2400" dirty="0">
                <a:solidFill>
                  <a:srgbClr val="00264D"/>
                </a:solidFill>
                <a:ea typeface="宋体" panose="02010600030101010101" pitchFamily="2" charset="-122"/>
              </a:rPr>
              <a:t>）在工作内容方面达成并保持一致；</a:t>
            </a:r>
            <a:endParaRPr lang="en-US" altLang="zh-CN" sz="2400" dirty="0">
              <a:solidFill>
                <a:srgbClr val="00264D"/>
              </a:solidFill>
              <a:ea typeface="宋体" panose="02010600030101010101" pitchFamily="2" charset="-122"/>
            </a:endParaRPr>
          </a:p>
          <a:p>
            <a:pPr lvl="1"/>
            <a:r>
              <a:rPr lang="zh-CN" altLang="en-US" sz="2400" dirty="0">
                <a:solidFill>
                  <a:srgbClr val="00264D"/>
                </a:solidFill>
                <a:ea typeface="宋体" panose="02010600030101010101" pitchFamily="2" charset="-122"/>
              </a:rPr>
              <a:t>要求：若使用结构化数据流分析技术分析课题需求，写出详细的数据流图和数据字典，数据流图的基本处理的个数不得少与</a:t>
            </a:r>
            <a:r>
              <a:rPr lang="en-US" altLang="en-US" sz="2400" dirty="0">
                <a:solidFill>
                  <a:srgbClr val="00264D"/>
                </a:solidFill>
                <a:ea typeface="宋体" panose="02010600030101010101" pitchFamily="2" charset="-122"/>
              </a:rPr>
              <a:t>5</a:t>
            </a:r>
            <a:r>
              <a:rPr lang="zh-CN" altLang="en-US" sz="2400" dirty="0">
                <a:solidFill>
                  <a:srgbClr val="00264D"/>
                </a:solidFill>
                <a:ea typeface="宋体" panose="02010600030101010101" pitchFamily="2" charset="-122"/>
              </a:rPr>
              <a:t>个。</a:t>
            </a:r>
            <a:endParaRPr lang="zh-CN" altLang="en-US" sz="2400" dirty="0">
              <a:solidFill>
                <a:srgbClr val="00264D"/>
              </a:solidFill>
              <a:ea typeface="宋体" panose="02010600030101010101" pitchFamily="2" charset="-122"/>
            </a:endParaRPr>
          </a:p>
          <a:p>
            <a:endParaRPr lang="zh-CN" altLang="en-US" dirty="0">
              <a:solidFill>
                <a:srgbClr val="00264D"/>
              </a:solidFill>
              <a:latin typeface="+mn-lt"/>
              <a:ea typeface="宋体" panose="02010600030101010101" pitchFamily="2" charset="-122"/>
              <a:cs typeface="+mn-cs"/>
            </a:endParaRPr>
          </a:p>
          <a:p>
            <a:endParaRPr lang="zh-CN" altLang="en-US" dirty="0">
              <a:solidFill>
                <a:srgbClr val="0A85FF"/>
              </a:solidFill>
              <a:latin typeface="+mn-lt"/>
              <a:ea typeface="宋体" panose="02010600030101010101" pitchFamily="2" charset="-122"/>
              <a:cs typeface="+mn-cs"/>
            </a:endParaRPr>
          </a:p>
          <a:p>
            <a:endParaRPr lang="zh-CN" altLang="en-US" dirty="0">
              <a:solidFill>
                <a:srgbClr val="0A85FF"/>
              </a:solidFill>
              <a:latin typeface="+mn-lt"/>
              <a:ea typeface="宋体" panose="02010600030101010101" pitchFamily="2" charset="-122"/>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p:cNvSpPr>
          <p:nvPr>
            <p:ph type="title"/>
          </p:nvPr>
        </p:nvSpPr>
        <p:spPr/>
        <p:txBody>
          <a:bodyPr vert="horz" wrap="square" lIns="91440" tIns="45720" rIns="91440" bIns="45720" anchor="ctr" anchorCtr="0"/>
          <a:lstStyle/>
          <a:p>
            <a:r>
              <a:rPr lang="en-US" altLang="zh-CN" dirty="0">
                <a:latin typeface="+mj-lt"/>
                <a:ea typeface="黑体" panose="02010609060101010101" pitchFamily="49" charset="-122"/>
                <a:cs typeface="+mj-cs"/>
              </a:rPr>
              <a:t>3.</a:t>
            </a:r>
            <a:r>
              <a:rPr lang="zh-CN" altLang="en-US" dirty="0">
                <a:latin typeface="+mj-lt"/>
                <a:ea typeface="黑体" panose="02010609060101010101" pitchFamily="49" charset="-122"/>
                <a:cs typeface="+mj-cs"/>
              </a:rPr>
              <a:t>实验内容</a:t>
            </a:r>
            <a:endParaRPr lang="zh-CN" altLang="en-US" dirty="0">
              <a:latin typeface="+mj-lt"/>
              <a:ea typeface="黑体" panose="02010609060101010101" pitchFamily="49" charset="-122"/>
              <a:cs typeface="+mj-cs"/>
            </a:endParaRPr>
          </a:p>
        </p:txBody>
      </p:sp>
      <p:sp>
        <p:nvSpPr>
          <p:cNvPr id="12291" name="内容占位符 2"/>
          <p:cNvSpPr>
            <a:spLocks noGrp="1"/>
          </p:cNvSpPr>
          <p:nvPr>
            <p:ph idx="1"/>
          </p:nvPr>
        </p:nvSpPr>
        <p:spPr/>
        <p:txBody>
          <a:bodyPr vert="horz" wrap="square" lIns="91440" tIns="45720" rIns="91440" bIns="45720" anchor="t" anchorCtr="0"/>
          <a:lstStyle/>
          <a:p>
            <a:r>
              <a:rPr lang="en-US" altLang="zh-CN" dirty="0">
                <a:solidFill>
                  <a:srgbClr val="0A85FF"/>
                </a:solidFill>
                <a:latin typeface="+mn-lt"/>
                <a:ea typeface="宋体" panose="02010600030101010101" pitchFamily="2" charset="-122"/>
                <a:cs typeface="+mn-cs"/>
              </a:rPr>
              <a:t>3.</a:t>
            </a:r>
            <a:r>
              <a:rPr lang="zh-CN" altLang="en-US" dirty="0">
                <a:solidFill>
                  <a:srgbClr val="0A85FF"/>
                </a:solidFill>
                <a:latin typeface="+mn-lt"/>
                <a:ea typeface="宋体" panose="02010600030101010101" pitchFamily="2" charset="-122"/>
                <a:cs typeface="+mn-cs"/>
              </a:rPr>
              <a:t>实验内容</a:t>
            </a:r>
            <a:endParaRPr lang="en-US" altLang="zh-CN" dirty="0">
              <a:solidFill>
                <a:srgbClr val="0A85FF"/>
              </a:solidFill>
              <a:latin typeface="+mn-lt"/>
              <a:ea typeface="宋体" panose="02010600030101010101" pitchFamily="2" charset="-122"/>
              <a:cs typeface="+mn-cs"/>
            </a:endParaRPr>
          </a:p>
          <a:p>
            <a:pPr lvl="1"/>
            <a:r>
              <a:rPr lang="zh-CN" altLang="en-US" sz="2400" dirty="0">
                <a:latin typeface="Arial" panose="020B0604020202020204" pitchFamily="34" charset="0"/>
                <a:ea typeface="宋体" panose="02010600030101010101" pitchFamily="2" charset="-122"/>
              </a:rPr>
              <a:t>学习软件开发小组的组织和管理，合理分工，制定项目开发开发计划，并熟悉相应的软件开发环境。采用不同的分析建模技术进行软件系统需求分析，得出系统数据、功能和行为模型以及需求规格说明书。</a:t>
            </a:r>
            <a:endParaRPr lang="zh-CN" altLang="en-US" sz="2400" dirty="0">
              <a:latin typeface="Arial" panose="020B0604020202020204" pitchFamily="34" charset="0"/>
              <a:ea typeface="宋体" panose="02010600030101010101" pitchFamily="2" charset="-122"/>
            </a:endParaRPr>
          </a:p>
          <a:p>
            <a:pPr>
              <a:buFont typeface="Wingdings" panose="05000000000000000000" pitchFamily="2" charset="2"/>
              <a:buNone/>
            </a:pPr>
            <a:endParaRPr lang="zh-CN" altLang="en-US" dirty="0">
              <a:solidFill>
                <a:srgbClr val="0A85FF"/>
              </a:solidFill>
              <a:latin typeface="+mn-lt"/>
              <a:ea typeface="宋体" panose="02010600030101010101" pitchFamily="2" charset="-122"/>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p:nvPr>
        </p:nvSpPr>
        <p:spPr/>
        <p:txBody>
          <a:bodyPr vert="horz" wrap="square" lIns="91440" tIns="45720" rIns="91440" bIns="45720" anchor="ctr" anchorCtr="0"/>
          <a:lstStyle/>
          <a:p>
            <a:r>
              <a:rPr lang="en-US" altLang="zh-CN" dirty="0">
                <a:latin typeface="+mj-lt"/>
                <a:ea typeface="黑体" panose="02010609060101010101" pitchFamily="49" charset="-122"/>
                <a:cs typeface="+mj-cs"/>
              </a:rPr>
              <a:t>4.</a:t>
            </a:r>
            <a:r>
              <a:rPr lang="zh-CN" altLang="en-US" dirty="0">
                <a:latin typeface="+mj-lt"/>
                <a:ea typeface="黑体" panose="02010609060101010101" pitchFamily="49" charset="-122"/>
                <a:cs typeface="+mj-cs"/>
              </a:rPr>
              <a:t>实验步骤</a:t>
            </a:r>
            <a:endParaRPr lang="zh-CN" altLang="en-US" dirty="0">
              <a:latin typeface="+mj-lt"/>
              <a:ea typeface="黑体" panose="02010609060101010101" pitchFamily="49" charset="-122"/>
              <a:cs typeface="+mj-cs"/>
            </a:endParaRPr>
          </a:p>
        </p:txBody>
      </p:sp>
      <p:sp>
        <p:nvSpPr>
          <p:cNvPr id="13315" name="内容占位符 2"/>
          <p:cNvSpPr>
            <a:spLocks noGrp="1"/>
          </p:cNvSpPr>
          <p:nvPr>
            <p:ph idx="1"/>
          </p:nvPr>
        </p:nvSpPr>
        <p:spPr/>
        <p:txBody>
          <a:bodyPr vert="horz" wrap="square" lIns="91440" tIns="45720" rIns="91440" bIns="45720" anchor="t" anchorCtr="0"/>
          <a:lstStyle/>
          <a:p>
            <a:r>
              <a:rPr lang="en-US" altLang="zh-CN" dirty="0">
                <a:solidFill>
                  <a:srgbClr val="0A85FF"/>
                </a:solidFill>
                <a:latin typeface="+mn-lt"/>
                <a:ea typeface="宋体" panose="02010600030101010101" pitchFamily="2" charset="-122"/>
                <a:cs typeface="+mn-cs"/>
              </a:rPr>
              <a:t>4.</a:t>
            </a:r>
            <a:r>
              <a:rPr lang="zh-CN" altLang="en-US" dirty="0">
                <a:solidFill>
                  <a:srgbClr val="0A85FF"/>
                </a:solidFill>
                <a:latin typeface="+mn-lt"/>
                <a:ea typeface="宋体" panose="02010600030101010101" pitchFamily="2" charset="-122"/>
                <a:cs typeface="+mn-cs"/>
              </a:rPr>
              <a:t>实验步骤：</a:t>
            </a:r>
            <a:endParaRPr lang="zh-CN" altLang="en-US" dirty="0">
              <a:solidFill>
                <a:srgbClr val="0A85FF"/>
              </a:solidFill>
              <a:latin typeface="+mn-lt"/>
              <a:ea typeface="宋体" panose="02010600030101010101" pitchFamily="2" charset="-122"/>
              <a:cs typeface="+mn-cs"/>
            </a:endParaRPr>
          </a:p>
          <a:p>
            <a:pPr lvl="1"/>
            <a:r>
              <a:rPr lang="en-US" altLang="zh-CN" sz="2400" dirty="0">
                <a:latin typeface="Arial" panose="020B0604020202020204" pitchFamily="34" charset="0"/>
                <a:ea typeface="宋体" panose="02010600030101010101" pitchFamily="2" charset="-122"/>
              </a:rPr>
              <a:t>1</a:t>
            </a:r>
            <a:r>
              <a:rPr lang="zh-CN" altLang="en-US" sz="2400" dirty="0">
                <a:latin typeface="Arial" panose="020B0604020202020204" pitchFamily="34" charset="0"/>
                <a:ea typeface="宋体" panose="02010600030101010101" pitchFamily="2" charset="-122"/>
              </a:rPr>
              <a:t>．分角色进行需求分析调研。</a:t>
            </a:r>
            <a:endParaRPr lang="zh-CN" altLang="en-US" sz="2400" dirty="0">
              <a:latin typeface="Arial" panose="020B0604020202020204" pitchFamily="34" charset="0"/>
              <a:ea typeface="宋体" panose="02010600030101010101" pitchFamily="2" charset="-122"/>
            </a:endParaRPr>
          </a:p>
          <a:p>
            <a:pPr lvl="1"/>
            <a:r>
              <a:rPr lang="en-US" altLang="zh-CN" sz="2400" dirty="0">
                <a:latin typeface="Arial" panose="020B0604020202020204" pitchFamily="34" charset="0"/>
                <a:ea typeface="宋体" panose="02010600030101010101" pitchFamily="2" charset="-122"/>
              </a:rPr>
              <a:t>2</a:t>
            </a:r>
            <a:r>
              <a:rPr lang="zh-CN" altLang="en-US" sz="2400" dirty="0">
                <a:latin typeface="Arial" panose="020B0604020202020204" pitchFamily="34" charset="0"/>
                <a:ea typeface="宋体" panose="02010600030101010101" pitchFamily="2" charset="-122"/>
              </a:rPr>
              <a:t>．综合利用</a:t>
            </a:r>
            <a:r>
              <a:rPr lang="en-US" altLang="zh-CN" sz="2400" dirty="0">
                <a:latin typeface="Arial" panose="020B0604020202020204" pitchFamily="34" charset="0"/>
                <a:ea typeface="宋体" panose="02010600030101010101" pitchFamily="2" charset="-122"/>
              </a:rPr>
              <a:t>Internet</a:t>
            </a:r>
            <a:r>
              <a:rPr lang="zh-CN" altLang="en-US" sz="2400" dirty="0">
                <a:latin typeface="Arial" panose="020B0604020202020204" pitchFamily="34" charset="0"/>
                <a:ea typeface="宋体" panose="02010600030101010101" pitchFamily="2" charset="-122"/>
              </a:rPr>
              <a:t>网和相关书籍整理并完善需求分析。</a:t>
            </a:r>
            <a:endParaRPr lang="zh-CN" altLang="en-US" sz="2400" dirty="0">
              <a:latin typeface="Arial" panose="020B0604020202020204" pitchFamily="34" charset="0"/>
              <a:ea typeface="宋体" panose="02010600030101010101" pitchFamily="2" charset="-122"/>
            </a:endParaRPr>
          </a:p>
          <a:p>
            <a:pPr lvl="1"/>
            <a:r>
              <a:rPr lang="en-US" altLang="zh-CN" sz="2400" dirty="0">
                <a:latin typeface="Arial" panose="020B0604020202020204" pitchFamily="34" charset="0"/>
                <a:ea typeface="宋体" panose="02010600030101010101" pitchFamily="2" charset="-122"/>
              </a:rPr>
              <a:t>3</a:t>
            </a:r>
            <a:r>
              <a:rPr lang="zh-CN" altLang="en-US" sz="2400" dirty="0">
                <a:latin typeface="Arial" panose="020B0604020202020204" pitchFamily="34" charset="0"/>
                <a:ea typeface="宋体" panose="02010600030101010101" pitchFamily="2" charset="-122"/>
              </a:rPr>
              <a:t>．按照需求确认四个步骤得出正确的需求。</a:t>
            </a:r>
            <a:endParaRPr lang="en-US" altLang="zh-CN" sz="2400" dirty="0">
              <a:latin typeface="Arial" panose="020B0604020202020204" pitchFamily="34" charset="0"/>
              <a:ea typeface="宋体" panose="02010600030101010101" pitchFamily="2" charset="-122"/>
            </a:endParaRPr>
          </a:p>
          <a:p>
            <a:pPr lvl="2"/>
            <a:r>
              <a:rPr lang="zh-CN" altLang="en-US" dirty="0">
                <a:latin typeface="Arial" panose="020B0604020202020204" pitchFamily="34" charset="0"/>
                <a:ea typeface="宋体" panose="02010600030101010101" pitchFamily="2" charset="-122"/>
              </a:rPr>
              <a:t>需求获取</a:t>
            </a:r>
            <a:endParaRPr lang="en-US" altLang="zh-CN" dirty="0">
              <a:latin typeface="Arial" panose="020B0604020202020204" pitchFamily="34" charset="0"/>
              <a:ea typeface="宋体" panose="02010600030101010101" pitchFamily="2" charset="-122"/>
            </a:endParaRPr>
          </a:p>
          <a:p>
            <a:pPr lvl="2"/>
            <a:r>
              <a:rPr lang="zh-CN" altLang="en-US" dirty="0">
                <a:latin typeface="Arial" panose="020B0604020202020204" pitchFamily="34" charset="0"/>
                <a:ea typeface="宋体" panose="02010600030101010101" pitchFamily="2" charset="-122"/>
              </a:rPr>
              <a:t>需求提炼</a:t>
            </a:r>
            <a:endParaRPr lang="en-US" altLang="zh-CN" dirty="0">
              <a:latin typeface="Arial" panose="020B0604020202020204" pitchFamily="34" charset="0"/>
              <a:ea typeface="宋体" panose="02010600030101010101" pitchFamily="2" charset="-122"/>
            </a:endParaRPr>
          </a:p>
          <a:p>
            <a:pPr lvl="2"/>
            <a:r>
              <a:rPr lang="zh-CN" altLang="en-US" dirty="0">
                <a:latin typeface="Arial" panose="020B0604020202020204" pitchFamily="34" charset="0"/>
                <a:ea typeface="宋体" panose="02010600030101010101" pitchFamily="2" charset="-122"/>
              </a:rPr>
              <a:t>需求描述</a:t>
            </a:r>
            <a:endParaRPr lang="en-US" altLang="zh-CN" dirty="0">
              <a:latin typeface="Arial" panose="020B0604020202020204" pitchFamily="34" charset="0"/>
              <a:ea typeface="宋体" panose="02010600030101010101" pitchFamily="2" charset="-122"/>
            </a:endParaRPr>
          </a:p>
          <a:p>
            <a:pPr lvl="2"/>
            <a:r>
              <a:rPr lang="zh-CN" altLang="en-US" dirty="0">
                <a:latin typeface="Arial" panose="020B0604020202020204" pitchFamily="34" charset="0"/>
                <a:ea typeface="宋体" panose="02010600030101010101" pitchFamily="2" charset="-122"/>
              </a:rPr>
              <a:t>需求验证</a:t>
            </a:r>
            <a:endParaRPr lang="zh-CN" altLang="en-US" dirty="0">
              <a:latin typeface="Arial" panose="020B0604020202020204" pitchFamily="34" charset="0"/>
              <a:ea typeface="宋体" panose="02010600030101010101" pitchFamily="2" charset="-122"/>
            </a:endParaRPr>
          </a:p>
          <a:p>
            <a:pPr lvl="1">
              <a:buFont typeface="Wingdings" panose="05000000000000000000" pitchFamily="2" charset="2"/>
              <a:buNone/>
            </a:pPr>
            <a:endParaRPr lang="zh-CN" altLang="en-US" dirty="0">
              <a:latin typeface="Arial" panose="020B0604020202020204" pitchFamily="34" charset="0"/>
              <a:ea typeface="宋体" panose="02010600030101010101" pitchFamily="2" charset="-122"/>
            </a:endParaRPr>
          </a:p>
          <a:p>
            <a:endParaRPr lang="zh-CN" altLang="en-US" dirty="0">
              <a:solidFill>
                <a:srgbClr val="0A85FF"/>
              </a:solidFill>
              <a:latin typeface="+mn-lt"/>
              <a:ea typeface="宋体" panose="02010600030101010101" pitchFamily="2" charset="-122"/>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p:nvPr>
        </p:nvSpPr>
        <p:spPr/>
        <p:txBody>
          <a:bodyPr vert="horz" wrap="square" lIns="91440" tIns="45720" rIns="91440" bIns="45720" anchor="ctr" anchorCtr="0"/>
          <a:lstStyle/>
          <a:p>
            <a:r>
              <a:rPr lang="zh-CN" altLang="en-US" dirty="0">
                <a:latin typeface="+mj-lt"/>
                <a:ea typeface="黑体" panose="02010609060101010101" pitchFamily="49" charset="-122"/>
                <a:cs typeface="+mj-cs"/>
              </a:rPr>
              <a:t>项目课题</a:t>
            </a:r>
            <a:endParaRPr lang="zh-CN" altLang="en-US" dirty="0">
              <a:latin typeface="+mj-lt"/>
              <a:ea typeface="黑体" panose="02010609060101010101" pitchFamily="49" charset="-122"/>
              <a:cs typeface="+mj-cs"/>
            </a:endParaRPr>
          </a:p>
        </p:txBody>
      </p:sp>
      <p:sp>
        <p:nvSpPr>
          <p:cNvPr id="14339" name="内容占位符 2"/>
          <p:cNvSpPr>
            <a:spLocks noGrp="1"/>
          </p:cNvSpPr>
          <p:nvPr>
            <p:ph idx="1"/>
          </p:nvPr>
        </p:nvSpPr>
        <p:spPr>
          <a:xfrm>
            <a:off x="457200" y="1125538"/>
            <a:ext cx="8229600" cy="4933950"/>
          </a:xfrm>
        </p:spPr>
        <p:txBody>
          <a:bodyPr vert="horz" wrap="square" lIns="91440" tIns="45720" rIns="91440" bIns="45720" anchor="t" anchorCtr="0"/>
          <a:lstStyle/>
          <a:p>
            <a:r>
              <a:rPr lang="zh-CN" altLang="en-US" sz="2400" dirty="0">
                <a:latin typeface="+mj-lt"/>
                <a:ea typeface="黑体" panose="02010609060101010101" pitchFamily="49" charset="-122"/>
                <a:cs typeface="+mj-cs"/>
                <a:sym typeface="+mn-ea"/>
              </a:rPr>
              <a:t>实验室设备管理系统</a:t>
            </a:r>
            <a:endParaRPr lang="zh-CN" altLang="en-US" sz="2400" dirty="0">
              <a:latin typeface="+mj-lt"/>
              <a:ea typeface="黑体" panose="02010609060101010101" pitchFamily="49" charset="-122"/>
              <a:cs typeface="+mj-cs"/>
            </a:endParaRPr>
          </a:p>
          <a:p>
            <a:r>
              <a:rPr lang="zh-CN" altLang="en-US" sz="2400" dirty="0">
                <a:latin typeface="+mj-lt"/>
                <a:ea typeface="黑体" panose="02010609060101010101" pitchFamily="49" charset="-122"/>
                <a:cs typeface="+mj-cs"/>
                <a:sym typeface="+mn-ea"/>
              </a:rPr>
              <a:t>学院课程安排系统</a:t>
            </a:r>
            <a:endParaRPr lang="zh-CN" altLang="en-US" sz="2400" dirty="0">
              <a:latin typeface="+mj-lt"/>
              <a:ea typeface="黑体" panose="02010609060101010101" pitchFamily="49" charset="-122"/>
              <a:cs typeface="+mj-cs"/>
            </a:endParaRPr>
          </a:p>
          <a:p>
            <a:r>
              <a:rPr lang="zh-CN" altLang="en-US" sz="2400" dirty="0">
                <a:latin typeface="+mj-lt"/>
                <a:ea typeface="黑体" panose="02010609060101010101" pitchFamily="49" charset="-122"/>
                <a:cs typeface="+mj-cs"/>
                <a:sym typeface="+mn-ea"/>
              </a:rPr>
              <a:t>数字识别系统</a:t>
            </a:r>
            <a:endParaRPr lang="zh-CN" altLang="en-US" sz="2400" dirty="0">
              <a:latin typeface="+mj-lt"/>
              <a:ea typeface="黑体" panose="02010609060101010101" pitchFamily="49" charset="-122"/>
              <a:cs typeface="+mj-cs"/>
            </a:endParaRPr>
          </a:p>
          <a:p>
            <a:r>
              <a:rPr lang="zh-CN" altLang="en-US" sz="2400" dirty="0">
                <a:latin typeface="+mj-lt"/>
                <a:ea typeface="黑体" panose="02010609060101010101" pitchFamily="49" charset="-122"/>
                <a:cs typeface="+mj-cs"/>
                <a:sym typeface="+mn-ea"/>
              </a:rPr>
              <a:t>智能垃圾分类系统</a:t>
            </a:r>
            <a:endParaRPr lang="zh-CN" altLang="en-US" sz="2400" dirty="0">
              <a:latin typeface="+mj-lt"/>
              <a:ea typeface="黑体" panose="02010609060101010101" pitchFamily="49" charset="-122"/>
              <a:cs typeface="+mj-cs"/>
            </a:endParaRPr>
          </a:p>
          <a:p>
            <a:r>
              <a:rPr lang="zh-CN" altLang="en-US" sz="2400" dirty="0">
                <a:latin typeface="+mj-lt"/>
                <a:ea typeface="黑体" panose="02010609060101010101" pitchFamily="49" charset="-122"/>
                <a:cs typeface="+mj-cs"/>
                <a:sym typeface="+mn-ea"/>
              </a:rPr>
              <a:t>房价预测系统</a:t>
            </a:r>
            <a:endParaRPr lang="en-US" altLang="zh-CN" sz="2400" dirty="0">
              <a:latin typeface="+mj-lt"/>
              <a:ea typeface="黑体" panose="02010609060101010101" pitchFamily="49" charset="-122"/>
              <a:cs typeface="+mj-cs"/>
              <a:sym typeface="+mn-ea"/>
            </a:endParaRPr>
          </a:p>
          <a:p>
            <a:r>
              <a:rPr lang="zh-CN" altLang="en-US" sz="2400" dirty="0">
                <a:latin typeface="+mj-lt"/>
                <a:ea typeface="黑体" panose="02010609060101010101" pitchFamily="49" charset="-122"/>
                <a:cs typeface="+mj-cs"/>
                <a:sym typeface="+mn-ea"/>
              </a:rPr>
              <a:t>个性化电影推荐系统</a:t>
            </a:r>
            <a:endParaRPr lang="en-US" altLang="zh-CN" sz="2400" dirty="0">
              <a:latin typeface="+mj-lt"/>
              <a:ea typeface="黑体" panose="02010609060101010101" pitchFamily="49" charset="-122"/>
              <a:cs typeface="+mj-cs"/>
              <a:sym typeface="+mn-ea"/>
            </a:endParaRPr>
          </a:p>
          <a:p>
            <a:r>
              <a:rPr lang="zh-CN" altLang="en-US" sz="2400" dirty="0">
                <a:latin typeface="+mj-lt"/>
                <a:ea typeface="黑体" panose="02010609060101010101" pitchFamily="49" charset="-122"/>
                <a:cs typeface="+mj-cs"/>
                <a:sym typeface="+mn-ea"/>
              </a:rPr>
              <a:t>智能问答系统</a:t>
            </a:r>
            <a:endParaRPr lang="en-US" altLang="zh-CN" sz="2400" dirty="0">
              <a:latin typeface="+mj-lt"/>
              <a:ea typeface="黑体" panose="02010609060101010101" pitchFamily="49" charset="-122"/>
              <a:cs typeface="+mj-cs"/>
              <a:sym typeface="+mn-ea"/>
            </a:endParaRPr>
          </a:p>
          <a:p>
            <a:r>
              <a:rPr lang="en-US" altLang="zh-CN" sz="2400" dirty="0">
                <a:latin typeface="+mj-lt"/>
                <a:ea typeface="黑体" panose="02010609060101010101" pitchFamily="49" charset="-122"/>
                <a:cs typeface="+mj-cs"/>
                <a:sym typeface="+mn-ea"/>
              </a:rPr>
              <a:t>AI</a:t>
            </a:r>
            <a:r>
              <a:rPr lang="zh-CN" altLang="en-US" sz="2400" dirty="0">
                <a:latin typeface="+mj-lt"/>
                <a:ea typeface="黑体" panose="02010609060101010101" pitchFamily="49" charset="-122"/>
                <a:cs typeface="+mj-cs"/>
                <a:sym typeface="+mn-ea"/>
              </a:rPr>
              <a:t>音乐生成系统</a:t>
            </a:r>
            <a:endParaRPr lang="en-US" altLang="zh-CN" sz="2400" dirty="0">
              <a:latin typeface="+mj-lt"/>
              <a:ea typeface="黑体" panose="02010609060101010101" pitchFamily="49" charset="-122"/>
              <a:cs typeface="+mj-cs"/>
              <a:sym typeface="+mn-ea"/>
            </a:endParaRPr>
          </a:p>
          <a:p>
            <a:r>
              <a:rPr lang="zh-CN" altLang="en-US" sz="2400" dirty="0">
                <a:latin typeface="+mj-lt"/>
                <a:ea typeface="黑体" panose="02010609060101010101" pitchFamily="49" charset="-122"/>
                <a:cs typeface="+mj-cs"/>
                <a:sym typeface="+mn-ea"/>
              </a:rPr>
              <a:t>新闻事件关系抽取系统</a:t>
            </a:r>
            <a:endParaRPr lang="en-US" altLang="zh-CN" sz="2400" dirty="0">
              <a:latin typeface="+mj-lt"/>
              <a:ea typeface="黑体" panose="02010609060101010101" pitchFamily="49" charset="-122"/>
              <a:cs typeface="+mj-cs"/>
              <a:sym typeface="+mn-ea"/>
            </a:endParaRPr>
          </a:p>
          <a:p>
            <a:r>
              <a:rPr lang="zh-CN" altLang="en-US" sz="2400" dirty="0">
                <a:latin typeface="+mj-lt"/>
                <a:ea typeface="黑体" panose="02010609060101010101" pitchFamily="49" charset="-122"/>
                <a:cs typeface="+mj-cs"/>
                <a:sym typeface="+mn-ea"/>
              </a:rPr>
              <a:t>目标检测系统</a:t>
            </a:r>
            <a:endParaRPr lang="zh-CN" altLang="en-US" sz="2400" dirty="0">
              <a:latin typeface="+mj-lt"/>
              <a:ea typeface="黑体" panose="02010609060101010101" pitchFamily="49" charset="-122"/>
              <a:cs typeface="+mj-cs"/>
              <a:sym typeface="+mn-ea"/>
            </a:endParaRPr>
          </a:p>
          <a:p>
            <a:r>
              <a:rPr lang="zh-CN" altLang="en-US" sz="2400" dirty="0">
                <a:latin typeface="+mj-lt"/>
                <a:ea typeface="黑体" panose="02010609060101010101" pitchFamily="49" charset="-122"/>
                <a:cs typeface="+mj-cs"/>
                <a:sym typeface="+mn-ea"/>
              </a:rPr>
              <a:t>自拟题目</a:t>
            </a:r>
            <a:endParaRPr lang="en-US" altLang="zh-CN" sz="2400" dirty="0">
              <a:latin typeface="+mj-lt"/>
              <a:ea typeface="黑体" panose="02010609060101010101" pitchFamily="49" charset="-122"/>
              <a:cs typeface="+mj-cs"/>
              <a:sym typeface="+mn-ea"/>
            </a:endParaRPr>
          </a:p>
          <a:p>
            <a:endParaRPr lang="zh-CN" altLang="en-US" sz="2400" dirty="0">
              <a:latin typeface="+mj-lt"/>
              <a:ea typeface="黑体" panose="02010609060101010101" pitchFamily="49" charset="-122"/>
              <a:cs typeface="+mj-cs"/>
              <a:sym typeface="+mn-ea"/>
            </a:endParaRPr>
          </a:p>
          <a:p>
            <a:endParaRPr lang="zh-CN" altLang="en-US" sz="2400" dirty="0">
              <a:solidFill>
                <a:srgbClr val="0A85FF"/>
              </a:solidFill>
              <a:latin typeface="+mn-lt"/>
              <a:ea typeface="宋体" panose="02010600030101010101" pitchFamily="2" charset="-122"/>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p:txBody>
          <a:bodyPr vert="horz" wrap="square" lIns="91440" tIns="45720" rIns="91440" bIns="45720" anchor="ctr" anchorCtr="0"/>
          <a:lstStyle/>
          <a:p>
            <a:r>
              <a:rPr lang="zh-CN" altLang="en-US" dirty="0">
                <a:latin typeface="+mj-lt"/>
                <a:ea typeface="黑体" panose="02010609060101010101" pitchFamily="49" charset="-122"/>
                <a:cs typeface="+mj-cs"/>
              </a:rPr>
              <a:t>课题一：实验室设备管理系统</a:t>
            </a:r>
            <a:endParaRPr lang="zh-CN" altLang="en-US" dirty="0">
              <a:latin typeface="+mj-lt"/>
              <a:ea typeface="黑体" panose="02010609060101010101" pitchFamily="49" charset="-122"/>
              <a:cs typeface="+mj-cs"/>
            </a:endParaRPr>
          </a:p>
        </p:txBody>
      </p:sp>
      <p:sp>
        <p:nvSpPr>
          <p:cNvPr id="15363" name="内容占位符 2"/>
          <p:cNvSpPr>
            <a:spLocks noGrp="1"/>
          </p:cNvSpPr>
          <p:nvPr>
            <p:ph idx="1"/>
          </p:nvPr>
        </p:nvSpPr>
        <p:spPr>
          <a:xfrm>
            <a:off x="457200" y="1000125"/>
            <a:ext cx="8229600" cy="4933950"/>
          </a:xfrm>
        </p:spPr>
        <p:txBody>
          <a:bodyPr vert="horz" wrap="square" lIns="91440" tIns="45720" rIns="91440" bIns="45720" anchor="t" anchorCtr="0"/>
          <a:lstStyle/>
          <a:p>
            <a:r>
              <a:rPr lang="en-US" altLang="zh-CN" dirty="0">
                <a:solidFill>
                  <a:srgbClr val="0A85FF"/>
                </a:solidFill>
                <a:ea typeface="宋体" panose="02010600030101010101" pitchFamily="2" charset="-122"/>
              </a:rPr>
              <a:t>1</a:t>
            </a:r>
            <a:r>
              <a:rPr lang="zh-CN" altLang="en-US" dirty="0">
                <a:solidFill>
                  <a:srgbClr val="0A85FF"/>
                </a:solidFill>
                <a:ea typeface="宋体" panose="02010600030101010101" pitchFamily="2" charset="-122"/>
              </a:rPr>
              <a:t>．</a:t>
            </a:r>
            <a:r>
              <a:rPr lang="zh-CN" altLang="en-US" dirty="0">
                <a:solidFill>
                  <a:srgbClr val="0A85FF"/>
                </a:solidFill>
                <a:latin typeface="+mn-lt"/>
                <a:ea typeface="宋体" panose="02010600030101010101" pitchFamily="2" charset="-122"/>
                <a:cs typeface="+mn-cs"/>
              </a:rPr>
              <a:t>系统简介</a:t>
            </a:r>
            <a:endParaRPr lang="en-US" altLang="zh-CN" dirty="0">
              <a:solidFill>
                <a:srgbClr val="0A85FF"/>
              </a:solidFill>
              <a:latin typeface="+mn-lt"/>
              <a:ea typeface="宋体" panose="02010600030101010101" pitchFamily="2" charset="-122"/>
              <a:cs typeface="+mn-cs"/>
            </a:endParaRPr>
          </a:p>
          <a:p>
            <a:r>
              <a:rPr lang="zh-CN" altLang="en-US" sz="2400" dirty="0">
                <a:solidFill>
                  <a:srgbClr val="00264D"/>
                </a:solidFill>
                <a:latin typeface="+mn-lt"/>
                <a:ea typeface="宋体" panose="02010600030101010101" pitchFamily="2" charset="-122"/>
                <a:cs typeface="+mn-cs"/>
              </a:rPr>
              <a:t>每学年要对实验室设备使用情况进行统计、更新，其中：</a:t>
            </a:r>
            <a:endParaRPr lang="zh-CN" altLang="en-US" sz="2400" dirty="0">
              <a:solidFill>
                <a:srgbClr val="00264D"/>
              </a:solidFill>
              <a:latin typeface="+mn-lt"/>
              <a:ea typeface="宋体" panose="02010600030101010101" pitchFamily="2" charset="-122"/>
              <a:cs typeface="+mn-cs"/>
            </a:endParaRPr>
          </a:p>
          <a:p>
            <a:r>
              <a:rPr lang="zh-CN" altLang="en-US" sz="2400" dirty="0">
                <a:solidFill>
                  <a:srgbClr val="00264D"/>
                </a:solidFill>
                <a:latin typeface="+mn-lt"/>
                <a:ea typeface="宋体" panose="02010600030101010101" pitchFamily="2" charset="-122"/>
                <a:cs typeface="+mn-cs"/>
              </a:rPr>
              <a:t>（</a:t>
            </a:r>
            <a:r>
              <a:rPr lang="en-US" altLang="zh-CN" sz="2400" dirty="0">
                <a:solidFill>
                  <a:srgbClr val="00264D"/>
                </a:solidFill>
                <a:latin typeface="+mn-lt"/>
                <a:ea typeface="宋体" panose="02010600030101010101" pitchFamily="2" charset="-122"/>
                <a:cs typeface="+mn-cs"/>
              </a:rPr>
              <a:t>1</a:t>
            </a:r>
            <a:r>
              <a:rPr lang="zh-CN" altLang="en-US" sz="2400" dirty="0">
                <a:solidFill>
                  <a:srgbClr val="00264D"/>
                </a:solidFill>
                <a:latin typeface="+mn-lt"/>
                <a:ea typeface="宋体" panose="02010600030101010101" pitchFamily="2" charset="-122"/>
                <a:cs typeface="+mn-cs"/>
              </a:rPr>
              <a:t>） 对于已彻底损坏的作报废处理，同时详细记录有关信息。</a:t>
            </a:r>
            <a:endParaRPr lang="zh-CN" altLang="en-US" sz="2400" dirty="0">
              <a:solidFill>
                <a:srgbClr val="00264D"/>
              </a:solidFill>
              <a:latin typeface="+mn-lt"/>
              <a:ea typeface="宋体" panose="02010600030101010101" pitchFamily="2" charset="-122"/>
              <a:cs typeface="+mn-cs"/>
            </a:endParaRPr>
          </a:p>
          <a:p>
            <a:r>
              <a:rPr lang="zh-CN" altLang="en-US" sz="2400" dirty="0">
                <a:solidFill>
                  <a:srgbClr val="00264D"/>
                </a:solidFill>
                <a:latin typeface="+mn-lt"/>
                <a:ea typeface="宋体" panose="02010600030101010101" pitchFamily="2" charset="-122"/>
                <a:cs typeface="+mn-cs"/>
              </a:rPr>
              <a:t>（</a:t>
            </a:r>
            <a:r>
              <a:rPr lang="en-US" altLang="zh-CN" sz="2400" dirty="0">
                <a:solidFill>
                  <a:srgbClr val="00264D"/>
                </a:solidFill>
                <a:latin typeface="+mn-lt"/>
                <a:ea typeface="宋体" panose="02010600030101010101" pitchFamily="2" charset="-122"/>
                <a:cs typeface="+mn-cs"/>
              </a:rPr>
              <a:t>2</a:t>
            </a:r>
            <a:r>
              <a:rPr lang="zh-CN" altLang="en-US" sz="2400" dirty="0">
                <a:solidFill>
                  <a:srgbClr val="00264D"/>
                </a:solidFill>
                <a:latin typeface="+mn-lt"/>
                <a:ea typeface="宋体" panose="02010600030101010101" pitchFamily="2" charset="-122"/>
                <a:cs typeface="+mn-cs"/>
              </a:rPr>
              <a:t>） 对于有严重问题（故障）的要即使修理，并记录修理日期、设备名、修理厂家、修理费、责任人等。</a:t>
            </a:r>
            <a:endParaRPr lang="zh-CN" altLang="en-US" sz="2400" dirty="0">
              <a:solidFill>
                <a:srgbClr val="00264D"/>
              </a:solidFill>
              <a:latin typeface="+mn-lt"/>
              <a:ea typeface="宋体" panose="02010600030101010101" pitchFamily="2" charset="-122"/>
              <a:cs typeface="+mn-cs"/>
            </a:endParaRPr>
          </a:p>
          <a:p>
            <a:r>
              <a:rPr lang="zh-CN" altLang="en-US" sz="2400" dirty="0">
                <a:solidFill>
                  <a:srgbClr val="00264D"/>
                </a:solidFill>
                <a:latin typeface="+mn-lt"/>
                <a:ea typeface="宋体" panose="02010600030101010101" pitchFamily="2" charset="-122"/>
                <a:cs typeface="+mn-cs"/>
              </a:rPr>
              <a:t>（</a:t>
            </a:r>
            <a:r>
              <a:rPr lang="en-US" altLang="zh-CN" sz="2400" dirty="0">
                <a:solidFill>
                  <a:srgbClr val="00264D"/>
                </a:solidFill>
                <a:latin typeface="+mn-lt"/>
                <a:ea typeface="宋体" panose="02010600030101010101" pitchFamily="2" charset="-122"/>
                <a:cs typeface="+mn-cs"/>
              </a:rPr>
              <a:t>3</a:t>
            </a:r>
            <a:r>
              <a:rPr lang="zh-CN" altLang="en-US" sz="2400" dirty="0">
                <a:solidFill>
                  <a:srgbClr val="00264D"/>
                </a:solidFill>
                <a:latin typeface="+mn-lt"/>
                <a:ea typeface="宋体" panose="02010600030101010101" pitchFamily="2" charset="-122"/>
                <a:cs typeface="+mn-cs"/>
              </a:rPr>
              <a:t>） 对于急需但又缺少的设备需以“申请表”的形式送交上级领导请求批准购买。</a:t>
            </a:r>
            <a:endParaRPr lang="zh-CN" altLang="en-US" sz="2400" dirty="0">
              <a:solidFill>
                <a:srgbClr val="00264D"/>
              </a:solidFill>
              <a:latin typeface="+mn-lt"/>
              <a:ea typeface="宋体" panose="02010600030101010101" pitchFamily="2" charset="-122"/>
              <a:cs typeface="+mn-cs"/>
            </a:endParaRPr>
          </a:p>
          <a:p>
            <a:r>
              <a:rPr lang="zh-CN" altLang="en-US" sz="2400" dirty="0">
                <a:solidFill>
                  <a:srgbClr val="00264D"/>
                </a:solidFill>
                <a:latin typeface="+mn-lt"/>
                <a:ea typeface="宋体" panose="02010600030101010101" pitchFamily="2" charset="-122"/>
                <a:cs typeface="+mn-cs"/>
              </a:rPr>
              <a:t>（</a:t>
            </a:r>
            <a:r>
              <a:rPr lang="en-US" altLang="zh-CN" sz="2400" dirty="0">
                <a:solidFill>
                  <a:srgbClr val="00264D"/>
                </a:solidFill>
                <a:latin typeface="+mn-lt"/>
                <a:ea typeface="宋体" panose="02010600030101010101" pitchFamily="2" charset="-122"/>
                <a:cs typeface="+mn-cs"/>
              </a:rPr>
              <a:t>4</a:t>
            </a:r>
            <a:r>
              <a:rPr lang="zh-CN" altLang="en-US" sz="2400" dirty="0">
                <a:solidFill>
                  <a:srgbClr val="00264D"/>
                </a:solidFill>
                <a:latin typeface="+mn-lt"/>
                <a:ea typeface="宋体" panose="02010600030101010101" pitchFamily="2" charset="-122"/>
                <a:cs typeface="+mn-cs"/>
              </a:rPr>
              <a:t>）新设备购入后要立即进行设备登记（包括类别、设备名、型号、规格、单价、数量、购置日期、生产厂家、购买人等），同时更新申请表的内容。</a:t>
            </a:r>
            <a:endParaRPr lang="zh-CN" altLang="en-US" sz="2400" dirty="0">
              <a:solidFill>
                <a:srgbClr val="00264D"/>
              </a:solidFill>
              <a:latin typeface="+mn-lt"/>
              <a:ea typeface="宋体" panose="02010600030101010101" pitchFamily="2" charset="-122"/>
              <a:cs typeface="+mn-cs"/>
            </a:endParaRPr>
          </a:p>
          <a:p>
            <a:r>
              <a:rPr lang="zh-CN" altLang="en-US" sz="2400" dirty="0">
                <a:solidFill>
                  <a:srgbClr val="00264D"/>
                </a:solidFill>
                <a:latin typeface="+mn-lt"/>
                <a:ea typeface="宋体" panose="02010600030101010101" pitchFamily="2" charset="-122"/>
                <a:cs typeface="+mn-cs"/>
              </a:rPr>
              <a:t>（</a:t>
            </a:r>
            <a:r>
              <a:rPr lang="en-US" altLang="zh-CN" sz="2400" dirty="0">
                <a:solidFill>
                  <a:srgbClr val="00264D"/>
                </a:solidFill>
                <a:ea typeface="宋体" panose="02010600030101010101" pitchFamily="2" charset="-122"/>
              </a:rPr>
              <a:t>5</a:t>
            </a:r>
            <a:r>
              <a:rPr lang="zh-CN" altLang="en-US" sz="2400" dirty="0">
                <a:solidFill>
                  <a:srgbClr val="00264D"/>
                </a:solidFill>
                <a:latin typeface="+mn-lt"/>
                <a:ea typeface="宋体" panose="02010600030101010101" pitchFamily="2" charset="-122"/>
                <a:cs typeface="+mn-cs"/>
              </a:rPr>
              <a:t>） 随时对现有设备及其修理、报废情况进行统计、查询，要求能够按类别和时间段（某日期之前）查询。</a:t>
            </a:r>
            <a:endParaRPr lang="zh-CN" altLang="en-US" sz="2400" dirty="0">
              <a:solidFill>
                <a:srgbClr val="0A85FF"/>
              </a:solidFill>
              <a:latin typeface="+mn-lt"/>
              <a:ea typeface="宋体" panose="02010600030101010101" pitchFamily="2" charset="-122"/>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vert="horz" wrap="square" lIns="91440" tIns="45720" rIns="91440" bIns="45720" anchor="ctr" anchorCtr="0"/>
          <a:lstStyle/>
          <a:p>
            <a:r>
              <a:rPr lang="zh-CN" altLang="en-US" dirty="0">
                <a:latin typeface="+mj-lt"/>
                <a:ea typeface="黑体" panose="02010609060101010101" pitchFamily="49" charset="-122"/>
                <a:cs typeface="+mj-cs"/>
              </a:rPr>
              <a:t>课题一：实验室设备管理系统</a:t>
            </a:r>
            <a:endParaRPr lang="zh-CN" altLang="en-US" dirty="0">
              <a:latin typeface="+mj-lt"/>
              <a:ea typeface="黑体" panose="02010609060101010101" pitchFamily="49" charset="-122"/>
              <a:cs typeface="+mj-cs"/>
            </a:endParaRPr>
          </a:p>
        </p:txBody>
      </p:sp>
      <p:sp>
        <p:nvSpPr>
          <p:cNvPr id="16387" name="内容占位符 2"/>
          <p:cNvSpPr>
            <a:spLocks noGrp="1"/>
          </p:cNvSpPr>
          <p:nvPr>
            <p:ph idx="1"/>
          </p:nvPr>
        </p:nvSpPr>
        <p:spPr>
          <a:xfrm>
            <a:off x="457200" y="1000125"/>
            <a:ext cx="8401050" cy="4933950"/>
          </a:xfrm>
        </p:spPr>
        <p:txBody>
          <a:bodyPr vert="horz" wrap="square" lIns="91440" tIns="45720" rIns="91440" bIns="45720" anchor="t" anchorCtr="0"/>
          <a:lstStyle/>
          <a:p>
            <a:r>
              <a:rPr lang="en-US" altLang="zh-CN" dirty="0">
                <a:solidFill>
                  <a:srgbClr val="0A85FF"/>
                </a:solidFill>
                <a:ea typeface="宋体" panose="02010600030101010101" pitchFamily="2" charset="-122"/>
              </a:rPr>
              <a:t>2</a:t>
            </a:r>
            <a:r>
              <a:rPr lang="zh-CN" altLang="en-US" dirty="0">
                <a:solidFill>
                  <a:srgbClr val="0A85FF"/>
                </a:solidFill>
                <a:ea typeface="宋体" panose="02010600030101010101" pitchFamily="2" charset="-122"/>
              </a:rPr>
              <a:t>．技术要求以及限定条件</a:t>
            </a:r>
            <a:endParaRPr lang="en-US" altLang="zh-CN" dirty="0">
              <a:solidFill>
                <a:srgbClr val="0A85FF"/>
              </a:solidFill>
              <a:ea typeface="宋体" panose="02010600030101010101" pitchFamily="2" charset="-122"/>
            </a:endParaRPr>
          </a:p>
          <a:p>
            <a:r>
              <a:rPr lang="zh-CN" altLang="en-US" sz="2400" dirty="0">
                <a:solidFill>
                  <a:srgbClr val="00264D"/>
                </a:solidFill>
                <a:ea typeface="宋体" panose="02010600030101010101" pitchFamily="2" charset="-122"/>
              </a:rPr>
              <a:t>（</a:t>
            </a:r>
            <a:r>
              <a:rPr lang="en-US" altLang="zh-CN" sz="2400" dirty="0">
                <a:solidFill>
                  <a:srgbClr val="00264D"/>
                </a:solidFill>
                <a:ea typeface="宋体" panose="02010600030101010101" pitchFamily="2" charset="-122"/>
              </a:rPr>
              <a:t>1</a:t>
            </a:r>
            <a:r>
              <a:rPr lang="zh-CN" altLang="en-US" sz="2400" dirty="0">
                <a:solidFill>
                  <a:srgbClr val="00264D"/>
                </a:solidFill>
                <a:ea typeface="宋体" panose="02010600030101010101" pitchFamily="2" charset="-122"/>
              </a:rPr>
              <a:t>） 所有工作由专门人员负责完成，其他人不得任意使用</a:t>
            </a:r>
            <a:endParaRPr lang="zh-CN" altLang="en-US" sz="2400" dirty="0">
              <a:solidFill>
                <a:srgbClr val="00264D"/>
              </a:solidFill>
              <a:ea typeface="宋体" panose="02010600030101010101" pitchFamily="2" charset="-122"/>
            </a:endParaRPr>
          </a:p>
          <a:p>
            <a:r>
              <a:rPr lang="zh-CN" altLang="en-US" sz="2400" dirty="0">
                <a:solidFill>
                  <a:srgbClr val="00264D"/>
                </a:solidFill>
                <a:ea typeface="宋体" panose="02010600030101010101" pitchFamily="2" charset="-122"/>
              </a:rPr>
              <a:t>（</a:t>
            </a:r>
            <a:r>
              <a:rPr lang="en-US" altLang="zh-CN" sz="2400" dirty="0">
                <a:solidFill>
                  <a:srgbClr val="00264D"/>
                </a:solidFill>
                <a:ea typeface="宋体" panose="02010600030101010101" pitchFamily="2" charset="-122"/>
              </a:rPr>
              <a:t>2</a:t>
            </a:r>
            <a:r>
              <a:rPr lang="zh-CN" altLang="en-US" sz="2400" dirty="0">
                <a:solidFill>
                  <a:srgbClr val="00264D"/>
                </a:solidFill>
                <a:ea typeface="宋体" panose="02010600030101010101" pitchFamily="2" charset="-122"/>
              </a:rPr>
              <a:t>） 每件设备在作入库登记时均由系统按类别自动顺序编号，形成设备号；设备报废时要及时修改相应的设备记录，且有领导认可。</a:t>
            </a:r>
            <a:endParaRPr lang="zh-CN" altLang="en-US" sz="2400" dirty="0">
              <a:solidFill>
                <a:srgbClr val="00264D"/>
              </a:solidFill>
              <a:ea typeface="宋体" panose="02010600030101010101" pitchFamily="2" charset="-122"/>
            </a:endParaRPr>
          </a:p>
          <a:p>
            <a:r>
              <a:rPr lang="zh-CN" altLang="en-US" sz="2400" dirty="0">
                <a:solidFill>
                  <a:srgbClr val="00264D"/>
                </a:solidFill>
                <a:ea typeface="宋体" panose="02010600030101010101" pitchFamily="2" charset="-122"/>
              </a:rPr>
              <a:t>（</a:t>
            </a:r>
            <a:r>
              <a:rPr lang="en-US" altLang="zh-CN" sz="2400" dirty="0">
                <a:solidFill>
                  <a:srgbClr val="00264D"/>
                </a:solidFill>
                <a:ea typeface="宋体" panose="02010600030101010101" pitchFamily="2" charset="-122"/>
              </a:rPr>
              <a:t>3</a:t>
            </a:r>
            <a:r>
              <a:rPr lang="zh-CN" altLang="en-US" sz="2400" dirty="0">
                <a:solidFill>
                  <a:srgbClr val="00264D"/>
                </a:solidFill>
                <a:ea typeface="宋体" panose="02010600030101010101" pitchFamily="2" charset="-122"/>
              </a:rPr>
              <a:t>） 本系统的数据存储至少应包含：设备记录、修理记录、报废记录、购买申请。</a:t>
            </a:r>
            <a:endParaRPr lang="zh-CN" altLang="en-US" sz="2400" dirty="0">
              <a:solidFill>
                <a:srgbClr val="00264D"/>
              </a:solidFill>
              <a:ea typeface="宋体" panose="02010600030101010101" pitchFamily="2" charset="-122"/>
            </a:endParaRPr>
          </a:p>
          <a:p>
            <a:r>
              <a:rPr lang="zh-CN" altLang="en-US" sz="2400" dirty="0">
                <a:solidFill>
                  <a:srgbClr val="00264D"/>
                </a:solidFill>
                <a:ea typeface="宋体" panose="02010600030101010101" pitchFamily="2" charset="-122"/>
              </a:rPr>
              <a:t>（</a:t>
            </a:r>
            <a:r>
              <a:rPr lang="en-US" altLang="zh-CN" sz="2400" dirty="0">
                <a:solidFill>
                  <a:srgbClr val="00264D"/>
                </a:solidFill>
                <a:ea typeface="宋体" panose="02010600030101010101" pitchFamily="2" charset="-122"/>
              </a:rPr>
              <a:t>4</a:t>
            </a:r>
            <a:r>
              <a:rPr lang="zh-CN" altLang="en-US" sz="2400" dirty="0">
                <a:solidFill>
                  <a:srgbClr val="00264D"/>
                </a:solidFill>
                <a:ea typeface="宋体" panose="02010600030101010101" pitchFamily="2" charset="-122"/>
              </a:rPr>
              <a:t>） 本系统的输入项至少包含：新设备信息、修理信息、申请购买信息、报废信息、具体查询统计要求。</a:t>
            </a:r>
            <a:endParaRPr lang="zh-CN" altLang="en-US" sz="2400" dirty="0">
              <a:solidFill>
                <a:srgbClr val="00264D"/>
              </a:solidFill>
              <a:ea typeface="宋体" panose="02010600030101010101" pitchFamily="2" charset="-122"/>
            </a:endParaRPr>
          </a:p>
          <a:p>
            <a:r>
              <a:rPr lang="zh-CN" altLang="en-US" sz="2400" dirty="0">
                <a:solidFill>
                  <a:srgbClr val="00264D"/>
                </a:solidFill>
                <a:ea typeface="宋体" panose="02010600030101010101" pitchFamily="2" charset="-122"/>
              </a:rPr>
              <a:t>本系统的输出项至少包含：设备购买申请表、修理</a:t>
            </a:r>
            <a:r>
              <a:rPr lang="en-US" altLang="zh-CN" sz="2400" dirty="0">
                <a:solidFill>
                  <a:srgbClr val="00264D"/>
                </a:solidFill>
                <a:ea typeface="宋体" panose="02010600030101010101" pitchFamily="2" charset="-122"/>
              </a:rPr>
              <a:t>/</a:t>
            </a:r>
            <a:r>
              <a:rPr lang="zh-CN" altLang="en-US" sz="2400" dirty="0">
                <a:solidFill>
                  <a:srgbClr val="00264D"/>
                </a:solidFill>
                <a:ea typeface="宋体" panose="02010600030101010101" pitchFamily="2" charset="-122"/>
              </a:rPr>
              <a:t>报废注销</a:t>
            </a:r>
            <a:r>
              <a:rPr lang="en-US" altLang="zh-CN" sz="2400" dirty="0">
                <a:solidFill>
                  <a:srgbClr val="00264D"/>
                </a:solidFill>
                <a:ea typeface="宋体" panose="02010600030101010101" pitchFamily="2" charset="-122"/>
              </a:rPr>
              <a:t>/</a:t>
            </a:r>
            <a:r>
              <a:rPr lang="zh-CN" altLang="en-US" sz="2400" dirty="0">
                <a:solidFill>
                  <a:srgbClr val="00264D"/>
                </a:solidFill>
                <a:ea typeface="宋体" panose="02010600030101010101" pitchFamily="2" charset="-122"/>
              </a:rPr>
              <a:t>设备资金统计表。</a:t>
            </a:r>
            <a:endParaRPr lang="zh-CN" altLang="en-US" sz="2400" dirty="0">
              <a:solidFill>
                <a:srgbClr val="00264D"/>
              </a:solidFill>
              <a:ea typeface="宋体" panose="0201060003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a:xfrm>
            <a:off x="228600" y="160362"/>
            <a:ext cx="8686800" cy="620688"/>
          </a:xfrm>
        </p:spPr>
        <p:txBody>
          <a:bodyPr vert="horz" wrap="square" lIns="91440" tIns="45720" rIns="91440" bIns="45720" anchor="ctr" anchorCtr="0"/>
          <a:lstStyle/>
          <a:p>
            <a:r>
              <a:rPr lang="zh-CN" altLang="en-US" dirty="0">
                <a:latin typeface="+mj-lt"/>
                <a:ea typeface="黑体" panose="02010609060101010101" pitchFamily="49" charset="-122"/>
                <a:cs typeface="+mj-cs"/>
              </a:rPr>
              <a:t>课题二：学院课程安排系统</a:t>
            </a:r>
            <a:endParaRPr lang="zh-CN" altLang="en-US" dirty="0">
              <a:latin typeface="+mj-lt"/>
              <a:ea typeface="黑体" panose="02010609060101010101" pitchFamily="49" charset="-122"/>
              <a:cs typeface="+mj-cs"/>
            </a:endParaRPr>
          </a:p>
        </p:txBody>
      </p:sp>
      <p:sp>
        <p:nvSpPr>
          <p:cNvPr id="17411" name="内容占位符 2"/>
          <p:cNvSpPr>
            <a:spLocks noGrp="1"/>
          </p:cNvSpPr>
          <p:nvPr>
            <p:ph idx="1"/>
          </p:nvPr>
        </p:nvSpPr>
        <p:spPr>
          <a:xfrm>
            <a:off x="457200" y="1143000"/>
            <a:ext cx="8229600" cy="4933950"/>
          </a:xfrm>
        </p:spPr>
        <p:txBody>
          <a:bodyPr vert="horz" wrap="square" lIns="91440" tIns="45720" rIns="91440" bIns="45720" anchor="t" anchorCtr="0"/>
          <a:lstStyle/>
          <a:p>
            <a:r>
              <a:rPr lang="en-US" altLang="zh-CN" dirty="0">
                <a:solidFill>
                  <a:srgbClr val="0A85FF"/>
                </a:solidFill>
                <a:ea typeface="宋体" panose="02010600030101010101" pitchFamily="2" charset="-122"/>
              </a:rPr>
              <a:t>1</a:t>
            </a:r>
            <a:r>
              <a:rPr lang="zh-CN" altLang="en-US" dirty="0">
                <a:solidFill>
                  <a:srgbClr val="0A85FF"/>
                </a:solidFill>
                <a:ea typeface="宋体" panose="02010600030101010101" pitchFamily="2" charset="-122"/>
              </a:rPr>
              <a:t>．系统简介</a:t>
            </a:r>
            <a:endParaRPr lang="zh-CN" altLang="en-US" dirty="0">
              <a:solidFill>
                <a:srgbClr val="0A85FF"/>
              </a:solidFill>
              <a:ea typeface="宋体" panose="02010600030101010101" pitchFamily="2" charset="-122"/>
            </a:endParaRPr>
          </a:p>
          <a:p>
            <a:r>
              <a:rPr lang="zh-CN" altLang="en-US" sz="2400" dirty="0">
                <a:solidFill>
                  <a:srgbClr val="00264D"/>
                </a:solidFill>
                <a:ea typeface="宋体" panose="02010600030101010101" pitchFamily="2" charset="-122"/>
              </a:rPr>
              <a:t>每个学期的期中，学校教务处向各个学院发出下各学期的教学计划，包括课程名称、课程代码、课时、班级类别（本科、专科、成人教育、研究生）、班号等；学院教学主管人员根据教学任务和要求给出各个课程的相关限制（如：任课教师的职称、上课的班数、最高和最低周学时数等）；任课教师自报本人授课计划，经所在教研室协调确认，将教学计划上交学院主管教学计划的人员，批准后上报学校教务处，最终由教务处给出下个学期全学院教师的教学任务书。</a:t>
            </a:r>
            <a:endParaRPr lang="zh-CN" altLang="en-US" sz="2400" dirty="0">
              <a:solidFill>
                <a:srgbClr val="00264D"/>
              </a:solidFill>
              <a:ea typeface="宋体" panose="02010600030101010101" pitchFamily="2" charset="-122"/>
            </a:endParaRPr>
          </a:p>
          <a:p>
            <a:r>
              <a:rPr lang="zh-CN" altLang="en-US" sz="2400" dirty="0">
                <a:solidFill>
                  <a:srgbClr val="00264D"/>
                </a:solidFill>
                <a:ea typeface="宋体" panose="02010600030101010101" pitchFamily="2" charset="-122"/>
              </a:rPr>
              <a:t>假设上述排课过程全部由人工操作，现要求为上述过程实现计算机自动处理过程。</a:t>
            </a:r>
            <a:endParaRPr lang="zh-CN" altLang="en-US" sz="2400" dirty="0">
              <a:solidFill>
                <a:srgbClr val="00264D"/>
              </a:solidFill>
              <a:ea typeface="宋体" panose="02010600030101010101" pitchFamily="2" charset="-122"/>
            </a:endParaRPr>
          </a:p>
          <a:p>
            <a:endParaRPr lang="zh-CN" altLang="en-US" sz="2400" dirty="0">
              <a:solidFill>
                <a:srgbClr val="00264D"/>
              </a:solidFill>
              <a:latin typeface="+mn-lt"/>
              <a:ea typeface="宋体" panose="02010600030101010101" pitchFamily="2" charset="-122"/>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a:xfrm>
            <a:off x="214313" y="0"/>
            <a:ext cx="8686800" cy="980728"/>
          </a:xfrm>
        </p:spPr>
        <p:txBody>
          <a:bodyPr vert="horz" wrap="square" lIns="91440" tIns="45720" rIns="91440" bIns="45720" anchor="ctr" anchorCtr="0"/>
          <a:lstStyle/>
          <a:p>
            <a:r>
              <a:rPr lang="zh-CN" altLang="en-US" dirty="0">
                <a:latin typeface="+mj-lt"/>
                <a:ea typeface="黑体" panose="02010609060101010101" pitchFamily="49" charset="-122"/>
                <a:cs typeface="+mj-cs"/>
              </a:rPr>
              <a:t>课题二：学院课程安排</a:t>
            </a:r>
            <a:r>
              <a:rPr lang="zh-CN" altLang="en-US" dirty="0"/>
              <a:t>系统</a:t>
            </a:r>
            <a:endParaRPr lang="zh-CN" altLang="en-US" dirty="0">
              <a:latin typeface="+mj-lt"/>
              <a:ea typeface="黑体" panose="02010609060101010101" pitchFamily="49" charset="-122"/>
              <a:cs typeface="+mj-cs"/>
            </a:endParaRPr>
          </a:p>
        </p:txBody>
      </p:sp>
      <p:sp>
        <p:nvSpPr>
          <p:cNvPr id="18435" name="内容占位符 2"/>
          <p:cNvSpPr>
            <a:spLocks noGrp="1"/>
          </p:cNvSpPr>
          <p:nvPr>
            <p:ph idx="1"/>
          </p:nvPr>
        </p:nvSpPr>
        <p:spPr>
          <a:xfrm>
            <a:off x="457200" y="1295400"/>
            <a:ext cx="8472488" cy="4933950"/>
          </a:xfrm>
        </p:spPr>
        <p:txBody>
          <a:bodyPr vert="horz" wrap="square" lIns="91440" tIns="45720" rIns="91440" bIns="45720" anchor="t" anchorCtr="0"/>
          <a:lstStyle/>
          <a:p>
            <a:r>
              <a:rPr lang="en-US" altLang="zh-CN" dirty="0">
                <a:solidFill>
                  <a:srgbClr val="0A85FF"/>
                </a:solidFill>
                <a:ea typeface="宋体" panose="02010600030101010101" pitchFamily="2" charset="-122"/>
              </a:rPr>
              <a:t>2</a:t>
            </a:r>
            <a:r>
              <a:rPr lang="zh-CN" altLang="en-US" dirty="0">
                <a:solidFill>
                  <a:srgbClr val="0A85FF"/>
                </a:solidFill>
                <a:ea typeface="宋体" panose="02010600030101010101" pitchFamily="2" charset="-122"/>
              </a:rPr>
              <a:t>．限制条件</a:t>
            </a:r>
            <a:endParaRPr lang="zh-CN" altLang="en-US" dirty="0">
              <a:solidFill>
                <a:srgbClr val="0A85FF"/>
              </a:solidFill>
              <a:ea typeface="宋体" panose="02010600030101010101" pitchFamily="2" charset="-122"/>
            </a:endParaRPr>
          </a:p>
          <a:p>
            <a:r>
              <a:rPr lang="zh-CN" altLang="en-US" sz="2400" dirty="0">
                <a:solidFill>
                  <a:srgbClr val="00264D"/>
                </a:solidFill>
                <a:ea typeface="宋体" panose="02010600030101010101" pitchFamily="2" charset="-122"/>
              </a:rPr>
              <a:t>（1）每位教师的主讲课程门数不超过2门/学期：讲师以下职称的教师不能承担学院定主课的主讲任务。</a:t>
            </a:r>
            <a:endParaRPr lang="zh-CN" altLang="en-US" sz="2400" dirty="0">
              <a:solidFill>
                <a:srgbClr val="00264D"/>
              </a:solidFill>
              <a:ea typeface="宋体" panose="02010600030101010101" pitchFamily="2" charset="-122"/>
            </a:endParaRPr>
          </a:p>
          <a:p>
            <a:r>
              <a:rPr lang="zh-CN" altLang="en-US" sz="2400" dirty="0">
                <a:solidFill>
                  <a:srgbClr val="00264D"/>
                </a:solidFill>
                <a:ea typeface="宋体" panose="02010600030101010101" pitchFamily="2" charset="-122"/>
              </a:rPr>
              <a:t>（2）学院副院长以上干部的主讲课时不能超过4学时/周。</a:t>
            </a:r>
            <a:endParaRPr lang="zh-CN" altLang="en-US" sz="2400" dirty="0">
              <a:solidFill>
                <a:srgbClr val="00264D"/>
              </a:solidFill>
              <a:ea typeface="宋体" panose="02010600030101010101" pitchFamily="2" charset="-122"/>
            </a:endParaRPr>
          </a:p>
          <a:p>
            <a:r>
              <a:rPr lang="zh-CN" altLang="en-US" sz="2400" dirty="0">
                <a:solidFill>
                  <a:srgbClr val="00264D"/>
                </a:solidFill>
                <a:ea typeface="宋体" panose="02010600030101010101" pitchFamily="2" charset="-122"/>
              </a:rPr>
              <a:t>（3）本学期出现严重教学事故的教师不能承担下学期的主讲任务。</a:t>
            </a:r>
            <a:endParaRPr lang="zh-CN" altLang="en-US" sz="2400" dirty="0">
              <a:solidFill>
                <a:srgbClr val="00264D"/>
              </a:solidFill>
              <a:ea typeface="宋体" panose="02010600030101010101" pitchFamily="2" charset="-122"/>
            </a:endParaRPr>
          </a:p>
          <a:p>
            <a:r>
              <a:rPr lang="zh-CN" altLang="en-US" sz="2400" dirty="0">
                <a:solidFill>
                  <a:srgbClr val="00264D"/>
                </a:solidFill>
                <a:ea typeface="宋体" panose="02010600030101010101" pitchFamily="2" charset="-122"/>
              </a:rPr>
              <a:t>（4）本系统的输入项至少包括：教务处布置的教学计划，学院教师自报的授课计划和学院定的有关授课限制条件。</a:t>
            </a:r>
            <a:endParaRPr lang="zh-CN" altLang="en-US" sz="2400" dirty="0">
              <a:solidFill>
                <a:srgbClr val="00264D"/>
              </a:solidFill>
              <a:ea typeface="宋体" panose="02010600030101010101" pitchFamily="2" charset="-122"/>
            </a:endParaRPr>
          </a:p>
          <a:p>
            <a:r>
              <a:rPr lang="zh-CN" altLang="en-US" sz="2400" dirty="0">
                <a:solidFill>
                  <a:srgbClr val="00264D"/>
                </a:solidFill>
                <a:ea typeface="宋体" panose="02010600030101010101" pitchFamily="2" charset="-122"/>
              </a:rPr>
              <a:t>（5）本系统的输出项至少包括：教务处最终下达全院教师的教学任务书和学院各个班级下各学期的课程表（可以不含上课地点）。</a:t>
            </a:r>
            <a:endParaRPr lang="zh-CN" altLang="en-US" sz="2400" dirty="0">
              <a:solidFill>
                <a:srgbClr val="00264D"/>
              </a:solidFill>
              <a:ea typeface="宋体" panose="02010600030101010101" pitchFamily="2" charset="-122"/>
            </a:endParaRPr>
          </a:p>
          <a:p>
            <a:endParaRPr lang="zh-CN" altLang="en-US" sz="2400" dirty="0">
              <a:solidFill>
                <a:schemeClr val="tx1">
                  <a:lumMod val="50000"/>
                </a:schemeClr>
              </a:solidFill>
              <a:latin typeface="+mn-lt"/>
              <a:ea typeface="宋体" panose="02010600030101010101" pitchFamily="2" charset="-122"/>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a:xfrm>
            <a:off x="214313" y="-285750"/>
            <a:ext cx="8686800" cy="1071563"/>
          </a:xfrm>
        </p:spPr>
        <p:txBody>
          <a:bodyPr vert="horz" wrap="square" lIns="91440" tIns="45720" rIns="91440" bIns="45720" anchor="ctr" anchorCtr="0"/>
          <a:lstStyle/>
          <a:p>
            <a:r>
              <a:rPr lang="zh-CN" altLang="en-US" dirty="0">
                <a:latin typeface="+mj-lt"/>
                <a:ea typeface="黑体" panose="02010609060101010101" pitchFamily="49" charset="-122"/>
                <a:cs typeface="+mj-cs"/>
              </a:rPr>
              <a:t>课题三：</a:t>
            </a:r>
            <a:r>
              <a:rPr lang="zh-CN" altLang="en-US" dirty="0">
                <a:sym typeface="+mn-ea"/>
              </a:rPr>
              <a:t>数字识别系统</a:t>
            </a:r>
            <a:endParaRPr lang="zh-CN" altLang="en-US" dirty="0">
              <a:latin typeface="+mj-lt"/>
              <a:ea typeface="黑体" panose="02010609060101010101" pitchFamily="49" charset="-122"/>
              <a:cs typeface="+mj-cs"/>
            </a:endParaRPr>
          </a:p>
        </p:txBody>
      </p:sp>
      <p:sp>
        <p:nvSpPr>
          <p:cNvPr id="17411" name="内容占位符 2"/>
          <p:cNvSpPr>
            <a:spLocks noGrp="1"/>
          </p:cNvSpPr>
          <p:nvPr>
            <p:ph idx="1"/>
          </p:nvPr>
        </p:nvSpPr>
        <p:spPr>
          <a:xfrm>
            <a:off x="457200" y="1143000"/>
            <a:ext cx="8229600" cy="4933950"/>
          </a:xfrm>
        </p:spPr>
        <p:txBody>
          <a:bodyPr vert="horz" wrap="square" lIns="91440" tIns="45720" rIns="91440" bIns="45720" anchor="t" anchorCtr="0"/>
          <a:lstStyle/>
          <a:p>
            <a:r>
              <a:rPr lang="en-US" altLang="zh-CN" dirty="0">
                <a:solidFill>
                  <a:srgbClr val="0A85FF"/>
                </a:solidFill>
                <a:ea typeface="宋体" panose="02010600030101010101" pitchFamily="2" charset="-122"/>
              </a:rPr>
              <a:t>1</a:t>
            </a:r>
            <a:r>
              <a:rPr lang="zh-CN" altLang="en-US" dirty="0">
                <a:solidFill>
                  <a:srgbClr val="0A85FF"/>
                </a:solidFill>
                <a:ea typeface="宋体" panose="02010600030101010101" pitchFamily="2" charset="-122"/>
              </a:rPr>
              <a:t>．系统简介</a:t>
            </a:r>
            <a:endParaRPr lang="zh-CN" altLang="en-US" dirty="0">
              <a:solidFill>
                <a:srgbClr val="0A85FF"/>
              </a:solidFill>
              <a:ea typeface="宋体" panose="02010600030101010101" pitchFamily="2" charset="-122"/>
            </a:endParaRPr>
          </a:p>
          <a:p>
            <a:r>
              <a:rPr lang="zh-CN" altLang="en-US" sz="2400" dirty="0">
                <a:solidFill>
                  <a:srgbClr val="00264D"/>
                </a:solidFill>
                <a:ea typeface="宋体" panose="02010600030101010101" pitchFamily="2" charset="-122"/>
              </a:rPr>
              <a:t>开发一个基于</a:t>
            </a:r>
            <a:r>
              <a:rPr lang="en-US" altLang="zh-CN" sz="2400" dirty="0">
                <a:solidFill>
                  <a:srgbClr val="00264D"/>
                </a:solidFill>
                <a:ea typeface="宋体" panose="02010600030101010101" pitchFamily="2" charset="-122"/>
              </a:rPr>
              <a:t>MNIST</a:t>
            </a:r>
            <a:r>
              <a:rPr lang="zh-CN" altLang="en-US" sz="2400" dirty="0">
                <a:solidFill>
                  <a:srgbClr val="00264D"/>
                </a:solidFill>
                <a:ea typeface="宋体" panose="02010600030101010101" pitchFamily="2" charset="-122"/>
              </a:rPr>
              <a:t>数据集的手写数字识别工具，用户通过上传手写数字图片（</a:t>
            </a:r>
            <a:r>
              <a:rPr lang="en-US" altLang="zh-CN" sz="2400" dirty="0">
                <a:solidFill>
                  <a:srgbClr val="00264D"/>
                </a:solidFill>
                <a:ea typeface="宋体" panose="02010600030101010101" pitchFamily="2" charset="-122"/>
              </a:rPr>
              <a:t>28x28</a:t>
            </a:r>
            <a:r>
              <a:rPr lang="zh-CN" altLang="en-US" sz="2400" dirty="0">
                <a:solidFill>
                  <a:srgbClr val="00264D"/>
                </a:solidFill>
                <a:ea typeface="宋体" panose="02010600030101010101" pitchFamily="2" charset="-122"/>
              </a:rPr>
              <a:t>像素），系统调用预训练模型（如</a:t>
            </a:r>
            <a:r>
              <a:rPr lang="en-US" altLang="zh-CN" sz="2400" dirty="0">
                <a:solidFill>
                  <a:srgbClr val="00264D"/>
                </a:solidFill>
                <a:ea typeface="宋体" panose="02010600030101010101" pitchFamily="2" charset="-122"/>
              </a:rPr>
              <a:t>KNN</a:t>
            </a:r>
            <a:r>
              <a:rPr lang="zh-CN" altLang="en-US" sz="2400" dirty="0">
                <a:solidFill>
                  <a:srgbClr val="00264D"/>
                </a:solidFill>
                <a:ea typeface="宋体" panose="02010600030101010101" pitchFamily="2" charset="-122"/>
              </a:rPr>
              <a:t>或</a:t>
            </a:r>
            <a:r>
              <a:rPr lang="en-US" altLang="zh-CN" sz="2400" dirty="0">
                <a:solidFill>
                  <a:srgbClr val="00264D"/>
                </a:solidFill>
                <a:ea typeface="宋体" panose="02010600030101010101" pitchFamily="2" charset="-122"/>
              </a:rPr>
              <a:t>CNN</a:t>
            </a:r>
            <a:r>
              <a:rPr lang="zh-CN" altLang="en-US" sz="2400" dirty="0">
                <a:solidFill>
                  <a:srgbClr val="00264D"/>
                </a:solidFill>
                <a:ea typeface="宋体" panose="02010600030101010101" pitchFamily="2" charset="-122"/>
              </a:rPr>
              <a:t>）识别数字，并返回识别结果与置信度。</a:t>
            </a:r>
            <a:br>
              <a:rPr lang="zh-CN" altLang="en-US" sz="2400" dirty="0">
                <a:solidFill>
                  <a:srgbClr val="00264D"/>
                </a:solidFill>
                <a:latin typeface="+mn-lt"/>
                <a:ea typeface="宋体" panose="02010600030101010101" pitchFamily="2" charset="-122"/>
                <a:cs typeface="+mn-cs"/>
              </a:rPr>
            </a:br>
            <a:endParaRPr lang="zh-CN" altLang="en-US" sz="2400" dirty="0">
              <a:solidFill>
                <a:srgbClr val="00264D"/>
              </a:solidFill>
              <a:latin typeface="+mn-lt"/>
              <a:ea typeface="宋体" panose="02010600030101010101" pitchFamily="2" charset="-122"/>
              <a:cs typeface="+mn-cs"/>
            </a:endParaRPr>
          </a:p>
          <a:p>
            <a:endParaRPr lang="zh-CN" altLang="en-US" sz="2400" dirty="0">
              <a:solidFill>
                <a:srgbClr val="00264D"/>
              </a:solidFill>
              <a:latin typeface="+mn-lt"/>
              <a:ea typeface="宋体" panose="02010600030101010101" pitchFamily="2" charset="-122"/>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vert="horz" wrap="square" lIns="91440" tIns="45720" rIns="91440" bIns="45720" anchor="ctr" anchorCtr="0"/>
          <a:lstStyle/>
          <a:p>
            <a:r>
              <a:rPr lang="zh-CN" altLang="en-US" dirty="0">
                <a:latin typeface="+mj-lt"/>
                <a:ea typeface="黑体" panose="02010609060101010101" pitchFamily="49" charset="-122"/>
                <a:cs typeface="+mj-cs"/>
              </a:rPr>
              <a:t>课题三：数字识别系统</a:t>
            </a:r>
            <a:endParaRPr lang="zh-CN" altLang="en-US" dirty="0">
              <a:latin typeface="+mj-lt"/>
              <a:ea typeface="黑体" panose="02010609060101010101" pitchFamily="49" charset="-122"/>
              <a:cs typeface="+mj-cs"/>
            </a:endParaRPr>
          </a:p>
        </p:txBody>
      </p:sp>
      <p:sp>
        <p:nvSpPr>
          <p:cNvPr id="16387" name="内容占位符 2"/>
          <p:cNvSpPr>
            <a:spLocks noGrp="1"/>
          </p:cNvSpPr>
          <p:nvPr>
            <p:ph idx="1"/>
          </p:nvPr>
        </p:nvSpPr>
        <p:spPr>
          <a:xfrm>
            <a:off x="457200" y="1000125"/>
            <a:ext cx="8401050" cy="4933950"/>
          </a:xfrm>
        </p:spPr>
        <p:txBody>
          <a:bodyPr vert="horz" wrap="square" lIns="91440" tIns="45720" rIns="91440" bIns="45720" anchor="t" anchorCtr="0"/>
          <a:lstStyle/>
          <a:p>
            <a:r>
              <a:rPr lang="en-US" altLang="zh-CN" dirty="0">
                <a:solidFill>
                  <a:srgbClr val="0A85FF"/>
                </a:solidFill>
                <a:ea typeface="宋体" panose="02010600030101010101" pitchFamily="2" charset="-122"/>
              </a:rPr>
              <a:t>2</a:t>
            </a:r>
            <a:r>
              <a:rPr lang="zh-CN" altLang="en-US" dirty="0">
                <a:solidFill>
                  <a:srgbClr val="0A85FF"/>
                </a:solidFill>
                <a:ea typeface="宋体" panose="02010600030101010101" pitchFamily="2" charset="-122"/>
              </a:rPr>
              <a:t>．技术要求以及限定条件</a:t>
            </a:r>
            <a:endParaRPr lang="en-US" altLang="zh-CN" dirty="0">
              <a:solidFill>
                <a:srgbClr val="0A85FF"/>
              </a:solidFill>
              <a:ea typeface="宋体" panose="02010600030101010101" pitchFamily="2" charset="-122"/>
            </a:endParaRPr>
          </a:p>
          <a:p>
            <a:r>
              <a:rPr lang="zh-CN" altLang="en-US" sz="2400" b="0" dirty="0">
                <a:solidFill>
                  <a:srgbClr val="00264D"/>
                </a:solidFill>
                <a:ea typeface="宋体" panose="02010600030101010101" pitchFamily="2" charset="-122"/>
              </a:rPr>
              <a:t>技术要求：</a:t>
            </a:r>
            <a:endParaRPr lang="zh-CN" altLang="en-US" sz="2400" b="0" dirty="0">
              <a:solidFill>
                <a:srgbClr val="00264D"/>
              </a:solidFill>
              <a:ea typeface="宋体" panose="02010600030101010101" pitchFamily="2" charset="-122"/>
            </a:endParaRPr>
          </a:p>
          <a:p>
            <a:r>
              <a:rPr lang="zh-CN" altLang="en-US" sz="2400" b="0" dirty="0">
                <a:solidFill>
                  <a:srgbClr val="00264D"/>
                </a:solidFill>
                <a:ea typeface="宋体" panose="02010600030101010101" pitchFamily="2" charset="-122"/>
              </a:rPr>
              <a:t>（</a:t>
            </a:r>
            <a:r>
              <a:rPr lang="en-US" altLang="zh-CN" sz="2400" b="0" dirty="0">
                <a:solidFill>
                  <a:srgbClr val="00264D"/>
                </a:solidFill>
                <a:ea typeface="宋体" panose="02010600030101010101" pitchFamily="2" charset="-122"/>
              </a:rPr>
              <a:t>1</a:t>
            </a:r>
            <a:r>
              <a:rPr lang="zh-CN" altLang="en-US" sz="2400" b="0" dirty="0">
                <a:solidFill>
                  <a:srgbClr val="00264D"/>
                </a:solidFill>
                <a:ea typeface="宋体" panose="02010600030101010101" pitchFamily="2" charset="-122"/>
              </a:rPr>
              <a:t>）使用</a:t>
            </a:r>
            <a:r>
              <a:rPr lang="en-US" altLang="zh-CN" sz="2400" b="0" dirty="0">
                <a:solidFill>
                  <a:srgbClr val="00264D"/>
                </a:solidFill>
                <a:ea typeface="宋体" panose="02010600030101010101" pitchFamily="2" charset="-122"/>
              </a:rPr>
              <a:t>Python</a:t>
            </a:r>
            <a:r>
              <a:rPr lang="zh-CN" altLang="en-US" sz="2400" b="0" dirty="0">
                <a:solidFill>
                  <a:srgbClr val="00264D"/>
                </a:solidFill>
                <a:ea typeface="宋体" panose="02010600030101010101" pitchFamily="2" charset="-122"/>
              </a:rPr>
              <a:t>的</a:t>
            </a:r>
            <a:r>
              <a:rPr lang="en-US" altLang="zh-CN" sz="2400" b="0" dirty="0">
                <a:solidFill>
                  <a:srgbClr val="00264D"/>
                </a:solidFill>
                <a:ea typeface="宋体" panose="02010600030101010101" pitchFamily="2" charset="-122"/>
              </a:rPr>
              <a:t>TensorFlow/Keras</a:t>
            </a:r>
            <a:r>
              <a:rPr lang="zh-CN" altLang="en-US" sz="2400" b="0" dirty="0">
                <a:solidFill>
                  <a:srgbClr val="00264D"/>
                </a:solidFill>
                <a:ea typeface="宋体" panose="02010600030101010101" pitchFamily="2" charset="-122"/>
              </a:rPr>
              <a:t>或</a:t>
            </a:r>
            <a:r>
              <a:rPr lang="zh-CN" altLang="en-US" sz="2400" b="0" dirty="0">
                <a:solidFill>
                  <a:srgbClr val="00264D"/>
                </a:solidFill>
                <a:ea typeface="宋体" panose="02010600030101010101" pitchFamily="2" charset="-122"/>
              </a:rPr>
              <a:t>其他加载预训练</a:t>
            </a:r>
            <a:r>
              <a:rPr lang="en-US" altLang="zh-CN" sz="2400" b="0" dirty="0">
                <a:solidFill>
                  <a:srgbClr val="00264D"/>
                </a:solidFill>
                <a:ea typeface="宋体" panose="02010600030101010101" pitchFamily="2" charset="-122"/>
              </a:rPr>
              <a:t>MNIST</a:t>
            </a:r>
            <a:r>
              <a:rPr lang="zh-CN" altLang="en-US" sz="2400" b="0" dirty="0">
                <a:solidFill>
                  <a:srgbClr val="00264D"/>
                </a:solidFill>
                <a:ea typeface="宋体" panose="02010600030101010101" pitchFamily="2" charset="-122"/>
              </a:rPr>
              <a:t>模型。</a:t>
            </a:r>
            <a:endParaRPr lang="zh-CN" altLang="en-US" sz="2400" b="0" dirty="0">
              <a:solidFill>
                <a:srgbClr val="00264D"/>
              </a:solidFill>
              <a:ea typeface="宋体" panose="02010600030101010101" pitchFamily="2" charset="-122"/>
            </a:endParaRPr>
          </a:p>
          <a:p>
            <a:r>
              <a:rPr lang="zh-CN" altLang="en-US" sz="2400" b="0" dirty="0">
                <a:solidFill>
                  <a:srgbClr val="00264D"/>
                </a:solidFill>
                <a:ea typeface="宋体" panose="02010600030101010101" pitchFamily="2" charset="-122"/>
              </a:rPr>
              <a:t>（</a:t>
            </a:r>
            <a:r>
              <a:rPr lang="en-US" altLang="zh-CN" sz="2400" b="0" dirty="0">
                <a:solidFill>
                  <a:srgbClr val="00264D"/>
                </a:solidFill>
                <a:ea typeface="宋体" panose="02010600030101010101" pitchFamily="2" charset="-122"/>
              </a:rPr>
              <a:t>2</a:t>
            </a:r>
            <a:r>
              <a:rPr lang="zh-CN" altLang="en-US" sz="2400" b="0" dirty="0">
                <a:solidFill>
                  <a:srgbClr val="00264D"/>
                </a:solidFill>
                <a:ea typeface="宋体" panose="02010600030101010101" pitchFamily="2" charset="-122"/>
              </a:rPr>
              <a:t>）开发</a:t>
            </a:r>
            <a:r>
              <a:rPr lang="en-US" altLang="zh-CN" sz="2400" b="0" dirty="0">
                <a:solidFill>
                  <a:srgbClr val="00264D"/>
                </a:solidFill>
                <a:ea typeface="宋体" panose="02010600030101010101" pitchFamily="2" charset="-122"/>
              </a:rPr>
              <a:t>Web</a:t>
            </a:r>
            <a:r>
              <a:rPr lang="zh-CN" altLang="en-US" sz="2400" b="0" dirty="0">
                <a:solidFill>
                  <a:srgbClr val="00264D"/>
                </a:solidFill>
                <a:ea typeface="宋体" panose="02010600030101010101" pitchFamily="2" charset="-122"/>
              </a:rPr>
              <a:t>界面，提供图片上传与结果展示功能。</a:t>
            </a:r>
            <a:endParaRPr lang="en-US" altLang="zh-CN" sz="2400" b="0" dirty="0">
              <a:solidFill>
                <a:srgbClr val="00264D"/>
              </a:solidFill>
              <a:ea typeface="宋体" panose="02010600030101010101" pitchFamily="2" charset="-122"/>
            </a:endParaRPr>
          </a:p>
          <a:p>
            <a:endParaRPr lang="zh-CN" altLang="en-US" sz="1050" b="0" dirty="0">
              <a:solidFill>
                <a:srgbClr val="00264D"/>
              </a:solidFill>
              <a:ea typeface="宋体" panose="02010600030101010101" pitchFamily="2" charset="-122"/>
            </a:endParaRPr>
          </a:p>
          <a:p>
            <a:r>
              <a:rPr lang="zh-CN" altLang="en-US" sz="2400" b="0" dirty="0">
                <a:solidFill>
                  <a:srgbClr val="00264D"/>
                </a:solidFill>
                <a:ea typeface="宋体" panose="02010600030101010101" pitchFamily="2" charset="-122"/>
              </a:rPr>
              <a:t>限定条件：</a:t>
            </a:r>
            <a:endParaRPr lang="zh-CN" altLang="en-US" sz="2400" b="0" dirty="0">
              <a:solidFill>
                <a:srgbClr val="00264D"/>
              </a:solidFill>
              <a:ea typeface="宋体" panose="02010600030101010101" pitchFamily="2" charset="-122"/>
            </a:endParaRPr>
          </a:p>
          <a:p>
            <a:r>
              <a:rPr lang="zh-CN" altLang="en-US" sz="2400" b="0" dirty="0">
                <a:solidFill>
                  <a:srgbClr val="00264D"/>
                </a:solidFill>
                <a:ea typeface="宋体" panose="02010600030101010101" pitchFamily="2" charset="-122"/>
              </a:rPr>
              <a:t>（</a:t>
            </a:r>
            <a:r>
              <a:rPr lang="en-US" altLang="zh-CN" sz="2400" b="0" dirty="0">
                <a:solidFill>
                  <a:srgbClr val="00264D"/>
                </a:solidFill>
                <a:ea typeface="宋体" panose="02010600030101010101" pitchFamily="2" charset="-122"/>
              </a:rPr>
              <a:t>1</a:t>
            </a:r>
            <a:r>
              <a:rPr lang="zh-CN" altLang="en-US" sz="2400" b="0" dirty="0">
                <a:solidFill>
                  <a:srgbClr val="00264D"/>
                </a:solidFill>
                <a:ea typeface="宋体" panose="02010600030101010101" pitchFamily="2" charset="-122"/>
              </a:rPr>
              <a:t>）系统需包含模型加载状态提示、识别历史记录。</a:t>
            </a:r>
            <a:endParaRPr lang="zh-CN" altLang="en-US" sz="2400" b="0" dirty="0">
              <a:solidFill>
                <a:srgbClr val="00264D"/>
              </a:solidFill>
              <a:ea typeface="宋体" panose="02010600030101010101" pitchFamily="2" charset="-122"/>
            </a:endParaRPr>
          </a:p>
          <a:p>
            <a:r>
              <a:rPr lang="zh-CN" altLang="en-US" sz="2400" b="0" dirty="0">
                <a:solidFill>
                  <a:srgbClr val="00264D"/>
                </a:solidFill>
                <a:ea typeface="宋体" panose="02010600030101010101" pitchFamily="2" charset="-122"/>
              </a:rPr>
              <a:t>（</a:t>
            </a:r>
            <a:r>
              <a:rPr lang="en-US" altLang="zh-CN" sz="2400" b="0" dirty="0">
                <a:solidFill>
                  <a:srgbClr val="00264D"/>
                </a:solidFill>
                <a:ea typeface="宋体" panose="02010600030101010101" pitchFamily="2" charset="-122"/>
              </a:rPr>
              <a:t>2</a:t>
            </a:r>
            <a:r>
              <a:rPr lang="zh-CN" altLang="en-US" sz="2400" b="0" dirty="0">
                <a:solidFill>
                  <a:srgbClr val="00264D"/>
                </a:solidFill>
                <a:ea typeface="宋体" panose="02010600030101010101" pitchFamily="2" charset="-122"/>
              </a:rPr>
              <a:t>）输入项：手写数字图片（</a:t>
            </a:r>
            <a:r>
              <a:rPr lang="en-US" altLang="zh-CN" sz="2400" b="0" dirty="0">
                <a:solidFill>
                  <a:srgbClr val="00264D"/>
                </a:solidFill>
                <a:ea typeface="宋体" panose="02010600030101010101" pitchFamily="2" charset="-122"/>
              </a:rPr>
              <a:t>PNG/JPG</a:t>
            </a:r>
            <a:r>
              <a:rPr lang="zh-CN" altLang="en-US" sz="2400" b="0" dirty="0">
                <a:solidFill>
                  <a:srgbClr val="00264D"/>
                </a:solidFill>
                <a:ea typeface="宋体" panose="02010600030101010101" pitchFamily="2" charset="-122"/>
              </a:rPr>
              <a:t>格式）；输出项：识别数字、置信度（百分比）。</a:t>
            </a:r>
            <a:endParaRPr lang="zh-CN" altLang="en-US" sz="2400" b="0" dirty="0">
              <a:solidFill>
                <a:srgbClr val="00264D"/>
              </a:solidFill>
              <a:ea typeface="宋体" panose="02010600030101010101" pitchFamily="2" charset="-122"/>
            </a:endParaRPr>
          </a:p>
          <a:p>
            <a:r>
              <a:rPr lang="zh-CN" altLang="en-US" sz="2400" b="0" dirty="0">
                <a:solidFill>
                  <a:srgbClr val="00264D"/>
                </a:solidFill>
                <a:ea typeface="宋体" panose="02010600030101010101" pitchFamily="2" charset="-122"/>
              </a:rPr>
              <a:t>（</a:t>
            </a:r>
            <a:r>
              <a:rPr lang="en-US" altLang="zh-CN" sz="2400" b="0" dirty="0">
                <a:solidFill>
                  <a:srgbClr val="00264D"/>
                </a:solidFill>
                <a:ea typeface="宋体" panose="02010600030101010101" pitchFamily="2" charset="-122"/>
              </a:rPr>
              <a:t>3</a:t>
            </a:r>
            <a:r>
              <a:rPr lang="zh-CN" altLang="en-US" sz="2400" b="0" dirty="0">
                <a:solidFill>
                  <a:srgbClr val="00264D"/>
                </a:solidFill>
                <a:ea typeface="宋体" panose="02010600030101010101" pitchFamily="2" charset="-122"/>
              </a:rPr>
              <a:t>）数据存储：本地文件夹存储用户上传图片（按时间戳命名）。</a:t>
            </a:r>
            <a:endParaRPr lang="zh-CN" altLang="en-US" sz="2400" b="0" dirty="0">
              <a:solidFill>
                <a:srgbClr val="00264D"/>
              </a:solidFill>
              <a:ea typeface="宋体" panose="02010600030101010101" pitchFamily="2" charset="-122"/>
            </a:endParaRPr>
          </a:p>
          <a:p>
            <a:pPr>
              <a:buFont typeface="Wingdings" panose="05000000000000000000" pitchFamily="2" charset="2"/>
              <a:buNone/>
            </a:pPr>
            <a:endParaRPr lang="zh-CN" altLang="en-US" sz="2400" dirty="0">
              <a:solidFill>
                <a:srgbClr val="00264D"/>
              </a:solidFill>
              <a:latin typeface="+mn-lt"/>
              <a:ea typeface="宋体" panose="02010600030101010101" pitchFamily="2" charset="-122"/>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vert="horz" wrap="square" lIns="91440" tIns="45720" rIns="91440" bIns="45720" anchor="ctr" anchorCtr="0"/>
          <a:lstStyle/>
          <a:p>
            <a:r>
              <a:rPr lang="zh-CN" altLang="en-US" dirty="0">
                <a:latin typeface="+mj-lt"/>
                <a:ea typeface="黑体" panose="02010609060101010101" pitchFamily="49" charset="-122"/>
                <a:cs typeface="+mj-cs"/>
              </a:rPr>
              <a:t>课题四：智能垃圾分类系统</a:t>
            </a:r>
            <a:endParaRPr lang="zh-CN" altLang="en-US" dirty="0">
              <a:latin typeface="+mj-lt"/>
              <a:ea typeface="黑体" panose="02010609060101010101" pitchFamily="49" charset="-122"/>
              <a:cs typeface="+mj-cs"/>
            </a:endParaRPr>
          </a:p>
        </p:txBody>
      </p:sp>
      <p:sp>
        <p:nvSpPr>
          <p:cNvPr id="16387" name="内容占位符 2"/>
          <p:cNvSpPr>
            <a:spLocks noGrp="1"/>
          </p:cNvSpPr>
          <p:nvPr>
            <p:ph idx="1"/>
          </p:nvPr>
        </p:nvSpPr>
        <p:spPr>
          <a:xfrm>
            <a:off x="457200" y="1000125"/>
            <a:ext cx="8270875" cy="4933950"/>
          </a:xfrm>
        </p:spPr>
        <p:txBody>
          <a:bodyPr vert="horz" wrap="square" lIns="91440" tIns="45720" rIns="91440" bIns="45720" anchor="t" anchorCtr="0"/>
          <a:lstStyle/>
          <a:p>
            <a:r>
              <a:rPr lang="en-US" altLang="zh-CN" dirty="0">
                <a:solidFill>
                  <a:srgbClr val="0A85FF"/>
                </a:solidFill>
                <a:ea typeface="宋体" panose="02010600030101010101" pitchFamily="2" charset="-122"/>
                <a:sym typeface="+mn-ea"/>
              </a:rPr>
              <a:t>1</a:t>
            </a:r>
            <a:r>
              <a:rPr lang="zh-CN" altLang="en-US" dirty="0">
                <a:solidFill>
                  <a:srgbClr val="0A85FF"/>
                </a:solidFill>
                <a:ea typeface="宋体" panose="02010600030101010101" pitchFamily="2" charset="-122"/>
                <a:sym typeface="+mn-ea"/>
              </a:rPr>
              <a:t>．系统简介</a:t>
            </a:r>
            <a:endParaRPr lang="zh-CN" altLang="en-US" dirty="0">
              <a:solidFill>
                <a:srgbClr val="0A85FF"/>
              </a:solidFill>
              <a:ea typeface="宋体" panose="02010600030101010101" pitchFamily="2" charset="-122"/>
            </a:endParaRPr>
          </a:p>
          <a:p>
            <a:r>
              <a:rPr lang="zh-CN" altLang="en-US" sz="2400" dirty="0">
                <a:solidFill>
                  <a:srgbClr val="00264D"/>
                </a:solidFill>
                <a:ea typeface="宋体" panose="02010600030101010101" pitchFamily="2" charset="-122"/>
              </a:rPr>
              <a:t>开发一个通过物品名称分类垃圾类型的工具，用户输入物品名（如</a:t>
            </a:r>
            <a:r>
              <a:rPr lang="en-US" altLang="zh-CN" sz="2400" dirty="0">
                <a:solidFill>
                  <a:srgbClr val="00264D"/>
                </a:solidFill>
                <a:ea typeface="宋体" panose="02010600030101010101" pitchFamily="2" charset="-122"/>
              </a:rPr>
              <a:t>“</a:t>
            </a:r>
            <a:r>
              <a:rPr lang="zh-CN" altLang="en-US" sz="2400" dirty="0">
                <a:solidFill>
                  <a:srgbClr val="00264D"/>
                </a:solidFill>
                <a:ea typeface="宋体" panose="02010600030101010101" pitchFamily="2" charset="-122"/>
              </a:rPr>
              <a:t>电池</a:t>
            </a:r>
            <a:r>
              <a:rPr lang="en-US" altLang="zh-CN" sz="2400" dirty="0">
                <a:solidFill>
                  <a:srgbClr val="00264D"/>
                </a:solidFill>
                <a:ea typeface="宋体" panose="02010600030101010101" pitchFamily="2" charset="-122"/>
              </a:rPr>
              <a:t>”</a:t>
            </a:r>
            <a:r>
              <a:rPr lang="zh-CN" altLang="en-US" sz="2400" dirty="0">
                <a:solidFill>
                  <a:srgbClr val="00264D"/>
                </a:solidFill>
                <a:ea typeface="宋体" panose="02010600030101010101" pitchFamily="2" charset="-122"/>
              </a:rPr>
              <a:t>、</a:t>
            </a:r>
            <a:r>
              <a:rPr lang="en-US" altLang="zh-CN" sz="2400" dirty="0">
                <a:solidFill>
                  <a:srgbClr val="00264D"/>
                </a:solidFill>
                <a:ea typeface="宋体" panose="02010600030101010101" pitchFamily="2" charset="-122"/>
              </a:rPr>
              <a:t>“</a:t>
            </a:r>
            <a:r>
              <a:rPr lang="zh-CN" altLang="en-US" sz="2400" dirty="0">
                <a:solidFill>
                  <a:srgbClr val="00264D"/>
                </a:solidFill>
                <a:ea typeface="宋体" panose="02010600030101010101" pitchFamily="2" charset="-122"/>
              </a:rPr>
              <a:t>纸箱</a:t>
            </a:r>
            <a:r>
              <a:rPr lang="en-US" altLang="zh-CN" sz="2400" dirty="0">
                <a:solidFill>
                  <a:srgbClr val="00264D"/>
                </a:solidFill>
                <a:ea typeface="宋体" panose="02010600030101010101" pitchFamily="2" charset="-122"/>
              </a:rPr>
              <a:t>”</a:t>
            </a:r>
            <a:r>
              <a:rPr lang="zh-CN" altLang="en-US" sz="2400" dirty="0">
                <a:solidFill>
                  <a:srgbClr val="00264D"/>
                </a:solidFill>
                <a:ea typeface="宋体" panose="02010600030101010101" pitchFamily="2" charset="-122"/>
              </a:rPr>
              <a:t>），系统调用预设分类规则返回垃圾类型（可回收</a:t>
            </a:r>
            <a:r>
              <a:rPr lang="en-US" altLang="zh-CN" sz="2400" dirty="0">
                <a:solidFill>
                  <a:srgbClr val="00264D"/>
                </a:solidFill>
                <a:ea typeface="宋体" panose="02010600030101010101" pitchFamily="2" charset="-122"/>
              </a:rPr>
              <a:t>/</a:t>
            </a:r>
            <a:r>
              <a:rPr lang="zh-CN" altLang="en-US" sz="2400" dirty="0">
                <a:solidFill>
                  <a:srgbClr val="00264D"/>
                </a:solidFill>
                <a:ea typeface="宋体" panose="02010600030101010101" pitchFamily="2" charset="-122"/>
              </a:rPr>
              <a:t>有害</a:t>
            </a:r>
            <a:r>
              <a:rPr lang="en-US" altLang="zh-CN" sz="2400" dirty="0">
                <a:solidFill>
                  <a:srgbClr val="00264D"/>
                </a:solidFill>
                <a:ea typeface="宋体" panose="02010600030101010101" pitchFamily="2" charset="-122"/>
              </a:rPr>
              <a:t>/</a:t>
            </a:r>
            <a:r>
              <a:rPr lang="zh-CN" altLang="en-US" sz="2400" dirty="0">
                <a:solidFill>
                  <a:srgbClr val="00264D"/>
                </a:solidFill>
                <a:ea typeface="宋体" panose="02010600030101010101" pitchFamily="2" charset="-122"/>
              </a:rPr>
              <a:t>厨余</a:t>
            </a:r>
            <a:r>
              <a:rPr lang="en-US" altLang="zh-CN" sz="2400" dirty="0">
                <a:solidFill>
                  <a:srgbClr val="00264D"/>
                </a:solidFill>
                <a:ea typeface="宋体" panose="02010600030101010101" pitchFamily="2" charset="-122"/>
              </a:rPr>
              <a:t>/</a:t>
            </a:r>
            <a:r>
              <a:rPr lang="zh-CN" altLang="en-US" sz="2400" dirty="0">
                <a:solidFill>
                  <a:srgbClr val="00264D"/>
                </a:solidFill>
                <a:ea typeface="宋体" panose="02010600030101010101" pitchFamily="2" charset="-122"/>
              </a:rPr>
              <a:t>其他），并显示分类依据。</a:t>
            </a:r>
            <a:endParaRPr lang="zh-CN" altLang="en-US" sz="2400" dirty="0">
              <a:solidFill>
                <a:srgbClr val="00264D"/>
              </a:solidFill>
              <a:ea typeface="宋体" panose="02010600030101010101" pitchFamily="2" charset="-122"/>
            </a:endParaRPr>
          </a:p>
          <a:p>
            <a:pPr indent="0">
              <a:buFont typeface="Wingdings" panose="05000000000000000000" pitchFamily="2" charset="2"/>
              <a:buNone/>
            </a:pPr>
            <a:endParaRPr lang="zh-CN" altLang="en-US" sz="2400" dirty="0">
              <a:solidFill>
                <a:srgbClr val="00264D"/>
              </a:solidFill>
              <a:latin typeface="+mn-lt"/>
              <a:ea typeface="宋体" panose="02010600030101010101" pitchFamily="2" charset="-122"/>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vert="horz" wrap="square" lIns="91440" tIns="45720" rIns="91440" bIns="45720" anchor="ctr" anchorCtr="0"/>
          <a:lstStyle/>
          <a:p>
            <a:r>
              <a:rPr lang="zh-CN" altLang="en-US" dirty="0">
                <a:latin typeface="+mj-lt"/>
                <a:ea typeface="黑体" panose="02010609060101010101" pitchFamily="49" charset="-122"/>
                <a:cs typeface="+mj-cs"/>
              </a:rPr>
              <a:t>课题四：智能垃圾分类系统</a:t>
            </a:r>
            <a:endParaRPr lang="zh-CN" altLang="en-US" dirty="0">
              <a:latin typeface="+mj-lt"/>
              <a:ea typeface="黑体" panose="02010609060101010101" pitchFamily="49" charset="-122"/>
              <a:cs typeface="+mj-cs"/>
            </a:endParaRPr>
          </a:p>
        </p:txBody>
      </p:sp>
      <p:sp>
        <p:nvSpPr>
          <p:cNvPr id="16387" name="内容占位符 2"/>
          <p:cNvSpPr>
            <a:spLocks noGrp="1"/>
          </p:cNvSpPr>
          <p:nvPr>
            <p:ph idx="1"/>
          </p:nvPr>
        </p:nvSpPr>
        <p:spPr>
          <a:xfrm>
            <a:off x="457200" y="1000125"/>
            <a:ext cx="8401050" cy="4933950"/>
          </a:xfrm>
        </p:spPr>
        <p:txBody>
          <a:bodyPr vert="horz" wrap="square" lIns="91440" tIns="45720" rIns="91440" bIns="45720" anchor="t" anchorCtr="0"/>
          <a:lstStyle/>
          <a:p>
            <a:r>
              <a:rPr lang="en-US" altLang="zh-CN" dirty="0">
                <a:solidFill>
                  <a:srgbClr val="0A85FF"/>
                </a:solidFill>
                <a:ea typeface="宋体" panose="02010600030101010101" pitchFamily="2" charset="-122"/>
              </a:rPr>
              <a:t>2</a:t>
            </a:r>
            <a:r>
              <a:rPr lang="zh-CN" altLang="en-US" dirty="0">
                <a:solidFill>
                  <a:srgbClr val="0A85FF"/>
                </a:solidFill>
                <a:ea typeface="宋体" panose="02010600030101010101" pitchFamily="2" charset="-122"/>
              </a:rPr>
              <a:t>．技术要求以及限定条件</a:t>
            </a:r>
            <a:endParaRPr lang="zh-CN" altLang="en-US" dirty="0">
              <a:solidFill>
                <a:srgbClr val="0A85FF"/>
              </a:solidFill>
              <a:ea typeface="宋体" panose="02010600030101010101" pitchFamily="2" charset="-122"/>
            </a:endParaRPr>
          </a:p>
          <a:p>
            <a:r>
              <a:rPr lang="zh-CN" altLang="en-US" sz="2400" dirty="0">
                <a:solidFill>
                  <a:srgbClr val="00264D"/>
                </a:solidFill>
                <a:ea typeface="宋体" panose="02010600030101010101" pitchFamily="2" charset="-122"/>
              </a:rPr>
              <a:t>技术要求：</a:t>
            </a:r>
            <a:endParaRPr lang="en-US" altLang="zh-CN" sz="2400" dirty="0">
              <a:solidFill>
                <a:srgbClr val="00264D"/>
              </a:solidFill>
              <a:ea typeface="宋体" panose="02010600030101010101" pitchFamily="2" charset="-122"/>
            </a:endParaRPr>
          </a:p>
          <a:p>
            <a:r>
              <a:rPr lang="zh-CN" altLang="en-US" sz="2400" dirty="0">
                <a:solidFill>
                  <a:srgbClr val="00264D"/>
                </a:solidFill>
                <a:ea typeface="宋体" panose="02010600030101010101" pitchFamily="2" charset="-122"/>
              </a:rPr>
              <a:t>（</a:t>
            </a:r>
            <a:r>
              <a:rPr lang="en-US" altLang="zh-CN" sz="2400" dirty="0">
                <a:solidFill>
                  <a:srgbClr val="00264D"/>
                </a:solidFill>
                <a:ea typeface="宋体" panose="02010600030101010101" pitchFamily="2" charset="-122"/>
              </a:rPr>
              <a:t>1</a:t>
            </a:r>
            <a:r>
              <a:rPr lang="zh-CN" altLang="en-US" sz="2400" dirty="0">
                <a:solidFill>
                  <a:srgbClr val="00264D"/>
                </a:solidFill>
                <a:ea typeface="宋体" panose="02010600030101010101" pitchFamily="2" charset="-122"/>
              </a:rPr>
              <a:t>）使用</a:t>
            </a:r>
            <a:r>
              <a:rPr lang="en-US" altLang="zh-CN" sz="2400" dirty="0">
                <a:solidFill>
                  <a:srgbClr val="00264D"/>
                </a:solidFill>
                <a:ea typeface="宋体" panose="02010600030101010101" pitchFamily="2" charset="-122"/>
              </a:rPr>
              <a:t>Python</a:t>
            </a:r>
            <a:r>
              <a:rPr lang="zh-CN" altLang="en-US" sz="2400" dirty="0">
                <a:solidFill>
                  <a:srgbClr val="00264D"/>
                </a:solidFill>
                <a:ea typeface="宋体" panose="02010600030101010101" pitchFamily="2" charset="-122"/>
              </a:rPr>
              <a:t>字典存储垃圾分类规则（物品名</a:t>
            </a:r>
            <a:r>
              <a:rPr lang="en-US" altLang="zh-CN" sz="2400" dirty="0">
                <a:solidFill>
                  <a:srgbClr val="00264D"/>
                </a:solidFill>
                <a:ea typeface="宋体" panose="02010600030101010101" pitchFamily="2" charset="-122"/>
              </a:rPr>
              <a:t>-</a:t>
            </a:r>
            <a:r>
              <a:rPr lang="zh-CN" altLang="en-US" sz="2400" dirty="0">
                <a:solidFill>
                  <a:srgbClr val="00264D"/>
                </a:solidFill>
                <a:ea typeface="宋体" panose="02010600030101010101" pitchFamily="2" charset="-122"/>
              </a:rPr>
              <a:t>类型</a:t>
            </a:r>
            <a:r>
              <a:rPr lang="en-US" altLang="zh-CN" sz="2400" dirty="0">
                <a:solidFill>
                  <a:srgbClr val="00264D"/>
                </a:solidFill>
                <a:ea typeface="宋体" panose="02010600030101010101" pitchFamily="2" charset="-122"/>
              </a:rPr>
              <a:t>-</a:t>
            </a:r>
            <a:r>
              <a:rPr lang="zh-CN" altLang="en-US" sz="2400" dirty="0">
                <a:solidFill>
                  <a:srgbClr val="00264D"/>
                </a:solidFill>
                <a:ea typeface="宋体" panose="02010600030101010101" pitchFamily="2" charset="-122"/>
              </a:rPr>
              <a:t>依据）。</a:t>
            </a:r>
            <a:endParaRPr lang="zh-CN" altLang="en-US" sz="2400" dirty="0">
              <a:solidFill>
                <a:srgbClr val="00264D"/>
              </a:solidFill>
              <a:ea typeface="宋体" panose="02010600030101010101" pitchFamily="2" charset="-122"/>
            </a:endParaRPr>
          </a:p>
          <a:p>
            <a:r>
              <a:rPr lang="zh-CN" altLang="en-US" sz="2400" dirty="0">
                <a:solidFill>
                  <a:srgbClr val="00264D"/>
                </a:solidFill>
                <a:ea typeface="宋体" panose="02010600030101010101" pitchFamily="2" charset="-122"/>
              </a:rPr>
              <a:t>（</a:t>
            </a:r>
            <a:r>
              <a:rPr lang="en-US" altLang="zh-CN" sz="2400" dirty="0">
                <a:solidFill>
                  <a:srgbClr val="00264D"/>
                </a:solidFill>
                <a:ea typeface="宋体" panose="02010600030101010101" pitchFamily="2" charset="-122"/>
              </a:rPr>
              <a:t>2</a:t>
            </a:r>
            <a:r>
              <a:rPr lang="zh-CN" altLang="en-US" sz="2400" dirty="0">
                <a:solidFill>
                  <a:srgbClr val="00264D"/>
                </a:solidFill>
                <a:ea typeface="宋体" panose="02010600030101010101" pitchFamily="2" charset="-122"/>
              </a:rPr>
              <a:t>）开发桌面应用，提供文本输入与结果展示功能。</a:t>
            </a:r>
            <a:endParaRPr lang="zh-CN" altLang="en-US" sz="2400" dirty="0">
              <a:solidFill>
                <a:srgbClr val="00264D"/>
              </a:solidFill>
              <a:ea typeface="宋体" panose="02010600030101010101" pitchFamily="2" charset="-122"/>
            </a:endParaRPr>
          </a:p>
          <a:p>
            <a:pPr>
              <a:buSzTx/>
            </a:pPr>
            <a:r>
              <a:rPr lang="zh-CN" altLang="en-US" sz="2400" dirty="0">
                <a:solidFill>
                  <a:srgbClr val="00264D"/>
                </a:solidFill>
                <a:ea typeface="宋体" panose="02010600030101010101" pitchFamily="2" charset="-122"/>
              </a:rPr>
              <a:t>限定条件：</a:t>
            </a:r>
            <a:endParaRPr lang="zh-CN" altLang="en-US" sz="2400" dirty="0">
              <a:solidFill>
                <a:srgbClr val="00264D"/>
              </a:solidFill>
              <a:ea typeface="宋体" panose="02010600030101010101" pitchFamily="2" charset="-122"/>
            </a:endParaRPr>
          </a:p>
          <a:p>
            <a:r>
              <a:rPr lang="zh-CN" altLang="en-US" sz="2400" dirty="0">
                <a:solidFill>
                  <a:srgbClr val="00264D"/>
                </a:solidFill>
                <a:ea typeface="宋体" panose="02010600030101010101" pitchFamily="2" charset="-122"/>
              </a:rPr>
              <a:t>（</a:t>
            </a:r>
            <a:r>
              <a:rPr lang="en-US" altLang="zh-CN" sz="2400" dirty="0">
                <a:solidFill>
                  <a:srgbClr val="00264D"/>
                </a:solidFill>
                <a:ea typeface="宋体" panose="02010600030101010101" pitchFamily="2" charset="-122"/>
              </a:rPr>
              <a:t>1</a:t>
            </a:r>
            <a:r>
              <a:rPr lang="zh-CN" altLang="en-US" sz="2400" dirty="0">
                <a:solidFill>
                  <a:srgbClr val="00264D"/>
                </a:solidFill>
                <a:ea typeface="宋体" panose="02010600030101010101" pitchFamily="2" charset="-122"/>
              </a:rPr>
              <a:t>）系统需包含分类规则编辑功能（管理员可添加</a:t>
            </a:r>
            <a:r>
              <a:rPr lang="en-US" altLang="zh-CN" sz="2400" dirty="0">
                <a:solidFill>
                  <a:srgbClr val="00264D"/>
                </a:solidFill>
                <a:ea typeface="宋体" panose="02010600030101010101" pitchFamily="2" charset="-122"/>
              </a:rPr>
              <a:t>/</a:t>
            </a:r>
            <a:r>
              <a:rPr lang="zh-CN" altLang="en-US" sz="2400" dirty="0">
                <a:solidFill>
                  <a:srgbClr val="00264D"/>
                </a:solidFill>
                <a:ea typeface="宋体" panose="02010600030101010101" pitchFamily="2" charset="-122"/>
              </a:rPr>
              <a:t>修改规则）。</a:t>
            </a:r>
            <a:endParaRPr lang="zh-CN" altLang="en-US" sz="2400" dirty="0">
              <a:solidFill>
                <a:srgbClr val="00264D"/>
              </a:solidFill>
              <a:ea typeface="宋体" panose="02010600030101010101" pitchFamily="2" charset="-122"/>
            </a:endParaRPr>
          </a:p>
          <a:p>
            <a:r>
              <a:rPr lang="zh-CN" altLang="en-US" sz="2400" dirty="0">
                <a:solidFill>
                  <a:srgbClr val="00264D"/>
                </a:solidFill>
                <a:ea typeface="宋体" panose="02010600030101010101" pitchFamily="2" charset="-122"/>
              </a:rPr>
              <a:t>（</a:t>
            </a:r>
            <a:r>
              <a:rPr lang="en-US" altLang="zh-CN" sz="2400" dirty="0">
                <a:solidFill>
                  <a:srgbClr val="00264D"/>
                </a:solidFill>
                <a:ea typeface="宋体" panose="02010600030101010101" pitchFamily="2" charset="-122"/>
              </a:rPr>
              <a:t>2</a:t>
            </a:r>
            <a:r>
              <a:rPr lang="zh-CN" altLang="en-US" sz="2400" dirty="0">
                <a:solidFill>
                  <a:srgbClr val="00264D"/>
                </a:solidFill>
                <a:ea typeface="宋体" panose="02010600030101010101" pitchFamily="2" charset="-122"/>
              </a:rPr>
              <a:t>）输入项：物品名称；输出项：垃圾类型、分类依据。</a:t>
            </a:r>
            <a:endParaRPr lang="zh-CN" altLang="en-US" sz="2400" dirty="0">
              <a:solidFill>
                <a:srgbClr val="00264D"/>
              </a:solidFill>
              <a:ea typeface="宋体" panose="02010600030101010101" pitchFamily="2" charset="-122"/>
            </a:endParaRPr>
          </a:p>
          <a:p>
            <a:r>
              <a:rPr lang="zh-CN" altLang="en-US" sz="2400" dirty="0">
                <a:solidFill>
                  <a:srgbClr val="00264D"/>
                </a:solidFill>
                <a:ea typeface="宋体" panose="02010600030101010101" pitchFamily="2" charset="-122"/>
              </a:rPr>
              <a:t>（</a:t>
            </a:r>
            <a:r>
              <a:rPr lang="en-US" altLang="zh-CN" sz="2400" dirty="0">
                <a:solidFill>
                  <a:srgbClr val="00264D"/>
                </a:solidFill>
                <a:ea typeface="宋体" panose="02010600030101010101" pitchFamily="2" charset="-122"/>
              </a:rPr>
              <a:t>3</a:t>
            </a:r>
            <a:r>
              <a:rPr lang="zh-CN" altLang="en-US" sz="2400" dirty="0">
                <a:solidFill>
                  <a:srgbClr val="00264D"/>
                </a:solidFill>
                <a:ea typeface="宋体" panose="02010600030101010101" pitchFamily="2" charset="-122"/>
              </a:rPr>
              <a:t>）数据存储：</a:t>
            </a:r>
            <a:r>
              <a:rPr lang="en-US" altLang="zh-CN" sz="2400" dirty="0">
                <a:solidFill>
                  <a:srgbClr val="00264D"/>
                </a:solidFill>
                <a:ea typeface="宋体" panose="02010600030101010101" pitchFamily="2" charset="-122"/>
              </a:rPr>
              <a:t>CSV</a:t>
            </a:r>
            <a:r>
              <a:rPr lang="zh-CN" altLang="en-US" sz="2400" dirty="0">
                <a:solidFill>
                  <a:srgbClr val="00264D"/>
                </a:solidFill>
                <a:ea typeface="宋体" panose="02010600030101010101" pitchFamily="2" charset="-122"/>
              </a:rPr>
              <a:t>文件存储分类规则。</a:t>
            </a:r>
            <a:endParaRPr lang="zh-CN" altLang="en-US" sz="2400" dirty="0">
              <a:solidFill>
                <a:srgbClr val="00264D"/>
              </a:solidFill>
              <a:ea typeface="宋体" panose="02010600030101010101" pitchFamily="2" charset="-122"/>
            </a:endParaRPr>
          </a:p>
          <a:p>
            <a:r>
              <a:rPr lang="zh-CN" altLang="en-US" sz="2400" dirty="0">
                <a:solidFill>
                  <a:srgbClr val="00264D"/>
                </a:solidFill>
                <a:ea typeface="宋体" panose="02010600030101010101" pitchFamily="2" charset="-122"/>
              </a:rPr>
              <a:t>扩展建议：支持图片识别垃圾类型（需集成简单</a:t>
            </a:r>
            <a:r>
              <a:rPr lang="en-US" altLang="zh-CN" sz="2400" dirty="0">
                <a:solidFill>
                  <a:srgbClr val="00264D"/>
                </a:solidFill>
                <a:ea typeface="宋体" panose="02010600030101010101" pitchFamily="2" charset="-122"/>
              </a:rPr>
              <a:t>CV</a:t>
            </a:r>
            <a:r>
              <a:rPr lang="zh-CN" altLang="en-US" sz="2400" dirty="0">
                <a:solidFill>
                  <a:srgbClr val="00264D"/>
                </a:solidFill>
                <a:ea typeface="宋体" panose="02010600030101010101" pitchFamily="2" charset="-122"/>
              </a:rPr>
              <a:t>模型）</a:t>
            </a:r>
            <a:endParaRPr lang="zh-CN" altLang="en-US" sz="2400" b="0" dirty="0">
              <a:solidFill>
                <a:srgbClr val="00264D"/>
              </a:solidFill>
              <a:ea typeface="宋体" panose="02010600030101010101" pitchFamily="2" charset="-122"/>
            </a:endParaRPr>
          </a:p>
          <a:p>
            <a:pPr>
              <a:buFont typeface="Wingdings" panose="05000000000000000000" pitchFamily="2" charset="2"/>
              <a:buNone/>
            </a:pPr>
            <a:endParaRPr lang="zh-CN" altLang="en-US" sz="2400" dirty="0">
              <a:solidFill>
                <a:srgbClr val="00264D"/>
              </a:solidFill>
              <a:latin typeface="+mn-lt"/>
              <a:ea typeface="宋体" panose="02010600030101010101" pitchFamily="2" charset="-122"/>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vert="horz" wrap="square" lIns="91440" tIns="45720" rIns="91440" bIns="45720" anchor="ctr" anchorCtr="0"/>
          <a:lstStyle/>
          <a:p>
            <a:r>
              <a:rPr lang="zh-CN" altLang="en-US" dirty="0">
                <a:latin typeface="+mj-lt"/>
                <a:ea typeface="黑体" panose="02010609060101010101" pitchFamily="49" charset="-122"/>
                <a:cs typeface="+mj-cs"/>
              </a:rPr>
              <a:t>课题五：房价预测系统</a:t>
            </a:r>
            <a:endParaRPr lang="zh-CN" altLang="en-US" dirty="0">
              <a:latin typeface="+mj-lt"/>
              <a:ea typeface="黑体" panose="02010609060101010101" pitchFamily="49" charset="-122"/>
              <a:cs typeface="+mj-cs"/>
            </a:endParaRPr>
          </a:p>
        </p:txBody>
      </p:sp>
      <p:sp>
        <p:nvSpPr>
          <p:cNvPr id="16387" name="内容占位符 2"/>
          <p:cNvSpPr>
            <a:spLocks noGrp="1"/>
          </p:cNvSpPr>
          <p:nvPr>
            <p:ph idx="1"/>
          </p:nvPr>
        </p:nvSpPr>
        <p:spPr>
          <a:xfrm>
            <a:off x="457200" y="1000125"/>
            <a:ext cx="8401050" cy="4933950"/>
          </a:xfrm>
        </p:spPr>
        <p:txBody>
          <a:bodyPr vert="horz" wrap="square" lIns="91440" tIns="45720" rIns="91440" bIns="45720" anchor="t" anchorCtr="0"/>
          <a:lstStyle/>
          <a:p>
            <a:pPr>
              <a:buSzTx/>
            </a:pPr>
            <a:r>
              <a:rPr lang="en-US" altLang="zh-CN" dirty="0">
                <a:solidFill>
                  <a:srgbClr val="0A85FF"/>
                </a:solidFill>
                <a:ea typeface="宋体" panose="02010600030101010101" pitchFamily="2" charset="-122"/>
                <a:sym typeface="+mn-ea"/>
              </a:rPr>
              <a:t>1</a:t>
            </a:r>
            <a:r>
              <a:rPr lang="zh-CN" altLang="en-US" dirty="0">
                <a:solidFill>
                  <a:srgbClr val="0A85FF"/>
                </a:solidFill>
                <a:ea typeface="宋体" panose="02010600030101010101" pitchFamily="2" charset="-122"/>
                <a:sym typeface="+mn-ea"/>
              </a:rPr>
              <a:t>．系统简介</a:t>
            </a:r>
            <a:endParaRPr lang="zh-CN" altLang="en-US" dirty="0">
              <a:solidFill>
                <a:srgbClr val="0A85FF"/>
              </a:solidFill>
              <a:ea typeface="宋体" panose="02010600030101010101" pitchFamily="2" charset="-122"/>
            </a:endParaRPr>
          </a:p>
          <a:p>
            <a:pPr>
              <a:buSzTx/>
            </a:pPr>
            <a:r>
              <a:rPr lang="zh-CN" altLang="en-US" sz="2400" dirty="0">
                <a:solidFill>
                  <a:srgbClr val="00264D"/>
                </a:solidFill>
                <a:ea typeface="宋体" panose="02010600030101010101" pitchFamily="2" charset="-122"/>
              </a:rPr>
              <a:t>开发一个通过线性回归模型预测房价的系统。用户输入房屋特征（如面积、卧室数），系统自动训练线性回归模型并预测房价，同时显示预测值与真实值的对比图。</a:t>
            </a:r>
            <a:endParaRPr lang="zh-CN" altLang="en-US" sz="2400" dirty="0">
              <a:solidFill>
                <a:srgbClr val="00264D"/>
              </a:solidFill>
              <a:ea typeface="宋体" panose="02010600030101010101" pitchFamily="2" charset="-122"/>
            </a:endParaRPr>
          </a:p>
          <a:p>
            <a:pPr algn="l">
              <a:buSzTx/>
              <a:buFont typeface="Wingdings" panose="05000000000000000000" pitchFamily="2" charset="2"/>
            </a:pPr>
            <a:endParaRPr lang="zh-CN" altLang="zh-CN" sz="2800" dirty="0">
              <a:solidFill>
                <a:srgbClr val="0A85FF"/>
              </a:solidFill>
              <a:latin typeface="+mn-lt"/>
              <a:ea typeface="宋体" panose="02010600030101010101" pitchFamily="2" charset="-122"/>
              <a:cs typeface="+mn-cs"/>
            </a:endParaRPr>
          </a:p>
          <a:p>
            <a:pPr indent="0">
              <a:buFont typeface="Wingdings" panose="05000000000000000000" pitchFamily="2" charset="2"/>
              <a:buNone/>
            </a:pPr>
            <a:endParaRPr lang="zh-CN" altLang="en-US" sz="2400" dirty="0">
              <a:solidFill>
                <a:srgbClr val="00264D"/>
              </a:solidFill>
              <a:latin typeface="+mn-lt"/>
              <a:ea typeface="宋体" panose="02010600030101010101" pitchFamily="2" charset="-122"/>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vert="horz" wrap="square" lIns="91440" tIns="45720" rIns="91440" bIns="45720" anchor="ctr" anchorCtr="0"/>
          <a:lstStyle/>
          <a:p>
            <a:r>
              <a:rPr lang="zh-CN" altLang="en-US" dirty="0">
                <a:latin typeface="+mj-lt"/>
                <a:ea typeface="黑体" panose="02010609060101010101" pitchFamily="49" charset="-122"/>
                <a:cs typeface="+mj-cs"/>
              </a:rPr>
              <a:t>课题五：房价预测系统</a:t>
            </a:r>
            <a:endParaRPr lang="zh-CN" altLang="en-US" dirty="0">
              <a:latin typeface="+mj-lt"/>
              <a:ea typeface="黑体" panose="02010609060101010101" pitchFamily="49" charset="-122"/>
              <a:cs typeface="+mj-cs"/>
            </a:endParaRPr>
          </a:p>
        </p:txBody>
      </p:sp>
      <p:sp>
        <p:nvSpPr>
          <p:cNvPr id="16387" name="内容占位符 2"/>
          <p:cNvSpPr>
            <a:spLocks noGrp="1"/>
          </p:cNvSpPr>
          <p:nvPr>
            <p:ph idx="1"/>
          </p:nvPr>
        </p:nvSpPr>
        <p:spPr>
          <a:xfrm>
            <a:off x="457200" y="1000125"/>
            <a:ext cx="8401050" cy="4933950"/>
          </a:xfrm>
        </p:spPr>
        <p:txBody>
          <a:bodyPr vert="horz" wrap="square" lIns="91440" tIns="45720" rIns="91440" bIns="45720" anchor="t" anchorCtr="0"/>
          <a:lstStyle/>
          <a:p>
            <a:r>
              <a:rPr lang="en-US" altLang="zh-CN" dirty="0">
                <a:solidFill>
                  <a:srgbClr val="0A85FF"/>
                </a:solidFill>
                <a:ea typeface="宋体" panose="02010600030101010101" pitchFamily="2" charset="-122"/>
              </a:rPr>
              <a:t>2</a:t>
            </a:r>
            <a:r>
              <a:rPr lang="zh-CN" altLang="en-US" dirty="0">
                <a:solidFill>
                  <a:srgbClr val="0A85FF"/>
                </a:solidFill>
                <a:ea typeface="宋体" panose="02010600030101010101" pitchFamily="2" charset="-122"/>
              </a:rPr>
              <a:t>．技术要求</a:t>
            </a:r>
            <a:endParaRPr lang="zh-CN" altLang="en-US" dirty="0">
              <a:solidFill>
                <a:srgbClr val="0A85FF"/>
              </a:solidFill>
              <a:ea typeface="宋体" panose="02010600030101010101" pitchFamily="2" charset="-122"/>
            </a:endParaRPr>
          </a:p>
          <a:p>
            <a:r>
              <a:rPr lang="zh-CN" altLang="en-US" sz="2400" dirty="0">
                <a:solidFill>
                  <a:srgbClr val="00264D"/>
                </a:solidFill>
                <a:ea typeface="宋体" panose="02010600030101010101" pitchFamily="2" charset="-122"/>
              </a:rPr>
              <a:t>（</a:t>
            </a:r>
            <a:r>
              <a:rPr lang="en-US" altLang="zh-CN" sz="2400" dirty="0">
                <a:solidFill>
                  <a:srgbClr val="00264D"/>
                </a:solidFill>
                <a:ea typeface="宋体" panose="02010600030101010101" pitchFamily="2" charset="-122"/>
              </a:rPr>
              <a:t>1</a:t>
            </a:r>
            <a:r>
              <a:rPr lang="zh-CN" altLang="en-US" sz="2400" dirty="0">
                <a:solidFill>
                  <a:srgbClr val="00264D"/>
                </a:solidFill>
                <a:ea typeface="宋体" panose="02010600030101010101" pitchFamily="2" charset="-122"/>
              </a:rPr>
              <a:t>）核心算法：使用</a:t>
            </a:r>
            <a:r>
              <a:rPr lang="en-US" altLang="zh-CN" sz="2400" dirty="0">
                <a:solidFill>
                  <a:srgbClr val="00264D"/>
                </a:solidFill>
                <a:ea typeface="宋体" panose="02010600030101010101" pitchFamily="2" charset="-122"/>
              </a:rPr>
              <a:t>scikit-learn</a:t>
            </a:r>
            <a:r>
              <a:rPr lang="zh-CN" altLang="en-US" sz="2400" dirty="0">
                <a:solidFill>
                  <a:srgbClr val="00264D"/>
                </a:solidFill>
                <a:ea typeface="宋体" panose="02010600030101010101" pitchFamily="2" charset="-122"/>
              </a:rPr>
              <a:t>的</a:t>
            </a:r>
            <a:r>
              <a:rPr lang="en-US" altLang="zh-CN" sz="2400" dirty="0">
                <a:solidFill>
                  <a:srgbClr val="00264D"/>
                </a:solidFill>
                <a:ea typeface="宋体" panose="02010600030101010101" pitchFamily="2" charset="-122"/>
              </a:rPr>
              <a:t>LinearRegression</a:t>
            </a:r>
            <a:r>
              <a:rPr lang="zh-CN" altLang="en-US" sz="2400" dirty="0">
                <a:solidFill>
                  <a:srgbClr val="00264D"/>
                </a:solidFill>
                <a:ea typeface="宋体" panose="02010600030101010101" pitchFamily="2" charset="-122"/>
              </a:rPr>
              <a:t>训练模型或者其他预测</a:t>
            </a:r>
            <a:r>
              <a:rPr lang="zh-CN" altLang="en-US" sz="2400" dirty="0">
                <a:solidFill>
                  <a:srgbClr val="00264D"/>
                </a:solidFill>
                <a:ea typeface="宋体" panose="02010600030101010101" pitchFamily="2" charset="-122"/>
              </a:rPr>
              <a:t>模型。</a:t>
            </a:r>
            <a:endParaRPr lang="zh-CN" altLang="en-US" sz="2400" dirty="0">
              <a:solidFill>
                <a:srgbClr val="00264D"/>
              </a:solidFill>
              <a:ea typeface="宋体" panose="02010600030101010101" pitchFamily="2" charset="-122"/>
            </a:endParaRPr>
          </a:p>
          <a:p>
            <a:r>
              <a:rPr lang="zh-CN" altLang="en-US" sz="2400" dirty="0">
                <a:solidFill>
                  <a:srgbClr val="00264D"/>
                </a:solidFill>
                <a:ea typeface="宋体" panose="02010600030101010101" pitchFamily="2" charset="-122"/>
              </a:rPr>
              <a:t>（</a:t>
            </a:r>
            <a:r>
              <a:rPr lang="en-US" altLang="zh-CN" sz="2400" dirty="0">
                <a:solidFill>
                  <a:srgbClr val="00264D"/>
                </a:solidFill>
                <a:ea typeface="宋体" panose="02010600030101010101" pitchFamily="2" charset="-122"/>
              </a:rPr>
              <a:t>2</a:t>
            </a:r>
            <a:r>
              <a:rPr lang="zh-CN" altLang="en-US" sz="2400" dirty="0">
                <a:solidFill>
                  <a:srgbClr val="00264D"/>
                </a:solidFill>
                <a:ea typeface="宋体" panose="02010600030101010101" pitchFamily="2" charset="-122"/>
              </a:rPr>
              <a:t>）数据流程：用户输入训练数据（如</a:t>
            </a:r>
            <a:r>
              <a:rPr lang="en-US" altLang="zh-CN" sz="2400" dirty="0">
                <a:solidFill>
                  <a:srgbClr val="00264D"/>
                </a:solidFill>
                <a:ea typeface="宋体" panose="02010600030101010101" pitchFamily="2" charset="-122"/>
              </a:rPr>
              <a:t>3</a:t>
            </a:r>
            <a:r>
              <a:rPr lang="zh-CN" altLang="en-US" sz="2400" dirty="0">
                <a:solidFill>
                  <a:srgbClr val="00264D"/>
                </a:solidFill>
                <a:ea typeface="宋体" panose="02010600030101010101" pitchFamily="2" charset="-122"/>
              </a:rPr>
              <a:t>组房屋面积和价格）；系统自动训练线性回归模型并保存参数；用户输入新房屋特征后，系统预测价格并显示误差。</a:t>
            </a:r>
            <a:endParaRPr lang="zh-CN" altLang="en-US" sz="2400" dirty="0">
              <a:solidFill>
                <a:srgbClr val="00264D"/>
              </a:solidFill>
              <a:ea typeface="宋体" panose="02010600030101010101" pitchFamily="2" charset="-122"/>
            </a:endParaRPr>
          </a:p>
          <a:p>
            <a:r>
              <a:rPr lang="zh-CN" altLang="en-US" sz="2400" dirty="0">
                <a:solidFill>
                  <a:srgbClr val="00264D"/>
                </a:solidFill>
                <a:ea typeface="宋体" panose="02010600030101010101" pitchFamily="2" charset="-122"/>
              </a:rPr>
              <a:t>（</a:t>
            </a:r>
            <a:r>
              <a:rPr lang="en-US" altLang="zh-CN" sz="2400" dirty="0">
                <a:solidFill>
                  <a:srgbClr val="00264D"/>
                </a:solidFill>
                <a:ea typeface="宋体" panose="02010600030101010101" pitchFamily="2" charset="-122"/>
              </a:rPr>
              <a:t>3</a:t>
            </a:r>
            <a:r>
              <a:rPr lang="zh-CN" altLang="en-US" sz="2400" dirty="0">
                <a:solidFill>
                  <a:srgbClr val="00264D"/>
                </a:solidFill>
                <a:ea typeface="宋体" panose="02010600030101010101" pitchFamily="2" charset="-122"/>
              </a:rPr>
              <a:t>）界面开发：构建界面，包含输入框、训练按钮、预测按钮和结果图表。</a:t>
            </a:r>
            <a:endParaRPr lang="zh-CN" altLang="en-US" sz="2400" dirty="0">
              <a:solidFill>
                <a:srgbClr val="00264D"/>
              </a:solidFill>
              <a:ea typeface="宋体" panose="02010600030101010101" pitchFamily="2" charset="-122"/>
            </a:endParaRPr>
          </a:p>
          <a:p>
            <a:pPr>
              <a:buFont typeface="Wingdings" panose="05000000000000000000" pitchFamily="2" charset="2"/>
              <a:buNone/>
            </a:pPr>
            <a:endParaRPr lang="zh-CN" altLang="en-US" sz="2400" dirty="0">
              <a:solidFill>
                <a:srgbClr val="00264D"/>
              </a:solidFill>
              <a:latin typeface="+mn-lt"/>
              <a:ea typeface="宋体" panose="02010600030101010101" pitchFamily="2" charset="-122"/>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vert="horz" wrap="square" lIns="91440" tIns="45720" rIns="91440" bIns="45720" anchor="ctr" anchorCtr="0"/>
          <a:lstStyle/>
          <a:p>
            <a:r>
              <a:rPr lang="zh-CN" altLang="en-US" dirty="0">
                <a:latin typeface="+mj-lt"/>
                <a:ea typeface="黑体" panose="02010609060101010101" pitchFamily="49" charset="-122"/>
                <a:cs typeface="+mj-cs"/>
              </a:rPr>
              <a:t>课题</a:t>
            </a:r>
            <a:r>
              <a:rPr lang="zh-CN" altLang="en-US" dirty="0"/>
              <a:t>六</a:t>
            </a:r>
            <a:r>
              <a:rPr lang="zh-CN" altLang="en-US" dirty="0">
                <a:latin typeface="+mj-lt"/>
                <a:ea typeface="黑体" panose="02010609060101010101" pitchFamily="49" charset="-122"/>
                <a:cs typeface="+mj-cs"/>
              </a:rPr>
              <a:t>：个性化电影推荐系统</a:t>
            </a:r>
            <a:endParaRPr lang="zh-CN" altLang="en-US" dirty="0">
              <a:latin typeface="+mj-lt"/>
              <a:ea typeface="黑体" panose="02010609060101010101" pitchFamily="49" charset="-122"/>
              <a:cs typeface="+mj-cs"/>
            </a:endParaRPr>
          </a:p>
        </p:txBody>
      </p:sp>
      <p:sp>
        <p:nvSpPr>
          <p:cNvPr id="16387" name="内容占位符 2"/>
          <p:cNvSpPr>
            <a:spLocks noGrp="1"/>
          </p:cNvSpPr>
          <p:nvPr>
            <p:ph idx="1"/>
          </p:nvPr>
        </p:nvSpPr>
        <p:spPr>
          <a:xfrm>
            <a:off x="457200" y="1000125"/>
            <a:ext cx="8401050" cy="4933950"/>
          </a:xfrm>
        </p:spPr>
        <p:txBody>
          <a:bodyPr vert="horz" wrap="square" lIns="91440" tIns="45720" rIns="91440" bIns="45720" anchor="t" anchorCtr="0"/>
          <a:lstStyle/>
          <a:p>
            <a:pPr>
              <a:buSzTx/>
            </a:pPr>
            <a:r>
              <a:rPr lang="en-US" altLang="zh-CN" dirty="0">
                <a:solidFill>
                  <a:srgbClr val="0A85FF"/>
                </a:solidFill>
                <a:ea typeface="宋体" panose="02010600030101010101" pitchFamily="2" charset="-122"/>
                <a:sym typeface="+mn-ea"/>
              </a:rPr>
              <a:t>1</a:t>
            </a:r>
            <a:r>
              <a:rPr lang="zh-CN" altLang="en-US" dirty="0">
                <a:solidFill>
                  <a:srgbClr val="0A85FF"/>
                </a:solidFill>
                <a:ea typeface="宋体" panose="02010600030101010101" pitchFamily="2" charset="-122"/>
                <a:sym typeface="+mn-ea"/>
              </a:rPr>
              <a:t>．系统简介</a:t>
            </a:r>
            <a:endParaRPr lang="zh-CN" altLang="en-US" dirty="0">
              <a:solidFill>
                <a:srgbClr val="0A85FF"/>
              </a:solidFill>
              <a:ea typeface="宋体" panose="02010600030101010101" pitchFamily="2" charset="-122"/>
            </a:endParaRPr>
          </a:p>
          <a:p>
            <a:r>
              <a:rPr lang="zh-CN" altLang="en-US" sz="2400" dirty="0">
                <a:solidFill>
                  <a:srgbClr val="00264D"/>
                </a:solidFill>
                <a:ea typeface="宋体" panose="02010600030101010101" pitchFamily="2" charset="-122"/>
              </a:rPr>
              <a:t>在大数据技术蓬勃发展的背景下，海量多模态影视数据呈现指数级增长。个性化电影推荐系统作为智能信息处理的重要应用，基于用户行为分析与机器学习算法，构建多维度用户画像，并通过协同过滤、内容特征匹配等混合推荐技术，实现电影内容与用户偏好的精准关联。</a:t>
            </a:r>
            <a:endParaRPr lang="zh-CN" altLang="en-US" sz="2400" dirty="0">
              <a:solidFill>
                <a:srgbClr val="00264D"/>
              </a:solidFill>
              <a:ea typeface="宋体" panose="0201060003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vert="horz" wrap="square" lIns="91440" tIns="45720" rIns="91440" bIns="45720" anchor="ctr" anchorCtr="0"/>
          <a:lstStyle/>
          <a:p>
            <a:r>
              <a:rPr lang="zh-CN" altLang="en-US" dirty="0">
                <a:latin typeface="+mj-lt"/>
                <a:ea typeface="黑体" panose="02010609060101010101" pitchFamily="49" charset="-122"/>
                <a:cs typeface="+mj-cs"/>
              </a:rPr>
              <a:t>课题</a:t>
            </a:r>
            <a:r>
              <a:rPr lang="zh-CN" altLang="en-US" dirty="0"/>
              <a:t>六</a:t>
            </a:r>
            <a:r>
              <a:rPr lang="zh-CN" altLang="en-US" dirty="0">
                <a:latin typeface="+mj-lt"/>
                <a:ea typeface="黑体" panose="02010609060101010101" pitchFamily="49" charset="-122"/>
                <a:cs typeface="+mj-cs"/>
              </a:rPr>
              <a:t>：个性化电影推荐系统</a:t>
            </a:r>
            <a:endParaRPr lang="zh-CN" altLang="en-US" dirty="0">
              <a:latin typeface="+mj-lt"/>
              <a:ea typeface="黑体" panose="02010609060101010101" pitchFamily="49" charset="-122"/>
              <a:cs typeface="+mj-cs"/>
            </a:endParaRPr>
          </a:p>
        </p:txBody>
      </p:sp>
      <p:sp>
        <p:nvSpPr>
          <p:cNvPr id="16387" name="内容占位符 2"/>
          <p:cNvSpPr>
            <a:spLocks noGrp="1"/>
          </p:cNvSpPr>
          <p:nvPr>
            <p:ph idx="1"/>
          </p:nvPr>
        </p:nvSpPr>
        <p:spPr>
          <a:xfrm>
            <a:off x="457200" y="1000125"/>
            <a:ext cx="8401050" cy="4373092"/>
          </a:xfrm>
        </p:spPr>
        <p:txBody>
          <a:bodyPr vert="horz" wrap="square" lIns="91440" tIns="45720" rIns="91440" bIns="45720" anchor="t" anchorCtr="0"/>
          <a:lstStyle/>
          <a:p>
            <a:r>
              <a:rPr lang="en-US" altLang="zh-CN" dirty="0">
                <a:solidFill>
                  <a:srgbClr val="0A85FF"/>
                </a:solidFill>
                <a:ea typeface="宋体" panose="02010600030101010101" pitchFamily="2" charset="-122"/>
              </a:rPr>
              <a:t>2</a:t>
            </a:r>
            <a:r>
              <a:rPr lang="zh-CN" altLang="en-US" dirty="0">
                <a:solidFill>
                  <a:srgbClr val="0A85FF"/>
                </a:solidFill>
                <a:ea typeface="宋体" panose="02010600030101010101" pitchFamily="2" charset="-122"/>
              </a:rPr>
              <a:t>．技术要求</a:t>
            </a:r>
            <a:endParaRPr lang="zh-CN" altLang="en-US" dirty="0">
              <a:solidFill>
                <a:srgbClr val="0A85FF"/>
              </a:solidFill>
              <a:ea typeface="宋体" panose="02010600030101010101" pitchFamily="2" charset="-122"/>
            </a:endParaRPr>
          </a:p>
          <a:p>
            <a:r>
              <a:rPr lang="zh-CN" altLang="en-US" sz="2400" dirty="0">
                <a:solidFill>
                  <a:srgbClr val="00264D"/>
                </a:solidFill>
                <a:ea typeface="宋体" panose="02010600030101010101" pitchFamily="2" charset="-122"/>
              </a:rPr>
              <a:t>（</a:t>
            </a:r>
            <a:r>
              <a:rPr lang="en-US" altLang="zh-CN" sz="2400" dirty="0">
                <a:solidFill>
                  <a:srgbClr val="00264D"/>
                </a:solidFill>
                <a:ea typeface="宋体" panose="02010600030101010101" pitchFamily="2" charset="-122"/>
              </a:rPr>
              <a:t>1</a:t>
            </a:r>
            <a:r>
              <a:rPr lang="zh-CN" altLang="en-US" sz="2400" dirty="0">
                <a:solidFill>
                  <a:srgbClr val="00264D"/>
                </a:solidFill>
                <a:ea typeface="宋体" panose="02010600030101010101" pitchFamily="2" charset="-122"/>
              </a:rPr>
              <a:t>）核心算法：协同过滤（用户</a:t>
            </a:r>
            <a:r>
              <a:rPr lang="en-US" altLang="zh-CN" sz="2400" dirty="0">
                <a:solidFill>
                  <a:srgbClr val="00264D"/>
                </a:solidFill>
                <a:ea typeface="宋体" panose="02010600030101010101" pitchFamily="2" charset="-122"/>
              </a:rPr>
              <a:t>-</a:t>
            </a:r>
            <a:r>
              <a:rPr lang="zh-CN" altLang="en-US" sz="2400" dirty="0">
                <a:solidFill>
                  <a:srgbClr val="00264D"/>
                </a:solidFill>
                <a:ea typeface="宋体" panose="02010600030101010101" pitchFamily="2" charset="-122"/>
              </a:rPr>
              <a:t>用户或物品</a:t>
            </a:r>
            <a:r>
              <a:rPr lang="en-US" altLang="zh-CN" sz="2400" dirty="0">
                <a:solidFill>
                  <a:srgbClr val="00264D"/>
                </a:solidFill>
                <a:ea typeface="宋体" panose="02010600030101010101" pitchFamily="2" charset="-122"/>
              </a:rPr>
              <a:t>-</a:t>
            </a:r>
            <a:r>
              <a:rPr lang="zh-CN" altLang="en-US" sz="2400" dirty="0">
                <a:solidFill>
                  <a:srgbClr val="00264D"/>
                </a:solidFill>
                <a:ea typeface="宋体" panose="02010600030101010101" pitchFamily="2" charset="-122"/>
              </a:rPr>
              <a:t>物品相似度计算）或基于内容的推荐（通过电影特征匹配用户偏好</a:t>
            </a:r>
            <a:r>
              <a:rPr lang="en-US" altLang="zh-CN" sz="2400" dirty="0">
                <a:solidFill>
                  <a:srgbClr val="00264D"/>
                </a:solidFill>
                <a:ea typeface="宋体" panose="02010600030101010101" pitchFamily="2" charset="-122"/>
              </a:rPr>
              <a:t>)</a:t>
            </a:r>
            <a:r>
              <a:rPr lang="zh-CN" altLang="en-US" sz="2400" dirty="0">
                <a:solidFill>
                  <a:srgbClr val="00264D"/>
                </a:solidFill>
                <a:ea typeface="宋体" panose="02010600030101010101" pitchFamily="2" charset="-122"/>
              </a:rPr>
              <a:t>。</a:t>
            </a:r>
            <a:endParaRPr lang="en-US" altLang="zh-CN" sz="2400" dirty="0">
              <a:solidFill>
                <a:srgbClr val="00264D"/>
              </a:solidFill>
              <a:ea typeface="宋体" panose="02010600030101010101" pitchFamily="2" charset="-122"/>
            </a:endParaRPr>
          </a:p>
          <a:p>
            <a:r>
              <a:rPr lang="zh-CN" altLang="en-US" sz="2400" dirty="0">
                <a:solidFill>
                  <a:srgbClr val="00264D"/>
                </a:solidFill>
                <a:ea typeface="宋体" panose="02010600030101010101" pitchFamily="2" charset="-122"/>
              </a:rPr>
              <a:t>（</a:t>
            </a:r>
            <a:r>
              <a:rPr lang="en-US" altLang="zh-CN" sz="2400" dirty="0">
                <a:solidFill>
                  <a:srgbClr val="00264D"/>
                </a:solidFill>
                <a:ea typeface="宋体" panose="02010600030101010101" pitchFamily="2" charset="-122"/>
              </a:rPr>
              <a:t>2</a:t>
            </a:r>
            <a:r>
              <a:rPr lang="zh-CN" altLang="en-US" sz="2400" dirty="0">
                <a:solidFill>
                  <a:srgbClr val="00264D"/>
                </a:solidFill>
                <a:ea typeface="宋体" panose="02010600030101010101" pitchFamily="2" charset="-122"/>
              </a:rPr>
              <a:t>）本系统应具备自动创建模型，自动训练模型，自动根据生成的用户画像推荐电影以及对推荐电影进行评分的功能。</a:t>
            </a:r>
            <a:endParaRPr lang="en-US" altLang="zh-CN" sz="2400" dirty="0">
              <a:solidFill>
                <a:srgbClr val="00264D"/>
              </a:solidFill>
              <a:ea typeface="宋体" panose="02010600030101010101" pitchFamily="2" charset="-122"/>
            </a:endParaRPr>
          </a:p>
          <a:p>
            <a:r>
              <a:rPr lang="zh-CN" altLang="en-US" sz="2400" dirty="0">
                <a:solidFill>
                  <a:srgbClr val="00264D"/>
                </a:solidFill>
                <a:ea typeface="宋体" panose="02010600030101010101" pitchFamily="2" charset="-122"/>
              </a:rPr>
              <a:t>（</a:t>
            </a:r>
            <a:r>
              <a:rPr lang="en-US" altLang="zh-CN" sz="2400" dirty="0">
                <a:solidFill>
                  <a:srgbClr val="00264D"/>
                </a:solidFill>
                <a:ea typeface="宋体" panose="02010600030101010101" pitchFamily="2" charset="-122"/>
              </a:rPr>
              <a:t>3</a:t>
            </a:r>
            <a:r>
              <a:rPr lang="zh-CN" altLang="en-US" sz="2400" dirty="0">
                <a:solidFill>
                  <a:srgbClr val="00264D"/>
                </a:solidFill>
                <a:ea typeface="宋体" panose="02010600030101010101" pitchFamily="2" charset="-122"/>
              </a:rPr>
              <a:t>）采用</a:t>
            </a:r>
            <a:r>
              <a:rPr lang="en-US" altLang="zh-CN" sz="2400" dirty="0">
                <a:solidFill>
                  <a:srgbClr val="00264D"/>
                </a:solidFill>
                <a:ea typeface="宋体" panose="02010600030101010101" pitchFamily="2" charset="-122"/>
              </a:rPr>
              <a:t>Python</a:t>
            </a:r>
            <a:r>
              <a:rPr lang="zh-CN" altLang="en-US" sz="2400" dirty="0">
                <a:solidFill>
                  <a:srgbClr val="00264D"/>
                </a:solidFill>
                <a:ea typeface="宋体" panose="02010600030101010101" pitchFamily="2" charset="-122"/>
              </a:rPr>
              <a:t>语言进行程序开发，并提供良好的人际交互界面。</a:t>
            </a:r>
            <a:endParaRPr lang="en-US" altLang="zh-CN" sz="2400" dirty="0">
              <a:solidFill>
                <a:srgbClr val="00264D"/>
              </a:solidFill>
              <a:ea typeface="宋体" panose="02010600030101010101" pitchFamily="2" charset="-122"/>
            </a:endParaRPr>
          </a:p>
          <a:p>
            <a:endParaRPr lang="zh-CN" altLang="en-US" sz="2400" dirty="0">
              <a:solidFill>
                <a:srgbClr val="00264D"/>
              </a:solidFill>
              <a:ea typeface="宋体" panose="02010600030101010101" pitchFamily="2" charset="-122"/>
            </a:endParaRPr>
          </a:p>
          <a:p>
            <a:endParaRPr lang="zh-CN" altLang="en-US" sz="2400" dirty="0">
              <a:solidFill>
                <a:srgbClr val="00264D"/>
              </a:solidFill>
              <a:latin typeface="+mn-lt"/>
              <a:ea typeface="宋体" panose="02010600030101010101" pitchFamily="2" charset="-122"/>
              <a:cs typeface="+mn-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p:txBody>
          <a:bodyPr vert="horz" wrap="square" lIns="91440" tIns="45720" rIns="91440" bIns="45720" anchor="ctr" anchorCtr="0"/>
          <a:lstStyle/>
          <a:p>
            <a:r>
              <a:rPr lang="zh-CN" altLang="en-US" dirty="0">
                <a:latin typeface="+mj-lt"/>
                <a:ea typeface="黑体" panose="02010609060101010101" pitchFamily="49" charset="-122"/>
                <a:cs typeface="+mj-cs"/>
              </a:rPr>
              <a:t>课题七：智能问答系统</a:t>
            </a:r>
            <a:endParaRPr lang="zh-CN" altLang="en-US" dirty="0">
              <a:latin typeface="+mj-lt"/>
              <a:ea typeface="黑体" panose="02010609060101010101" pitchFamily="49" charset="-122"/>
              <a:cs typeface="+mj-cs"/>
            </a:endParaRPr>
          </a:p>
        </p:txBody>
      </p:sp>
      <p:sp>
        <p:nvSpPr>
          <p:cNvPr id="3" name="内容占位符 2"/>
          <p:cNvSpPr txBox="1"/>
          <p:nvPr/>
        </p:nvSpPr>
        <p:spPr>
          <a:xfrm>
            <a:off x="457200" y="1000125"/>
            <a:ext cx="8401050" cy="493395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accent1"/>
              </a:buClr>
              <a:buFont typeface="Wingdings" panose="05000000000000000000" pitchFamily="2" charset="2"/>
              <a:buChar char="v"/>
              <a:defRPr sz="2800" b="1" baseline="0">
                <a:solidFill>
                  <a:schemeClr val="tx1">
                    <a:lumMod val="60000"/>
                    <a:lumOff val="40000"/>
                  </a:schemeClr>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i="0" baseline="0">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i="0" baseline="0">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i="0" baseline="0">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i="0" baseline="0">
                <a:solidFill>
                  <a:schemeClr val="tx1"/>
                </a:solidFill>
                <a:latin typeface="Arial" panose="020B0604020202020204" pitchFamily="34" charset="0"/>
              </a:defRPr>
            </a:lvl5pPr>
            <a:lvl6pPr marL="2514600" indent="-228600" algn="l" rtl="0" fontAlgn="base">
              <a:spcBef>
                <a:spcPct val="20000"/>
              </a:spcBef>
              <a:spcAft>
                <a:spcPct val="0"/>
              </a:spcAft>
              <a:buChar char="»"/>
              <a:defRPr sz="2000">
                <a:solidFill>
                  <a:schemeClr val="tx1"/>
                </a:solidFill>
                <a:latin typeface="Arial" panose="020B0604020202020204" pitchFamily="34" charset="0"/>
              </a:defRPr>
            </a:lvl6pPr>
            <a:lvl7pPr marL="2971800" indent="-228600" algn="l" rtl="0" fontAlgn="base">
              <a:spcBef>
                <a:spcPct val="20000"/>
              </a:spcBef>
              <a:spcAft>
                <a:spcPct val="0"/>
              </a:spcAft>
              <a:buChar char="»"/>
              <a:defRPr sz="2000">
                <a:solidFill>
                  <a:schemeClr val="tx1"/>
                </a:solidFill>
                <a:latin typeface="Arial" panose="020B0604020202020204" pitchFamily="34" charset="0"/>
              </a:defRPr>
            </a:lvl7pPr>
            <a:lvl8pPr marL="3429000" indent="-228600" algn="l" rtl="0" fontAlgn="base">
              <a:spcBef>
                <a:spcPct val="20000"/>
              </a:spcBef>
              <a:spcAft>
                <a:spcPct val="0"/>
              </a:spcAft>
              <a:buChar char="»"/>
              <a:defRPr sz="2000">
                <a:solidFill>
                  <a:schemeClr val="tx1"/>
                </a:solidFill>
                <a:latin typeface="Arial" panose="020B0604020202020204" pitchFamily="34" charset="0"/>
              </a:defRPr>
            </a:lvl8pPr>
            <a:lvl9pPr marL="3886200" indent="-228600" algn="l" rtl="0" fontAlgn="base">
              <a:spcBef>
                <a:spcPct val="20000"/>
              </a:spcBef>
              <a:spcAft>
                <a:spcPct val="0"/>
              </a:spcAft>
              <a:buChar char="»"/>
              <a:defRPr sz="2000">
                <a:solidFill>
                  <a:schemeClr val="tx1"/>
                </a:solidFill>
                <a:latin typeface="Arial" panose="020B0604020202020204" pitchFamily="34" charset="0"/>
              </a:defRPr>
            </a:lvl9pPr>
          </a:lstStyle>
          <a:p>
            <a:r>
              <a:rPr lang="zh-CN" altLang="zh-CN" sz="2400" dirty="0">
                <a:solidFill>
                  <a:srgbClr val="00264D"/>
                </a:solidFill>
                <a:ea typeface="宋体" panose="02010600030101010101" pitchFamily="2" charset="-122"/>
              </a:rPr>
              <a:t>了解</a:t>
            </a:r>
            <a:r>
              <a:rPr lang="zh-CN" altLang="en-US" sz="2400" dirty="0">
                <a:solidFill>
                  <a:srgbClr val="00264D"/>
                </a:solidFill>
                <a:ea typeface="宋体" panose="02010600030101010101" pitchFamily="2" charset="-122"/>
              </a:rPr>
              <a:t>自然语言处理、知识图谱的基本原理</a:t>
            </a:r>
            <a:endParaRPr lang="zh-CN" altLang="zh-CN" sz="2400" dirty="0">
              <a:solidFill>
                <a:srgbClr val="00264D"/>
              </a:solidFill>
              <a:ea typeface="宋体" panose="02010600030101010101" pitchFamily="2" charset="-122"/>
            </a:endParaRPr>
          </a:p>
          <a:p>
            <a:r>
              <a:rPr lang="zh-CN" altLang="zh-CN" sz="2400" dirty="0">
                <a:solidFill>
                  <a:srgbClr val="00264D"/>
                </a:solidFill>
                <a:ea typeface="宋体" panose="02010600030101010101" pitchFamily="2" charset="-122"/>
              </a:rPr>
              <a:t>了解</a:t>
            </a:r>
            <a:r>
              <a:rPr lang="zh-CN" altLang="en-US" sz="2400" dirty="0">
                <a:solidFill>
                  <a:srgbClr val="00264D"/>
                </a:solidFill>
                <a:ea typeface="宋体" panose="02010600030101010101" pitchFamily="2" charset="-122"/>
              </a:rPr>
              <a:t>智能问答的基本原理</a:t>
            </a:r>
            <a:endParaRPr lang="zh-CN" altLang="zh-CN" sz="2400" dirty="0">
              <a:solidFill>
                <a:srgbClr val="00264D"/>
              </a:solidFill>
              <a:ea typeface="宋体" panose="02010600030101010101" pitchFamily="2" charset="-122"/>
            </a:endParaRPr>
          </a:p>
          <a:p>
            <a:r>
              <a:rPr lang="zh-CN" altLang="en-US" sz="2400" dirty="0">
                <a:solidFill>
                  <a:srgbClr val="00264D"/>
                </a:solidFill>
                <a:ea typeface="宋体" panose="02010600030101010101" pitchFamily="2" charset="-122"/>
              </a:rPr>
              <a:t>利用自然语言处理的算法模型，构建智能问答系统，系统应用场景自选</a:t>
            </a:r>
            <a:endParaRPr lang="en-US" altLang="zh-CN" sz="2400" dirty="0">
              <a:solidFill>
                <a:srgbClr val="00264D"/>
              </a:solidFill>
              <a:ea typeface="宋体" panose="02010600030101010101" pitchFamily="2" charset="-122"/>
            </a:endParaRPr>
          </a:p>
          <a:p>
            <a:r>
              <a:rPr lang="zh-CN" altLang="en-US" sz="2400" dirty="0">
                <a:solidFill>
                  <a:srgbClr val="00264D"/>
                </a:solidFill>
                <a:ea typeface="宋体" panose="02010600030101010101" pitchFamily="2" charset="-122"/>
              </a:rPr>
              <a:t>系统需包括问题输入及答案返回等基本功能，且具有良好的可视化界面</a:t>
            </a:r>
            <a:endParaRPr lang="en-US" altLang="zh-CN" sz="2400" dirty="0">
              <a:solidFill>
                <a:srgbClr val="00264D"/>
              </a:solidFill>
              <a:ea typeface="宋体" panose="02010600030101010101" pitchFamily="2" charset="-122"/>
            </a:endParaRPr>
          </a:p>
          <a:p>
            <a:r>
              <a:rPr lang="zh-CN" altLang="en-US" sz="2400" dirty="0">
                <a:solidFill>
                  <a:srgbClr val="00264D"/>
                </a:solidFill>
                <a:ea typeface="宋体" panose="02010600030101010101" pitchFamily="2" charset="-122"/>
              </a:rPr>
              <a:t>系统开发语言不限，需提供良好的人机交互界面</a:t>
            </a:r>
            <a:endParaRPr lang="zh-CN" altLang="en-US" sz="2400" dirty="0">
              <a:solidFill>
                <a:srgbClr val="00264D"/>
              </a:solidFill>
              <a:ea typeface="宋体" panose="0201060003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vert="horz" wrap="square" lIns="91440" tIns="45720" rIns="91440" bIns="45720" anchor="ctr" anchorCtr="0"/>
          <a:lstStyle/>
          <a:p>
            <a:r>
              <a:rPr lang="zh-CN" altLang="en-US" dirty="0">
                <a:latin typeface="+mj-lt"/>
                <a:ea typeface="黑体" panose="02010609060101010101" pitchFamily="49" charset="-122"/>
                <a:cs typeface="+mj-cs"/>
              </a:rPr>
              <a:t>课题</a:t>
            </a:r>
            <a:r>
              <a:rPr lang="zh-CN" altLang="en-US" dirty="0"/>
              <a:t>八</a:t>
            </a:r>
            <a:r>
              <a:rPr lang="zh-CN" altLang="en-US" dirty="0">
                <a:latin typeface="+mj-lt"/>
                <a:ea typeface="黑体" panose="02010609060101010101" pitchFamily="49" charset="-122"/>
                <a:cs typeface="+mj-cs"/>
              </a:rPr>
              <a:t>：</a:t>
            </a:r>
            <a:r>
              <a:rPr lang="en-US" altLang="zh-CN" dirty="0">
                <a:latin typeface="+mj-lt"/>
                <a:ea typeface="黑体" panose="02010609060101010101" pitchFamily="49" charset="-122"/>
                <a:cs typeface="+mj-cs"/>
              </a:rPr>
              <a:t>AI</a:t>
            </a:r>
            <a:r>
              <a:rPr lang="zh-CN" altLang="en-US" dirty="0">
                <a:latin typeface="+mj-lt"/>
                <a:ea typeface="黑体" panose="02010609060101010101" pitchFamily="49" charset="-122"/>
                <a:cs typeface="+mj-cs"/>
              </a:rPr>
              <a:t>音乐生成系统</a:t>
            </a:r>
            <a:endParaRPr lang="zh-CN" altLang="en-US" dirty="0">
              <a:latin typeface="+mj-lt"/>
              <a:ea typeface="黑体" panose="02010609060101010101" pitchFamily="49" charset="-122"/>
              <a:cs typeface="+mj-cs"/>
            </a:endParaRPr>
          </a:p>
        </p:txBody>
      </p:sp>
      <p:sp>
        <p:nvSpPr>
          <p:cNvPr id="16387" name="内容占位符 2"/>
          <p:cNvSpPr>
            <a:spLocks noGrp="1"/>
          </p:cNvSpPr>
          <p:nvPr>
            <p:ph idx="1"/>
          </p:nvPr>
        </p:nvSpPr>
        <p:spPr>
          <a:xfrm>
            <a:off x="457200" y="1000125"/>
            <a:ext cx="8401050" cy="4933950"/>
          </a:xfrm>
        </p:spPr>
        <p:txBody>
          <a:bodyPr vert="horz" wrap="square" lIns="91440" tIns="45720" rIns="91440" bIns="45720" anchor="t" anchorCtr="0"/>
          <a:lstStyle/>
          <a:p>
            <a:r>
              <a:rPr lang="zh-CN" altLang="zh-CN" sz="2400" dirty="0">
                <a:solidFill>
                  <a:srgbClr val="00264D"/>
                </a:solidFill>
                <a:ea typeface="宋体" panose="02010600030101010101" pitchFamily="2" charset="-122"/>
              </a:rPr>
              <a:t>了解</a:t>
            </a:r>
            <a:r>
              <a:rPr lang="en-US" altLang="zh-CN" sz="2400" dirty="0">
                <a:solidFill>
                  <a:srgbClr val="00264D"/>
                </a:solidFill>
                <a:ea typeface="宋体" panose="02010600030101010101" pitchFamily="2" charset="-122"/>
              </a:rPr>
              <a:t>AI</a:t>
            </a:r>
            <a:r>
              <a:rPr lang="zh-CN" altLang="en-US" sz="2400" dirty="0">
                <a:solidFill>
                  <a:srgbClr val="00264D"/>
                </a:solidFill>
                <a:ea typeface="宋体" panose="02010600030101010101" pitchFamily="2" charset="-122"/>
              </a:rPr>
              <a:t>音视频生成的基本原理</a:t>
            </a:r>
            <a:endParaRPr lang="en-US" altLang="zh-CN" sz="2400" dirty="0">
              <a:solidFill>
                <a:srgbClr val="00264D"/>
              </a:solidFill>
              <a:ea typeface="宋体" panose="02010600030101010101" pitchFamily="2" charset="-122"/>
            </a:endParaRPr>
          </a:p>
          <a:p>
            <a:r>
              <a:rPr lang="zh-CN" altLang="en-US" sz="2400" dirty="0">
                <a:solidFill>
                  <a:srgbClr val="00264D"/>
                </a:solidFill>
                <a:ea typeface="宋体" panose="02010600030101010101" pitchFamily="2" charset="-122"/>
              </a:rPr>
              <a:t>了解扩散模型的基本原理</a:t>
            </a:r>
            <a:endParaRPr lang="zh-CN" altLang="zh-CN" sz="2400" dirty="0">
              <a:solidFill>
                <a:srgbClr val="00264D"/>
              </a:solidFill>
              <a:ea typeface="宋体" panose="02010600030101010101" pitchFamily="2" charset="-122"/>
            </a:endParaRPr>
          </a:p>
          <a:p>
            <a:r>
              <a:rPr lang="zh-CN" altLang="en-US" sz="2400" dirty="0">
                <a:solidFill>
                  <a:srgbClr val="00264D"/>
                </a:solidFill>
                <a:ea typeface="宋体" panose="02010600030101010101" pitchFamily="2" charset="-122"/>
              </a:rPr>
              <a:t>利用前沿的音视频生成模型（如</a:t>
            </a:r>
            <a:r>
              <a:rPr lang="en-US" altLang="zh-CN" sz="2400" dirty="0" err="1">
                <a:solidFill>
                  <a:srgbClr val="00264D"/>
                </a:solidFill>
                <a:ea typeface="宋体" panose="02010600030101010101" pitchFamily="2" charset="-122"/>
              </a:rPr>
              <a:t>SongGeneration</a:t>
            </a:r>
            <a:r>
              <a:rPr lang="zh-CN" altLang="en-US" sz="2400" dirty="0">
                <a:solidFill>
                  <a:srgbClr val="00264D"/>
                </a:solidFill>
                <a:ea typeface="宋体" panose="02010600030101010101" pitchFamily="2" charset="-122"/>
              </a:rPr>
              <a:t>），构建</a:t>
            </a:r>
            <a:r>
              <a:rPr lang="en-US" altLang="zh-CN" sz="2400" dirty="0">
                <a:solidFill>
                  <a:srgbClr val="00264D"/>
                </a:solidFill>
                <a:ea typeface="宋体" panose="02010600030101010101" pitchFamily="2" charset="-122"/>
              </a:rPr>
              <a:t>AI</a:t>
            </a:r>
            <a:r>
              <a:rPr lang="zh-CN" altLang="en-US" sz="2400" dirty="0">
                <a:solidFill>
                  <a:srgbClr val="00264D"/>
                </a:solidFill>
                <a:ea typeface="宋体" panose="02010600030101010101" pitchFamily="2" charset="-122"/>
              </a:rPr>
              <a:t>音乐生成系统，生成音乐需对齐个人偏好</a:t>
            </a:r>
            <a:endParaRPr lang="en-US" altLang="zh-CN" sz="2400" dirty="0">
              <a:solidFill>
                <a:srgbClr val="00264D"/>
              </a:solidFill>
              <a:ea typeface="宋体" panose="02010600030101010101" pitchFamily="2" charset="-122"/>
            </a:endParaRPr>
          </a:p>
          <a:p>
            <a:r>
              <a:rPr lang="zh-CN" altLang="en-US" sz="2400" dirty="0">
                <a:solidFill>
                  <a:srgbClr val="00264D"/>
                </a:solidFill>
                <a:ea typeface="宋体" panose="02010600030101010101" pitchFamily="2" charset="-122"/>
              </a:rPr>
              <a:t>系统需从输入控制、核心生成、输出渲染、用户交互四个层面设计必要组件。</a:t>
            </a:r>
            <a:endParaRPr lang="en-US" altLang="zh-CN" sz="2400" dirty="0">
              <a:solidFill>
                <a:srgbClr val="00264D"/>
              </a:solidFill>
              <a:ea typeface="宋体" panose="02010600030101010101" pitchFamily="2" charset="-122"/>
            </a:endParaRPr>
          </a:p>
          <a:p>
            <a:r>
              <a:rPr lang="zh-CN" altLang="en-US" sz="2400" dirty="0">
                <a:solidFill>
                  <a:srgbClr val="00264D"/>
                </a:solidFill>
                <a:ea typeface="宋体" panose="02010600030101010101" pitchFamily="2" charset="-122"/>
              </a:rPr>
              <a:t>系统开发语言不限，需提供良好的人机交互界面</a:t>
            </a:r>
            <a:endParaRPr lang="zh-CN" altLang="en-US" sz="2400" dirty="0">
              <a:solidFill>
                <a:srgbClr val="00264D"/>
              </a:solidFill>
              <a:ea typeface="宋体" panose="02010600030101010101"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a:xfrm>
            <a:off x="228600" y="206375"/>
            <a:ext cx="8686800" cy="486321"/>
          </a:xfrm>
        </p:spPr>
        <p:txBody>
          <a:bodyPr vert="horz" wrap="square" lIns="91440" tIns="45720" rIns="91440" bIns="45720" anchor="ctr" anchorCtr="0"/>
          <a:lstStyle/>
          <a:p>
            <a:br>
              <a:rPr lang="zh-CN" altLang="zh-CN" dirty="0"/>
            </a:br>
            <a:endParaRPr lang="zh-CN" altLang="en-US" dirty="0">
              <a:latin typeface="+mj-lt"/>
              <a:ea typeface="黑体" panose="02010609060101010101" pitchFamily="49" charset="-122"/>
              <a:cs typeface="+mj-cs"/>
            </a:endParaRPr>
          </a:p>
        </p:txBody>
      </p:sp>
      <p:sp>
        <p:nvSpPr>
          <p:cNvPr id="16387" name="内容占位符 2"/>
          <p:cNvSpPr>
            <a:spLocks noGrp="1"/>
          </p:cNvSpPr>
          <p:nvPr>
            <p:ph idx="1"/>
          </p:nvPr>
        </p:nvSpPr>
        <p:spPr>
          <a:xfrm>
            <a:off x="457200" y="1000125"/>
            <a:ext cx="8401050" cy="4933950"/>
          </a:xfrm>
        </p:spPr>
        <p:txBody>
          <a:bodyPr vert="horz" wrap="square" lIns="91440" tIns="45720" rIns="91440" bIns="45720" anchor="t" anchorCtr="0"/>
          <a:lstStyle/>
          <a:p>
            <a:r>
              <a:rPr lang="zh-CN" altLang="zh-CN" sz="2400" dirty="0">
                <a:solidFill>
                  <a:srgbClr val="00264D"/>
                </a:solidFill>
                <a:ea typeface="宋体" panose="02010600030101010101" pitchFamily="2" charset="-122"/>
              </a:rPr>
              <a:t>了解</a:t>
            </a:r>
            <a:r>
              <a:rPr lang="zh-CN" altLang="en-US" sz="2400" dirty="0">
                <a:solidFill>
                  <a:srgbClr val="00264D"/>
                </a:solidFill>
                <a:ea typeface="宋体" panose="02010600030101010101" pitchFamily="2" charset="-122"/>
              </a:rPr>
              <a:t>自然语言处理、关系抽取的基本原理</a:t>
            </a:r>
            <a:endParaRPr lang="zh-CN" altLang="zh-CN" sz="2400" dirty="0">
              <a:solidFill>
                <a:srgbClr val="00264D"/>
              </a:solidFill>
              <a:ea typeface="宋体" panose="02010600030101010101" pitchFamily="2" charset="-122"/>
            </a:endParaRPr>
          </a:p>
          <a:p>
            <a:r>
              <a:rPr lang="zh-CN" altLang="en-US" sz="2400" dirty="0">
                <a:solidFill>
                  <a:srgbClr val="00264D"/>
                </a:solidFill>
                <a:ea typeface="宋体" panose="02010600030101010101" pitchFamily="2" charset="-122"/>
              </a:rPr>
              <a:t>开发一个</a:t>
            </a:r>
            <a:r>
              <a:rPr lang="en-US" altLang="zh-CN" sz="2400" dirty="0">
                <a:solidFill>
                  <a:srgbClr val="00264D"/>
                </a:solidFill>
                <a:ea typeface="宋体" panose="02010600030101010101" pitchFamily="2" charset="-122"/>
              </a:rPr>
              <a:t>Web</a:t>
            </a:r>
            <a:r>
              <a:rPr lang="zh-CN" altLang="en-US" sz="2400" dirty="0">
                <a:solidFill>
                  <a:srgbClr val="00264D"/>
                </a:solidFill>
                <a:ea typeface="宋体" panose="02010600030101010101" pitchFamily="2" charset="-122"/>
              </a:rPr>
              <a:t>应用，用户输入新闻文本或上传某</a:t>
            </a:r>
            <a:r>
              <a:rPr lang="zh-CN" altLang="en-US" sz="2400" dirty="0">
                <a:solidFill>
                  <a:srgbClr val="00264D"/>
                </a:solidFill>
                <a:ea typeface="宋体" panose="02010600030101010101" pitchFamily="2" charset="-122"/>
              </a:rPr>
              <a:t>文本，自动提取事件中的实体（如人物、组织）及其关系（如</a:t>
            </a:r>
            <a:r>
              <a:rPr lang="en-US" altLang="zh-CN" sz="2400" dirty="0">
                <a:solidFill>
                  <a:srgbClr val="00264D"/>
                </a:solidFill>
                <a:ea typeface="宋体" panose="02010600030101010101" pitchFamily="2" charset="-122"/>
                <a:sym typeface="+mn-ea"/>
              </a:rPr>
              <a:t>”</a:t>
            </a:r>
            <a:r>
              <a:rPr lang="en-US" altLang="zh-CN" sz="2400" dirty="0">
                <a:solidFill>
                  <a:srgbClr val="00264D"/>
                </a:solidFill>
                <a:ea typeface="宋体" panose="02010600030101010101" pitchFamily="2" charset="-122"/>
              </a:rPr>
              <a:t>A</a:t>
            </a:r>
            <a:r>
              <a:rPr lang="zh-CN" altLang="en-US" sz="2400" dirty="0">
                <a:solidFill>
                  <a:srgbClr val="00264D"/>
                </a:solidFill>
                <a:ea typeface="宋体" panose="02010600030101010101" pitchFamily="2" charset="-122"/>
              </a:rPr>
              <a:t>收购</a:t>
            </a:r>
            <a:r>
              <a:rPr lang="en-US" altLang="zh-CN" sz="2400" dirty="0">
                <a:solidFill>
                  <a:srgbClr val="00264D"/>
                </a:solidFill>
                <a:ea typeface="宋体" panose="02010600030101010101" pitchFamily="2" charset="-122"/>
              </a:rPr>
              <a:t>B</a:t>
            </a:r>
            <a:r>
              <a:rPr lang="en-US" altLang="zh-CN" sz="2400" dirty="0">
                <a:solidFill>
                  <a:srgbClr val="00264D"/>
                </a:solidFill>
                <a:ea typeface="宋体" panose="02010600030101010101" pitchFamily="2" charset="-122"/>
                <a:sym typeface="+mn-ea"/>
              </a:rPr>
              <a:t>”</a:t>
            </a:r>
            <a:r>
              <a:rPr lang="zh-CN" altLang="en-US" sz="2400" dirty="0">
                <a:solidFill>
                  <a:srgbClr val="00264D"/>
                </a:solidFill>
                <a:ea typeface="宋体" panose="02010600030101010101" pitchFamily="2" charset="-122"/>
              </a:rPr>
              <a:t>、</a:t>
            </a:r>
            <a:r>
              <a:rPr lang="en-US" altLang="zh-CN" sz="2400" dirty="0">
                <a:solidFill>
                  <a:srgbClr val="00264D"/>
                </a:solidFill>
                <a:ea typeface="宋体" panose="02010600030101010101" pitchFamily="2" charset="-122"/>
              </a:rPr>
              <a:t>”C</a:t>
            </a:r>
            <a:r>
              <a:rPr lang="zh-CN" altLang="en-US" sz="2400" dirty="0">
                <a:solidFill>
                  <a:srgbClr val="00264D"/>
                </a:solidFill>
                <a:ea typeface="宋体" panose="02010600030101010101" pitchFamily="2" charset="-122"/>
              </a:rPr>
              <a:t>属于</a:t>
            </a:r>
            <a:r>
              <a:rPr lang="en-US" altLang="zh-CN" sz="2400" dirty="0">
                <a:solidFill>
                  <a:srgbClr val="00264D"/>
                </a:solidFill>
                <a:ea typeface="宋体" panose="02010600030101010101" pitchFamily="2" charset="-122"/>
              </a:rPr>
              <a:t>D”</a:t>
            </a:r>
            <a:r>
              <a:rPr lang="zh-CN" altLang="en-US" sz="2400" dirty="0">
                <a:solidFill>
                  <a:srgbClr val="00264D"/>
                </a:solidFill>
                <a:ea typeface="宋体" panose="02010600030101010101" pitchFamily="2" charset="-122"/>
              </a:rPr>
              <a:t>）</a:t>
            </a:r>
            <a:endParaRPr lang="en-US" altLang="zh-CN" sz="2400" dirty="0">
              <a:solidFill>
                <a:srgbClr val="00264D"/>
              </a:solidFill>
              <a:ea typeface="宋体" panose="02010600030101010101" pitchFamily="2" charset="-122"/>
            </a:endParaRPr>
          </a:p>
          <a:p>
            <a:r>
              <a:rPr lang="zh-CN" altLang="en-US" sz="2400" dirty="0">
                <a:solidFill>
                  <a:srgbClr val="00264D"/>
                </a:solidFill>
                <a:ea typeface="宋体" panose="02010600030101010101" pitchFamily="2" charset="-122"/>
              </a:rPr>
              <a:t>系统需整合文本理解、事件建模、关系推理、结果优化四大模块</a:t>
            </a:r>
            <a:endParaRPr lang="en-US" altLang="zh-CN" sz="2400" dirty="0">
              <a:solidFill>
                <a:srgbClr val="00264D"/>
              </a:solidFill>
              <a:ea typeface="宋体" panose="02010600030101010101" pitchFamily="2" charset="-122"/>
            </a:endParaRPr>
          </a:p>
          <a:p>
            <a:r>
              <a:rPr lang="zh-CN" altLang="en-US" sz="2400" dirty="0">
                <a:solidFill>
                  <a:srgbClr val="00264D"/>
                </a:solidFill>
                <a:ea typeface="宋体" panose="02010600030101010101" pitchFamily="2" charset="-122"/>
              </a:rPr>
              <a:t>系统开发语言不限，需提供良好的人机交互界面</a:t>
            </a:r>
            <a:endParaRPr lang="zh-CN" altLang="en-US" sz="2400" dirty="0">
              <a:solidFill>
                <a:srgbClr val="00264D"/>
              </a:solidFill>
              <a:ea typeface="宋体" panose="02010600030101010101" pitchFamily="2" charset="-122"/>
            </a:endParaRPr>
          </a:p>
        </p:txBody>
      </p:sp>
      <p:sp>
        <p:nvSpPr>
          <p:cNvPr id="2" name="标题 1"/>
          <p:cNvSpPr txBox="1"/>
          <p:nvPr/>
        </p:nvSpPr>
        <p:spPr>
          <a:xfrm>
            <a:off x="228600" y="206375"/>
            <a:ext cx="8686800" cy="563563"/>
          </a:xfrm>
          <a:prstGeom prst="rect">
            <a:avLst/>
          </a:prstGeom>
          <a:noFill/>
          <a:ln w="9525">
            <a:noFill/>
          </a:ln>
        </p:spPr>
        <p:txBody>
          <a:bodyPr vert="horz" wrap="square" lIns="91440" tIns="45720" rIns="91440" bIns="45720" anchor="ctr" anchorCtr="0"/>
          <a:lstStyle>
            <a:lvl1pPr algn="ctr" rtl="0" eaLnBrk="0" fontAlgn="base" hangingPunct="0">
              <a:spcBef>
                <a:spcPct val="0"/>
              </a:spcBef>
              <a:spcAft>
                <a:spcPct val="0"/>
              </a:spcAft>
              <a:defRPr sz="3200" b="1" baseline="0">
                <a:solidFill>
                  <a:schemeClr val="bg1"/>
                </a:solidFill>
                <a:latin typeface="+mj-lt"/>
                <a:ea typeface="黑体" panose="02010609060101010101" pitchFamily="49" charset="-122"/>
                <a:cs typeface="+mj-cs"/>
              </a:defRPr>
            </a:lvl1pPr>
            <a:lvl2pPr algn="ctr" rtl="0" eaLnBrk="0" fontAlgn="base" hangingPunct="0">
              <a:spcBef>
                <a:spcPct val="0"/>
              </a:spcBef>
              <a:spcAft>
                <a:spcPct val="0"/>
              </a:spcAft>
              <a:defRPr sz="2800" b="1">
                <a:solidFill>
                  <a:schemeClr val="bg1"/>
                </a:solidFill>
                <a:latin typeface="Verdana" panose="020B0604030504040204" pitchFamily="34" charset="0"/>
              </a:defRPr>
            </a:lvl2pPr>
            <a:lvl3pPr algn="ctr" rtl="0" eaLnBrk="0" fontAlgn="base" hangingPunct="0">
              <a:spcBef>
                <a:spcPct val="0"/>
              </a:spcBef>
              <a:spcAft>
                <a:spcPct val="0"/>
              </a:spcAft>
              <a:defRPr sz="2800" b="1">
                <a:solidFill>
                  <a:schemeClr val="bg1"/>
                </a:solidFill>
                <a:latin typeface="Verdana" panose="020B0604030504040204" pitchFamily="34" charset="0"/>
              </a:defRPr>
            </a:lvl3pPr>
            <a:lvl4pPr algn="ctr" rtl="0" eaLnBrk="0" fontAlgn="base" hangingPunct="0">
              <a:spcBef>
                <a:spcPct val="0"/>
              </a:spcBef>
              <a:spcAft>
                <a:spcPct val="0"/>
              </a:spcAft>
              <a:defRPr sz="2800" b="1">
                <a:solidFill>
                  <a:schemeClr val="bg1"/>
                </a:solidFill>
                <a:latin typeface="Verdana" panose="020B0604030504040204" pitchFamily="34" charset="0"/>
              </a:defRPr>
            </a:lvl4pPr>
            <a:lvl5pPr algn="ctr" rtl="0" eaLnBrk="0" fontAlgn="base" hangingPunct="0">
              <a:spcBef>
                <a:spcPct val="0"/>
              </a:spcBef>
              <a:spcAft>
                <a:spcPct val="0"/>
              </a:spcAft>
              <a:defRPr sz="2800" b="1">
                <a:solidFill>
                  <a:schemeClr val="bg1"/>
                </a:solidFill>
                <a:latin typeface="Verdana" panose="020B0604030504040204" pitchFamily="34" charset="0"/>
              </a:defRPr>
            </a:lvl5pPr>
            <a:lvl6pPr marL="457200" algn="ctr" rtl="0" fontAlgn="base">
              <a:spcBef>
                <a:spcPct val="0"/>
              </a:spcBef>
              <a:spcAft>
                <a:spcPct val="0"/>
              </a:spcAft>
              <a:defRPr sz="2800" b="1">
                <a:solidFill>
                  <a:schemeClr val="bg1"/>
                </a:solidFill>
                <a:latin typeface="Verdana" panose="020B0604030504040204" pitchFamily="34" charset="0"/>
              </a:defRPr>
            </a:lvl6pPr>
            <a:lvl7pPr marL="914400" algn="ctr" rtl="0" fontAlgn="base">
              <a:spcBef>
                <a:spcPct val="0"/>
              </a:spcBef>
              <a:spcAft>
                <a:spcPct val="0"/>
              </a:spcAft>
              <a:defRPr sz="2800" b="1">
                <a:solidFill>
                  <a:schemeClr val="bg1"/>
                </a:solidFill>
                <a:latin typeface="Verdana" panose="020B0604030504040204" pitchFamily="34" charset="0"/>
              </a:defRPr>
            </a:lvl7pPr>
            <a:lvl8pPr marL="1371600" algn="ctr" rtl="0" fontAlgn="base">
              <a:spcBef>
                <a:spcPct val="0"/>
              </a:spcBef>
              <a:spcAft>
                <a:spcPct val="0"/>
              </a:spcAft>
              <a:defRPr sz="2800" b="1">
                <a:solidFill>
                  <a:schemeClr val="bg1"/>
                </a:solidFill>
                <a:latin typeface="Verdana" panose="020B0604030504040204" pitchFamily="34" charset="0"/>
              </a:defRPr>
            </a:lvl8pPr>
            <a:lvl9pPr marL="1828800" algn="ctr" rtl="0" fontAlgn="base">
              <a:spcBef>
                <a:spcPct val="0"/>
              </a:spcBef>
              <a:spcAft>
                <a:spcPct val="0"/>
              </a:spcAft>
              <a:defRPr sz="2800" b="1">
                <a:solidFill>
                  <a:schemeClr val="bg1"/>
                </a:solidFill>
                <a:latin typeface="Verdana" panose="020B0604030504040204" pitchFamily="34" charset="0"/>
              </a:defRPr>
            </a:lvl9pPr>
          </a:lstStyle>
          <a:p>
            <a:r>
              <a:rPr lang="zh-CN" altLang="en-US" kern="0" dirty="0"/>
              <a:t>课题九：</a:t>
            </a:r>
            <a:r>
              <a:rPr lang="zh-CN" altLang="zh-CN" dirty="0"/>
              <a:t>关系抽取系统</a:t>
            </a:r>
            <a:endParaRPr lang="zh-CN" altLang="en-US" kern="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a:xfrm>
            <a:off x="228600" y="206375"/>
            <a:ext cx="8686800" cy="486321"/>
          </a:xfrm>
        </p:spPr>
        <p:txBody>
          <a:bodyPr vert="horz" wrap="square" lIns="91440" tIns="45720" rIns="91440" bIns="45720" anchor="ctr" anchorCtr="0"/>
          <a:lstStyle/>
          <a:p>
            <a:br>
              <a:rPr lang="zh-CN" altLang="zh-CN" dirty="0"/>
            </a:br>
            <a:endParaRPr lang="zh-CN" altLang="en-US" dirty="0">
              <a:latin typeface="+mj-lt"/>
              <a:ea typeface="黑体" panose="02010609060101010101" pitchFamily="49" charset="-122"/>
              <a:cs typeface="+mj-cs"/>
            </a:endParaRPr>
          </a:p>
        </p:txBody>
      </p:sp>
      <p:sp>
        <p:nvSpPr>
          <p:cNvPr id="16387" name="内容占位符 2"/>
          <p:cNvSpPr>
            <a:spLocks noGrp="1"/>
          </p:cNvSpPr>
          <p:nvPr>
            <p:ph idx="1"/>
          </p:nvPr>
        </p:nvSpPr>
        <p:spPr>
          <a:xfrm>
            <a:off x="457200" y="1000125"/>
            <a:ext cx="8401050" cy="4933950"/>
          </a:xfrm>
        </p:spPr>
        <p:txBody>
          <a:bodyPr vert="horz" wrap="square" lIns="91440" tIns="45720" rIns="91440" bIns="45720" anchor="t" anchorCtr="0"/>
          <a:lstStyle/>
          <a:p>
            <a:r>
              <a:rPr lang="zh-CN" altLang="en-US" sz="2400" dirty="0">
                <a:solidFill>
                  <a:srgbClr val="00264D"/>
                </a:solidFill>
                <a:ea typeface="宋体" panose="02010600030101010101" pitchFamily="2" charset="-122"/>
              </a:rPr>
              <a:t>掌握目标检测全流程</a:t>
            </a:r>
            <a:endParaRPr lang="en-US" altLang="zh-CN" sz="2400" dirty="0">
              <a:solidFill>
                <a:srgbClr val="00264D"/>
              </a:solidFill>
              <a:ea typeface="宋体" panose="02010600030101010101" pitchFamily="2" charset="-122"/>
            </a:endParaRPr>
          </a:p>
          <a:p>
            <a:r>
              <a:rPr lang="zh-CN" altLang="en-US" sz="2400" dirty="0">
                <a:solidFill>
                  <a:srgbClr val="00264D"/>
                </a:solidFill>
                <a:ea typeface="宋体" panose="02010600030101010101" pitchFamily="2" charset="-122"/>
              </a:rPr>
              <a:t>从公开数据集选择检测任务，使用轻量级模型（如</a:t>
            </a:r>
            <a:r>
              <a:rPr lang="en-US" altLang="zh-CN" sz="2400" dirty="0">
                <a:solidFill>
                  <a:srgbClr val="00264D"/>
                </a:solidFill>
                <a:ea typeface="宋体" panose="02010600030101010101" pitchFamily="2" charset="-122"/>
              </a:rPr>
              <a:t>YOLOv5s</a:t>
            </a:r>
            <a:r>
              <a:rPr lang="zh-CN" altLang="en-US" sz="2400" dirty="0">
                <a:solidFill>
                  <a:srgbClr val="00264D"/>
                </a:solidFill>
                <a:ea typeface="宋体" panose="02010600030101010101" pitchFamily="2" charset="-122"/>
              </a:rPr>
              <a:t>）在本地</a:t>
            </a:r>
            <a:r>
              <a:rPr lang="en-US" altLang="zh-CN" sz="2400" dirty="0">
                <a:solidFill>
                  <a:srgbClr val="00264D"/>
                </a:solidFill>
                <a:ea typeface="宋体" panose="02010600030101010101" pitchFamily="2" charset="-122"/>
              </a:rPr>
              <a:t>CPU/GPU</a:t>
            </a:r>
            <a:r>
              <a:rPr lang="zh-CN" altLang="en-US" sz="2400" dirty="0">
                <a:solidFill>
                  <a:srgbClr val="00264D"/>
                </a:solidFill>
                <a:ea typeface="宋体" panose="02010600030101010101" pitchFamily="2" charset="-122"/>
              </a:rPr>
              <a:t>上完成训练和推理</a:t>
            </a:r>
            <a:endParaRPr lang="en-US" altLang="zh-CN" sz="2400" dirty="0">
              <a:solidFill>
                <a:srgbClr val="00264D"/>
              </a:solidFill>
              <a:ea typeface="宋体" panose="02010600030101010101" pitchFamily="2" charset="-122"/>
            </a:endParaRPr>
          </a:p>
          <a:p>
            <a:r>
              <a:rPr lang="zh-CN" altLang="en-US" sz="2400" dirty="0">
                <a:solidFill>
                  <a:srgbClr val="00264D"/>
                </a:solidFill>
                <a:ea typeface="宋体" panose="02010600030101010101" pitchFamily="2" charset="-122"/>
              </a:rPr>
              <a:t>系统需包含输入处理、核心检测、输出处理等基础组件</a:t>
            </a:r>
            <a:endParaRPr lang="zh-CN" altLang="en-US" sz="2400" dirty="0">
              <a:solidFill>
                <a:srgbClr val="00264D"/>
              </a:solidFill>
              <a:ea typeface="宋体" panose="02010600030101010101" pitchFamily="2" charset="-122"/>
            </a:endParaRPr>
          </a:p>
          <a:p>
            <a:r>
              <a:rPr lang="zh-CN" altLang="en-US" sz="2400" dirty="0">
                <a:solidFill>
                  <a:srgbClr val="00264D"/>
                </a:solidFill>
                <a:ea typeface="宋体" panose="02010600030101010101" pitchFamily="2" charset="-122"/>
              </a:rPr>
              <a:t>系统开发语言不限，需提供良好的人机交互界面</a:t>
            </a:r>
            <a:endParaRPr lang="zh-CN" altLang="en-US" sz="2400" dirty="0">
              <a:solidFill>
                <a:srgbClr val="00264D"/>
              </a:solidFill>
              <a:ea typeface="宋体" panose="02010600030101010101" pitchFamily="2" charset="-122"/>
            </a:endParaRPr>
          </a:p>
          <a:p>
            <a:endParaRPr lang="zh-CN" altLang="en-US" sz="2400" dirty="0">
              <a:solidFill>
                <a:srgbClr val="0A85FF"/>
              </a:solidFill>
              <a:ea typeface="宋体" panose="02010600030101010101" pitchFamily="2" charset="-122"/>
            </a:endParaRPr>
          </a:p>
        </p:txBody>
      </p:sp>
      <p:sp>
        <p:nvSpPr>
          <p:cNvPr id="2" name="标题 1"/>
          <p:cNvSpPr txBox="1"/>
          <p:nvPr/>
        </p:nvSpPr>
        <p:spPr>
          <a:xfrm>
            <a:off x="228600" y="206375"/>
            <a:ext cx="8686800" cy="563563"/>
          </a:xfrm>
          <a:prstGeom prst="rect">
            <a:avLst/>
          </a:prstGeom>
          <a:noFill/>
          <a:ln w="9525">
            <a:noFill/>
          </a:ln>
        </p:spPr>
        <p:txBody>
          <a:bodyPr vert="horz" wrap="square" lIns="91440" tIns="45720" rIns="91440" bIns="45720" anchor="ctr" anchorCtr="0"/>
          <a:lstStyle>
            <a:lvl1pPr algn="ctr" rtl="0" eaLnBrk="0" fontAlgn="base" hangingPunct="0">
              <a:spcBef>
                <a:spcPct val="0"/>
              </a:spcBef>
              <a:spcAft>
                <a:spcPct val="0"/>
              </a:spcAft>
              <a:defRPr sz="3200" b="1" baseline="0">
                <a:solidFill>
                  <a:schemeClr val="bg1"/>
                </a:solidFill>
                <a:latin typeface="+mj-lt"/>
                <a:ea typeface="黑体" panose="02010609060101010101" pitchFamily="49" charset="-122"/>
                <a:cs typeface="+mj-cs"/>
              </a:defRPr>
            </a:lvl1pPr>
            <a:lvl2pPr algn="ctr" rtl="0" eaLnBrk="0" fontAlgn="base" hangingPunct="0">
              <a:spcBef>
                <a:spcPct val="0"/>
              </a:spcBef>
              <a:spcAft>
                <a:spcPct val="0"/>
              </a:spcAft>
              <a:defRPr sz="2800" b="1">
                <a:solidFill>
                  <a:schemeClr val="bg1"/>
                </a:solidFill>
                <a:latin typeface="Verdana" panose="020B0604030504040204" pitchFamily="34" charset="0"/>
              </a:defRPr>
            </a:lvl2pPr>
            <a:lvl3pPr algn="ctr" rtl="0" eaLnBrk="0" fontAlgn="base" hangingPunct="0">
              <a:spcBef>
                <a:spcPct val="0"/>
              </a:spcBef>
              <a:spcAft>
                <a:spcPct val="0"/>
              </a:spcAft>
              <a:defRPr sz="2800" b="1">
                <a:solidFill>
                  <a:schemeClr val="bg1"/>
                </a:solidFill>
                <a:latin typeface="Verdana" panose="020B0604030504040204" pitchFamily="34" charset="0"/>
              </a:defRPr>
            </a:lvl3pPr>
            <a:lvl4pPr algn="ctr" rtl="0" eaLnBrk="0" fontAlgn="base" hangingPunct="0">
              <a:spcBef>
                <a:spcPct val="0"/>
              </a:spcBef>
              <a:spcAft>
                <a:spcPct val="0"/>
              </a:spcAft>
              <a:defRPr sz="2800" b="1">
                <a:solidFill>
                  <a:schemeClr val="bg1"/>
                </a:solidFill>
                <a:latin typeface="Verdana" panose="020B0604030504040204" pitchFamily="34" charset="0"/>
              </a:defRPr>
            </a:lvl4pPr>
            <a:lvl5pPr algn="ctr" rtl="0" eaLnBrk="0" fontAlgn="base" hangingPunct="0">
              <a:spcBef>
                <a:spcPct val="0"/>
              </a:spcBef>
              <a:spcAft>
                <a:spcPct val="0"/>
              </a:spcAft>
              <a:defRPr sz="2800" b="1">
                <a:solidFill>
                  <a:schemeClr val="bg1"/>
                </a:solidFill>
                <a:latin typeface="Verdana" panose="020B0604030504040204" pitchFamily="34" charset="0"/>
              </a:defRPr>
            </a:lvl5pPr>
            <a:lvl6pPr marL="457200" algn="ctr" rtl="0" fontAlgn="base">
              <a:spcBef>
                <a:spcPct val="0"/>
              </a:spcBef>
              <a:spcAft>
                <a:spcPct val="0"/>
              </a:spcAft>
              <a:defRPr sz="2800" b="1">
                <a:solidFill>
                  <a:schemeClr val="bg1"/>
                </a:solidFill>
                <a:latin typeface="Verdana" panose="020B0604030504040204" pitchFamily="34" charset="0"/>
              </a:defRPr>
            </a:lvl6pPr>
            <a:lvl7pPr marL="914400" algn="ctr" rtl="0" fontAlgn="base">
              <a:spcBef>
                <a:spcPct val="0"/>
              </a:spcBef>
              <a:spcAft>
                <a:spcPct val="0"/>
              </a:spcAft>
              <a:defRPr sz="2800" b="1">
                <a:solidFill>
                  <a:schemeClr val="bg1"/>
                </a:solidFill>
                <a:latin typeface="Verdana" panose="020B0604030504040204" pitchFamily="34" charset="0"/>
              </a:defRPr>
            </a:lvl7pPr>
            <a:lvl8pPr marL="1371600" algn="ctr" rtl="0" fontAlgn="base">
              <a:spcBef>
                <a:spcPct val="0"/>
              </a:spcBef>
              <a:spcAft>
                <a:spcPct val="0"/>
              </a:spcAft>
              <a:defRPr sz="2800" b="1">
                <a:solidFill>
                  <a:schemeClr val="bg1"/>
                </a:solidFill>
                <a:latin typeface="Verdana" panose="020B0604030504040204" pitchFamily="34" charset="0"/>
              </a:defRPr>
            </a:lvl8pPr>
            <a:lvl9pPr marL="1828800" algn="ctr" rtl="0" fontAlgn="base">
              <a:spcBef>
                <a:spcPct val="0"/>
              </a:spcBef>
              <a:spcAft>
                <a:spcPct val="0"/>
              </a:spcAft>
              <a:defRPr sz="2800" b="1">
                <a:solidFill>
                  <a:schemeClr val="bg1"/>
                </a:solidFill>
                <a:latin typeface="Verdana" panose="020B0604030504040204" pitchFamily="34" charset="0"/>
              </a:defRPr>
            </a:lvl9pPr>
          </a:lstStyle>
          <a:p>
            <a:r>
              <a:rPr lang="zh-CN" altLang="en-US" kern="0" dirty="0"/>
              <a:t>课题十：</a:t>
            </a:r>
            <a:r>
              <a:rPr lang="zh-CN" altLang="en-US" dirty="0"/>
              <a:t>目标检测系统</a:t>
            </a:r>
            <a:endParaRPr lang="zh-CN" altLang="en-US" kern="0" dirty="0"/>
          </a:p>
        </p:txBody>
      </p:sp>
    </p:spTree>
  </p:cSld>
  <p:clrMapOvr>
    <a:masterClrMapping/>
  </p:clrMapOvr>
</p:sld>
</file>

<file path=ppt/theme/theme1.xml><?xml version="1.0" encoding="utf-8"?>
<a:theme xmlns:a="http://schemas.openxmlformats.org/drawingml/2006/main" name="230TGp_report_light">
  <a:themeElements>
    <a:clrScheme name="230TGp_report_light 1">
      <a:dk1>
        <a:srgbClr val="003366"/>
      </a:dk1>
      <a:lt1>
        <a:srgbClr val="FFFFFF"/>
      </a:lt1>
      <a:dk2>
        <a:srgbClr val="3EB1CC"/>
      </a:dk2>
      <a:lt2>
        <a:srgbClr val="DDDDDD"/>
      </a:lt2>
      <a:accent1>
        <a:srgbClr val="438ACB"/>
      </a:accent1>
      <a:accent2>
        <a:srgbClr val="77AE26"/>
      </a:accent2>
      <a:accent3>
        <a:srgbClr val="FFFFFF"/>
      </a:accent3>
      <a:accent4>
        <a:srgbClr val="002A56"/>
      </a:accent4>
      <a:accent5>
        <a:srgbClr val="B0C4E2"/>
      </a:accent5>
      <a:accent6>
        <a:srgbClr val="6B9D21"/>
      </a:accent6>
      <a:hlink>
        <a:srgbClr val="6E815B"/>
      </a:hlink>
      <a:folHlink>
        <a:srgbClr val="76A0CA"/>
      </a:folHlink>
    </a:clrScheme>
    <a:fontScheme name="230TGp_report_ligh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ctr" defTabSz="914400" rtl="0" eaLnBrk="1" fontAlgn="base" latinLnBrk="0" hangingPunct="1">
          <a:lnSpc>
            <a:spcPct val="130000"/>
          </a:lnSpc>
          <a:spcBef>
            <a:spcPct val="30000"/>
          </a:spcBef>
          <a:spcAft>
            <a:spcPct val="0"/>
          </a:spcAft>
          <a:buClr>
            <a:schemeClr val="tx2"/>
          </a:buClr>
          <a:buSzTx/>
          <a:buFont typeface="Wingdings" panose="05000000000000000000" pitchFamily="2" charset="2"/>
          <a:buNone/>
          <a:defRPr kumimoji="1" lang="en-US" sz="2400" b="0" i="0" u="none" strike="noStrike" cap="none" normalizeH="0" baseline="0" smtClean="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ctr" defTabSz="914400" rtl="0" eaLnBrk="1" fontAlgn="base" latinLnBrk="0" hangingPunct="1">
          <a:lnSpc>
            <a:spcPct val="130000"/>
          </a:lnSpc>
          <a:spcBef>
            <a:spcPct val="30000"/>
          </a:spcBef>
          <a:spcAft>
            <a:spcPct val="0"/>
          </a:spcAft>
          <a:buClr>
            <a:schemeClr val="tx2"/>
          </a:buClr>
          <a:buSzTx/>
          <a:buFont typeface="Wingdings" panose="05000000000000000000" pitchFamily="2" charset="2"/>
          <a:buNone/>
          <a:defRPr kumimoji="1" lang="en-US" sz="2400" b="0" i="0" u="none" strike="noStrike" cap="none" normalizeH="0" baseline="0" smtClean="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defRPr>
        </a:defPPr>
      </a:lstStyle>
    </a:lnDef>
  </a:objectDefaults>
  <a:extraClrSchemeLst>
    <a:extraClrScheme>
      <a:clrScheme name="230TGp_report_light 1">
        <a:dk1>
          <a:srgbClr val="003366"/>
        </a:dk1>
        <a:lt1>
          <a:srgbClr val="FFFFFF"/>
        </a:lt1>
        <a:dk2>
          <a:srgbClr val="3EB1CC"/>
        </a:dk2>
        <a:lt2>
          <a:srgbClr val="DDDDDD"/>
        </a:lt2>
        <a:accent1>
          <a:srgbClr val="438ACB"/>
        </a:accent1>
        <a:accent2>
          <a:srgbClr val="77AE26"/>
        </a:accent2>
        <a:accent3>
          <a:srgbClr val="FFFFFF"/>
        </a:accent3>
        <a:accent4>
          <a:srgbClr val="002A56"/>
        </a:accent4>
        <a:accent5>
          <a:srgbClr val="B0C4E2"/>
        </a:accent5>
        <a:accent6>
          <a:srgbClr val="6B9D21"/>
        </a:accent6>
        <a:hlink>
          <a:srgbClr val="6E815B"/>
        </a:hlink>
        <a:folHlink>
          <a:srgbClr val="76A0CA"/>
        </a:folHlink>
      </a:clrScheme>
      <a:clrMap bg1="lt1" tx1="dk1" bg2="lt2" tx2="dk2" accent1="accent1" accent2="accent2" accent3="accent3" accent4="accent4" accent5="accent5" accent6="accent6" hlink="hlink" folHlink="folHlink"/>
    </a:extraClrScheme>
    <a:extraClrScheme>
      <a:clrScheme name="230TGp_report_light 2">
        <a:dk1>
          <a:srgbClr val="30311D"/>
        </a:dk1>
        <a:lt1>
          <a:srgbClr val="FFFFFF"/>
        </a:lt1>
        <a:dk2>
          <a:srgbClr val="D59D81"/>
        </a:dk2>
        <a:lt2>
          <a:srgbClr val="DDDDDD"/>
        </a:lt2>
        <a:accent1>
          <a:srgbClr val="617CD3"/>
        </a:accent1>
        <a:accent2>
          <a:srgbClr val="93B75F"/>
        </a:accent2>
        <a:accent3>
          <a:srgbClr val="FFFFFF"/>
        </a:accent3>
        <a:accent4>
          <a:srgbClr val="272817"/>
        </a:accent4>
        <a:accent5>
          <a:srgbClr val="B7BFE6"/>
        </a:accent5>
        <a:accent6>
          <a:srgbClr val="85A655"/>
        </a:accent6>
        <a:hlink>
          <a:srgbClr val="557B97"/>
        </a:hlink>
        <a:folHlink>
          <a:srgbClr val="9778B4"/>
        </a:folHlink>
      </a:clrScheme>
      <a:clrMap bg1="lt1" tx1="dk1" bg2="lt2" tx2="dk2" accent1="accent1" accent2="accent2" accent3="accent3" accent4="accent4" accent5="accent5" accent6="accent6" hlink="hlink" folHlink="folHlink"/>
    </a:extraClrScheme>
    <a:extraClrScheme>
      <a:clrScheme name="230TGp_report_light 3">
        <a:dk1>
          <a:srgbClr val="000066"/>
        </a:dk1>
        <a:lt1>
          <a:srgbClr val="FFFFFF"/>
        </a:lt1>
        <a:dk2>
          <a:srgbClr val="0D5597"/>
        </a:dk2>
        <a:lt2>
          <a:srgbClr val="DDDDDD"/>
        </a:lt2>
        <a:accent1>
          <a:srgbClr val="428E71"/>
        </a:accent1>
        <a:accent2>
          <a:srgbClr val="3F90BD"/>
        </a:accent2>
        <a:accent3>
          <a:srgbClr val="FFFFFF"/>
        </a:accent3>
        <a:accent4>
          <a:srgbClr val="000056"/>
        </a:accent4>
        <a:accent5>
          <a:srgbClr val="B0C6BB"/>
        </a:accent5>
        <a:accent6>
          <a:srgbClr val="3882AB"/>
        </a:accent6>
        <a:hlink>
          <a:srgbClr val="7D7E89"/>
        </a:hlink>
        <a:folHlink>
          <a:srgbClr val="8AC4C4"/>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230TGp_report_light</Template>
  <TotalTime>0</TotalTime>
  <Words>3932</Words>
  <Application>WPS 演示</Application>
  <PresentationFormat>全屏显示(4:3)</PresentationFormat>
  <Paragraphs>235</Paragraphs>
  <Slides>26</Slides>
  <Notes>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26</vt:i4>
      </vt:variant>
    </vt:vector>
  </HeadingPairs>
  <TitlesOfParts>
    <vt:vector size="35" baseType="lpstr">
      <vt:lpstr>Arial</vt:lpstr>
      <vt:lpstr>宋体</vt:lpstr>
      <vt:lpstr>Wingdings</vt:lpstr>
      <vt:lpstr>Times New Roman</vt:lpstr>
      <vt:lpstr>黑体</vt:lpstr>
      <vt:lpstr>Verdana</vt:lpstr>
      <vt:lpstr>微软雅黑</vt:lpstr>
      <vt:lpstr>Arial Unicode MS</vt:lpstr>
      <vt:lpstr>230TGp_report_light</vt:lpstr>
      <vt:lpstr>软件工程实验</vt:lpstr>
      <vt:lpstr>总体目标</vt:lpstr>
      <vt:lpstr>基本要求</vt:lpstr>
      <vt:lpstr>考核方式</vt:lpstr>
      <vt:lpstr>实验基本概况</vt:lpstr>
      <vt:lpstr>实验一：项目需求分析</vt:lpstr>
      <vt:lpstr>2.实验要求</vt:lpstr>
      <vt:lpstr>3.实验内容</vt:lpstr>
      <vt:lpstr>4.实验步骤</vt:lpstr>
      <vt:lpstr>项目课题</vt:lpstr>
      <vt:lpstr>课题一：实验室设备管理系统</vt:lpstr>
      <vt:lpstr>课题一：实验室设备管理系统</vt:lpstr>
      <vt:lpstr>课题二：学院课程安排系统</vt:lpstr>
      <vt:lpstr>课题二：学院课程安排系统</vt:lpstr>
      <vt:lpstr>课题三：数字识别系统</vt:lpstr>
      <vt:lpstr>课题三：数字识别系统</vt:lpstr>
      <vt:lpstr>课题四：智能垃圾分类系统</vt:lpstr>
      <vt:lpstr>课题四：智能垃圾分类系统</vt:lpstr>
      <vt:lpstr>课题五：房价预测系统</vt:lpstr>
      <vt:lpstr>课题五：房价预测系统</vt:lpstr>
      <vt:lpstr>课题六：个性化电影推荐系统</vt:lpstr>
      <vt:lpstr>课题六：个性化电影推荐系统</vt:lpstr>
      <vt:lpstr>课题七：智能问答系统</vt:lpstr>
      <vt:lpstr>课题八：AI音乐生成系统</vt:lpstr>
      <vt:lpstr> </vt:lpstr>
      <vt:lpstr> </vt:lpstr>
    </vt:vector>
  </TitlesOfParts>
  <Company>Samsung Electronics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creator>SEC</dc:creator>
  <cp:lastModifiedBy>belinda</cp:lastModifiedBy>
  <cp:revision>272</cp:revision>
  <dcterms:created xsi:type="dcterms:W3CDTF">2009-06-22T13:13:00Z</dcterms:created>
  <dcterms:modified xsi:type="dcterms:W3CDTF">2025-10-15T07:24:39Z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0AE7D47022BD4376ABBE267DE4783B0C_13</vt:lpwstr>
  </property>
  <property fmtid="{D5CDD505-2E9C-101B-9397-08002B2CF9AE}" pid="3" name="KSOProductBuildVer">
    <vt:lpwstr>2052-12.1.0.23125</vt:lpwstr>
  </property>
</Properties>
</file>